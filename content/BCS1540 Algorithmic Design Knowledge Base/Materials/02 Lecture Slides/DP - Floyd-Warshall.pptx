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90" r:id="rId5"/>
    <p:sldId id="260" r:id="rId6"/>
    <p:sldId id="261" r:id="rId7"/>
    <p:sldId id="288" r:id="rId8"/>
    <p:sldId id="287" r:id="rId9"/>
    <p:sldId id="262" r:id="rId10"/>
    <p:sldId id="263" r:id="rId11"/>
    <p:sldId id="264" r:id="rId12"/>
    <p:sldId id="271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9" r:id="rId21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770-44AE-47D5-B4B1-71BEC9A9D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63960"/>
            <a:ext cx="9456049" cy="359411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A91C7-81A9-46F3-B0F4-D9AB8808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667581"/>
            <a:ext cx="9456049" cy="119738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48C8-9681-4994-B52A-1A8BC79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102693"/>
            <a:ext cx="2743200" cy="365125"/>
          </a:xfrm>
        </p:spPr>
        <p:txBody>
          <a:bodyPr/>
          <a:lstStyle/>
          <a:p>
            <a:fld id="{AE3425CA-4B9D-4420-BB9E-C250DB30E421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F203-CB10-488B-82DC-9D0571A5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2E9B-C8B7-4716-9D05-265A0424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D8031-DD67-43C6-94A0-646636C95560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524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B9A-9384-46B2-8B4F-B9C2035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CF4-CD0B-4F3C-A1CE-1BA3EF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E659-17B0-4F70-8F1C-93BF4DB6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1E1E-C50D-4FD4-8B1E-ECD78340D9AB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0750-AB4E-4FCF-9B52-BC954760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6B99-C716-4464-B695-623F4C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76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33A-AD59-4FB1-A1CA-AABFAE04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9538428" cy="371441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6964-650B-4E87-9541-0E659DEC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4672584"/>
            <a:ext cx="9538428" cy="114380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BB50-DF4A-47B5-A3AD-18712A3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3AFB-9E54-459E-8C6D-0913AC3BA5D7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59B3-D1B8-4A51-AD6E-868C5BF6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A779-6272-4A15-A566-20C4E9A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B86E8F-91EA-4626-BCA8-3B4973C7C9D6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68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2A00-5BBD-436C-BB6D-CE650FC4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3"/>
            <a:ext cx="9683871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3E2E-F3C4-4CDD-9138-86AE7A1B5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108362"/>
            <a:ext cx="4507926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01-B639-46B6-B53D-18FE1E39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171" y="2108362"/>
            <a:ext cx="4825948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34C3-86AC-48F9-92A4-F17BFAF9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44B6-0CA7-46BA-A00B-1E68E5C3ED0C}" type="datetime1">
              <a:rPr lang="en-US" smtClean="0"/>
              <a:t>4/22/24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6A29-C51F-4654-82AD-04056FA6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B6-57E6-40E7-9702-1D5999B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29C81A-4806-44FF-99D8-13A65B2D066F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DDCF9-5353-4B5F-8565-8C27F795A4BF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50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1A9-BF08-4C6D-805E-244B234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7784"/>
            <a:ext cx="9439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0C1D8-0907-4FDB-BFAD-36E14AF9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114185"/>
            <a:ext cx="4438887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4441-5FC3-4F86-8ADE-ED90424D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900451"/>
            <a:ext cx="4438887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EB34D-DB36-47E0-AE2C-FBEBA272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090" y="2114185"/>
            <a:ext cx="4485728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56219-D498-410D-8F2C-03045AE48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090" y="2900451"/>
            <a:ext cx="4485730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DC9AD-F6B8-44D0-8169-84553C1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F549-537C-41EC-B9CC-5B6A9AC2A6A7}" type="datetime1">
              <a:rPr lang="en-US" smtClean="0"/>
              <a:t>4/22/24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85ED-7382-4F00-845D-4F27841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2CC25-9EC7-4706-9BD4-5E20C4B3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BC7D26-1B30-46B8-8221-09886FA3D030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86A75-E140-4995-A8BB-89B5ACE678D2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73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21C2-B85F-435F-8DF3-C714A547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9FE38-24D5-4D5F-A92E-E4F8B23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D56-3D0E-48B8-8218-1F3A06A96C62}" type="datetime1">
              <a:rPr lang="en-US" smtClean="0"/>
              <a:t>4/22/24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DF69-BE29-4038-9744-17BFC57B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496F-64EC-46E7-97F0-BCB7E79F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3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19E0-8FE3-45E8-A227-D74EEF1A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309E-27D4-401F-A74A-DEA16C7B51DC}" type="datetime1">
              <a:rPr lang="en-US" smtClean="0"/>
              <a:t>4/22/24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B1926-56F3-40BC-A03F-62B9694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E2B6-07A4-4AA0-9BCE-204E13DA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5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266A-CB24-44C5-B2E8-0114208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9283"/>
            <a:ext cx="4603963" cy="2572489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DBD1-7133-47A5-A771-2CEA1853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796" y="549283"/>
            <a:ext cx="4455517" cy="53197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A729F-B24D-424E-B067-003B0601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3296498"/>
            <a:ext cx="4603963" cy="2572489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A7323-5497-426C-9DD9-3CF69E8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2B81-2BC3-42D7-B67D-05C685AA80AD}" type="datetime1">
              <a:rPr lang="en-US" smtClean="0"/>
              <a:t>4/22/24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7667-4D25-40AF-9D6D-FCB2C21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0918-EDF8-47A5-BEA8-AC9A7A1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9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5D2B-FAFB-4BC9-A917-610FDCD0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4608576" cy="2569464"/>
          </a:xfr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694-5302-42BE-8A7A-6007C10F8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5952" y="552783"/>
            <a:ext cx="4663440" cy="5308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481C-81D6-4329-8203-70B3FCC3F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9" y="3300984"/>
            <a:ext cx="4608576" cy="2569464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C12-26C4-4DF7-B013-56D0849A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8F2B-E487-4905-B553-FB649F2B6F23}" type="datetime1">
              <a:rPr lang="en-US" smtClean="0"/>
              <a:t>4/22/24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F307-FB97-40EC-8517-E6F351B3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B397-305A-42B7-A763-829634B9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275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3B3-C67F-4C48-A663-EF010429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4B3F-B3CB-4CF0-AEC8-1893A6A2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D005-2B71-4325-A646-A2278C3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B861-3779-4E37-8DF0-E9EB3EA96210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6B01-AE16-42EF-B970-5CAF0C8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9BE2-24F4-4F83-8E64-4307C979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71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1120-856A-4F01-B7C1-D87A1E5F8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74324" y="552782"/>
            <a:ext cx="2620891" cy="5294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62358-C84C-4947-B826-FF738422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2782"/>
            <a:ext cx="6803155" cy="529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1139-AA1A-46DB-B793-17FB8E6E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38388-E864-4553-9937-AE9FC5E50CFC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06F6-0FE2-40FB-BFEE-010C222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7B1B-13A1-41BA-B924-FD11450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75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Directed Graphs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F2DF74E-A7ED-5448-977C-B91FAAC101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3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D48A-4D17-4225-AC4D-67B4C68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A2B-77AF-4E51-B0C1-0D361EF8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096199"/>
            <a:ext cx="9489000" cy="374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C2F5-57CA-4152-A766-8F87753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1248" y="61026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F7C3A7-D6F6-4D38-A7C3-B72967BB81A6}" type="datetime1">
              <a:rPr lang="en-US" smtClean="0"/>
              <a:t>4/22/24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5FB5-D02B-4BB9-8B8B-D1A11CFE8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4260" y="24276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44FF-6F88-4090-A77F-499DF9AA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32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4AEDE-F25F-43E6-A2C4-7FFF41074990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793C08-EF4C-422B-A728-6C717C47DF6F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25BC6-56A8-46DE-8037-A9A577624B0D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19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  <p:sldLayoutId id="214748373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hite spheres in a blurry effect">
            <a:extLst>
              <a:ext uri="{FF2B5EF4-FFF2-40B4-BE49-F238E27FC236}">
                <a16:creationId xmlns:a16="http://schemas.microsoft.com/office/drawing/2014/main" id="{25759FFC-047F-9CA2-93C2-755F7F85FF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7576" r="-1" b="18391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D78129BC-0C51-4867-94F7-5D578EEE7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18984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36200">
                <a:srgbClr val="000000">
                  <a:alpha val="33000"/>
                </a:srgbClr>
              </a:gs>
              <a:gs pos="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B4B96DB-3DBE-4D91-9C01-32C3771F8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01" y="3191435"/>
            <a:ext cx="12191999" cy="3666563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55000">
                <a:srgbClr val="000000">
                  <a:alpha val="37000"/>
                </a:srgbClr>
              </a:gs>
              <a:gs pos="0">
                <a:srgbClr val="000000">
                  <a:alpha val="6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86A84-5084-8591-056A-71F7BABC9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681048"/>
            <a:ext cx="9456049" cy="2086714"/>
          </a:xfrm>
        </p:spPr>
        <p:txBody>
          <a:bodyPr anchor="b">
            <a:normAutofit/>
          </a:bodyPr>
          <a:lstStyle/>
          <a:p>
            <a:r>
              <a:rPr lang="en-NL" dirty="0">
                <a:solidFill>
                  <a:srgbClr val="FFFFFF"/>
                </a:solidFill>
              </a:rPr>
              <a:t>The Floyd-Warshall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04B3AA-CED6-19EC-B02E-06A9AC421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63960"/>
            <a:ext cx="9456049" cy="1027113"/>
          </a:xfrm>
        </p:spPr>
        <p:txBody>
          <a:bodyPr anchor="ctr">
            <a:normAutofit/>
          </a:bodyPr>
          <a:lstStyle/>
          <a:p>
            <a:endParaRPr lang="en-NL">
              <a:solidFill>
                <a:srgbClr val="FFFFFF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F6381B8-3E60-4161-90B0-AA932364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145" y="1898469"/>
            <a:ext cx="10381553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083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NL" dirty="0"/>
              <a:t>The problem</a:t>
            </a:r>
          </a:p>
          <a:p>
            <a:r>
              <a:rPr lang="en-NL" dirty="0"/>
              <a:t>Floyd-Warshall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8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The problem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US" dirty="0"/>
              <a:t>Given a directed graph G = (V, E)</a:t>
            </a:r>
          </a:p>
          <a:p>
            <a:pPr lvl="1"/>
            <a:r>
              <a:rPr lang="en-US" dirty="0"/>
              <a:t>G is also called a </a:t>
            </a:r>
            <a:r>
              <a:rPr lang="en-US" i="1" dirty="0"/>
              <a:t>digraph</a:t>
            </a:r>
          </a:p>
          <a:p>
            <a:r>
              <a:rPr lang="en-US" dirty="0"/>
              <a:t>We would like to create a new digraph G* = (V*, E*) such that</a:t>
            </a:r>
          </a:p>
          <a:p>
            <a:pPr lvl="1"/>
            <a:r>
              <a:rPr lang="en-US" dirty="0"/>
              <a:t>V* = V</a:t>
            </a:r>
          </a:p>
          <a:p>
            <a:pPr lvl="1"/>
            <a:r>
              <a:rPr lang="en-US" dirty="0"/>
              <a:t>E* includes the edge (u, v) whenever there is a path from u to v in G</a:t>
            </a:r>
          </a:p>
          <a:p>
            <a:r>
              <a:rPr lang="en-US" dirty="0"/>
              <a:t>G* is called the </a:t>
            </a:r>
            <a:r>
              <a:rPr lang="en-US" i="1" dirty="0"/>
              <a:t>transitive closure </a:t>
            </a:r>
            <a:r>
              <a:rPr lang="en-US" dirty="0"/>
              <a:t>of G</a:t>
            </a:r>
          </a:p>
          <a:p>
            <a:pPr lvl="1"/>
            <a:r>
              <a:rPr lang="en-US" dirty="0"/>
              <a:t>Very handy for things like routing in networks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3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39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9856"/>
            <a:ext cx="5981860" cy="10406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The problem</a:t>
            </a:r>
          </a:p>
        </p:txBody>
      </p:sp>
      <p:pic>
        <p:nvPicPr>
          <p:cNvPr id="1026" name="Picture 2" descr="A diagram of numbers and circles&#10;&#10;Description automatically generated">
            <a:extLst>
              <a:ext uri="{FF2B5EF4-FFF2-40B4-BE49-F238E27FC236}">
                <a16:creationId xmlns:a16="http://schemas.microsoft.com/office/drawing/2014/main" id="{44365327-B6B3-9F26-6FDB-94C24B7A0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6723" y="2238671"/>
            <a:ext cx="9266329" cy="346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3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BBDB03F3-936C-4FC9-8A4E-9ADA66A9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1886564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Connector 1048">
            <a:extLst>
              <a:ext uri="{FF2B5EF4-FFF2-40B4-BE49-F238E27FC236}">
                <a16:creationId xmlns:a16="http://schemas.microsoft.com/office/drawing/2014/main" id="{22FCAA1B-E660-4FFE-8F82-F41F369BD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74510" y="334926"/>
            <a:ext cx="0" cy="15516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437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78345"/>
            <a:ext cx="9489000" cy="39652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a dynamic programming algorithm</a:t>
            </a:r>
          </a:p>
          <a:p>
            <a:r>
              <a:rPr lang="en-US" dirty="0"/>
              <a:t>As such we need</a:t>
            </a:r>
          </a:p>
          <a:p>
            <a:pPr lvl="1"/>
            <a:r>
              <a:rPr lang="en-US" dirty="0"/>
              <a:t>Some place to start</a:t>
            </a:r>
          </a:p>
          <a:p>
            <a:pPr lvl="1"/>
            <a:r>
              <a:rPr lang="en-US" dirty="0"/>
              <a:t>Some way to build up from simpler solutions to more complex ones</a:t>
            </a:r>
          </a:p>
          <a:p>
            <a:r>
              <a:rPr lang="en-US" dirty="0"/>
              <a:t>We can start by simply placing all the edges in E into E*</a:t>
            </a:r>
          </a:p>
          <a:p>
            <a:pPr lvl="1"/>
            <a:r>
              <a:rPr lang="en-US" dirty="0"/>
              <a:t>This will take care of all paths of length 1</a:t>
            </a:r>
          </a:p>
          <a:p>
            <a:r>
              <a:rPr lang="en-US" dirty="0"/>
              <a:t>Then we can work from paths through smaller-numbered nodes to larger-numbered nodes</a:t>
            </a:r>
          </a:p>
          <a:p>
            <a:r>
              <a:rPr lang="en-US" dirty="0"/>
              <a:t>We will assume there are n vertices and m edges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07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start, let us arbitrarily number the vertices in V = {v</a:t>
            </a:r>
            <a:r>
              <a:rPr lang="en-US" baseline="-25000" dirty="0"/>
              <a:t>1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v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</a:p>
          <a:p>
            <a:r>
              <a:rPr lang="en-US" dirty="0"/>
              <a:t>Every edge in G (and G*) looks like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Which means that there is an edge from v</a:t>
            </a:r>
            <a:r>
              <a:rPr lang="en-US" baseline="-25000" dirty="0"/>
              <a:t>i</a:t>
            </a:r>
            <a:r>
              <a:rPr lang="en-US" dirty="0"/>
              <a:t> to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endParaRPr lang="en-US" dirty="0"/>
          </a:p>
          <a:p>
            <a:r>
              <a:rPr lang="en-US" dirty="0"/>
              <a:t>We can now define how to get from G to G* by creating intermediate graphs G</a:t>
            </a:r>
            <a:r>
              <a:rPr lang="en-US" baseline="-25000" dirty="0"/>
              <a:t>0</a:t>
            </a:r>
            <a:r>
              <a:rPr lang="en-US" dirty="0"/>
              <a:t>, G</a:t>
            </a:r>
            <a:r>
              <a:rPr lang="en-US" baseline="-25000" dirty="0"/>
              <a:t>1</a:t>
            </a:r>
            <a:r>
              <a:rPr lang="en-US" dirty="0"/>
              <a:t>, …</a:t>
            </a:r>
            <a:r>
              <a:rPr lang="en-US" dirty="0" err="1"/>
              <a:t>G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</a:p>
          <a:p>
            <a:r>
              <a:rPr lang="en-US" dirty="0"/>
              <a:t>Graph G</a:t>
            </a:r>
            <a:r>
              <a:rPr lang="en-US" baseline="-25000" dirty="0"/>
              <a:t>0</a:t>
            </a:r>
            <a:r>
              <a:rPr lang="en-US" dirty="0"/>
              <a:t> will contain just the edges already in G</a:t>
            </a:r>
          </a:p>
          <a:p>
            <a:r>
              <a:rPr lang="en-US" dirty="0"/>
              <a:t>G</a:t>
            </a:r>
            <a:r>
              <a:rPr lang="en-US" baseline="-25000" dirty="0"/>
              <a:t>1</a:t>
            </a:r>
            <a:r>
              <a:rPr lang="en-US" dirty="0"/>
              <a:t> will contain G</a:t>
            </a:r>
            <a:r>
              <a:rPr lang="en-US" baseline="-25000" dirty="0"/>
              <a:t>0</a:t>
            </a:r>
            <a:r>
              <a:rPr lang="en-US" dirty="0"/>
              <a:t>, plus new edges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whenever G</a:t>
            </a:r>
            <a:r>
              <a:rPr lang="en-US" baseline="-25000" dirty="0"/>
              <a:t>0</a:t>
            </a:r>
            <a:r>
              <a:rPr lang="en-US" dirty="0"/>
              <a:t> contains edges (v</a:t>
            </a:r>
            <a:r>
              <a:rPr lang="en-US" baseline="-25000" dirty="0"/>
              <a:t>i</a:t>
            </a:r>
            <a:r>
              <a:rPr lang="en-US" dirty="0"/>
              <a:t>, v</a:t>
            </a:r>
            <a:r>
              <a:rPr lang="en-US" baseline="-25000" dirty="0"/>
              <a:t>1</a:t>
            </a:r>
            <a:r>
              <a:rPr lang="en-US" dirty="0"/>
              <a:t>) and (v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G</a:t>
            </a:r>
            <a:r>
              <a:rPr lang="en-US" baseline="-25000" dirty="0"/>
              <a:t>2</a:t>
            </a:r>
            <a:r>
              <a:rPr lang="en-US" dirty="0"/>
              <a:t> will contain G</a:t>
            </a:r>
            <a:r>
              <a:rPr lang="en-US" baseline="-25000" dirty="0"/>
              <a:t>1</a:t>
            </a:r>
            <a:r>
              <a:rPr lang="en-US" dirty="0"/>
              <a:t>, plus new edges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whenever G</a:t>
            </a:r>
            <a:r>
              <a:rPr lang="en-US" baseline="-25000" dirty="0"/>
              <a:t>1</a:t>
            </a:r>
            <a:r>
              <a:rPr lang="en-US" dirty="0"/>
              <a:t> contains edges (v</a:t>
            </a:r>
            <a:r>
              <a:rPr lang="en-US" baseline="-25000" dirty="0"/>
              <a:t>i</a:t>
            </a:r>
            <a:r>
              <a:rPr lang="en-US" dirty="0"/>
              <a:t>, v</a:t>
            </a:r>
            <a:r>
              <a:rPr lang="en-US" baseline="-25000" dirty="0"/>
              <a:t>2</a:t>
            </a:r>
            <a:r>
              <a:rPr lang="en-US" dirty="0"/>
              <a:t>) and (v</a:t>
            </a:r>
            <a:r>
              <a:rPr lang="en-US" baseline="-25000" dirty="0"/>
              <a:t>2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And so on</a:t>
            </a:r>
          </a:p>
          <a:p>
            <a:endParaRPr lang="en-US" dirty="0"/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933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short, </a:t>
            </a:r>
            <a:r>
              <a:rPr lang="en-US" dirty="0" err="1"/>
              <a:t>G</a:t>
            </a:r>
            <a:r>
              <a:rPr lang="en-US" baseline="-25000" dirty="0" err="1"/>
              <a:t>k</a:t>
            </a:r>
            <a:r>
              <a:rPr lang="en-US" dirty="0"/>
              <a:t> adds an edge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whenever G</a:t>
            </a:r>
            <a:r>
              <a:rPr lang="en-US" baseline="-25000" dirty="0"/>
              <a:t>k-1</a:t>
            </a:r>
            <a:r>
              <a:rPr lang="en-US" dirty="0"/>
              <a:t> has edges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k</a:t>
            </a:r>
            <a:r>
              <a:rPr lang="en-US" dirty="0"/>
              <a:t>) and (</a:t>
            </a:r>
            <a:r>
              <a:rPr lang="en-US" dirty="0" err="1"/>
              <a:t>v</a:t>
            </a:r>
            <a:r>
              <a:rPr lang="en-US" baseline="-25000" dirty="0" err="1"/>
              <a:t>k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When </a:t>
            </a:r>
            <a:r>
              <a:rPr lang="en-US" dirty="0" err="1"/>
              <a:t>G</a:t>
            </a:r>
            <a:r>
              <a:rPr lang="en-US" baseline="-25000" dirty="0" err="1"/>
              <a:t>k</a:t>
            </a:r>
            <a:r>
              <a:rPr lang="en-US" dirty="0"/>
              <a:t> is complete, if there is a path from v</a:t>
            </a:r>
            <a:r>
              <a:rPr lang="en-US" baseline="-25000" dirty="0"/>
              <a:t>i</a:t>
            </a:r>
            <a:r>
              <a:rPr lang="en-US" dirty="0"/>
              <a:t> to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that runs through </a:t>
            </a:r>
            <a:r>
              <a:rPr lang="en-US" dirty="0" err="1"/>
              <a:t>v</a:t>
            </a:r>
            <a:r>
              <a:rPr lang="en-US" baseline="-25000" dirty="0" err="1"/>
              <a:t>k</a:t>
            </a:r>
            <a:r>
              <a:rPr lang="en-US" dirty="0"/>
              <a:t>, </a:t>
            </a:r>
            <a:r>
              <a:rPr lang="en-US" dirty="0" err="1"/>
              <a:t>G</a:t>
            </a:r>
            <a:r>
              <a:rPr lang="en-US" baseline="-25000" dirty="0" err="1"/>
              <a:t>k</a:t>
            </a:r>
            <a:r>
              <a:rPr lang="en-US" dirty="0"/>
              <a:t> will have an edge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Of course, k will go all the way up to n (the number of vertices), so when the algorithm is complete the above statement turns into:</a:t>
            </a:r>
          </a:p>
          <a:p>
            <a:pPr marL="0" indent="0" algn="ctr">
              <a:buNone/>
            </a:pPr>
            <a:r>
              <a:rPr lang="en-US" dirty="0"/>
              <a:t>If v</a:t>
            </a:r>
            <a:r>
              <a:rPr lang="en-US" baseline="-25000" dirty="0"/>
              <a:t>i</a:t>
            </a:r>
            <a:r>
              <a:rPr lang="en-US" dirty="0"/>
              <a:t> is directly connected to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, or if there is a path from v</a:t>
            </a:r>
            <a:r>
              <a:rPr lang="en-US" baseline="-25000" dirty="0"/>
              <a:t>i</a:t>
            </a:r>
            <a:r>
              <a:rPr lang="en-US" dirty="0"/>
              <a:t> to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that runs through</a:t>
            </a:r>
          </a:p>
          <a:p>
            <a:pPr marL="0" indent="0" algn="ctr">
              <a:buNone/>
            </a:pPr>
            <a:r>
              <a:rPr lang="en-US" i="1" dirty="0"/>
              <a:t>any</a:t>
            </a:r>
            <a:r>
              <a:rPr lang="en-US" dirty="0"/>
              <a:t>  vertex, </a:t>
            </a:r>
            <a:r>
              <a:rPr lang="en-US" dirty="0" err="1"/>
              <a:t>G</a:t>
            </a:r>
            <a:r>
              <a:rPr lang="en-US" baseline="-25000" dirty="0" err="1"/>
              <a:t>n</a:t>
            </a:r>
            <a:r>
              <a:rPr lang="en-US" dirty="0"/>
              <a:t> will have an edge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Which is what we want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01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US" dirty="0"/>
              <a:t>In pseudocode: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G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k in 1..n: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G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k-1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⋃ (v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if G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k-1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contains both (v</a:t>
            </a:r>
            <a:r>
              <a:rPr lang="en-US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and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G*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871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27">
            <a:extLst>
              <a:ext uri="{FF2B5EF4-FFF2-40B4-BE49-F238E27FC236}">
                <a16:creationId xmlns:a16="http://schemas.microsoft.com/office/drawing/2014/main" id="{F194AEDE-F25F-43E6-A2C4-7FFF41074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29">
            <a:extLst>
              <a:ext uri="{FF2B5EF4-FFF2-40B4-BE49-F238E27FC236}">
                <a16:creationId xmlns:a16="http://schemas.microsoft.com/office/drawing/2014/main" id="{4C793C08-EF4C-422B-A728-6C717C47D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31">
            <a:extLst>
              <a:ext uri="{FF2B5EF4-FFF2-40B4-BE49-F238E27FC236}">
                <a16:creationId xmlns:a16="http://schemas.microsoft.com/office/drawing/2014/main" id="{FE825BC6-56A8-46DE-8037-A9A577624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33">
            <a:extLst>
              <a:ext uri="{FF2B5EF4-FFF2-40B4-BE49-F238E27FC236}">
                <a16:creationId xmlns:a16="http://schemas.microsoft.com/office/drawing/2014/main" id="{9EED8031-DD67-43C6-94A0-646636C95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2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663960"/>
            <a:ext cx="2656818" cy="3310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 sz="2800" dirty="0"/>
              <a:t>Floyd-Warshall</a:t>
            </a:r>
            <a:endParaRPr lang="en-US" sz="2800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93EF2706-C810-79E0-C7DD-D8F37CC4E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8131" y="1488770"/>
            <a:ext cx="6208088" cy="3398927"/>
          </a:xfrm>
          <a:prstGeom prst="rect">
            <a:avLst/>
          </a:prstGeom>
        </p:spPr>
      </p:pic>
      <p:sp>
        <p:nvSpPr>
          <p:cNvPr id="53" name="Main Frame">
            <a:extLst>
              <a:ext uri="{FF2B5EF4-FFF2-40B4-BE49-F238E27FC236}">
                <a16:creationId xmlns:a16="http://schemas.microsoft.com/office/drawing/2014/main" id="{9502469D-C562-48E3-ABA2-3CFA55C52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Main Horizontal Connector">
            <a:extLst>
              <a:ext uri="{FF2B5EF4-FFF2-40B4-BE49-F238E27FC236}">
                <a16:creationId xmlns:a16="http://schemas.microsoft.com/office/drawing/2014/main" id="{4D594499-F983-4364-8ABC-5BCDC2E90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41">
            <a:extLst>
              <a:ext uri="{FF2B5EF4-FFF2-40B4-BE49-F238E27FC236}">
                <a16:creationId xmlns:a16="http://schemas.microsoft.com/office/drawing/2014/main" id="{10A37E3E-52D3-44C9-B418-2D26B214C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848100" y="334928"/>
            <a:ext cx="0" cy="571250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43">
            <a:extLst>
              <a:ext uri="{FF2B5EF4-FFF2-40B4-BE49-F238E27FC236}">
                <a16:creationId xmlns:a16="http://schemas.microsoft.com/office/drawing/2014/main" id="{7A74BE92-BA24-4F82-94AC-ED4A58B2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4502926"/>
            <a:ext cx="3480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Main Vertical Connector">
            <a:extLst>
              <a:ext uri="{FF2B5EF4-FFF2-40B4-BE49-F238E27FC236}">
                <a16:creationId xmlns:a16="http://schemas.microsoft.com/office/drawing/2014/main" id="{6D4C177C-581F-4CC8-A686-0B6D25DC6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58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US" dirty="0"/>
              <a:t>It is easy to see this is O(n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  <a:p>
            <a:r>
              <a:rPr lang="en-US" dirty="0"/>
              <a:t>Why does it work?</a:t>
            </a:r>
          </a:p>
          <a:p>
            <a:r>
              <a:rPr lang="en-US" dirty="0"/>
              <a:t>Informally:</a:t>
            </a:r>
          </a:p>
          <a:p>
            <a:r>
              <a:rPr lang="en-US" dirty="0"/>
              <a:t>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belongs in G* if either of two things is true</a:t>
            </a:r>
          </a:p>
          <a:p>
            <a:pPr lvl="1"/>
            <a:r>
              <a:rPr lang="en-US" dirty="0"/>
              <a:t>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is in G</a:t>
            </a:r>
          </a:p>
          <a:p>
            <a:pPr lvl="1"/>
            <a:r>
              <a:rPr lang="en-US" dirty="0"/>
              <a:t>There is a path from v</a:t>
            </a:r>
            <a:r>
              <a:rPr lang="en-US" baseline="-25000" dirty="0"/>
              <a:t>i</a:t>
            </a:r>
            <a:r>
              <a:rPr lang="en-US" dirty="0"/>
              <a:t> to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that passes through some intermediate vertex </a:t>
            </a:r>
            <a:r>
              <a:rPr lang="en-US" dirty="0" err="1"/>
              <a:t>v</a:t>
            </a:r>
            <a:r>
              <a:rPr lang="en-US" baseline="-25000" dirty="0" err="1"/>
              <a:t>x</a:t>
            </a:r>
            <a:r>
              <a:rPr lang="en-US" dirty="0"/>
              <a:t> 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05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US" dirty="0"/>
              <a:t>The algorithm successively connects vertices until it builds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x</a:t>
            </a:r>
            <a:r>
              <a:rPr lang="en-US" dirty="0"/>
              <a:t>) and (</a:t>
            </a:r>
            <a:r>
              <a:rPr lang="en-US" dirty="0" err="1"/>
              <a:t>v</a:t>
            </a:r>
            <a:r>
              <a:rPr lang="en-US" baseline="-25000" dirty="0" err="1"/>
              <a:t>x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), and then builds (v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r>
              <a:rPr lang="en-US" dirty="0"/>
              <a:t>The algorithm does not miss any vertex pairs</a:t>
            </a:r>
          </a:p>
          <a:p>
            <a:r>
              <a:rPr lang="en-US" dirty="0"/>
              <a:t>A worked-out example follows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14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07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B80E25CB-82F9-E64C-8A3F-29DE5EAD52E4}" type="slidenum">
              <a:rPr lang="en-US" sz="1400"/>
              <a:pPr eaLnBrk="1" hangingPunct="1"/>
              <a:t>12</a:t>
            </a:fld>
            <a:endParaRPr lang="en-US" sz="14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 Example</a:t>
            </a:r>
          </a:p>
        </p:txBody>
      </p:sp>
      <p:sp>
        <p:nvSpPr>
          <p:cNvPr id="30724" name="Freeform 4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Freeform 6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Freeform 7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Freeform 8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Freeform 9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Freeform 10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Freeform 11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Freeform 12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Freeform 13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Freeform 14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5" name="Freeform 15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6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7" name="Freeform 17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8" name="Freeform 18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9" name="Freeform 19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0" name="Freeform 20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1" name="Freeform 21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2" name="Freeform 22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3" name="Freeform 23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4" name="Freeform 24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5" name="Freeform 25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6" name="Freeform 26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7" name="Freeform 27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8" name="Freeform 28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9" name="Freeform 29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0" name="Freeform 30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1" name="Freeform 31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2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3" name="Freeform 33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4" name="Freeform 34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5" name="Freeform 35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6" name="Freeform 36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7" name="Freeform 37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8" name="Freeform 38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59" name="Freeform 39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0" name="Freeform 40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1" name="Freeform 41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2" name="Freeform 42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3" name="Freeform 43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4" name="Freeform 44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5" name="Freeform 45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6" name="Freeform 46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7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8" name="Freeform 48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9" name="Freeform 49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0" name="Freeform 50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1" name="Freeform 51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2" name="Freeform 52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3" name="Freeform 53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4" name="Freeform 54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5" name="Freeform 55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6" name="Freeform 56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7" name="Freeform 57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8" name="Freeform 58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9" name="Freeform 59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0" name="Freeform 60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1" name="Freeform 61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2" name="Freeform 62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3" name="Freeform 63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4" name="Freeform 64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5" name="Freeform 65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6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7" name="Freeform 67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8" name="Freeform 68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9" name="Freeform 69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0" name="Freeform 70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1" name="Freeform 71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2" name="Freeform 72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3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4" name="Freeform 74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5" name="Freeform 75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6" name="Freeform 76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7" name="Freeform 77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8" name="Freeform 78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9" name="Freeform 79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0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1" name="Freeform 81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2" name="Freeform 82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3" name="Freeform 83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4" name="Freeform 84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5" name="Freeform 85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6" name="Freeform 86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7" name="Freeform 87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8" name="Freeform 88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9" name="Freeform 89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0" name="Freeform 90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1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2" name="Freeform 92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3" name="Freeform 93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4" name="Freeform 94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5" name="Freeform 95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6" name="Freeform 96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7" name="Freeform 97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8" name="Freeform 98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9" name="Freeform 99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0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1" name="Freeform 101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2" name="Freeform 102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3" name="Freeform 103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4" name="Freeform 104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5" name="Freeform 105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6" name="Freeform 106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7" name="Freeform 107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8" name="Freeform 108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9" name="Rectangle 109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0" name="Freeform 110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1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2" name="Freeform 112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3" name="Freeform 113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4" name="Freeform 114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5" name="Freeform 115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6" name="Freeform 116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7" name="Freeform 117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8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9" name="Freeform 119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0" name="Freeform 120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1" name="Freeform 121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2" name="Freeform 122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3" name="Freeform 123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4" name="Freeform 124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5" name="Freeform 125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6" name="Freeform 126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7" name="Rectangle 127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8" name="Freeform 128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9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0" name="Freeform 130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1" name="Freeform 131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2" name="Freeform 132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3" name="Freeform 133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4" name="Freeform 134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5" name="Freeform 135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6" name="Oval 136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7" name="Oval 137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58" name="Rectangle 138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0859" name="Freeform 139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0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1" name="Freeform 141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2" name="Freeform 142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3" name="Freeform 143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4" name="Freeform 144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5" name="Freeform 145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6" name="Freeform 146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7" name="Freeform 147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8" name="Freeform 148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9" name="Freeform 149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0" name="Oval 150"/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1" name="Oval 151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2" name="Rectangle 152"/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BOS</a:t>
            </a:r>
            <a:endParaRPr lang="en-US" b="1">
              <a:latin typeface="Times" charset="0"/>
            </a:endParaRPr>
          </a:p>
        </p:txBody>
      </p:sp>
      <p:sp>
        <p:nvSpPr>
          <p:cNvPr id="30873" name="Oval 153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4" name="Oval 154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5" name="Rectangle 155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0876" name="Oval 156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7" name="Oval 157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8" name="Rectangle 158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0879" name="Oval 159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0" name="Oval 160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1" name="Rectangle 161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0882" name="Oval 162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3" name="Oval 163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4" name="Rectangle 164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0885" name="Oval 165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6" name="Oval 166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7" name="Rectangle 167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0889" name="Rectangle 169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0" name="Rectangle 170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1" name="Rectangle 171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892" name="Rectangle 172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0894" name="Rectangle 174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96" name="Rectangle 176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897" name="Rectangle 177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0899" name="Rectangle 179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0" name="Rectangle 180"/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1" name="Rectangle 181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902" name="Rectangle 182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0904" name="Rectangle 184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6" name="Rectangle 186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907" name="Rectangle 187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0908" name="Rectangle 188"/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09" name="Rectangle 189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0" name="Rectangle 190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1" name="Rectangle 191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912" name="Rectangle 192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0914" name="Rectangle 194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5" name="Rectangle 195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16" name="Rectangle 196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0917" name="Rectangle 197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0918" name="Picture 19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85">
            <a:extLst>
              <a:ext uri="{FF2B5EF4-FFF2-40B4-BE49-F238E27FC236}">
                <a16:creationId xmlns:a16="http://schemas.microsoft.com/office/drawing/2014/main" id="{8FD7B9CF-9469-20DD-2D7F-6E2595059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175">
            <a:extLst>
              <a:ext uri="{FF2B5EF4-FFF2-40B4-BE49-F238E27FC236}">
                <a16:creationId xmlns:a16="http://schemas.microsoft.com/office/drawing/2014/main" id="{9BA5D9AE-77DC-FA07-2609-1F98B367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174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2036396-CF40-B845-81B9-393C7B100A91}" type="slidenum">
              <a:rPr lang="en-US" sz="1400"/>
              <a:pPr eaLnBrk="1" hangingPunct="1"/>
              <a:t>13</a:t>
            </a:fld>
            <a:endParaRPr lang="en-US" sz="14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1</a:t>
            </a:r>
          </a:p>
        </p:txBody>
      </p:sp>
      <p:sp>
        <p:nvSpPr>
          <p:cNvPr id="31748" name="Freeform 3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Freeform 4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Freeform 6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Freeform 7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Freeform 8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Freeform 9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Freeform 10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Freeform 11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Freeform 12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Freeform 13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9" name="Freeform 14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0" name="Freeform 15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1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2" name="Freeform 17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3" name="Freeform 18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4" name="Freeform 19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5" name="Freeform 20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6" name="Freeform 21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7" name="Freeform 22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8" name="Freeform 23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69" name="Freeform 24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0" name="Freeform 25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Freeform 26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2" name="Freeform 27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3" name="Freeform 28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4" name="Freeform 29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5" name="Freeform 30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6" name="Freeform 31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7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8" name="Freeform 33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9" name="Freeform 34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0" name="Freeform 35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1" name="Freeform 36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2" name="Freeform 37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3" name="Freeform 38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4" name="Freeform 39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5" name="Freeform 40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6" name="Freeform 41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7" name="Freeform 42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8" name="Freeform 43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89" name="Freeform 44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0" name="Freeform 45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1" name="Freeform 46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2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3" name="Freeform 48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4" name="Freeform 49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5" name="Freeform 50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6" name="Freeform 51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7" name="Freeform 52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8" name="Freeform 53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99" name="Freeform 54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0" name="Freeform 55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1" name="Freeform 56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2" name="Freeform 57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3" name="Freeform 58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4" name="Freeform 59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5" name="Freeform 60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6" name="Freeform 61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7" name="Freeform 62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8" name="Freeform 63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09" name="Freeform 64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0" name="Freeform 65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1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2" name="Freeform 67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3" name="Freeform 68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4" name="Freeform 69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5" name="Freeform 70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6" name="Freeform 71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7" name="Freeform 72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8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19" name="Freeform 74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0" name="Freeform 75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1" name="Freeform 76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2" name="Freeform 77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3" name="Freeform 78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4" name="Freeform 79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5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6" name="Freeform 81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7" name="Freeform 82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8" name="Freeform 83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29" name="Freeform 84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0" name="Freeform 85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1" name="Freeform 86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2" name="Freeform 87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3" name="Freeform 88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4" name="Freeform 89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5" name="Freeform 90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6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7" name="Freeform 92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8" name="Freeform 93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39" name="Freeform 94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0" name="Freeform 95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1" name="Freeform 96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2" name="Freeform 97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3" name="Freeform 98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4" name="Freeform 99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5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6" name="Freeform 101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7" name="Freeform 102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8" name="Freeform 103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49" name="Freeform 104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0" name="Freeform 105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1" name="Freeform 106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2" name="Freeform 107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3" name="Rectangle 108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4" name="Freeform 109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5" name="Freeform 110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6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7" name="Freeform 112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8" name="Freeform 113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59" name="Freeform 114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0" name="Freeform 115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1" name="Freeform 116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2" name="Freeform 117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3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4" name="Freeform 119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5" name="Freeform 120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6" name="Freeform 121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7" name="Freeform 122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8" name="Freeform 123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69" name="Freeform 124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0" name="Freeform 125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1" name="Rectangle 126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2" name="Freeform 127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3" name="Freeform 128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4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5" name="Freeform 130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6" name="Freeform 131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7" name="Freeform 132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8" name="Freeform 133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79" name="Freeform 134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0" name="Oval 135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1" name="Oval 136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2" name="Rectangle 137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1883" name="Freeform 138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4" name="Freeform 139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5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6" name="Freeform 141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7" name="Freeform 142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8" name="Freeform 143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89" name="Freeform 144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0" name="Freeform 145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1" name="Freeform 146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2" name="Freeform 147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3" name="Freeform 148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4" name="Oval 149"/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5" name="Oval 150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6" name="Rectangle 151"/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BOS</a:t>
            </a:r>
            <a:endParaRPr lang="en-US" b="1">
              <a:latin typeface="Times" charset="0"/>
            </a:endParaRPr>
          </a:p>
        </p:txBody>
      </p:sp>
      <p:sp>
        <p:nvSpPr>
          <p:cNvPr id="31897" name="Oval 152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8" name="Oval 153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9" name="Rectangle 154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1900" name="Oval 155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1" name="Oval 156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2" name="Rectangle 157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1903" name="Oval 158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4" name="Oval 159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5" name="Rectangle 160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1906" name="Oval 161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7" name="Oval 162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8" name="Rectangle 163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1909" name="Oval 164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0" name="Oval 165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1" name="Rectangle 166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1913" name="Rectangle 168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4" name="Rectangle 169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5" name="Rectangle 170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16" name="Rectangle 171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1918" name="Rectangle 173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19" name="Rectangle 174"/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20" name="Rectangle 175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21" name="Rectangle 176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1923" name="Rectangle 178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24" name="Rectangle 179"/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25" name="Rectangle 180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26" name="Rectangle 181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1928" name="Rectangle 183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29" name="Rectangle 184"/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0" name="Rectangle 185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31" name="Rectangle 186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1933" name="Rectangle 188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5" name="Rectangle 190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36" name="Rectangle 191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1938" name="Rectangle 193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9" name="Rectangle 194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40" name="Rectangle 195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1941" name="Rectangle 196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1942" name="Picture 1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76678" name="AutoShape 198"/>
          <p:cNvCxnSpPr>
            <a:cxnSpLocks noChangeShapeType="1"/>
            <a:stCxn id="31898" idx="1"/>
            <a:endCxn id="31901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89">
            <a:extLst>
              <a:ext uri="{FF2B5EF4-FFF2-40B4-BE49-F238E27FC236}">
                <a16:creationId xmlns:a16="http://schemas.microsoft.com/office/drawing/2014/main" id="{8D2AE5DE-BA71-9372-0EF3-43D6DC9EE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27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6763F70A-F5F5-0D40-BD03-85AE13F1CEAD}" type="slidenum">
              <a:rPr lang="en-US" sz="1400"/>
              <a:pPr eaLnBrk="1" hangingPunct="1"/>
              <a:t>14</a:t>
            </a:fld>
            <a:endParaRPr lang="en-US" sz="14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2</a:t>
            </a:r>
          </a:p>
        </p:txBody>
      </p:sp>
      <p:sp>
        <p:nvSpPr>
          <p:cNvPr id="32772" name="Freeform 3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Freeform 4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Freeform 6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Freeform 7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Freeform 8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Freeform 9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Freeform 10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Freeform 11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Freeform 12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Freeform 13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3" name="Freeform 14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4" name="Freeform 15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5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6" name="Freeform 17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7" name="Freeform 18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8" name="Freeform 19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9" name="Freeform 20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0" name="Freeform 21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1" name="Freeform 22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2" name="Freeform 23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3" name="Freeform 24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4" name="Freeform 25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5" name="Freeform 26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6" name="Freeform 27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7" name="Freeform 28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8" name="Freeform 29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99" name="Freeform 30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0" name="Freeform 31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1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2" name="Freeform 33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3" name="Freeform 34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Freeform 35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Freeform 36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6" name="Freeform 37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7" name="Freeform 38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8" name="Freeform 39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9" name="Freeform 40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0" name="Freeform 41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1" name="Freeform 42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2" name="Freeform 43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3" name="Freeform 44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4" name="Freeform 45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5" name="Freeform 46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6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7" name="Freeform 48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8" name="Freeform 49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19" name="Freeform 50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0" name="Freeform 51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1" name="Freeform 52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2" name="Freeform 53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3" name="Freeform 54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4" name="Freeform 55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5" name="Freeform 56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6" name="Freeform 57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7" name="Freeform 58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8" name="Freeform 59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29" name="Freeform 60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0" name="Freeform 61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1" name="Freeform 62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2" name="Freeform 63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3" name="Freeform 64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4" name="Freeform 65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5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6" name="Freeform 67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7" name="Freeform 68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8" name="Freeform 69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39" name="Freeform 70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0" name="Freeform 71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1" name="Freeform 72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2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3" name="Freeform 74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4" name="Freeform 75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5" name="Freeform 76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6" name="Freeform 77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7" name="Freeform 78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8" name="Freeform 79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49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0" name="Freeform 81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1" name="Freeform 82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2" name="Freeform 83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3" name="Freeform 84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4" name="Freeform 85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5" name="Freeform 86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6" name="Freeform 87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7" name="Freeform 88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8" name="Freeform 89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59" name="Freeform 90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0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1" name="Freeform 92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2" name="Freeform 93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3" name="Freeform 94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4" name="Freeform 95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5" name="Freeform 96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6" name="Freeform 97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7" name="Freeform 98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8" name="Freeform 99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69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0" name="Freeform 101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1" name="Freeform 102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2" name="Freeform 103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3" name="Freeform 104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4" name="Freeform 105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5" name="Freeform 106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6" name="Freeform 107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7" name="Rectangle 108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8" name="Freeform 109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79" name="Freeform 110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0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1" name="Freeform 112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2" name="Freeform 113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3" name="Freeform 114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4" name="Freeform 115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5" name="Freeform 116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6" name="Freeform 117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7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8" name="Freeform 119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89" name="Freeform 120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0" name="Freeform 121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1" name="Freeform 122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2" name="Freeform 123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3" name="Freeform 124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4" name="Freeform 125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5" name="Rectangle 126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6" name="Freeform 127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7" name="Freeform 128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8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99" name="Freeform 130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0" name="Freeform 131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1" name="Freeform 132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2" name="Freeform 133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3" name="Freeform 134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4" name="Oval 135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5" name="Oval 136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6" name="Rectangle 137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2907" name="Freeform 138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8" name="Freeform 139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09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0" name="Freeform 141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1" name="Freeform 142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2" name="Freeform 143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3" name="Freeform 144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4" name="Freeform 145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5" name="Freeform 146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6" name="Freeform 147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7" name="Freeform 148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18" name="Oval 149"/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919" name="Oval 150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0" name="Rectangle 151"/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BOS</a:t>
            </a:r>
            <a:endParaRPr lang="en-US" b="1">
              <a:latin typeface="Times" charset="0"/>
            </a:endParaRPr>
          </a:p>
        </p:txBody>
      </p:sp>
      <p:sp>
        <p:nvSpPr>
          <p:cNvPr id="32921" name="Oval 152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2" name="Oval 153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3" name="Rectangle 154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2924" name="Oval 155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5" name="Oval 156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6" name="Rectangle 157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2927" name="Oval 158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8" name="Oval 159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29" name="Rectangle 160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2930" name="Oval 161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1" name="Oval 162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2" name="Rectangle 163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2933" name="Oval 164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4" name="Oval 165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5" name="Rectangle 166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2937" name="Rectangle 168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8" name="Rectangle 169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39" name="Rectangle 170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40" name="Rectangle 171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2942" name="Rectangle 173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44" name="Rectangle 175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45" name="Rectangle 176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2947" name="Rectangle 178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49" name="Rectangle 180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50" name="Rectangle 181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2952" name="Rectangle 183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54" name="Rectangle 185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55" name="Rectangle 186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2956" name="Rectangle 187"/>
          <p:cNvSpPr>
            <a:spLocks noChangeArrowheads="1"/>
          </p:cNvSpPr>
          <p:nvPr/>
        </p:nvSpPr>
        <p:spPr bwMode="auto">
          <a:xfrm>
            <a:off x="7920038" y="5962650"/>
            <a:ext cx="400050" cy="363538"/>
          </a:xfrm>
          <a:prstGeom prst="rect">
            <a:avLst/>
          </a:prstGeom>
          <a:blipFill dpi="0" rotWithShape="0">
            <a:blip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57" name="Rectangle 188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58" name="Rectangle 189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59" name="Rectangle 190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60" name="Rectangle 191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2962" name="Rectangle 193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63" name="Rectangle 194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964" name="Rectangle 195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2965" name="Rectangle 196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2966" name="Picture 1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967" name="AutoShape 198"/>
          <p:cNvCxnSpPr>
            <a:cxnSpLocks noChangeShapeType="1"/>
            <a:stCxn id="32922" idx="1"/>
            <a:endCxn id="32925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84">
            <a:extLst>
              <a:ext uri="{FF2B5EF4-FFF2-40B4-BE49-F238E27FC236}">
                <a16:creationId xmlns:a16="http://schemas.microsoft.com/office/drawing/2014/main" id="{7FD83C23-89A1-42B7-2FBA-4A80C27DD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79">
            <a:extLst>
              <a:ext uri="{FF2B5EF4-FFF2-40B4-BE49-F238E27FC236}">
                <a16:creationId xmlns:a16="http://schemas.microsoft.com/office/drawing/2014/main" id="{AE5C7DD8-1356-6C09-7BA1-56B9BF16F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74">
            <a:extLst>
              <a:ext uri="{FF2B5EF4-FFF2-40B4-BE49-F238E27FC236}">
                <a16:creationId xmlns:a16="http://schemas.microsoft.com/office/drawing/2014/main" id="{F53C8026-632B-45A7-A139-2891CB725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37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11231A9-AF1E-E74B-9BF3-9BD69C3FB6A7}" type="slidenum">
              <a:rPr lang="en-US" sz="1400"/>
              <a:pPr eaLnBrk="1" hangingPunct="1"/>
              <a:t>15</a:t>
            </a:fld>
            <a:endParaRPr 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3</a:t>
            </a:r>
          </a:p>
        </p:txBody>
      </p:sp>
      <p:sp>
        <p:nvSpPr>
          <p:cNvPr id="33796" name="Freeform 3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Freeform 4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Freeform 6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Freeform 7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Freeform 8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Freeform 9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Freeform 10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Freeform 11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Freeform 12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Freeform 13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7" name="Freeform 14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8" name="Freeform 15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9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0" name="Freeform 17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1" name="Freeform 18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2" name="Freeform 19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3" name="Freeform 20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4" name="Freeform 21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5" name="Freeform 22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6" name="Freeform 23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7" name="Freeform 24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8" name="Freeform 25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19" name="Freeform 26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0" name="Freeform 27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1" name="Freeform 28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2" name="Freeform 29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3" name="Freeform 30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4" name="Freeform 31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5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6" name="Freeform 33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7" name="Freeform 34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8" name="Freeform 35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29" name="Freeform 36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0" name="Freeform 37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1" name="Freeform 38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2" name="Freeform 39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3" name="Freeform 40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4" name="Freeform 41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5" name="Freeform 42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6" name="Freeform 43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7" name="Freeform 44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8" name="Freeform 45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39" name="Freeform 46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0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1" name="Freeform 48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2" name="Freeform 49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3" name="Freeform 50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4" name="Freeform 51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5" name="Freeform 52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6" name="Freeform 53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7" name="Freeform 54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8" name="Freeform 55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49" name="Freeform 56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0" name="Freeform 57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1" name="Freeform 58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2" name="Freeform 59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3" name="Freeform 60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4" name="Freeform 61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5" name="Freeform 62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6" name="Freeform 63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7" name="Freeform 64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8" name="Freeform 65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59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0" name="Freeform 67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1" name="Freeform 68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2" name="Freeform 69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3" name="Freeform 70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4" name="Freeform 71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5" name="Freeform 72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6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7" name="Freeform 74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8" name="Freeform 75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69" name="Freeform 76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0" name="Freeform 77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1" name="Freeform 78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2" name="Freeform 79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3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4" name="Freeform 81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5" name="Freeform 82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6" name="Freeform 83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7" name="Freeform 84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8" name="Freeform 85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9" name="Freeform 86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0" name="Freeform 87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1" name="Freeform 88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2" name="Freeform 89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3" name="Freeform 90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4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5" name="Freeform 92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6" name="Freeform 93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7" name="Freeform 94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8" name="Freeform 95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89" name="Freeform 96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0" name="Freeform 97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1" name="Freeform 98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2" name="Freeform 99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3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4" name="Freeform 101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5" name="Freeform 102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6" name="Freeform 103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7" name="Freeform 104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8" name="Freeform 105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99" name="Freeform 106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0" name="Freeform 107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1" name="Rectangle 108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2" name="Freeform 109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3" name="Freeform 110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4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5" name="Freeform 112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6" name="Freeform 113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7" name="Freeform 114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8" name="Freeform 115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09" name="Freeform 116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0" name="Freeform 117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1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2" name="Freeform 119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3" name="Freeform 120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4" name="Freeform 121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5" name="Freeform 122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6" name="Freeform 123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7" name="Freeform 124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8" name="Freeform 125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19" name="Rectangle 126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0" name="Freeform 127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1" name="Freeform 128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2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3" name="Freeform 130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4" name="Freeform 131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5" name="Freeform 132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6" name="Freeform 133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7" name="Freeform 134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8" name="Oval 135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29" name="Oval 136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0" name="Rectangle 137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3931" name="Freeform 138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2" name="Freeform 139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3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4" name="Freeform 141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5" name="Freeform 142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6" name="Freeform 143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7" name="Freeform 144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8" name="Freeform 145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39" name="Freeform 146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0" name="Freeform 147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1" name="Freeform 148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2" name="Oval 149"/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3" name="Oval 150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4" name="Rectangle 151"/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BOS</a:t>
            </a:r>
            <a:endParaRPr lang="en-US" b="1">
              <a:latin typeface="Times" charset="0"/>
            </a:endParaRPr>
          </a:p>
        </p:txBody>
      </p:sp>
      <p:sp>
        <p:nvSpPr>
          <p:cNvPr id="33945" name="Oval 152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6" name="Oval 153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7" name="Rectangle 154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3948" name="Oval 155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49" name="Oval 156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0" name="Rectangle 157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3951" name="Oval 158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2" name="Oval 159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3" name="Rectangle 160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3954" name="Oval 161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5" name="Oval 162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6" name="Rectangle 163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3957" name="Oval 164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8" name="Oval 165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59" name="Rectangle 166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3961" name="Rectangle 168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3" name="Rectangle 170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64" name="Rectangle 171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3966" name="Rectangle 173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68" name="Rectangle 175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69" name="Rectangle 176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3971" name="Rectangle 178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3" name="Rectangle 180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74" name="Rectangle 181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3976" name="Rectangle 183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78" name="Rectangle 185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79" name="Rectangle 186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3981" name="Rectangle 188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2" name="Rectangle 189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3" name="Rectangle 190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84" name="Rectangle 191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3986" name="Rectangle 193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7" name="Rectangle 194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988" name="Rectangle 195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3989" name="Rectangle 196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3990" name="Picture 1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991" name="AutoShape 198"/>
          <p:cNvCxnSpPr>
            <a:cxnSpLocks noChangeShapeType="1"/>
            <a:stCxn id="33946" idx="1"/>
            <a:endCxn id="33949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8727" name="AutoShape 199"/>
          <p:cNvCxnSpPr>
            <a:cxnSpLocks noChangeShapeType="1"/>
            <a:stCxn id="33946" idx="3"/>
            <a:endCxn id="33958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8729" name="AutoShape 201"/>
          <p:cNvCxnSpPr>
            <a:cxnSpLocks noChangeShapeType="1"/>
            <a:stCxn id="33929" idx="3"/>
            <a:endCxn id="33952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36417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8730" name="AutoShape 202"/>
          <p:cNvCxnSpPr>
            <a:cxnSpLocks noChangeShapeType="1"/>
            <a:stCxn id="33929" idx="2"/>
            <a:endCxn id="33949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8731" name="AutoShape 203"/>
          <p:cNvCxnSpPr>
            <a:cxnSpLocks noChangeShapeType="1"/>
            <a:stCxn id="33949" idx="1"/>
            <a:endCxn id="33958" idx="0"/>
          </p:cNvCxnSpPr>
          <p:nvPr/>
        </p:nvCxnSpPr>
        <p:spPr bwMode="auto">
          <a:xfrm rot="-54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05" name="AutoShape 202"/>
          <p:cNvCxnSpPr>
            <a:cxnSpLocks noChangeShapeType="1"/>
            <a:stCxn id="33949" idx="3"/>
          </p:cNvCxnSpPr>
          <p:nvPr/>
        </p:nvCxnSpPr>
        <p:spPr bwMode="auto">
          <a:xfrm rot="5400000">
            <a:off x="3666332" y="2242345"/>
            <a:ext cx="2309813" cy="2746375"/>
          </a:xfrm>
          <a:prstGeom prst="curvedConnector2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79">
            <a:extLst>
              <a:ext uri="{FF2B5EF4-FFF2-40B4-BE49-F238E27FC236}">
                <a16:creationId xmlns:a16="http://schemas.microsoft.com/office/drawing/2014/main" id="{AFA5DAD7-823D-22E5-8B79-51F96CD8C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84">
            <a:extLst>
              <a:ext uri="{FF2B5EF4-FFF2-40B4-BE49-F238E27FC236}">
                <a16:creationId xmlns:a16="http://schemas.microsoft.com/office/drawing/2014/main" id="{55777187-3803-6A64-7145-AF6F28293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69">
            <a:extLst>
              <a:ext uri="{FF2B5EF4-FFF2-40B4-BE49-F238E27FC236}">
                <a16:creationId xmlns:a16="http://schemas.microsoft.com/office/drawing/2014/main" id="{2B099A9C-3A1E-E62A-FDA3-AFB107075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Rectangle 174">
            <a:extLst>
              <a:ext uri="{FF2B5EF4-FFF2-40B4-BE49-F238E27FC236}">
                <a16:creationId xmlns:a16="http://schemas.microsoft.com/office/drawing/2014/main" id="{58A6E998-F813-0A24-349E-DF928DF7A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7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7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7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48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EDE6738-A23F-D644-B0D1-39C61ACE0F47}" type="slidenum">
              <a:rPr lang="en-US" sz="1400"/>
              <a:pPr eaLnBrk="1" hangingPunct="1"/>
              <a:t>16</a:t>
            </a:fld>
            <a:endParaRPr 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4</a:t>
            </a:r>
          </a:p>
        </p:txBody>
      </p:sp>
      <p:sp>
        <p:nvSpPr>
          <p:cNvPr id="34820" name="Freeform 3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Freeform 4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Freeform 6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Freeform 7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Freeform 8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Freeform 9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Freeform 10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Freeform 11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Freeform 12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Freeform 13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1" name="Freeform 14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2" name="Freeform 15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3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4" name="Freeform 17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5" name="Freeform 18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6" name="Freeform 19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7" name="Freeform 20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8" name="Freeform 21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9" name="Freeform 22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0" name="Freeform 23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1" name="Freeform 24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2" name="Freeform 25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3" name="Freeform 26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4" name="Freeform 27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5" name="Freeform 28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6" name="Freeform 29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7" name="Freeform 30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8" name="Freeform 31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49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0" name="Freeform 33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1" name="Freeform 34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2" name="Freeform 35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3" name="Freeform 36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4" name="Freeform 37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5" name="Freeform 38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6" name="Freeform 39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7" name="Freeform 40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8" name="Freeform 41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59" name="Freeform 42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0" name="Freeform 43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1" name="Freeform 44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2" name="Freeform 45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3" name="Freeform 46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4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5" name="Freeform 48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6" name="Freeform 49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7" name="Freeform 50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8" name="Freeform 51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69" name="Freeform 52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0" name="Freeform 53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1" name="Freeform 54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2" name="Freeform 55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3" name="Freeform 56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4" name="Freeform 57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5" name="Freeform 58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6" name="Freeform 59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7" name="Freeform 60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8" name="Freeform 61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79" name="Freeform 62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0" name="Freeform 63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1" name="Freeform 64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2" name="Freeform 65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3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4" name="Freeform 67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5" name="Freeform 68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6" name="Freeform 69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7" name="Freeform 70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8" name="Freeform 71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89" name="Freeform 72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0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1" name="Freeform 74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2" name="Freeform 75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3" name="Freeform 76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4" name="Freeform 77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5" name="Freeform 78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6" name="Freeform 79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7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8" name="Freeform 81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99" name="Freeform 82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0" name="Freeform 83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1" name="Freeform 84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2" name="Freeform 85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3" name="Freeform 86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4" name="Freeform 87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5" name="Freeform 88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6" name="Freeform 89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7" name="Freeform 90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8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9" name="Freeform 92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0" name="Freeform 93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1" name="Freeform 94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2" name="Freeform 95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3" name="Freeform 96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4" name="Freeform 97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5" name="Freeform 98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6" name="Freeform 99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7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8" name="Freeform 101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19" name="Freeform 102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0" name="Freeform 103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1" name="Freeform 104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2" name="Freeform 105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3" name="Freeform 106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4" name="Freeform 107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5" name="Rectangle 108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6" name="Freeform 109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7" name="Freeform 110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8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29" name="Freeform 112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0" name="Freeform 113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1" name="Freeform 114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2" name="Freeform 115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3" name="Freeform 116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4" name="Freeform 117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5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6" name="Freeform 119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7" name="Freeform 120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8" name="Freeform 121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39" name="Freeform 122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0" name="Freeform 123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1" name="Freeform 124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2" name="Freeform 125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3" name="Rectangle 126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4" name="Freeform 127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5" name="Freeform 128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6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7" name="Freeform 130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8" name="Freeform 131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49" name="Freeform 132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0" name="Freeform 133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1" name="Freeform 134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2" name="Oval 135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3" name="Oval 136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4" name="Rectangle 137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4955" name="Freeform 138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6" name="Freeform 139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7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8" name="Freeform 141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59" name="Freeform 142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0" name="Freeform 143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1" name="Freeform 144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2" name="Freeform 145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3" name="Freeform 146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4" name="Freeform 147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5" name="Freeform 148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6" name="Oval 149"/>
          <p:cNvSpPr>
            <a:spLocks noChangeArrowheads="1"/>
          </p:cNvSpPr>
          <p:nvPr/>
        </p:nvSpPr>
        <p:spPr bwMode="auto">
          <a:xfrm>
            <a:off x="8734425" y="1503364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7" name="Oval 150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68" name="Rectangle 151"/>
          <p:cNvSpPr>
            <a:spLocks noChangeArrowheads="1"/>
          </p:cNvSpPr>
          <p:nvPr/>
        </p:nvSpPr>
        <p:spPr bwMode="auto">
          <a:xfrm>
            <a:off x="8877301" y="1619250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BOS</a:t>
            </a:r>
            <a:endParaRPr lang="en-US" b="1">
              <a:latin typeface="Times" charset="0"/>
            </a:endParaRPr>
          </a:p>
        </p:txBody>
      </p:sp>
      <p:sp>
        <p:nvSpPr>
          <p:cNvPr id="34969" name="Oval 152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0" name="Oval 153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1" name="Rectangle 154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4972" name="Oval 155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3" name="Oval 156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4" name="Rectangle 157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4975" name="Oval 158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6" name="Oval 159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7" name="Rectangle 160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4978" name="Oval 161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79" name="Oval 162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0" name="Rectangle 163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4981" name="Oval 164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2" name="Oval 165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3" name="Rectangle 166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4985" name="Rectangle 168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6" name="Rectangle 169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87" name="Rectangle 170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4988" name="Rectangle 171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4990" name="Rectangle 173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2" name="Rectangle 175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4993" name="Rectangle 176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4995" name="Rectangle 178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97" name="Rectangle 180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4998" name="Rectangle 181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5000" name="Rectangle 183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2" name="Rectangle 185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5003" name="Rectangle 186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5005" name="Rectangle 188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6" name="Rectangle 189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07" name="Rectangle 190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5008" name="Rectangle 191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5010" name="Rectangle 193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1" name="Rectangle 194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012" name="Rectangle 195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5013" name="Rectangle 196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5014" name="Picture 1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5015" name="AutoShape 198"/>
          <p:cNvCxnSpPr>
            <a:cxnSpLocks noChangeShapeType="1"/>
            <a:stCxn id="34970" idx="1"/>
            <a:endCxn id="34973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016" name="AutoShape 199"/>
          <p:cNvCxnSpPr>
            <a:cxnSpLocks noChangeShapeType="1"/>
            <a:stCxn id="34970" idx="3"/>
            <a:endCxn id="34982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017" name="AutoShape 200"/>
          <p:cNvCxnSpPr>
            <a:cxnSpLocks noChangeShapeType="1"/>
            <a:stCxn id="34953" idx="3"/>
            <a:endCxn id="34976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018" name="AutoShape 201"/>
          <p:cNvCxnSpPr>
            <a:cxnSpLocks noChangeShapeType="1"/>
            <a:stCxn id="34953" idx="2"/>
            <a:endCxn id="34973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9754" name="AutoShape 202"/>
          <p:cNvCxnSpPr>
            <a:cxnSpLocks noChangeShapeType="1"/>
            <a:stCxn id="34976" idx="7"/>
            <a:endCxn id="34979" idx="2"/>
          </p:cNvCxnSpPr>
          <p:nvPr/>
        </p:nvCxnSpPr>
        <p:spPr bwMode="auto">
          <a:xfrm rot="-5400000">
            <a:off x="4179094" y="3791744"/>
            <a:ext cx="63500" cy="1760538"/>
          </a:xfrm>
          <a:prstGeom prst="curvedConnector2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020" name="AutoShape 203"/>
          <p:cNvCxnSpPr>
            <a:cxnSpLocks noChangeShapeType="1"/>
          </p:cNvCxnSpPr>
          <p:nvPr/>
        </p:nvCxnSpPr>
        <p:spPr bwMode="auto">
          <a:xfrm rot="-54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9756" name="AutoShape 204"/>
          <p:cNvCxnSpPr>
            <a:cxnSpLocks noChangeShapeType="1"/>
            <a:stCxn id="34976" idx="0"/>
            <a:endCxn id="34982" idx="4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5022" name="AutoShape 202"/>
          <p:cNvCxnSpPr>
            <a:cxnSpLocks noChangeShapeType="1"/>
          </p:cNvCxnSpPr>
          <p:nvPr/>
        </p:nvCxnSpPr>
        <p:spPr bwMode="auto">
          <a:xfrm rot="5400000">
            <a:off x="3666332" y="2242345"/>
            <a:ext cx="2309813" cy="274637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84">
            <a:extLst>
              <a:ext uri="{FF2B5EF4-FFF2-40B4-BE49-F238E27FC236}">
                <a16:creationId xmlns:a16="http://schemas.microsoft.com/office/drawing/2014/main" id="{D5BE0968-ABDE-E218-8E60-ADF063644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79">
            <a:extLst>
              <a:ext uri="{FF2B5EF4-FFF2-40B4-BE49-F238E27FC236}">
                <a16:creationId xmlns:a16="http://schemas.microsoft.com/office/drawing/2014/main" id="{65164308-4449-436D-F9A8-681314C5C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74">
            <a:extLst>
              <a:ext uri="{FF2B5EF4-FFF2-40B4-BE49-F238E27FC236}">
                <a16:creationId xmlns:a16="http://schemas.microsoft.com/office/drawing/2014/main" id="{5A08ED7A-F36D-1224-D1DC-D4E686BA0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58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672AEDF-C9F9-DB48-886E-39E055D1E782}" type="slidenum">
              <a:rPr lang="en-US" sz="1400"/>
              <a:pPr eaLnBrk="1" hangingPunct="1"/>
              <a:t>17</a:t>
            </a:fld>
            <a:endParaRPr lang="en-US" sz="1400"/>
          </a:p>
        </p:txBody>
      </p:sp>
      <p:sp>
        <p:nvSpPr>
          <p:cNvPr id="35843" name="Oval 150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5</a:t>
            </a:r>
          </a:p>
        </p:txBody>
      </p:sp>
      <p:sp>
        <p:nvSpPr>
          <p:cNvPr id="35845" name="Freeform 3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Freeform 4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Freeform 6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Freeform 7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Freeform 8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Freeform 9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Freeform 10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Freeform 11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Freeform 12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5" name="Freeform 13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6" name="Freeform 14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7" name="Freeform 15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8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9" name="Freeform 17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0" name="Freeform 18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1" name="Freeform 19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2" name="Freeform 20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3" name="Freeform 21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4" name="Freeform 22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5" name="Freeform 23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6" name="Freeform 24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7" name="Freeform 25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8" name="Freeform 26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69" name="Freeform 27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0" name="Freeform 28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1" name="Freeform 29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2" name="Freeform 30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3" name="Freeform 31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4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5" name="Freeform 33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6" name="Freeform 34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7" name="Freeform 35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8" name="Freeform 36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79" name="Freeform 37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0" name="Freeform 38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1" name="Freeform 39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2" name="Freeform 40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3" name="Freeform 41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4" name="Freeform 42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5" name="Freeform 43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6" name="Freeform 44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7" name="Freeform 45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8" name="Freeform 46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89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0" name="Freeform 48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1" name="Freeform 49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2" name="Freeform 50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3" name="Freeform 51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4" name="Freeform 52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5" name="Freeform 53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6" name="Freeform 54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7" name="Freeform 55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8" name="Freeform 56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99" name="Freeform 57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0" name="Freeform 58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1" name="Freeform 59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2" name="Freeform 60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3" name="Freeform 61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4" name="Freeform 62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5" name="Freeform 63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6" name="Freeform 64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7" name="Freeform 65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8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09" name="Freeform 67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0" name="Freeform 68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1" name="Freeform 69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2" name="Freeform 70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3" name="Freeform 71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4" name="Freeform 72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5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6" name="Freeform 74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7" name="Freeform 75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8" name="Freeform 76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19" name="Freeform 77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0" name="Freeform 78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1" name="Freeform 79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2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3" name="Freeform 81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4" name="Freeform 82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5" name="Freeform 83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6" name="Freeform 84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7" name="Freeform 85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8" name="Freeform 86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29" name="Freeform 87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0" name="Freeform 88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1" name="Freeform 89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2" name="Freeform 90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3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4" name="Freeform 92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5" name="Freeform 93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6" name="Freeform 94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7" name="Freeform 95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8" name="Freeform 96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39" name="Freeform 97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0" name="Freeform 98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1" name="Freeform 99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2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3" name="Freeform 101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4" name="Freeform 102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5" name="Freeform 103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6" name="Freeform 104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7" name="Freeform 105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8" name="Freeform 106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49" name="Freeform 107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0" name="Rectangle 108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1" name="Freeform 109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2" name="Freeform 110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3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4" name="Freeform 112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5" name="Freeform 113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6" name="Freeform 114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7" name="Freeform 115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8" name="Freeform 116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59" name="Freeform 117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0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1" name="Freeform 119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2" name="Freeform 120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3" name="Freeform 121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4" name="Freeform 122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5" name="Freeform 123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6" name="Freeform 124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7" name="Freeform 125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8" name="Rectangle 126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69" name="Freeform 127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0" name="Freeform 128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1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2" name="Freeform 130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3" name="Freeform 131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4" name="Freeform 132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5" name="Freeform 133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6" name="Freeform 134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7" name="Oval 135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8" name="Oval 136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79" name="Rectangle 137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5980" name="Freeform 138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1" name="Freeform 139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2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3" name="Freeform 141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4" name="Freeform 142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5" name="Freeform 143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6" name="Freeform 144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7" name="Freeform 145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8" name="Freeform 146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89" name="Freeform 147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0" name="Freeform 148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1" name="Oval 152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2" name="Oval 153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3" name="Rectangle 154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5994" name="Oval 155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5" name="Oval 156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6" name="Rectangle 157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5997" name="Oval 158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8" name="Oval 159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999" name="Rectangle 160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6000" name="Oval 161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1" name="Oval 162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2" name="Rectangle 163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6003" name="Oval 164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4" name="Oval 165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5" name="Rectangle 166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6007" name="Rectangle 168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8" name="Rectangle 169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09" name="Rectangle 170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10" name="Rectangle 171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6012" name="Rectangle 173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14" name="Rectangle 175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15" name="Rectangle 176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6017" name="Rectangle 178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19" name="Rectangle 180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20" name="Rectangle 181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6022" name="Rectangle 183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24" name="Rectangle 185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25" name="Rectangle 186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6027" name="Rectangle 188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28" name="Rectangle 189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29" name="Rectangle 190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30" name="Rectangle 191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6032" name="Rectangle 193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33" name="Rectangle 194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034" name="Rectangle 195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6035" name="Rectangle 196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6036" name="Picture 1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037" name="AutoShape 198"/>
          <p:cNvCxnSpPr>
            <a:cxnSpLocks noChangeShapeType="1"/>
            <a:stCxn id="35992" idx="1"/>
            <a:endCxn id="35995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38" name="AutoShape 199"/>
          <p:cNvCxnSpPr>
            <a:cxnSpLocks noChangeShapeType="1"/>
            <a:stCxn id="35992" idx="3"/>
            <a:endCxn id="36004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39" name="AutoShape 200"/>
          <p:cNvCxnSpPr>
            <a:cxnSpLocks noChangeShapeType="1"/>
            <a:stCxn id="35978" idx="3"/>
            <a:endCxn id="35998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40" name="AutoShape 201"/>
          <p:cNvCxnSpPr>
            <a:cxnSpLocks noChangeShapeType="1"/>
            <a:stCxn id="35978" idx="2"/>
            <a:endCxn id="35995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41" name="AutoShape 202"/>
          <p:cNvCxnSpPr>
            <a:cxnSpLocks noChangeShapeType="1"/>
            <a:stCxn id="35998" idx="7"/>
            <a:endCxn id="36001" idx="2"/>
          </p:cNvCxnSpPr>
          <p:nvPr/>
        </p:nvCxnSpPr>
        <p:spPr bwMode="auto">
          <a:xfrm rot="-54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0779" name="AutoShape 203"/>
          <p:cNvCxnSpPr>
            <a:cxnSpLocks noChangeShapeType="1"/>
            <a:stCxn id="35843" idx="2"/>
            <a:endCxn id="36003" idx="7"/>
          </p:cNvCxnSpPr>
          <p:nvPr/>
        </p:nvCxnSpPr>
        <p:spPr bwMode="auto">
          <a:xfrm rot="10800000" flipV="1">
            <a:off x="3144838" y="1724026"/>
            <a:ext cx="5561012" cy="1711325"/>
          </a:xfrm>
          <a:prstGeom prst="curvedConnector2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0780" name="AutoShape 204"/>
          <p:cNvCxnSpPr>
            <a:cxnSpLocks noChangeShapeType="1"/>
            <a:stCxn id="35843" idx="6"/>
            <a:endCxn id="35997" idx="5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0782" name="AutoShape 206"/>
          <p:cNvCxnSpPr>
            <a:cxnSpLocks noChangeShapeType="1"/>
            <a:stCxn id="36050" idx="2"/>
            <a:endCxn id="36001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0783" name="AutoShape 207"/>
          <p:cNvCxnSpPr>
            <a:cxnSpLocks noChangeShapeType="1"/>
            <a:stCxn id="36050" idx="1"/>
            <a:endCxn id="35995" idx="7"/>
          </p:cNvCxnSpPr>
          <p:nvPr/>
        </p:nvCxnSpPr>
        <p:spPr bwMode="auto">
          <a:xfrm rot="-54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6046" name="Group 208"/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6050" name="Oval 149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051" name="Rectangle 151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900">
                  <a:solidFill>
                    <a:srgbClr val="0000FF"/>
                  </a:solidFill>
                  <a:latin typeface="Times New Roman" charset="0"/>
                </a:rPr>
                <a:t>BOS</a:t>
              </a:r>
              <a:endParaRPr lang="en-US" b="1">
                <a:latin typeface="Times" charset="0"/>
              </a:endParaRPr>
            </a:p>
          </p:txBody>
        </p:sp>
      </p:grpSp>
      <p:cxnSp>
        <p:nvCxnSpPr>
          <p:cNvPr id="36047" name="AutoShape 210"/>
          <p:cNvCxnSpPr>
            <a:cxnSpLocks noChangeShapeType="1"/>
          </p:cNvCxnSpPr>
          <p:nvPr/>
        </p:nvCxnSpPr>
        <p:spPr bwMode="auto">
          <a:xfrm rot="-54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48" name="AutoShape 211"/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6049" name="AutoShape 202"/>
          <p:cNvCxnSpPr>
            <a:cxnSpLocks noChangeShapeType="1"/>
          </p:cNvCxnSpPr>
          <p:nvPr/>
        </p:nvCxnSpPr>
        <p:spPr bwMode="auto">
          <a:xfrm rot="5400000">
            <a:off x="3666332" y="2242345"/>
            <a:ext cx="2309813" cy="274637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84">
            <a:extLst>
              <a:ext uri="{FF2B5EF4-FFF2-40B4-BE49-F238E27FC236}">
                <a16:creationId xmlns:a16="http://schemas.microsoft.com/office/drawing/2014/main" id="{39A310B9-94DF-2B45-405E-3F9215E56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79">
            <a:extLst>
              <a:ext uri="{FF2B5EF4-FFF2-40B4-BE49-F238E27FC236}">
                <a16:creationId xmlns:a16="http://schemas.microsoft.com/office/drawing/2014/main" id="{59F8147E-9CFB-AA88-BC53-F8F474458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74">
            <a:extLst>
              <a:ext uri="{FF2B5EF4-FFF2-40B4-BE49-F238E27FC236}">
                <a16:creationId xmlns:a16="http://schemas.microsoft.com/office/drawing/2014/main" id="{75411292-1369-6078-B6F5-81D7C8171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8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8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8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68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4B29BD8E-749D-FA43-9D01-B7AFCDD73046}" type="slidenum">
              <a:rPr lang="en-US" sz="1400"/>
              <a:pPr eaLnBrk="1" hangingPunct="1"/>
              <a:t>18</a:t>
            </a:fld>
            <a:endParaRPr lang="en-US" sz="1400"/>
          </a:p>
        </p:txBody>
      </p:sp>
      <p:sp>
        <p:nvSpPr>
          <p:cNvPr id="36867" name="Oval 2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Iteration 6</a:t>
            </a:r>
          </a:p>
        </p:txBody>
      </p:sp>
      <p:sp>
        <p:nvSpPr>
          <p:cNvPr id="36869" name="Freeform 4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Freeform 5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Freeform 6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Freeform 7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Freeform 8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Freeform 9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Freeform 10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Freeform 11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Freeform 12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Freeform 13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9" name="Freeform 14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0" name="Freeform 15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Freeform 16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2" name="Freeform 17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Freeform 18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Freeform 19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5" name="Freeform 20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6" name="Freeform 21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7" name="Freeform 22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8" name="Freeform 23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9" name="Freeform 24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0" name="Freeform 25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1" name="Freeform 26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2" name="Freeform 27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3" name="Freeform 28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4" name="Freeform 29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5" name="Freeform 30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6" name="Freeform 31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7" name="Freeform 32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8" name="Freeform 33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99" name="Freeform 34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0" name="Freeform 35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1" name="Freeform 36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2" name="Freeform 37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3" name="Freeform 38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4" name="Freeform 39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5" name="Freeform 40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6" name="Freeform 41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7" name="Freeform 42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8" name="Freeform 43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09" name="Freeform 44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0" name="Freeform 45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1" name="Freeform 46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2" name="Freeform 47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3" name="Freeform 48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4" name="Freeform 49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5" name="Freeform 50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6" name="Freeform 51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7" name="Freeform 52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8" name="Freeform 53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19" name="Freeform 54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0" name="Freeform 55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1" name="Freeform 56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2" name="Freeform 57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3" name="Freeform 58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4" name="Freeform 59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5" name="Freeform 60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6" name="Freeform 61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7" name="Freeform 62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8" name="Freeform 63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29" name="Freeform 64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0" name="Freeform 65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1" name="Freeform 66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2" name="Freeform 67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3" name="Freeform 68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4" name="Freeform 69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5" name="Freeform 70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6" name="Freeform 71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7" name="Freeform 72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8" name="Freeform 73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39" name="Freeform 74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0" name="Freeform 75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1" name="Freeform 76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2" name="Freeform 77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3" name="Freeform 78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4" name="Freeform 79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5" name="Freeform 80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6" name="Freeform 81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7" name="Freeform 82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8" name="Freeform 83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49" name="Freeform 84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0" name="Freeform 85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1" name="Freeform 86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2" name="Freeform 87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3" name="Freeform 88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4" name="Freeform 89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5" name="Freeform 90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6" name="Freeform 91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7" name="Freeform 92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8" name="Freeform 93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59" name="Freeform 94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0" name="Freeform 95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1" name="Freeform 96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2" name="Freeform 97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3" name="Freeform 98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4" name="Freeform 99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5" name="Freeform 100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6" name="Freeform 101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7" name="Freeform 102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8" name="Freeform 103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69" name="Freeform 104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0" name="Freeform 105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1" name="Freeform 106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2" name="Freeform 107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3" name="Freeform 108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4" name="Rectangle 109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5" name="Freeform 110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6" name="Freeform 111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7" name="Freeform 112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8" name="Freeform 113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79" name="Freeform 114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0" name="Freeform 115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1" name="Freeform 116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2" name="Freeform 117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3" name="Freeform 118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4" name="Freeform 119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5" name="Freeform 120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6" name="Freeform 121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7" name="Freeform 122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8" name="Freeform 123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89" name="Freeform 124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0" name="Freeform 125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1" name="Freeform 126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2" name="Rectangle 127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3" name="Freeform 128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4" name="Freeform 129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5" name="Freeform 130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6" name="Freeform 131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7" name="Freeform 132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8" name="Freeform 133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999" name="Freeform 134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0" name="Freeform 135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1" name="Oval 136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2" name="Oval 137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3" name="Rectangle 138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7004" name="Freeform 139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5" name="Freeform 140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6" name="Freeform 141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7" name="Freeform 142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8" name="Freeform 143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09" name="Freeform 144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0" name="Freeform 145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1" name="Freeform 146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2" name="Freeform 147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3" name="Freeform 148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4" name="Freeform 149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5" name="Oval 150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6" name="Oval 151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7" name="Rectangle 152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7018" name="Oval 153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19" name="Oval 154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0" name="Rectangle 155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7021" name="Oval 156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2" name="Oval 157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3" name="Rectangle 158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7024" name="Oval 159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5" name="Oval 160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6" name="Rectangle 161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7027" name="Oval 162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8" name="Oval 163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29" name="Rectangle 164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7031" name="Rectangle 166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32" name="Rectangle 167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33" name="Rectangle 168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34" name="Rectangle 169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7036" name="Rectangle 171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38" name="Rectangle 173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39" name="Rectangle 174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7041" name="Rectangle 176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43" name="Rectangle 178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44" name="Rectangle 179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7046" name="Rectangle 181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48" name="Rectangle 183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49" name="Rectangle 184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7051" name="Rectangle 186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52" name="Rectangle 187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53" name="Rectangle 188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54" name="Rectangle 189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7056" name="Rectangle 191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57" name="Rectangle 192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058" name="Rectangle 193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7059" name="Rectangle 194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7060" name="Picture 1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061" name="AutoShape 196"/>
          <p:cNvCxnSpPr>
            <a:cxnSpLocks noChangeShapeType="1"/>
            <a:stCxn id="37016" idx="1"/>
            <a:endCxn id="37019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2" name="AutoShape 197"/>
          <p:cNvCxnSpPr>
            <a:cxnSpLocks noChangeShapeType="1"/>
            <a:stCxn id="37016" idx="3"/>
            <a:endCxn id="37028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3" name="AutoShape 198"/>
          <p:cNvCxnSpPr>
            <a:cxnSpLocks noChangeShapeType="1"/>
            <a:stCxn id="37002" idx="3"/>
            <a:endCxn id="37022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4" name="AutoShape 199"/>
          <p:cNvCxnSpPr>
            <a:cxnSpLocks noChangeShapeType="1"/>
            <a:stCxn id="37002" idx="2"/>
            <a:endCxn id="37019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5" name="AutoShape 200"/>
          <p:cNvCxnSpPr>
            <a:cxnSpLocks noChangeShapeType="1"/>
            <a:stCxn id="37022" idx="7"/>
            <a:endCxn id="37025" idx="2"/>
          </p:cNvCxnSpPr>
          <p:nvPr/>
        </p:nvCxnSpPr>
        <p:spPr bwMode="auto">
          <a:xfrm rot="-54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6" name="AutoShape 201"/>
          <p:cNvCxnSpPr>
            <a:cxnSpLocks noChangeShapeType="1"/>
            <a:stCxn id="36867" idx="2"/>
            <a:endCxn id="37027" idx="7"/>
          </p:cNvCxnSpPr>
          <p:nvPr/>
        </p:nvCxnSpPr>
        <p:spPr bwMode="auto">
          <a:xfrm rot="10800000" flipV="1">
            <a:off x="3144838" y="1724026"/>
            <a:ext cx="5561012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7" name="AutoShape 202"/>
          <p:cNvCxnSpPr>
            <a:cxnSpLocks noChangeShapeType="1"/>
            <a:stCxn id="36867" idx="6"/>
            <a:endCxn id="37021" idx="5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8" name="AutoShape 203"/>
          <p:cNvCxnSpPr>
            <a:cxnSpLocks noChangeShapeType="1"/>
            <a:stCxn id="37074" idx="2"/>
            <a:endCxn id="37025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69" name="AutoShape 204"/>
          <p:cNvCxnSpPr>
            <a:cxnSpLocks noChangeShapeType="1"/>
            <a:stCxn id="37074" idx="1"/>
            <a:endCxn id="37019" idx="7"/>
          </p:cNvCxnSpPr>
          <p:nvPr/>
        </p:nvCxnSpPr>
        <p:spPr bwMode="auto">
          <a:xfrm rot="-54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7070" name="Group 205"/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7074" name="Oval 206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075" name="Rectangle 207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900">
                  <a:solidFill>
                    <a:srgbClr val="0000FF"/>
                  </a:solidFill>
                  <a:latin typeface="Times New Roman" charset="0"/>
                </a:rPr>
                <a:t>BOS</a:t>
              </a:r>
              <a:endParaRPr lang="en-US" b="1">
                <a:latin typeface="Times" charset="0"/>
              </a:endParaRPr>
            </a:p>
          </p:txBody>
        </p:sp>
      </p:grpSp>
      <p:cxnSp>
        <p:nvCxnSpPr>
          <p:cNvPr id="37071" name="AutoShape 209"/>
          <p:cNvCxnSpPr>
            <a:cxnSpLocks noChangeShapeType="1"/>
          </p:cNvCxnSpPr>
          <p:nvPr/>
        </p:nvCxnSpPr>
        <p:spPr bwMode="auto">
          <a:xfrm rot="-54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72" name="AutoShape 210"/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7073" name="AutoShape 202"/>
          <p:cNvCxnSpPr>
            <a:cxnSpLocks noChangeShapeType="1"/>
          </p:cNvCxnSpPr>
          <p:nvPr/>
        </p:nvCxnSpPr>
        <p:spPr bwMode="auto">
          <a:xfrm rot="5400000">
            <a:off x="3666332" y="2242345"/>
            <a:ext cx="2309813" cy="274637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82">
            <a:extLst>
              <a:ext uri="{FF2B5EF4-FFF2-40B4-BE49-F238E27FC236}">
                <a16:creationId xmlns:a16="http://schemas.microsoft.com/office/drawing/2014/main" id="{19C7D1D5-5FC2-6B7A-E3C7-5E430C738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77">
            <a:extLst>
              <a:ext uri="{FF2B5EF4-FFF2-40B4-BE49-F238E27FC236}">
                <a16:creationId xmlns:a16="http://schemas.microsoft.com/office/drawing/2014/main" id="{66E178B0-6C92-70C7-4C4E-81D53B13B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72">
            <a:extLst>
              <a:ext uri="{FF2B5EF4-FFF2-40B4-BE49-F238E27FC236}">
                <a16:creationId xmlns:a16="http://schemas.microsoft.com/office/drawing/2014/main" id="{3711612C-29B1-757C-5969-9D826BC8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/>
              <a:t>Directed Graphs</a:t>
            </a:r>
          </a:p>
        </p:txBody>
      </p:sp>
      <p:sp>
        <p:nvSpPr>
          <p:cNvPr id="378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55D71DA2-D8DD-A442-B6A6-48F1068495A4}" type="slidenum">
              <a:rPr lang="en-US" sz="1400"/>
              <a:pPr eaLnBrk="1" hangingPunct="1"/>
              <a:t>19</a:t>
            </a:fld>
            <a:endParaRPr lang="en-US" sz="1400"/>
          </a:p>
        </p:txBody>
      </p:sp>
      <p:sp>
        <p:nvSpPr>
          <p:cNvPr id="37891" name="Oval 1026"/>
          <p:cNvSpPr>
            <a:spLocks noChangeArrowheads="1"/>
          </p:cNvSpPr>
          <p:nvPr/>
        </p:nvSpPr>
        <p:spPr bwMode="auto">
          <a:xfrm>
            <a:off x="8734425" y="1504951"/>
            <a:ext cx="800100" cy="436563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892" name="Rectangle 1027"/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>
                <a:latin typeface="Tahoma" charset="0"/>
              </a:rPr>
              <a:t>Floyd-Warshall, Conclusion</a:t>
            </a:r>
          </a:p>
        </p:txBody>
      </p:sp>
      <p:sp>
        <p:nvSpPr>
          <p:cNvPr id="37893" name="Freeform 1028"/>
          <p:cNvSpPr>
            <a:spLocks/>
          </p:cNvSpPr>
          <p:nvPr/>
        </p:nvSpPr>
        <p:spPr bwMode="auto">
          <a:xfrm>
            <a:off x="5834064" y="2384425"/>
            <a:ext cx="28575" cy="25400"/>
          </a:xfrm>
          <a:custGeom>
            <a:avLst/>
            <a:gdLst>
              <a:gd name="T0" fmla="*/ 28575 w 18"/>
              <a:gd name="T1" fmla="*/ 0 h 16"/>
              <a:gd name="T2" fmla="*/ 14288 w 18"/>
              <a:gd name="T3" fmla="*/ 0 h 16"/>
              <a:gd name="T4" fmla="*/ 0 w 18"/>
              <a:gd name="T5" fmla="*/ 0 h 16"/>
              <a:gd name="T6" fmla="*/ 0 w 18"/>
              <a:gd name="T7" fmla="*/ 0 h 16"/>
              <a:gd name="T8" fmla="*/ 0 w 18"/>
              <a:gd name="T9" fmla="*/ 12700 h 16"/>
              <a:gd name="T10" fmla="*/ 0 w 18"/>
              <a:gd name="T11" fmla="*/ 25400 h 16"/>
              <a:gd name="T12" fmla="*/ 14288 w 18"/>
              <a:gd name="T13" fmla="*/ 25400 h 16"/>
              <a:gd name="T14" fmla="*/ 28575 w 18"/>
              <a:gd name="T15" fmla="*/ 12700 h 16"/>
              <a:gd name="T16" fmla="*/ 28575 w 18"/>
              <a:gd name="T17" fmla="*/ 0 h 16"/>
              <a:gd name="T18" fmla="*/ 28575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18" y="0"/>
                </a:move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Freeform 1029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Freeform 1030"/>
          <p:cNvSpPr>
            <a:spLocks/>
          </p:cNvSpPr>
          <p:nvPr/>
        </p:nvSpPr>
        <p:spPr bwMode="auto">
          <a:xfrm>
            <a:off x="5834063" y="2319339"/>
            <a:ext cx="214312" cy="130175"/>
          </a:xfrm>
          <a:custGeom>
            <a:avLst/>
            <a:gdLst>
              <a:gd name="T0" fmla="*/ 14287 w 135"/>
              <a:gd name="T1" fmla="*/ 77788 h 82"/>
              <a:gd name="T2" fmla="*/ 0 w 135"/>
              <a:gd name="T3" fmla="*/ 26988 h 82"/>
              <a:gd name="T4" fmla="*/ 214312 w 135"/>
              <a:gd name="T5" fmla="*/ 0 h 82"/>
              <a:gd name="T6" fmla="*/ 42862 w 135"/>
              <a:gd name="T7" fmla="*/ 130175 h 82"/>
              <a:gd name="T8" fmla="*/ 14287 w 135"/>
              <a:gd name="T9" fmla="*/ 77788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82"/>
              <a:gd name="T17" fmla="*/ 135 w 135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82">
                <a:moveTo>
                  <a:pt x="9" y="49"/>
                </a:moveTo>
                <a:lnTo>
                  <a:pt x="0" y="17"/>
                </a:lnTo>
                <a:lnTo>
                  <a:pt x="135" y="0"/>
                </a:lnTo>
                <a:lnTo>
                  <a:pt x="27" y="82"/>
                </a:lnTo>
                <a:lnTo>
                  <a:pt x="9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6" name="Freeform 1031"/>
          <p:cNvSpPr>
            <a:spLocks/>
          </p:cNvSpPr>
          <p:nvPr/>
        </p:nvSpPr>
        <p:spPr bwMode="auto">
          <a:xfrm>
            <a:off x="3033714" y="4549775"/>
            <a:ext cx="242887" cy="363538"/>
          </a:xfrm>
          <a:custGeom>
            <a:avLst/>
            <a:gdLst>
              <a:gd name="T0" fmla="*/ 0 w 153"/>
              <a:gd name="T1" fmla="*/ 350838 h 229"/>
              <a:gd name="T2" fmla="*/ 28575 w 153"/>
              <a:gd name="T3" fmla="*/ 363538 h 229"/>
              <a:gd name="T4" fmla="*/ 242887 w 153"/>
              <a:gd name="T5" fmla="*/ 12700 h 229"/>
              <a:gd name="T6" fmla="*/ 242887 w 153"/>
              <a:gd name="T7" fmla="*/ 12700 h 229"/>
              <a:gd name="T8" fmla="*/ 214312 w 153"/>
              <a:gd name="T9" fmla="*/ 0 h 229"/>
              <a:gd name="T10" fmla="*/ 214312 w 153"/>
              <a:gd name="T11" fmla="*/ 0 h 229"/>
              <a:gd name="T12" fmla="*/ 0 w 153"/>
              <a:gd name="T13" fmla="*/ 350838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229"/>
              <a:gd name="T23" fmla="*/ 153 w 153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229">
                <a:moveTo>
                  <a:pt x="0" y="221"/>
                </a:moveTo>
                <a:lnTo>
                  <a:pt x="18" y="229"/>
                </a:lnTo>
                <a:lnTo>
                  <a:pt x="153" y="8"/>
                </a:lnTo>
                <a:lnTo>
                  <a:pt x="135" y="0"/>
                </a:lnTo>
                <a:lnTo>
                  <a:pt x="0" y="22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7" name="Freeform 1032"/>
          <p:cNvSpPr>
            <a:spLocks/>
          </p:cNvSpPr>
          <p:nvPr/>
        </p:nvSpPr>
        <p:spPr bwMode="auto">
          <a:xfrm>
            <a:off x="3248025" y="4186239"/>
            <a:ext cx="285750" cy="376237"/>
          </a:xfrm>
          <a:custGeom>
            <a:avLst/>
            <a:gdLst>
              <a:gd name="T0" fmla="*/ 0 w 180"/>
              <a:gd name="T1" fmla="*/ 363537 h 237"/>
              <a:gd name="T2" fmla="*/ 28575 w 180"/>
              <a:gd name="T3" fmla="*/ 376237 h 237"/>
              <a:gd name="T4" fmla="*/ 285750 w 180"/>
              <a:gd name="T5" fmla="*/ 14287 h 237"/>
              <a:gd name="T6" fmla="*/ 285750 w 180"/>
              <a:gd name="T7" fmla="*/ 14287 h 237"/>
              <a:gd name="T8" fmla="*/ 257175 w 180"/>
              <a:gd name="T9" fmla="*/ 0 h 237"/>
              <a:gd name="T10" fmla="*/ 257175 w 180"/>
              <a:gd name="T11" fmla="*/ 0 h 237"/>
              <a:gd name="T12" fmla="*/ 0 w 180"/>
              <a:gd name="T13" fmla="*/ 363537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37"/>
              <a:gd name="T23" fmla="*/ 180 w 180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37">
                <a:moveTo>
                  <a:pt x="0" y="229"/>
                </a:moveTo>
                <a:lnTo>
                  <a:pt x="18" y="237"/>
                </a:lnTo>
                <a:lnTo>
                  <a:pt x="180" y="9"/>
                </a:lnTo>
                <a:lnTo>
                  <a:pt x="162" y="0"/>
                </a:lnTo>
                <a:lnTo>
                  <a:pt x="0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8" name="Freeform 1033"/>
          <p:cNvSpPr>
            <a:spLocks/>
          </p:cNvSpPr>
          <p:nvPr/>
        </p:nvSpPr>
        <p:spPr bwMode="auto">
          <a:xfrm>
            <a:off x="3505200" y="3824289"/>
            <a:ext cx="342900" cy="376237"/>
          </a:xfrm>
          <a:custGeom>
            <a:avLst/>
            <a:gdLst>
              <a:gd name="T0" fmla="*/ 0 w 216"/>
              <a:gd name="T1" fmla="*/ 361950 h 237"/>
              <a:gd name="T2" fmla="*/ 28575 w 216"/>
              <a:gd name="T3" fmla="*/ 376237 h 237"/>
              <a:gd name="T4" fmla="*/ 342900 w 216"/>
              <a:gd name="T5" fmla="*/ 12700 h 237"/>
              <a:gd name="T6" fmla="*/ 342900 w 216"/>
              <a:gd name="T7" fmla="*/ 12700 h 237"/>
              <a:gd name="T8" fmla="*/ 314325 w 216"/>
              <a:gd name="T9" fmla="*/ 0 h 237"/>
              <a:gd name="T10" fmla="*/ 314325 w 216"/>
              <a:gd name="T11" fmla="*/ 0 h 237"/>
              <a:gd name="T12" fmla="*/ 0 w 216"/>
              <a:gd name="T13" fmla="*/ 361950 h 2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237"/>
              <a:gd name="T23" fmla="*/ 216 w 216"/>
              <a:gd name="T24" fmla="*/ 237 h 23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237">
                <a:moveTo>
                  <a:pt x="0" y="228"/>
                </a:moveTo>
                <a:lnTo>
                  <a:pt x="18" y="237"/>
                </a:lnTo>
                <a:lnTo>
                  <a:pt x="216" y="8"/>
                </a:lnTo>
                <a:lnTo>
                  <a:pt x="198" y="0"/>
                </a:lnTo>
                <a:lnTo>
                  <a:pt x="0" y="2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Freeform 1034"/>
          <p:cNvSpPr>
            <a:spLocks/>
          </p:cNvSpPr>
          <p:nvPr/>
        </p:nvSpPr>
        <p:spPr bwMode="auto">
          <a:xfrm>
            <a:off x="3819526" y="3448050"/>
            <a:ext cx="385763" cy="388938"/>
          </a:xfrm>
          <a:custGeom>
            <a:avLst/>
            <a:gdLst>
              <a:gd name="T0" fmla="*/ 0 w 243"/>
              <a:gd name="T1" fmla="*/ 376238 h 245"/>
              <a:gd name="T2" fmla="*/ 28575 w 243"/>
              <a:gd name="T3" fmla="*/ 388938 h 245"/>
              <a:gd name="T4" fmla="*/ 385763 w 243"/>
              <a:gd name="T5" fmla="*/ 25400 h 245"/>
              <a:gd name="T6" fmla="*/ 385763 w 243"/>
              <a:gd name="T7" fmla="*/ 25400 h 245"/>
              <a:gd name="T8" fmla="*/ 371475 w 243"/>
              <a:gd name="T9" fmla="*/ 0 h 245"/>
              <a:gd name="T10" fmla="*/ 357188 w 243"/>
              <a:gd name="T11" fmla="*/ 12700 h 245"/>
              <a:gd name="T12" fmla="*/ 0 w 243"/>
              <a:gd name="T13" fmla="*/ 376238 h 2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45"/>
              <a:gd name="T23" fmla="*/ 243 w 243"/>
              <a:gd name="T24" fmla="*/ 245 h 2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45">
                <a:moveTo>
                  <a:pt x="0" y="237"/>
                </a:moveTo>
                <a:lnTo>
                  <a:pt x="18" y="245"/>
                </a:lnTo>
                <a:lnTo>
                  <a:pt x="243" y="16"/>
                </a:lnTo>
                <a:lnTo>
                  <a:pt x="234" y="0"/>
                </a:lnTo>
                <a:lnTo>
                  <a:pt x="225" y="8"/>
                </a:lnTo>
                <a:lnTo>
                  <a:pt x="0" y="2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0" name="Freeform 1035"/>
          <p:cNvSpPr>
            <a:spLocks/>
          </p:cNvSpPr>
          <p:nvPr/>
        </p:nvSpPr>
        <p:spPr bwMode="auto">
          <a:xfrm>
            <a:off x="4191001" y="3124200"/>
            <a:ext cx="385763" cy="349250"/>
          </a:xfrm>
          <a:custGeom>
            <a:avLst/>
            <a:gdLst>
              <a:gd name="T0" fmla="*/ 0 w 243"/>
              <a:gd name="T1" fmla="*/ 323850 h 220"/>
              <a:gd name="T2" fmla="*/ 14288 w 243"/>
              <a:gd name="T3" fmla="*/ 349250 h 220"/>
              <a:gd name="T4" fmla="*/ 385763 w 243"/>
              <a:gd name="T5" fmla="*/ 25400 h 220"/>
              <a:gd name="T6" fmla="*/ 385763 w 243"/>
              <a:gd name="T7" fmla="*/ 25400 h 220"/>
              <a:gd name="T8" fmla="*/ 371475 w 243"/>
              <a:gd name="T9" fmla="*/ 0 h 220"/>
              <a:gd name="T10" fmla="*/ 371475 w 243"/>
              <a:gd name="T11" fmla="*/ 0 h 220"/>
              <a:gd name="T12" fmla="*/ 0 w 243"/>
              <a:gd name="T13" fmla="*/ 323850 h 22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220"/>
              <a:gd name="T23" fmla="*/ 243 w 243"/>
              <a:gd name="T24" fmla="*/ 220 h 22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220">
                <a:moveTo>
                  <a:pt x="0" y="204"/>
                </a:moveTo>
                <a:lnTo>
                  <a:pt x="9" y="220"/>
                </a:lnTo>
                <a:lnTo>
                  <a:pt x="243" y="16"/>
                </a:lnTo>
                <a:lnTo>
                  <a:pt x="234" y="0"/>
                </a:lnTo>
                <a:lnTo>
                  <a:pt x="0" y="20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1" name="Freeform 1036"/>
          <p:cNvSpPr>
            <a:spLocks/>
          </p:cNvSpPr>
          <p:nvPr/>
        </p:nvSpPr>
        <p:spPr bwMode="auto">
          <a:xfrm>
            <a:off x="4562476" y="2825750"/>
            <a:ext cx="428625" cy="323850"/>
          </a:xfrm>
          <a:custGeom>
            <a:avLst/>
            <a:gdLst>
              <a:gd name="T0" fmla="*/ 0 w 270"/>
              <a:gd name="T1" fmla="*/ 298450 h 204"/>
              <a:gd name="T2" fmla="*/ 14288 w 270"/>
              <a:gd name="T3" fmla="*/ 323850 h 204"/>
              <a:gd name="T4" fmla="*/ 428625 w 270"/>
              <a:gd name="T5" fmla="*/ 25400 h 204"/>
              <a:gd name="T6" fmla="*/ 428625 w 270"/>
              <a:gd name="T7" fmla="*/ 25400 h 204"/>
              <a:gd name="T8" fmla="*/ 414338 w 270"/>
              <a:gd name="T9" fmla="*/ 0 h 204"/>
              <a:gd name="T10" fmla="*/ 414338 w 270"/>
              <a:gd name="T11" fmla="*/ 0 h 204"/>
              <a:gd name="T12" fmla="*/ 0 w 270"/>
              <a:gd name="T13" fmla="*/ 298450 h 2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204"/>
              <a:gd name="T23" fmla="*/ 270 w 270"/>
              <a:gd name="T24" fmla="*/ 204 h 2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204">
                <a:moveTo>
                  <a:pt x="0" y="188"/>
                </a:moveTo>
                <a:lnTo>
                  <a:pt x="9" y="204"/>
                </a:lnTo>
                <a:lnTo>
                  <a:pt x="270" y="16"/>
                </a:lnTo>
                <a:lnTo>
                  <a:pt x="261" y="0"/>
                </a:lnTo>
                <a:lnTo>
                  <a:pt x="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2" name="Freeform 1037"/>
          <p:cNvSpPr>
            <a:spLocks/>
          </p:cNvSpPr>
          <p:nvPr/>
        </p:nvSpPr>
        <p:spPr bwMode="auto">
          <a:xfrm>
            <a:off x="4976813" y="2579688"/>
            <a:ext cx="442912" cy="271462"/>
          </a:xfrm>
          <a:custGeom>
            <a:avLst/>
            <a:gdLst>
              <a:gd name="T0" fmla="*/ 0 w 279"/>
              <a:gd name="T1" fmla="*/ 246062 h 171"/>
              <a:gd name="T2" fmla="*/ 14287 w 279"/>
              <a:gd name="T3" fmla="*/ 271462 h 171"/>
              <a:gd name="T4" fmla="*/ 442912 w 279"/>
              <a:gd name="T5" fmla="*/ 25400 h 171"/>
              <a:gd name="T6" fmla="*/ 442912 w 279"/>
              <a:gd name="T7" fmla="*/ 25400 h 171"/>
              <a:gd name="T8" fmla="*/ 428625 w 279"/>
              <a:gd name="T9" fmla="*/ 0 h 171"/>
              <a:gd name="T10" fmla="*/ 428625 w 279"/>
              <a:gd name="T11" fmla="*/ 0 h 171"/>
              <a:gd name="T12" fmla="*/ 0 w 279"/>
              <a:gd name="T13" fmla="*/ 246062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171"/>
              <a:gd name="T23" fmla="*/ 279 w 279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171">
                <a:moveTo>
                  <a:pt x="0" y="155"/>
                </a:moveTo>
                <a:lnTo>
                  <a:pt x="9" y="171"/>
                </a:lnTo>
                <a:lnTo>
                  <a:pt x="279" y="16"/>
                </a:lnTo>
                <a:lnTo>
                  <a:pt x="270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Freeform 1038"/>
          <p:cNvSpPr>
            <a:spLocks/>
          </p:cNvSpPr>
          <p:nvPr/>
        </p:nvSpPr>
        <p:spPr bwMode="auto">
          <a:xfrm>
            <a:off x="5405438" y="2371726"/>
            <a:ext cx="457200" cy="233363"/>
          </a:xfrm>
          <a:custGeom>
            <a:avLst/>
            <a:gdLst>
              <a:gd name="T0" fmla="*/ 0 w 288"/>
              <a:gd name="T1" fmla="*/ 207963 h 147"/>
              <a:gd name="T2" fmla="*/ 14288 w 288"/>
              <a:gd name="T3" fmla="*/ 233363 h 147"/>
              <a:gd name="T4" fmla="*/ 457200 w 288"/>
              <a:gd name="T5" fmla="*/ 25400 h 147"/>
              <a:gd name="T6" fmla="*/ 442913 w 288"/>
              <a:gd name="T7" fmla="*/ 0 h 147"/>
              <a:gd name="T8" fmla="*/ 0 w 288"/>
              <a:gd name="T9" fmla="*/ 207963 h 1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8"/>
              <a:gd name="T16" fmla="*/ 0 h 147"/>
              <a:gd name="T17" fmla="*/ 288 w 288"/>
              <a:gd name="T18" fmla="*/ 147 h 1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8" h="147">
                <a:moveTo>
                  <a:pt x="0" y="131"/>
                </a:moveTo>
                <a:lnTo>
                  <a:pt x="9" y="147"/>
                </a:lnTo>
                <a:lnTo>
                  <a:pt x="288" y="16"/>
                </a:lnTo>
                <a:lnTo>
                  <a:pt x="279" y="0"/>
                </a:lnTo>
                <a:lnTo>
                  <a:pt x="0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4" name="Freeform 1039"/>
          <p:cNvSpPr>
            <a:spLocks/>
          </p:cNvSpPr>
          <p:nvPr/>
        </p:nvSpPr>
        <p:spPr bwMode="auto">
          <a:xfrm>
            <a:off x="3162301" y="5289550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12700 h 16"/>
              <a:gd name="T4" fmla="*/ 14288 w 18"/>
              <a:gd name="T5" fmla="*/ 12700 h 16"/>
              <a:gd name="T6" fmla="*/ 14288 w 18"/>
              <a:gd name="T7" fmla="*/ 25400 h 16"/>
              <a:gd name="T8" fmla="*/ 28575 w 18"/>
              <a:gd name="T9" fmla="*/ 25400 h 16"/>
              <a:gd name="T10" fmla="*/ 28575 w 18"/>
              <a:gd name="T11" fmla="*/ 12700 h 16"/>
              <a:gd name="T12" fmla="*/ 28575 w 18"/>
              <a:gd name="T13" fmla="*/ 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5" name="Freeform 1040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6" name="Freeform 1041"/>
          <p:cNvSpPr>
            <a:spLocks/>
          </p:cNvSpPr>
          <p:nvPr/>
        </p:nvSpPr>
        <p:spPr bwMode="auto">
          <a:xfrm>
            <a:off x="3062288" y="5133976"/>
            <a:ext cx="171450" cy="193675"/>
          </a:xfrm>
          <a:custGeom>
            <a:avLst/>
            <a:gdLst>
              <a:gd name="T0" fmla="*/ 114300 w 108"/>
              <a:gd name="T1" fmla="*/ 155575 h 122"/>
              <a:gd name="T2" fmla="*/ 57150 w 108"/>
              <a:gd name="T3" fmla="*/ 193675 h 122"/>
              <a:gd name="T4" fmla="*/ 0 w 108"/>
              <a:gd name="T5" fmla="*/ 0 h 122"/>
              <a:gd name="T6" fmla="*/ 171450 w 108"/>
              <a:gd name="T7" fmla="*/ 128588 h 122"/>
              <a:gd name="T8" fmla="*/ 114300 w 108"/>
              <a:gd name="T9" fmla="*/ 1555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2"/>
              <a:gd name="T17" fmla="*/ 108 w 108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2">
                <a:moveTo>
                  <a:pt x="72" y="98"/>
                </a:moveTo>
                <a:lnTo>
                  <a:pt x="36" y="122"/>
                </a:lnTo>
                <a:lnTo>
                  <a:pt x="0" y="0"/>
                </a:lnTo>
                <a:lnTo>
                  <a:pt x="108" y="81"/>
                </a:lnTo>
                <a:lnTo>
                  <a:pt x="7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7" name="Freeform 1042"/>
          <p:cNvSpPr>
            <a:spLocks/>
          </p:cNvSpPr>
          <p:nvPr/>
        </p:nvSpPr>
        <p:spPr bwMode="auto">
          <a:xfrm>
            <a:off x="8105775" y="5626101"/>
            <a:ext cx="300038" cy="180975"/>
          </a:xfrm>
          <a:custGeom>
            <a:avLst/>
            <a:gdLst>
              <a:gd name="T0" fmla="*/ 300038 w 189"/>
              <a:gd name="T1" fmla="*/ 25400 h 114"/>
              <a:gd name="T2" fmla="*/ 285750 w 189"/>
              <a:gd name="T3" fmla="*/ 0 h 114"/>
              <a:gd name="T4" fmla="*/ 0 w 189"/>
              <a:gd name="T5" fmla="*/ 155575 h 114"/>
              <a:gd name="T6" fmla="*/ 0 w 189"/>
              <a:gd name="T7" fmla="*/ 155575 h 114"/>
              <a:gd name="T8" fmla="*/ 14288 w 189"/>
              <a:gd name="T9" fmla="*/ 180975 h 114"/>
              <a:gd name="T10" fmla="*/ 14288 w 189"/>
              <a:gd name="T11" fmla="*/ 180975 h 114"/>
              <a:gd name="T12" fmla="*/ 300038 w 189"/>
              <a:gd name="T13" fmla="*/ 254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14"/>
              <a:gd name="T23" fmla="*/ 189 w 189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14">
                <a:moveTo>
                  <a:pt x="189" y="16"/>
                </a:moveTo>
                <a:lnTo>
                  <a:pt x="180" y="0"/>
                </a:lnTo>
                <a:lnTo>
                  <a:pt x="0" y="98"/>
                </a:lnTo>
                <a:lnTo>
                  <a:pt x="9" y="114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8" name="Freeform 1043"/>
          <p:cNvSpPr>
            <a:spLocks/>
          </p:cNvSpPr>
          <p:nvPr/>
        </p:nvSpPr>
        <p:spPr bwMode="auto">
          <a:xfrm>
            <a:off x="7777163" y="5781676"/>
            <a:ext cx="342900" cy="155575"/>
          </a:xfrm>
          <a:custGeom>
            <a:avLst/>
            <a:gdLst>
              <a:gd name="T0" fmla="*/ 342900 w 216"/>
              <a:gd name="T1" fmla="*/ 25400 h 98"/>
              <a:gd name="T2" fmla="*/ 328613 w 216"/>
              <a:gd name="T3" fmla="*/ 0 h 98"/>
              <a:gd name="T4" fmla="*/ 0 w 216"/>
              <a:gd name="T5" fmla="*/ 130175 h 98"/>
              <a:gd name="T6" fmla="*/ 0 w 216"/>
              <a:gd name="T7" fmla="*/ 130175 h 98"/>
              <a:gd name="T8" fmla="*/ 14288 w 216"/>
              <a:gd name="T9" fmla="*/ 155575 h 98"/>
              <a:gd name="T10" fmla="*/ 14288 w 216"/>
              <a:gd name="T11" fmla="*/ 155575 h 98"/>
              <a:gd name="T12" fmla="*/ 342900 w 216"/>
              <a:gd name="T13" fmla="*/ 2540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98"/>
              <a:gd name="T23" fmla="*/ 216 w 216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98">
                <a:moveTo>
                  <a:pt x="216" y="16"/>
                </a:moveTo>
                <a:lnTo>
                  <a:pt x="207" y="0"/>
                </a:lnTo>
                <a:lnTo>
                  <a:pt x="0" y="82"/>
                </a:lnTo>
                <a:lnTo>
                  <a:pt x="9" y="98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9" name="Freeform 1044"/>
          <p:cNvSpPr>
            <a:spLocks/>
          </p:cNvSpPr>
          <p:nvPr/>
        </p:nvSpPr>
        <p:spPr bwMode="auto">
          <a:xfrm>
            <a:off x="7434264" y="5911850"/>
            <a:ext cx="357187" cy="128588"/>
          </a:xfrm>
          <a:custGeom>
            <a:avLst/>
            <a:gdLst>
              <a:gd name="T0" fmla="*/ 357187 w 225"/>
              <a:gd name="T1" fmla="*/ 25400 h 81"/>
              <a:gd name="T2" fmla="*/ 342900 w 225"/>
              <a:gd name="T3" fmla="*/ 0 h 81"/>
              <a:gd name="T4" fmla="*/ 0 w 225"/>
              <a:gd name="T5" fmla="*/ 103188 h 81"/>
              <a:gd name="T6" fmla="*/ 0 w 225"/>
              <a:gd name="T7" fmla="*/ 103188 h 81"/>
              <a:gd name="T8" fmla="*/ 0 w 225"/>
              <a:gd name="T9" fmla="*/ 128588 h 81"/>
              <a:gd name="T10" fmla="*/ 14287 w 225"/>
              <a:gd name="T11" fmla="*/ 128588 h 81"/>
              <a:gd name="T12" fmla="*/ 357187 w 225"/>
              <a:gd name="T13" fmla="*/ 25400 h 8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81"/>
              <a:gd name="T23" fmla="*/ 225 w 225"/>
              <a:gd name="T24" fmla="*/ 81 h 8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81">
                <a:moveTo>
                  <a:pt x="225" y="16"/>
                </a:moveTo>
                <a:lnTo>
                  <a:pt x="216" y="0"/>
                </a:lnTo>
                <a:lnTo>
                  <a:pt x="0" y="65"/>
                </a:lnTo>
                <a:lnTo>
                  <a:pt x="0" y="81"/>
                </a:lnTo>
                <a:lnTo>
                  <a:pt x="9" y="8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0" name="Freeform 1045"/>
          <p:cNvSpPr>
            <a:spLocks/>
          </p:cNvSpPr>
          <p:nvPr/>
        </p:nvSpPr>
        <p:spPr bwMode="auto">
          <a:xfrm>
            <a:off x="7062789" y="6015039"/>
            <a:ext cx="371475" cy="103187"/>
          </a:xfrm>
          <a:custGeom>
            <a:avLst/>
            <a:gdLst>
              <a:gd name="T0" fmla="*/ 371475 w 234"/>
              <a:gd name="T1" fmla="*/ 25400 h 65"/>
              <a:gd name="T2" fmla="*/ 371475 w 234"/>
              <a:gd name="T3" fmla="*/ 0 h 65"/>
              <a:gd name="T4" fmla="*/ 0 w 234"/>
              <a:gd name="T5" fmla="*/ 77787 h 65"/>
              <a:gd name="T6" fmla="*/ 0 w 234"/>
              <a:gd name="T7" fmla="*/ 77787 h 65"/>
              <a:gd name="T8" fmla="*/ 0 w 234"/>
              <a:gd name="T9" fmla="*/ 103187 h 65"/>
              <a:gd name="T10" fmla="*/ 0 w 234"/>
              <a:gd name="T11" fmla="*/ 103187 h 65"/>
              <a:gd name="T12" fmla="*/ 371475 w 234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34"/>
              <a:gd name="T22" fmla="*/ 0 h 65"/>
              <a:gd name="T23" fmla="*/ 234 w 234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34" h="65">
                <a:moveTo>
                  <a:pt x="234" y="16"/>
                </a:moveTo>
                <a:lnTo>
                  <a:pt x="234" y="0"/>
                </a:lnTo>
                <a:lnTo>
                  <a:pt x="0" y="49"/>
                </a:lnTo>
                <a:lnTo>
                  <a:pt x="0" y="65"/>
                </a:lnTo>
                <a:lnTo>
                  <a:pt x="23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1" name="Freeform 1046"/>
          <p:cNvSpPr>
            <a:spLocks/>
          </p:cNvSpPr>
          <p:nvPr/>
        </p:nvSpPr>
        <p:spPr bwMode="auto">
          <a:xfrm>
            <a:off x="6276976" y="6092825"/>
            <a:ext cx="785813" cy="90488"/>
          </a:xfrm>
          <a:custGeom>
            <a:avLst/>
            <a:gdLst>
              <a:gd name="T0" fmla="*/ 785813 w 495"/>
              <a:gd name="T1" fmla="*/ 25400 h 57"/>
              <a:gd name="T2" fmla="*/ 785813 w 495"/>
              <a:gd name="T3" fmla="*/ 0 h 57"/>
              <a:gd name="T4" fmla="*/ 0 w 495"/>
              <a:gd name="T5" fmla="*/ 65088 h 57"/>
              <a:gd name="T6" fmla="*/ 0 w 495"/>
              <a:gd name="T7" fmla="*/ 65088 h 57"/>
              <a:gd name="T8" fmla="*/ 0 w 495"/>
              <a:gd name="T9" fmla="*/ 90488 h 57"/>
              <a:gd name="T10" fmla="*/ 0 w 495"/>
              <a:gd name="T11" fmla="*/ 90488 h 57"/>
              <a:gd name="T12" fmla="*/ 785813 w 495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57"/>
              <a:gd name="T23" fmla="*/ 495 w 495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57">
                <a:moveTo>
                  <a:pt x="495" y="16"/>
                </a:moveTo>
                <a:lnTo>
                  <a:pt x="495" y="0"/>
                </a:lnTo>
                <a:lnTo>
                  <a:pt x="0" y="41"/>
                </a:lnTo>
                <a:lnTo>
                  <a:pt x="0" y="57"/>
                </a:lnTo>
                <a:lnTo>
                  <a:pt x="49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2" name="Freeform 1047"/>
          <p:cNvSpPr>
            <a:spLocks/>
          </p:cNvSpPr>
          <p:nvPr/>
        </p:nvSpPr>
        <p:spPr bwMode="auto">
          <a:xfrm>
            <a:off x="5491163" y="6145213"/>
            <a:ext cx="785812" cy="38100"/>
          </a:xfrm>
          <a:custGeom>
            <a:avLst/>
            <a:gdLst>
              <a:gd name="T0" fmla="*/ 785812 w 495"/>
              <a:gd name="T1" fmla="*/ 38100 h 24"/>
              <a:gd name="T2" fmla="*/ 785812 w 495"/>
              <a:gd name="T3" fmla="*/ 12700 h 24"/>
              <a:gd name="T4" fmla="*/ 0 w 495"/>
              <a:gd name="T5" fmla="*/ 0 h 24"/>
              <a:gd name="T6" fmla="*/ 0 w 495"/>
              <a:gd name="T7" fmla="*/ 0 h 24"/>
              <a:gd name="T8" fmla="*/ 0 w 495"/>
              <a:gd name="T9" fmla="*/ 25400 h 24"/>
              <a:gd name="T10" fmla="*/ 0 w 495"/>
              <a:gd name="T11" fmla="*/ 25400 h 24"/>
              <a:gd name="T12" fmla="*/ 785812 w 495"/>
              <a:gd name="T13" fmla="*/ 38100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5"/>
              <a:gd name="T22" fmla="*/ 0 h 24"/>
              <a:gd name="T23" fmla="*/ 495 w 495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5" h="24">
                <a:moveTo>
                  <a:pt x="495" y="24"/>
                </a:moveTo>
                <a:lnTo>
                  <a:pt x="495" y="8"/>
                </a:lnTo>
                <a:lnTo>
                  <a:pt x="0" y="0"/>
                </a:lnTo>
                <a:lnTo>
                  <a:pt x="0" y="16"/>
                </a:lnTo>
                <a:lnTo>
                  <a:pt x="495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3" name="Freeform 1048"/>
          <p:cNvSpPr>
            <a:spLocks/>
          </p:cNvSpPr>
          <p:nvPr/>
        </p:nvSpPr>
        <p:spPr bwMode="auto">
          <a:xfrm>
            <a:off x="4733925" y="6027739"/>
            <a:ext cx="757238" cy="142875"/>
          </a:xfrm>
          <a:custGeom>
            <a:avLst/>
            <a:gdLst>
              <a:gd name="T0" fmla="*/ 757238 w 477"/>
              <a:gd name="T1" fmla="*/ 142875 h 90"/>
              <a:gd name="T2" fmla="*/ 757238 w 477"/>
              <a:gd name="T3" fmla="*/ 117475 h 90"/>
              <a:gd name="T4" fmla="*/ 0 w 477"/>
              <a:gd name="T5" fmla="*/ 0 h 90"/>
              <a:gd name="T6" fmla="*/ 0 w 477"/>
              <a:gd name="T7" fmla="*/ 0 h 90"/>
              <a:gd name="T8" fmla="*/ 0 w 477"/>
              <a:gd name="T9" fmla="*/ 26988 h 90"/>
              <a:gd name="T10" fmla="*/ 0 w 477"/>
              <a:gd name="T11" fmla="*/ 26988 h 90"/>
              <a:gd name="T12" fmla="*/ 757238 w 477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77"/>
              <a:gd name="T22" fmla="*/ 0 h 90"/>
              <a:gd name="T23" fmla="*/ 477 w 477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77" h="90">
                <a:moveTo>
                  <a:pt x="477" y="90"/>
                </a:moveTo>
                <a:lnTo>
                  <a:pt x="477" y="74"/>
                </a:lnTo>
                <a:lnTo>
                  <a:pt x="0" y="0"/>
                </a:lnTo>
                <a:lnTo>
                  <a:pt x="0" y="17"/>
                </a:lnTo>
                <a:lnTo>
                  <a:pt x="477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4" name="Freeform 1049"/>
          <p:cNvSpPr>
            <a:spLocks/>
          </p:cNvSpPr>
          <p:nvPr/>
        </p:nvSpPr>
        <p:spPr bwMode="auto">
          <a:xfrm>
            <a:off x="4376739" y="5949951"/>
            <a:ext cx="357187" cy="104775"/>
          </a:xfrm>
          <a:custGeom>
            <a:avLst/>
            <a:gdLst>
              <a:gd name="T0" fmla="*/ 357187 w 225"/>
              <a:gd name="T1" fmla="*/ 104775 h 66"/>
              <a:gd name="T2" fmla="*/ 357187 w 225"/>
              <a:gd name="T3" fmla="*/ 77788 h 66"/>
              <a:gd name="T4" fmla="*/ 0 w 225"/>
              <a:gd name="T5" fmla="*/ 0 h 66"/>
              <a:gd name="T6" fmla="*/ 14287 w 225"/>
              <a:gd name="T7" fmla="*/ 0 h 66"/>
              <a:gd name="T8" fmla="*/ 0 w 225"/>
              <a:gd name="T9" fmla="*/ 26988 h 66"/>
              <a:gd name="T10" fmla="*/ 0 w 225"/>
              <a:gd name="T11" fmla="*/ 26988 h 66"/>
              <a:gd name="T12" fmla="*/ 357187 w 225"/>
              <a:gd name="T13" fmla="*/ 104775 h 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66"/>
              <a:gd name="T23" fmla="*/ 225 w 225"/>
              <a:gd name="T24" fmla="*/ 66 h 6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66">
                <a:moveTo>
                  <a:pt x="225" y="66"/>
                </a:moveTo>
                <a:lnTo>
                  <a:pt x="225" y="49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25" y="6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5" name="Freeform 1050"/>
          <p:cNvSpPr>
            <a:spLocks/>
          </p:cNvSpPr>
          <p:nvPr/>
        </p:nvSpPr>
        <p:spPr bwMode="auto">
          <a:xfrm>
            <a:off x="4062413" y="5846764"/>
            <a:ext cx="328612" cy="130175"/>
          </a:xfrm>
          <a:custGeom>
            <a:avLst/>
            <a:gdLst>
              <a:gd name="T0" fmla="*/ 314325 w 207"/>
              <a:gd name="T1" fmla="*/ 130175 h 82"/>
              <a:gd name="T2" fmla="*/ 328612 w 207"/>
              <a:gd name="T3" fmla="*/ 103188 h 82"/>
              <a:gd name="T4" fmla="*/ 14287 w 207"/>
              <a:gd name="T5" fmla="*/ 0 h 82"/>
              <a:gd name="T6" fmla="*/ 14287 w 207"/>
              <a:gd name="T7" fmla="*/ 0 h 82"/>
              <a:gd name="T8" fmla="*/ 0 w 207"/>
              <a:gd name="T9" fmla="*/ 25400 h 82"/>
              <a:gd name="T10" fmla="*/ 0 w 207"/>
              <a:gd name="T11" fmla="*/ 25400 h 82"/>
              <a:gd name="T12" fmla="*/ 314325 w 207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82"/>
              <a:gd name="T23" fmla="*/ 207 w 207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82">
                <a:moveTo>
                  <a:pt x="198" y="82"/>
                </a:moveTo>
                <a:lnTo>
                  <a:pt x="207" y="65"/>
                </a:lnTo>
                <a:lnTo>
                  <a:pt x="9" y="0"/>
                </a:lnTo>
                <a:lnTo>
                  <a:pt x="0" y="16"/>
                </a:lnTo>
                <a:lnTo>
                  <a:pt x="198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6" name="Freeform 1051"/>
          <p:cNvSpPr>
            <a:spLocks/>
          </p:cNvSpPr>
          <p:nvPr/>
        </p:nvSpPr>
        <p:spPr bwMode="auto">
          <a:xfrm>
            <a:off x="3776664" y="5729289"/>
            <a:ext cx="300037" cy="142875"/>
          </a:xfrm>
          <a:custGeom>
            <a:avLst/>
            <a:gdLst>
              <a:gd name="T0" fmla="*/ 285750 w 189"/>
              <a:gd name="T1" fmla="*/ 142875 h 90"/>
              <a:gd name="T2" fmla="*/ 300037 w 189"/>
              <a:gd name="T3" fmla="*/ 117475 h 90"/>
              <a:gd name="T4" fmla="*/ 14287 w 189"/>
              <a:gd name="T5" fmla="*/ 0 h 90"/>
              <a:gd name="T6" fmla="*/ 14287 w 189"/>
              <a:gd name="T7" fmla="*/ 0 h 90"/>
              <a:gd name="T8" fmla="*/ 0 w 189"/>
              <a:gd name="T9" fmla="*/ 26988 h 90"/>
              <a:gd name="T10" fmla="*/ 0 w 189"/>
              <a:gd name="T11" fmla="*/ 26988 h 90"/>
              <a:gd name="T12" fmla="*/ 285750 w 189"/>
              <a:gd name="T13" fmla="*/ 142875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0"/>
              <a:gd name="T23" fmla="*/ 189 w 189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0">
                <a:moveTo>
                  <a:pt x="180" y="90"/>
                </a:moveTo>
                <a:lnTo>
                  <a:pt x="189" y="74"/>
                </a:lnTo>
                <a:lnTo>
                  <a:pt x="9" y="0"/>
                </a:lnTo>
                <a:lnTo>
                  <a:pt x="0" y="17"/>
                </a:lnTo>
                <a:lnTo>
                  <a:pt x="180" y="9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7" name="Freeform 1052"/>
          <p:cNvSpPr>
            <a:spLocks/>
          </p:cNvSpPr>
          <p:nvPr/>
        </p:nvSpPr>
        <p:spPr bwMode="auto">
          <a:xfrm>
            <a:off x="3519488" y="5600701"/>
            <a:ext cx="271462" cy="155575"/>
          </a:xfrm>
          <a:custGeom>
            <a:avLst/>
            <a:gdLst>
              <a:gd name="T0" fmla="*/ 257175 w 171"/>
              <a:gd name="T1" fmla="*/ 155575 h 98"/>
              <a:gd name="T2" fmla="*/ 271462 w 171"/>
              <a:gd name="T3" fmla="*/ 128588 h 98"/>
              <a:gd name="T4" fmla="*/ 14287 w 171"/>
              <a:gd name="T5" fmla="*/ 0 h 98"/>
              <a:gd name="T6" fmla="*/ 14287 w 171"/>
              <a:gd name="T7" fmla="*/ 0 h 98"/>
              <a:gd name="T8" fmla="*/ 0 w 171"/>
              <a:gd name="T9" fmla="*/ 25400 h 98"/>
              <a:gd name="T10" fmla="*/ 0 w 171"/>
              <a:gd name="T11" fmla="*/ 25400 h 98"/>
              <a:gd name="T12" fmla="*/ 257175 w 171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98"/>
              <a:gd name="T23" fmla="*/ 171 w 171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98">
                <a:moveTo>
                  <a:pt x="162" y="98"/>
                </a:moveTo>
                <a:lnTo>
                  <a:pt x="171" y="81"/>
                </a:lnTo>
                <a:lnTo>
                  <a:pt x="9" y="0"/>
                </a:lnTo>
                <a:lnTo>
                  <a:pt x="0" y="16"/>
                </a:lnTo>
                <a:lnTo>
                  <a:pt x="162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8" name="Freeform 1053"/>
          <p:cNvSpPr>
            <a:spLocks/>
          </p:cNvSpPr>
          <p:nvPr/>
        </p:nvSpPr>
        <p:spPr bwMode="auto">
          <a:xfrm>
            <a:off x="3319463" y="5445126"/>
            <a:ext cx="214312" cy="180975"/>
          </a:xfrm>
          <a:custGeom>
            <a:avLst/>
            <a:gdLst>
              <a:gd name="T0" fmla="*/ 200025 w 135"/>
              <a:gd name="T1" fmla="*/ 180975 h 114"/>
              <a:gd name="T2" fmla="*/ 214312 w 135"/>
              <a:gd name="T3" fmla="*/ 155575 h 114"/>
              <a:gd name="T4" fmla="*/ 28575 w 135"/>
              <a:gd name="T5" fmla="*/ 0 h 114"/>
              <a:gd name="T6" fmla="*/ 28575 w 135"/>
              <a:gd name="T7" fmla="*/ 12700 h 114"/>
              <a:gd name="T8" fmla="*/ 0 w 135"/>
              <a:gd name="T9" fmla="*/ 25400 h 114"/>
              <a:gd name="T10" fmla="*/ 14287 w 135"/>
              <a:gd name="T11" fmla="*/ 25400 h 114"/>
              <a:gd name="T12" fmla="*/ 200025 w 135"/>
              <a:gd name="T13" fmla="*/ 1809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14"/>
              <a:gd name="T23" fmla="*/ 135 w 135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14">
                <a:moveTo>
                  <a:pt x="126" y="114"/>
                </a:moveTo>
                <a:lnTo>
                  <a:pt x="135" y="98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26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19" name="Freeform 1054"/>
          <p:cNvSpPr>
            <a:spLocks/>
          </p:cNvSpPr>
          <p:nvPr/>
        </p:nvSpPr>
        <p:spPr bwMode="auto">
          <a:xfrm>
            <a:off x="3162300" y="5302251"/>
            <a:ext cx="185738" cy="168275"/>
          </a:xfrm>
          <a:custGeom>
            <a:avLst/>
            <a:gdLst>
              <a:gd name="T0" fmla="*/ 157163 w 117"/>
              <a:gd name="T1" fmla="*/ 168275 h 106"/>
              <a:gd name="T2" fmla="*/ 185738 w 117"/>
              <a:gd name="T3" fmla="*/ 155575 h 106"/>
              <a:gd name="T4" fmla="*/ 28575 w 117"/>
              <a:gd name="T5" fmla="*/ 0 h 106"/>
              <a:gd name="T6" fmla="*/ 0 w 117"/>
              <a:gd name="T7" fmla="*/ 12700 h 106"/>
              <a:gd name="T8" fmla="*/ 157163 w 117"/>
              <a:gd name="T9" fmla="*/ 168275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06"/>
              <a:gd name="T17" fmla="*/ 117 w 117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06">
                <a:moveTo>
                  <a:pt x="99" y="106"/>
                </a:moveTo>
                <a:lnTo>
                  <a:pt x="117" y="98"/>
                </a:lnTo>
                <a:lnTo>
                  <a:pt x="18" y="0"/>
                </a:lnTo>
                <a:lnTo>
                  <a:pt x="0" y="8"/>
                </a:lnTo>
                <a:lnTo>
                  <a:pt x="99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0" name="Freeform 1055"/>
          <p:cNvSpPr>
            <a:spLocks/>
          </p:cNvSpPr>
          <p:nvPr/>
        </p:nvSpPr>
        <p:spPr bwMode="auto">
          <a:xfrm>
            <a:off x="8834439" y="5302250"/>
            <a:ext cx="28575" cy="25400"/>
          </a:xfrm>
          <a:custGeom>
            <a:avLst/>
            <a:gdLst>
              <a:gd name="T0" fmla="*/ 0 w 18"/>
              <a:gd name="T1" fmla="*/ 25400 h 16"/>
              <a:gd name="T2" fmla="*/ 14288 w 18"/>
              <a:gd name="T3" fmla="*/ 25400 h 16"/>
              <a:gd name="T4" fmla="*/ 14288 w 18"/>
              <a:gd name="T5" fmla="*/ 25400 h 16"/>
              <a:gd name="T6" fmla="*/ 28575 w 18"/>
              <a:gd name="T7" fmla="*/ 1270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1" name="Freeform 1056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2" name="Freeform 1057"/>
          <p:cNvSpPr>
            <a:spLocks/>
          </p:cNvSpPr>
          <p:nvPr/>
        </p:nvSpPr>
        <p:spPr bwMode="auto">
          <a:xfrm>
            <a:off x="8691564" y="5289551"/>
            <a:ext cx="200025" cy="168275"/>
          </a:xfrm>
          <a:custGeom>
            <a:avLst/>
            <a:gdLst>
              <a:gd name="T0" fmla="*/ 142875 w 126"/>
              <a:gd name="T1" fmla="*/ 38100 h 106"/>
              <a:gd name="T2" fmla="*/ 200025 w 126"/>
              <a:gd name="T3" fmla="*/ 65088 h 106"/>
              <a:gd name="T4" fmla="*/ 0 w 126"/>
              <a:gd name="T5" fmla="*/ 168275 h 106"/>
              <a:gd name="T6" fmla="*/ 100013 w 126"/>
              <a:gd name="T7" fmla="*/ 0 h 106"/>
              <a:gd name="T8" fmla="*/ 142875 w 126"/>
              <a:gd name="T9" fmla="*/ 38100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106"/>
              <a:gd name="T17" fmla="*/ 126 w 126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106">
                <a:moveTo>
                  <a:pt x="90" y="24"/>
                </a:moveTo>
                <a:lnTo>
                  <a:pt x="126" y="41"/>
                </a:lnTo>
                <a:lnTo>
                  <a:pt x="0" y="106"/>
                </a:lnTo>
                <a:lnTo>
                  <a:pt x="63" y="0"/>
                </a:lnTo>
                <a:lnTo>
                  <a:pt x="90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3" name="Freeform 1058"/>
          <p:cNvSpPr>
            <a:spLocks/>
          </p:cNvSpPr>
          <p:nvPr/>
        </p:nvSpPr>
        <p:spPr bwMode="auto">
          <a:xfrm>
            <a:off x="9120188" y="1697038"/>
            <a:ext cx="228600" cy="246062"/>
          </a:xfrm>
          <a:custGeom>
            <a:avLst/>
            <a:gdLst>
              <a:gd name="T0" fmla="*/ 28575 w 144"/>
              <a:gd name="T1" fmla="*/ 0 h 155"/>
              <a:gd name="T2" fmla="*/ 0 w 144"/>
              <a:gd name="T3" fmla="*/ 12700 h 155"/>
              <a:gd name="T4" fmla="*/ 200025 w 144"/>
              <a:gd name="T5" fmla="*/ 246062 h 155"/>
              <a:gd name="T6" fmla="*/ 200025 w 144"/>
              <a:gd name="T7" fmla="*/ 246062 h 155"/>
              <a:gd name="T8" fmla="*/ 228600 w 144"/>
              <a:gd name="T9" fmla="*/ 233362 h 155"/>
              <a:gd name="T10" fmla="*/ 228600 w 144"/>
              <a:gd name="T11" fmla="*/ 233362 h 155"/>
              <a:gd name="T12" fmla="*/ 28575 w 144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8" y="0"/>
                </a:moveTo>
                <a:lnTo>
                  <a:pt x="0" y="8"/>
                </a:lnTo>
                <a:lnTo>
                  <a:pt x="126" y="155"/>
                </a:lnTo>
                <a:lnTo>
                  <a:pt x="14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4" name="Freeform 1059"/>
          <p:cNvSpPr>
            <a:spLocks/>
          </p:cNvSpPr>
          <p:nvPr/>
        </p:nvSpPr>
        <p:spPr bwMode="auto">
          <a:xfrm>
            <a:off x="9320214" y="1930400"/>
            <a:ext cx="185737" cy="260350"/>
          </a:xfrm>
          <a:custGeom>
            <a:avLst/>
            <a:gdLst>
              <a:gd name="T0" fmla="*/ 28575 w 117"/>
              <a:gd name="T1" fmla="*/ 0 h 164"/>
              <a:gd name="T2" fmla="*/ 0 w 117"/>
              <a:gd name="T3" fmla="*/ 12700 h 164"/>
              <a:gd name="T4" fmla="*/ 157162 w 117"/>
              <a:gd name="T5" fmla="*/ 260350 h 164"/>
              <a:gd name="T6" fmla="*/ 157162 w 117"/>
              <a:gd name="T7" fmla="*/ 260350 h 164"/>
              <a:gd name="T8" fmla="*/ 185737 w 117"/>
              <a:gd name="T9" fmla="*/ 246063 h 164"/>
              <a:gd name="T10" fmla="*/ 185737 w 117"/>
              <a:gd name="T11" fmla="*/ 246063 h 164"/>
              <a:gd name="T12" fmla="*/ 28575 w 117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64"/>
              <a:gd name="T23" fmla="*/ 117 w 117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64">
                <a:moveTo>
                  <a:pt x="18" y="0"/>
                </a:moveTo>
                <a:lnTo>
                  <a:pt x="0" y="8"/>
                </a:lnTo>
                <a:lnTo>
                  <a:pt x="99" y="164"/>
                </a:lnTo>
                <a:lnTo>
                  <a:pt x="117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5" name="Freeform 1060"/>
          <p:cNvSpPr>
            <a:spLocks/>
          </p:cNvSpPr>
          <p:nvPr/>
        </p:nvSpPr>
        <p:spPr bwMode="auto">
          <a:xfrm>
            <a:off x="9477376" y="2176463"/>
            <a:ext cx="142875" cy="247650"/>
          </a:xfrm>
          <a:custGeom>
            <a:avLst/>
            <a:gdLst>
              <a:gd name="T0" fmla="*/ 28575 w 90"/>
              <a:gd name="T1" fmla="*/ 0 h 156"/>
              <a:gd name="T2" fmla="*/ 0 w 90"/>
              <a:gd name="T3" fmla="*/ 14288 h 156"/>
              <a:gd name="T4" fmla="*/ 114300 w 90"/>
              <a:gd name="T5" fmla="*/ 247650 h 156"/>
              <a:gd name="T6" fmla="*/ 114300 w 90"/>
              <a:gd name="T7" fmla="*/ 247650 h 156"/>
              <a:gd name="T8" fmla="*/ 142875 w 90"/>
              <a:gd name="T9" fmla="*/ 233363 h 156"/>
              <a:gd name="T10" fmla="*/ 142875 w 90"/>
              <a:gd name="T11" fmla="*/ 233363 h 156"/>
              <a:gd name="T12" fmla="*/ 28575 w 90"/>
              <a:gd name="T13" fmla="*/ 0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56"/>
              <a:gd name="T23" fmla="*/ 90 w 90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56">
                <a:moveTo>
                  <a:pt x="18" y="0"/>
                </a:moveTo>
                <a:lnTo>
                  <a:pt x="0" y="9"/>
                </a:lnTo>
                <a:lnTo>
                  <a:pt x="72" y="156"/>
                </a:lnTo>
                <a:lnTo>
                  <a:pt x="90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6" name="Freeform 1061"/>
          <p:cNvSpPr>
            <a:spLocks/>
          </p:cNvSpPr>
          <p:nvPr/>
        </p:nvSpPr>
        <p:spPr bwMode="auto">
          <a:xfrm>
            <a:off x="9591675" y="2409825"/>
            <a:ext cx="114300" cy="260350"/>
          </a:xfrm>
          <a:custGeom>
            <a:avLst/>
            <a:gdLst>
              <a:gd name="T0" fmla="*/ 28575 w 72"/>
              <a:gd name="T1" fmla="*/ 0 h 164"/>
              <a:gd name="T2" fmla="*/ 0 w 72"/>
              <a:gd name="T3" fmla="*/ 14288 h 164"/>
              <a:gd name="T4" fmla="*/ 85725 w 72"/>
              <a:gd name="T5" fmla="*/ 260350 h 164"/>
              <a:gd name="T6" fmla="*/ 85725 w 72"/>
              <a:gd name="T7" fmla="*/ 247650 h 164"/>
              <a:gd name="T8" fmla="*/ 114300 w 72"/>
              <a:gd name="T9" fmla="*/ 247650 h 164"/>
              <a:gd name="T10" fmla="*/ 114300 w 72"/>
              <a:gd name="T11" fmla="*/ 247650 h 164"/>
              <a:gd name="T12" fmla="*/ 28575 w 72"/>
              <a:gd name="T13" fmla="*/ 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64"/>
              <a:gd name="T23" fmla="*/ 72 w 72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64">
                <a:moveTo>
                  <a:pt x="18" y="0"/>
                </a:moveTo>
                <a:lnTo>
                  <a:pt x="0" y="9"/>
                </a:lnTo>
                <a:lnTo>
                  <a:pt x="54" y="164"/>
                </a:lnTo>
                <a:lnTo>
                  <a:pt x="54" y="156"/>
                </a:lnTo>
                <a:lnTo>
                  <a:pt x="72" y="156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7" name="Freeform 1062"/>
          <p:cNvSpPr>
            <a:spLocks/>
          </p:cNvSpPr>
          <p:nvPr/>
        </p:nvSpPr>
        <p:spPr bwMode="auto">
          <a:xfrm>
            <a:off x="9677401" y="2657476"/>
            <a:ext cx="85725" cy="233363"/>
          </a:xfrm>
          <a:custGeom>
            <a:avLst/>
            <a:gdLst>
              <a:gd name="T0" fmla="*/ 28575 w 54"/>
              <a:gd name="T1" fmla="*/ 0 h 147"/>
              <a:gd name="T2" fmla="*/ 0 w 54"/>
              <a:gd name="T3" fmla="*/ 0 h 147"/>
              <a:gd name="T4" fmla="*/ 57150 w 54"/>
              <a:gd name="T5" fmla="*/ 233363 h 147"/>
              <a:gd name="T6" fmla="*/ 57150 w 54"/>
              <a:gd name="T7" fmla="*/ 233363 h 147"/>
              <a:gd name="T8" fmla="*/ 85725 w 54"/>
              <a:gd name="T9" fmla="*/ 233363 h 147"/>
              <a:gd name="T10" fmla="*/ 85725 w 54"/>
              <a:gd name="T11" fmla="*/ 233363 h 147"/>
              <a:gd name="T12" fmla="*/ 28575 w 54"/>
              <a:gd name="T13" fmla="*/ 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47"/>
              <a:gd name="T23" fmla="*/ 54 w 5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47">
                <a:moveTo>
                  <a:pt x="18" y="0"/>
                </a:moveTo>
                <a:lnTo>
                  <a:pt x="0" y="0"/>
                </a:lnTo>
                <a:lnTo>
                  <a:pt x="36" y="147"/>
                </a:lnTo>
                <a:lnTo>
                  <a:pt x="54" y="147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8" name="Freeform 1063"/>
          <p:cNvSpPr>
            <a:spLocks/>
          </p:cNvSpPr>
          <p:nvPr/>
        </p:nvSpPr>
        <p:spPr bwMode="auto">
          <a:xfrm>
            <a:off x="9734550" y="2890838"/>
            <a:ext cx="57150" cy="246062"/>
          </a:xfrm>
          <a:custGeom>
            <a:avLst/>
            <a:gdLst>
              <a:gd name="T0" fmla="*/ 28575 w 36"/>
              <a:gd name="T1" fmla="*/ 0 h 155"/>
              <a:gd name="T2" fmla="*/ 0 w 36"/>
              <a:gd name="T3" fmla="*/ 0 h 155"/>
              <a:gd name="T4" fmla="*/ 28575 w 36"/>
              <a:gd name="T5" fmla="*/ 246062 h 155"/>
              <a:gd name="T6" fmla="*/ 28575 w 36"/>
              <a:gd name="T7" fmla="*/ 246062 h 155"/>
              <a:gd name="T8" fmla="*/ 57150 w 36"/>
              <a:gd name="T9" fmla="*/ 246062 h 155"/>
              <a:gd name="T10" fmla="*/ 57150 w 36"/>
              <a:gd name="T11" fmla="*/ 246062 h 155"/>
              <a:gd name="T12" fmla="*/ 28575 w 36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"/>
              <a:gd name="T22" fmla="*/ 0 h 155"/>
              <a:gd name="T23" fmla="*/ 36 w 3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" h="155">
                <a:moveTo>
                  <a:pt x="18" y="0"/>
                </a:moveTo>
                <a:lnTo>
                  <a:pt x="0" y="0"/>
                </a:lnTo>
                <a:lnTo>
                  <a:pt x="18" y="155"/>
                </a:lnTo>
                <a:lnTo>
                  <a:pt x="36" y="15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29" name="Freeform 1064"/>
          <p:cNvSpPr>
            <a:spLocks/>
          </p:cNvSpPr>
          <p:nvPr/>
        </p:nvSpPr>
        <p:spPr bwMode="auto">
          <a:xfrm>
            <a:off x="9720264" y="3136901"/>
            <a:ext cx="71437" cy="479425"/>
          </a:xfrm>
          <a:custGeom>
            <a:avLst/>
            <a:gdLst>
              <a:gd name="T0" fmla="*/ 71437 w 45"/>
              <a:gd name="T1" fmla="*/ 0 h 302"/>
              <a:gd name="T2" fmla="*/ 42862 w 45"/>
              <a:gd name="T3" fmla="*/ 0 h 302"/>
              <a:gd name="T4" fmla="*/ 0 w 45"/>
              <a:gd name="T5" fmla="*/ 466725 h 302"/>
              <a:gd name="T6" fmla="*/ 0 w 45"/>
              <a:gd name="T7" fmla="*/ 466725 h 302"/>
              <a:gd name="T8" fmla="*/ 28575 w 45"/>
              <a:gd name="T9" fmla="*/ 479425 h 302"/>
              <a:gd name="T10" fmla="*/ 28575 w 45"/>
              <a:gd name="T11" fmla="*/ 466725 h 302"/>
              <a:gd name="T12" fmla="*/ 71437 w 45"/>
              <a:gd name="T13" fmla="*/ 0 h 30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302"/>
              <a:gd name="T23" fmla="*/ 45 w 45"/>
              <a:gd name="T24" fmla="*/ 302 h 30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302">
                <a:moveTo>
                  <a:pt x="45" y="0"/>
                </a:moveTo>
                <a:lnTo>
                  <a:pt x="27" y="0"/>
                </a:lnTo>
                <a:lnTo>
                  <a:pt x="0" y="294"/>
                </a:lnTo>
                <a:lnTo>
                  <a:pt x="18" y="302"/>
                </a:lnTo>
                <a:lnTo>
                  <a:pt x="18" y="294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0" name="Freeform 1065"/>
          <p:cNvSpPr>
            <a:spLocks/>
          </p:cNvSpPr>
          <p:nvPr/>
        </p:nvSpPr>
        <p:spPr bwMode="auto">
          <a:xfrm>
            <a:off x="9605964" y="3603625"/>
            <a:ext cx="142875" cy="427038"/>
          </a:xfrm>
          <a:custGeom>
            <a:avLst/>
            <a:gdLst>
              <a:gd name="T0" fmla="*/ 142875 w 90"/>
              <a:gd name="T1" fmla="*/ 12700 h 269"/>
              <a:gd name="T2" fmla="*/ 114300 w 90"/>
              <a:gd name="T3" fmla="*/ 0 h 269"/>
              <a:gd name="T4" fmla="*/ 0 w 90"/>
              <a:gd name="T5" fmla="*/ 414338 h 269"/>
              <a:gd name="T6" fmla="*/ 0 w 90"/>
              <a:gd name="T7" fmla="*/ 414338 h 269"/>
              <a:gd name="T8" fmla="*/ 28575 w 90"/>
              <a:gd name="T9" fmla="*/ 427038 h 269"/>
              <a:gd name="T10" fmla="*/ 28575 w 90"/>
              <a:gd name="T11" fmla="*/ 427038 h 269"/>
              <a:gd name="T12" fmla="*/ 142875 w 90"/>
              <a:gd name="T13" fmla="*/ 12700 h 2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269"/>
              <a:gd name="T23" fmla="*/ 90 w 90"/>
              <a:gd name="T24" fmla="*/ 269 h 26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269">
                <a:moveTo>
                  <a:pt x="90" y="8"/>
                </a:moveTo>
                <a:lnTo>
                  <a:pt x="72" y="0"/>
                </a:lnTo>
                <a:lnTo>
                  <a:pt x="0" y="261"/>
                </a:lnTo>
                <a:lnTo>
                  <a:pt x="18" y="269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1" name="Freeform 1066"/>
          <p:cNvSpPr>
            <a:spLocks/>
          </p:cNvSpPr>
          <p:nvPr/>
        </p:nvSpPr>
        <p:spPr bwMode="auto">
          <a:xfrm>
            <a:off x="9420226" y="4017964"/>
            <a:ext cx="214313" cy="466725"/>
          </a:xfrm>
          <a:custGeom>
            <a:avLst/>
            <a:gdLst>
              <a:gd name="T0" fmla="*/ 214313 w 135"/>
              <a:gd name="T1" fmla="*/ 12700 h 294"/>
              <a:gd name="T2" fmla="*/ 185738 w 135"/>
              <a:gd name="T3" fmla="*/ 0 h 294"/>
              <a:gd name="T4" fmla="*/ 0 w 135"/>
              <a:gd name="T5" fmla="*/ 454025 h 294"/>
              <a:gd name="T6" fmla="*/ 0 w 135"/>
              <a:gd name="T7" fmla="*/ 454025 h 294"/>
              <a:gd name="T8" fmla="*/ 28575 w 135"/>
              <a:gd name="T9" fmla="*/ 466725 h 294"/>
              <a:gd name="T10" fmla="*/ 28575 w 135"/>
              <a:gd name="T11" fmla="*/ 466725 h 294"/>
              <a:gd name="T12" fmla="*/ 214313 w 135"/>
              <a:gd name="T13" fmla="*/ 12700 h 2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294"/>
              <a:gd name="T23" fmla="*/ 135 w 135"/>
              <a:gd name="T24" fmla="*/ 294 h 2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294">
                <a:moveTo>
                  <a:pt x="135" y="8"/>
                </a:moveTo>
                <a:lnTo>
                  <a:pt x="117" y="0"/>
                </a:lnTo>
                <a:lnTo>
                  <a:pt x="0" y="286"/>
                </a:lnTo>
                <a:lnTo>
                  <a:pt x="18" y="294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2" name="Freeform 1067"/>
          <p:cNvSpPr>
            <a:spLocks/>
          </p:cNvSpPr>
          <p:nvPr/>
        </p:nvSpPr>
        <p:spPr bwMode="auto">
          <a:xfrm>
            <a:off x="9163050" y="4471989"/>
            <a:ext cx="285750" cy="454025"/>
          </a:xfrm>
          <a:custGeom>
            <a:avLst/>
            <a:gdLst>
              <a:gd name="T0" fmla="*/ 285750 w 180"/>
              <a:gd name="T1" fmla="*/ 12700 h 286"/>
              <a:gd name="T2" fmla="*/ 257175 w 180"/>
              <a:gd name="T3" fmla="*/ 0 h 286"/>
              <a:gd name="T4" fmla="*/ 0 w 180"/>
              <a:gd name="T5" fmla="*/ 441325 h 286"/>
              <a:gd name="T6" fmla="*/ 0 w 180"/>
              <a:gd name="T7" fmla="*/ 441325 h 286"/>
              <a:gd name="T8" fmla="*/ 28575 w 180"/>
              <a:gd name="T9" fmla="*/ 454025 h 286"/>
              <a:gd name="T10" fmla="*/ 28575 w 180"/>
              <a:gd name="T11" fmla="*/ 454025 h 286"/>
              <a:gd name="T12" fmla="*/ 285750 w 180"/>
              <a:gd name="T13" fmla="*/ 12700 h 2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286"/>
              <a:gd name="T23" fmla="*/ 180 w 180"/>
              <a:gd name="T24" fmla="*/ 286 h 28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286">
                <a:moveTo>
                  <a:pt x="180" y="8"/>
                </a:moveTo>
                <a:lnTo>
                  <a:pt x="162" y="0"/>
                </a:lnTo>
                <a:lnTo>
                  <a:pt x="0" y="278"/>
                </a:lnTo>
                <a:lnTo>
                  <a:pt x="18" y="286"/>
                </a:lnTo>
                <a:lnTo>
                  <a:pt x="18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3" name="Freeform 1068"/>
          <p:cNvSpPr>
            <a:spLocks/>
          </p:cNvSpPr>
          <p:nvPr/>
        </p:nvSpPr>
        <p:spPr bwMode="auto">
          <a:xfrm>
            <a:off x="9005889" y="4913313"/>
            <a:ext cx="185737" cy="220662"/>
          </a:xfrm>
          <a:custGeom>
            <a:avLst/>
            <a:gdLst>
              <a:gd name="T0" fmla="*/ 185737 w 117"/>
              <a:gd name="T1" fmla="*/ 12700 h 139"/>
              <a:gd name="T2" fmla="*/ 157162 w 117"/>
              <a:gd name="T3" fmla="*/ 0 h 139"/>
              <a:gd name="T4" fmla="*/ 0 w 117"/>
              <a:gd name="T5" fmla="*/ 207962 h 139"/>
              <a:gd name="T6" fmla="*/ 0 w 117"/>
              <a:gd name="T7" fmla="*/ 207962 h 139"/>
              <a:gd name="T8" fmla="*/ 28575 w 117"/>
              <a:gd name="T9" fmla="*/ 220662 h 139"/>
              <a:gd name="T10" fmla="*/ 28575 w 117"/>
              <a:gd name="T11" fmla="*/ 220662 h 139"/>
              <a:gd name="T12" fmla="*/ 185737 w 117"/>
              <a:gd name="T13" fmla="*/ 12700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7"/>
              <a:gd name="T22" fmla="*/ 0 h 139"/>
              <a:gd name="T23" fmla="*/ 117 w 117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7" h="139">
                <a:moveTo>
                  <a:pt x="117" y="8"/>
                </a:moveTo>
                <a:lnTo>
                  <a:pt x="99" y="0"/>
                </a:lnTo>
                <a:lnTo>
                  <a:pt x="0" y="131"/>
                </a:lnTo>
                <a:lnTo>
                  <a:pt x="18" y="139"/>
                </a:lnTo>
                <a:lnTo>
                  <a:pt x="117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4" name="Freeform 1069"/>
          <p:cNvSpPr>
            <a:spLocks/>
          </p:cNvSpPr>
          <p:nvPr/>
        </p:nvSpPr>
        <p:spPr bwMode="auto">
          <a:xfrm>
            <a:off x="8820151" y="5121276"/>
            <a:ext cx="214313" cy="206375"/>
          </a:xfrm>
          <a:custGeom>
            <a:avLst/>
            <a:gdLst>
              <a:gd name="T0" fmla="*/ 214313 w 135"/>
              <a:gd name="T1" fmla="*/ 12700 h 130"/>
              <a:gd name="T2" fmla="*/ 185738 w 135"/>
              <a:gd name="T3" fmla="*/ 0 h 130"/>
              <a:gd name="T4" fmla="*/ 0 w 135"/>
              <a:gd name="T5" fmla="*/ 193675 h 130"/>
              <a:gd name="T6" fmla="*/ 28575 w 135"/>
              <a:gd name="T7" fmla="*/ 206375 h 130"/>
              <a:gd name="T8" fmla="*/ 214313 w 135"/>
              <a:gd name="T9" fmla="*/ 12700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5"/>
              <a:gd name="T16" fmla="*/ 0 h 130"/>
              <a:gd name="T17" fmla="*/ 135 w 135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5" h="130">
                <a:moveTo>
                  <a:pt x="135" y="8"/>
                </a:moveTo>
                <a:lnTo>
                  <a:pt x="117" y="0"/>
                </a:lnTo>
                <a:lnTo>
                  <a:pt x="0" y="122"/>
                </a:lnTo>
                <a:lnTo>
                  <a:pt x="18" y="130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5" name="Freeform 1070"/>
          <p:cNvSpPr>
            <a:spLocks/>
          </p:cNvSpPr>
          <p:nvPr/>
        </p:nvSpPr>
        <p:spPr bwMode="auto">
          <a:xfrm>
            <a:off x="3033714" y="3162300"/>
            <a:ext cx="28575" cy="26988"/>
          </a:xfrm>
          <a:custGeom>
            <a:avLst/>
            <a:gdLst>
              <a:gd name="T0" fmla="*/ 14288 w 18"/>
              <a:gd name="T1" fmla="*/ 26988 h 17"/>
              <a:gd name="T2" fmla="*/ 14288 w 18"/>
              <a:gd name="T3" fmla="*/ 26988 h 17"/>
              <a:gd name="T4" fmla="*/ 28575 w 18"/>
              <a:gd name="T5" fmla="*/ 26988 h 17"/>
              <a:gd name="T6" fmla="*/ 28575 w 18"/>
              <a:gd name="T7" fmla="*/ 12700 h 17"/>
              <a:gd name="T8" fmla="*/ 28575 w 18"/>
              <a:gd name="T9" fmla="*/ 0 h 17"/>
              <a:gd name="T10" fmla="*/ 14288 w 18"/>
              <a:gd name="T11" fmla="*/ 0 h 17"/>
              <a:gd name="T12" fmla="*/ 0 w 18"/>
              <a:gd name="T13" fmla="*/ 12700 h 17"/>
              <a:gd name="T14" fmla="*/ 0 w 18"/>
              <a:gd name="T15" fmla="*/ 26988 h 17"/>
              <a:gd name="T16" fmla="*/ 14288 w 18"/>
              <a:gd name="T17" fmla="*/ 26988 h 17"/>
              <a:gd name="T18" fmla="*/ 14288 w 18"/>
              <a:gd name="T19" fmla="*/ 269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9" y="17"/>
                </a:lnTo>
                <a:lnTo>
                  <a:pt x="18" y="17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0" y="17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6" name="Freeform 1071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7" name="Freeform 1072"/>
          <p:cNvSpPr>
            <a:spLocks/>
          </p:cNvSpPr>
          <p:nvPr/>
        </p:nvSpPr>
        <p:spPr bwMode="auto">
          <a:xfrm>
            <a:off x="2933700" y="3162301"/>
            <a:ext cx="171450" cy="195263"/>
          </a:xfrm>
          <a:custGeom>
            <a:avLst/>
            <a:gdLst>
              <a:gd name="T0" fmla="*/ 114300 w 108"/>
              <a:gd name="T1" fmla="*/ 26988 h 123"/>
              <a:gd name="T2" fmla="*/ 171450 w 108"/>
              <a:gd name="T3" fmla="*/ 52388 h 123"/>
              <a:gd name="T4" fmla="*/ 0 w 108"/>
              <a:gd name="T5" fmla="*/ 195263 h 123"/>
              <a:gd name="T6" fmla="*/ 57150 w 108"/>
              <a:gd name="T7" fmla="*/ 0 h 123"/>
              <a:gd name="T8" fmla="*/ 114300 w 108"/>
              <a:gd name="T9" fmla="*/ 26988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123"/>
              <a:gd name="T17" fmla="*/ 108 w 108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123">
                <a:moveTo>
                  <a:pt x="72" y="17"/>
                </a:moveTo>
                <a:lnTo>
                  <a:pt x="108" y="33"/>
                </a:lnTo>
                <a:lnTo>
                  <a:pt x="0" y="123"/>
                </a:lnTo>
                <a:lnTo>
                  <a:pt x="36" y="0"/>
                </a:lnTo>
                <a:lnTo>
                  <a:pt x="7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8" name="Freeform 1073"/>
          <p:cNvSpPr>
            <a:spLocks/>
          </p:cNvSpPr>
          <p:nvPr/>
        </p:nvSpPr>
        <p:spPr bwMode="auto">
          <a:xfrm>
            <a:off x="8277225" y="2514600"/>
            <a:ext cx="285750" cy="311150"/>
          </a:xfrm>
          <a:custGeom>
            <a:avLst/>
            <a:gdLst>
              <a:gd name="T0" fmla="*/ 257175 w 180"/>
              <a:gd name="T1" fmla="*/ 311150 h 196"/>
              <a:gd name="T2" fmla="*/ 285750 w 180"/>
              <a:gd name="T3" fmla="*/ 298450 h 196"/>
              <a:gd name="T4" fmla="*/ 28575 w 180"/>
              <a:gd name="T5" fmla="*/ 0 h 196"/>
              <a:gd name="T6" fmla="*/ 28575 w 180"/>
              <a:gd name="T7" fmla="*/ 0 h 196"/>
              <a:gd name="T8" fmla="*/ 0 w 180"/>
              <a:gd name="T9" fmla="*/ 12700 h 196"/>
              <a:gd name="T10" fmla="*/ 0 w 180"/>
              <a:gd name="T11" fmla="*/ 12700 h 196"/>
              <a:gd name="T12" fmla="*/ 257175 w 180"/>
              <a:gd name="T13" fmla="*/ 31115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0"/>
              <a:gd name="T22" fmla="*/ 0 h 196"/>
              <a:gd name="T23" fmla="*/ 180 w 180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0" h="196">
                <a:moveTo>
                  <a:pt x="162" y="196"/>
                </a:moveTo>
                <a:lnTo>
                  <a:pt x="180" y="188"/>
                </a:lnTo>
                <a:lnTo>
                  <a:pt x="18" y="0"/>
                </a:lnTo>
                <a:lnTo>
                  <a:pt x="0" y="8"/>
                </a:lnTo>
                <a:lnTo>
                  <a:pt x="162" y="1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39" name="Freeform 1074"/>
          <p:cNvSpPr>
            <a:spLocks/>
          </p:cNvSpPr>
          <p:nvPr/>
        </p:nvSpPr>
        <p:spPr bwMode="auto">
          <a:xfrm>
            <a:off x="7991476" y="2228850"/>
            <a:ext cx="314325" cy="298450"/>
          </a:xfrm>
          <a:custGeom>
            <a:avLst/>
            <a:gdLst>
              <a:gd name="T0" fmla="*/ 285750 w 198"/>
              <a:gd name="T1" fmla="*/ 298450 h 188"/>
              <a:gd name="T2" fmla="*/ 314325 w 198"/>
              <a:gd name="T3" fmla="*/ 285750 h 188"/>
              <a:gd name="T4" fmla="*/ 28575 w 198"/>
              <a:gd name="T5" fmla="*/ 12700 h 188"/>
              <a:gd name="T6" fmla="*/ 28575 w 198"/>
              <a:gd name="T7" fmla="*/ 0 h 188"/>
              <a:gd name="T8" fmla="*/ 14288 w 198"/>
              <a:gd name="T9" fmla="*/ 25400 h 188"/>
              <a:gd name="T10" fmla="*/ 0 w 198"/>
              <a:gd name="T11" fmla="*/ 25400 h 188"/>
              <a:gd name="T12" fmla="*/ 285750 w 198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188"/>
              <a:gd name="T23" fmla="*/ 198 w 198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188">
                <a:moveTo>
                  <a:pt x="180" y="188"/>
                </a:moveTo>
                <a:lnTo>
                  <a:pt x="198" y="180"/>
                </a:lnTo>
                <a:lnTo>
                  <a:pt x="18" y="8"/>
                </a:lnTo>
                <a:lnTo>
                  <a:pt x="18" y="0"/>
                </a:lnTo>
                <a:lnTo>
                  <a:pt x="9" y="16"/>
                </a:lnTo>
                <a:lnTo>
                  <a:pt x="0" y="16"/>
                </a:lnTo>
                <a:lnTo>
                  <a:pt x="180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0" name="Freeform 1075"/>
          <p:cNvSpPr>
            <a:spLocks/>
          </p:cNvSpPr>
          <p:nvPr/>
        </p:nvSpPr>
        <p:spPr bwMode="auto">
          <a:xfrm>
            <a:off x="7677150" y="2020888"/>
            <a:ext cx="342900" cy="233362"/>
          </a:xfrm>
          <a:custGeom>
            <a:avLst/>
            <a:gdLst>
              <a:gd name="T0" fmla="*/ 328613 w 216"/>
              <a:gd name="T1" fmla="*/ 233362 h 147"/>
              <a:gd name="T2" fmla="*/ 342900 w 216"/>
              <a:gd name="T3" fmla="*/ 207962 h 147"/>
              <a:gd name="T4" fmla="*/ 14288 w 216"/>
              <a:gd name="T5" fmla="*/ 0 h 147"/>
              <a:gd name="T6" fmla="*/ 14288 w 216"/>
              <a:gd name="T7" fmla="*/ 0 h 147"/>
              <a:gd name="T8" fmla="*/ 0 w 216"/>
              <a:gd name="T9" fmla="*/ 26987 h 147"/>
              <a:gd name="T10" fmla="*/ 0 w 216"/>
              <a:gd name="T11" fmla="*/ 26987 h 147"/>
              <a:gd name="T12" fmla="*/ 328613 w 216"/>
              <a:gd name="T13" fmla="*/ 233362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47"/>
              <a:gd name="T23" fmla="*/ 216 w 21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47">
                <a:moveTo>
                  <a:pt x="207" y="147"/>
                </a:moveTo>
                <a:lnTo>
                  <a:pt x="216" y="131"/>
                </a:lnTo>
                <a:lnTo>
                  <a:pt x="9" y="0"/>
                </a:lnTo>
                <a:lnTo>
                  <a:pt x="0" y="17"/>
                </a:lnTo>
                <a:lnTo>
                  <a:pt x="207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1" name="Freeform 1076"/>
          <p:cNvSpPr>
            <a:spLocks/>
          </p:cNvSpPr>
          <p:nvPr/>
        </p:nvSpPr>
        <p:spPr bwMode="auto">
          <a:xfrm>
            <a:off x="7334250" y="1839913"/>
            <a:ext cx="357188" cy="207962"/>
          </a:xfrm>
          <a:custGeom>
            <a:avLst/>
            <a:gdLst>
              <a:gd name="T0" fmla="*/ 342900 w 225"/>
              <a:gd name="T1" fmla="*/ 207962 h 131"/>
              <a:gd name="T2" fmla="*/ 357188 w 225"/>
              <a:gd name="T3" fmla="*/ 180975 h 131"/>
              <a:gd name="T4" fmla="*/ 14288 w 225"/>
              <a:gd name="T5" fmla="*/ 0 h 131"/>
              <a:gd name="T6" fmla="*/ 14288 w 225"/>
              <a:gd name="T7" fmla="*/ 0 h 131"/>
              <a:gd name="T8" fmla="*/ 0 w 225"/>
              <a:gd name="T9" fmla="*/ 25400 h 131"/>
              <a:gd name="T10" fmla="*/ 0 w 225"/>
              <a:gd name="T11" fmla="*/ 25400 h 131"/>
              <a:gd name="T12" fmla="*/ 342900 w 225"/>
              <a:gd name="T13" fmla="*/ 207962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1"/>
              <a:gd name="T23" fmla="*/ 225 w 225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1">
                <a:moveTo>
                  <a:pt x="216" y="131"/>
                </a:moveTo>
                <a:lnTo>
                  <a:pt x="225" y="114"/>
                </a:lnTo>
                <a:lnTo>
                  <a:pt x="9" y="0"/>
                </a:lnTo>
                <a:lnTo>
                  <a:pt x="0" y="16"/>
                </a:lnTo>
                <a:lnTo>
                  <a:pt x="216" y="1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2" name="Freeform 1077"/>
          <p:cNvSpPr>
            <a:spLocks/>
          </p:cNvSpPr>
          <p:nvPr/>
        </p:nvSpPr>
        <p:spPr bwMode="auto">
          <a:xfrm>
            <a:off x="6948488" y="1724025"/>
            <a:ext cx="400050" cy="141288"/>
          </a:xfrm>
          <a:custGeom>
            <a:avLst/>
            <a:gdLst>
              <a:gd name="T0" fmla="*/ 385763 w 252"/>
              <a:gd name="T1" fmla="*/ 141288 h 89"/>
              <a:gd name="T2" fmla="*/ 400050 w 252"/>
              <a:gd name="T3" fmla="*/ 115888 h 89"/>
              <a:gd name="T4" fmla="*/ 14288 w 252"/>
              <a:gd name="T5" fmla="*/ 0 h 89"/>
              <a:gd name="T6" fmla="*/ 0 w 252"/>
              <a:gd name="T7" fmla="*/ 0 h 89"/>
              <a:gd name="T8" fmla="*/ 0 w 252"/>
              <a:gd name="T9" fmla="*/ 25400 h 89"/>
              <a:gd name="T10" fmla="*/ 0 w 252"/>
              <a:gd name="T11" fmla="*/ 25400 h 89"/>
              <a:gd name="T12" fmla="*/ 385763 w 252"/>
              <a:gd name="T13" fmla="*/ 141288 h 8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2"/>
              <a:gd name="T22" fmla="*/ 0 h 89"/>
              <a:gd name="T23" fmla="*/ 252 w 252"/>
              <a:gd name="T24" fmla="*/ 89 h 8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2" h="89">
                <a:moveTo>
                  <a:pt x="243" y="89"/>
                </a:moveTo>
                <a:lnTo>
                  <a:pt x="252" y="73"/>
                </a:lnTo>
                <a:lnTo>
                  <a:pt x="9" y="0"/>
                </a:lnTo>
                <a:lnTo>
                  <a:pt x="0" y="0"/>
                </a:lnTo>
                <a:lnTo>
                  <a:pt x="0" y="16"/>
                </a:lnTo>
                <a:lnTo>
                  <a:pt x="243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3" name="Freeform 1078"/>
          <p:cNvSpPr>
            <a:spLocks/>
          </p:cNvSpPr>
          <p:nvPr/>
        </p:nvSpPr>
        <p:spPr bwMode="auto">
          <a:xfrm>
            <a:off x="6534150" y="1646239"/>
            <a:ext cx="414338" cy="103187"/>
          </a:xfrm>
          <a:custGeom>
            <a:avLst/>
            <a:gdLst>
              <a:gd name="T0" fmla="*/ 414338 w 261"/>
              <a:gd name="T1" fmla="*/ 103187 h 65"/>
              <a:gd name="T2" fmla="*/ 414338 w 261"/>
              <a:gd name="T3" fmla="*/ 77787 h 65"/>
              <a:gd name="T4" fmla="*/ 0 w 261"/>
              <a:gd name="T5" fmla="*/ 0 h 65"/>
              <a:gd name="T6" fmla="*/ 0 w 261"/>
              <a:gd name="T7" fmla="*/ 0 h 65"/>
              <a:gd name="T8" fmla="*/ 0 w 261"/>
              <a:gd name="T9" fmla="*/ 25400 h 65"/>
              <a:gd name="T10" fmla="*/ 0 w 261"/>
              <a:gd name="T11" fmla="*/ 25400 h 65"/>
              <a:gd name="T12" fmla="*/ 414338 w 261"/>
              <a:gd name="T13" fmla="*/ 103187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1"/>
              <a:gd name="T22" fmla="*/ 0 h 65"/>
              <a:gd name="T23" fmla="*/ 261 w 261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1" h="65">
                <a:moveTo>
                  <a:pt x="261" y="65"/>
                </a:moveTo>
                <a:lnTo>
                  <a:pt x="261" y="49"/>
                </a:lnTo>
                <a:lnTo>
                  <a:pt x="0" y="0"/>
                </a:lnTo>
                <a:lnTo>
                  <a:pt x="0" y="16"/>
                </a:lnTo>
                <a:lnTo>
                  <a:pt x="261" y="6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4" name="Freeform 1079"/>
          <p:cNvSpPr>
            <a:spLocks/>
          </p:cNvSpPr>
          <p:nvPr/>
        </p:nvSpPr>
        <p:spPr bwMode="auto">
          <a:xfrm>
            <a:off x="6091238" y="1631950"/>
            <a:ext cx="442912" cy="39688"/>
          </a:xfrm>
          <a:custGeom>
            <a:avLst/>
            <a:gdLst>
              <a:gd name="T0" fmla="*/ 442912 w 279"/>
              <a:gd name="T1" fmla="*/ 39688 h 25"/>
              <a:gd name="T2" fmla="*/ 442912 w 279"/>
              <a:gd name="T3" fmla="*/ 14288 h 25"/>
              <a:gd name="T4" fmla="*/ 0 w 279"/>
              <a:gd name="T5" fmla="*/ 0 h 25"/>
              <a:gd name="T6" fmla="*/ 0 w 279"/>
              <a:gd name="T7" fmla="*/ 0 h 25"/>
              <a:gd name="T8" fmla="*/ 0 w 279"/>
              <a:gd name="T9" fmla="*/ 26988 h 25"/>
              <a:gd name="T10" fmla="*/ 0 w 279"/>
              <a:gd name="T11" fmla="*/ 26988 h 25"/>
              <a:gd name="T12" fmla="*/ 442912 w 279"/>
              <a:gd name="T13" fmla="*/ 39688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9"/>
              <a:gd name="T22" fmla="*/ 0 h 25"/>
              <a:gd name="T23" fmla="*/ 279 w 279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9" h="25">
                <a:moveTo>
                  <a:pt x="279" y="25"/>
                </a:moveTo>
                <a:lnTo>
                  <a:pt x="279" y="9"/>
                </a:lnTo>
                <a:lnTo>
                  <a:pt x="0" y="0"/>
                </a:lnTo>
                <a:lnTo>
                  <a:pt x="0" y="17"/>
                </a:lnTo>
                <a:lnTo>
                  <a:pt x="279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5" name="Freeform 1080"/>
          <p:cNvSpPr>
            <a:spLocks/>
          </p:cNvSpPr>
          <p:nvPr/>
        </p:nvSpPr>
        <p:spPr bwMode="auto">
          <a:xfrm>
            <a:off x="5634038" y="1631950"/>
            <a:ext cx="457200" cy="65088"/>
          </a:xfrm>
          <a:custGeom>
            <a:avLst/>
            <a:gdLst>
              <a:gd name="T0" fmla="*/ 457200 w 288"/>
              <a:gd name="T1" fmla="*/ 26988 h 41"/>
              <a:gd name="T2" fmla="*/ 457200 w 288"/>
              <a:gd name="T3" fmla="*/ 0 h 41"/>
              <a:gd name="T4" fmla="*/ 0 w 288"/>
              <a:gd name="T5" fmla="*/ 39688 h 41"/>
              <a:gd name="T6" fmla="*/ 0 w 288"/>
              <a:gd name="T7" fmla="*/ 39688 h 41"/>
              <a:gd name="T8" fmla="*/ 0 w 288"/>
              <a:gd name="T9" fmla="*/ 65088 h 41"/>
              <a:gd name="T10" fmla="*/ 0 w 288"/>
              <a:gd name="T11" fmla="*/ 65088 h 41"/>
              <a:gd name="T12" fmla="*/ 457200 w 288"/>
              <a:gd name="T13" fmla="*/ 269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"/>
              <a:gd name="T22" fmla="*/ 0 h 41"/>
              <a:gd name="T23" fmla="*/ 288 w 288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" h="41">
                <a:moveTo>
                  <a:pt x="288" y="17"/>
                </a:moveTo>
                <a:lnTo>
                  <a:pt x="288" y="0"/>
                </a:lnTo>
                <a:lnTo>
                  <a:pt x="0" y="25"/>
                </a:lnTo>
                <a:lnTo>
                  <a:pt x="0" y="41"/>
                </a:lnTo>
                <a:lnTo>
                  <a:pt x="288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6" name="Freeform 1081"/>
          <p:cNvSpPr>
            <a:spLocks/>
          </p:cNvSpPr>
          <p:nvPr/>
        </p:nvSpPr>
        <p:spPr bwMode="auto">
          <a:xfrm>
            <a:off x="5162550" y="1671639"/>
            <a:ext cx="471488" cy="103187"/>
          </a:xfrm>
          <a:custGeom>
            <a:avLst/>
            <a:gdLst>
              <a:gd name="T0" fmla="*/ 471488 w 297"/>
              <a:gd name="T1" fmla="*/ 25400 h 65"/>
              <a:gd name="T2" fmla="*/ 471488 w 297"/>
              <a:gd name="T3" fmla="*/ 0 h 65"/>
              <a:gd name="T4" fmla="*/ 0 w 297"/>
              <a:gd name="T5" fmla="*/ 77787 h 65"/>
              <a:gd name="T6" fmla="*/ 0 w 297"/>
              <a:gd name="T7" fmla="*/ 77787 h 65"/>
              <a:gd name="T8" fmla="*/ 14288 w 297"/>
              <a:gd name="T9" fmla="*/ 103187 h 65"/>
              <a:gd name="T10" fmla="*/ 0 w 297"/>
              <a:gd name="T11" fmla="*/ 103187 h 65"/>
              <a:gd name="T12" fmla="*/ 471488 w 297"/>
              <a:gd name="T13" fmla="*/ 25400 h 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65"/>
              <a:gd name="T23" fmla="*/ 297 w 297"/>
              <a:gd name="T24" fmla="*/ 65 h 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65">
                <a:moveTo>
                  <a:pt x="297" y="16"/>
                </a:moveTo>
                <a:lnTo>
                  <a:pt x="297" y="0"/>
                </a:lnTo>
                <a:lnTo>
                  <a:pt x="0" y="49"/>
                </a:lnTo>
                <a:lnTo>
                  <a:pt x="9" y="65"/>
                </a:lnTo>
                <a:lnTo>
                  <a:pt x="0" y="65"/>
                </a:lnTo>
                <a:lnTo>
                  <a:pt x="297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7" name="Freeform 1082"/>
          <p:cNvSpPr>
            <a:spLocks/>
          </p:cNvSpPr>
          <p:nvPr/>
        </p:nvSpPr>
        <p:spPr bwMode="auto">
          <a:xfrm>
            <a:off x="4748214" y="1749426"/>
            <a:ext cx="428625" cy="130175"/>
          </a:xfrm>
          <a:custGeom>
            <a:avLst/>
            <a:gdLst>
              <a:gd name="T0" fmla="*/ 428625 w 270"/>
              <a:gd name="T1" fmla="*/ 25400 h 82"/>
              <a:gd name="T2" fmla="*/ 414338 w 270"/>
              <a:gd name="T3" fmla="*/ 0 h 82"/>
              <a:gd name="T4" fmla="*/ 0 w 270"/>
              <a:gd name="T5" fmla="*/ 103188 h 82"/>
              <a:gd name="T6" fmla="*/ 0 w 270"/>
              <a:gd name="T7" fmla="*/ 103188 h 82"/>
              <a:gd name="T8" fmla="*/ 14288 w 270"/>
              <a:gd name="T9" fmla="*/ 130175 h 82"/>
              <a:gd name="T10" fmla="*/ 14288 w 270"/>
              <a:gd name="T11" fmla="*/ 130175 h 82"/>
              <a:gd name="T12" fmla="*/ 428625 w 270"/>
              <a:gd name="T13" fmla="*/ 2540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0"/>
              <a:gd name="T22" fmla="*/ 0 h 82"/>
              <a:gd name="T23" fmla="*/ 270 w 270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0" h="82">
                <a:moveTo>
                  <a:pt x="270" y="16"/>
                </a:moveTo>
                <a:lnTo>
                  <a:pt x="261" y="0"/>
                </a:lnTo>
                <a:lnTo>
                  <a:pt x="0" y="65"/>
                </a:lnTo>
                <a:lnTo>
                  <a:pt x="9" y="82"/>
                </a:lnTo>
                <a:lnTo>
                  <a:pt x="27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8" name="Freeform 1083"/>
          <p:cNvSpPr>
            <a:spLocks/>
          </p:cNvSpPr>
          <p:nvPr/>
        </p:nvSpPr>
        <p:spPr bwMode="auto">
          <a:xfrm>
            <a:off x="4376738" y="1852614"/>
            <a:ext cx="385762" cy="168275"/>
          </a:xfrm>
          <a:custGeom>
            <a:avLst/>
            <a:gdLst>
              <a:gd name="T0" fmla="*/ 385762 w 243"/>
              <a:gd name="T1" fmla="*/ 26988 h 106"/>
              <a:gd name="T2" fmla="*/ 371475 w 243"/>
              <a:gd name="T3" fmla="*/ 0 h 106"/>
              <a:gd name="T4" fmla="*/ 0 w 243"/>
              <a:gd name="T5" fmla="*/ 142875 h 106"/>
              <a:gd name="T6" fmla="*/ 0 w 243"/>
              <a:gd name="T7" fmla="*/ 142875 h 106"/>
              <a:gd name="T8" fmla="*/ 14287 w 243"/>
              <a:gd name="T9" fmla="*/ 168275 h 106"/>
              <a:gd name="T10" fmla="*/ 14287 w 243"/>
              <a:gd name="T11" fmla="*/ 168275 h 106"/>
              <a:gd name="T12" fmla="*/ 385762 w 243"/>
              <a:gd name="T13" fmla="*/ 26988 h 1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06"/>
              <a:gd name="T23" fmla="*/ 243 w 243"/>
              <a:gd name="T24" fmla="*/ 106 h 1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06">
                <a:moveTo>
                  <a:pt x="243" y="17"/>
                </a:moveTo>
                <a:lnTo>
                  <a:pt x="234" y="0"/>
                </a:lnTo>
                <a:lnTo>
                  <a:pt x="0" y="90"/>
                </a:lnTo>
                <a:lnTo>
                  <a:pt x="9" y="106"/>
                </a:lnTo>
                <a:lnTo>
                  <a:pt x="243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49" name="Freeform 1084"/>
          <p:cNvSpPr>
            <a:spLocks/>
          </p:cNvSpPr>
          <p:nvPr/>
        </p:nvSpPr>
        <p:spPr bwMode="auto">
          <a:xfrm>
            <a:off x="4048125" y="1995488"/>
            <a:ext cx="342900" cy="195262"/>
          </a:xfrm>
          <a:custGeom>
            <a:avLst/>
            <a:gdLst>
              <a:gd name="T0" fmla="*/ 342900 w 216"/>
              <a:gd name="T1" fmla="*/ 25400 h 123"/>
              <a:gd name="T2" fmla="*/ 328613 w 216"/>
              <a:gd name="T3" fmla="*/ 0 h 123"/>
              <a:gd name="T4" fmla="*/ 0 w 216"/>
              <a:gd name="T5" fmla="*/ 168275 h 123"/>
              <a:gd name="T6" fmla="*/ 0 w 216"/>
              <a:gd name="T7" fmla="*/ 168275 h 123"/>
              <a:gd name="T8" fmla="*/ 14288 w 216"/>
              <a:gd name="T9" fmla="*/ 195262 h 123"/>
              <a:gd name="T10" fmla="*/ 14288 w 216"/>
              <a:gd name="T11" fmla="*/ 195262 h 123"/>
              <a:gd name="T12" fmla="*/ 342900 w 216"/>
              <a:gd name="T13" fmla="*/ 254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23"/>
              <a:gd name="T23" fmla="*/ 216 w 216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23">
                <a:moveTo>
                  <a:pt x="216" y="16"/>
                </a:moveTo>
                <a:lnTo>
                  <a:pt x="207" y="0"/>
                </a:lnTo>
                <a:lnTo>
                  <a:pt x="0" y="106"/>
                </a:lnTo>
                <a:lnTo>
                  <a:pt x="9" y="123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0" name="Freeform 1085"/>
          <p:cNvSpPr>
            <a:spLocks/>
          </p:cNvSpPr>
          <p:nvPr/>
        </p:nvSpPr>
        <p:spPr bwMode="auto">
          <a:xfrm>
            <a:off x="3762375" y="2163763"/>
            <a:ext cx="300038" cy="233362"/>
          </a:xfrm>
          <a:custGeom>
            <a:avLst/>
            <a:gdLst>
              <a:gd name="T0" fmla="*/ 300038 w 189"/>
              <a:gd name="T1" fmla="*/ 26987 h 147"/>
              <a:gd name="T2" fmla="*/ 285750 w 189"/>
              <a:gd name="T3" fmla="*/ 0 h 147"/>
              <a:gd name="T4" fmla="*/ 0 w 189"/>
              <a:gd name="T5" fmla="*/ 207962 h 147"/>
              <a:gd name="T6" fmla="*/ 0 w 189"/>
              <a:gd name="T7" fmla="*/ 207962 h 147"/>
              <a:gd name="T8" fmla="*/ 14288 w 189"/>
              <a:gd name="T9" fmla="*/ 233362 h 147"/>
              <a:gd name="T10" fmla="*/ 14288 w 189"/>
              <a:gd name="T11" fmla="*/ 233362 h 147"/>
              <a:gd name="T12" fmla="*/ 300038 w 189"/>
              <a:gd name="T13" fmla="*/ 26987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47"/>
              <a:gd name="T23" fmla="*/ 189 w 189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47">
                <a:moveTo>
                  <a:pt x="189" y="17"/>
                </a:moveTo>
                <a:lnTo>
                  <a:pt x="180" y="0"/>
                </a:lnTo>
                <a:lnTo>
                  <a:pt x="0" y="131"/>
                </a:lnTo>
                <a:lnTo>
                  <a:pt x="9" y="147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1" name="Freeform 1086"/>
          <p:cNvSpPr>
            <a:spLocks/>
          </p:cNvSpPr>
          <p:nvPr/>
        </p:nvSpPr>
        <p:spPr bwMode="auto">
          <a:xfrm>
            <a:off x="3476625" y="2371726"/>
            <a:ext cx="300038" cy="258763"/>
          </a:xfrm>
          <a:custGeom>
            <a:avLst/>
            <a:gdLst>
              <a:gd name="T0" fmla="*/ 300038 w 189"/>
              <a:gd name="T1" fmla="*/ 25400 h 163"/>
              <a:gd name="T2" fmla="*/ 285750 w 189"/>
              <a:gd name="T3" fmla="*/ 0 h 163"/>
              <a:gd name="T4" fmla="*/ 14288 w 189"/>
              <a:gd name="T5" fmla="*/ 233363 h 163"/>
              <a:gd name="T6" fmla="*/ 0 w 189"/>
              <a:gd name="T7" fmla="*/ 246063 h 163"/>
              <a:gd name="T8" fmla="*/ 28575 w 189"/>
              <a:gd name="T9" fmla="*/ 258763 h 163"/>
              <a:gd name="T10" fmla="*/ 28575 w 189"/>
              <a:gd name="T11" fmla="*/ 258763 h 163"/>
              <a:gd name="T12" fmla="*/ 300038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9" y="147"/>
                </a:lnTo>
                <a:lnTo>
                  <a:pt x="0" y="155"/>
                </a:lnTo>
                <a:lnTo>
                  <a:pt x="18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2" name="Freeform 1087"/>
          <p:cNvSpPr>
            <a:spLocks/>
          </p:cNvSpPr>
          <p:nvPr/>
        </p:nvSpPr>
        <p:spPr bwMode="auto">
          <a:xfrm>
            <a:off x="3248026" y="2617788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58763 h 172"/>
              <a:gd name="T6" fmla="*/ 0 w 162"/>
              <a:gd name="T7" fmla="*/ 2587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3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3" name="Freeform 1088"/>
          <p:cNvSpPr>
            <a:spLocks/>
          </p:cNvSpPr>
          <p:nvPr/>
        </p:nvSpPr>
        <p:spPr bwMode="auto">
          <a:xfrm>
            <a:off x="3033714" y="2876550"/>
            <a:ext cx="242887" cy="312738"/>
          </a:xfrm>
          <a:custGeom>
            <a:avLst/>
            <a:gdLst>
              <a:gd name="T0" fmla="*/ 242887 w 153"/>
              <a:gd name="T1" fmla="*/ 14288 h 197"/>
              <a:gd name="T2" fmla="*/ 214312 w 153"/>
              <a:gd name="T3" fmla="*/ 0 h 197"/>
              <a:gd name="T4" fmla="*/ 0 w 153"/>
              <a:gd name="T5" fmla="*/ 298450 h 197"/>
              <a:gd name="T6" fmla="*/ 28575 w 153"/>
              <a:gd name="T7" fmla="*/ 312738 h 197"/>
              <a:gd name="T8" fmla="*/ 242887 w 153"/>
              <a:gd name="T9" fmla="*/ 14288 h 1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97"/>
              <a:gd name="T17" fmla="*/ 153 w 153"/>
              <a:gd name="T18" fmla="*/ 197 h 1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97">
                <a:moveTo>
                  <a:pt x="153" y="9"/>
                </a:moveTo>
                <a:lnTo>
                  <a:pt x="135" y="0"/>
                </a:lnTo>
                <a:lnTo>
                  <a:pt x="0" y="188"/>
                </a:lnTo>
                <a:lnTo>
                  <a:pt x="18" y="197"/>
                </a:lnTo>
                <a:lnTo>
                  <a:pt x="153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4" name="Freeform 1089"/>
          <p:cNvSpPr>
            <a:spLocks/>
          </p:cNvSpPr>
          <p:nvPr/>
        </p:nvSpPr>
        <p:spPr bwMode="auto">
          <a:xfrm>
            <a:off x="9063039" y="2138363"/>
            <a:ext cx="28575" cy="25400"/>
          </a:xfrm>
          <a:custGeom>
            <a:avLst/>
            <a:gdLst>
              <a:gd name="T0" fmla="*/ 14288 w 18"/>
              <a:gd name="T1" fmla="*/ 0 h 16"/>
              <a:gd name="T2" fmla="*/ 14288 w 18"/>
              <a:gd name="T3" fmla="*/ 0 h 16"/>
              <a:gd name="T4" fmla="*/ 0 w 18"/>
              <a:gd name="T5" fmla="*/ 12700 h 16"/>
              <a:gd name="T6" fmla="*/ 14288 w 18"/>
              <a:gd name="T7" fmla="*/ 12700 h 16"/>
              <a:gd name="T8" fmla="*/ 14288 w 18"/>
              <a:gd name="T9" fmla="*/ 25400 h 16"/>
              <a:gd name="T10" fmla="*/ 28575 w 18"/>
              <a:gd name="T11" fmla="*/ 12700 h 16"/>
              <a:gd name="T12" fmla="*/ 28575 w 18"/>
              <a:gd name="T13" fmla="*/ 12700 h 16"/>
              <a:gd name="T14" fmla="*/ 28575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9" y="0"/>
                </a:lnTo>
                <a:lnTo>
                  <a:pt x="0" y="8"/>
                </a:lnTo>
                <a:lnTo>
                  <a:pt x="9" y="8"/>
                </a:lnTo>
                <a:lnTo>
                  <a:pt x="9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5" name="Freeform 1090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6" name="Freeform 1091"/>
          <p:cNvSpPr>
            <a:spLocks/>
          </p:cNvSpPr>
          <p:nvPr/>
        </p:nvSpPr>
        <p:spPr bwMode="auto">
          <a:xfrm>
            <a:off x="9020175" y="1943101"/>
            <a:ext cx="128588" cy="195263"/>
          </a:xfrm>
          <a:custGeom>
            <a:avLst/>
            <a:gdLst>
              <a:gd name="T0" fmla="*/ 57150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57150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36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7" name="Freeform 1092"/>
          <p:cNvSpPr>
            <a:spLocks/>
          </p:cNvSpPr>
          <p:nvPr/>
        </p:nvSpPr>
        <p:spPr bwMode="auto">
          <a:xfrm>
            <a:off x="8620126" y="2695576"/>
            <a:ext cx="200025" cy="180975"/>
          </a:xfrm>
          <a:custGeom>
            <a:avLst/>
            <a:gdLst>
              <a:gd name="T0" fmla="*/ 0 w 126"/>
              <a:gd name="T1" fmla="*/ 168275 h 114"/>
              <a:gd name="T2" fmla="*/ 28575 w 126"/>
              <a:gd name="T3" fmla="*/ 180975 h 114"/>
              <a:gd name="T4" fmla="*/ 200025 w 126"/>
              <a:gd name="T5" fmla="*/ 12700 h 114"/>
              <a:gd name="T6" fmla="*/ 200025 w 126"/>
              <a:gd name="T7" fmla="*/ 12700 h 114"/>
              <a:gd name="T8" fmla="*/ 171450 w 126"/>
              <a:gd name="T9" fmla="*/ 0 h 114"/>
              <a:gd name="T10" fmla="*/ 171450 w 126"/>
              <a:gd name="T11" fmla="*/ 0 h 114"/>
              <a:gd name="T12" fmla="*/ 0 w 126"/>
              <a:gd name="T13" fmla="*/ 168275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14"/>
              <a:gd name="T23" fmla="*/ 126 w 126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14">
                <a:moveTo>
                  <a:pt x="0" y="106"/>
                </a:moveTo>
                <a:lnTo>
                  <a:pt x="18" y="114"/>
                </a:lnTo>
                <a:lnTo>
                  <a:pt x="126" y="8"/>
                </a:lnTo>
                <a:lnTo>
                  <a:pt x="10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8" name="Freeform 1093"/>
          <p:cNvSpPr>
            <a:spLocks/>
          </p:cNvSpPr>
          <p:nvPr/>
        </p:nvSpPr>
        <p:spPr bwMode="auto">
          <a:xfrm>
            <a:off x="8791575" y="2514601"/>
            <a:ext cx="171450" cy="193675"/>
          </a:xfrm>
          <a:custGeom>
            <a:avLst/>
            <a:gdLst>
              <a:gd name="T0" fmla="*/ 0 w 108"/>
              <a:gd name="T1" fmla="*/ 180975 h 122"/>
              <a:gd name="T2" fmla="*/ 28575 w 108"/>
              <a:gd name="T3" fmla="*/ 193675 h 122"/>
              <a:gd name="T4" fmla="*/ 171450 w 108"/>
              <a:gd name="T5" fmla="*/ 12700 h 122"/>
              <a:gd name="T6" fmla="*/ 171450 w 108"/>
              <a:gd name="T7" fmla="*/ 12700 h 122"/>
              <a:gd name="T8" fmla="*/ 142875 w 108"/>
              <a:gd name="T9" fmla="*/ 0 h 122"/>
              <a:gd name="T10" fmla="*/ 142875 w 108"/>
              <a:gd name="T11" fmla="*/ 0 h 122"/>
              <a:gd name="T12" fmla="*/ 0 w 108"/>
              <a:gd name="T13" fmla="*/ 180975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22"/>
              <a:gd name="T23" fmla="*/ 108 w 108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22">
                <a:moveTo>
                  <a:pt x="0" y="114"/>
                </a:moveTo>
                <a:lnTo>
                  <a:pt x="18" y="122"/>
                </a:lnTo>
                <a:lnTo>
                  <a:pt x="108" y="8"/>
                </a:lnTo>
                <a:lnTo>
                  <a:pt x="90" y="0"/>
                </a:lnTo>
                <a:lnTo>
                  <a:pt x="0" y="1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59" name="Freeform 1094"/>
          <p:cNvSpPr>
            <a:spLocks/>
          </p:cNvSpPr>
          <p:nvPr/>
        </p:nvSpPr>
        <p:spPr bwMode="auto">
          <a:xfrm>
            <a:off x="8934450" y="2332038"/>
            <a:ext cx="128588" cy="195262"/>
          </a:xfrm>
          <a:custGeom>
            <a:avLst/>
            <a:gdLst>
              <a:gd name="T0" fmla="*/ 0 w 81"/>
              <a:gd name="T1" fmla="*/ 182562 h 123"/>
              <a:gd name="T2" fmla="*/ 28575 w 81"/>
              <a:gd name="T3" fmla="*/ 195262 h 123"/>
              <a:gd name="T4" fmla="*/ 128588 w 81"/>
              <a:gd name="T5" fmla="*/ 14287 h 123"/>
              <a:gd name="T6" fmla="*/ 128588 w 81"/>
              <a:gd name="T7" fmla="*/ 0 h 123"/>
              <a:gd name="T8" fmla="*/ 100013 w 81"/>
              <a:gd name="T9" fmla="*/ 0 h 123"/>
              <a:gd name="T10" fmla="*/ 100013 w 81"/>
              <a:gd name="T11" fmla="*/ 0 h 123"/>
              <a:gd name="T12" fmla="*/ 0 w 81"/>
              <a:gd name="T13" fmla="*/ 182562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23"/>
              <a:gd name="T23" fmla="*/ 81 w 8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23">
                <a:moveTo>
                  <a:pt x="0" y="115"/>
                </a:moveTo>
                <a:lnTo>
                  <a:pt x="18" y="123"/>
                </a:lnTo>
                <a:lnTo>
                  <a:pt x="81" y="9"/>
                </a:lnTo>
                <a:lnTo>
                  <a:pt x="81" y="0"/>
                </a:lnTo>
                <a:lnTo>
                  <a:pt x="63" y="0"/>
                </a:lnTo>
                <a:lnTo>
                  <a:pt x="0" y="1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0" name="Freeform 1095"/>
          <p:cNvSpPr>
            <a:spLocks/>
          </p:cNvSpPr>
          <p:nvPr/>
        </p:nvSpPr>
        <p:spPr bwMode="auto">
          <a:xfrm>
            <a:off x="9034463" y="2138364"/>
            <a:ext cx="57150" cy="193675"/>
          </a:xfrm>
          <a:custGeom>
            <a:avLst/>
            <a:gdLst>
              <a:gd name="T0" fmla="*/ 0 w 36"/>
              <a:gd name="T1" fmla="*/ 193675 h 122"/>
              <a:gd name="T2" fmla="*/ 28575 w 36"/>
              <a:gd name="T3" fmla="*/ 193675 h 122"/>
              <a:gd name="T4" fmla="*/ 57150 w 36"/>
              <a:gd name="T5" fmla="*/ 0 h 122"/>
              <a:gd name="T6" fmla="*/ 28575 w 36"/>
              <a:gd name="T7" fmla="*/ 0 h 122"/>
              <a:gd name="T8" fmla="*/ 0 w 36"/>
              <a:gd name="T9" fmla="*/ 193675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22"/>
              <a:gd name="T17" fmla="*/ 36 w 36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22">
                <a:moveTo>
                  <a:pt x="0" y="122"/>
                </a:moveTo>
                <a:lnTo>
                  <a:pt x="18" y="122"/>
                </a:lnTo>
                <a:lnTo>
                  <a:pt x="36" y="0"/>
                </a:lnTo>
                <a:lnTo>
                  <a:pt x="18" y="0"/>
                </a:lnTo>
                <a:lnTo>
                  <a:pt x="0" y="12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1" name="Freeform 1096"/>
          <p:cNvSpPr>
            <a:spLocks/>
          </p:cNvSpPr>
          <p:nvPr/>
        </p:nvSpPr>
        <p:spPr bwMode="auto">
          <a:xfrm>
            <a:off x="8534401" y="2359025"/>
            <a:ext cx="28575" cy="25400"/>
          </a:xfrm>
          <a:custGeom>
            <a:avLst/>
            <a:gdLst>
              <a:gd name="T0" fmla="*/ 14288 w 18"/>
              <a:gd name="T1" fmla="*/ 25400 h 16"/>
              <a:gd name="T2" fmla="*/ 28575 w 18"/>
              <a:gd name="T3" fmla="*/ 25400 h 16"/>
              <a:gd name="T4" fmla="*/ 28575 w 18"/>
              <a:gd name="T5" fmla="*/ 12700 h 16"/>
              <a:gd name="T6" fmla="*/ 28575 w 18"/>
              <a:gd name="T7" fmla="*/ 0 h 16"/>
              <a:gd name="T8" fmla="*/ 14288 w 18"/>
              <a:gd name="T9" fmla="*/ 0 h 16"/>
              <a:gd name="T10" fmla="*/ 14288 w 18"/>
              <a:gd name="T11" fmla="*/ 0 h 16"/>
              <a:gd name="T12" fmla="*/ 0 w 18"/>
              <a:gd name="T13" fmla="*/ 12700 h 16"/>
              <a:gd name="T14" fmla="*/ 14288 w 18"/>
              <a:gd name="T15" fmla="*/ 25400 h 16"/>
              <a:gd name="T16" fmla="*/ 14288 w 18"/>
              <a:gd name="T17" fmla="*/ 25400 h 16"/>
              <a:gd name="T18" fmla="*/ 14288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16"/>
                </a:moveTo>
                <a:lnTo>
                  <a:pt x="18" y="16"/>
                </a:lnTo>
                <a:lnTo>
                  <a:pt x="18" y="8"/>
                </a:lnTo>
                <a:lnTo>
                  <a:pt x="18" y="0"/>
                </a:lnTo>
                <a:lnTo>
                  <a:pt x="9" y="0"/>
                </a:lnTo>
                <a:lnTo>
                  <a:pt x="0" y="8"/>
                </a:lnTo>
                <a:lnTo>
                  <a:pt x="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2" name="Freeform 1097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3" name="Freeform 1098"/>
          <p:cNvSpPr>
            <a:spLocks/>
          </p:cNvSpPr>
          <p:nvPr/>
        </p:nvSpPr>
        <p:spPr bwMode="auto">
          <a:xfrm>
            <a:off x="8491539" y="2384426"/>
            <a:ext cx="128587" cy="195263"/>
          </a:xfrm>
          <a:custGeom>
            <a:avLst/>
            <a:gdLst>
              <a:gd name="T0" fmla="*/ 57150 w 81"/>
              <a:gd name="T1" fmla="*/ 0 h 123"/>
              <a:gd name="T2" fmla="*/ 128587 w 81"/>
              <a:gd name="T3" fmla="*/ 0 h 123"/>
              <a:gd name="T4" fmla="*/ 57150 w 81"/>
              <a:gd name="T5" fmla="*/ 195263 h 123"/>
              <a:gd name="T6" fmla="*/ 0 w 81"/>
              <a:gd name="T7" fmla="*/ 0 h 123"/>
              <a:gd name="T8" fmla="*/ 57150 w 81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36" y="0"/>
                </a:moveTo>
                <a:lnTo>
                  <a:pt x="81" y="0"/>
                </a:lnTo>
                <a:lnTo>
                  <a:pt x="36" y="123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4" name="Freeform 1099"/>
          <p:cNvSpPr>
            <a:spLocks/>
          </p:cNvSpPr>
          <p:nvPr/>
        </p:nvSpPr>
        <p:spPr bwMode="auto">
          <a:xfrm>
            <a:off x="8805863" y="1646239"/>
            <a:ext cx="214312" cy="193675"/>
          </a:xfrm>
          <a:custGeom>
            <a:avLst/>
            <a:gdLst>
              <a:gd name="T0" fmla="*/ 214312 w 135"/>
              <a:gd name="T1" fmla="*/ 12700 h 122"/>
              <a:gd name="T2" fmla="*/ 185737 w 135"/>
              <a:gd name="T3" fmla="*/ 0 h 122"/>
              <a:gd name="T4" fmla="*/ 0 w 135"/>
              <a:gd name="T5" fmla="*/ 180975 h 122"/>
              <a:gd name="T6" fmla="*/ 0 w 135"/>
              <a:gd name="T7" fmla="*/ 180975 h 122"/>
              <a:gd name="T8" fmla="*/ 28575 w 135"/>
              <a:gd name="T9" fmla="*/ 193675 h 122"/>
              <a:gd name="T10" fmla="*/ 28575 w 135"/>
              <a:gd name="T11" fmla="*/ 193675 h 122"/>
              <a:gd name="T12" fmla="*/ 214312 w 135"/>
              <a:gd name="T13" fmla="*/ 12700 h 1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22"/>
              <a:gd name="T23" fmla="*/ 135 w 135"/>
              <a:gd name="T24" fmla="*/ 122 h 1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22">
                <a:moveTo>
                  <a:pt x="135" y="8"/>
                </a:moveTo>
                <a:lnTo>
                  <a:pt x="117" y="0"/>
                </a:lnTo>
                <a:lnTo>
                  <a:pt x="0" y="114"/>
                </a:lnTo>
                <a:lnTo>
                  <a:pt x="18" y="122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5" name="Freeform 1100"/>
          <p:cNvSpPr>
            <a:spLocks/>
          </p:cNvSpPr>
          <p:nvPr/>
        </p:nvSpPr>
        <p:spPr bwMode="auto">
          <a:xfrm>
            <a:off x="8662988" y="1827214"/>
            <a:ext cx="171450" cy="180975"/>
          </a:xfrm>
          <a:custGeom>
            <a:avLst/>
            <a:gdLst>
              <a:gd name="T0" fmla="*/ 171450 w 108"/>
              <a:gd name="T1" fmla="*/ 12700 h 114"/>
              <a:gd name="T2" fmla="*/ 142875 w 108"/>
              <a:gd name="T3" fmla="*/ 0 h 114"/>
              <a:gd name="T4" fmla="*/ 0 w 108"/>
              <a:gd name="T5" fmla="*/ 168275 h 114"/>
              <a:gd name="T6" fmla="*/ 0 w 108"/>
              <a:gd name="T7" fmla="*/ 168275 h 114"/>
              <a:gd name="T8" fmla="*/ 28575 w 108"/>
              <a:gd name="T9" fmla="*/ 180975 h 114"/>
              <a:gd name="T10" fmla="*/ 28575 w 108"/>
              <a:gd name="T11" fmla="*/ 180975 h 114"/>
              <a:gd name="T12" fmla="*/ 171450 w 108"/>
              <a:gd name="T13" fmla="*/ 12700 h 1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14"/>
              <a:gd name="T23" fmla="*/ 108 w 108"/>
              <a:gd name="T24" fmla="*/ 114 h 1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14">
                <a:moveTo>
                  <a:pt x="108" y="8"/>
                </a:moveTo>
                <a:lnTo>
                  <a:pt x="90" y="0"/>
                </a:lnTo>
                <a:lnTo>
                  <a:pt x="0" y="106"/>
                </a:lnTo>
                <a:lnTo>
                  <a:pt x="18" y="114"/>
                </a:lnTo>
                <a:lnTo>
                  <a:pt x="108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6" name="Freeform 1101"/>
          <p:cNvSpPr>
            <a:spLocks/>
          </p:cNvSpPr>
          <p:nvPr/>
        </p:nvSpPr>
        <p:spPr bwMode="auto">
          <a:xfrm>
            <a:off x="8577263" y="1995488"/>
            <a:ext cx="114300" cy="195262"/>
          </a:xfrm>
          <a:custGeom>
            <a:avLst/>
            <a:gdLst>
              <a:gd name="T0" fmla="*/ 114300 w 72"/>
              <a:gd name="T1" fmla="*/ 12700 h 123"/>
              <a:gd name="T2" fmla="*/ 85725 w 72"/>
              <a:gd name="T3" fmla="*/ 0 h 123"/>
              <a:gd name="T4" fmla="*/ 0 w 72"/>
              <a:gd name="T5" fmla="*/ 180975 h 123"/>
              <a:gd name="T6" fmla="*/ 0 w 72"/>
              <a:gd name="T7" fmla="*/ 180975 h 123"/>
              <a:gd name="T8" fmla="*/ 28575 w 72"/>
              <a:gd name="T9" fmla="*/ 180975 h 123"/>
              <a:gd name="T10" fmla="*/ 28575 w 72"/>
              <a:gd name="T11" fmla="*/ 195262 h 123"/>
              <a:gd name="T12" fmla="*/ 114300 w 72"/>
              <a:gd name="T13" fmla="*/ 12700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23"/>
              <a:gd name="T23" fmla="*/ 72 w 72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23">
                <a:moveTo>
                  <a:pt x="72" y="8"/>
                </a:moveTo>
                <a:lnTo>
                  <a:pt x="54" y="0"/>
                </a:lnTo>
                <a:lnTo>
                  <a:pt x="0" y="114"/>
                </a:lnTo>
                <a:lnTo>
                  <a:pt x="18" y="114"/>
                </a:lnTo>
                <a:lnTo>
                  <a:pt x="18" y="123"/>
                </a:lnTo>
                <a:lnTo>
                  <a:pt x="7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7" name="Freeform 1102"/>
          <p:cNvSpPr>
            <a:spLocks/>
          </p:cNvSpPr>
          <p:nvPr/>
        </p:nvSpPr>
        <p:spPr bwMode="auto">
          <a:xfrm>
            <a:off x="8534400" y="2176463"/>
            <a:ext cx="71438" cy="195262"/>
          </a:xfrm>
          <a:custGeom>
            <a:avLst/>
            <a:gdLst>
              <a:gd name="T0" fmla="*/ 71438 w 45"/>
              <a:gd name="T1" fmla="*/ 0 h 123"/>
              <a:gd name="T2" fmla="*/ 42863 w 45"/>
              <a:gd name="T3" fmla="*/ 0 h 123"/>
              <a:gd name="T4" fmla="*/ 0 w 45"/>
              <a:gd name="T5" fmla="*/ 195262 h 123"/>
              <a:gd name="T6" fmla="*/ 28575 w 45"/>
              <a:gd name="T7" fmla="*/ 195262 h 123"/>
              <a:gd name="T8" fmla="*/ 71438 w 45"/>
              <a:gd name="T9" fmla="*/ 0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"/>
              <a:gd name="T16" fmla="*/ 0 h 123"/>
              <a:gd name="T17" fmla="*/ 45 w 45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" h="123">
                <a:moveTo>
                  <a:pt x="45" y="0"/>
                </a:moveTo>
                <a:lnTo>
                  <a:pt x="27" y="0"/>
                </a:lnTo>
                <a:lnTo>
                  <a:pt x="0" y="123"/>
                </a:lnTo>
                <a:lnTo>
                  <a:pt x="18" y="123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8" name="Freeform 1103"/>
          <p:cNvSpPr>
            <a:spLocks/>
          </p:cNvSpPr>
          <p:nvPr/>
        </p:nvSpPr>
        <p:spPr bwMode="auto">
          <a:xfrm>
            <a:off x="6148389" y="4549775"/>
            <a:ext cx="28575" cy="25400"/>
          </a:xfrm>
          <a:custGeom>
            <a:avLst/>
            <a:gdLst>
              <a:gd name="T0" fmla="*/ 0 w 18"/>
              <a:gd name="T1" fmla="*/ 25400 h 16"/>
              <a:gd name="T2" fmla="*/ 0 w 18"/>
              <a:gd name="T3" fmla="*/ 25400 h 16"/>
              <a:gd name="T4" fmla="*/ 14288 w 18"/>
              <a:gd name="T5" fmla="*/ 25400 h 16"/>
              <a:gd name="T6" fmla="*/ 28575 w 18"/>
              <a:gd name="T7" fmla="*/ 25400 h 16"/>
              <a:gd name="T8" fmla="*/ 28575 w 18"/>
              <a:gd name="T9" fmla="*/ 12700 h 16"/>
              <a:gd name="T10" fmla="*/ 14288 w 18"/>
              <a:gd name="T11" fmla="*/ 0 h 16"/>
              <a:gd name="T12" fmla="*/ 0 w 18"/>
              <a:gd name="T13" fmla="*/ 0 h 16"/>
              <a:gd name="T14" fmla="*/ 0 w 18"/>
              <a:gd name="T15" fmla="*/ 12700 h 16"/>
              <a:gd name="T16" fmla="*/ 0 w 18"/>
              <a:gd name="T17" fmla="*/ 25400 h 16"/>
              <a:gd name="T18" fmla="*/ 0 w 18"/>
              <a:gd name="T19" fmla="*/ 254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16"/>
                </a:moveTo>
                <a:lnTo>
                  <a:pt x="0" y="16"/>
                </a:lnTo>
                <a:lnTo>
                  <a:pt x="9" y="16"/>
                </a:lnTo>
                <a:lnTo>
                  <a:pt x="18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lnTo>
                  <a:pt x="0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69" name="Freeform 1104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0" name="Freeform 1105"/>
          <p:cNvSpPr>
            <a:spLocks/>
          </p:cNvSpPr>
          <p:nvPr/>
        </p:nvSpPr>
        <p:spPr bwMode="auto">
          <a:xfrm>
            <a:off x="5948363" y="4524375"/>
            <a:ext cx="228600" cy="115888"/>
          </a:xfrm>
          <a:custGeom>
            <a:avLst/>
            <a:gdLst>
              <a:gd name="T0" fmla="*/ 200025 w 144"/>
              <a:gd name="T1" fmla="*/ 50800 h 73"/>
              <a:gd name="T2" fmla="*/ 228600 w 144"/>
              <a:gd name="T3" fmla="*/ 103188 h 73"/>
              <a:gd name="T4" fmla="*/ 0 w 144"/>
              <a:gd name="T5" fmla="*/ 115888 h 73"/>
              <a:gd name="T6" fmla="*/ 185738 w 144"/>
              <a:gd name="T7" fmla="*/ 0 h 73"/>
              <a:gd name="T8" fmla="*/ 200025 w 144"/>
              <a:gd name="T9" fmla="*/ 50800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73"/>
              <a:gd name="T17" fmla="*/ 144 w 144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73">
                <a:moveTo>
                  <a:pt x="126" y="32"/>
                </a:moveTo>
                <a:lnTo>
                  <a:pt x="144" y="65"/>
                </a:lnTo>
                <a:lnTo>
                  <a:pt x="0" y="73"/>
                </a:lnTo>
                <a:lnTo>
                  <a:pt x="117" y="0"/>
                </a:lnTo>
                <a:lnTo>
                  <a:pt x="126" y="3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1" name="Freeform 1106"/>
          <p:cNvSpPr>
            <a:spLocks/>
          </p:cNvSpPr>
          <p:nvPr/>
        </p:nvSpPr>
        <p:spPr bwMode="auto">
          <a:xfrm>
            <a:off x="8348663" y="2825751"/>
            <a:ext cx="214312" cy="271463"/>
          </a:xfrm>
          <a:custGeom>
            <a:avLst/>
            <a:gdLst>
              <a:gd name="T0" fmla="*/ 214312 w 135"/>
              <a:gd name="T1" fmla="*/ 12700 h 171"/>
              <a:gd name="T2" fmla="*/ 185737 w 135"/>
              <a:gd name="T3" fmla="*/ 0 h 171"/>
              <a:gd name="T4" fmla="*/ 0 w 135"/>
              <a:gd name="T5" fmla="*/ 258763 h 171"/>
              <a:gd name="T6" fmla="*/ 0 w 135"/>
              <a:gd name="T7" fmla="*/ 258763 h 171"/>
              <a:gd name="T8" fmla="*/ 28575 w 135"/>
              <a:gd name="T9" fmla="*/ 271463 h 171"/>
              <a:gd name="T10" fmla="*/ 28575 w 135"/>
              <a:gd name="T11" fmla="*/ 271463 h 171"/>
              <a:gd name="T12" fmla="*/ 214312 w 135"/>
              <a:gd name="T13" fmla="*/ 12700 h 1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171"/>
              <a:gd name="T23" fmla="*/ 135 w 135"/>
              <a:gd name="T24" fmla="*/ 171 h 17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171">
                <a:moveTo>
                  <a:pt x="135" y="8"/>
                </a:moveTo>
                <a:lnTo>
                  <a:pt x="117" y="0"/>
                </a:lnTo>
                <a:lnTo>
                  <a:pt x="0" y="163"/>
                </a:lnTo>
                <a:lnTo>
                  <a:pt x="18" y="171"/>
                </a:lnTo>
                <a:lnTo>
                  <a:pt x="135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2" name="Freeform 1107"/>
          <p:cNvSpPr>
            <a:spLocks/>
          </p:cNvSpPr>
          <p:nvPr/>
        </p:nvSpPr>
        <p:spPr bwMode="auto">
          <a:xfrm>
            <a:off x="8120064" y="3084513"/>
            <a:ext cx="257175" cy="273050"/>
          </a:xfrm>
          <a:custGeom>
            <a:avLst/>
            <a:gdLst>
              <a:gd name="T0" fmla="*/ 257175 w 162"/>
              <a:gd name="T1" fmla="*/ 12700 h 172"/>
              <a:gd name="T2" fmla="*/ 228600 w 162"/>
              <a:gd name="T3" fmla="*/ 0 h 172"/>
              <a:gd name="T4" fmla="*/ 0 w 162"/>
              <a:gd name="T5" fmla="*/ 260350 h 172"/>
              <a:gd name="T6" fmla="*/ 0 w 162"/>
              <a:gd name="T7" fmla="*/ 246063 h 172"/>
              <a:gd name="T8" fmla="*/ 28575 w 162"/>
              <a:gd name="T9" fmla="*/ 273050 h 172"/>
              <a:gd name="T10" fmla="*/ 28575 w 162"/>
              <a:gd name="T11" fmla="*/ 273050 h 172"/>
              <a:gd name="T12" fmla="*/ 257175 w 162"/>
              <a:gd name="T13" fmla="*/ 12700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72"/>
              <a:gd name="T23" fmla="*/ 162 w 162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72">
                <a:moveTo>
                  <a:pt x="162" y="8"/>
                </a:moveTo>
                <a:lnTo>
                  <a:pt x="144" y="0"/>
                </a:lnTo>
                <a:lnTo>
                  <a:pt x="0" y="164"/>
                </a:lnTo>
                <a:lnTo>
                  <a:pt x="0" y="155"/>
                </a:lnTo>
                <a:lnTo>
                  <a:pt x="18" y="172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3" name="Freeform 1108"/>
          <p:cNvSpPr>
            <a:spLocks/>
          </p:cNvSpPr>
          <p:nvPr/>
        </p:nvSpPr>
        <p:spPr bwMode="auto">
          <a:xfrm>
            <a:off x="7848600" y="3330575"/>
            <a:ext cx="300038" cy="273050"/>
          </a:xfrm>
          <a:custGeom>
            <a:avLst/>
            <a:gdLst>
              <a:gd name="T0" fmla="*/ 300038 w 189"/>
              <a:gd name="T1" fmla="*/ 26988 h 172"/>
              <a:gd name="T2" fmla="*/ 271463 w 189"/>
              <a:gd name="T3" fmla="*/ 0 h 172"/>
              <a:gd name="T4" fmla="*/ 0 w 189"/>
              <a:gd name="T5" fmla="*/ 247650 h 172"/>
              <a:gd name="T6" fmla="*/ 14288 w 189"/>
              <a:gd name="T7" fmla="*/ 247650 h 172"/>
              <a:gd name="T8" fmla="*/ 28575 w 189"/>
              <a:gd name="T9" fmla="*/ 273050 h 172"/>
              <a:gd name="T10" fmla="*/ 28575 w 189"/>
              <a:gd name="T11" fmla="*/ 273050 h 172"/>
              <a:gd name="T12" fmla="*/ 300038 w 189"/>
              <a:gd name="T13" fmla="*/ 26988 h 1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72"/>
              <a:gd name="T23" fmla="*/ 189 w 189"/>
              <a:gd name="T24" fmla="*/ 172 h 17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72">
                <a:moveTo>
                  <a:pt x="189" y="17"/>
                </a:moveTo>
                <a:lnTo>
                  <a:pt x="171" y="0"/>
                </a:lnTo>
                <a:lnTo>
                  <a:pt x="0" y="156"/>
                </a:lnTo>
                <a:lnTo>
                  <a:pt x="9" y="156"/>
                </a:lnTo>
                <a:lnTo>
                  <a:pt x="18" y="172"/>
                </a:lnTo>
                <a:lnTo>
                  <a:pt x="18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4" name="Freeform 1109"/>
          <p:cNvSpPr>
            <a:spLocks/>
          </p:cNvSpPr>
          <p:nvPr/>
        </p:nvSpPr>
        <p:spPr bwMode="auto">
          <a:xfrm>
            <a:off x="7577139" y="3578226"/>
            <a:ext cx="300037" cy="258763"/>
          </a:xfrm>
          <a:custGeom>
            <a:avLst/>
            <a:gdLst>
              <a:gd name="T0" fmla="*/ 300037 w 189"/>
              <a:gd name="T1" fmla="*/ 25400 h 163"/>
              <a:gd name="T2" fmla="*/ 285750 w 189"/>
              <a:gd name="T3" fmla="*/ 0 h 163"/>
              <a:gd name="T4" fmla="*/ 0 w 189"/>
              <a:gd name="T5" fmla="*/ 233363 h 163"/>
              <a:gd name="T6" fmla="*/ 0 w 189"/>
              <a:gd name="T7" fmla="*/ 233363 h 163"/>
              <a:gd name="T8" fmla="*/ 14287 w 189"/>
              <a:gd name="T9" fmla="*/ 258763 h 163"/>
              <a:gd name="T10" fmla="*/ 14287 w 189"/>
              <a:gd name="T11" fmla="*/ 258763 h 163"/>
              <a:gd name="T12" fmla="*/ 300037 w 189"/>
              <a:gd name="T13" fmla="*/ 254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163"/>
              <a:gd name="T23" fmla="*/ 189 w 189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163">
                <a:moveTo>
                  <a:pt x="189" y="16"/>
                </a:moveTo>
                <a:lnTo>
                  <a:pt x="180" y="0"/>
                </a:lnTo>
                <a:lnTo>
                  <a:pt x="0" y="147"/>
                </a:lnTo>
                <a:lnTo>
                  <a:pt x="9" y="163"/>
                </a:lnTo>
                <a:lnTo>
                  <a:pt x="189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5" name="Freeform 1110"/>
          <p:cNvSpPr>
            <a:spLocks/>
          </p:cNvSpPr>
          <p:nvPr/>
        </p:nvSpPr>
        <p:spPr bwMode="auto">
          <a:xfrm>
            <a:off x="7248525" y="3811588"/>
            <a:ext cx="342900" cy="246062"/>
          </a:xfrm>
          <a:custGeom>
            <a:avLst/>
            <a:gdLst>
              <a:gd name="T0" fmla="*/ 342900 w 216"/>
              <a:gd name="T1" fmla="*/ 25400 h 155"/>
              <a:gd name="T2" fmla="*/ 328613 w 216"/>
              <a:gd name="T3" fmla="*/ 0 h 155"/>
              <a:gd name="T4" fmla="*/ 0 w 216"/>
              <a:gd name="T5" fmla="*/ 219075 h 155"/>
              <a:gd name="T6" fmla="*/ 0 w 216"/>
              <a:gd name="T7" fmla="*/ 219075 h 155"/>
              <a:gd name="T8" fmla="*/ 14288 w 216"/>
              <a:gd name="T9" fmla="*/ 246062 h 155"/>
              <a:gd name="T10" fmla="*/ 14288 w 216"/>
              <a:gd name="T11" fmla="*/ 246062 h 155"/>
              <a:gd name="T12" fmla="*/ 342900 w 216"/>
              <a:gd name="T13" fmla="*/ 254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155"/>
              <a:gd name="T23" fmla="*/ 216 w 21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155">
                <a:moveTo>
                  <a:pt x="216" y="16"/>
                </a:moveTo>
                <a:lnTo>
                  <a:pt x="207" y="0"/>
                </a:lnTo>
                <a:lnTo>
                  <a:pt x="0" y="138"/>
                </a:lnTo>
                <a:lnTo>
                  <a:pt x="9" y="155"/>
                </a:lnTo>
                <a:lnTo>
                  <a:pt x="216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6" name="Freeform 1111"/>
          <p:cNvSpPr>
            <a:spLocks/>
          </p:cNvSpPr>
          <p:nvPr/>
        </p:nvSpPr>
        <p:spPr bwMode="auto">
          <a:xfrm>
            <a:off x="6905625" y="4030663"/>
            <a:ext cx="357188" cy="220662"/>
          </a:xfrm>
          <a:custGeom>
            <a:avLst/>
            <a:gdLst>
              <a:gd name="T0" fmla="*/ 357188 w 225"/>
              <a:gd name="T1" fmla="*/ 26987 h 139"/>
              <a:gd name="T2" fmla="*/ 342900 w 225"/>
              <a:gd name="T3" fmla="*/ 0 h 139"/>
              <a:gd name="T4" fmla="*/ 0 w 225"/>
              <a:gd name="T5" fmla="*/ 195262 h 139"/>
              <a:gd name="T6" fmla="*/ 0 w 225"/>
              <a:gd name="T7" fmla="*/ 195262 h 139"/>
              <a:gd name="T8" fmla="*/ 14288 w 225"/>
              <a:gd name="T9" fmla="*/ 220662 h 139"/>
              <a:gd name="T10" fmla="*/ 14288 w 225"/>
              <a:gd name="T11" fmla="*/ 220662 h 139"/>
              <a:gd name="T12" fmla="*/ 357188 w 225"/>
              <a:gd name="T13" fmla="*/ 26987 h 1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39"/>
              <a:gd name="T23" fmla="*/ 225 w 225"/>
              <a:gd name="T24" fmla="*/ 139 h 13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39">
                <a:moveTo>
                  <a:pt x="225" y="17"/>
                </a:moveTo>
                <a:lnTo>
                  <a:pt x="216" y="0"/>
                </a:lnTo>
                <a:lnTo>
                  <a:pt x="0" y="123"/>
                </a:lnTo>
                <a:lnTo>
                  <a:pt x="9" y="139"/>
                </a:lnTo>
                <a:lnTo>
                  <a:pt x="22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7" name="Freeform 1112"/>
          <p:cNvSpPr>
            <a:spLocks/>
          </p:cNvSpPr>
          <p:nvPr/>
        </p:nvSpPr>
        <p:spPr bwMode="auto">
          <a:xfrm>
            <a:off x="6534151" y="4225926"/>
            <a:ext cx="385763" cy="207963"/>
          </a:xfrm>
          <a:custGeom>
            <a:avLst/>
            <a:gdLst>
              <a:gd name="T0" fmla="*/ 385763 w 243"/>
              <a:gd name="T1" fmla="*/ 25400 h 131"/>
              <a:gd name="T2" fmla="*/ 371475 w 243"/>
              <a:gd name="T3" fmla="*/ 0 h 131"/>
              <a:gd name="T4" fmla="*/ 0 w 243"/>
              <a:gd name="T5" fmla="*/ 180975 h 131"/>
              <a:gd name="T6" fmla="*/ 0 w 243"/>
              <a:gd name="T7" fmla="*/ 180975 h 131"/>
              <a:gd name="T8" fmla="*/ 14288 w 243"/>
              <a:gd name="T9" fmla="*/ 207963 h 131"/>
              <a:gd name="T10" fmla="*/ 14288 w 243"/>
              <a:gd name="T11" fmla="*/ 207963 h 131"/>
              <a:gd name="T12" fmla="*/ 385763 w 243"/>
              <a:gd name="T13" fmla="*/ 25400 h 1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"/>
              <a:gd name="T22" fmla="*/ 0 h 131"/>
              <a:gd name="T23" fmla="*/ 243 w 243"/>
              <a:gd name="T24" fmla="*/ 131 h 13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" h="131">
                <a:moveTo>
                  <a:pt x="243" y="16"/>
                </a:moveTo>
                <a:lnTo>
                  <a:pt x="234" y="0"/>
                </a:lnTo>
                <a:lnTo>
                  <a:pt x="0" y="114"/>
                </a:lnTo>
                <a:lnTo>
                  <a:pt x="9" y="131"/>
                </a:lnTo>
                <a:lnTo>
                  <a:pt x="24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8" name="Freeform 1113"/>
          <p:cNvSpPr>
            <a:spLocks/>
          </p:cNvSpPr>
          <p:nvPr/>
        </p:nvSpPr>
        <p:spPr bwMode="auto">
          <a:xfrm>
            <a:off x="6148388" y="4406901"/>
            <a:ext cx="400050" cy="168275"/>
          </a:xfrm>
          <a:custGeom>
            <a:avLst/>
            <a:gdLst>
              <a:gd name="T0" fmla="*/ 400050 w 252"/>
              <a:gd name="T1" fmla="*/ 26988 h 106"/>
              <a:gd name="T2" fmla="*/ 385763 w 252"/>
              <a:gd name="T3" fmla="*/ 0 h 106"/>
              <a:gd name="T4" fmla="*/ 0 w 252"/>
              <a:gd name="T5" fmla="*/ 142875 h 106"/>
              <a:gd name="T6" fmla="*/ 14288 w 252"/>
              <a:gd name="T7" fmla="*/ 168275 h 106"/>
              <a:gd name="T8" fmla="*/ 400050 w 252"/>
              <a:gd name="T9" fmla="*/ 26988 h 1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2"/>
              <a:gd name="T16" fmla="*/ 0 h 106"/>
              <a:gd name="T17" fmla="*/ 252 w 252"/>
              <a:gd name="T18" fmla="*/ 106 h 1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2" h="106">
                <a:moveTo>
                  <a:pt x="252" y="17"/>
                </a:moveTo>
                <a:lnTo>
                  <a:pt x="243" y="0"/>
                </a:lnTo>
                <a:lnTo>
                  <a:pt x="0" y="90"/>
                </a:lnTo>
                <a:lnTo>
                  <a:pt x="9" y="106"/>
                </a:lnTo>
                <a:lnTo>
                  <a:pt x="252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79" name="Freeform 1114"/>
          <p:cNvSpPr>
            <a:spLocks/>
          </p:cNvSpPr>
          <p:nvPr/>
        </p:nvSpPr>
        <p:spPr bwMode="auto">
          <a:xfrm>
            <a:off x="3676651" y="4926013"/>
            <a:ext cx="28575" cy="25400"/>
          </a:xfrm>
          <a:custGeom>
            <a:avLst/>
            <a:gdLst>
              <a:gd name="T0" fmla="*/ 0 w 18"/>
              <a:gd name="T1" fmla="*/ 12700 h 16"/>
              <a:gd name="T2" fmla="*/ 0 w 18"/>
              <a:gd name="T3" fmla="*/ 25400 h 16"/>
              <a:gd name="T4" fmla="*/ 14288 w 18"/>
              <a:gd name="T5" fmla="*/ 25400 h 16"/>
              <a:gd name="T6" fmla="*/ 14288 w 18"/>
              <a:gd name="T7" fmla="*/ 25400 h 16"/>
              <a:gd name="T8" fmla="*/ 28575 w 18"/>
              <a:gd name="T9" fmla="*/ 12700 h 16"/>
              <a:gd name="T10" fmla="*/ 28575 w 18"/>
              <a:gd name="T11" fmla="*/ 12700 h 16"/>
              <a:gd name="T12" fmla="*/ 14288 w 18"/>
              <a:gd name="T13" fmla="*/ 0 h 16"/>
              <a:gd name="T14" fmla="*/ 0 w 18"/>
              <a:gd name="T15" fmla="*/ 0 h 16"/>
              <a:gd name="T16" fmla="*/ 0 w 18"/>
              <a:gd name="T17" fmla="*/ 12700 h 16"/>
              <a:gd name="T18" fmla="*/ 0 w 18"/>
              <a:gd name="T19" fmla="*/ 1270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0" y="8"/>
                </a:moveTo>
                <a:lnTo>
                  <a:pt x="0" y="16"/>
                </a:lnTo>
                <a:lnTo>
                  <a:pt x="9" y="16"/>
                </a:lnTo>
                <a:lnTo>
                  <a:pt x="18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0" name="Freeform 1115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1" name="Freeform 1116"/>
          <p:cNvSpPr>
            <a:spLocks/>
          </p:cNvSpPr>
          <p:nvPr/>
        </p:nvSpPr>
        <p:spPr bwMode="auto">
          <a:xfrm>
            <a:off x="3476625" y="4886326"/>
            <a:ext cx="228600" cy="104775"/>
          </a:xfrm>
          <a:custGeom>
            <a:avLst/>
            <a:gdLst>
              <a:gd name="T0" fmla="*/ 200025 w 144"/>
              <a:gd name="T1" fmla="*/ 52388 h 66"/>
              <a:gd name="T2" fmla="*/ 185738 w 144"/>
              <a:gd name="T3" fmla="*/ 104775 h 66"/>
              <a:gd name="T4" fmla="*/ 0 w 144"/>
              <a:gd name="T5" fmla="*/ 0 h 66"/>
              <a:gd name="T6" fmla="*/ 228600 w 144"/>
              <a:gd name="T7" fmla="*/ 0 h 66"/>
              <a:gd name="T8" fmla="*/ 200025 w 144"/>
              <a:gd name="T9" fmla="*/ 52388 h 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6"/>
              <a:gd name="T17" fmla="*/ 144 w 144"/>
              <a:gd name="T18" fmla="*/ 66 h 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6">
                <a:moveTo>
                  <a:pt x="126" y="33"/>
                </a:moveTo>
                <a:lnTo>
                  <a:pt x="117" y="66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2" name="Freeform 1117"/>
          <p:cNvSpPr>
            <a:spLocks/>
          </p:cNvSpPr>
          <p:nvPr/>
        </p:nvSpPr>
        <p:spPr bwMode="auto">
          <a:xfrm>
            <a:off x="5362575" y="4627564"/>
            <a:ext cx="171450" cy="142875"/>
          </a:xfrm>
          <a:custGeom>
            <a:avLst/>
            <a:gdLst>
              <a:gd name="T0" fmla="*/ 171450 w 108"/>
              <a:gd name="T1" fmla="*/ 25400 h 90"/>
              <a:gd name="T2" fmla="*/ 157163 w 108"/>
              <a:gd name="T3" fmla="*/ 0 h 90"/>
              <a:gd name="T4" fmla="*/ 0 w 108"/>
              <a:gd name="T5" fmla="*/ 117475 h 90"/>
              <a:gd name="T6" fmla="*/ 0 w 108"/>
              <a:gd name="T7" fmla="*/ 117475 h 90"/>
              <a:gd name="T8" fmla="*/ 14288 w 108"/>
              <a:gd name="T9" fmla="*/ 142875 h 90"/>
              <a:gd name="T10" fmla="*/ 14288 w 108"/>
              <a:gd name="T11" fmla="*/ 142875 h 90"/>
              <a:gd name="T12" fmla="*/ 171450 w 108"/>
              <a:gd name="T13" fmla="*/ 25400 h 9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90"/>
              <a:gd name="T23" fmla="*/ 108 w 108"/>
              <a:gd name="T24" fmla="*/ 90 h 9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90">
                <a:moveTo>
                  <a:pt x="108" y="16"/>
                </a:moveTo>
                <a:lnTo>
                  <a:pt x="99" y="0"/>
                </a:lnTo>
                <a:lnTo>
                  <a:pt x="0" y="74"/>
                </a:lnTo>
                <a:lnTo>
                  <a:pt x="9" y="90"/>
                </a:lnTo>
                <a:lnTo>
                  <a:pt x="108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3" name="Freeform 1118"/>
          <p:cNvSpPr>
            <a:spLocks/>
          </p:cNvSpPr>
          <p:nvPr/>
        </p:nvSpPr>
        <p:spPr bwMode="auto">
          <a:xfrm>
            <a:off x="5162551" y="4745039"/>
            <a:ext cx="214313" cy="115887"/>
          </a:xfrm>
          <a:custGeom>
            <a:avLst/>
            <a:gdLst>
              <a:gd name="T0" fmla="*/ 214313 w 135"/>
              <a:gd name="T1" fmla="*/ 25400 h 73"/>
              <a:gd name="T2" fmla="*/ 200025 w 135"/>
              <a:gd name="T3" fmla="*/ 0 h 73"/>
              <a:gd name="T4" fmla="*/ 0 w 135"/>
              <a:gd name="T5" fmla="*/ 90487 h 73"/>
              <a:gd name="T6" fmla="*/ 0 w 135"/>
              <a:gd name="T7" fmla="*/ 90487 h 73"/>
              <a:gd name="T8" fmla="*/ 14288 w 135"/>
              <a:gd name="T9" fmla="*/ 115887 h 73"/>
              <a:gd name="T10" fmla="*/ 14288 w 135"/>
              <a:gd name="T11" fmla="*/ 115887 h 73"/>
              <a:gd name="T12" fmla="*/ 214313 w 135"/>
              <a:gd name="T13" fmla="*/ 25400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5"/>
              <a:gd name="T22" fmla="*/ 0 h 73"/>
              <a:gd name="T23" fmla="*/ 135 w 135"/>
              <a:gd name="T24" fmla="*/ 73 h 7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5" h="73">
                <a:moveTo>
                  <a:pt x="135" y="16"/>
                </a:moveTo>
                <a:lnTo>
                  <a:pt x="126" y="0"/>
                </a:lnTo>
                <a:lnTo>
                  <a:pt x="0" y="57"/>
                </a:lnTo>
                <a:lnTo>
                  <a:pt x="9" y="73"/>
                </a:lnTo>
                <a:lnTo>
                  <a:pt x="13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4" name="Freeform 1119"/>
          <p:cNvSpPr>
            <a:spLocks/>
          </p:cNvSpPr>
          <p:nvPr/>
        </p:nvSpPr>
        <p:spPr bwMode="auto">
          <a:xfrm>
            <a:off x="4948238" y="4835525"/>
            <a:ext cx="228600" cy="90488"/>
          </a:xfrm>
          <a:custGeom>
            <a:avLst/>
            <a:gdLst>
              <a:gd name="T0" fmla="*/ 228600 w 144"/>
              <a:gd name="T1" fmla="*/ 25400 h 57"/>
              <a:gd name="T2" fmla="*/ 214313 w 144"/>
              <a:gd name="T3" fmla="*/ 0 h 57"/>
              <a:gd name="T4" fmla="*/ 0 w 144"/>
              <a:gd name="T5" fmla="*/ 65088 h 57"/>
              <a:gd name="T6" fmla="*/ 0 w 144"/>
              <a:gd name="T7" fmla="*/ 65088 h 57"/>
              <a:gd name="T8" fmla="*/ 0 w 144"/>
              <a:gd name="T9" fmla="*/ 90488 h 57"/>
              <a:gd name="T10" fmla="*/ 14288 w 144"/>
              <a:gd name="T11" fmla="*/ 90488 h 57"/>
              <a:gd name="T12" fmla="*/ 228600 w 144"/>
              <a:gd name="T13" fmla="*/ 25400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57"/>
              <a:gd name="T23" fmla="*/ 144 w 144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57">
                <a:moveTo>
                  <a:pt x="144" y="16"/>
                </a:moveTo>
                <a:lnTo>
                  <a:pt x="135" y="0"/>
                </a:lnTo>
                <a:lnTo>
                  <a:pt x="0" y="41"/>
                </a:lnTo>
                <a:lnTo>
                  <a:pt x="0" y="57"/>
                </a:lnTo>
                <a:lnTo>
                  <a:pt x="9" y="57"/>
                </a:lnTo>
                <a:lnTo>
                  <a:pt x="144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5" name="Freeform 1120"/>
          <p:cNvSpPr>
            <a:spLocks/>
          </p:cNvSpPr>
          <p:nvPr/>
        </p:nvSpPr>
        <p:spPr bwMode="auto">
          <a:xfrm>
            <a:off x="4705350" y="4900614"/>
            <a:ext cx="242888" cy="77787"/>
          </a:xfrm>
          <a:custGeom>
            <a:avLst/>
            <a:gdLst>
              <a:gd name="T0" fmla="*/ 242888 w 153"/>
              <a:gd name="T1" fmla="*/ 25400 h 49"/>
              <a:gd name="T2" fmla="*/ 242888 w 153"/>
              <a:gd name="T3" fmla="*/ 0 h 49"/>
              <a:gd name="T4" fmla="*/ 0 w 153"/>
              <a:gd name="T5" fmla="*/ 50800 h 49"/>
              <a:gd name="T6" fmla="*/ 0 w 153"/>
              <a:gd name="T7" fmla="*/ 50800 h 49"/>
              <a:gd name="T8" fmla="*/ 0 w 153"/>
              <a:gd name="T9" fmla="*/ 77787 h 49"/>
              <a:gd name="T10" fmla="*/ 0 w 153"/>
              <a:gd name="T11" fmla="*/ 77787 h 49"/>
              <a:gd name="T12" fmla="*/ 242888 w 153"/>
              <a:gd name="T13" fmla="*/ 25400 h 4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3"/>
              <a:gd name="T22" fmla="*/ 0 h 49"/>
              <a:gd name="T23" fmla="*/ 153 w 153"/>
              <a:gd name="T24" fmla="*/ 49 h 4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3" h="49">
                <a:moveTo>
                  <a:pt x="153" y="16"/>
                </a:moveTo>
                <a:lnTo>
                  <a:pt x="153" y="0"/>
                </a:lnTo>
                <a:lnTo>
                  <a:pt x="0" y="32"/>
                </a:lnTo>
                <a:lnTo>
                  <a:pt x="0" y="49"/>
                </a:lnTo>
                <a:lnTo>
                  <a:pt x="153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6" name="Freeform 1121"/>
          <p:cNvSpPr>
            <a:spLocks/>
          </p:cNvSpPr>
          <p:nvPr/>
        </p:nvSpPr>
        <p:spPr bwMode="auto">
          <a:xfrm>
            <a:off x="4205288" y="4951414"/>
            <a:ext cx="500062" cy="65087"/>
          </a:xfrm>
          <a:custGeom>
            <a:avLst/>
            <a:gdLst>
              <a:gd name="T0" fmla="*/ 500062 w 315"/>
              <a:gd name="T1" fmla="*/ 26987 h 41"/>
              <a:gd name="T2" fmla="*/ 500062 w 315"/>
              <a:gd name="T3" fmla="*/ 0 h 41"/>
              <a:gd name="T4" fmla="*/ 0 w 315"/>
              <a:gd name="T5" fmla="*/ 39687 h 41"/>
              <a:gd name="T6" fmla="*/ 0 w 315"/>
              <a:gd name="T7" fmla="*/ 39687 h 41"/>
              <a:gd name="T8" fmla="*/ 0 w 315"/>
              <a:gd name="T9" fmla="*/ 65087 h 41"/>
              <a:gd name="T10" fmla="*/ 0 w 315"/>
              <a:gd name="T11" fmla="*/ 65087 h 41"/>
              <a:gd name="T12" fmla="*/ 500062 w 315"/>
              <a:gd name="T13" fmla="*/ 26987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15"/>
              <a:gd name="T22" fmla="*/ 0 h 41"/>
              <a:gd name="T23" fmla="*/ 315 w 31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15" h="41">
                <a:moveTo>
                  <a:pt x="315" y="17"/>
                </a:moveTo>
                <a:lnTo>
                  <a:pt x="315" y="0"/>
                </a:lnTo>
                <a:lnTo>
                  <a:pt x="0" y="25"/>
                </a:lnTo>
                <a:lnTo>
                  <a:pt x="0" y="41"/>
                </a:lnTo>
                <a:lnTo>
                  <a:pt x="315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7" name="Freeform 1122"/>
          <p:cNvSpPr>
            <a:spLocks/>
          </p:cNvSpPr>
          <p:nvPr/>
        </p:nvSpPr>
        <p:spPr bwMode="auto">
          <a:xfrm>
            <a:off x="3690938" y="4926014"/>
            <a:ext cx="514350" cy="90487"/>
          </a:xfrm>
          <a:custGeom>
            <a:avLst/>
            <a:gdLst>
              <a:gd name="T0" fmla="*/ 514350 w 324"/>
              <a:gd name="T1" fmla="*/ 90487 h 57"/>
              <a:gd name="T2" fmla="*/ 514350 w 324"/>
              <a:gd name="T3" fmla="*/ 65087 h 57"/>
              <a:gd name="T4" fmla="*/ 0 w 324"/>
              <a:gd name="T5" fmla="*/ 0 h 57"/>
              <a:gd name="T6" fmla="*/ 0 w 324"/>
              <a:gd name="T7" fmla="*/ 25400 h 57"/>
              <a:gd name="T8" fmla="*/ 514350 w 324"/>
              <a:gd name="T9" fmla="*/ 90487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4"/>
              <a:gd name="T16" fmla="*/ 0 h 57"/>
              <a:gd name="T17" fmla="*/ 324 w 324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4" h="57">
                <a:moveTo>
                  <a:pt x="324" y="57"/>
                </a:moveTo>
                <a:lnTo>
                  <a:pt x="324" y="41"/>
                </a:lnTo>
                <a:lnTo>
                  <a:pt x="0" y="0"/>
                </a:lnTo>
                <a:lnTo>
                  <a:pt x="0" y="16"/>
                </a:lnTo>
                <a:lnTo>
                  <a:pt x="324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8" name="Freeform 1123"/>
          <p:cNvSpPr>
            <a:spLocks/>
          </p:cNvSpPr>
          <p:nvPr/>
        </p:nvSpPr>
        <p:spPr bwMode="auto">
          <a:xfrm>
            <a:off x="5462589" y="4186239"/>
            <a:ext cx="28575" cy="26987"/>
          </a:xfrm>
          <a:custGeom>
            <a:avLst/>
            <a:gdLst>
              <a:gd name="T0" fmla="*/ 14288 w 18"/>
              <a:gd name="T1" fmla="*/ 26987 h 17"/>
              <a:gd name="T2" fmla="*/ 28575 w 18"/>
              <a:gd name="T3" fmla="*/ 14287 h 17"/>
              <a:gd name="T4" fmla="*/ 28575 w 18"/>
              <a:gd name="T5" fmla="*/ 0 h 17"/>
              <a:gd name="T6" fmla="*/ 28575 w 18"/>
              <a:gd name="T7" fmla="*/ 0 h 17"/>
              <a:gd name="T8" fmla="*/ 14288 w 18"/>
              <a:gd name="T9" fmla="*/ 0 h 17"/>
              <a:gd name="T10" fmla="*/ 14288 w 18"/>
              <a:gd name="T11" fmla="*/ 0 h 17"/>
              <a:gd name="T12" fmla="*/ 0 w 18"/>
              <a:gd name="T13" fmla="*/ 14287 h 17"/>
              <a:gd name="T14" fmla="*/ 14288 w 18"/>
              <a:gd name="T15" fmla="*/ 14287 h 17"/>
              <a:gd name="T16" fmla="*/ 14288 w 18"/>
              <a:gd name="T17" fmla="*/ 26987 h 17"/>
              <a:gd name="T18" fmla="*/ 14288 w 18"/>
              <a:gd name="T19" fmla="*/ 26987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17"/>
                </a:move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89" name="Freeform 1124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0" name="Freeform 1125"/>
          <p:cNvSpPr>
            <a:spLocks/>
          </p:cNvSpPr>
          <p:nvPr/>
        </p:nvSpPr>
        <p:spPr bwMode="auto">
          <a:xfrm>
            <a:off x="5419725" y="4200526"/>
            <a:ext cx="128588" cy="193675"/>
          </a:xfrm>
          <a:custGeom>
            <a:avLst/>
            <a:gdLst>
              <a:gd name="T0" fmla="*/ 57150 w 81"/>
              <a:gd name="T1" fmla="*/ 0 h 122"/>
              <a:gd name="T2" fmla="*/ 128588 w 81"/>
              <a:gd name="T3" fmla="*/ 0 h 122"/>
              <a:gd name="T4" fmla="*/ 71438 w 81"/>
              <a:gd name="T5" fmla="*/ 193675 h 122"/>
              <a:gd name="T6" fmla="*/ 0 w 81"/>
              <a:gd name="T7" fmla="*/ 0 h 122"/>
              <a:gd name="T8" fmla="*/ 57150 w 81"/>
              <a:gd name="T9" fmla="*/ 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2"/>
              <a:gd name="T17" fmla="*/ 81 w 81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2">
                <a:moveTo>
                  <a:pt x="36" y="0"/>
                </a:moveTo>
                <a:lnTo>
                  <a:pt x="81" y="0"/>
                </a:lnTo>
                <a:lnTo>
                  <a:pt x="45" y="122"/>
                </a:lnTo>
                <a:lnTo>
                  <a:pt x="0" y="0"/>
                </a:lnTo>
                <a:lnTo>
                  <a:pt x="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1" name="Freeform 1126"/>
          <p:cNvSpPr>
            <a:spLocks/>
          </p:cNvSpPr>
          <p:nvPr/>
        </p:nvSpPr>
        <p:spPr bwMode="auto">
          <a:xfrm>
            <a:off x="6191251" y="2293938"/>
            <a:ext cx="257175" cy="233362"/>
          </a:xfrm>
          <a:custGeom>
            <a:avLst/>
            <a:gdLst>
              <a:gd name="T0" fmla="*/ 257175 w 162"/>
              <a:gd name="T1" fmla="*/ 12700 h 147"/>
              <a:gd name="T2" fmla="*/ 228600 w 162"/>
              <a:gd name="T3" fmla="*/ 0 h 147"/>
              <a:gd name="T4" fmla="*/ 0 w 162"/>
              <a:gd name="T5" fmla="*/ 220662 h 147"/>
              <a:gd name="T6" fmla="*/ 0 w 162"/>
              <a:gd name="T7" fmla="*/ 220662 h 147"/>
              <a:gd name="T8" fmla="*/ 28575 w 162"/>
              <a:gd name="T9" fmla="*/ 233362 h 147"/>
              <a:gd name="T10" fmla="*/ 28575 w 162"/>
              <a:gd name="T11" fmla="*/ 233362 h 147"/>
              <a:gd name="T12" fmla="*/ 257175 w 162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162" y="8"/>
                </a:moveTo>
                <a:lnTo>
                  <a:pt x="144" y="0"/>
                </a:lnTo>
                <a:lnTo>
                  <a:pt x="0" y="139"/>
                </a:lnTo>
                <a:lnTo>
                  <a:pt x="18" y="147"/>
                </a:lnTo>
                <a:lnTo>
                  <a:pt x="162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2" name="Freeform 1127"/>
          <p:cNvSpPr>
            <a:spLocks/>
          </p:cNvSpPr>
          <p:nvPr/>
        </p:nvSpPr>
        <p:spPr bwMode="auto">
          <a:xfrm>
            <a:off x="5991225" y="2514601"/>
            <a:ext cx="228600" cy="246063"/>
          </a:xfrm>
          <a:custGeom>
            <a:avLst/>
            <a:gdLst>
              <a:gd name="T0" fmla="*/ 228600 w 144"/>
              <a:gd name="T1" fmla="*/ 12700 h 155"/>
              <a:gd name="T2" fmla="*/ 200025 w 144"/>
              <a:gd name="T3" fmla="*/ 0 h 155"/>
              <a:gd name="T4" fmla="*/ 0 w 144"/>
              <a:gd name="T5" fmla="*/ 233363 h 155"/>
              <a:gd name="T6" fmla="*/ 0 w 144"/>
              <a:gd name="T7" fmla="*/ 233363 h 155"/>
              <a:gd name="T8" fmla="*/ 28575 w 144"/>
              <a:gd name="T9" fmla="*/ 246063 h 155"/>
              <a:gd name="T10" fmla="*/ 28575 w 144"/>
              <a:gd name="T11" fmla="*/ 246063 h 155"/>
              <a:gd name="T12" fmla="*/ 228600 w 144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55"/>
              <a:gd name="T23" fmla="*/ 144 w 144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55">
                <a:moveTo>
                  <a:pt x="144" y="8"/>
                </a:moveTo>
                <a:lnTo>
                  <a:pt x="126" y="0"/>
                </a:lnTo>
                <a:lnTo>
                  <a:pt x="0" y="147"/>
                </a:lnTo>
                <a:lnTo>
                  <a:pt x="18" y="155"/>
                </a:lnTo>
                <a:lnTo>
                  <a:pt x="144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3" name="Freeform 1128"/>
          <p:cNvSpPr>
            <a:spLocks/>
          </p:cNvSpPr>
          <p:nvPr/>
        </p:nvSpPr>
        <p:spPr bwMode="auto">
          <a:xfrm>
            <a:off x="5819776" y="2747963"/>
            <a:ext cx="200025" cy="233362"/>
          </a:xfrm>
          <a:custGeom>
            <a:avLst/>
            <a:gdLst>
              <a:gd name="T0" fmla="*/ 200025 w 126"/>
              <a:gd name="T1" fmla="*/ 12700 h 147"/>
              <a:gd name="T2" fmla="*/ 171450 w 126"/>
              <a:gd name="T3" fmla="*/ 0 h 147"/>
              <a:gd name="T4" fmla="*/ 0 w 126"/>
              <a:gd name="T5" fmla="*/ 220662 h 147"/>
              <a:gd name="T6" fmla="*/ 0 w 126"/>
              <a:gd name="T7" fmla="*/ 220662 h 147"/>
              <a:gd name="T8" fmla="*/ 28575 w 126"/>
              <a:gd name="T9" fmla="*/ 233362 h 147"/>
              <a:gd name="T10" fmla="*/ 28575 w 126"/>
              <a:gd name="T11" fmla="*/ 233362 h 147"/>
              <a:gd name="T12" fmla="*/ 200025 w 126"/>
              <a:gd name="T13" fmla="*/ 12700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47"/>
              <a:gd name="T23" fmla="*/ 126 w 126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47">
                <a:moveTo>
                  <a:pt x="126" y="8"/>
                </a:moveTo>
                <a:lnTo>
                  <a:pt x="108" y="0"/>
                </a:lnTo>
                <a:lnTo>
                  <a:pt x="0" y="139"/>
                </a:lnTo>
                <a:lnTo>
                  <a:pt x="18" y="147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4" name="Freeform 1129"/>
          <p:cNvSpPr>
            <a:spLocks/>
          </p:cNvSpPr>
          <p:nvPr/>
        </p:nvSpPr>
        <p:spPr bwMode="auto">
          <a:xfrm>
            <a:off x="5691188" y="2968626"/>
            <a:ext cx="157162" cy="246063"/>
          </a:xfrm>
          <a:custGeom>
            <a:avLst/>
            <a:gdLst>
              <a:gd name="T0" fmla="*/ 157162 w 99"/>
              <a:gd name="T1" fmla="*/ 12700 h 155"/>
              <a:gd name="T2" fmla="*/ 128587 w 99"/>
              <a:gd name="T3" fmla="*/ 0 h 155"/>
              <a:gd name="T4" fmla="*/ 0 w 99"/>
              <a:gd name="T5" fmla="*/ 233363 h 155"/>
              <a:gd name="T6" fmla="*/ 0 w 99"/>
              <a:gd name="T7" fmla="*/ 233363 h 155"/>
              <a:gd name="T8" fmla="*/ 28575 w 99"/>
              <a:gd name="T9" fmla="*/ 246063 h 155"/>
              <a:gd name="T10" fmla="*/ 28575 w 99"/>
              <a:gd name="T11" fmla="*/ 246063 h 155"/>
              <a:gd name="T12" fmla="*/ 157162 w 99"/>
              <a:gd name="T13" fmla="*/ 1270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9"/>
              <a:gd name="T22" fmla="*/ 0 h 155"/>
              <a:gd name="T23" fmla="*/ 99 w 99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9" h="155">
                <a:moveTo>
                  <a:pt x="99" y="8"/>
                </a:moveTo>
                <a:lnTo>
                  <a:pt x="81" y="0"/>
                </a:lnTo>
                <a:lnTo>
                  <a:pt x="0" y="147"/>
                </a:lnTo>
                <a:lnTo>
                  <a:pt x="18" y="155"/>
                </a:lnTo>
                <a:lnTo>
                  <a:pt x="99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5" name="Freeform 1130"/>
          <p:cNvSpPr>
            <a:spLocks/>
          </p:cNvSpPr>
          <p:nvPr/>
        </p:nvSpPr>
        <p:spPr bwMode="auto">
          <a:xfrm>
            <a:off x="5576889" y="3201988"/>
            <a:ext cx="142875" cy="258762"/>
          </a:xfrm>
          <a:custGeom>
            <a:avLst/>
            <a:gdLst>
              <a:gd name="T0" fmla="*/ 142875 w 90"/>
              <a:gd name="T1" fmla="*/ 12700 h 163"/>
              <a:gd name="T2" fmla="*/ 114300 w 90"/>
              <a:gd name="T3" fmla="*/ 0 h 163"/>
              <a:gd name="T4" fmla="*/ 0 w 90"/>
              <a:gd name="T5" fmla="*/ 246062 h 163"/>
              <a:gd name="T6" fmla="*/ 0 w 90"/>
              <a:gd name="T7" fmla="*/ 246062 h 163"/>
              <a:gd name="T8" fmla="*/ 28575 w 90"/>
              <a:gd name="T9" fmla="*/ 258762 h 163"/>
              <a:gd name="T10" fmla="*/ 28575 w 90"/>
              <a:gd name="T11" fmla="*/ 258762 h 163"/>
              <a:gd name="T12" fmla="*/ 142875 w 90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0"/>
              <a:gd name="T22" fmla="*/ 0 h 163"/>
              <a:gd name="T23" fmla="*/ 90 w 90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0" h="163">
                <a:moveTo>
                  <a:pt x="90" y="8"/>
                </a:moveTo>
                <a:lnTo>
                  <a:pt x="72" y="0"/>
                </a:lnTo>
                <a:lnTo>
                  <a:pt x="0" y="155"/>
                </a:lnTo>
                <a:lnTo>
                  <a:pt x="18" y="163"/>
                </a:lnTo>
                <a:lnTo>
                  <a:pt x="9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6" name="Freeform 1131"/>
          <p:cNvSpPr>
            <a:spLocks/>
          </p:cNvSpPr>
          <p:nvPr/>
        </p:nvSpPr>
        <p:spPr bwMode="auto">
          <a:xfrm>
            <a:off x="5505451" y="3448051"/>
            <a:ext cx="100013" cy="258763"/>
          </a:xfrm>
          <a:custGeom>
            <a:avLst/>
            <a:gdLst>
              <a:gd name="T0" fmla="*/ 100013 w 63"/>
              <a:gd name="T1" fmla="*/ 12700 h 163"/>
              <a:gd name="T2" fmla="*/ 71438 w 63"/>
              <a:gd name="T3" fmla="*/ 0 h 163"/>
              <a:gd name="T4" fmla="*/ 0 w 63"/>
              <a:gd name="T5" fmla="*/ 246063 h 163"/>
              <a:gd name="T6" fmla="*/ 0 w 63"/>
              <a:gd name="T7" fmla="*/ 246063 h 163"/>
              <a:gd name="T8" fmla="*/ 28575 w 63"/>
              <a:gd name="T9" fmla="*/ 246063 h 163"/>
              <a:gd name="T10" fmla="*/ 28575 w 63"/>
              <a:gd name="T11" fmla="*/ 258763 h 163"/>
              <a:gd name="T12" fmla="*/ 100013 w 63"/>
              <a:gd name="T13" fmla="*/ 12700 h 16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3"/>
              <a:gd name="T23" fmla="*/ 63 w 63"/>
              <a:gd name="T24" fmla="*/ 163 h 16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3">
                <a:moveTo>
                  <a:pt x="63" y="8"/>
                </a:moveTo>
                <a:lnTo>
                  <a:pt x="45" y="0"/>
                </a:lnTo>
                <a:lnTo>
                  <a:pt x="0" y="155"/>
                </a:lnTo>
                <a:lnTo>
                  <a:pt x="18" y="155"/>
                </a:lnTo>
                <a:lnTo>
                  <a:pt x="18" y="163"/>
                </a:lnTo>
                <a:lnTo>
                  <a:pt x="63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7" name="Freeform 1132"/>
          <p:cNvSpPr>
            <a:spLocks/>
          </p:cNvSpPr>
          <p:nvPr/>
        </p:nvSpPr>
        <p:spPr bwMode="auto">
          <a:xfrm>
            <a:off x="5462589" y="3694113"/>
            <a:ext cx="71437" cy="246062"/>
          </a:xfrm>
          <a:custGeom>
            <a:avLst/>
            <a:gdLst>
              <a:gd name="T0" fmla="*/ 71437 w 45"/>
              <a:gd name="T1" fmla="*/ 0 h 155"/>
              <a:gd name="T2" fmla="*/ 42862 w 45"/>
              <a:gd name="T3" fmla="*/ 0 h 155"/>
              <a:gd name="T4" fmla="*/ 0 w 45"/>
              <a:gd name="T5" fmla="*/ 246062 h 155"/>
              <a:gd name="T6" fmla="*/ 0 w 45"/>
              <a:gd name="T7" fmla="*/ 246062 h 155"/>
              <a:gd name="T8" fmla="*/ 28575 w 45"/>
              <a:gd name="T9" fmla="*/ 246062 h 155"/>
              <a:gd name="T10" fmla="*/ 28575 w 45"/>
              <a:gd name="T11" fmla="*/ 246062 h 155"/>
              <a:gd name="T12" fmla="*/ 71437 w 45"/>
              <a:gd name="T13" fmla="*/ 0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45" y="0"/>
                </a:moveTo>
                <a:lnTo>
                  <a:pt x="27" y="0"/>
                </a:lnTo>
                <a:lnTo>
                  <a:pt x="0" y="155"/>
                </a:lnTo>
                <a:lnTo>
                  <a:pt x="18" y="155"/>
                </a:lnTo>
                <a:lnTo>
                  <a:pt x="4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8" name="Rectangle 1133"/>
          <p:cNvSpPr>
            <a:spLocks noChangeArrowheads="1"/>
          </p:cNvSpPr>
          <p:nvPr/>
        </p:nvSpPr>
        <p:spPr bwMode="auto">
          <a:xfrm>
            <a:off x="5462589" y="3940176"/>
            <a:ext cx="28575" cy="246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99" name="Freeform 1134"/>
          <p:cNvSpPr>
            <a:spLocks/>
          </p:cNvSpPr>
          <p:nvPr/>
        </p:nvSpPr>
        <p:spPr bwMode="auto">
          <a:xfrm>
            <a:off x="3548064" y="3641725"/>
            <a:ext cx="28575" cy="26988"/>
          </a:xfrm>
          <a:custGeom>
            <a:avLst/>
            <a:gdLst>
              <a:gd name="T0" fmla="*/ 0 w 18"/>
              <a:gd name="T1" fmla="*/ 14288 h 17"/>
              <a:gd name="T2" fmla="*/ 0 w 18"/>
              <a:gd name="T3" fmla="*/ 26988 h 17"/>
              <a:gd name="T4" fmla="*/ 14288 w 18"/>
              <a:gd name="T5" fmla="*/ 26988 h 17"/>
              <a:gd name="T6" fmla="*/ 14288 w 18"/>
              <a:gd name="T7" fmla="*/ 26988 h 17"/>
              <a:gd name="T8" fmla="*/ 28575 w 18"/>
              <a:gd name="T9" fmla="*/ 26988 h 17"/>
              <a:gd name="T10" fmla="*/ 28575 w 18"/>
              <a:gd name="T11" fmla="*/ 14288 h 17"/>
              <a:gd name="T12" fmla="*/ 14288 w 18"/>
              <a:gd name="T13" fmla="*/ 0 h 17"/>
              <a:gd name="T14" fmla="*/ 0 w 18"/>
              <a:gd name="T15" fmla="*/ 0 h 17"/>
              <a:gd name="T16" fmla="*/ 0 w 18"/>
              <a:gd name="T17" fmla="*/ 14288 h 17"/>
              <a:gd name="T18" fmla="*/ 0 w 18"/>
              <a:gd name="T19" fmla="*/ 14288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0" y="9"/>
                </a:moveTo>
                <a:lnTo>
                  <a:pt x="0" y="17"/>
                </a:lnTo>
                <a:lnTo>
                  <a:pt x="9" y="17"/>
                </a:lnTo>
                <a:lnTo>
                  <a:pt x="18" y="17"/>
                </a:lnTo>
                <a:lnTo>
                  <a:pt x="18" y="9"/>
                </a:lnTo>
                <a:lnTo>
                  <a:pt x="9" y="0"/>
                </a:lnTo>
                <a:lnTo>
                  <a:pt x="0" y="0"/>
                </a:lnTo>
                <a:lnTo>
                  <a:pt x="0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0" name="Freeform 1135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1" name="Freeform 1136"/>
          <p:cNvSpPr>
            <a:spLocks/>
          </p:cNvSpPr>
          <p:nvPr/>
        </p:nvSpPr>
        <p:spPr bwMode="auto">
          <a:xfrm>
            <a:off x="3348038" y="3603625"/>
            <a:ext cx="228600" cy="103188"/>
          </a:xfrm>
          <a:custGeom>
            <a:avLst/>
            <a:gdLst>
              <a:gd name="T0" fmla="*/ 200025 w 144"/>
              <a:gd name="T1" fmla="*/ 52388 h 65"/>
              <a:gd name="T2" fmla="*/ 185738 w 144"/>
              <a:gd name="T3" fmla="*/ 103188 h 65"/>
              <a:gd name="T4" fmla="*/ 0 w 144"/>
              <a:gd name="T5" fmla="*/ 0 h 65"/>
              <a:gd name="T6" fmla="*/ 228600 w 144"/>
              <a:gd name="T7" fmla="*/ 0 h 65"/>
              <a:gd name="T8" fmla="*/ 200025 w 144"/>
              <a:gd name="T9" fmla="*/ 52388 h 6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4"/>
              <a:gd name="T16" fmla="*/ 0 h 65"/>
              <a:gd name="T17" fmla="*/ 144 w 144"/>
              <a:gd name="T18" fmla="*/ 65 h 6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4" h="65">
                <a:moveTo>
                  <a:pt x="126" y="33"/>
                </a:moveTo>
                <a:lnTo>
                  <a:pt x="117" y="65"/>
                </a:lnTo>
                <a:lnTo>
                  <a:pt x="0" y="0"/>
                </a:lnTo>
                <a:lnTo>
                  <a:pt x="144" y="0"/>
                </a:lnTo>
                <a:lnTo>
                  <a:pt x="12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2" name="Freeform 1137"/>
          <p:cNvSpPr>
            <a:spLocks/>
          </p:cNvSpPr>
          <p:nvPr/>
        </p:nvSpPr>
        <p:spPr bwMode="auto">
          <a:xfrm>
            <a:off x="5062539" y="4303714"/>
            <a:ext cx="471487" cy="363537"/>
          </a:xfrm>
          <a:custGeom>
            <a:avLst/>
            <a:gdLst>
              <a:gd name="T0" fmla="*/ 457200 w 297"/>
              <a:gd name="T1" fmla="*/ 363537 h 229"/>
              <a:gd name="T2" fmla="*/ 471487 w 297"/>
              <a:gd name="T3" fmla="*/ 336550 h 229"/>
              <a:gd name="T4" fmla="*/ 14287 w 297"/>
              <a:gd name="T5" fmla="*/ 0 h 229"/>
              <a:gd name="T6" fmla="*/ 14287 w 297"/>
              <a:gd name="T7" fmla="*/ 0 h 229"/>
              <a:gd name="T8" fmla="*/ 0 w 297"/>
              <a:gd name="T9" fmla="*/ 25400 h 229"/>
              <a:gd name="T10" fmla="*/ 0 w 297"/>
              <a:gd name="T11" fmla="*/ 25400 h 229"/>
              <a:gd name="T12" fmla="*/ 457200 w 297"/>
              <a:gd name="T13" fmla="*/ 363537 h 22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7"/>
              <a:gd name="T22" fmla="*/ 0 h 229"/>
              <a:gd name="T23" fmla="*/ 297 w 297"/>
              <a:gd name="T24" fmla="*/ 229 h 22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7" h="229">
                <a:moveTo>
                  <a:pt x="288" y="229"/>
                </a:moveTo>
                <a:lnTo>
                  <a:pt x="297" y="212"/>
                </a:lnTo>
                <a:lnTo>
                  <a:pt x="9" y="0"/>
                </a:lnTo>
                <a:lnTo>
                  <a:pt x="0" y="16"/>
                </a:lnTo>
                <a:lnTo>
                  <a:pt x="288" y="2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3" name="Freeform 1138"/>
          <p:cNvSpPr>
            <a:spLocks/>
          </p:cNvSpPr>
          <p:nvPr/>
        </p:nvSpPr>
        <p:spPr bwMode="auto">
          <a:xfrm>
            <a:off x="4591051" y="4030663"/>
            <a:ext cx="485775" cy="298450"/>
          </a:xfrm>
          <a:custGeom>
            <a:avLst/>
            <a:gdLst>
              <a:gd name="T0" fmla="*/ 471488 w 306"/>
              <a:gd name="T1" fmla="*/ 298450 h 188"/>
              <a:gd name="T2" fmla="*/ 485775 w 306"/>
              <a:gd name="T3" fmla="*/ 273050 h 188"/>
              <a:gd name="T4" fmla="*/ 14288 w 306"/>
              <a:gd name="T5" fmla="*/ 0 h 188"/>
              <a:gd name="T6" fmla="*/ 14288 w 306"/>
              <a:gd name="T7" fmla="*/ 0 h 188"/>
              <a:gd name="T8" fmla="*/ 0 w 306"/>
              <a:gd name="T9" fmla="*/ 26988 h 188"/>
              <a:gd name="T10" fmla="*/ 0 w 306"/>
              <a:gd name="T11" fmla="*/ 26988 h 188"/>
              <a:gd name="T12" fmla="*/ 471488 w 306"/>
              <a:gd name="T13" fmla="*/ 29845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6"/>
              <a:gd name="T22" fmla="*/ 0 h 188"/>
              <a:gd name="T23" fmla="*/ 306 w 306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6" h="188">
                <a:moveTo>
                  <a:pt x="297" y="188"/>
                </a:moveTo>
                <a:lnTo>
                  <a:pt x="306" y="172"/>
                </a:lnTo>
                <a:lnTo>
                  <a:pt x="9" y="0"/>
                </a:lnTo>
                <a:lnTo>
                  <a:pt x="0" y="17"/>
                </a:lnTo>
                <a:lnTo>
                  <a:pt x="297" y="1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4" name="Freeform 1139"/>
          <p:cNvSpPr>
            <a:spLocks/>
          </p:cNvSpPr>
          <p:nvPr/>
        </p:nvSpPr>
        <p:spPr bwMode="auto">
          <a:xfrm>
            <a:off x="4076700" y="3811588"/>
            <a:ext cx="528638" cy="246062"/>
          </a:xfrm>
          <a:custGeom>
            <a:avLst/>
            <a:gdLst>
              <a:gd name="T0" fmla="*/ 514350 w 333"/>
              <a:gd name="T1" fmla="*/ 246062 h 155"/>
              <a:gd name="T2" fmla="*/ 528638 w 333"/>
              <a:gd name="T3" fmla="*/ 219075 h 155"/>
              <a:gd name="T4" fmla="*/ 14288 w 333"/>
              <a:gd name="T5" fmla="*/ 0 h 155"/>
              <a:gd name="T6" fmla="*/ 14288 w 333"/>
              <a:gd name="T7" fmla="*/ 0 h 155"/>
              <a:gd name="T8" fmla="*/ 0 w 333"/>
              <a:gd name="T9" fmla="*/ 25400 h 155"/>
              <a:gd name="T10" fmla="*/ 0 w 333"/>
              <a:gd name="T11" fmla="*/ 25400 h 155"/>
              <a:gd name="T12" fmla="*/ 514350 w 333"/>
              <a:gd name="T13" fmla="*/ 2460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33"/>
              <a:gd name="T22" fmla="*/ 0 h 155"/>
              <a:gd name="T23" fmla="*/ 333 w 333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33" h="155">
                <a:moveTo>
                  <a:pt x="324" y="155"/>
                </a:moveTo>
                <a:lnTo>
                  <a:pt x="333" y="138"/>
                </a:lnTo>
                <a:lnTo>
                  <a:pt x="9" y="0"/>
                </a:lnTo>
                <a:lnTo>
                  <a:pt x="0" y="16"/>
                </a:lnTo>
                <a:lnTo>
                  <a:pt x="324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5" name="Freeform 1140"/>
          <p:cNvSpPr>
            <a:spLocks/>
          </p:cNvSpPr>
          <p:nvPr/>
        </p:nvSpPr>
        <p:spPr bwMode="auto">
          <a:xfrm>
            <a:off x="3562350" y="3641726"/>
            <a:ext cx="528638" cy="195263"/>
          </a:xfrm>
          <a:custGeom>
            <a:avLst/>
            <a:gdLst>
              <a:gd name="T0" fmla="*/ 514350 w 333"/>
              <a:gd name="T1" fmla="*/ 195263 h 123"/>
              <a:gd name="T2" fmla="*/ 528638 w 333"/>
              <a:gd name="T3" fmla="*/ 169863 h 123"/>
              <a:gd name="T4" fmla="*/ 14288 w 333"/>
              <a:gd name="T5" fmla="*/ 0 h 123"/>
              <a:gd name="T6" fmla="*/ 0 w 333"/>
              <a:gd name="T7" fmla="*/ 26988 h 123"/>
              <a:gd name="T8" fmla="*/ 514350 w 333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3"/>
              <a:gd name="T16" fmla="*/ 0 h 123"/>
              <a:gd name="T17" fmla="*/ 333 w 333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3" h="123">
                <a:moveTo>
                  <a:pt x="324" y="123"/>
                </a:moveTo>
                <a:lnTo>
                  <a:pt x="333" y="107"/>
                </a:lnTo>
                <a:lnTo>
                  <a:pt x="9" y="0"/>
                </a:lnTo>
                <a:lnTo>
                  <a:pt x="0" y="17"/>
                </a:lnTo>
                <a:lnTo>
                  <a:pt x="324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6" name="Freeform 1141"/>
          <p:cNvSpPr>
            <a:spLocks/>
          </p:cNvSpPr>
          <p:nvPr/>
        </p:nvSpPr>
        <p:spPr bwMode="auto">
          <a:xfrm>
            <a:off x="6477001" y="2747963"/>
            <a:ext cx="28575" cy="25400"/>
          </a:xfrm>
          <a:custGeom>
            <a:avLst/>
            <a:gdLst>
              <a:gd name="T0" fmla="*/ 14288 w 18"/>
              <a:gd name="T1" fmla="*/ 0 h 16"/>
              <a:gd name="T2" fmla="*/ 0 w 18"/>
              <a:gd name="T3" fmla="*/ 0 h 16"/>
              <a:gd name="T4" fmla="*/ 0 w 18"/>
              <a:gd name="T5" fmla="*/ 12700 h 16"/>
              <a:gd name="T6" fmla="*/ 0 w 18"/>
              <a:gd name="T7" fmla="*/ 12700 h 16"/>
              <a:gd name="T8" fmla="*/ 14288 w 18"/>
              <a:gd name="T9" fmla="*/ 25400 h 16"/>
              <a:gd name="T10" fmla="*/ 14288 w 18"/>
              <a:gd name="T11" fmla="*/ 12700 h 16"/>
              <a:gd name="T12" fmla="*/ 28575 w 18"/>
              <a:gd name="T13" fmla="*/ 0 h 16"/>
              <a:gd name="T14" fmla="*/ 14288 w 18"/>
              <a:gd name="T15" fmla="*/ 0 h 16"/>
              <a:gd name="T16" fmla="*/ 14288 w 18"/>
              <a:gd name="T17" fmla="*/ 0 h 16"/>
              <a:gd name="T18" fmla="*/ 14288 w 18"/>
              <a:gd name="T19" fmla="*/ 0 h 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6"/>
              <a:gd name="T32" fmla="*/ 18 w 18"/>
              <a:gd name="T33" fmla="*/ 16 h 1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6">
                <a:moveTo>
                  <a:pt x="9" y="0"/>
                </a:moveTo>
                <a:lnTo>
                  <a:pt x="0" y="0"/>
                </a:lnTo>
                <a:lnTo>
                  <a:pt x="0" y="8"/>
                </a:lnTo>
                <a:lnTo>
                  <a:pt x="9" y="16"/>
                </a:lnTo>
                <a:lnTo>
                  <a:pt x="9" y="8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7" name="Freeform 1142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8" name="Freeform 1143"/>
          <p:cNvSpPr>
            <a:spLocks/>
          </p:cNvSpPr>
          <p:nvPr/>
        </p:nvSpPr>
        <p:spPr bwMode="auto">
          <a:xfrm>
            <a:off x="6419850" y="2552701"/>
            <a:ext cx="128588" cy="195263"/>
          </a:xfrm>
          <a:custGeom>
            <a:avLst/>
            <a:gdLst>
              <a:gd name="T0" fmla="*/ 71438 w 81"/>
              <a:gd name="T1" fmla="*/ 195263 h 123"/>
              <a:gd name="T2" fmla="*/ 0 w 81"/>
              <a:gd name="T3" fmla="*/ 195263 h 123"/>
              <a:gd name="T4" fmla="*/ 57150 w 81"/>
              <a:gd name="T5" fmla="*/ 0 h 123"/>
              <a:gd name="T6" fmla="*/ 128588 w 81"/>
              <a:gd name="T7" fmla="*/ 195263 h 123"/>
              <a:gd name="T8" fmla="*/ 71438 w 81"/>
              <a:gd name="T9" fmla="*/ 195263 h 1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"/>
              <a:gd name="T16" fmla="*/ 0 h 123"/>
              <a:gd name="T17" fmla="*/ 81 w 81"/>
              <a:gd name="T18" fmla="*/ 123 h 1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1" h="123">
                <a:moveTo>
                  <a:pt x="45" y="123"/>
                </a:moveTo>
                <a:lnTo>
                  <a:pt x="0" y="123"/>
                </a:lnTo>
                <a:lnTo>
                  <a:pt x="36" y="0"/>
                </a:lnTo>
                <a:lnTo>
                  <a:pt x="81" y="123"/>
                </a:lnTo>
                <a:lnTo>
                  <a:pt x="45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09" name="Freeform 1144"/>
          <p:cNvSpPr>
            <a:spLocks/>
          </p:cNvSpPr>
          <p:nvPr/>
        </p:nvSpPr>
        <p:spPr bwMode="auto">
          <a:xfrm>
            <a:off x="5505451" y="4419601"/>
            <a:ext cx="257175" cy="233363"/>
          </a:xfrm>
          <a:custGeom>
            <a:avLst/>
            <a:gdLst>
              <a:gd name="T0" fmla="*/ 0 w 162"/>
              <a:gd name="T1" fmla="*/ 220663 h 147"/>
              <a:gd name="T2" fmla="*/ 28575 w 162"/>
              <a:gd name="T3" fmla="*/ 233363 h 147"/>
              <a:gd name="T4" fmla="*/ 257175 w 162"/>
              <a:gd name="T5" fmla="*/ 14288 h 147"/>
              <a:gd name="T6" fmla="*/ 257175 w 162"/>
              <a:gd name="T7" fmla="*/ 14288 h 147"/>
              <a:gd name="T8" fmla="*/ 228600 w 162"/>
              <a:gd name="T9" fmla="*/ 0 h 147"/>
              <a:gd name="T10" fmla="*/ 228600 w 162"/>
              <a:gd name="T11" fmla="*/ 0 h 147"/>
              <a:gd name="T12" fmla="*/ 0 w 162"/>
              <a:gd name="T13" fmla="*/ 220663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2"/>
              <a:gd name="T22" fmla="*/ 0 h 147"/>
              <a:gd name="T23" fmla="*/ 162 w 162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2" h="147">
                <a:moveTo>
                  <a:pt x="0" y="139"/>
                </a:moveTo>
                <a:lnTo>
                  <a:pt x="18" y="147"/>
                </a:lnTo>
                <a:lnTo>
                  <a:pt x="162" y="9"/>
                </a:lnTo>
                <a:lnTo>
                  <a:pt x="144" y="0"/>
                </a:lnTo>
                <a:lnTo>
                  <a:pt x="0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0" name="Freeform 1145"/>
          <p:cNvSpPr>
            <a:spLocks/>
          </p:cNvSpPr>
          <p:nvPr/>
        </p:nvSpPr>
        <p:spPr bwMode="auto">
          <a:xfrm>
            <a:off x="5734050" y="4200526"/>
            <a:ext cx="228600" cy="233363"/>
          </a:xfrm>
          <a:custGeom>
            <a:avLst/>
            <a:gdLst>
              <a:gd name="T0" fmla="*/ 0 w 144"/>
              <a:gd name="T1" fmla="*/ 219075 h 147"/>
              <a:gd name="T2" fmla="*/ 28575 w 144"/>
              <a:gd name="T3" fmla="*/ 233363 h 147"/>
              <a:gd name="T4" fmla="*/ 228600 w 144"/>
              <a:gd name="T5" fmla="*/ 12700 h 147"/>
              <a:gd name="T6" fmla="*/ 228600 w 144"/>
              <a:gd name="T7" fmla="*/ 12700 h 147"/>
              <a:gd name="T8" fmla="*/ 200025 w 144"/>
              <a:gd name="T9" fmla="*/ 0 h 147"/>
              <a:gd name="T10" fmla="*/ 200025 w 144"/>
              <a:gd name="T11" fmla="*/ 0 h 147"/>
              <a:gd name="T12" fmla="*/ 0 w 144"/>
              <a:gd name="T13" fmla="*/ 219075 h 1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4"/>
              <a:gd name="T22" fmla="*/ 0 h 147"/>
              <a:gd name="T23" fmla="*/ 144 w 144"/>
              <a:gd name="T24" fmla="*/ 147 h 1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4" h="147">
                <a:moveTo>
                  <a:pt x="0" y="138"/>
                </a:moveTo>
                <a:lnTo>
                  <a:pt x="18" y="147"/>
                </a:lnTo>
                <a:lnTo>
                  <a:pt x="144" y="8"/>
                </a:lnTo>
                <a:lnTo>
                  <a:pt x="126" y="0"/>
                </a:lnTo>
                <a:lnTo>
                  <a:pt x="0" y="1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1" name="Freeform 1146"/>
          <p:cNvSpPr>
            <a:spLocks/>
          </p:cNvSpPr>
          <p:nvPr/>
        </p:nvSpPr>
        <p:spPr bwMode="auto">
          <a:xfrm>
            <a:off x="5934076" y="3967163"/>
            <a:ext cx="200025" cy="246062"/>
          </a:xfrm>
          <a:custGeom>
            <a:avLst/>
            <a:gdLst>
              <a:gd name="T0" fmla="*/ 0 w 126"/>
              <a:gd name="T1" fmla="*/ 233362 h 155"/>
              <a:gd name="T2" fmla="*/ 28575 w 126"/>
              <a:gd name="T3" fmla="*/ 246062 h 155"/>
              <a:gd name="T4" fmla="*/ 200025 w 126"/>
              <a:gd name="T5" fmla="*/ 12700 h 155"/>
              <a:gd name="T6" fmla="*/ 200025 w 126"/>
              <a:gd name="T7" fmla="*/ 12700 h 155"/>
              <a:gd name="T8" fmla="*/ 171450 w 126"/>
              <a:gd name="T9" fmla="*/ 0 h 155"/>
              <a:gd name="T10" fmla="*/ 171450 w 126"/>
              <a:gd name="T11" fmla="*/ 0 h 155"/>
              <a:gd name="T12" fmla="*/ 0 w 126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6"/>
              <a:gd name="T22" fmla="*/ 0 h 155"/>
              <a:gd name="T23" fmla="*/ 126 w 126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6" h="155">
                <a:moveTo>
                  <a:pt x="0" y="147"/>
                </a:moveTo>
                <a:lnTo>
                  <a:pt x="18" y="155"/>
                </a:lnTo>
                <a:lnTo>
                  <a:pt x="126" y="8"/>
                </a:lnTo>
                <a:lnTo>
                  <a:pt x="108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2" name="Freeform 1147"/>
          <p:cNvSpPr>
            <a:spLocks/>
          </p:cNvSpPr>
          <p:nvPr/>
        </p:nvSpPr>
        <p:spPr bwMode="auto">
          <a:xfrm>
            <a:off x="6105525" y="3733801"/>
            <a:ext cx="171450" cy="246063"/>
          </a:xfrm>
          <a:custGeom>
            <a:avLst/>
            <a:gdLst>
              <a:gd name="T0" fmla="*/ 0 w 108"/>
              <a:gd name="T1" fmla="*/ 233363 h 155"/>
              <a:gd name="T2" fmla="*/ 28575 w 108"/>
              <a:gd name="T3" fmla="*/ 246063 h 155"/>
              <a:gd name="T4" fmla="*/ 171450 w 108"/>
              <a:gd name="T5" fmla="*/ 12700 h 155"/>
              <a:gd name="T6" fmla="*/ 171450 w 108"/>
              <a:gd name="T7" fmla="*/ 12700 h 155"/>
              <a:gd name="T8" fmla="*/ 142875 w 108"/>
              <a:gd name="T9" fmla="*/ 0 h 155"/>
              <a:gd name="T10" fmla="*/ 142875 w 108"/>
              <a:gd name="T11" fmla="*/ 0 h 155"/>
              <a:gd name="T12" fmla="*/ 0 w 108"/>
              <a:gd name="T13" fmla="*/ 2333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5"/>
              <a:gd name="T23" fmla="*/ 108 w 108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5">
                <a:moveTo>
                  <a:pt x="0" y="147"/>
                </a:moveTo>
                <a:lnTo>
                  <a:pt x="18" y="155"/>
                </a:lnTo>
                <a:lnTo>
                  <a:pt x="108" y="8"/>
                </a:lnTo>
                <a:lnTo>
                  <a:pt x="90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3" name="Freeform 1148"/>
          <p:cNvSpPr>
            <a:spLocks/>
          </p:cNvSpPr>
          <p:nvPr/>
        </p:nvSpPr>
        <p:spPr bwMode="auto">
          <a:xfrm>
            <a:off x="6248400" y="3500438"/>
            <a:ext cx="128588" cy="246062"/>
          </a:xfrm>
          <a:custGeom>
            <a:avLst/>
            <a:gdLst>
              <a:gd name="T0" fmla="*/ 0 w 81"/>
              <a:gd name="T1" fmla="*/ 233362 h 155"/>
              <a:gd name="T2" fmla="*/ 28575 w 81"/>
              <a:gd name="T3" fmla="*/ 246062 h 155"/>
              <a:gd name="T4" fmla="*/ 128588 w 81"/>
              <a:gd name="T5" fmla="*/ 12700 h 155"/>
              <a:gd name="T6" fmla="*/ 128588 w 81"/>
              <a:gd name="T7" fmla="*/ 12700 h 155"/>
              <a:gd name="T8" fmla="*/ 100013 w 81"/>
              <a:gd name="T9" fmla="*/ 0 h 155"/>
              <a:gd name="T10" fmla="*/ 100013 w 81"/>
              <a:gd name="T11" fmla="*/ 0 h 155"/>
              <a:gd name="T12" fmla="*/ 0 w 81"/>
              <a:gd name="T13" fmla="*/ 233362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1"/>
              <a:gd name="T22" fmla="*/ 0 h 155"/>
              <a:gd name="T23" fmla="*/ 81 w 81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1" h="155">
                <a:moveTo>
                  <a:pt x="0" y="147"/>
                </a:moveTo>
                <a:lnTo>
                  <a:pt x="18" y="155"/>
                </a:lnTo>
                <a:lnTo>
                  <a:pt x="81" y="8"/>
                </a:lnTo>
                <a:lnTo>
                  <a:pt x="63" y="0"/>
                </a:lnTo>
                <a:lnTo>
                  <a:pt x="0" y="1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4" name="Freeform 1149"/>
          <p:cNvSpPr>
            <a:spLocks/>
          </p:cNvSpPr>
          <p:nvPr/>
        </p:nvSpPr>
        <p:spPr bwMode="auto">
          <a:xfrm>
            <a:off x="6348413" y="3252788"/>
            <a:ext cx="100012" cy="260350"/>
          </a:xfrm>
          <a:custGeom>
            <a:avLst/>
            <a:gdLst>
              <a:gd name="T0" fmla="*/ 0 w 63"/>
              <a:gd name="T1" fmla="*/ 247650 h 164"/>
              <a:gd name="T2" fmla="*/ 28575 w 63"/>
              <a:gd name="T3" fmla="*/ 260350 h 164"/>
              <a:gd name="T4" fmla="*/ 100012 w 63"/>
              <a:gd name="T5" fmla="*/ 14288 h 164"/>
              <a:gd name="T6" fmla="*/ 100012 w 63"/>
              <a:gd name="T7" fmla="*/ 0 h 164"/>
              <a:gd name="T8" fmla="*/ 71437 w 63"/>
              <a:gd name="T9" fmla="*/ 0 h 164"/>
              <a:gd name="T10" fmla="*/ 71437 w 63"/>
              <a:gd name="T11" fmla="*/ 0 h 164"/>
              <a:gd name="T12" fmla="*/ 0 w 63"/>
              <a:gd name="T13" fmla="*/ 247650 h 16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164"/>
              <a:gd name="T23" fmla="*/ 63 w 63"/>
              <a:gd name="T24" fmla="*/ 164 h 16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164">
                <a:moveTo>
                  <a:pt x="0" y="156"/>
                </a:moveTo>
                <a:lnTo>
                  <a:pt x="18" y="164"/>
                </a:lnTo>
                <a:lnTo>
                  <a:pt x="63" y="9"/>
                </a:lnTo>
                <a:lnTo>
                  <a:pt x="63" y="0"/>
                </a:lnTo>
                <a:lnTo>
                  <a:pt x="45" y="0"/>
                </a:lnTo>
                <a:lnTo>
                  <a:pt x="0" y="1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5" name="Freeform 1150"/>
          <p:cNvSpPr>
            <a:spLocks/>
          </p:cNvSpPr>
          <p:nvPr/>
        </p:nvSpPr>
        <p:spPr bwMode="auto">
          <a:xfrm>
            <a:off x="6419850" y="3006726"/>
            <a:ext cx="71438" cy="246063"/>
          </a:xfrm>
          <a:custGeom>
            <a:avLst/>
            <a:gdLst>
              <a:gd name="T0" fmla="*/ 0 w 45"/>
              <a:gd name="T1" fmla="*/ 246063 h 155"/>
              <a:gd name="T2" fmla="*/ 28575 w 45"/>
              <a:gd name="T3" fmla="*/ 246063 h 155"/>
              <a:gd name="T4" fmla="*/ 71438 w 45"/>
              <a:gd name="T5" fmla="*/ 0 h 155"/>
              <a:gd name="T6" fmla="*/ 71438 w 45"/>
              <a:gd name="T7" fmla="*/ 0 h 155"/>
              <a:gd name="T8" fmla="*/ 42863 w 45"/>
              <a:gd name="T9" fmla="*/ 0 h 155"/>
              <a:gd name="T10" fmla="*/ 42863 w 45"/>
              <a:gd name="T11" fmla="*/ 0 h 155"/>
              <a:gd name="T12" fmla="*/ 0 w 45"/>
              <a:gd name="T13" fmla="*/ 246063 h 15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5"/>
              <a:gd name="T22" fmla="*/ 0 h 155"/>
              <a:gd name="T23" fmla="*/ 45 w 45"/>
              <a:gd name="T24" fmla="*/ 155 h 15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5" h="155">
                <a:moveTo>
                  <a:pt x="0" y="155"/>
                </a:moveTo>
                <a:lnTo>
                  <a:pt x="18" y="155"/>
                </a:lnTo>
                <a:lnTo>
                  <a:pt x="45" y="0"/>
                </a:lnTo>
                <a:lnTo>
                  <a:pt x="27" y="0"/>
                </a:lnTo>
                <a:lnTo>
                  <a:pt x="0" y="15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6" name="Rectangle 1151"/>
          <p:cNvSpPr>
            <a:spLocks noChangeArrowheads="1"/>
          </p:cNvSpPr>
          <p:nvPr/>
        </p:nvSpPr>
        <p:spPr bwMode="auto">
          <a:xfrm>
            <a:off x="6462714" y="2747963"/>
            <a:ext cx="28575" cy="2587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7" name="Freeform 1152"/>
          <p:cNvSpPr>
            <a:spLocks/>
          </p:cNvSpPr>
          <p:nvPr/>
        </p:nvSpPr>
        <p:spPr bwMode="auto">
          <a:xfrm>
            <a:off x="8462964" y="5199063"/>
            <a:ext cx="14287" cy="12700"/>
          </a:xfrm>
          <a:custGeom>
            <a:avLst/>
            <a:gdLst>
              <a:gd name="T0" fmla="*/ 0 w 9"/>
              <a:gd name="T1" fmla="*/ 12700 h 8"/>
              <a:gd name="T2" fmla="*/ 14287 w 9"/>
              <a:gd name="T3" fmla="*/ 12700 h 8"/>
              <a:gd name="T4" fmla="*/ 14287 w 9"/>
              <a:gd name="T5" fmla="*/ 12700 h 8"/>
              <a:gd name="T6" fmla="*/ 14287 w 9"/>
              <a:gd name="T7" fmla="*/ 0 h 8"/>
              <a:gd name="T8" fmla="*/ 14287 w 9"/>
              <a:gd name="T9" fmla="*/ 0 h 8"/>
              <a:gd name="T10" fmla="*/ 0 w 9"/>
              <a:gd name="T11" fmla="*/ 0 h 8"/>
              <a:gd name="T12" fmla="*/ 0 w 9"/>
              <a:gd name="T13" fmla="*/ 0 h 8"/>
              <a:gd name="T14" fmla="*/ 0 w 9"/>
              <a:gd name="T15" fmla="*/ 12700 h 8"/>
              <a:gd name="T16" fmla="*/ 0 w 9"/>
              <a:gd name="T17" fmla="*/ 12700 h 8"/>
              <a:gd name="T18" fmla="*/ 0 w 9"/>
              <a:gd name="T19" fmla="*/ 12700 h 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"/>
              <a:gd name="T31" fmla="*/ 0 h 8"/>
              <a:gd name="T32" fmla="*/ 9 w 9"/>
              <a:gd name="T33" fmla="*/ 8 h 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9" h="8">
                <a:moveTo>
                  <a:pt x="0" y="8"/>
                </a:moveTo>
                <a:lnTo>
                  <a:pt x="9" y="8"/>
                </a:lnTo>
                <a:lnTo>
                  <a:pt x="9" y="0"/>
                </a:lnTo>
                <a:lnTo>
                  <a:pt x="0" y="0"/>
                </a:lnTo>
                <a:lnTo>
                  <a:pt x="0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8" name="Freeform 1153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19" name="Freeform 1154"/>
          <p:cNvSpPr>
            <a:spLocks/>
          </p:cNvSpPr>
          <p:nvPr/>
        </p:nvSpPr>
        <p:spPr bwMode="auto">
          <a:xfrm>
            <a:off x="8405813" y="5199064"/>
            <a:ext cx="114300" cy="193675"/>
          </a:xfrm>
          <a:custGeom>
            <a:avLst/>
            <a:gdLst>
              <a:gd name="T0" fmla="*/ 57150 w 72"/>
              <a:gd name="T1" fmla="*/ 12700 h 122"/>
              <a:gd name="T2" fmla="*/ 114300 w 72"/>
              <a:gd name="T3" fmla="*/ 25400 h 122"/>
              <a:gd name="T4" fmla="*/ 0 w 72"/>
              <a:gd name="T5" fmla="*/ 193675 h 122"/>
              <a:gd name="T6" fmla="*/ 0 w 72"/>
              <a:gd name="T7" fmla="*/ 0 h 122"/>
              <a:gd name="T8" fmla="*/ 57150 w 72"/>
              <a:gd name="T9" fmla="*/ 12700 h 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122"/>
              <a:gd name="T17" fmla="*/ 72 w 72"/>
              <a:gd name="T18" fmla="*/ 122 h 1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122">
                <a:moveTo>
                  <a:pt x="36" y="8"/>
                </a:moveTo>
                <a:lnTo>
                  <a:pt x="72" y="16"/>
                </a:lnTo>
                <a:lnTo>
                  <a:pt x="0" y="122"/>
                </a:lnTo>
                <a:lnTo>
                  <a:pt x="0" y="0"/>
                </a:lnTo>
                <a:lnTo>
                  <a:pt x="3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0" name="Freeform 1155"/>
          <p:cNvSpPr>
            <a:spLocks/>
          </p:cNvSpPr>
          <p:nvPr/>
        </p:nvSpPr>
        <p:spPr bwMode="auto">
          <a:xfrm>
            <a:off x="8534400" y="2825750"/>
            <a:ext cx="114300" cy="311150"/>
          </a:xfrm>
          <a:custGeom>
            <a:avLst/>
            <a:gdLst>
              <a:gd name="T0" fmla="*/ 28575 w 72"/>
              <a:gd name="T1" fmla="*/ 0 h 196"/>
              <a:gd name="T2" fmla="*/ 0 w 72"/>
              <a:gd name="T3" fmla="*/ 12700 h 196"/>
              <a:gd name="T4" fmla="*/ 85725 w 72"/>
              <a:gd name="T5" fmla="*/ 311150 h 196"/>
              <a:gd name="T6" fmla="*/ 85725 w 72"/>
              <a:gd name="T7" fmla="*/ 298450 h 196"/>
              <a:gd name="T8" fmla="*/ 114300 w 72"/>
              <a:gd name="T9" fmla="*/ 298450 h 196"/>
              <a:gd name="T10" fmla="*/ 114300 w 72"/>
              <a:gd name="T11" fmla="*/ 298450 h 196"/>
              <a:gd name="T12" fmla="*/ 28575 w 72"/>
              <a:gd name="T13" fmla="*/ 0 h 1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"/>
              <a:gd name="T22" fmla="*/ 0 h 196"/>
              <a:gd name="T23" fmla="*/ 72 w 72"/>
              <a:gd name="T24" fmla="*/ 196 h 19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" h="196">
                <a:moveTo>
                  <a:pt x="18" y="0"/>
                </a:moveTo>
                <a:lnTo>
                  <a:pt x="0" y="8"/>
                </a:lnTo>
                <a:lnTo>
                  <a:pt x="54" y="196"/>
                </a:lnTo>
                <a:lnTo>
                  <a:pt x="54" y="188"/>
                </a:lnTo>
                <a:lnTo>
                  <a:pt x="72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1" name="Freeform 1156"/>
          <p:cNvSpPr>
            <a:spLocks/>
          </p:cNvSpPr>
          <p:nvPr/>
        </p:nvSpPr>
        <p:spPr bwMode="auto">
          <a:xfrm>
            <a:off x="8620126" y="3124200"/>
            <a:ext cx="85725" cy="298450"/>
          </a:xfrm>
          <a:custGeom>
            <a:avLst/>
            <a:gdLst>
              <a:gd name="T0" fmla="*/ 28575 w 54"/>
              <a:gd name="T1" fmla="*/ 0 h 188"/>
              <a:gd name="T2" fmla="*/ 0 w 54"/>
              <a:gd name="T3" fmla="*/ 0 h 188"/>
              <a:gd name="T4" fmla="*/ 57150 w 54"/>
              <a:gd name="T5" fmla="*/ 298450 h 188"/>
              <a:gd name="T6" fmla="*/ 57150 w 54"/>
              <a:gd name="T7" fmla="*/ 298450 h 188"/>
              <a:gd name="T8" fmla="*/ 85725 w 54"/>
              <a:gd name="T9" fmla="*/ 298450 h 188"/>
              <a:gd name="T10" fmla="*/ 85725 w 54"/>
              <a:gd name="T11" fmla="*/ 298450 h 188"/>
              <a:gd name="T12" fmla="*/ 28575 w 54"/>
              <a:gd name="T13" fmla="*/ 0 h 1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4"/>
              <a:gd name="T22" fmla="*/ 0 h 188"/>
              <a:gd name="T23" fmla="*/ 54 w 54"/>
              <a:gd name="T24" fmla="*/ 188 h 1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4" h="188">
                <a:moveTo>
                  <a:pt x="18" y="0"/>
                </a:moveTo>
                <a:lnTo>
                  <a:pt x="0" y="0"/>
                </a:lnTo>
                <a:lnTo>
                  <a:pt x="36" y="188"/>
                </a:lnTo>
                <a:lnTo>
                  <a:pt x="54" y="188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2" name="Freeform 1157"/>
          <p:cNvSpPr>
            <a:spLocks/>
          </p:cNvSpPr>
          <p:nvPr/>
        </p:nvSpPr>
        <p:spPr bwMode="auto">
          <a:xfrm>
            <a:off x="8677276" y="3422651"/>
            <a:ext cx="42863" cy="595313"/>
          </a:xfrm>
          <a:custGeom>
            <a:avLst/>
            <a:gdLst>
              <a:gd name="T0" fmla="*/ 28575 w 27"/>
              <a:gd name="T1" fmla="*/ 0 h 375"/>
              <a:gd name="T2" fmla="*/ 0 w 27"/>
              <a:gd name="T3" fmla="*/ 0 h 375"/>
              <a:gd name="T4" fmla="*/ 14288 w 27"/>
              <a:gd name="T5" fmla="*/ 595313 h 375"/>
              <a:gd name="T6" fmla="*/ 14288 w 27"/>
              <a:gd name="T7" fmla="*/ 595313 h 375"/>
              <a:gd name="T8" fmla="*/ 42863 w 27"/>
              <a:gd name="T9" fmla="*/ 595313 h 375"/>
              <a:gd name="T10" fmla="*/ 42863 w 27"/>
              <a:gd name="T11" fmla="*/ 595313 h 375"/>
              <a:gd name="T12" fmla="*/ 28575 w 27"/>
              <a:gd name="T13" fmla="*/ 0 h 3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"/>
              <a:gd name="T22" fmla="*/ 0 h 375"/>
              <a:gd name="T23" fmla="*/ 27 w 27"/>
              <a:gd name="T24" fmla="*/ 375 h 3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" h="375">
                <a:moveTo>
                  <a:pt x="18" y="0"/>
                </a:moveTo>
                <a:lnTo>
                  <a:pt x="0" y="0"/>
                </a:lnTo>
                <a:lnTo>
                  <a:pt x="9" y="375"/>
                </a:lnTo>
                <a:lnTo>
                  <a:pt x="27" y="375"/>
                </a:lnTo>
                <a:lnTo>
                  <a:pt x="1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3" name="Freeform 1158"/>
          <p:cNvSpPr>
            <a:spLocks/>
          </p:cNvSpPr>
          <p:nvPr/>
        </p:nvSpPr>
        <p:spPr bwMode="auto">
          <a:xfrm>
            <a:off x="8620126" y="4017963"/>
            <a:ext cx="100013" cy="609600"/>
          </a:xfrm>
          <a:custGeom>
            <a:avLst/>
            <a:gdLst>
              <a:gd name="T0" fmla="*/ 100013 w 63"/>
              <a:gd name="T1" fmla="*/ 0 h 384"/>
              <a:gd name="T2" fmla="*/ 71438 w 63"/>
              <a:gd name="T3" fmla="*/ 0 h 384"/>
              <a:gd name="T4" fmla="*/ 0 w 63"/>
              <a:gd name="T5" fmla="*/ 596900 h 384"/>
              <a:gd name="T6" fmla="*/ 0 w 63"/>
              <a:gd name="T7" fmla="*/ 596900 h 384"/>
              <a:gd name="T8" fmla="*/ 28575 w 63"/>
              <a:gd name="T9" fmla="*/ 609600 h 384"/>
              <a:gd name="T10" fmla="*/ 28575 w 63"/>
              <a:gd name="T11" fmla="*/ 596900 h 384"/>
              <a:gd name="T12" fmla="*/ 100013 w 63"/>
              <a:gd name="T13" fmla="*/ 0 h 3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3"/>
              <a:gd name="T22" fmla="*/ 0 h 384"/>
              <a:gd name="T23" fmla="*/ 63 w 63"/>
              <a:gd name="T24" fmla="*/ 384 h 3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3" h="384">
                <a:moveTo>
                  <a:pt x="63" y="0"/>
                </a:moveTo>
                <a:lnTo>
                  <a:pt x="45" y="0"/>
                </a:lnTo>
                <a:lnTo>
                  <a:pt x="0" y="376"/>
                </a:lnTo>
                <a:lnTo>
                  <a:pt x="18" y="384"/>
                </a:lnTo>
                <a:lnTo>
                  <a:pt x="18" y="376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4" name="Freeform 1159"/>
          <p:cNvSpPr>
            <a:spLocks/>
          </p:cNvSpPr>
          <p:nvPr/>
        </p:nvSpPr>
        <p:spPr bwMode="auto">
          <a:xfrm>
            <a:off x="8448676" y="4614863"/>
            <a:ext cx="200025" cy="596900"/>
          </a:xfrm>
          <a:custGeom>
            <a:avLst/>
            <a:gdLst>
              <a:gd name="T0" fmla="*/ 200025 w 126"/>
              <a:gd name="T1" fmla="*/ 12700 h 376"/>
              <a:gd name="T2" fmla="*/ 171450 w 126"/>
              <a:gd name="T3" fmla="*/ 0 h 376"/>
              <a:gd name="T4" fmla="*/ 0 w 126"/>
              <a:gd name="T5" fmla="*/ 584200 h 376"/>
              <a:gd name="T6" fmla="*/ 28575 w 126"/>
              <a:gd name="T7" fmla="*/ 596900 h 376"/>
              <a:gd name="T8" fmla="*/ 200025 w 126"/>
              <a:gd name="T9" fmla="*/ 12700 h 3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6"/>
              <a:gd name="T16" fmla="*/ 0 h 376"/>
              <a:gd name="T17" fmla="*/ 126 w 126"/>
              <a:gd name="T18" fmla="*/ 376 h 3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6" h="376">
                <a:moveTo>
                  <a:pt x="126" y="8"/>
                </a:moveTo>
                <a:lnTo>
                  <a:pt x="108" y="0"/>
                </a:lnTo>
                <a:lnTo>
                  <a:pt x="0" y="368"/>
                </a:lnTo>
                <a:lnTo>
                  <a:pt x="18" y="376"/>
                </a:lnTo>
                <a:lnTo>
                  <a:pt x="126" y="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5" name="Oval 1160"/>
          <p:cNvSpPr>
            <a:spLocks noChangeArrowheads="1"/>
          </p:cNvSpPr>
          <p:nvPr/>
        </p:nvSpPr>
        <p:spPr bwMode="auto">
          <a:xfrm>
            <a:off x="8148638" y="2592389"/>
            <a:ext cx="800100" cy="43973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6" name="Oval 1161"/>
          <p:cNvSpPr>
            <a:spLocks noChangeArrowheads="1"/>
          </p:cNvSpPr>
          <p:nvPr/>
        </p:nvSpPr>
        <p:spPr bwMode="auto">
          <a:xfrm>
            <a:off x="8148638" y="2593976"/>
            <a:ext cx="800100" cy="436563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7" name="Rectangle 1162"/>
          <p:cNvSpPr>
            <a:spLocks noChangeArrowheads="1"/>
          </p:cNvSpPr>
          <p:nvPr/>
        </p:nvSpPr>
        <p:spPr bwMode="auto">
          <a:xfrm>
            <a:off x="8320089" y="2708275"/>
            <a:ext cx="40716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JFK</a:t>
            </a:r>
            <a:endParaRPr lang="en-US" b="1">
              <a:latin typeface="Times" charset="0"/>
            </a:endParaRPr>
          </a:p>
        </p:txBody>
      </p:sp>
      <p:sp>
        <p:nvSpPr>
          <p:cNvPr id="38028" name="Freeform 1163"/>
          <p:cNvSpPr>
            <a:spLocks/>
          </p:cNvSpPr>
          <p:nvPr/>
        </p:nvSpPr>
        <p:spPr bwMode="auto">
          <a:xfrm>
            <a:off x="5948364" y="4964114"/>
            <a:ext cx="28575" cy="26987"/>
          </a:xfrm>
          <a:custGeom>
            <a:avLst/>
            <a:gdLst>
              <a:gd name="T0" fmla="*/ 14288 w 18"/>
              <a:gd name="T1" fmla="*/ 0 h 17"/>
              <a:gd name="T2" fmla="*/ 0 w 18"/>
              <a:gd name="T3" fmla="*/ 14287 h 17"/>
              <a:gd name="T4" fmla="*/ 14288 w 18"/>
              <a:gd name="T5" fmla="*/ 14287 h 17"/>
              <a:gd name="T6" fmla="*/ 14288 w 18"/>
              <a:gd name="T7" fmla="*/ 26987 h 17"/>
              <a:gd name="T8" fmla="*/ 28575 w 18"/>
              <a:gd name="T9" fmla="*/ 14287 h 17"/>
              <a:gd name="T10" fmla="*/ 28575 w 18"/>
              <a:gd name="T11" fmla="*/ 14287 h 17"/>
              <a:gd name="T12" fmla="*/ 28575 w 18"/>
              <a:gd name="T13" fmla="*/ 0 h 17"/>
              <a:gd name="T14" fmla="*/ 14288 w 18"/>
              <a:gd name="T15" fmla="*/ 0 h 17"/>
              <a:gd name="T16" fmla="*/ 14288 w 18"/>
              <a:gd name="T17" fmla="*/ 0 h 17"/>
              <a:gd name="T18" fmla="*/ 14288 w 18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8"/>
              <a:gd name="T31" fmla="*/ 0 h 17"/>
              <a:gd name="T32" fmla="*/ 18 w 18"/>
              <a:gd name="T33" fmla="*/ 17 h 17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8" h="17">
                <a:moveTo>
                  <a:pt x="9" y="0"/>
                </a:moveTo>
                <a:lnTo>
                  <a:pt x="0" y="9"/>
                </a:lnTo>
                <a:lnTo>
                  <a:pt x="9" y="9"/>
                </a:lnTo>
                <a:lnTo>
                  <a:pt x="9" y="17"/>
                </a:lnTo>
                <a:lnTo>
                  <a:pt x="18" y="9"/>
                </a:lnTo>
                <a:lnTo>
                  <a:pt x="18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29" name="Freeform 1164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noFill/>
          <a:ln w="1428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0" name="Freeform 1165"/>
          <p:cNvSpPr>
            <a:spLocks/>
          </p:cNvSpPr>
          <p:nvPr/>
        </p:nvSpPr>
        <p:spPr bwMode="auto">
          <a:xfrm>
            <a:off x="5819775" y="4822826"/>
            <a:ext cx="185738" cy="180975"/>
          </a:xfrm>
          <a:custGeom>
            <a:avLst/>
            <a:gdLst>
              <a:gd name="T0" fmla="*/ 142875 w 117"/>
              <a:gd name="T1" fmla="*/ 141288 h 114"/>
              <a:gd name="T2" fmla="*/ 100013 w 117"/>
              <a:gd name="T3" fmla="*/ 180975 h 114"/>
              <a:gd name="T4" fmla="*/ 0 w 117"/>
              <a:gd name="T5" fmla="*/ 0 h 114"/>
              <a:gd name="T6" fmla="*/ 185738 w 117"/>
              <a:gd name="T7" fmla="*/ 115888 h 114"/>
              <a:gd name="T8" fmla="*/ 142875 w 117"/>
              <a:gd name="T9" fmla="*/ 141288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7"/>
              <a:gd name="T16" fmla="*/ 0 h 114"/>
              <a:gd name="T17" fmla="*/ 117 w 117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7" h="114">
                <a:moveTo>
                  <a:pt x="90" y="89"/>
                </a:moveTo>
                <a:lnTo>
                  <a:pt x="63" y="114"/>
                </a:lnTo>
                <a:lnTo>
                  <a:pt x="0" y="0"/>
                </a:lnTo>
                <a:lnTo>
                  <a:pt x="117" y="73"/>
                </a:lnTo>
                <a:lnTo>
                  <a:pt x="90" y="8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1" name="Freeform 1166"/>
          <p:cNvSpPr>
            <a:spLocks/>
          </p:cNvSpPr>
          <p:nvPr/>
        </p:nvSpPr>
        <p:spPr bwMode="auto">
          <a:xfrm>
            <a:off x="8034339" y="5626100"/>
            <a:ext cx="357187" cy="65088"/>
          </a:xfrm>
          <a:custGeom>
            <a:avLst/>
            <a:gdLst>
              <a:gd name="T0" fmla="*/ 357187 w 225"/>
              <a:gd name="T1" fmla="*/ 25400 h 41"/>
              <a:gd name="T2" fmla="*/ 357187 w 225"/>
              <a:gd name="T3" fmla="*/ 0 h 41"/>
              <a:gd name="T4" fmla="*/ 0 w 225"/>
              <a:gd name="T5" fmla="*/ 39688 h 41"/>
              <a:gd name="T6" fmla="*/ 0 w 225"/>
              <a:gd name="T7" fmla="*/ 39688 h 41"/>
              <a:gd name="T8" fmla="*/ 0 w 225"/>
              <a:gd name="T9" fmla="*/ 65088 h 41"/>
              <a:gd name="T10" fmla="*/ 0 w 225"/>
              <a:gd name="T11" fmla="*/ 65088 h 41"/>
              <a:gd name="T12" fmla="*/ 357187 w 225"/>
              <a:gd name="T13" fmla="*/ 2540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41"/>
              <a:gd name="T23" fmla="*/ 225 w 225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41">
                <a:moveTo>
                  <a:pt x="225" y="16"/>
                </a:moveTo>
                <a:lnTo>
                  <a:pt x="225" y="0"/>
                </a:lnTo>
                <a:lnTo>
                  <a:pt x="0" y="25"/>
                </a:lnTo>
                <a:lnTo>
                  <a:pt x="0" y="41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2" name="Freeform 1167"/>
          <p:cNvSpPr>
            <a:spLocks/>
          </p:cNvSpPr>
          <p:nvPr/>
        </p:nvSpPr>
        <p:spPr bwMode="auto">
          <a:xfrm>
            <a:off x="7677150" y="5665788"/>
            <a:ext cx="357188" cy="25400"/>
          </a:xfrm>
          <a:custGeom>
            <a:avLst/>
            <a:gdLst>
              <a:gd name="T0" fmla="*/ 357188 w 225"/>
              <a:gd name="T1" fmla="*/ 25400 h 16"/>
              <a:gd name="T2" fmla="*/ 357188 w 225"/>
              <a:gd name="T3" fmla="*/ 0 h 16"/>
              <a:gd name="T4" fmla="*/ 0 w 225"/>
              <a:gd name="T5" fmla="*/ 0 h 16"/>
              <a:gd name="T6" fmla="*/ 0 w 225"/>
              <a:gd name="T7" fmla="*/ 0 h 16"/>
              <a:gd name="T8" fmla="*/ 0 w 225"/>
              <a:gd name="T9" fmla="*/ 25400 h 16"/>
              <a:gd name="T10" fmla="*/ 0 w 225"/>
              <a:gd name="T11" fmla="*/ 25400 h 16"/>
              <a:gd name="T12" fmla="*/ 357188 w 225"/>
              <a:gd name="T13" fmla="*/ 2540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5"/>
              <a:gd name="T22" fmla="*/ 0 h 16"/>
              <a:gd name="T23" fmla="*/ 225 w 225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5" h="16">
                <a:moveTo>
                  <a:pt x="225" y="16"/>
                </a:moveTo>
                <a:lnTo>
                  <a:pt x="225" y="0"/>
                </a:lnTo>
                <a:lnTo>
                  <a:pt x="0" y="0"/>
                </a:lnTo>
                <a:lnTo>
                  <a:pt x="0" y="16"/>
                </a:lnTo>
                <a:lnTo>
                  <a:pt x="225" y="1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3" name="Freeform 1168"/>
          <p:cNvSpPr>
            <a:spLocks/>
          </p:cNvSpPr>
          <p:nvPr/>
        </p:nvSpPr>
        <p:spPr bwMode="auto">
          <a:xfrm>
            <a:off x="7334250" y="5626100"/>
            <a:ext cx="342900" cy="65088"/>
          </a:xfrm>
          <a:custGeom>
            <a:avLst/>
            <a:gdLst>
              <a:gd name="T0" fmla="*/ 342900 w 216"/>
              <a:gd name="T1" fmla="*/ 65088 h 41"/>
              <a:gd name="T2" fmla="*/ 342900 w 216"/>
              <a:gd name="T3" fmla="*/ 39688 h 41"/>
              <a:gd name="T4" fmla="*/ 0 w 216"/>
              <a:gd name="T5" fmla="*/ 0 h 41"/>
              <a:gd name="T6" fmla="*/ 0 w 216"/>
              <a:gd name="T7" fmla="*/ 0 h 41"/>
              <a:gd name="T8" fmla="*/ 0 w 216"/>
              <a:gd name="T9" fmla="*/ 25400 h 41"/>
              <a:gd name="T10" fmla="*/ 0 w 216"/>
              <a:gd name="T11" fmla="*/ 25400 h 41"/>
              <a:gd name="T12" fmla="*/ 342900 w 216"/>
              <a:gd name="T13" fmla="*/ 65088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"/>
              <a:gd name="T22" fmla="*/ 0 h 41"/>
              <a:gd name="T23" fmla="*/ 216 w 216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" h="41">
                <a:moveTo>
                  <a:pt x="216" y="41"/>
                </a:moveTo>
                <a:lnTo>
                  <a:pt x="216" y="25"/>
                </a:lnTo>
                <a:lnTo>
                  <a:pt x="0" y="0"/>
                </a:lnTo>
                <a:lnTo>
                  <a:pt x="0" y="16"/>
                </a:lnTo>
                <a:lnTo>
                  <a:pt x="216" y="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4" name="Freeform 1169"/>
          <p:cNvSpPr>
            <a:spLocks/>
          </p:cNvSpPr>
          <p:nvPr/>
        </p:nvSpPr>
        <p:spPr bwMode="auto">
          <a:xfrm>
            <a:off x="7005638" y="5561014"/>
            <a:ext cx="328612" cy="90487"/>
          </a:xfrm>
          <a:custGeom>
            <a:avLst/>
            <a:gdLst>
              <a:gd name="T0" fmla="*/ 328612 w 207"/>
              <a:gd name="T1" fmla="*/ 90487 h 57"/>
              <a:gd name="T2" fmla="*/ 328612 w 207"/>
              <a:gd name="T3" fmla="*/ 65087 h 57"/>
              <a:gd name="T4" fmla="*/ 0 w 207"/>
              <a:gd name="T5" fmla="*/ 0 h 57"/>
              <a:gd name="T6" fmla="*/ 14287 w 207"/>
              <a:gd name="T7" fmla="*/ 0 h 57"/>
              <a:gd name="T8" fmla="*/ 0 w 207"/>
              <a:gd name="T9" fmla="*/ 26987 h 57"/>
              <a:gd name="T10" fmla="*/ 0 w 207"/>
              <a:gd name="T11" fmla="*/ 26987 h 57"/>
              <a:gd name="T12" fmla="*/ 328612 w 207"/>
              <a:gd name="T13" fmla="*/ 90487 h 5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7"/>
              <a:gd name="T22" fmla="*/ 0 h 57"/>
              <a:gd name="T23" fmla="*/ 207 w 207"/>
              <a:gd name="T24" fmla="*/ 57 h 5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7" h="57">
                <a:moveTo>
                  <a:pt x="207" y="57"/>
                </a:moveTo>
                <a:lnTo>
                  <a:pt x="207" y="41"/>
                </a:lnTo>
                <a:lnTo>
                  <a:pt x="0" y="0"/>
                </a:lnTo>
                <a:lnTo>
                  <a:pt x="9" y="0"/>
                </a:lnTo>
                <a:lnTo>
                  <a:pt x="0" y="17"/>
                </a:lnTo>
                <a:lnTo>
                  <a:pt x="207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5" name="Freeform 1170"/>
          <p:cNvSpPr>
            <a:spLocks/>
          </p:cNvSpPr>
          <p:nvPr/>
        </p:nvSpPr>
        <p:spPr bwMode="auto">
          <a:xfrm>
            <a:off x="6705601" y="5457826"/>
            <a:ext cx="314325" cy="130175"/>
          </a:xfrm>
          <a:custGeom>
            <a:avLst/>
            <a:gdLst>
              <a:gd name="T0" fmla="*/ 300038 w 198"/>
              <a:gd name="T1" fmla="*/ 130175 h 82"/>
              <a:gd name="T2" fmla="*/ 314325 w 198"/>
              <a:gd name="T3" fmla="*/ 103188 h 82"/>
              <a:gd name="T4" fmla="*/ 14288 w 198"/>
              <a:gd name="T5" fmla="*/ 0 h 82"/>
              <a:gd name="T6" fmla="*/ 14288 w 198"/>
              <a:gd name="T7" fmla="*/ 0 h 82"/>
              <a:gd name="T8" fmla="*/ 0 w 198"/>
              <a:gd name="T9" fmla="*/ 25400 h 82"/>
              <a:gd name="T10" fmla="*/ 0 w 198"/>
              <a:gd name="T11" fmla="*/ 25400 h 82"/>
              <a:gd name="T12" fmla="*/ 300038 w 198"/>
              <a:gd name="T13" fmla="*/ 130175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98"/>
              <a:gd name="T22" fmla="*/ 0 h 82"/>
              <a:gd name="T23" fmla="*/ 198 w 198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98" h="82">
                <a:moveTo>
                  <a:pt x="189" y="82"/>
                </a:moveTo>
                <a:lnTo>
                  <a:pt x="198" y="65"/>
                </a:lnTo>
                <a:lnTo>
                  <a:pt x="9" y="0"/>
                </a:lnTo>
                <a:lnTo>
                  <a:pt x="0" y="16"/>
                </a:lnTo>
                <a:lnTo>
                  <a:pt x="189" y="8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6" name="Freeform 1171"/>
          <p:cNvSpPr>
            <a:spLocks/>
          </p:cNvSpPr>
          <p:nvPr/>
        </p:nvSpPr>
        <p:spPr bwMode="auto">
          <a:xfrm>
            <a:off x="6419850" y="5327651"/>
            <a:ext cx="300038" cy="155575"/>
          </a:xfrm>
          <a:custGeom>
            <a:avLst/>
            <a:gdLst>
              <a:gd name="T0" fmla="*/ 285750 w 189"/>
              <a:gd name="T1" fmla="*/ 155575 h 98"/>
              <a:gd name="T2" fmla="*/ 300038 w 189"/>
              <a:gd name="T3" fmla="*/ 130175 h 98"/>
              <a:gd name="T4" fmla="*/ 14288 w 189"/>
              <a:gd name="T5" fmla="*/ 0 h 98"/>
              <a:gd name="T6" fmla="*/ 14288 w 189"/>
              <a:gd name="T7" fmla="*/ 0 h 98"/>
              <a:gd name="T8" fmla="*/ 0 w 189"/>
              <a:gd name="T9" fmla="*/ 26988 h 98"/>
              <a:gd name="T10" fmla="*/ 0 w 189"/>
              <a:gd name="T11" fmla="*/ 26988 h 98"/>
              <a:gd name="T12" fmla="*/ 285750 w 189"/>
              <a:gd name="T13" fmla="*/ 155575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89"/>
              <a:gd name="T22" fmla="*/ 0 h 98"/>
              <a:gd name="T23" fmla="*/ 189 w 189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89" h="98">
                <a:moveTo>
                  <a:pt x="180" y="98"/>
                </a:moveTo>
                <a:lnTo>
                  <a:pt x="189" y="82"/>
                </a:lnTo>
                <a:lnTo>
                  <a:pt x="9" y="0"/>
                </a:lnTo>
                <a:lnTo>
                  <a:pt x="0" y="17"/>
                </a:lnTo>
                <a:lnTo>
                  <a:pt x="180" y="9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7" name="Freeform 1172"/>
          <p:cNvSpPr>
            <a:spLocks/>
          </p:cNvSpPr>
          <p:nvPr/>
        </p:nvSpPr>
        <p:spPr bwMode="auto">
          <a:xfrm>
            <a:off x="6162676" y="5159376"/>
            <a:ext cx="271463" cy="195263"/>
          </a:xfrm>
          <a:custGeom>
            <a:avLst/>
            <a:gdLst>
              <a:gd name="T0" fmla="*/ 257175 w 171"/>
              <a:gd name="T1" fmla="*/ 195263 h 123"/>
              <a:gd name="T2" fmla="*/ 271463 w 171"/>
              <a:gd name="T3" fmla="*/ 168275 h 123"/>
              <a:gd name="T4" fmla="*/ 28575 w 171"/>
              <a:gd name="T5" fmla="*/ 0 h 123"/>
              <a:gd name="T6" fmla="*/ 28575 w 171"/>
              <a:gd name="T7" fmla="*/ 12700 h 123"/>
              <a:gd name="T8" fmla="*/ 0 w 171"/>
              <a:gd name="T9" fmla="*/ 25400 h 123"/>
              <a:gd name="T10" fmla="*/ 14288 w 171"/>
              <a:gd name="T11" fmla="*/ 25400 h 123"/>
              <a:gd name="T12" fmla="*/ 257175 w 171"/>
              <a:gd name="T13" fmla="*/ 195263 h 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1"/>
              <a:gd name="T22" fmla="*/ 0 h 123"/>
              <a:gd name="T23" fmla="*/ 171 w 171"/>
              <a:gd name="T24" fmla="*/ 123 h 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1" h="123">
                <a:moveTo>
                  <a:pt x="162" y="123"/>
                </a:moveTo>
                <a:lnTo>
                  <a:pt x="171" y="106"/>
                </a:lnTo>
                <a:lnTo>
                  <a:pt x="18" y="0"/>
                </a:lnTo>
                <a:lnTo>
                  <a:pt x="18" y="8"/>
                </a:lnTo>
                <a:lnTo>
                  <a:pt x="0" y="16"/>
                </a:lnTo>
                <a:lnTo>
                  <a:pt x="9" y="16"/>
                </a:lnTo>
                <a:lnTo>
                  <a:pt x="162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8" name="Freeform 1173"/>
          <p:cNvSpPr>
            <a:spLocks/>
          </p:cNvSpPr>
          <p:nvPr/>
        </p:nvSpPr>
        <p:spPr bwMode="auto">
          <a:xfrm>
            <a:off x="5948364" y="4964113"/>
            <a:ext cx="242887" cy="220662"/>
          </a:xfrm>
          <a:custGeom>
            <a:avLst/>
            <a:gdLst>
              <a:gd name="T0" fmla="*/ 214312 w 153"/>
              <a:gd name="T1" fmla="*/ 220662 h 139"/>
              <a:gd name="T2" fmla="*/ 242887 w 153"/>
              <a:gd name="T3" fmla="*/ 207962 h 139"/>
              <a:gd name="T4" fmla="*/ 28575 w 153"/>
              <a:gd name="T5" fmla="*/ 0 h 139"/>
              <a:gd name="T6" fmla="*/ 0 w 153"/>
              <a:gd name="T7" fmla="*/ 14287 h 139"/>
              <a:gd name="T8" fmla="*/ 214312 w 153"/>
              <a:gd name="T9" fmla="*/ 220662 h 13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139"/>
              <a:gd name="T17" fmla="*/ 153 w 153"/>
              <a:gd name="T18" fmla="*/ 139 h 13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139">
                <a:moveTo>
                  <a:pt x="135" y="139"/>
                </a:moveTo>
                <a:lnTo>
                  <a:pt x="153" y="131"/>
                </a:lnTo>
                <a:lnTo>
                  <a:pt x="18" y="0"/>
                </a:lnTo>
                <a:lnTo>
                  <a:pt x="0" y="9"/>
                </a:lnTo>
                <a:lnTo>
                  <a:pt x="135" y="13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39" name="Oval 1174"/>
          <p:cNvSpPr>
            <a:spLocks noChangeArrowheads="1"/>
          </p:cNvSpPr>
          <p:nvPr/>
        </p:nvSpPr>
        <p:spPr bwMode="auto">
          <a:xfrm>
            <a:off x="7991475" y="5418139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0" name="Oval 1175"/>
          <p:cNvSpPr>
            <a:spLocks noChangeArrowheads="1"/>
          </p:cNvSpPr>
          <p:nvPr/>
        </p:nvSpPr>
        <p:spPr bwMode="auto">
          <a:xfrm>
            <a:off x="7991475" y="5421314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1" name="Rectangle 1176"/>
          <p:cNvSpPr>
            <a:spLocks noChangeArrowheads="1"/>
          </p:cNvSpPr>
          <p:nvPr/>
        </p:nvSpPr>
        <p:spPr bwMode="auto">
          <a:xfrm>
            <a:off x="8134351" y="5521325"/>
            <a:ext cx="47448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MIA</a:t>
            </a:r>
            <a:endParaRPr lang="en-US" b="1">
              <a:latin typeface="Times" charset="0"/>
            </a:endParaRPr>
          </a:p>
        </p:txBody>
      </p:sp>
      <p:sp>
        <p:nvSpPr>
          <p:cNvPr id="38042" name="Oval 1177"/>
          <p:cNvSpPr>
            <a:spLocks noChangeArrowheads="1"/>
          </p:cNvSpPr>
          <p:nvPr/>
        </p:nvSpPr>
        <p:spPr bwMode="auto">
          <a:xfrm>
            <a:off x="6076950" y="2085976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3" name="Oval 1178"/>
          <p:cNvSpPr>
            <a:spLocks noChangeArrowheads="1"/>
          </p:cNvSpPr>
          <p:nvPr/>
        </p:nvSpPr>
        <p:spPr bwMode="auto">
          <a:xfrm>
            <a:off x="6076950" y="2089151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4" name="Rectangle 1179"/>
          <p:cNvSpPr>
            <a:spLocks noChangeArrowheads="1"/>
          </p:cNvSpPr>
          <p:nvPr/>
        </p:nvSpPr>
        <p:spPr bwMode="auto">
          <a:xfrm>
            <a:off x="6191250" y="2201863"/>
            <a:ext cx="51456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ORD</a:t>
            </a:r>
            <a:endParaRPr lang="en-US" b="1">
              <a:latin typeface="Times" charset="0"/>
            </a:endParaRPr>
          </a:p>
        </p:txBody>
      </p:sp>
      <p:sp>
        <p:nvSpPr>
          <p:cNvPr id="38045" name="Oval 1180"/>
          <p:cNvSpPr>
            <a:spLocks noChangeArrowheads="1"/>
          </p:cNvSpPr>
          <p:nvPr/>
        </p:nvSpPr>
        <p:spPr bwMode="auto">
          <a:xfrm>
            <a:off x="2647950" y="4667250"/>
            <a:ext cx="800100" cy="43973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6" name="Oval 1181"/>
          <p:cNvSpPr>
            <a:spLocks noChangeArrowheads="1"/>
          </p:cNvSpPr>
          <p:nvPr/>
        </p:nvSpPr>
        <p:spPr bwMode="auto">
          <a:xfrm>
            <a:off x="2647950" y="4668838"/>
            <a:ext cx="800100" cy="436562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7" name="Rectangle 1182"/>
          <p:cNvSpPr>
            <a:spLocks noChangeArrowheads="1"/>
          </p:cNvSpPr>
          <p:nvPr/>
        </p:nvSpPr>
        <p:spPr bwMode="auto">
          <a:xfrm>
            <a:off x="2776538" y="4783138"/>
            <a:ext cx="50174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LAX</a:t>
            </a:r>
            <a:endParaRPr lang="en-US" b="1">
              <a:latin typeface="Times" charset="0"/>
            </a:endParaRPr>
          </a:p>
        </p:txBody>
      </p:sp>
      <p:sp>
        <p:nvSpPr>
          <p:cNvPr id="38048" name="Oval 1183"/>
          <p:cNvSpPr>
            <a:spLocks noChangeArrowheads="1"/>
          </p:cNvSpPr>
          <p:nvPr/>
        </p:nvSpPr>
        <p:spPr bwMode="auto">
          <a:xfrm>
            <a:off x="5119689" y="4419601"/>
            <a:ext cx="814387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49" name="Oval 1184"/>
          <p:cNvSpPr>
            <a:spLocks noChangeArrowheads="1"/>
          </p:cNvSpPr>
          <p:nvPr/>
        </p:nvSpPr>
        <p:spPr bwMode="auto">
          <a:xfrm>
            <a:off x="5119689" y="4422776"/>
            <a:ext cx="814387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50" name="Rectangle 1185"/>
          <p:cNvSpPr>
            <a:spLocks noChangeArrowheads="1"/>
          </p:cNvSpPr>
          <p:nvPr/>
        </p:nvSpPr>
        <p:spPr bwMode="auto">
          <a:xfrm>
            <a:off x="5233989" y="4537075"/>
            <a:ext cx="541815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DFW</a:t>
            </a:r>
            <a:endParaRPr lang="en-US" b="1">
              <a:latin typeface="Times" charset="0"/>
            </a:endParaRPr>
          </a:p>
        </p:txBody>
      </p:sp>
      <p:sp>
        <p:nvSpPr>
          <p:cNvPr id="38051" name="Oval 1186"/>
          <p:cNvSpPr>
            <a:spLocks noChangeArrowheads="1"/>
          </p:cNvSpPr>
          <p:nvPr/>
        </p:nvSpPr>
        <p:spPr bwMode="auto">
          <a:xfrm>
            <a:off x="2462213" y="3370264"/>
            <a:ext cx="800100" cy="44132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52" name="Oval 1187"/>
          <p:cNvSpPr>
            <a:spLocks noChangeArrowheads="1"/>
          </p:cNvSpPr>
          <p:nvPr/>
        </p:nvSpPr>
        <p:spPr bwMode="auto">
          <a:xfrm>
            <a:off x="2462213" y="3373439"/>
            <a:ext cx="800100" cy="434975"/>
          </a:xfrm>
          <a:prstGeom prst="ellipse">
            <a:avLst/>
          </a:prstGeom>
          <a:noFill/>
          <a:ln w="571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53" name="Rectangle 1188"/>
          <p:cNvSpPr>
            <a:spLocks noChangeArrowheads="1"/>
          </p:cNvSpPr>
          <p:nvPr/>
        </p:nvSpPr>
        <p:spPr bwMode="auto">
          <a:xfrm>
            <a:off x="2605089" y="3486150"/>
            <a:ext cx="448841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900">
                <a:solidFill>
                  <a:srgbClr val="0000FF"/>
                </a:solidFill>
                <a:latin typeface="Times New Roman" charset="0"/>
              </a:rPr>
              <a:t>SFO</a:t>
            </a:r>
            <a:endParaRPr lang="en-US" b="1">
              <a:latin typeface="Times" charset="0"/>
            </a:endParaRPr>
          </a:p>
        </p:txBody>
      </p:sp>
      <p:sp>
        <p:nvSpPr>
          <p:cNvPr id="38055" name="Rectangle 1190"/>
          <p:cNvSpPr>
            <a:spLocks noChangeArrowheads="1"/>
          </p:cNvSpPr>
          <p:nvPr/>
        </p:nvSpPr>
        <p:spPr bwMode="auto">
          <a:xfrm>
            <a:off x="2362201" y="2916239"/>
            <a:ext cx="385763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56" name="Rectangle 1191"/>
          <p:cNvSpPr>
            <a:spLocks noChangeArrowheads="1"/>
          </p:cNvSpPr>
          <p:nvPr/>
        </p:nvSpPr>
        <p:spPr bwMode="auto">
          <a:xfrm>
            <a:off x="2362201" y="2917826"/>
            <a:ext cx="385763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57" name="Rectangle 1192"/>
          <p:cNvSpPr>
            <a:spLocks noChangeArrowheads="1"/>
          </p:cNvSpPr>
          <p:nvPr/>
        </p:nvSpPr>
        <p:spPr bwMode="auto">
          <a:xfrm>
            <a:off x="2433638" y="28781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58" name="Rectangle 1193"/>
          <p:cNvSpPr>
            <a:spLocks noChangeArrowheads="1"/>
          </p:cNvSpPr>
          <p:nvPr/>
        </p:nvSpPr>
        <p:spPr bwMode="auto">
          <a:xfrm>
            <a:off x="2576513" y="3033713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2</a:t>
            </a:r>
            <a:endParaRPr lang="en-US" b="1">
              <a:latin typeface="Times" charset="0"/>
            </a:endParaRPr>
          </a:p>
        </p:txBody>
      </p:sp>
      <p:sp>
        <p:nvSpPr>
          <p:cNvPr id="38060" name="Rectangle 1195"/>
          <p:cNvSpPr>
            <a:spLocks noChangeArrowheads="1"/>
          </p:cNvSpPr>
          <p:nvPr/>
        </p:nvSpPr>
        <p:spPr bwMode="auto">
          <a:xfrm>
            <a:off x="2376488" y="522446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62" name="Rectangle 1197"/>
          <p:cNvSpPr>
            <a:spLocks noChangeArrowheads="1"/>
          </p:cNvSpPr>
          <p:nvPr/>
        </p:nvSpPr>
        <p:spPr bwMode="auto">
          <a:xfrm>
            <a:off x="2447925" y="51863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63" name="Rectangle 1198"/>
          <p:cNvSpPr>
            <a:spLocks noChangeArrowheads="1"/>
          </p:cNvSpPr>
          <p:nvPr/>
        </p:nvSpPr>
        <p:spPr bwMode="auto">
          <a:xfrm>
            <a:off x="2590800" y="53419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1</a:t>
            </a:r>
            <a:endParaRPr lang="en-US" b="1">
              <a:latin typeface="Times" charset="0"/>
            </a:endParaRPr>
          </a:p>
        </p:txBody>
      </p:sp>
      <p:sp>
        <p:nvSpPr>
          <p:cNvPr id="38065" name="Rectangle 1200"/>
          <p:cNvSpPr>
            <a:spLocks noChangeArrowheads="1"/>
          </p:cNvSpPr>
          <p:nvPr/>
        </p:nvSpPr>
        <p:spPr bwMode="auto">
          <a:xfrm>
            <a:off x="5133975" y="5003800"/>
            <a:ext cx="400050" cy="3635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67" name="Rectangle 1202"/>
          <p:cNvSpPr>
            <a:spLocks noChangeArrowheads="1"/>
          </p:cNvSpPr>
          <p:nvPr/>
        </p:nvSpPr>
        <p:spPr bwMode="auto">
          <a:xfrm>
            <a:off x="5219700" y="4978401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68" name="Rectangle 1203"/>
          <p:cNvSpPr>
            <a:spLocks noChangeArrowheads="1"/>
          </p:cNvSpPr>
          <p:nvPr/>
        </p:nvSpPr>
        <p:spPr bwMode="auto">
          <a:xfrm>
            <a:off x="5362575" y="512127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3</a:t>
            </a:r>
            <a:endParaRPr lang="en-US" b="1">
              <a:latin typeface="Times" charset="0"/>
            </a:endParaRPr>
          </a:p>
        </p:txBody>
      </p:sp>
      <p:sp>
        <p:nvSpPr>
          <p:cNvPr id="38070" name="Rectangle 1205"/>
          <p:cNvSpPr>
            <a:spLocks noChangeArrowheads="1"/>
          </p:cNvSpPr>
          <p:nvPr/>
        </p:nvSpPr>
        <p:spPr bwMode="auto">
          <a:xfrm>
            <a:off x="6991351" y="2138364"/>
            <a:ext cx="385763" cy="3635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72" name="Rectangle 1207"/>
          <p:cNvSpPr>
            <a:spLocks noChangeArrowheads="1"/>
          </p:cNvSpPr>
          <p:nvPr/>
        </p:nvSpPr>
        <p:spPr bwMode="auto">
          <a:xfrm>
            <a:off x="7062788" y="210026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73" name="Rectangle 1208"/>
          <p:cNvSpPr>
            <a:spLocks noChangeArrowheads="1"/>
          </p:cNvSpPr>
          <p:nvPr/>
        </p:nvSpPr>
        <p:spPr bwMode="auto">
          <a:xfrm>
            <a:off x="7205663" y="225583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4</a:t>
            </a:r>
            <a:endParaRPr lang="en-US" b="1">
              <a:latin typeface="Times" charset="0"/>
            </a:endParaRPr>
          </a:p>
        </p:txBody>
      </p:sp>
      <p:sp>
        <p:nvSpPr>
          <p:cNvPr id="38075" name="Rectangle 1210"/>
          <p:cNvSpPr>
            <a:spLocks noChangeArrowheads="1"/>
          </p:cNvSpPr>
          <p:nvPr/>
        </p:nvSpPr>
        <p:spPr bwMode="auto">
          <a:xfrm>
            <a:off x="7877175" y="6002338"/>
            <a:ext cx="400050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76" name="Rectangle 1211"/>
          <p:cNvSpPr>
            <a:spLocks noChangeArrowheads="1"/>
          </p:cNvSpPr>
          <p:nvPr/>
        </p:nvSpPr>
        <p:spPr bwMode="auto">
          <a:xfrm>
            <a:off x="7877175" y="6003926"/>
            <a:ext cx="400050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77" name="Rectangle 1212"/>
          <p:cNvSpPr>
            <a:spLocks noChangeArrowheads="1"/>
          </p:cNvSpPr>
          <p:nvPr/>
        </p:nvSpPr>
        <p:spPr bwMode="auto">
          <a:xfrm>
            <a:off x="7948613" y="5964239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78" name="Rectangle 1213"/>
          <p:cNvSpPr>
            <a:spLocks noChangeArrowheads="1"/>
          </p:cNvSpPr>
          <p:nvPr/>
        </p:nvSpPr>
        <p:spPr bwMode="auto">
          <a:xfrm>
            <a:off x="8105775" y="6105525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5</a:t>
            </a:r>
            <a:endParaRPr lang="en-US" b="1">
              <a:latin typeface="Times" charset="0"/>
            </a:endParaRPr>
          </a:p>
        </p:txBody>
      </p:sp>
      <p:sp>
        <p:nvSpPr>
          <p:cNvPr id="38080" name="Rectangle 1215"/>
          <p:cNvSpPr>
            <a:spLocks noChangeArrowheads="1"/>
          </p:cNvSpPr>
          <p:nvPr/>
        </p:nvSpPr>
        <p:spPr bwMode="auto">
          <a:xfrm>
            <a:off x="8920163" y="3059113"/>
            <a:ext cx="385762" cy="349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81" name="Rectangle 1216"/>
          <p:cNvSpPr>
            <a:spLocks noChangeArrowheads="1"/>
          </p:cNvSpPr>
          <p:nvPr/>
        </p:nvSpPr>
        <p:spPr bwMode="auto">
          <a:xfrm>
            <a:off x="8920163" y="306070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082" name="Rectangle 1217"/>
          <p:cNvSpPr>
            <a:spLocks noChangeArrowheads="1"/>
          </p:cNvSpPr>
          <p:nvPr/>
        </p:nvSpPr>
        <p:spPr bwMode="auto">
          <a:xfrm>
            <a:off x="8991600" y="3021014"/>
            <a:ext cx="10259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i="1">
                <a:solidFill>
                  <a:srgbClr val="000000"/>
                </a:solidFill>
                <a:latin typeface="Times New Roman" charset="0"/>
              </a:rPr>
              <a:t>v</a:t>
            </a:r>
            <a:endParaRPr lang="en-US" b="1">
              <a:latin typeface="Times" charset="0"/>
            </a:endParaRPr>
          </a:p>
        </p:txBody>
      </p:sp>
      <p:sp>
        <p:nvSpPr>
          <p:cNvPr id="38083" name="Rectangle 1218"/>
          <p:cNvSpPr>
            <a:spLocks noChangeArrowheads="1"/>
          </p:cNvSpPr>
          <p:nvPr/>
        </p:nvSpPr>
        <p:spPr bwMode="auto">
          <a:xfrm>
            <a:off x="9134475" y="3162300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 eaLnBrk="0" hangingPunct="0"/>
            <a:r>
              <a:rPr lang="en-US" sz="1400">
                <a:solidFill>
                  <a:srgbClr val="000000"/>
                </a:solidFill>
                <a:latin typeface="Times New Roman" charset="0"/>
              </a:rPr>
              <a:t>6</a:t>
            </a:r>
            <a:endParaRPr lang="en-US" b="1">
              <a:latin typeface="Times" charset="0"/>
            </a:endParaRPr>
          </a:p>
        </p:txBody>
      </p:sp>
      <p:pic>
        <p:nvPicPr>
          <p:cNvPr id="38084" name="Picture 12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6913" y="1219200"/>
            <a:ext cx="4191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085" name="AutoShape 1220"/>
          <p:cNvCxnSpPr>
            <a:cxnSpLocks noChangeShapeType="1"/>
            <a:stCxn id="38040" idx="1"/>
            <a:endCxn id="38043" idx="5"/>
          </p:cNvCxnSpPr>
          <p:nvPr/>
        </p:nvCxnSpPr>
        <p:spPr bwMode="auto">
          <a:xfrm rot="5400000" flipH="1">
            <a:off x="5950744" y="3298032"/>
            <a:ext cx="2967038" cy="1349375"/>
          </a:xfrm>
          <a:prstGeom prst="curvedConnector3">
            <a:avLst>
              <a:gd name="adj1" fmla="val 49972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86" name="AutoShape 1221"/>
          <p:cNvCxnSpPr>
            <a:cxnSpLocks noChangeShapeType="1"/>
            <a:stCxn id="38040" idx="3"/>
            <a:endCxn id="38052" idx="2"/>
          </p:cNvCxnSpPr>
          <p:nvPr/>
        </p:nvCxnSpPr>
        <p:spPr bwMode="auto">
          <a:xfrm rot="16200000" flipV="1">
            <a:off x="4156075" y="1868488"/>
            <a:ext cx="2230438" cy="5675312"/>
          </a:xfrm>
          <a:prstGeom prst="curvedConnector4">
            <a:avLst>
              <a:gd name="adj1" fmla="val -25125"/>
              <a:gd name="adj2" fmla="val 10883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87" name="AutoShape 1222"/>
          <p:cNvCxnSpPr>
            <a:cxnSpLocks noChangeShapeType="1"/>
            <a:stCxn id="38026" idx="3"/>
            <a:endCxn id="38046" idx="7"/>
          </p:cNvCxnSpPr>
          <p:nvPr/>
        </p:nvCxnSpPr>
        <p:spPr bwMode="auto">
          <a:xfrm rot="5400000">
            <a:off x="4944269" y="1381919"/>
            <a:ext cx="1708150" cy="4935538"/>
          </a:xfrm>
          <a:prstGeom prst="curvedConnector3">
            <a:avLst>
              <a:gd name="adj1" fmla="val 50000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88" name="AutoShape 1223"/>
          <p:cNvCxnSpPr>
            <a:cxnSpLocks noChangeShapeType="1"/>
            <a:stCxn id="38026" idx="2"/>
            <a:endCxn id="38043" idx="5"/>
          </p:cNvCxnSpPr>
          <p:nvPr/>
        </p:nvCxnSpPr>
        <p:spPr bwMode="auto">
          <a:xfrm rot="10800000">
            <a:off x="6759575" y="2489200"/>
            <a:ext cx="1360488" cy="323850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89" name="AutoShape 1224"/>
          <p:cNvCxnSpPr>
            <a:cxnSpLocks noChangeShapeType="1"/>
            <a:stCxn id="38046" idx="7"/>
            <a:endCxn id="38049" idx="2"/>
          </p:cNvCxnSpPr>
          <p:nvPr/>
        </p:nvCxnSpPr>
        <p:spPr bwMode="auto">
          <a:xfrm rot="-5400000">
            <a:off x="4179094" y="3791744"/>
            <a:ext cx="63500" cy="1760538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0" name="AutoShape 1225"/>
          <p:cNvCxnSpPr>
            <a:cxnSpLocks noChangeShapeType="1"/>
            <a:stCxn id="37891" idx="2"/>
            <a:endCxn id="38051" idx="7"/>
          </p:cNvCxnSpPr>
          <p:nvPr/>
        </p:nvCxnSpPr>
        <p:spPr bwMode="auto">
          <a:xfrm rot="10800000" flipV="1">
            <a:off x="3144839" y="1724026"/>
            <a:ext cx="5551487" cy="171132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1" name="AutoShape 1227"/>
          <p:cNvCxnSpPr>
            <a:cxnSpLocks noChangeShapeType="1"/>
            <a:stCxn id="38098" idx="2"/>
            <a:endCxn id="38049" idx="7"/>
          </p:cNvCxnSpPr>
          <p:nvPr/>
        </p:nvCxnSpPr>
        <p:spPr bwMode="auto">
          <a:xfrm flipH="1">
            <a:off x="5815013" y="1724026"/>
            <a:ext cx="2919412" cy="27336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2" name="AutoShape 1228"/>
          <p:cNvCxnSpPr>
            <a:cxnSpLocks noChangeShapeType="1"/>
            <a:stCxn id="38098" idx="1"/>
            <a:endCxn id="38043" idx="7"/>
          </p:cNvCxnSpPr>
          <p:nvPr/>
        </p:nvCxnSpPr>
        <p:spPr bwMode="auto">
          <a:xfrm rot="-5400000" flipH="1" flipV="1">
            <a:off x="7527926" y="800101"/>
            <a:ext cx="555625" cy="2092325"/>
          </a:xfrm>
          <a:prstGeom prst="curvedConnector3">
            <a:avLst>
              <a:gd name="adj1" fmla="val -18005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38093" name="Group 1229"/>
          <p:cNvGrpSpPr>
            <a:grpSpLocks/>
          </p:cNvGrpSpPr>
          <p:nvPr/>
        </p:nvGrpSpPr>
        <p:grpSpPr bwMode="auto">
          <a:xfrm>
            <a:off x="8734425" y="1503364"/>
            <a:ext cx="800100" cy="439737"/>
            <a:chOff x="4542" y="947"/>
            <a:chExt cx="504" cy="277"/>
          </a:xfrm>
        </p:grpSpPr>
        <p:sp>
          <p:nvSpPr>
            <p:cNvPr id="38098" name="Oval 1230"/>
            <p:cNvSpPr>
              <a:spLocks noChangeArrowheads="1"/>
            </p:cNvSpPr>
            <p:nvPr/>
          </p:nvSpPr>
          <p:spPr bwMode="auto">
            <a:xfrm>
              <a:off x="4542" y="947"/>
              <a:ext cx="504" cy="27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099" name="Rectangle 1231"/>
            <p:cNvSpPr>
              <a:spLocks noChangeArrowheads="1"/>
            </p:cNvSpPr>
            <p:nvPr/>
          </p:nvSpPr>
          <p:spPr bwMode="auto">
            <a:xfrm>
              <a:off x="4655" y="1002"/>
              <a:ext cx="299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eaLnBrk="0" hangingPunct="0"/>
              <a:r>
                <a:rPr lang="en-US" sz="1900">
                  <a:solidFill>
                    <a:srgbClr val="0000FF"/>
                  </a:solidFill>
                  <a:latin typeface="Times New Roman" charset="0"/>
                </a:rPr>
                <a:t>BOS</a:t>
              </a:r>
              <a:endParaRPr lang="en-US" b="1">
                <a:latin typeface="Times" charset="0"/>
              </a:endParaRPr>
            </a:p>
          </p:txBody>
        </p:sp>
      </p:grpSp>
      <p:cxnSp>
        <p:nvCxnSpPr>
          <p:cNvPr id="38094" name="AutoShape 1232"/>
          <p:cNvCxnSpPr>
            <a:cxnSpLocks noChangeShapeType="1"/>
          </p:cNvCxnSpPr>
          <p:nvPr/>
        </p:nvCxnSpPr>
        <p:spPr bwMode="auto">
          <a:xfrm flipH="1">
            <a:off x="3330576" y="1724026"/>
            <a:ext cx="6232525" cy="3317875"/>
          </a:xfrm>
          <a:prstGeom prst="curvedConnector4">
            <a:avLst>
              <a:gd name="adj1" fmla="val -7264"/>
              <a:gd name="adj2" fmla="val 115597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5" name="AutoShape 1233"/>
          <p:cNvCxnSpPr>
            <a:cxnSpLocks noChangeShapeType="1"/>
          </p:cNvCxnSpPr>
          <p:nvPr/>
        </p:nvCxnSpPr>
        <p:spPr bwMode="auto">
          <a:xfrm rot="-5400000" flipH="1" flipV="1">
            <a:off x="3917950" y="1068388"/>
            <a:ext cx="1220788" cy="3332162"/>
          </a:xfrm>
          <a:prstGeom prst="curvedConnector3">
            <a:avLst>
              <a:gd name="adj1" fmla="val -21588"/>
            </a:avLst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6" name="AutoShape 1234"/>
          <p:cNvCxnSpPr>
            <a:cxnSpLocks noChangeShapeType="1"/>
          </p:cNvCxnSpPr>
          <p:nvPr/>
        </p:nvCxnSpPr>
        <p:spPr bwMode="auto">
          <a:xfrm flipH="1" flipV="1">
            <a:off x="2862264" y="3836989"/>
            <a:ext cx="185737" cy="803275"/>
          </a:xfrm>
          <a:prstGeom prst="straightConnector1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8097" name="AutoShape 202"/>
          <p:cNvCxnSpPr>
            <a:cxnSpLocks noChangeShapeType="1"/>
          </p:cNvCxnSpPr>
          <p:nvPr/>
        </p:nvCxnSpPr>
        <p:spPr bwMode="auto">
          <a:xfrm rot="5400000">
            <a:off x="3666332" y="2242345"/>
            <a:ext cx="2309813" cy="2746375"/>
          </a:xfrm>
          <a:prstGeom prst="curvedConnector2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206">
            <a:extLst>
              <a:ext uri="{FF2B5EF4-FFF2-40B4-BE49-F238E27FC236}">
                <a16:creationId xmlns:a16="http://schemas.microsoft.com/office/drawing/2014/main" id="{85C1C88E-5F94-6E6C-7F8A-08932A337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1351" y="2139951"/>
            <a:ext cx="385763" cy="3603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Rectangle 1201">
            <a:extLst>
              <a:ext uri="{FF2B5EF4-FFF2-40B4-BE49-F238E27FC236}">
                <a16:creationId xmlns:a16="http://schemas.microsoft.com/office/drawing/2014/main" id="{33D2E31C-867A-A574-A0BC-CE62A3E2C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3975" y="5005388"/>
            <a:ext cx="400050" cy="360362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Rectangle 1196">
            <a:extLst>
              <a:ext uri="{FF2B5EF4-FFF2-40B4-BE49-F238E27FC236}">
                <a16:creationId xmlns:a16="http://schemas.microsoft.com/office/drawing/2014/main" id="{B4334788-4543-20D7-F926-2996B4FCB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226051"/>
            <a:ext cx="385762" cy="34766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6B46A2F-6D12-DB09-BAA0-66661FEB8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</p:spPr>
        <p:txBody>
          <a:bodyPr>
            <a:normAutofit/>
          </a:bodyPr>
          <a:lstStyle/>
          <a:p>
            <a:r>
              <a:rPr lang="en-NL" dirty="0"/>
              <a:t>Floyd-Warshall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BCD6C6-C90D-8FB2-1944-D7226651F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096199"/>
            <a:ext cx="9489000" cy="3747384"/>
          </a:xfrm>
        </p:spPr>
        <p:txBody>
          <a:bodyPr>
            <a:normAutofit/>
          </a:bodyPr>
          <a:lstStyle/>
          <a:p>
            <a:r>
              <a:rPr lang="en-US" dirty="0"/>
              <a:t>As a side note, if the edges are weighted, Floyd-</a:t>
            </a:r>
            <a:r>
              <a:rPr lang="en-US" dirty="0" err="1"/>
              <a:t>Warshall</a:t>
            </a:r>
            <a:r>
              <a:rPr lang="en-US" dirty="0"/>
              <a:t> can be used to find the shortest path for all pairs of vertices</a:t>
            </a:r>
          </a:p>
          <a:p>
            <a:r>
              <a:rPr lang="en-US" dirty="0"/>
              <a:t>The modification is a small one</a:t>
            </a:r>
          </a:p>
          <a:p>
            <a:r>
              <a:rPr lang="en-US" dirty="0"/>
              <a:t>Making the modification is left as an exercise for </a:t>
            </a:r>
            <a:r>
              <a:rPr lang="en-US"/>
              <a:t>the studen</a:t>
            </a:r>
            <a:r>
              <a:rPr lang="en-US" dirty="0"/>
              <a:t>t</a:t>
            </a:r>
          </a:p>
        </p:txBody>
      </p:sp>
      <p:cxnSp>
        <p:nvCxnSpPr>
          <p:cNvPr id="22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062090"/>
      </p:ext>
    </p:extLst>
  </p:cSld>
  <p:clrMapOvr>
    <a:masterClrMapping/>
  </p:clrMapOvr>
</p:sld>
</file>

<file path=ppt/theme/theme1.xml><?xml version="1.0" encoding="utf-8"?>
<a:theme xmlns:a="http://schemas.openxmlformats.org/drawingml/2006/main" name="MimeoVTI">
  <a:themeElements>
    <a:clrScheme name="AnalogousFromLightSeedLeftStep">
      <a:dk1>
        <a:srgbClr val="000000"/>
      </a:dk1>
      <a:lt1>
        <a:srgbClr val="FFFFFF"/>
      </a:lt1>
      <a:dk2>
        <a:srgbClr val="233A3E"/>
      </a:dk2>
      <a:lt2>
        <a:srgbClr val="E8E8E2"/>
      </a:lt2>
      <a:accent1>
        <a:srgbClr val="9697C6"/>
      </a:accent1>
      <a:accent2>
        <a:srgbClr val="7F99BA"/>
      </a:accent2>
      <a:accent3>
        <a:srgbClr val="80ABB3"/>
      </a:accent3>
      <a:accent4>
        <a:srgbClr val="78B0A1"/>
      </a:accent4>
      <a:accent5>
        <a:srgbClr val="84AE91"/>
      </a:accent5>
      <a:accent6>
        <a:srgbClr val="7FB179"/>
      </a:accent6>
      <a:hlink>
        <a:srgbClr val="868551"/>
      </a:hlink>
      <a:folHlink>
        <a:srgbClr val="7F7F7F"/>
      </a:folHlink>
    </a:clrScheme>
    <a:fontScheme name="Custom 3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meoVTI" id="{63E3BFD8-7F9C-46D1-A4F3-04054403C108}" vid="{C505C190-EE38-45FD-8294-6454536D04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815</Words>
  <Application>Microsoft Macintosh PowerPoint</Application>
  <PresentationFormat>Widescreen</PresentationFormat>
  <Paragraphs>236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Consolas</vt:lpstr>
      <vt:lpstr>Elephant</vt:lpstr>
      <vt:lpstr>Tahoma</vt:lpstr>
      <vt:lpstr>Times</vt:lpstr>
      <vt:lpstr>Times New Roman</vt:lpstr>
      <vt:lpstr>Univers Condensed</vt:lpstr>
      <vt:lpstr>MimeoVTI</vt:lpstr>
      <vt:lpstr>The Floyd-Warshall algorithm</vt:lpstr>
      <vt:lpstr>Introduction</vt:lpstr>
      <vt:lpstr>The problem</vt:lpstr>
      <vt:lpstr>The problem</vt:lpstr>
      <vt:lpstr>Floyd-Warshall</vt:lpstr>
      <vt:lpstr>Floyd-Warshall</vt:lpstr>
      <vt:lpstr>Floyd-Warshall</vt:lpstr>
      <vt:lpstr>Floyd-Warshall</vt:lpstr>
      <vt:lpstr>Floyd-Warshall</vt:lpstr>
      <vt:lpstr>Floyd-Warshall</vt:lpstr>
      <vt:lpstr>Floyd-Warshall</vt:lpstr>
      <vt:lpstr>Floyd-Warshall Example</vt:lpstr>
      <vt:lpstr>Floyd-Warshall, Iteration 1</vt:lpstr>
      <vt:lpstr>Floyd-Warshall, Iteration 2</vt:lpstr>
      <vt:lpstr>Floyd-Warshall, Iteration 3</vt:lpstr>
      <vt:lpstr>Floyd-Warshall, Iteration 4</vt:lpstr>
      <vt:lpstr>Floyd-Warshall, Iteration 5</vt:lpstr>
      <vt:lpstr>Floyd-Warshall, Iteration 6</vt:lpstr>
      <vt:lpstr>Floyd-Warshall, Conclusion</vt:lpstr>
      <vt:lpstr>Floyd-Warshall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Bitterman, Tom (DACS)</dc:creator>
  <cp:lastModifiedBy>Bitterman, Tom (DACS)</cp:lastModifiedBy>
  <cp:revision>19</cp:revision>
  <dcterms:created xsi:type="dcterms:W3CDTF">2023-04-26T07:23:23Z</dcterms:created>
  <dcterms:modified xsi:type="dcterms:W3CDTF">2024-04-22T06:44:03Z</dcterms:modified>
</cp:coreProperties>
</file>