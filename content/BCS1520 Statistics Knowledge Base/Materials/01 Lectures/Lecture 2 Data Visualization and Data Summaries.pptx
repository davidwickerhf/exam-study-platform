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5"/>
  </p:notesMasterIdLst>
  <p:sldIdLst>
    <p:sldId id="261" r:id="rId2"/>
    <p:sldId id="676" r:id="rId3"/>
    <p:sldId id="680" r:id="rId4"/>
    <p:sldId id="681" r:id="rId5"/>
    <p:sldId id="675" r:id="rId6"/>
    <p:sldId id="677" r:id="rId7"/>
    <p:sldId id="592" r:id="rId8"/>
    <p:sldId id="682" r:id="rId9"/>
    <p:sldId id="594" r:id="rId10"/>
    <p:sldId id="683" r:id="rId11"/>
    <p:sldId id="684" r:id="rId12"/>
    <p:sldId id="686" r:id="rId13"/>
    <p:sldId id="695" r:id="rId14"/>
    <p:sldId id="696" r:id="rId15"/>
    <p:sldId id="697" r:id="rId16"/>
    <p:sldId id="698" r:id="rId17"/>
    <p:sldId id="699" r:id="rId18"/>
    <p:sldId id="700" r:id="rId19"/>
    <p:sldId id="750" r:id="rId20"/>
    <p:sldId id="688" r:id="rId21"/>
    <p:sldId id="693" r:id="rId22"/>
    <p:sldId id="689" r:id="rId23"/>
    <p:sldId id="690" r:id="rId24"/>
    <p:sldId id="691" r:id="rId25"/>
    <p:sldId id="692" r:id="rId26"/>
    <p:sldId id="694" r:id="rId27"/>
    <p:sldId id="701" r:id="rId28"/>
    <p:sldId id="687" r:id="rId29"/>
    <p:sldId id="597" r:id="rId30"/>
    <p:sldId id="588" r:id="rId31"/>
    <p:sldId id="703" r:id="rId32"/>
    <p:sldId id="590" r:id="rId33"/>
    <p:sldId id="751" r:id="rId34"/>
    <p:sldId id="667" r:id="rId35"/>
    <p:sldId id="752" r:id="rId36"/>
    <p:sldId id="753" r:id="rId37"/>
    <p:sldId id="656" r:id="rId38"/>
    <p:sldId id="668" r:id="rId39"/>
    <p:sldId id="652" r:id="rId40"/>
    <p:sldId id="591" r:id="rId41"/>
    <p:sldId id="607" r:id="rId42"/>
    <p:sldId id="608" r:id="rId43"/>
    <p:sldId id="609" r:id="rId44"/>
    <p:sldId id="610" r:id="rId45"/>
    <p:sldId id="612" r:id="rId46"/>
    <p:sldId id="611" r:id="rId47"/>
    <p:sldId id="613" r:id="rId48"/>
    <p:sldId id="614" r:id="rId49"/>
    <p:sldId id="624" r:id="rId50"/>
    <p:sldId id="653" r:id="rId51"/>
    <p:sldId id="654" r:id="rId52"/>
    <p:sldId id="657" r:id="rId53"/>
    <p:sldId id="655" r:id="rId54"/>
    <p:sldId id="658" r:id="rId55"/>
    <p:sldId id="659" r:id="rId56"/>
    <p:sldId id="660" r:id="rId57"/>
    <p:sldId id="662" r:id="rId58"/>
    <p:sldId id="664" r:id="rId59"/>
    <p:sldId id="627" r:id="rId60"/>
    <p:sldId id="665" r:id="rId61"/>
    <p:sldId id="669" r:id="rId62"/>
    <p:sldId id="670" r:id="rId63"/>
    <p:sldId id="671" r:id="rId64"/>
    <p:sldId id="672" r:id="rId65"/>
    <p:sldId id="673" r:id="rId66"/>
    <p:sldId id="704" r:id="rId67"/>
    <p:sldId id="715" r:id="rId68"/>
    <p:sldId id="716" r:id="rId69"/>
    <p:sldId id="717" r:id="rId70"/>
    <p:sldId id="723" r:id="rId71"/>
    <p:sldId id="725" r:id="rId72"/>
    <p:sldId id="724" r:id="rId73"/>
    <p:sldId id="726" r:id="rId74"/>
    <p:sldId id="727" r:id="rId75"/>
    <p:sldId id="647" r:id="rId76"/>
    <p:sldId id="728" r:id="rId77"/>
    <p:sldId id="730" r:id="rId78"/>
    <p:sldId id="729" r:id="rId79"/>
    <p:sldId id="732" r:id="rId80"/>
    <p:sldId id="733" r:id="rId81"/>
    <p:sldId id="602" r:id="rId82"/>
    <p:sldId id="735" r:id="rId83"/>
    <p:sldId id="603"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53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93699"/>
  </p:normalViewPr>
  <p:slideViewPr>
    <p:cSldViewPr snapToGrid="0">
      <p:cViewPr varScale="1">
        <p:scale>
          <a:sx n="109" d="100"/>
          <a:sy n="109" d="100"/>
        </p:scale>
        <p:origin x="216" y="400"/>
      </p:cViewPr>
      <p:guideLst/>
    </p:cSldViewPr>
  </p:slideViewPr>
  <p:outlineViewPr>
    <p:cViewPr>
      <p:scale>
        <a:sx n="33" d="100"/>
        <a:sy n="33" d="100"/>
      </p:scale>
      <p:origin x="0" y="-1204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98CD7F-0A50-AB4C-BD43-BADF24655515}" type="datetimeFigureOut">
              <a:rPr lang="en-US" smtClean="0"/>
              <a:t>3/31/26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EEBF76-5CEE-3946-8FE0-073C4B871A82}" type="slidenum">
              <a:rPr lang="en-US" smtClean="0"/>
              <a:t>‹#›</a:t>
            </a:fld>
            <a:endParaRPr lang="en-US"/>
          </a:p>
        </p:txBody>
      </p:sp>
    </p:spTree>
    <p:extLst>
      <p:ext uri="{BB962C8B-B14F-4D97-AF65-F5344CB8AC3E}">
        <p14:creationId xmlns:p14="http://schemas.microsoft.com/office/powerpoint/2010/main" val="2521933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F9745-A27B-6456-6412-6BFED98F4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534DEE-BB51-3AE7-6C57-51104036C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648B2-A505-974B-E7AD-F49675AEB222}"/>
              </a:ext>
            </a:extLst>
          </p:cNvPr>
          <p:cNvSpPr>
            <a:spLocks noGrp="1"/>
          </p:cNvSpPr>
          <p:nvPr>
            <p:ph type="body" idx="1"/>
          </p:nvPr>
        </p:nvSpPr>
        <p:spPr/>
        <p:txBody>
          <a:bodyPr/>
          <a:lstStyle/>
          <a:p>
            <a:r>
              <a:rPr lang="en-US" dirty="0"/>
              <a:t>IARC</a:t>
            </a:r>
          </a:p>
        </p:txBody>
      </p:sp>
      <p:sp>
        <p:nvSpPr>
          <p:cNvPr id="4" name="Slide Number Placeholder 3">
            <a:extLst>
              <a:ext uri="{FF2B5EF4-FFF2-40B4-BE49-F238E27FC236}">
                <a16:creationId xmlns:a16="http://schemas.microsoft.com/office/drawing/2014/main" id="{446C1024-A26E-9AEA-B365-D7DBCE79AD39}"/>
              </a:ext>
            </a:extLst>
          </p:cNvPr>
          <p:cNvSpPr>
            <a:spLocks noGrp="1"/>
          </p:cNvSpPr>
          <p:nvPr>
            <p:ph type="sldNum" sz="quarter" idx="5"/>
          </p:nvPr>
        </p:nvSpPr>
        <p:spPr/>
        <p:txBody>
          <a:bodyPr/>
          <a:lstStyle/>
          <a:p>
            <a:fld id="{611C0B13-21D8-4C4C-87C8-3F9D5550AB12}" type="slidenum">
              <a:rPr lang="en-US" smtClean="0"/>
              <a:t>2</a:t>
            </a:fld>
            <a:endParaRPr lang="en-US"/>
          </a:p>
        </p:txBody>
      </p:sp>
    </p:spTree>
    <p:extLst>
      <p:ext uri="{BB962C8B-B14F-4D97-AF65-F5344CB8AC3E}">
        <p14:creationId xmlns:p14="http://schemas.microsoft.com/office/powerpoint/2010/main" val="1517476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3874E-EDD6-CB10-9A5C-62B251DA5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5847E-9A9B-20B0-27FE-8C5B5A90B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0735D3-90AC-6DB6-9E35-B1AA6E480E50}"/>
              </a:ext>
            </a:extLst>
          </p:cNvPr>
          <p:cNvSpPr>
            <a:spLocks noGrp="1"/>
          </p:cNvSpPr>
          <p:nvPr>
            <p:ph type="body" idx="1"/>
          </p:nvPr>
        </p:nvSpPr>
        <p:spPr/>
        <p:txBody>
          <a:bodyPr/>
          <a:lstStyle/>
          <a:p>
            <a:r>
              <a:rPr lang="en-US" dirty="0"/>
              <a:t>IARC</a:t>
            </a:r>
          </a:p>
        </p:txBody>
      </p:sp>
      <p:sp>
        <p:nvSpPr>
          <p:cNvPr id="4" name="Slide Number Placeholder 3">
            <a:extLst>
              <a:ext uri="{FF2B5EF4-FFF2-40B4-BE49-F238E27FC236}">
                <a16:creationId xmlns:a16="http://schemas.microsoft.com/office/drawing/2014/main" id="{AD1FD472-4659-5ED3-3D97-9D9C73920E2C}"/>
              </a:ext>
            </a:extLst>
          </p:cNvPr>
          <p:cNvSpPr>
            <a:spLocks noGrp="1"/>
          </p:cNvSpPr>
          <p:nvPr>
            <p:ph type="sldNum" sz="quarter" idx="5"/>
          </p:nvPr>
        </p:nvSpPr>
        <p:spPr/>
        <p:txBody>
          <a:bodyPr/>
          <a:lstStyle/>
          <a:p>
            <a:fld id="{611C0B13-21D8-4C4C-87C8-3F9D5550AB12}" type="slidenum">
              <a:rPr lang="en-US" smtClean="0"/>
              <a:t>3</a:t>
            </a:fld>
            <a:endParaRPr lang="en-US"/>
          </a:p>
        </p:txBody>
      </p:sp>
    </p:spTree>
    <p:extLst>
      <p:ext uri="{BB962C8B-B14F-4D97-AF65-F5344CB8AC3E}">
        <p14:creationId xmlns:p14="http://schemas.microsoft.com/office/powerpoint/2010/main" val="4162017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FA38B-7BCA-C115-DB23-CAE35356D9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0D90DC-E143-D28D-0568-8045567ABB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3CDFF3-E089-4EB7-2916-F47597EDDBCC}"/>
              </a:ext>
            </a:extLst>
          </p:cNvPr>
          <p:cNvSpPr>
            <a:spLocks noGrp="1"/>
          </p:cNvSpPr>
          <p:nvPr>
            <p:ph type="body" idx="1"/>
          </p:nvPr>
        </p:nvSpPr>
        <p:spPr/>
        <p:txBody>
          <a:bodyPr/>
          <a:lstStyle/>
          <a:p>
            <a:r>
              <a:rPr lang="en-US" dirty="0"/>
              <a:t>IARC</a:t>
            </a:r>
          </a:p>
        </p:txBody>
      </p:sp>
      <p:sp>
        <p:nvSpPr>
          <p:cNvPr id="4" name="Slide Number Placeholder 3">
            <a:extLst>
              <a:ext uri="{FF2B5EF4-FFF2-40B4-BE49-F238E27FC236}">
                <a16:creationId xmlns:a16="http://schemas.microsoft.com/office/drawing/2014/main" id="{0A56610B-CFF4-EE5E-07B4-08B07ADBE1CE}"/>
              </a:ext>
            </a:extLst>
          </p:cNvPr>
          <p:cNvSpPr>
            <a:spLocks noGrp="1"/>
          </p:cNvSpPr>
          <p:nvPr>
            <p:ph type="sldNum" sz="quarter" idx="5"/>
          </p:nvPr>
        </p:nvSpPr>
        <p:spPr/>
        <p:txBody>
          <a:bodyPr/>
          <a:lstStyle/>
          <a:p>
            <a:fld id="{611C0B13-21D8-4C4C-87C8-3F9D5550AB12}" type="slidenum">
              <a:rPr lang="en-US" smtClean="0"/>
              <a:t>4</a:t>
            </a:fld>
            <a:endParaRPr lang="en-US"/>
          </a:p>
        </p:txBody>
      </p:sp>
    </p:spTree>
    <p:extLst>
      <p:ext uri="{BB962C8B-B14F-4D97-AF65-F5344CB8AC3E}">
        <p14:creationId xmlns:p14="http://schemas.microsoft.com/office/powerpoint/2010/main" val="170576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4E4CB-9414-D1B5-625D-D738C94C76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4EA605-1D9C-B6BB-EB3D-60DB5B3578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B96538-13C1-0F29-2005-A3D62CE9EBDB}"/>
              </a:ext>
            </a:extLst>
          </p:cNvPr>
          <p:cNvSpPr>
            <a:spLocks noGrp="1"/>
          </p:cNvSpPr>
          <p:nvPr>
            <p:ph type="body" idx="1"/>
          </p:nvPr>
        </p:nvSpPr>
        <p:spPr/>
        <p:txBody>
          <a:bodyPr/>
          <a:lstStyle/>
          <a:p>
            <a:r>
              <a:rPr lang="en-US" dirty="0"/>
              <a:t>IARC</a:t>
            </a:r>
          </a:p>
        </p:txBody>
      </p:sp>
      <p:sp>
        <p:nvSpPr>
          <p:cNvPr id="4" name="Slide Number Placeholder 3">
            <a:extLst>
              <a:ext uri="{FF2B5EF4-FFF2-40B4-BE49-F238E27FC236}">
                <a16:creationId xmlns:a16="http://schemas.microsoft.com/office/drawing/2014/main" id="{F1AF6793-CEDF-38F8-8BDF-55E4772DB6C8}"/>
              </a:ext>
            </a:extLst>
          </p:cNvPr>
          <p:cNvSpPr>
            <a:spLocks noGrp="1"/>
          </p:cNvSpPr>
          <p:nvPr>
            <p:ph type="sldNum" sz="quarter" idx="5"/>
          </p:nvPr>
        </p:nvSpPr>
        <p:spPr/>
        <p:txBody>
          <a:bodyPr/>
          <a:lstStyle/>
          <a:p>
            <a:fld id="{611C0B13-21D8-4C4C-87C8-3F9D5550AB12}" type="slidenum">
              <a:rPr lang="en-US" smtClean="0"/>
              <a:t>5</a:t>
            </a:fld>
            <a:endParaRPr lang="en-US"/>
          </a:p>
        </p:txBody>
      </p:sp>
    </p:spTree>
    <p:extLst>
      <p:ext uri="{BB962C8B-B14F-4D97-AF65-F5344CB8AC3E}">
        <p14:creationId xmlns:p14="http://schemas.microsoft.com/office/powerpoint/2010/main" val="68493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E67C0-B140-4894-506F-B4C957D67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6DAE1B-F91A-D9EC-DA33-93DF94322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1DB02-28BF-ACF8-2C64-53DE6264116D}"/>
              </a:ext>
            </a:extLst>
          </p:cNvPr>
          <p:cNvSpPr>
            <a:spLocks noGrp="1"/>
          </p:cNvSpPr>
          <p:nvPr>
            <p:ph type="body" idx="1"/>
          </p:nvPr>
        </p:nvSpPr>
        <p:spPr/>
        <p:txBody>
          <a:bodyPr/>
          <a:lstStyle/>
          <a:p>
            <a:r>
              <a:rPr lang="en-US" dirty="0"/>
              <a:t>IARC</a:t>
            </a:r>
          </a:p>
        </p:txBody>
      </p:sp>
      <p:sp>
        <p:nvSpPr>
          <p:cNvPr id="4" name="Slide Number Placeholder 3">
            <a:extLst>
              <a:ext uri="{FF2B5EF4-FFF2-40B4-BE49-F238E27FC236}">
                <a16:creationId xmlns:a16="http://schemas.microsoft.com/office/drawing/2014/main" id="{A4074ADB-537F-0394-B796-734B88929377}"/>
              </a:ext>
            </a:extLst>
          </p:cNvPr>
          <p:cNvSpPr>
            <a:spLocks noGrp="1"/>
          </p:cNvSpPr>
          <p:nvPr>
            <p:ph type="sldNum" sz="quarter" idx="5"/>
          </p:nvPr>
        </p:nvSpPr>
        <p:spPr/>
        <p:txBody>
          <a:bodyPr/>
          <a:lstStyle/>
          <a:p>
            <a:fld id="{611C0B13-21D8-4C4C-87C8-3F9D5550AB12}" type="slidenum">
              <a:rPr lang="en-US" smtClean="0"/>
              <a:t>6</a:t>
            </a:fld>
            <a:endParaRPr lang="en-US"/>
          </a:p>
        </p:txBody>
      </p:sp>
    </p:spTree>
    <p:extLst>
      <p:ext uri="{BB962C8B-B14F-4D97-AF65-F5344CB8AC3E}">
        <p14:creationId xmlns:p14="http://schemas.microsoft.com/office/powerpoint/2010/main" val="1413427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2EEBF76-5CEE-3946-8FE0-073C4B871A82}" type="slidenum">
              <a:rPr lang="en-US" smtClean="0"/>
              <a:t>7</a:t>
            </a:fld>
            <a:endParaRPr lang="en-US"/>
          </a:p>
        </p:txBody>
      </p:sp>
    </p:spTree>
    <p:extLst>
      <p:ext uri="{BB962C8B-B14F-4D97-AF65-F5344CB8AC3E}">
        <p14:creationId xmlns:p14="http://schemas.microsoft.com/office/powerpoint/2010/main" val="13508895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2EEBF76-5CEE-3946-8FE0-073C4B871A82}" type="slidenum">
              <a:rPr lang="en-US" smtClean="0"/>
              <a:t>8</a:t>
            </a:fld>
            <a:endParaRPr lang="en-US"/>
          </a:p>
        </p:txBody>
      </p:sp>
    </p:spTree>
    <p:extLst>
      <p:ext uri="{BB962C8B-B14F-4D97-AF65-F5344CB8AC3E}">
        <p14:creationId xmlns:p14="http://schemas.microsoft.com/office/powerpoint/2010/main" val="1350889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good communication? Clear presentation</a:t>
            </a:r>
          </a:p>
          <a:p>
            <a:r>
              <a:rPr lang="en-US" dirty="0"/>
              <a:t>Explains what its trying to say quickly</a:t>
            </a:r>
          </a:p>
          <a:p>
            <a:r>
              <a:rPr lang="en-US" dirty="0"/>
              <a:t>Gives evidence</a:t>
            </a:r>
          </a:p>
          <a:p>
            <a:r>
              <a:rPr lang="en-US" dirty="0"/>
              <a:t>Quickly able to </a:t>
            </a:r>
            <a:r>
              <a:rPr lang="en-US" dirty="0" err="1"/>
              <a:t>unituit</a:t>
            </a:r>
            <a:r>
              <a:rPr lang="en-US" dirty="0"/>
              <a:t> what is the area getting the most damage.</a:t>
            </a:r>
          </a:p>
        </p:txBody>
      </p:sp>
      <p:sp>
        <p:nvSpPr>
          <p:cNvPr id="4" name="Slide Number Placeholder 3"/>
          <p:cNvSpPr>
            <a:spLocks noGrp="1"/>
          </p:cNvSpPr>
          <p:nvPr>
            <p:ph type="sldNum" sz="quarter" idx="5"/>
          </p:nvPr>
        </p:nvSpPr>
        <p:spPr/>
        <p:txBody>
          <a:bodyPr/>
          <a:lstStyle/>
          <a:p>
            <a:fld id="{E2EEBF76-5CEE-3946-8FE0-073C4B871A82}" type="slidenum">
              <a:rPr lang="en-US" smtClean="0"/>
              <a:t>9</a:t>
            </a:fld>
            <a:endParaRPr lang="en-US"/>
          </a:p>
        </p:txBody>
      </p:sp>
    </p:spTree>
    <p:extLst>
      <p:ext uri="{BB962C8B-B14F-4D97-AF65-F5344CB8AC3E}">
        <p14:creationId xmlns:p14="http://schemas.microsoft.com/office/powerpoint/2010/main" val="8746315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EC697-E964-5291-53C2-474F4E6EC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C184E-6B2E-9E92-B707-FAF2ED8CCC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B6C1C6-BDBE-A79D-EE71-3F2E3992B8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44F453-A064-DAF4-1CB5-6934CD42A7C7}"/>
              </a:ext>
            </a:extLst>
          </p:cNvPr>
          <p:cNvSpPr>
            <a:spLocks noGrp="1"/>
          </p:cNvSpPr>
          <p:nvPr>
            <p:ph type="sldNum" sz="quarter" idx="5"/>
          </p:nvPr>
        </p:nvSpPr>
        <p:spPr/>
        <p:txBody>
          <a:bodyPr/>
          <a:lstStyle/>
          <a:p>
            <a:fld id="{E2EEBF76-5CEE-3946-8FE0-073C4B871A82}" type="slidenum">
              <a:rPr lang="en-US" smtClean="0"/>
              <a:t>10</a:t>
            </a:fld>
            <a:endParaRPr lang="en-US"/>
          </a:p>
        </p:txBody>
      </p:sp>
    </p:spTree>
    <p:extLst>
      <p:ext uri="{BB962C8B-B14F-4D97-AF65-F5344CB8AC3E}">
        <p14:creationId xmlns:p14="http://schemas.microsoft.com/office/powerpoint/2010/main" val="1653554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1B99B-B44C-FC0B-8FD8-5AA01BF7C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39F3F-2D23-100C-A4AD-28ED80B113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877217-7B51-32FE-29E4-CFF464C0D4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65A7E6-C821-65DE-7F4E-184A1207A8DA}"/>
              </a:ext>
            </a:extLst>
          </p:cNvPr>
          <p:cNvSpPr>
            <a:spLocks noGrp="1"/>
          </p:cNvSpPr>
          <p:nvPr>
            <p:ph type="sldNum" sz="quarter" idx="5"/>
          </p:nvPr>
        </p:nvSpPr>
        <p:spPr/>
        <p:txBody>
          <a:bodyPr/>
          <a:lstStyle/>
          <a:p>
            <a:fld id="{E2EEBF76-5CEE-3946-8FE0-073C4B871A82}" type="slidenum">
              <a:rPr lang="en-US" smtClean="0"/>
              <a:t>11</a:t>
            </a:fld>
            <a:endParaRPr lang="en-US"/>
          </a:p>
        </p:txBody>
      </p:sp>
    </p:spTree>
    <p:extLst>
      <p:ext uri="{BB962C8B-B14F-4D97-AF65-F5344CB8AC3E}">
        <p14:creationId xmlns:p14="http://schemas.microsoft.com/office/powerpoint/2010/main" val="962626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16B48-53B4-E59E-6671-EF2E3776C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DA1E0-1401-A7B0-67DC-B2C255F7C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9EAA5E-D8B9-5C9E-8A9E-9A8692D960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0A10BC-2F33-8B9B-6A68-6D005651EF99}"/>
              </a:ext>
            </a:extLst>
          </p:cNvPr>
          <p:cNvSpPr>
            <a:spLocks noGrp="1"/>
          </p:cNvSpPr>
          <p:nvPr>
            <p:ph type="sldNum" sz="quarter" idx="5"/>
          </p:nvPr>
        </p:nvSpPr>
        <p:spPr/>
        <p:txBody>
          <a:bodyPr/>
          <a:lstStyle/>
          <a:p>
            <a:fld id="{E2EEBF76-5CEE-3946-8FE0-073C4B871A82}" type="slidenum">
              <a:rPr lang="en-US" smtClean="0"/>
              <a:t>12</a:t>
            </a:fld>
            <a:endParaRPr lang="en-US"/>
          </a:p>
        </p:txBody>
      </p:sp>
    </p:spTree>
    <p:extLst>
      <p:ext uri="{BB962C8B-B14F-4D97-AF65-F5344CB8AC3E}">
        <p14:creationId xmlns:p14="http://schemas.microsoft.com/office/powerpoint/2010/main" val="4535619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EEBF76-5CEE-3946-8FE0-073C4B871A82}" type="slidenum">
              <a:rPr lang="en-US" smtClean="0"/>
              <a:t>13</a:t>
            </a:fld>
            <a:endParaRPr lang="en-US"/>
          </a:p>
        </p:txBody>
      </p:sp>
    </p:spTree>
    <p:extLst>
      <p:ext uri="{BB962C8B-B14F-4D97-AF65-F5344CB8AC3E}">
        <p14:creationId xmlns:p14="http://schemas.microsoft.com/office/powerpoint/2010/main" val="4027862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3F0A9-8F60-9683-4976-65B17B1FB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A7B3DE-1A04-2517-9EEC-2A653AB893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A8FD8-EDDF-DE29-87D8-B4D2B55010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2B8479-C892-A0AE-B797-4CD7F5793FDB}"/>
              </a:ext>
            </a:extLst>
          </p:cNvPr>
          <p:cNvSpPr>
            <a:spLocks noGrp="1"/>
          </p:cNvSpPr>
          <p:nvPr>
            <p:ph type="sldNum" sz="quarter" idx="5"/>
          </p:nvPr>
        </p:nvSpPr>
        <p:spPr/>
        <p:txBody>
          <a:bodyPr/>
          <a:lstStyle/>
          <a:p>
            <a:fld id="{E2EEBF76-5CEE-3946-8FE0-073C4B871A82}" type="slidenum">
              <a:rPr lang="en-US" smtClean="0"/>
              <a:t>14</a:t>
            </a:fld>
            <a:endParaRPr lang="en-US"/>
          </a:p>
        </p:txBody>
      </p:sp>
    </p:spTree>
    <p:extLst>
      <p:ext uri="{BB962C8B-B14F-4D97-AF65-F5344CB8AC3E}">
        <p14:creationId xmlns:p14="http://schemas.microsoft.com/office/powerpoint/2010/main" val="7359047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C6742-5C8D-C584-5B76-7D15325A1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A15C19-E5F1-1BD3-F3E4-C5EA826E11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043C40-CFB7-20C1-0753-DB6EF5559D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9A946A-8810-9920-977E-5B6A90B5DF51}"/>
              </a:ext>
            </a:extLst>
          </p:cNvPr>
          <p:cNvSpPr>
            <a:spLocks noGrp="1"/>
          </p:cNvSpPr>
          <p:nvPr>
            <p:ph type="sldNum" sz="quarter" idx="5"/>
          </p:nvPr>
        </p:nvSpPr>
        <p:spPr/>
        <p:txBody>
          <a:bodyPr/>
          <a:lstStyle/>
          <a:p>
            <a:fld id="{E2EEBF76-5CEE-3946-8FE0-073C4B871A82}" type="slidenum">
              <a:rPr lang="en-US" smtClean="0"/>
              <a:t>15</a:t>
            </a:fld>
            <a:endParaRPr lang="en-US"/>
          </a:p>
        </p:txBody>
      </p:sp>
    </p:spTree>
    <p:extLst>
      <p:ext uri="{BB962C8B-B14F-4D97-AF65-F5344CB8AC3E}">
        <p14:creationId xmlns:p14="http://schemas.microsoft.com/office/powerpoint/2010/main" val="16436145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3D167-2F6D-AEFA-5611-293F96E441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0AB00-880C-F265-FDFE-2529174B3E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5E8E05-E40F-EE58-718F-D78E59E939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49D1FE-F384-DBEE-80D9-E6D5E1647706}"/>
              </a:ext>
            </a:extLst>
          </p:cNvPr>
          <p:cNvSpPr>
            <a:spLocks noGrp="1"/>
          </p:cNvSpPr>
          <p:nvPr>
            <p:ph type="sldNum" sz="quarter" idx="5"/>
          </p:nvPr>
        </p:nvSpPr>
        <p:spPr/>
        <p:txBody>
          <a:bodyPr/>
          <a:lstStyle/>
          <a:p>
            <a:fld id="{E2EEBF76-5CEE-3946-8FE0-073C4B871A82}" type="slidenum">
              <a:rPr lang="en-US" smtClean="0"/>
              <a:t>16</a:t>
            </a:fld>
            <a:endParaRPr lang="en-US"/>
          </a:p>
        </p:txBody>
      </p:sp>
    </p:spTree>
    <p:extLst>
      <p:ext uri="{BB962C8B-B14F-4D97-AF65-F5344CB8AC3E}">
        <p14:creationId xmlns:p14="http://schemas.microsoft.com/office/powerpoint/2010/main" val="728293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592F5-162D-FB6B-EDE9-92B657877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FBC83-410F-E762-E68E-43017201A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C2523-DC5E-BFD2-21BA-49EB5BCE19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22CB7F-6BD1-B94B-E560-397C25D8D25E}"/>
              </a:ext>
            </a:extLst>
          </p:cNvPr>
          <p:cNvSpPr>
            <a:spLocks noGrp="1"/>
          </p:cNvSpPr>
          <p:nvPr>
            <p:ph type="sldNum" sz="quarter" idx="5"/>
          </p:nvPr>
        </p:nvSpPr>
        <p:spPr/>
        <p:txBody>
          <a:bodyPr/>
          <a:lstStyle/>
          <a:p>
            <a:fld id="{E2EEBF76-5CEE-3946-8FE0-073C4B871A82}" type="slidenum">
              <a:rPr lang="en-US" smtClean="0"/>
              <a:t>17</a:t>
            </a:fld>
            <a:endParaRPr lang="en-US"/>
          </a:p>
        </p:txBody>
      </p:sp>
    </p:spTree>
    <p:extLst>
      <p:ext uri="{BB962C8B-B14F-4D97-AF65-F5344CB8AC3E}">
        <p14:creationId xmlns:p14="http://schemas.microsoft.com/office/powerpoint/2010/main" val="15577652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C7CE2-A70F-1C79-ABCF-E013CB779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CFFD8-E0B2-16BE-846E-E2CC0EE1BD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48F74-F58B-14C3-3AF1-F3651F953C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D4211F-C851-5A57-63E1-BFD723A2C6D3}"/>
              </a:ext>
            </a:extLst>
          </p:cNvPr>
          <p:cNvSpPr>
            <a:spLocks noGrp="1"/>
          </p:cNvSpPr>
          <p:nvPr>
            <p:ph type="sldNum" sz="quarter" idx="5"/>
          </p:nvPr>
        </p:nvSpPr>
        <p:spPr/>
        <p:txBody>
          <a:bodyPr/>
          <a:lstStyle/>
          <a:p>
            <a:fld id="{E2EEBF76-5CEE-3946-8FE0-073C4B871A82}" type="slidenum">
              <a:rPr lang="en-US" smtClean="0"/>
              <a:t>18</a:t>
            </a:fld>
            <a:endParaRPr lang="en-US"/>
          </a:p>
        </p:txBody>
      </p:sp>
    </p:spTree>
    <p:extLst>
      <p:ext uri="{BB962C8B-B14F-4D97-AF65-F5344CB8AC3E}">
        <p14:creationId xmlns:p14="http://schemas.microsoft.com/office/powerpoint/2010/main" val="1137627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E80DA-31BC-4992-C2A7-D564DD85C2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17CAB-78E5-501F-CD29-7F89547104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7F7656-7EF4-9720-D766-A1EB7877D6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FF05DF-3A8C-AED4-CA01-82608558E17B}"/>
              </a:ext>
            </a:extLst>
          </p:cNvPr>
          <p:cNvSpPr>
            <a:spLocks noGrp="1"/>
          </p:cNvSpPr>
          <p:nvPr>
            <p:ph type="sldNum" sz="quarter" idx="5"/>
          </p:nvPr>
        </p:nvSpPr>
        <p:spPr/>
        <p:txBody>
          <a:bodyPr/>
          <a:lstStyle/>
          <a:p>
            <a:fld id="{E2EEBF76-5CEE-3946-8FE0-073C4B871A82}" type="slidenum">
              <a:rPr lang="en-US" smtClean="0"/>
              <a:t>19</a:t>
            </a:fld>
            <a:endParaRPr lang="en-US"/>
          </a:p>
        </p:txBody>
      </p:sp>
    </p:spTree>
    <p:extLst>
      <p:ext uri="{BB962C8B-B14F-4D97-AF65-F5344CB8AC3E}">
        <p14:creationId xmlns:p14="http://schemas.microsoft.com/office/powerpoint/2010/main" val="36242708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EEBF76-5CEE-3946-8FE0-073C4B871A82}" type="slidenum">
              <a:rPr lang="en-US" smtClean="0"/>
              <a:t>26</a:t>
            </a:fld>
            <a:endParaRPr lang="en-US"/>
          </a:p>
        </p:txBody>
      </p:sp>
    </p:spTree>
    <p:extLst>
      <p:ext uri="{BB962C8B-B14F-4D97-AF65-F5344CB8AC3E}">
        <p14:creationId xmlns:p14="http://schemas.microsoft.com/office/powerpoint/2010/main" val="32405037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D98B7-F1C5-84E1-8A32-A532585CE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F761D-4659-8E7D-D77F-8CCDCCA3E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EB5354-B207-C03C-B5DE-03A646DF25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D2E92E-ABF4-201A-BAA8-67EF4F336363}"/>
              </a:ext>
            </a:extLst>
          </p:cNvPr>
          <p:cNvSpPr>
            <a:spLocks noGrp="1"/>
          </p:cNvSpPr>
          <p:nvPr>
            <p:ph type="sldNum" sz="quarter" idx="5"/>
          </p:nvPr>
        </p:nvSpPr>
        <p:spPr/>
        <p:txBody>
          <a:bodyPr/>
          <a:lstStyle/>
          <a:p>
            <a:fld id="{E2EEBF76-5CEE-3946-8FE0-073C4B871A82}" type="slidenum">
              <a:rPr lang="en-US" smtClean="0"/>
              <a:t>27</a:t>
            </a:fld>
            <a:endParaRPr lang="en-US"/>
          </a:p>
        </p:txBody>
      </p:sp>
    </p:spTree>
    <p:extLst>
      <p:ext uri="{BB962C8B-B14F-4D97-AF65-F5344CB8AC3E}">
        <p14:creationId xmlns:p14="http://schemas.microsoft.com/office/powerpoint/2010/main" val="1675767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you think it is? </a:t>
            </a:r>
          </a:p>
        </p:txBody>
      </p:sp>
      <p:sp>
        <p:nvSpPr>
          <p:cNvPr id="4" name="Slide Number Placeholder 3"/>
          <p:cNvSpPr>
            <a:spLocks noGrp="1"/>
          </p:cNvSpPr>
          <p:nvPr>
            <p:ph type="sldNum" sz="quarter" idx="5"/>
          </p:nvPr>
        </p:nvSpPr>
        <p:spPr/>
        <p:txBody>
          <a:bodyPr/>
          <a:lstStyle/>
          <a:p>
            <a:fld id="{E2EEBF76-5CEE-3946-8FE0-073C4B871A82}" type="slidenum">
              <a:rPr lang="en-US" smtClean="0"/>
              <a:t>29</a:t>
            </a:fld>
            <a:endParaRPr lang="en-US"/>
          </a:p>
        </p:txBody>
      </p:sp>
    </p:spTree>
    <p:extLst>
      <p:ext uri="{BB962C8B-B14F-4D97-AF65-F5344CB8AC3E}">
        <p14:creationId xmlns:p14="http://schemas.microsoft.com/office/powerpoint/2010/main" val="8724565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classic example of how alternative framing can change the emotional impact of a number is an advertisement that appeared on the London Underground in 2011, proclaiming that ‘99% of young Londoners do not commit serious youth violence’. These ads were presumably intended to reassure passengers about their city, but we could reverse its emotional impact with two simple changes. First, the statement means that 1% of young Londoners </a:t>
            </a:r>
            <a:r>
              <a:rPr lang="en-US" i="1" dirty="0"/>
              <a:t>do</a:t>
            </a:r>
            <a:r>
              <a:rPr lang="en-US" dirty="0"/>
              <a:t> commit serious violence. Second, since the population of London is around 9 million, there are around 1 million people aged between 15 and 25, and if we consider these as ‘young’, this means there are 1% of 1 million or a total of 10,000 seriously violent young people in the city. This does not sound at all reassuring. Note the two tricks used to manipulate the impact of this statistic: convert from a positive to a negative frame, and then turn a percentage into actual numbers of people.</a:t>
            </a:r>
          </a:p>
          <a:p>
            <a:endParaRPr lang="en-US" dirty="0"/>
          </a:p>
          <a:p>
            <a:r>
              <a:rPr lang="en-US" dirty="0"/>
              <a:t>Bias: perhaps some hospitals get more sick individuals making their counts higher, maybe they’re in a poorer region, etc.</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1C0B13-21D8-4C4C-87C8-3F9D5550AB1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469903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5ABCE-4560-18A7-2CD6-DA2DF5E466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958BC9-789C-D436-378F-40E17FEA34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C2971-24D6-B5BC-F775-DBCDEBD2C0C3}"/>
              </a:ext>
            </a:extLst>
          </p:cNvPr>
          <p:cNvSpPr>
            <a:spLocks noGrp="1"/>
          </p:cNvSpPr>
          <p:nvPr>
            <p:ph type="body" idx="1"/>
          </p:nvPr>
        </p:nvSpPr>
        <p:spPr/>
        <p:txBody>
          <a:bodyPr/>
          <a:lstStyle/>
          <a:p>
            <a:r>
              <a:rPr lang="en-US" dirty="0"/>
              <a:t>A classic example of how alternative framing can change the emotional impact of a number is an advertisement that appeared on the London Underground in 2011, proclaiming that ‘99% of young Londoners do not commit serious youth violence’. These ads were presumably intended to reassure passengers about their city, but we could reverse its emotional impact with two simple changes. First, the statement means that 1% of young Londoners </a:t>
            </a:r>
            <a:r>
              <a:rPr lang="en-US" i="1" dirty="0"/>
              <a:t>do</a:t>
            </a:r>
            <a:r>
              <a:rPr lang="en-US" dirty="0"/>
              <a:t> commit serious violence. Second, since the population of London is around 9 million, there are around 1 million people aged between 15 and 25, and if we consider these as ‘young’, this means there are 1% of 1 million or a total of 10,000 seriously violent young people in the city. This does not sound at all reassuring. Note the two tricks used to manipulate the impact of this statistic: convert from a positive to a negative frame, and then turn a percentage into actual numbers of people.</a:t>
            </a:r>
          </a:p>
          <a:p>
            <a:endParaRPr lang="en-US" dirty="0"/>
          </a:p>
          <a:p>
            <a:r>
              <a:rPr lang="en-US" dirty="0"/>
              <a:t>Bias: perhaps some hospitals get more sick individuals making their counts higher, maybe they’re in a poorer region, etc.</a:t>
            </a:r>
          </a:p>
        </p:txBody>
      </p:sp>
      <p:sp>
        <p:nvSpPr>
          <p:cNvPr id="4" name="Slide Number Placeholder 3">
            <a:extLst>
              <a:ext uri="{FF2B5EF4-FFF2-40B4-BE49-F238E27FC236}">
                <a16:creationId xmlns:a16="http://schemas.microsoft.com/office/drawing/2014/main" id="{F5644B93-4884-A1CD-0810-2C8C53C165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1C0B13-21D8-4C4C-87C8-3F9D5550AB1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138534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bar plot. What is it showing us? </a:t>
            </a:r>
          </a:p>
          <a:p>
            <a:r>
              <a:rPr lang="en-US" dirty="0"/>
              <a:t>Might we want to see this also as counts? </a:t>
            </a:r>
          </a:p>
        </p:txBody>
      </p:sp>
      <p:sp>
        <p:nvSpPr>
          <p:cNvPr id="4" name="Slide Number Placeholder 3"/>
          <p:cNvSpPr>
            <a:spLocks noGrp="1"/>
          </p:cNvSpPr>
          <p:nvPr>
            <p:ph type="sldNum" sz="quarter" idx="5"/>
          </p:nvPr>
        </p:nvSpPr>
        <p:spPr/>
        <p:txBody>
          <a:bodyPr/>
          <a:lstStyle/>
          <a:p>
            <a:fld id="{E2EEBF76-5CEE-3946-8FE0-073C4B871A82}" type="slidenum">
              <a:rPr lang="en-US" smtClean="0"/>
              <a:t>32</a:t>
            </a:fld>
            <a:endParaRPr lang="en-US"/>
          </a:p>
        </p:txBody>
      </p:sp>
    </p:spTree>
    <p:extLst>
      <p:ext uri="{BB962C8B-B14F-4D97-AF65-F5344CB8AC3E}">
        <p14:creationId xmlns:p14="http://schemas.microsoft.com/office/powerpoint/2010/main" val="19337141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Great at showing relationships between variables.</a:t>
            </a:r>
          </a:p>
        </p:txBody>
      </p:sp>
      <p:sp>
        <p:nvSpPr>
          <p:cNvPr id="4" name="Slide Number Placeholder 3"/>
          <p:cNvSpPr>
            <a:spLocks noGrp="1"/>
          </p:cNvSpPr>
          <p:nvPr>
            <p:ph type="sldNum" sz="quarter" idx="5"/>
          </p:nvPr>
        </p:nvSpPr>
        <p:spPr/>
        <p:txBody>
          <a:bodyPr/>
          <a:lstStyle/>
          <a:p>
            <a:fld id="{E2EEBF76-5CEE-3946-8FE0-073C4B871A82}" type="slidenum">
              <a:rPr lang="en-US" smtClean="0"/>
              <a:t>34</a:t>
            </a:fld>
            <a:endParaRPr lang="en-US"/>
          </a:p>
        </p:txBody>
      </p:sp>
    </p:spTree>
    <p:extLst>
      <p:ext uri="{BB962C8B-B14F-4D97-AF65-F5344CB8AC3E}">
        <p14:creationId xmlns:p14="http://schemas.microsoft.com/office/powerpoint/2010/main" val="11306844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1. Highlight part-to-whole contribution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2. Show radical changes to contribution over time: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3. Give a rough idea of the numbers, not exact values: </a:t>
            </a:r>
          </a:p>
          <a:p>
            <a:endParaRPr lang="en-US" dirty="0"/>
          </a:p>
        </p:txBody>
      </p:sp>
      <p:sp>
        <p:nvSpPr>
          <p:cNvPr id="4" name="Slide Number Placeholder 3"/>
          <p:cNvSpPr>
            <a:spLocks noGrp="1"/>
          </p:cNvSpPr>
          <p:nvPr>
            <p:ph type="sldNum" sz="quarter" idx="5"/>
          </p:nvPr>
        </p:nvSpPr>
        <p:spPr/>
        <p:txBody>
          <a:bodyPr/>
          <a:lstStyle/>
          <a:p>
            <a:fld id="{E2EEBF76-5CEE-3946-8FE0-073C4B871A82}" type="slidenum">
              <a:rPr lang="en-US" smtClean="0"/>
              <a:t>36</a:t>
            </a:fld>
            <a:endParaRPr lang="en-US"/>
          </a:p>
        </p:txBody>
      </p:sp>
    </p:spTree>
    <p:extLst>
      <p:ext uri="{BB962C8B-B14F-4D97-AF65-F5344CB8AC3E}">
        <p14:creationId xmlns:p14="http://schemas.microsoft.com/office/powerpoint/2010/main" val="11625044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Y-axis is n-gram appearances</a:t>
            </a:r>
          </a:p>
        </p:txBody>
      </p:sp>
      <p:sp>
        <p:nvSpPr>
          <p:cNvPr id="4" name="Slide Number Placeholder 3"/>
          <p:cNvSpPr>
            <a:spLocks noGrp="1"/>
          </p:cNvSpPr>
          <p:nvPr>
            <p:ph type="sldNum" sz="quarter" idx="5"/>
          </p:nvPr>
        </p:nvSpPr>
        <p:spPr/>
        <p:txBody>
          <a:bodyPr/>
          <a:lstStyle/>
          <a:p>
            <a:fld id="{E2EEBF76-5CEE-3946-8FE0-073C4B871A82}" type="slidenum">
              <a:rPr lang="en-US" smtClean="0"/>
              <a:t>37</a:t>
            </a:fld>
            <a:endParaRPr lang="en-US"/>
          </a:p>
        </p:txBody>
      </p:sp>
    </p:spTree>
    <p:extLst>
      <p:ext uri="{BB962C8B-B14F-4D97-AF65-F5344CB8AC3E}">
        <p14:creationId xmlns:p14="http://schemas.microsoft.com/office/powerpoint/2010/main" val="4040952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 park in new York temperatures.</a:t>
            </a:r>
          </a:p>
        </p:txBody>
      </p:sp>
      <p:sp>
        <p:nvSpPr>
          <p:cNvPr id="4" name="Slide Number Placeholder 3"/>
          <p:cNvSpPr>
            <a:spLocks noGrp="1"/>
          </p:cNvSpPr>
          <p:nvPr>
            <p:ph type="sldNum" sz="quarter" idx="5"/>
          </p:nvPr>
        </p:nvSpPr>
        <p:spPr/>
        <p:txBody>
          <a:bodyPr/>
          <a:lstStyle/>
          <a:p>
            <a:fld id="{E2EEBF76-5CEE-3946-8FE0-073C4B871A82}" type="slidenum">
              <a:rPr lang="en-US" smtClean="0"/>
              <a:t>38</a:t>
            </a:fld>
            <a:endParaRPr lang="en-US"/>
          </a:p>
        </p:txBody>
      </p:sp>
    </p:spTree>
    <p:extLst>
      <p:ext uri="{BB962C8B-B14F-4D97-AF65-F5344CB8AC3E}">
        <p14:creationId xmlns:p14="http://schemas.microsoft.com/office/powerpoint/2010/main" val="19158668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over the slides from EDA lecture by </a:t>
            </a:r>
            <a:r>
              <a:rPr lang="en-US" dirty="0" err="1"/>
              <a:t>Blintzen</a:t>
            </a:r>
            <a:r>
              <a:rPr lang="en-US" dirty="0"/>
              <a:t>. Can it be made more interactive? </a:t>
            </a:r>
          </a:p>
        </p:txBody>
      </p:sp>
      <p:sp>
        <p:nvSpPr>
          <p:cNvPr id="4" name="Slide Number Placeholder 3"/>
          <p:cNvSpPr>
            <a:spLocks noGrp="1"/>
          </p:cNvSpPr>
          <p:nvPr>
            <p:ph type="sldNum" sz="quarter" idx="5"/>
          </p:nvPr>
        </p:nvSpPr>
        <p:spPr/>
        <p:txBody>
          <a:bodyPr/>
          <a:lstStyle/>
          <a:p>
            <a:fld id="{E2EEBF76-5CEE-3946-8FE0-073C4B871A82}" type="slidenum">
              <a:rPr lang="en-US" smtClean="0"/>
              <a:t>40</a:t>
            </a:fld>
            <a:endParaRPr lang="en-US"/>
          </a:p>
        </p:txBody>
      </p:sp>
    </p:spTree>
    <p:extLst>
      <p:ext uri="{BB962C8B-B14F-4D97-AF65-F5344CB8AC3E}">
        <p14:creationId xmlns:p14="http://schemas.microsoft.com/office/powerpoint/2010/main" val="12956753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82BF0-1BAF-6056-2276-91D1E9184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3B150-280A-8BDB-76FF-41115F3F5B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51FBB-E48B-FD86-F19E-6113DCDDA6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281942-C0D2-3699-B0CD-C6C6A920CB24}"/>
              </a:ext>
            </a:extLst>
          </p:cNvPr>
          <p:cNvSpPr>
            <a:spLocks noGrp="1"/>
          </p:cNvSpPr>
          <p:nvPr>
            <p:ph type="sldNum" sz="quarter" idx="5"/>
          </p:nvPr>
        </p:nvSpPr>
        <p:spPr/>
        <p:txBody>
          <a:bodyPr/>
          <a:lstStyle/>
          <a:p>
            <a:fld id="{611C0B13-21D8-4C4C-87C8-3F9D5550AB12}" type="slidenum">
              <a:rPr lang="en-US" smtClean="0"/>
              <a:t>48</a:t>
            </a:fld>
            <a:endParaRPr lang="en-US"/>
          </a:p>
        </p:txBody>
      </p:sp>
    </p:spTree>
    <p:extLst>
      <p:ext uri="{BB962C8B-B14F-4D97-AF65-F5344CB8AC3E}">
        <p14:creationId xmlns:p14="http://schemas.microsoft.com/office/powerpoint/2010/main" val="30793121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6E6CD-CF21-1EA9-0D3A-87FD54CF1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F6D899-3164-0501-ADE3-F205F59EC0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85659-F65A-AC8F-A3CD-29A180095A72}"/>
              </a:ext>
            </a:extLst>
          </p:cNvPr>
          <p:cNvSpPr>
            <a:spLocks noGrp="1"/>
          </p:cNvSpPr>
          <p:nvPr>
            <p:ph type="body" idx="1"/>
          </p:nvPr>
        </p:nvSpPr>
        <p:spPr/>
        <p:txBody>
          <a:bodyPr/>
          <a:lstStyle/>
          <a:p>
            <a:r>
              <a:rPr lang="en-US" dirty="0" err="1"/>
              <a:t>Whats</a:t>
            </a:r>
            <a:r>
              <a:rPr lang="en-US" dirty="0"/>
              <a:t> with the overly extended axis? What aren’t we seeing here? Why isn’t the axis more sensible?</a:t>
            </a:r>
          </a:p>
          <a:p>
            <a:r>
              <a:rPr lang="en-US" dirty="0"/>
              <a:t>Where are the numbers?</a:t>
            </a:r>
          </a:p>
        </p:txBody>
      </p:sp>
      <p:sp>
        <p:nvSpPr>
          <p:cNvPr id="4" name="Slide Number Placeholder 3">
            <a:extLst>
              <a:ext uri="{FF2B5EF4-FFF2-40B4-BE49-F238E27FC236}">
                <a16:creationId xmlns:a16="http://schemas.microsoft.com/office/drawing/2014/main" id="{A2544095-1271-1D54-9D1E-D38CDEEC7100}"/>
              </a:ext>
            </a:extLst>
          </p:cNvPr>
          <p:cNvSpPr>
            <a:spLocks noGrp="1"/>
          </p:cNvSpPr>
          <p:nvPr>
            <p:ph type="sldNum" sz="quarter" idx="5"/>
          </p:nvPr>
        </p:nvSpPr>
        <p:spPr/>
        <p:txBody>
          <a:bodyPr/>
          <a:lstStyle/>
          <a:p>
            <a:fld id="{611C0B13-21D8-4C4C-87C8-3F9D5550AB12}" type="slidenum">
              <a:rPr lang="en-US" smtClean="0"/>
              <a:t>49</a:t>
            </a:fld>
            <a:endParaRPr lang="en-US"/>
          </a:p>
        </p:txBody>
      </p:sp>
    </p:spTree>
    <p:extLst>
      <p:ext uri="{BB962C8B-B14F-4D97-AF65-F5344CB8AC3E}">
        <p14:creationId xmlns:p14="http://schemas.microsoft.com/office/powerpoint/2010/main" val="8233044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and y: petal length and sepal length, mean removed</a:t>
            </a:r>
          </a:p>
        </p:txBody>
      </p:sp>
      <p:sp>
        <p:nvSpPr>
          <p:cNvPr id="4" name="Slide Number Placeholder 3"/>
          <p:cNvSpPr>
            <a:spLocks noGrp="1"/>
          </p:cNvSpPr>
          <p:nvPr>
            <p:ph type="sldNum" sz="quarter" idx="5"/>
          </p:nvPr>
        </p:nvSpPr>
        <p:spPr/>
        <p:txBody>
          <a:bodyPr/>
          <a:lstStyle/>
          <a:p>
            <a:fld id="{E2EEBF76-5CEE-3946-8FE0-073C4B871A82}" type="slidenum">
              <a:rPr lang="en-US" smtClean="0"/>
              <a:t>51</a:t>
            </a:fld>
            <a:endParaRPr lang="en-US"/>
          </a:p>
        </p:txBody>
      </p:sp>
    </p:spTree>
    <p:extLst>
      <p:ext uri="{BB962C8B-B14F-4D97-AF65-F5344CB8AC3E}">
        <p14:creationId xmlns:p14="http://schemas.microsoft.com/office/powerpoint/2010/main" val="15585328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EEBF76-5CEE-3946-8FE0-073C4B871A82}" type="slidenum">
              <a:rPr lang="en-US" smtClean="0"/>
              <a:t>58</a:t>
            </a:fld>
            <a:endParaRPr lang="en-US"/>
          </a:p>
        </p:txBody>
      </p:sp>
    </p:spTree>
    <p:extLst>
      <p:ext uri="{BB962C8B-B14F-4D97-AF65-F5344CB8AC3E}">
        <p14:creationId xmlns:p14="http://schemas.microsoft.com/office/powerpoint/2010/main" val="19626947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8014A-87F9-AA26-615B-DEEC66868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716E9-5E66-8FE4-1F44-0FC7D2CB0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9C3C3B-9D11-086D-DE56-292126BA1C34}"/>
              </a:ext>
            </a:extLst>
          </p:cNvPr>
          <p:cNvSpPr>
            <a:spLocks noGrp="1"/>
          </p:cNvSpPr>
          <p:nvPr>
            <p:ph type="body" idx="1"/>
          </p:nvPr>
        </p:nvSpPr>
        <p:spPr/>
        <p:txBody>
          <a:bodyPr/>
          <a:lstStyle/>
          <a:p>
            <a:r>
              <a:rPr lang="en-US" dirty="0"/>
              <a:t>Go over the slides from EDA lecture by </a:t>
            </a:r>
            <a:r>
              <a:rPr lang="en-US" dirty="0" err="1"/>
              <a:t>Blintzen</a:t>
            </a:r>
            <a:r>
              <a:rPr lang="en-US" dirty="0"/>
              <a:t>. Can it be made more interactive? </a:t>
            </a:r>
          </a:p>
        </p:txBody>
      </p:sp>
      <p:sp>
        <p:nvSpPr>
          <p:cNvPr id="4" name="Slide Number Placeholder 3">
            <a:extLst>
              <a:ext uri="{FF2B5EF4-FFF2-40B4-BE49-F238E27FC236}">
                <a16:creationId xmlns:a16="http://schemas.microsoft.com/office/drawing/2014/main" id="{760E13EA-340C-F51F-9FDE-8586EF90F893}"/>
              </a:ext>
            </a:extLst>
          </p:cNvPr>
          <p:cNvSpPr>
            <a:spLocks noGrp="1"/>
          </p:cNvSpPr>
          <p:nvPr>
            <p:ph type="sldNum" sz="quarter" idx="5"/>
          </p:nvPr>
        </p:nvSpPr>
        <p:spPr/>
        <p:txBody>
          <a:bodyPr/>
          <a:lstStyle/>
          <a:p>
            <a:fld id="{E2EEBF76-5CEE-3946-8FE0-073C4B871A82}" type="slidenum">
              <a:rPr lang="en-US" smtClean="0"/>
              <a:t>66</a:t>
            </a:fld>
            <a:endParaRPr lang="en-US"/>
          </a:p>
        </p:txBody>
      </p:sp>
    </p:spTree>
    <p:extLst>
      <p:ext uri="{BB962C8B-B14F-4D97-AF65-F5344CB8AC3E}">
        <p14:creationId xmlns:p14="http://schemas.microsoft.com/office/powerpoint/2010/main" val="5259439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2A6A6-4DF7-7292-0BD8-0397FDD6C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F8A09-E75B-C590-4D5A-136AD56F89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102DA7-D4DB-1CD9-E417-7EC4195B8C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328C66-71BF-5EAA-2B8E-4623D2AD1192}"/>
              </a:ext>
            </a:extLst>
          </p:cNvPr>
          <p:cNvSpPr>
            <a:spLocks noGrp="1"/>
          </p:cNvSpPr>
          <p:nvPr>
            <p:ph type="sldNum" sz="quarter" idx="5"/>
          </p:nvPr>
        </p:nvSpPr>
        <p:spPr/>
        <p:txBody>
          <a:bodyPr/>
          <a:lstStyle/>
          <a:p>
            <a:fld id="{E2EEBF76-5CEE-3946-8FE0-073C4B871A82}" type="slidenum">
              <a:rPr lang="en-US" smtClean="0"/>
              <a:t>74</a:t>
            </a:fld>
            <a:endParaRPr lang="en-US"/>
          </a:p>
        </p:txBody>
      </p:sp>
    </p:spTree>
    <p:extLst>
      <p:ext uri="{BB962C8B-B14F-4D97-AF65-F5344CB8AC3E}">
        <p14:creationId xmlns:p14="http://schemas.microsoft.com/office/powerpoint/2010/main" val="4601516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EEBF76-5CEE-3946-8FE0-073C4B871A82}" type="slidenum">
              <a:rPr lang="en-US" smtClean="0"/>
              <a:t>75</a:t>
            </a:fld>
            <a:endParaRPr lang="en-US"/>
          </a:p>
        </p:txBody>
      </p:sp>
    </p:spTree>
    <p:extLst>
      <p:ext uri="{BB962C8B-B14F-4D97-AF65-F5344CB8AC3E}">
        <p14:creationId xmlns:p14="http://schemas.microsoft.com/office/powerpoint/2010/main" val="29641103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can we assess how good the median is as a prediction of the salary here? </a:t>
            </a:r>
          </a:p>
        </p:txBody>
      </p:sp>
      <p:sp>
        <p:nvSpPr>
          <p:cNvPr id="4" name="Slide Number Placeholder 3"/>
          <p:cNvSpPr>
            <a:spLocks noGrp="1"/>
          </p:cNvSpPr>
          <p:nvPr>
            <p:ph type="sldNum" sz="quarter" idx="5"/>
          </p:nvPr>
        </p:nvSpPr>
        <p:spPr/>
        <p:txBody>
          <a:bodyPr/>
          <a:lstStyle/>
          <a:p>
            <a:fld id="{611C0B13-21D8-4C4C-87C8-3F9D5550AB12}" type="slidenum">
              <a:rPr lang="en-US" smtClean="0"/>
              <a:t>81</a:t>
            </a:fld>
            <a:endParaRPr lang="en-US"/>
          </a:p>
        </p:txBody>
      </p:sp>
    </p:spTree>
    <p:extLst>
      <p:ext uri="{BB962C8B-B14F-4D97-AF65-F5344CB8AC3E}">
        <p14:creationId xmlns:p14="http://schemas.microsoft.com/office/powerpoint/2010/main" val="10684558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1C0B13-21D8-4C4C-87C8-3F9D5550AB12}" type="slidenum">
              <a:rPr lang="en-US" smtClean="0"/>
              <a:t>83</a:t>
            </a:fld>
            <a:endParaRPr lang="en-US"/>
          </a:p>
        </p:txBody>
      </p:sp>
    </p:spTree>
    <p:extLst>
      <p:ext uri="{BB962C8B-B14F-4D97-AF65-F5344CB8AC3E}">
        <p14:creationId xmlns:p14="http://schemas.microsoft.com/office/powerpoint/2010/main" val="10684558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ight blue">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10630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 illustration">
    <p:bg>
      <p:bgPr>
        <a:solidFill>
          <a:schemeClr val="tx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26928" y="3030584"/>
            <a:ext cx="6065072" cy="4020392"/>
          </a:xfrm>
          <a:prstGeom prst="rect">
            <a:avLst/>
          </a:prstGeom>
        </p:spPr>
      </p:pic>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019910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 illustration">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5" name="Afbeelding 4" descr="Future look.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95318" y="2513330"/>
            <a:ext cx="4710511" cy="4349289"/>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3132980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Title slide light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6" descr="UM40_RGB_B_diap.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978693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hoto Randwij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3" y="253136"/>
            <a:ext cx="9836193" cy="2205259"/>
          </a:xfrm>
        </p:spPr>
        <p:txBody>
          <a:bodyPr>
            <a:noAutofit/>
          </a:bodyPr>
          <a:lstStyle>
            <a:lvl1pPr>
              <a:defRPr sz="7200">
                <a:solidFill>
                  <a:srgbClr val="001A3B"/>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001A3B"/>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496857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Title slide photo Randwij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3" y="253136"/>
            <a:ext cx="9836193" cy="2205259"/>
          </a:xfrm>
        </p:spPr>
        <p:txBody>
          <a:bodyPr>
            <a:noAutofit/>
          </a:bodyPr>
          <a:lstStyle>
            <a:lvl1pPr>
              <a:defRPr sz="7200">
                <a:solidFill>
                  <a:srgbClr val="001A3B"/>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001A3B"/>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3346568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dark blue">
    <p:bg>
      <p:bgPr>
        <a:solidFill>
          <a:schemeClr val="tx1"/>
        </a:solidFill>
        <a:effectLst/>
      </p:bgPr>
    </p:bg>
    <p:spTree>
      <p:nvGrpSpPr>
        <p:cNvPr id="1" name=""/>
        <p:cNvGrpSpPr/>
        <p:nvPr/>
      </p:nvGrpSpPr>
      <p:grpSpPr>
        <a:xfrm>
          <a:off x="0" y="0"/>
          <a:ext cx="0" cy="0"/>
          <a:chOff x="0" y="0"/>
          <a:chExt cx="0" cy="0"/>
        </a:xfrm>
      </p:grpSpPr>
      <p:pic>
        <p:nvPicPr>
          <p:cNvPr id="9" name="Afbeelding 8"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sp>
        <p:nvSpPr>
          <p:cNvPr id="6"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7"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3455121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dark blue">
    <p:bg>
      <p:bgPr>
        <a:solidFill>
          <a:schemeClr val="tx1"/>
        </a:solidFill>
        <a:effectLst/>
      </p:bgPr>
    </p:bg>
    <p:spTree>
      <p:nvGrpSpPr>
        <p:cNvPr id="1" name=""/>
        <p:cNvGrpSpPr/>
        <p:nvPr/>
      </p:nvGrpSpPr>
      <p:grpSpPr>
        <a:xfrm>
          <a:off x="0" y="0"/>
          <a:ext cx="0" cy="0"/>
          <a:chOff x="0" y="0"/>
          <a:chExt cx="0" cy="0"/>
        </a:xfrm>
      </p:grpSpPr>
      <p:pic>
        <p:nvPicPr>
          <p:cNvPr id="9" name="Afbeelding 8"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sp>
        <p:nvSpPr>
          <p:cNvPr id="6"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7"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26929" y="3030584"/>
            <a:ext cx="6065071" cy="4020392"/>
          </a:xfrm>
          <a:prstGeom prst="rect">
            <a:avLst/>
          </a:prstGeom>
        </p:spPr>
      </p:pic>
    </p:spTree>
    <p:extLst>
      <p:ext uri="{BB962C8B-B14F-4D97-AF65-F5344CB8AC3E}">
        <p14:creationId xmlns:p14="http://schemas.microsoft.com/office/powerpoint/2010/main" val="2544784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orange">
    <p:bg>
      <p:bgPr>
        <a:solidFill>
          <a:schemeClr val="accent1"/>
        </a:solidFill>
        <a:effectLst/>
      </p:bgPr>
    </p:bg>
    <p:spTree>
      <p:nvGrpSpPr>
        <p:cNvPr id="1" name=""/>
        <p:cNvGrpSpPr/>
        <p:nvPr/>
      </p:nvGrpSpPr>
      <p:grpSpPr>
        <a:xfrm>
          <a:off x="0" y="0"/>
          <a:ext cx="0" cy="0"/>
          <a:chOff x="0" y="0"/>
          <a:chExt cx="0" cy="0"/>
        </a:xfrm>
      </p:grpSpPr>
      <p:pic>
        <p:nvPicPr>
          <p:cNvPr id="6" name="Afbeelding 5"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930"/>
          <a:stretch/>
        </p:blipFill>
        <p:spPr>
          <a:xfrm>
            <a:off x="480001" y="6174000"/>
            <a:ext cx="2104645" cy="509137"/>
          </a:xfrm>
          <a:prstGeom prst="rect">
            <a:avLst/>
          </a:prstGeom>
        </p:spPr>
      </p:pic>
      <p:sp>
        <p:nvSpPr>
          <p:cNvPr id="7"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8"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24592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orange">
    <p:bg>
      <p:bgPr>
        <a:solidFill>
          <a:schemeClr val="accent1"/>
        </a:solidFill>
        <a:effectLst/>
      </p:bgPr>
    </p:bg>
    <p:spTree>
      <p:nvGrpSpPr>
        <p:cNvPr id="1" name=""/>
        <p:cNvGrpSpPr/>
        <p:nvPr/>
      </p:nvGrpSpPr>
      <p:grpSpPr>
        <a:xfrm>
          <a:off x="0" y="0"/>
          <a:ext cx="0" cy="0"/>
          <a:chOff x="0" y="0"/>
          <a:chExt cx="0" cy="0"/>
        </a:xfrm>
      </p:grpSpPr>
      <p:pic>
        <p:nvPicPr>
          <p:cNvPr id="6" name="Afbeelding 5"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930"/>
          <a:stretch/>
        </p:blipFill>
        <p:spPr>
          <a:xfrm>
            <a:off x="480001" y="6174000"/>
            <a:ext cx="2104645" cy="509137"/>
          </a:xfrm>
          <a:prstGeom prst="rect">
            <a:avLst/>
          </a:prstGeom>
        </p:spPr>
      </p:pic>
      <p:sp>
        <p:nvSpPr>
          <p:cNvPr id="7"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8"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26928" y="3030584"/>
            <a:ext cx="6065072" cy="4020392"/>
          </a:xfrm>
          <a:prstGeom prst="rect">
            <a:avLst/>
          </a:prstGeom>
        </p:spPr>
      </p:pic>
    </p:spTree>
    <p:extLst>
      <p:ext uri="{BB962C8B-B14F-4D97-AF65-F5344CB8AC3E}">
        <p14:creationId xmlns:p14="http://schemas.microsoft.com/office/powerpoint/2010/main" val="3756261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p>
            <a:fld id="{09B7AD4A-C94A-7B42-9E17-606C7F366C4B}" type="slidenum">
              <a:rPr lang="nl-NL" smtClean="0"/>
              <a:t>‹#›</a:t>
            </a:fld>
            <a:endParaRPr lang="nl-NL"/>
          </a:p>
        </p:txBody>
      </p:sp>
      <p:pic>
        <p:nvPicPr>
          <p:cNvPr id="7" name="Afbeelding 6"/>
          <p:cNvPicPr>
            <a:picLocks noChangeAspect="1"/>
          </p:cNvPicPr>
          <p:nvPr userDrawn="1"/>
        </p:nvPicPr>
        <p:blipFill rotWithShape="1">
          <a:blip r:embed="rId2"/>
          <a:srcRect r="19769"/>
          <a:stretch/>
        </p:blipFill>
        <p:spPr>
          <a:xfrm>
            <a:off x="480001" y="6173621"/>
            <a:ext cx="2137056" cy="506307"/>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9" name="Tijdelijke aanduiding voor datum 3"/>
          <p:cNvSpPr>
            <a:spLocks noGrp="1"/>
          </p:cNvSpPr>
          <p:nvPr>
            <p:ph type="dt" sz="half" idx="10"/>
          </p:nvPr>
        </p:nvSpPr>
        <p:spPr>
          <a:xfrm>
            <a:off x="9781607" y="6314803"/>
            <a:ext cx="1219287" cy="365125"/>
          </a:xfrm>
        </p:spPr>
        <p:txBody>
          <a:bodyPr/>
          <a:lstStyle/>
          <a:p>
            <a:endParaRPr lang="nl-NL" dirty="0"/>
          </a:p>
        </p:txBody>
      </p:sp>
    </p:spTree>
    <p:extLst>
      <p:ext uri="{BB962C8B-B14F-4D97-AF65-F5344CB8AC3E}">
        <p14:creationId xmlns:p14="http://schemas.microsoft.com/office/powerpoint/2010/main" val="3157836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ext slide dark blue">
    <p:bg>
      <p:bgPr>
        <a:solidFill>
          <a:schemeClr val="accent3"/>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lvl1pPr>
              <a:defRPr>
                <a:solidFill>
                  <a:srgbClr val="FFFFFF"/>
                </a:solidFill>
              </a:defRPr>
            </a:lvl1pPr>
          </a:lstStyle>
          <a:p>
            <a:fld id="{09B7AD4A-C94A-7B42-9E17-606C7F366C4B}" type="slidenum">
              <a:rPr lang="nl-NL" smtClean="0"/>
              <a:pPr/>
              <a:t>‹#›</a:t>
            </a:fld>
            <a:endParaRPr lang="nl-NL"/>
          </a:p>
        </p:txBody>
      </p:sp>
      <p:pic>
        <p:nvPicPr>
          <p:cNvPr id="10" name="Afbeelding 9"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1235"/>
          <a:stretch/>
        </p:blipFill>
        <p:spPr>
          <a:xfrm>
            <a:off x="480001" y="6174000"/>
            <a:ext cx="2096544" cy="509137"/>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7" name="Tijdelijke aanduiding voor datum 3"/>
          <p:cNvSpPr>
            <a:spLocks noGrp="1"/>
          </p:cNvSpPr>
          <p:nvPr>
            <p:ph type="dt" sz="half" idx="10"/>
          </p:nvPr>
        </p:nvSpPr>
        <p:spPr>
          <a:xfrm>
            <a:off x="9781607" y="6314803"/>
            <a:ext cx="1219287" cy="365125"/>
          </a:xfrm>
        </p:spPr>
        <p:txBody>
          <a:bodyPr/>
          <a:lstStyle>
            <a:lvl1pPr>
              <a:defRPr>
                <a:solidFill>
                  <a:schemeClr val="bg1"/>
                </a:solidFill>
              </a:defRPr>
            </a:lvl1pPr>
          </a:lstStyle>
          <a:p>
            <a:endParaRPr lang="nl-NL" dirty="0"/>
          </a:p>
        </p:txBody>
      </p:sp>
    </p:spTree>
    <p:extLst>
      <p:ext uri="{BB962C8B-B14F-4D97-AF65-F5344CB8AC3E}">
        <p14:creationId xmlns:p14="http://schemas.microsoft.com/office/powerpoint/2010/main" val="2523127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ext slide light blue">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nl-NL" dirty="0"/>
              <a:t>Titelstijl van model bewerken</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lvl1pPr>
              <a:defRPr>
                <a:solidFill>
                  <a:srgbClr val="FFFFFF"/>
                </a:solidFill>
              </a:defRPr>
            </a:lvl1pPr>
          </a:lstStyle>
          <a:p>
            <a:fld id="{09B7AD4A-C94A-7B42-9E17-606C7F366C4B}" type="slidenum">
              <a:rPr lang="nl-NL" smtClean="0"/>
              <a:pPr/>
              <a:t>‹#›</a:t>
            </a:fld>
            <a:endParaRPr lang="nl-NL"/>
          </a:p>
        </p:txBody>
      </p:sp>
      <p:pic>
        <p:nvPicPr>
          <p:cNvPr id="10" name="Afbeelding 9"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7" name="Tijdelijke aanduiding voor datum 3"/>
          <p:cNvSpPr>
            <a:spLocks noGrp="1"/>
          </p:cNvSpPr>
          <p:nvPr>
            <p:ph type="dt" sz="half" idx="10"/>
          </p:nvPr>
        </p:nvSpPr>
        <p:spPr>
          <a:xfrm>
            <a:off x="9781607" y="6314803"/>
            <a:ext cx="1219287" cy="365125"/>
          </a:xfrm>
        </p:spPr>
        <p:txBody>
          <a:bodyPr/>
          <a:lstStyle>
            <a:lvl1pPr>
              <a:defRPr>
                <a:solidFill>
                  <a:schemeClr val="bg1"/>
                </a:solidFill>
              </a:defRPr>
            </a:lvl1pPr>
          </a:lstStyle>
          <a:p>
            <a:endParaRPr lang="nl-NL" dirty="0"/>
          </a:p>
        </p:txBody>
      </p:sp>
    </p:spTree>
    <p:extLst>
      <p:ext uri="{BB962C8B-B14F-4D97-AF65-F5344CB8AC3E}">
        <p14:creationId xmlns:p14="http://schemas.microsoft.com/office/powerpoint/2010/main" val="33153991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photo slide">
    <p:spTree>
      <p:nvGrpSpPr>
        <p:cNvPr id="1" name=""/>
        <p:cNvGrpSpPr/>
        <p:nvPr/>
      </p:nvGrpSpPr>
      <p:grpSpPr>
        <a:xfrm>
          <a:off x="0" y="0"/>
          <a:ext cx="0" cy="0"/>
          <a:chOff x="0" y="0"/>
          <a:chExt cx="0" cy="0"/>
        </a:xfrm>
      </p:grpSpPr>
      <p:sp>
        <p:nvSpPr>
          <p:cNvPr id="2" name="Titel 1"/>
          <p:cNvSpPr>
            <a:spLocks noGrp="1"/>
          </p:cNvSpPr>
          <p:nvPr>
            <p:ph type="title"/>
          </p:nvPr>
        </p:nvSpPr>
        <p:spPr>
          <a:xfrm>
            <a:off x="480002" y="414261"/>
            <a:ext cx="5246167" cy="1565897"/>
          </a:xfrm>
        </p:spPr>
        <p:txBody>
          <a:bodyPr/>
          <a:lstStyle/>
          <a:p>
            <a:r>
              <a:rPr lang="nl-NL" dirty="0"/>
              <a:t>Titelstijl van model bewerken</a:t>
            </a:r>
          </a:p>
        </p:txBody>
      </p:sp>
      <p:sp>
        <p:nvSpPr>
          <p:cNvPr id="3" name="Tijdelijke aanduiding voor inhoud 2"/>
          <p:cNvSpPr>
            <a:spLocks noGrp="1"/>
          </p:cNvSpPr>
          <p:nvPr>
            <p:ph idx="1"/>
          </p:nvPr>
        </p:nvSpPr>
        <p:spPr>
          <a:xfrm>
            <a:off x="480001" y="1980156"/>
            <a:ext cx="5246165" cy="3810096"/>
          </a:xfrm>
        </p:spPr>
        <p:txBody>
          <a:bodyPr/>
          <a:lstStyle>
            <a:lvl3pPr marL="954592" indent="0">
              <a:buNone/>
              <a:defRPr/>
            </a:lvl3pPr>
          </a:lstStyle>
          <a:p>
            <a:pPr lvl="0"/>
            <a:r>
              <a:rPr lang="nl-NL" dirty="0"/>
              <a:t>Klik om de tekststijl van het model te bewerken</a:t>
            </a:r>
          </a:p>
          <a:p>
            <a:pPr lvl="1"/>
            <a:r>
              <a:rPr lang="nl-NL" dirty="0"/>
              <a:t>Tweede niveau</a:t>
            </a:r>
          </a:p>
        </p:txBody>
      </p:sp>
      <p:sp>
        <p:nvSpPr>
          <p:cNvPr id="4" name="Tijdelijke aanduiding voor datum 3"/>
          <p:cNvSpPr>
            <a:spLocks noGrp="1"/>
          </p:cNvSpPr>
          <p:nvPr>
            <p:ph type="dt" sz="half" idx="10"/>
          </p:nvPr>
        </p:nvSpPr>
        <p:spPr>
          <a:xfrm>
            <a:off x="6126724" y="6318628"/>
            <a:ext cx="734312" cy="365125"/>
          </a:xfrm>
        </p:spPr>
        <p:txBody>
          <a:bodyPr/>
          <a:lstStyle/>
          <a:p>
            <a:endParaRPr lang="nl-NL"/>
          </a:p>
        </p:txBody>
      </p:sp>
      <p:sp>
        <p:nvSpPr>
          <p:cNvPr id="5" name="Tijdelijke aanduiding voor voettekst 4"/>
          <p:cNvSpPr>
            <a:spLocks noGrp="1"/>
          </p:cNvSpPr>
          <p:nvPr>
            <p:ph type="ftr" sz="quarter" idx="11"/>
          </p:nvPr>
        </p:nvSpPr>
        <p:spPr>
          <a:xfrm>
            <a:off x="6327003" y="6318628"/>
            <a:ext cx="4599935" cy="365125"/>
          </a:xfrm>
        </p:spPr>
        <p:txBody>
          <a:bodyPr/>
          <a:lstStyle/>
          <a:p>
            <a:endParaRPr lang="nl-NL"/>
          </a:p>
        </p:txBody>
      </p:sp>
      <p:sp>
        <p:nvSpPr>
          <p:cNvPr id="6" name="Tijdelijke aanduiding voor dianummer 5"/>
          <p:cNvSpPr>
            <a:spLocks noGrp="1"/>
          </p:cNvSpPr>
          <p:nvPr>
            <p:ph type="sldNum" sz="quarter" idx="12"/>
          </p:nvPr>
        </p:nvSpPr>
        <p:spPr>
          <a:xfrm>
            <a:off x="10926941" y="6318400"/>
            <a:ext cx="759969" cy="365125"/>
          </a:xfrm>
        </p:spPr>
        <p:txBody>
          <a:bodyPr/>
          <a:lstStyle/>
          <a:p>
            <a:fld id="{09B7AD4A-C94A-7B42-9E17-606C7F366C4B}" type="slidenum">
              <a:rPr lang="nl-NL" smtClean="0"/>
              <a:t>‹#›</a:t>
            </a:fld>
            <a:endParaRPr lang="nl-NL"/>
          </a:p>
        </p:txBody>
      </p:sp>
      <p:sp>
        <p:nvSpPr>
          <p:cNvPr id="8" name="Tijdelijke aanduiding voor afbeelding 7"/>
          <p:cNvSpPr>
            <a:spLocks noGrp="1"/>
          </p:cNvSpPr>
          <p:nvPr>
            <p:ph type="pic" sz="quarter" idx="13"/>
          </p:nvPr>
        </p:nvSpPr>
        <p:spPr>
          <a:xfrm>
            <a:off x="6126726" y="0"/>
            <a:ext cx="6065276" cy="6858000"/>
          </a:xfrm>
          <a:solidFill>
            <a:schemeClr val="bg1">
              <a:lumMod val="85000"/>
            </a:schemeClr>
          </a:solidFill>
        </p:spPr>
        <p:txBody>
          <a:bodyPr/>
          <a:lstStyle/>
          <a:p>
            <a:endParaRPr lang="nl-NL"/>
          </a:p>
        </p:txBody>
      </p:sp>
      <p:pic>
        <p:nvPicPr>
          <p:cNvPr id="9" name="Afbeelding 8"/>
          <p:cNvPicPr>
            <a:picLocks noChangeAspect="1"/>
          </p:cNvPicPr>
          <p:nvPr userDrawn="1"/>
        </p:nvPicPr>
        <p:blipFill rotWithShape="1">
          <a:blip r:embed="rId2"/>
          <a:srcRect r="19769"/>
          <a:stretch/>
        </p:blipFill>
        <p:spPr>
          <a:xfrm>
            <a:off x="480001" y="6173621"/>
            <a:ext cx="2137056" cy="506307"/>
          </a:xfrm>
          <a:prstGeom prst="rect">
            <a:avLst/>
          </a:prstGeom>
        </p:spPr>
      </p:pic>
    </p:spTree>
    <p:extLst>
      <p:ext uri="{BB962C8B-B14F-4D97-AF65-F5344CB8AC3E}">
        <p14:creationId xmlns:p14="http://schemas.microsoft.com/office/powerpoint/2010/main" val="34237268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slide">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p:cNvSpPr>
            <a:spLocks noGrp="1"/>
          </p:cNvSpPr>
          <p:nvPr>
            <p:ph type="pic" sz="quarter" idx="13"/>
          </p:nvPr>
        </p:nvSpPr>
        <p:spPr>
          <a:xfrm>
            <a:off x="0" y="0"/>
            <a:ext cx="12192000" cy="6858000"/>
          </a:xfrm>
          <a:solidFill>
            <a:schemeClr val="bg2">
              <a:lumMod val="85000"/>
            </a:schemeClr>
          </a:solidFill>
        </p:spPr>
        <p:txBody>
          <a:bodyPr/>
          <a:lstStyle/>
          <a:p>
            <a:endParaRPr lang="nl-NL" dirty="0"/>
          </a:p>
        </p:txBody>
      </p:sp>
      <p:sp>
        <p:nvSpPr>
          <p:cNvPr id="5" name="Tijdelijke aanduiding voor dianummer 4"/>
          <p:cNvSpPr>
            <a:spLocks noGrp="1"/>
          </p:cNvSpPr>
          <p:nvPr>
            <p:ph type="sldNum" sz="quarter" idx="12"/>
          </p:nvPr>
        </p:nvSpPr>
        <p:spPr/>
        <p:txBody>
          <a:bodyPr/>
          <a:lstStyle/>
          <a:p>
            <a:fld id="{09B7AD4A-C94A-7B42-9E17-606C7F366C4B}" type="slidenum">
              <a:rPr lang="nl-NL" smtClean="0"/>
              <a:pPr/>
              <a:t>‹#›</a:t>
            </a:fld>
            <a:endParaRPr lang="nl-NL" dirty="0"/>
          </a:p>
        </p:txBody>
      </p:sp>
      <p:sp>
        <p:nvSpPr>
          <p:cNvPr id="11" name="Tijdelijke aanduiding voor tekst 6">
            <a:extLst>
              <a:ext uri="{FF2B5EF4-FFF2-40B4-BE49-F238E27FC236}">
                <a16:creationId xmlns:a16="http://schemas.microsoft.com/office/drawing/2014/main" id="{65C5AF04-DC40-0847-A150-8AD1FF13551E}"/>
              </a:ext>
            </a:extLst>
          </p:cNvPr>
          <p:cNvSpPr>
            <a:spLocks noGrp="1"/>
          </p:cNvSpPr>
          <p:nvPr>
            <p:ph type="body" sz="quarter" idx="15" hasCustomPrompt="1"/>
          </p:nvPr>
        </p:nvSpPr>
        <p:spPr>
          <a:xfrm>
            <a:off x="478267" y="6249250"/>
            <a:ext cx="2044800" cy="311151"/>
          </a:xfrm>
          <a:blipFill>
            <a:blip r:embed="rId2"/>
            <a:stretch>
              <a:fillRect/>
            </a:stretch>
          </a:blipFill>
        </p:spPr>
        <p:txBody>
          <a:bodyPr/>
          <a:lstStyle>
            <a:lvl1pPr marL="0" indent="0" algn="ctr">
              <a:buNone/>
              <a:defRPr sz="1067"/>
            </a:lvl1pPr>
            <a:lvl2pPr marL="478355" indent="0">
              <a:buNone/>
              <a:defRPr sz="1067"/>
            </a:lvl2pPr>
            <a:lvl3pPr marL="954592" indent="0">
              <a:buNone/>
              <a:defRPr sz="1067"/>
            </a:lvl3pPr>
            <a:lvl4pPr marL="1432948" indent="0">
              <a:buNone/>
              <a:defRPr sz="1067"/>
            </a:lvl4pPr>
            <a:lvl5pPr marL="1911302" indent="0">
              <a:buNone/>
              <a:defRPr sz="1067"/>
            </a:lvl5pPr>
          </a:lstStyle>
          <a:p>
            <a:pPr lvl="0"/>
            <a:r>
              <a:rPr lang="nl-NL" dirty="0"/>
              <a:t>  </a:t>
            </a: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6" name="Tijdelijke aanduiding voor datum 3"/>
          <p:cNvSpPr>
            <a:spLocks noGrp="1"/>
          </p:cNvSpPr>
          <p:nvPr>
            <p:ph type="dt" sz="half" idx="10"/>
          </p:nvPr>
        </p:nvSpPr>
        <p:spPr>
          <a:xfrm>
            <a:off x="9781607" y="6314803"/>
            <a:ext cx="1219287" cy="365125"/>
          </a:xfrm>
        </p:spPr>
        <p:txBody>
          <a:bodyPr/>
          <a:lstStyle>
            <a:lvl1pPr>
              <a:defRPr>
                <a:solidFill>
                  <a:schemeClr val="tx1"/>
                </a:solidFill>
              </a:defRPr>
            </a:lvl1pPr>
          </a:lstStyle>
          <a:p>
            <a:endParaRPr lang="nl-NL" dirty="0"/>
          </a:p>
        </p:txBody>
      </p:sp>
    </p:spTree>
    <p:extLst>
      <p:ext uri="{BB962C8B-B14F-4D97-AF65-F5344CB8AC3E}">
        <p14:creationId xmlns:p14="http://schemas.microsoft.com/office/powerpoint/2010/main" val="2147817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Titelstijl van model bewerken</a:t>
            </a:r>
          </a:p>
        </p:txBody>
      </p:sp>
      <p:sp>
        <p:nvSpPr>
          <p:cNvPr id="5" name="Tijdelijke aanduiding voor dianummer 4"/>
          <p:cNvSpPr>
            <a:spLocks noGrp="1"/>
          </p:cNvSpPr>
          <p:nvPr>
            <p:ph type="sldNum" sz="quarter" idx="12"/>
          </p:nvPr>
        </p:nvSpPr>
        <p:spPr/>
        <p:txBody>
          <a:bodyPr/>
          <a:lstStyle/>
          <a:p>
            <a:fld id="{09B7AD4A-C94A-7B42-9E17-606C7F366C4B}" type="slidenum">
              <a:rPr lang="nl-NL" smtClean="0"/>
              <a:t>‹#›</a:t>
            </a:fld>
            <a:endParaRPr lang="nl-NL"/>
          </a:p>
        </p:txBody>
      </p:sp>
      <p:sp>
        <p:nvSpPr>
          <p:cNvPr id="7" name="Tijdelijke aanduiding voor tabel 6"/>
          <p:cNvSpPr>
            <a:spLocks noGrp="1"/>
          </p:cNvSpPr>
          <p:nvPr>
            <p:ph type="tbl" sz="quarter" idx="13"/>
          </p:nvPr>
        </p:nvSpPr>
        <p:spPr>
          <a:xfrm>
            <a:off x="480486" y="1296001"/>
            <a:ext cx="11101916" cy="4309231"/>
          </a:xfrm>
        </p:spPr>
        <p:txBody>
          <a:bodyPr/>
          <a:lstStyle/>
          <a:p>
            <a:endParaRPr lang="nl-NL"/>
          </a:p>
        </p:txBody>
      </p:sp>
      <p:pic>
        <p:nvPicPr>
          <p:cNvPr id="8" name="Afbeelding 7"/>
          <p:cNvPicPr>
            <a:picLocks noChangeAspect="1"/>
          </p:cNvPicPr>
          <p:nvPr userDrawn="1"/>
        </p:nvPicPr>
        <p:blipFill rotWithShape="1">
          <a:blip r:embed="rId2"/>
          <a:srcRect r="19769"/>
          <a:stretch/>
        </p:blipFill>
        <p:spPr>
          <a:xfrm>
            <a:off x="480001" y="6173621"/>
            <a:ext cx="2137056" cy="506307"/>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10" name="Tijdelijke aanduiding voor datum 3"/>
          <p:cNvSpPr>
            <a:spLocks noGrp="1"/>
          </p:cNvSpPr>
          <p:nvPr>
            <p:ph type="dt" sz="half" idx="10"/>
          </p:nvPr>
        </p:nvSpPr>
        <p:spPr>
          <a:xfrm>
            <a:off x="9781607" y="6314803"/>
            <a:ext cx="1219287" cy="365125"/>
          </a:xfrm>
        </p:spPr>
        <p:txBody>
          <a:bodyPr/>
          <a:lstStyle/>
          <a:p>
            <a:endParaRPr lang="nl-NL" dirty="0"/>
          </a:p>
        </p:txBody>
      </p:sp>
    </p:spTree>
    <p:extLst>
      <p:ext uri="{BB962C8B-B14F-4D97-AF65-F5344CB8AC3E}">
        <p14:creationId xmlns:p14="http://schemas.microsoft.com/office/powerpoint/2010/main" val="3538265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480001" y="414260"/>
            <a:ext cx="11102399" cy="756000"/>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480001" y="1296000"/>
            <a:ext cx="11102399" cy="4445149"/>
          </a:xfrm>
          <a:prstGeom prst="rect">
            <a:avLst/>
          </a:prstGeom>
        </p:spPr>
        <p:txBody>
          <a:bodyPr vert="horz" lIns="0" tIns="0" rIns="0" bIns="0" rtlCol="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4312625" y="6318628"/>
            <a:ext cx="1219287" cy="365125"/>
          </a:xfrm>
          <a:prstGeom prst="rect">
            <a:avLst/>
          </a:prstGeom>
        </p:spPr>
        <p:txBody>
          <a:bodyPr vert="horz" lIns="0" tIns="0" rIns="0" bIns="0" rtlCol="0" anchor="t" anchorCtr="0"/>
          <a:lstStyle>
            <a:lvl1pPr algn="r">
              <a:defRPr sz="1333">
                <a:solidFill>
                  <a:schemeClr val="tx1"/>
                </a:solidFill>
                <a:latin typeface="+mj-lt"/>
                <a:cs typeface="Verdana"/>
              </a:defRPr>
            </a:lvl1pPr>
          </a:lstStyle>
          <a:p>
            <a:endParaRPr lang="nl-NL" dirty="0"/>
          </a:p>
        </p:txBody>
      </p:sp>
      <p:sp>
        <p:nvSpPr>
          <p:cNvPr id="5" name="Tijdelijke aanduiding voor voettekst 4"/>
          <p:cNvSpPr>
            <a:spLocks noGrp="1"/>
          </p:cNvSpPr>
          <p:nvPr>
            <p:ph type="ftr" sz="quarter" idx="3"/>
          </p:nvPr>
        </p:nvSpPr>
        <p:spPr>
          <a:xfrm>
            <a:off x="5697661" y="6318628"/>
            <a:ext cx="5303544" cy="365125"/>
          </a:xfrm>
          <a:prstGeom prst="rect">
            <a:avLst/>
          </a:prstGeom>
        </p:spPr>
        <p:txBody>
          <a:bodyPr vert="horz" lIns="0" tIns="0" rIns="0" bIns="0" rtlCol="0" anchor="t" anchorCtr="0"/>
          <a:lstStyle>
            <a:lvl1pPr algn="r">
              <a:defRPr sz="1333">
                <a:solidFill>
                  <a:schemeClr val="tx1"/>
                </a:solidFill>
                <a:latin typeface="+mn-lt"/>
                <a:cs typeface="Verdana"/>
              </a:defRPr>
            </a:lvl1pPr>
          </a:lstStyle>
          <a:p>
            <a:endParaRPr lang="nl-NL" dirty="0"/>
          </a:p>
        </p:txBody>
      </p:sp>
      <p:sp>
        <p:nvSpPr>
          <p:cNvPr id="6" name="Tijdelijke aanduiding voor dianummer 5"/>
          <p:cNvSpPr>
            <a:spLocks noGrp="1"/>
          </p:cNvSpPr>
          <p:nvPr>
            <p:ph type="sldNum" sz="quarter" idx="4"/>
          </p:nvPr>
        </p:nvSpPr>
        <p:spPr>
          <a:xfrm>
            <a:off x="11088190" y="6318400"/>
            <a:ext cx="494209" cy="365125"/>
          </a:xfrm>
          <a:prstGeom prst="rect">
            <a:avLst/>
          </a:prstGeom>
        </p:spPr>
        <p:txBody>
          <a:bodyPr vert="horz" lIns="0" tIns="0" rIns="0" bIns="0" rtlCol="0" anchor="t" anchorCtr="0"/>
          <a:lstStyle>
            <a:lvl1pPr algn="r">
              <a:defRPr sz="1333">
                <a:solidFill>
                  <a:schemeClr val="tx1"/>
                </a:solidFill>
                <a:latin typeface="+mn-lt"/>
                <a:cs typeface="Verdana"/>
              </a:defRPr>
            </a:lvl1pPr>
          </a:lstStyle>
          <a:p>
            <a:fld id="{09B7AD4A-C94A-7B42-9E17-606C7F366C4B}" type="slidenum">
              <a:rPr lang="nl-NL" smtClean="0"/>
              <a:pPr/>
              <a:t>‹#›</a:t>
            </a:fld>
            <a:endParaRPr lang="nl-NL" dirty="0"/>
          </a:p>
        </p:txBody>
      </p:sp>
    </p:spTree>
    <p:extLst>
      <p:ext uri="{BB962C8B-B14F-4D97-AF65-F5344CB8AC3E}">
        <p14:creationId xmlns:p14="http://schemas.microsoft.com/office/powerpoint/2010/main" val="16925395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lvl1pPr algn="l" defTabSz="609585" rtl="0" eaLnBrk="1" latinLnBrk="0" hangingPunct="1">
        <a:spcBef>
          <a:spcPct val="0"/>
        </a:spcBef>
        <a:buNone/>
        <a:defRPr sz="4267" b="1" kern="1200">
          <a:solidFill>
            <a:schemeClr val="tx2"/>
          </a:solidFill>
          <a:latin typeface="+mj-lt"/>
          <a:ea typeface="+mj-ea"/>
          <a:cs typeface="Verdana"/>
        </a:defRPr>
      </a:lvl1pPr>
    </p:titleStyle>
    <p:body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14.jpe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1.xml"/><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23.jpeg"/><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4.xml"/><Relationship Id="rId6" Type="http://schemas.openxmlformats.org/officeDocument/2006/relationships/image" Target="../media/image27.png"/><Relationship Id="rId5" Type="http://schemas.openxmlformats.org/officeDocument/2006/relationships/image" Target="../media/image30.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4.xml"/><Relationship Id="rId6" Type="http://schemas.openxmlformats.org/officeDocument/2006/relationships/image" Target="../media/image27.png"/><Relationship Id="rId5" Type="http://schemas.openxmlformats.org/officeDocument/2006/relationships/image" Target="../media/image30.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11.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hyperlink" Target="https://colorbrewer2.org/#type=sequential&amp;scheme=BuGn&amp;n=3" TargetMode="External"/><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62.png"/></Relationships>
</file>

<file path=ppt/slides/_rels/slide5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hyperlink" Target="https://seaborn.pydata.org/examples/index.html"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76.png"/><Relationship Id="rId1" Type="http://schemas.openxmlformats.org/officeDocument/2006/relationships/slideLayout" Target="../slideLayouts/slideLayout11.xml"/><Relationship Id="rId5" Type="http://schemas.openxmlformats.org/officeDocument/2006/relationships/image" Target="../media/image78.svg"/><Relationship Id="rId4" Type="http://schemas.openxmlformats.org/officeDocument/2006/relationships/image" Target="../media/image77.svg"/></Relationships>
</file>

<file path=ppt/slides/_rels/slide7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76.png"/><Relationship Id="rId1" Type="http://schemas.openxmlformats.org/officeDocument/2006/relationships/slideLayout" Target="../slideLayouts/slideLayout11.xml"/><Relationship Id="rId5" Type="http://schemas.openxmlformats.org/officeDocument/2006/relationships/image" Target="../media/image78.svg"/><Relationship Id="rId4" Type="http://schemas.openxmlformats.org/officeDocument/2006/relationships/image" Target="../media/image77.svg"/></Relationships>
</file>

<file path=ppt/slides/_rels/slide71.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image" Target="../media/image1200.png"/><Relationship Id="rId1" Type="http://schemas.openxmlformats.org/officeDocument/2006/relationships/slideLayout" Target="../slideLayouts/slideLayout11.xml"/><Relationship Id="rId6" Type="http://schemas.openxmlformats.org/officeDocument/2006/relationships/image" Target="../media/image79.png"/><Relationship Id="rId5" Type="http://schemas.openxmlformats.org/officeDocument/2006/relationships/image" Target="../media/image76.png"/><Relationship Id="rId4" Type="http://schemas.openxmlformats.org/officeDocument/2006/relationships/image" Target="../media/image78.svg"/></Relationships>
</file>

<file path=ppt/slides/_rels/slide72.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image" Target="../media/image122.png"/><Relationship Id="rId1" Type="http://schemas.openxmlformats.org/officeDocument/2006/relationships/slideLayout" Target="../slideLayouts/slideLayout11.xml"/><Relationship Id="rId6" Type="http://schemas.openxmlformats.org/officeDocument/2006/relationships/image" Target="../media/image79.png"/><Relationship Id="rId5" Type="http://schemas.openxmlformats.org/officeDocument/2006/relationships/image" Target="../media/image76.png"/><Relationship Id="rId4" Type="http://schemas.openxmlformats.org/officeDocument/2006/relationships/image" Target="../media/image78.svg"/></Relationships>
</file>

<file path=ppt/slides/_rels/slide73.xml.rels><?xml version="1.0" encoding="UTF-8" standalone="yes"?>
<Relationships xmlns="http://schemas.openxmlformats.org/package/2006/relationships"><Relationship Id="rId3" Type="http://schemas.openxmlformats.org/officeDocument/2006/relationships/image" Target="../media/image78.svg"/><Relationship Id="rId7" Type="http://schemas.openxmlformats.org/officeDocument/2006/relationships/image" Target="../media/image82.png"/><Relationship Id="rId2" Type="http://schemas.openxmlformats.org/officeDocument/2006/relationships/image" Target="../media/image77.svg"/><Relationship Id="rId1" Type="http://schemas.openxmlformats.org/officeDocument/2006/relationships/slideLayout" Target="../slideLayouts/slideLayout11.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6.png"/></Relationships>
</file>

<file path=ppt/slides/_rels/slide7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88.png"/><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2784" y="253136"/>
            <a:ext cx="9247059" cy="2205259"/>
          </a:xfrm>
        </p:spPr>
        <p:txBody>
          <a:bodyPr/>
          <a:lstStyle/>
          <a:p>
            <a:r>
              <a:rPr lang="en-US" dirty="0"/>
              <a:t>BSC1520: Statistics</a:t>
            </a:r>
          </a:p>
        </p:txBody>
      </p:sp>
      <p:sp>
        <p:nvSpPr>
          <p:cNvPr id="3" name="Subtitle 2"/>
          <p:cNvSpPr>
            <a:spLocks noGrp="1"/>
          </p:cNvSpPr>
          <p:nvPr>
            <p:ph type="subTitle" idx="1"/>
          </p:nvPr>
        </p:nvSpPr>
        <p:spPr/>
        <p:txBody>
          <a:bodyPr/>
          <a:lstStyle/>
          <a:p>
            <a:r>
              <a:rPr lang="en-US" b="1" dirty="0"/>
              <a:t>Lecture 02: </a:t>
            </a:r>
          </a:p>
          <a:p>
            <a:r>
              <a:rPr lang="en-US" b="1" dirty="0"/>
              <a:t>Data Visualization and Data Spread</a:t>
            </a:r>
          </a:p>
        </p:txBody>
      </p:sp>
    </p:spTree>
    <p:extLst>
      <p:ext uri="{BB962C8B-B14F-4D97-AF65-F5344CB8AC3E}">
        <p14:creationId xmlns:p14="http://schemas.microsoft.com/office/powerpoint/2010/main" val="110467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96375-A5C5-9507-E19C-DB7E76ECCF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EDFD9-27F6-33DE-4D76-923C5C9FE690}"/>
              </a:ext>
            </a:extLst>
          </p:cNvPr>
          <p:cNvSpPr>
            <a:spLocks noGrp="1"/>
          </p:cNvSpPr>
          <p:nvPr>
            <p:ph type="title"/>
          </p:nvPr>
        </p:nvSpPr>
        <p:spPr/>
        <p:txBody>
          <a:bodyPr/>
          <a:lstStyle/>
          <a:p>
            <a:r>
              <a:rPr lang="en-US" dirty="0"/>
              <a:t>Stranger Things are (finally) over…</a:t>
            </a:r>
          </a:p>
        </p:txBody>
      </p:sp>
      <p:pic>
        <p:nvPicPr>
          <p:cNvPr id="3078" name="Picture 6" descr="Omg 😆 (kinda sad) : r/StrangerThings">
            <a:extLst>
              <a:ext uri="{FF2B5EF4-FFF2-40B4-BE49-F238E27FC236}">
                <a16:creationId xmlns:a16="http://schemas.microsoft.com/office/drawing/2014/main" id="{6C6FCD61-F4FD-6255-C635-81FE3C4E85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9080" y="1418841"/>
            <a:ext cx="3475455" cy="4344318"/>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STRANGER THINGS seasons ...">
            <a:extLst>
              <a:ext uri="{FF2B5EF4-FFF2-40B4-BE49-F238E27FC236}">
                <a16:creationId xmlns:a16="http://schemas.microsoft.com/office/drawing/2014/main" id="{012EA1CE-F5B8-8F51-E06C-3AA57D3C4E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418840"/>
            <a:ext cx="3478917" cy="4344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4475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D39E-644D-5D73-87CD-0B9BBC2FD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EAEAC-698A-3CA5-E817-9DA7E5C968C6}"/>
              </a:ext>
            </a:extLst>
          </p:cNvPr>
          <p:cNvSpPr>
            <a:spLocks noGrp="1"/>
          </p:cNvSpPr>
          <p:nvPr>
            <p:ph type="title"/>
          </p:nvPr>
        </p:nvSpPr>
        <p:spPr/>
        <p:txBody>
          <a:bodyPr/>
          <a:lstStyle/>
          <a:p>
            <a:r>
              <a:rPr lang="en-US" dirty="0"/>
              <a:t>Stranger Things is over…</a:t>
            </a:r>
          </a:p>
        </p:txBody>
      </p:sp>
      <p:pic>
        <p:nvPicPr>
          <p:cNvPr id="5" name="Picture 4">
            <a:extLst>
              <a:ext uri="{FF2B5EF4-FFF2-40B4-BE49-F238E27FC236}">
                <a16:creationId xmlns:a16="http://schemas.microsoft.com/office/drawing/2014/main" id="{F89DA4AF-4F69-5841-2E07-218393FD3C12}"/>
              </a:ext>
            </a:extLst>
          </p:cNvPr>
          <p:cNvPicPr>
            <a:picLocks noChangeAspect="1"/>
          </p:cNvPicPr>
          <p:nvPr/>
        </p:nvPicPr>
        <p:blipFill>
          <a:blip r:embed="rId3"/>
          <a:stretch>
            <a:fillRect/>
          </a:stretch>
        </p:blipFill>
        <p:spPr>
          <a:xfrm>
            <a:off x="4864742" y="1904101"/>
            <a:ext cx="3440415" cy="2657852"/>
          </a:xfrm>
          <a:prstGeom prst="rect">
            <a:avLst/>
          </a:prstGeom>
        </p:spPr>
      </p:pic>
      <p:sp>
        <p:nvSpPr>
          <p:cNvPr id="9" name="TextBox 8">
            <a:extLst>
              <a:ext uri="{FF2B5EF4-FFF2-40B4-BE49-F238E27FC236}">
                <a16:creationId xmlns:a16="http://schemas.microsoft.com/office/drawing/2014/main" id="{0D2D831C-00C4-7FC4-32FE-7056172C4766}"/>
              </a:ext>
            </a:extLst>
          </p:cNvPr>
          <p:cNvSpPr txBox="1"/>
          <p:nvPr/>
        </p:nvSpPr>
        <p:spPr>
          <a:xfrm>
            <a:off x="609599" y="1170260"/>
            <a:ext cx="11102399" cy="461665"/>
          </a:xfrm>
          <a:prstGeom prst="rect">
            <a:avLst/>
          </a:prstGeom>
          <a:noFill/>
        </p:spPr>
        <p:txBody>
          <a:bodyPr wrap="square">
            <a:spAutoFit/>
          </a:bodyPr>
          <a:lstStyle/>
          <a:p>
            <a:r>
              <a:rPr lang="en-US" sz="2400" dirty="0"/>
              <a:t>What visualization of the show’s ratings do you think is the best?</a:t>
            </a:r>
          </a:p>
        </p:txBody>
      </p:sp>
      <p:pic>
        <p:nvPicPr>
          <p:cNvPr id="1026" name="Picture 2" descr="OC] 3 Seasons of Stranger Things in IMDB Reviews : r/StrangerThings">
            <a:extLst>
              <a:ext uri="{FF2B5EF4-FFF2-40B4-BE49-F238E27FC236}">
                <a16:creationId xmlns:a16="http://schemas.microsoft.com/office/drawing/2014/main" id="{4A0A6FB7-7241-4B03-D3A7-34E6C60DA1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5303" y="1904101"/>
            <a:ext cx="3341897" cy="265785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ranger Things - Rotten Tomatoes Average Critic Ratings : r/television">
            <a:extLst>
              <a:ext uri="{FF2B5EF4-FFF2-40B4-BE49-F238E27FC236}">
                <a16:creationId xmlns:a16="http://schemas.microsoft.com/office/drawing/2014/main" id="{5EC92732-EDB2-295B-AB97-E61B093A3D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89999" y="1904101"/>
            <a:ext cx="2579897" cy="257989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4B5BBFB-1216-690F-B773-473A2297F9E0}"/>
              </a:ext>
            </a:extLst>
          </p:cNvPr>
          <p:cNvSpPr txBox="1"/>
          <p:nvPr/>
        </p:nvSpPr>
        <p:spPr>
          <a:xfrm>
            <a:off x="1954900" y="4831896"/>
            <a:ext cx="1282701" cy="461665"/>
          </a:xfrm>
          <a:prstGeom prst="rect">
            <a:avLst/>
          </a:prstGeom>
          <a:noFill/>
        </p:spPr>
        <p:txBody>
          <a:bodyPr wrap="square">
            <a:spAutoFit/>
          </a:bodyPr>
          <a:lstStyle/>
          <a:p>
            <a:pPr algn="ctr"/>
            <a:r>
              <a:rPr lang="en-US" sz="2400" dirty="0"/>
              <a:t>1</a:t>
            </a:r>
          </a:p>
        </p:txBody>
      </p:sp>
      <p:sp>
        <p:nvSpPr>
          <p:cNvPr id="11" name="TextBox 10">
            <a:extLst>
              <a:ext uri="{FF2B5EF4-FFF2-40B4-BE49-F238E27FC236}">
                <a16:creationId xmlns:a16="http://schemas.microsoft.com/office/drawing/2014/main" id="{20AF1BC0-8F30-AF29-7F5D-E061E4EC3B96}"/>
              </a:ext>
            </a:extLst>
          </p:cNvPr>
          <p:cNvSpPr txBox="1"/>
          <p:nvPr/>
        </p:nvSpPr>
        <p:spPr>
          <a:xfrm>
            <a:off x="5943598" y="4831895"/>
            <a:ext cx="1282701" cy="461665"/>
          </a:xfrm>
          <a:prstGeom prst="rect">
            <a:avLst/>
          </a:prstGeom>
          <a:noFill/>
        </p:spPr>
        <p:txBody>
          <a:bodyPr wrap="square">
            <a:spAutoFit/>
          </a:bodyPr>
          <a:lstStyle/>
          <a:p>
            <a:pPr algn="ctr"/>
            <a:r>
              <a:rPr lang="en-US" sz="2400" dirty="0"/>
              <a:t>2</a:t>
            </a:r>
          </a:p>
        </p:txBody>
      </p:sp>
      <p:sp>
        <p:nvSpPr>
          <p:cNvPr id="12" name="TextBox 11">
            <a:extLst>
              <a:ext uri="{FF2B5EF4-FFF2-40B4-BE49-F238E27FC236}">
                <a16:creationId xmlns:a16="http://schemas.microsoft.com/office/drawing/2014/main" id="{AA5885EE-5AD8-7651-1EB9-988D6E0862FC}"/>
              </a:ext>
            </a:extLst>
          </p:cNvPr>
          <p:cNvSpPr txBox="1"/>
          <p:nvPr/>
        </p:nvSpPr>
        <p:spPr>
          <a:xfrm>
            <a:off x="9544946" y="4831894"/>
            <a:ext cx="1282701" cy="461665"/>
          </a:xfrm>
          <a:prstGeom prst="rect">
            <a:avLst/>
          </a:prstGeom>
          <a:noFill/>
        </p:spPr>
        <p:txBody>
          <a:bodyPr wrap="square">
            <a:spAutoFit/>
          </a:bodyPr>
          <a:lstStyle/>
          <a:p>
            <a:pPr algn="ctr"/>
            <a:r>
              <a:rPr lang="en-US" sz="2400" dirty="0"/>
              <a:t>3</a:t>
            </a:r>
          </a:p>
        </p:txBody>
      </p:sp>
    </p:spTree>
    <p:extLst>
      <p:ext uri="{BB962C8B-B14F-4D97-AF65-F5344CB8AC3E}">
        <p14:creationId xmlns:p14="http://schemas.microsoft.com/office/powerpoint/2010/main" val="425892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EE918-2521-8917-6810-68AD00D2F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CADEF-E29A-1726-E116-7757EF6FCD9D}"/>
              </a:ext>
            </a:extLst>
          </p:cNvPr>
          <p:cNvSpPr>
            <a:spLocks noGrp="1"/>
          </p:cNvSpPr>
          <p:nvPr>
            <p:ph type="title"/>
          </p:nvPr>
        </p:nvSpPr>
        <p:spPr/>
        <p:txBody>
          <a:bodyPr/>
          <a:lstStyle/>
          <a:p>
            <a:r>
              <a:rPr lang="en-US" dirty="0"/>
              <a:t>Stranger Things is over…</a:t>
            </a:r>
          </a:p>
        </p:txBody>
      </p:sp>
      <p:pic>
        <p:nvPicPr>
          <p:cNvPr id="5" name="Picture 4">
            <a:extLst>
              <a:ext uri="{FF2B5EF4-FFF2-40B4-BE49-F238E27FC236}">
                <a16:creationId xmlns:a16="http://schemas.microsoft.com/office/drawing/2014/main" id="{D1DE52F6-C389-8791-C4CE-72DDEDAE0FA2}"/>
              </a:ext>
            </a:extLst>
          </p:cNvPr>
          <p:cNvPicPr>
            <a:picLocks noChangeAspect="1"/>
          </p:cNvPicPr>
          <p:nvPr/>
        </p:nvPicPr>
        <p:blipFill>
          <a:blip r:embed="rId3"/>
          <a:stretch>
            <a:fillRect/>
          </a:stretch>
        </p:blipFill>
        <p:spPr>
          <a:xfrm>
            <a:off x="4864742" y="1904101"/>
            <a:ext cx="3440415" cy="2657852"/>
          </a:xfrm>
          <a:prstGeom prst="rect">
            <a:avLst/>
          </a:prstGeom>
        </p:spPr>
      </p:pic>
      <p:sp>
        <p:nvSpPr>
          <p:cNvPr id="9" name="TextBox 8">
            <a:extLst>
              <a:ext uri="{FF2B5EF4-FFF2-40B4-BE49-F238E27FC236}">
                <a16:creationId xmlns:a16="http://schemas.microsoft.com/office/drawing/2014/main" id="{5D63A46F-E01F-0406-9270-3034C387E22C}"/>
              </a:ext>
            </a:extLst>
          </p:cNvPr>
          <p:cNvSpPr txBox="1"/>
          <p:nvPr/>
        </p:nvSpPr>
        <p:spPr>
          <a:xfrm>
            <a:off x="609599" y="1170260"/>
            <a:ext cx="11102399" cy="461665"/>
          </a:xfrm>
          <a:prstGeom prst="rect">
            <a:avLst/>
          </a:prstGeom>
          <a:noFill/>
        </p:spPr>
        <p:txBody>
          <a:bodyPr wrap="square">
            <a:spAutoFit/>
          </a:bodyPr>
          <a:lstStyle/>
          <a:p>
            <a:r>
              <a:rPr lang="en-US" sz="2400" dirty="0"/>
              <a:t>What visualization of ratings do you think is the best?</a:t>
            </a:r>
          </a:p>
        </p:txBody>
      </p:sp>
      <p:pic>
        <p:nvPicPr>
          <p:cNvPr id="1026" name="Picture 2" descr="OC] 3 Seasons of Stranger Things in IMDB Reviews : r/StrangerThings">
            <a:extLst>
              <a:ext uri="{FF2B5EF4-FFF2-40B4-BE49-F238E27FC236}">
                <a16:creationId xmlns:a16="http://schemas.microsoft.com/office/drawing/2014/main" id="{4E8A9E4A-D34A-3A1B-37CC-B795FFFCA4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5303" y="1904101"/>
            <a:ext cx="3341897" cy="265785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ranger Things - Rotten Tomatoes Average Critic Ratings : r/television">
            <a:extLst>
              <a:ext uri="{FF2B5EF4-FFF2-40B4-BE49-F238E27FC236}">
                <a16:creationId xmlns:a16="http://schemas.microsoft.com/office/drawing/2014/main" id="{E2287AA0-531B-7D2A-4218-15E2212AF1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89999" y="1904101"/>
            <a:ext cx="2579897" cy="257989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D901DC5-45F5-3C3F-062C-4C0FFA382DED}"/>
              </a:ext>
            </a:extLst>
          </p:cNvPr>
          <p:cNvSpPr txBox="1"/>
          <p:nvPr/>
        </p:nvSpPr>
        <p:spPr>
          <a:xfrm>
            <a:off x="1954900" y="4831896"/>
            <a:ext cx="1282701" cy="461665"/>
          </a:xfrm>
          <a:prstGeom prst="rect">
            <a:avLst/>
          </a:prstGeom>
          <a:noFill/>
        </p:spPr>
        <p:txBody>
          <a:bodyPr wrap="square">
            <a:spAutoFit/>
          </a:bodyPr>
          <a:lstStyle/>
          <a:p>
            <a:pPr algn="ctr"/>
            <a:r>
              <a:rPr lang="en-US" sz="2400" dirty="0"/>
              <a:t>1</a:t>
            </a:r>
          </a:p>
        </p:txBody>
      </p:sp>
      <p:sp>
        <p:nvSpPr>
          <p:cNvPr id="11" name="TextBox 10">
            <a:extLst>
              <a:ext uri="{FF2B5EF4-FFF2-40B4-BE49-F238E27FC236}">
                <a16:creationId xmlns:a16="http://schemas.microsoft.com/office/drawing/2014/main" id="{C4A069DA-EE6B-A761-762B-082BF74DB456}"/>
              </a:ext>
            </a:extLst>
          </p:cNvPr>
          <p:cNvSpPr txBox="1"/>
          <p:nvPr/>
        </p:nvSpPr>
        <p:spPr>
          <a:xfrm>
            <a:off x="5943598" y="4831895"/>
            <a:ext cx="1282701" cy="461665"/>
          </a:xfrm>
          <a:prstGeom prst="rect">
            <a:avLst/>
          </a:prstGeom>
          <a:noFill/>
        </p:spPr>
        <p:txBody>
          <a:bodyPr wrap="square">
            <a:spAutoFit/>
          </a:bodyPr>
          <a:lstStyle/>
          <a:p>
            <a:pPr algn="ctr"/>
            <a:r>
              <a:rPr lang="en-US" sz="2400" dirty="0"/>
              <a:t>2</a:t>
            </a:r>
          </a:p>
        </p:txBody>
      </p:sp>
      <p:sp>
        <p:nvSpPr>
          <p:cNvPr id="12" name="TextBox 11">
            <a:extLst>
              <a:ext uri="{FF2B5EF4-FFF2-40B4-BE49-F238E27FC236}">
                <a16:creationId xmlns:a16="http://schemas.microsoft.com/office/drawing/2014/main" id="{801DE3EA-660B-89EB-86D9-97A8CB8259D7}"/>
              </a:ext>
            </a:extLst>
          </p:cNvPr>
          <p:cNvSpPr txBox="1"/>
          <p:nvPr/>
        </p:nvSpPr>
        <p:spPr>
          <a:xfrm>
            <a:off x="9544946" y="4831894"/>
            <a:ext cx="1282701" cy="461665"/>
          </a:xfrm>
          <a:prstGeom prst="rect">
            <a:avLst/>
          </a:prstGeom>
          <a:noFill/>
        </p:spPr>
        <p:txBody>
          <a:bodyPr wrap="square">
            <a:spAutoFit/>
          </a:bodyPr>
          <a:lstStyle/>
          <a:p>
            <a:pPr algn="ctr"/>
            <a:r>
              <a:rPr lang="en-US" sz="2400" dirty="0"/>
              <a:t>3</a:t>
            </a:r>
          </a:p>
        </p:txBody>
      </p:sp>
      <p:sp>
        <p:nvSpPr>
          <p:cNvPr id="15" name="TextBox 14">
            <a:extLst>
              <a:ext uri="{FF2B5EF4-FFF2-40B4-BE49-F238E27FC236}">
                <a16:creationId xmlns:a16="http://schemas.microsoft.com/office/drawing/2014/main" id="{DBE913CA-1C16-4853-724F-AF769316E8AB}"/>
              </a:ext>
            </a:extLst>
          </p:cNvPr>
          <p:cNvSpPr txBox="1"/>
          <p:nvPr/>
        </p:nvSpPr>
        <p:spPr>
          <a:xfrm>
            <a:off x="609599" y="5293559"/>
            <a:ext cx="6096000" cy="707886"/>
          </a:xfrm>
          <a:prstGeom prst="rect">
            <a:avLst/>
          </a:prstGeom>
          <a:noFill/>
        </p:spPr>
        <p:txBody>
          <a:bodyPr wrap="square">
            <a:spAutoFit/>
          </a:bodyPr>
          <a:lstStyle/>
          <a:p>
            <a:r>
              <a:rPr lang="en-US" sz="2000" b="1" dirty="0"/>
              <a:t>Best for what?</a:t>
            </a:r>
          </a:p>
          <a:p>
            <a:r>
              <a:rPr lang="en-US" sz="2000" b="1" dirty="0"/>
              <a:t>What do we want/need to show?</a:t>
            </a:r>
          </a:p>
        </p:txBody>
      </p:sp>
    </p:spTree>
    <p:extLst>
      <p:ext uri="{BB962C8B-B14F-4D97-AF65-F5344CB8AC3E}">
        <p14:creationId xmlns:p14="http://schemas.microsoft.com/office/powerpoint/2010/main" val="3845331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AD8E9-F011-C9CB-CE22-9BAC898DC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145853-AD84-BC6F-349B-C47CFBA73C98}"/>
              </a:ext>
            </a:extLst>
          </p:cNvPr>
          <p:cNvSpPr>
            <a:spLocks noGrp="1"/>
          </p:cNvSpPr>
          <p:nvPr>
            <p:ph type="title"/>
          </p:nvPr>
        </p:nvSpPr>
        <p:spPr/>
        <p:txBody>
          <a:bodyPr/>
          <a:lstStyle/>
          <a:p>
            <a:r>
              <a:rPr lang="en-US" dirty="0"/>
              <a:t>Stranger Things is over…</a:t>
            </a:r>
          </a:p>
        </p:txBody>
      </p:sp>
      <p:pic>
        <p:nvPicPr>
          <p:cNvPr id="5" name="Picture 4">
            <a:extLst>
              <a:ext uri="{FF2B5EF4-FFF2-40B4-BE49-F238E27FC236}">
                <a16:creationId xmlns:a16="http://schemas.microsoft.com/office/drawing/2014/main" id="{15B0D6A4-BDEA-E484-F2F7-2AA4AFAAC6C5}"/>
              </a:ext>
            </a:extLst>
          </p:cNvPr>
          <p:cNvPicPr>
            <a:picLocks noChangeAspect="1"/>
          </p:cNvPicPr>
          <p:nvPr/>
        </p:nvPicPr>
        <p:blipFill>
          <a:blip r:embed="rId3"/>
          <a:stretch>
            <a:fillRect/>
          </a:stretch>
        </p:blipFill>
        <p:spPr>
          <a:xfrm>
            <a:off x="4864742" y="2650160"/>
            <a:ext cx="3440415" cy="2657852"/>
          </a:xfrm>
          <a:prstGeom prst="rect">
            <a:avLst/>
          </a:prstGeom>
        </p:spPr>
      </p:pic>
      <p:sp>
        <p:nvSpPr>
          <p:cNvPr id="9" name="TextBox 8">
            <a:extLst>
              <a:ext uri="{FF2B5EF4-FFF2-40B4-BE49-F238E27FC236}">
                <a16:creationId xmlns:a16="http://schemas.microsoft.com/office/drawing/2014/main" id="{05DB60EC-5323-CB01-E135-53BD32955599}"/>
              </a:ext>
            </a:extLst>
          </p:cNvPr>
          <p:cNvSpPr txBox="1"/>
          <p:nvPr/>
        </p:nvSpPr>
        <p:spPr>
          <a:xfrm>
            <a:off x="609599" y="1170260"/>
            <a:ext cx="11102399" cy="923330"/>
          </a:xfrm>
          <a:prstGeom prst="rect">
            <a:avLst/>
          </a:prstGeom>
          <a:noFill/>
        </p:spPr>
        <p:txBody>
          <a:bodyPr wrap="square">
            <a:spAutoFit/>
          </a:bodyPr>
          <a:lstStyle/>
          <a:p>
            <a:pPr marL="285750" indent="-285750">
              <a:buFont typeface="Arial" panose="020B0604020202020204" pitchFamily="34" charset="0"/>
              <a:buChar char="•"/>
            </a:pPr>
            <a:r>
              <a:rPr lang="en-US" sz="1800" dirty="0"/>
              <a:t>Is it a good show overall?</a:t>
            </a:r>
          </a:p>
          <a:p>
            <a:pPr marL="285750" indent="-285750">
              <a:buFont typeface="Arial" panose="020B0604020202020204" pitchFamily="34" charset="0"/>
              <a:buChar char="•"/>
            </a:pPr>
            <a:r>
              <a:rPr lang="en-US" dirty="0"/>
              <a:t>Do you think viewers left happy with the ending?</a:t>
            </a:r>
          </a:p>
          <a:p>
            <a:pPr marL="285750" indent="-285750">
              <a:buFont typeface="Arial" panose="020B0604020202020204" pitchFamily="34" charset="0"/>
              <a:buChar char="•"/>
            </a:pPr>
            <a:r>
              <a:rPr lang="en-US" sz="1800" dirty="0"/>
              <a:t>What are the trends per episode?</a:t>
            </a:r>
          </a:p>
        </p:txBody>
      </p:sp>
      <p:pic>
        <p:nvPicPr>
          <p:cNvPr id="1026" name="Picture 2" descr="OC] 3 Seasons of Stranger Things in IMDB Reviews : r/StrangerThings">
            <a:extLst>
              <a:ext uri="{FF2B5EF4-FFF2-40B4-BE49-F238E27FC236}">
                <a16:creationId xmlns:a16="http://schemas.microsoft.com/office/drawing/2014/main" id="{21FB4028-9B11-9990-960D-41E5FECF9A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5303" y="2650160"/>
            <a:ext cx="3341897" cy="265785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ranger Things - Rotten Tomatoes Average Critic Ratings : r/television">
            <a:extLst>
              <a:ext uri="{FF2B5EF4-FFF2-40B4-BE49-F238E27FC236}">
                <a16:creationId xmlns:a16="http://schemas.microsoft.com/office/drawing/2014/main" id="{8A33B431-1211-28CD-38FB-1D48D5B326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02699" y="2662860"/>
            <a:ext cx="2567197" cy="2567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246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B744C-5F56-EFEB-7880-3452D173F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A3DF3A-F6EA-10EA-5299-9349CDF84CC7}"/>
              </a:ext>
            </a:extLst>
          </p:cNvPr>
          <p:cNvSpPr>
            <a:spLocks noGrp="1"/>
          </p:cNvSpPr>
          <p:nvPr>
            <p:ph type="title"/>
          </p:nvPr>
        </p:nvSpPr>
        <p:spPr/>
        <p:txBody>
          <a:bodyPr/>
          <a:lstStyle/>
          <a:p>
            <a:r>
              <a:rPr lang="en-US" dirty="0"/>
              <a:t>But why data visualization?</a:t>
            </a:r>
          </a:p>
        </p:txBody>
      </p:sp>
      <p:sp>
        <p:nvSpPr>
          <p:cNvPr id="4" name="TextBox 3">
            <a:extLst>
              <a:ext uri="{FF2B5EF4-FFF2-40B4-BE49-F238E27FC236}">
                <a16:creationId xmlns:a16="http://schemas.microsoft.com/office/drawing/2014/main" id="{1B7E3E80-3D13-4F83-4B07-E22653DB8310}"/>
              </a:ext>
            </a:extLst>
          </p:cNvPr>
          <p:cNvSpPr txBox="1"/>
          <p:nvPr/>
        </p:nvSpPr>
        <p:spPr>
          <a:xfrm>
            <a:off x="730250" y="1360760"/>
            <a:ext cx="10731500" cy="3354765"/>
          </a:xfrm>
          <a:prstGeom prst="rect">
            <a:avLst/>
          </a:prstGeom>
          <a:noFill/>
        </p:spPr>
        <p:txBody>
          <a:bodyPr wrap="square">
            <a:spAutoFit/>
          </a:bodyPr>
          <a:lstStyle/>
          <a:p>
            <a:r>
              <a:rPr lang="en-US" sz="3200" dirty="0"/>
              <a:t>Data visualization can turn raw data into insight, and insight into impact:</a:t>
            </a:r>
          </a:p>
          <a:p>
            <a:pPr marL="800100" lvl="1" indent="-342900">
              <a:buFont typeface="Arial" panose="020B0604020202020204" pitchFamily="34" charset="0"/>
              <a:buChar char="•"/>
            </a:pPr>
            <a:r>
              <a:rPr lang="en-US" sz="3200" dirty="0"/>
              <a:t>Data alone is not insight, aggregated and visualized data can provide insights</a:t>
            </a:r>
          </a:p>
          <a:p>
            <a:pPr marL="800100" lvl="1" indent="-342900">
              <a:buFont typeface="Arial" panose="020B0604020202020204" pitchFamily="34" charset="0"/>
              <a:buChar char="•"/>
            </a:pPr>
            <a:r>
              <a:rPr lang="en-US" sz="3200" dirty="0"/>
              <a:t>Visualization can reveal structure in data</a:t>
            </a:r>
          </a:p>
          <a:p>
            <a:pPr marL="800100" lvl="1" indent="-342900">
              <a:buFont typeface="Arial" panose="020B0604020202020204" pitchFamily="34" charset="0"/>
              <a:buChar char="•"/>
            </a:pPr>
            <a:r>
              <a:rPr lang="en-US" sz="3200" dirty="0"/>
              <a:t>Visualization can support better decisions</a:t>
            </a:r>
            <a:br>
              <a:rPr lang="en-US" sz="2000" dirty="0"/>
            </a:br>
            <a:endParaRPr lang="en-US" sz="2000" dirty="0"/>
          </a:p>
        </p:txBody>
      </p:sp>
      <p:pic>
        <p:nvPicPr>
          <p:cNvPr id="4098" name="Picture 2">
            <a:extLst>
              <a:ext uri="{FF2B5EF4-FFF2-40B4-BE49-F238E27FC236}">
                <a16:creationId xmlns:a16="http://schemas.microsoft.com/office/drawing/2014/main" id="{28F6D594-FCF1-173D-DCC7-2D8C9CC519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8524" y="2990849"/>
            <a:ext cx="2883876" cy="3356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4124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6B7A5-2A3D-AFB7-0D42-152A265CC506}"/>
              </a:ext>
            </a:extLst>
          </p:cNvPr>
          <p:cNvSpPr>
            <a:spLocks noGrp="1"/>
          </p:cNvSpPr>
          <p:nvPr>
            <p:ph type="title"/>
          </p:nvPr>
        </p:nvSpPr>
        <p:spPr/>
        <p:txBody>
          <a:bodyPr>
            <a:normAutofit/>
          </a:bodyPr>
          <a:lstStyle/>
          <a:p>
            <a:r>
              <a:rPr lang="en-US" dirty="0"/>
              <a:t>Visualization of Data</a:t>
            </a:r>
          </a:p>
        </p:txBody>
      </p:sp>
      <p:sp>
        <p:nvSpPr>
          <p:cNvPr id="3" name="Content Placeholder 2">
            <a:extLst>
              <a:ext uri="{FF2B5EF4-FFF2-40B4-BE49-F238E27FC236}">
                <a16:creationId xmlns:a16="http://schemas.microsoft.com/office/drawing/2014/main" id="{EEC0E281-76CA-319C-D4C3-776C86ABD2D5}"/>
              </a:ext>
            </a:extLst>
          </p:cNvPr>
          <p:cNvSpPr>
            <a:spLocks noGrp="1"/>
          </p:cNvSpPr>
          <p:nvPr>
            <p:ph idx="1"/>
          </p:nvPr>
        </p:nvSpPr>
        <p:spPr/>
        <p:txBody>
          <a:bodyPr/>
          <a:lstStyle/>
          <a:p>
            <a:r>
              <a:rPr lang="en-US" dirty="0"/>
              <a:t>Convey information through graphical or tabular representations of data. </a:t>
            </a:r>
          </a:p>
        </p:txBody>
      </p:sp>
      <p:pic>
        <p:nvPicPr>
          <p:cNvPr id="7" name="Picture 6" descr="A close-up of a graph&#10;&#10;Description automatically generated">
            <a:extLst>
              <a:ext uri="{FF2B5EF4-FFF2-40B4-BE49-F238E27FC236}">
                <a16:creationId xmlns:a16="http://schemas.microsoft.com/office/drawing/2014/main" id="{059821C7-70CB-6A4C-C107-48A5B01F365E}"/>
              </a:ext>
            </a:extLst>
          </p:cNvPr>
          <p:cNvPicPr>
            <a:picLocks noChangeAspect="1"/>
          </p:cNvPicPr>
          <p:nvPr/>
        </p:nvPicPr>
        <p:blipFill>
          <a:blip r:embed="rId3"/>
          <a:stretch>
            <a:fillRect/>
          </a:stretch>
        </p:blipFill>
        <p:spPr>
          <a:xfrm>
            <a:off x="709963" y="3190401"/>
            <a:ext cx="10632391" cy="1984713"/>
          </a:xfrm>
          <a:prstGeom prst="rect">
            <a:avLst/>
          </a:prstGeom>
        </p:spPr>
      </p:pic>
    </p:spTree>
    <p:extLst>
      <p:ext uri="{BB962C8B-B14F-4D97-AF65-F5344CB8AC3E}">
        <p14:creationId xmlns:p14="http://schemas.microsoft.com/office/powerpoint/2010/main" val="531699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6B7A5-2A3D-AFB7-0D42-152A265CC506}"/>
              </a:ext>
            </a:extLst>
          </p:cNvPr>
          <p:cNvSpPr>
            <a:spLocks noGrp="1"/>
          </p:cNvSpPr>
          <p:nvPr>
            <p:ph type="title"/>
          </p:nvPr>
        </p:nvSpPr>
        <p:spPr/>
        <p:txBody>
          <a:bodyPr>
            <a:normAutofit/>
          </a:bodyPr>
          <a:lstStyle/>
          <a:p>
            <a:r>
              <a:rPr lang="en-US" dirty="0"/>
              <a:t>Visualization in Data Science Pipelines</a:t>
            </a:r>
          </a:p>
        </p:txBody>
      </p:sp>
      <p:pic>
        <p:nvPicPr>
          <p:cNvPr id="5" name="Picture 4" descr="A diagram of a model&#10;&#10;AI-generated content may be incorrect.">
            <a:extLst>
              <a:ext uri="{FF2B5EF4-FFF2-40B4-BE49-F238E27FC236}">
                <a16:creationId xmlns:a16="http://schemas.microsoft.com/office/drawing/2014/main" id="{E399AB90-6F04-A84E-B9FC-C9D4C15194DB}"/>
              </a:ext>
            </a:extLst>
          </p:cNvPr>
          <p:cNvPicPr>
            <a:picLocks noChangeAspect="1"/>
          </p:cNvPicPr>
          <p:nvPr/>
        </p:nvPicPr>
        <p:blipFill>
          <a:blip r:embed="rId3"/>
          <a:stretch>
            <a:fillRect/>
          </a:stretch>
        </p:blipFill>
        <p:spPr>
          <a:xfrm>
            <a:off x="404640" y="3523839"/>
            <a:ext cx="10738978" cy="1902731"/>
          </a:xfrm>
          <a:prstGeom prst="rect">
            <a:avLst/>
          </a:prstGeom>
        </p:spPr>
      </p:pic>
      <p:sp>
        <p:nvSpPr>
          <p:cNvPr id="8" name="TextBox 7">
            <a:extLst>
              <a:ext uri="{FF2B5EF4-FFF2-40B4-BE49-F238E27FC236}">
                <a16:creationId xmlns:a16="http://schemas.microsoft.com/office/drawing/2014/main" id="{F334E8DE-1647-1F12-5555-96B4C83DE3D8}"/>
              </a:ext>
            </a:extLst>
          </p:cNvPr>
          <p:cNvSpPr txBox="1"/>
          <p:nvPr/>
        </p:nvSpPr>
        <p:spPr>
          <a:xfrm>
            <a:off x="381000" y="5698172"/>
            <a:ext cx="10786258" cy="400110"/>
          </a:xfrm>
          <a:prstGeom prst="rect">
            <a:avLst/>
          </a:prstGeom>
          <a:noFill/>
        </p:spPr>
        <p:txBody>
          <a:bodyPr wrap="square">
            <a:spAutoFit/>
          </a:bodyPr>
          <a:lstStyle/>
          <a:p>
            <a:r>
              <a:rPr lang="en-US" sz="1000" dirty="0"/>
              <a:t>Biswas, S., Wardat, M., &amp; Rajan, H. (2022, May). The art and practice of data science pipelines: A comprehensive study of data science pipelines in theory, in-the-small, and in-the-large. In Proceedings of the 44th International Conference on Software Engineering (pp. 2091-2103).</a:t>
            </a:r>
          </a:p>
        </p:txBody>
      </p:sp>
      <p:sp>
        <p:nvSpPr>
          <p:cNvPr id="9" name="Rectangle 8">
            <a:extLst>
              <a:ext uri="{FF2B5EF4-FFF2-40B4-BE49-F238E27FC236}">
                <a16:creationId xmlns:a16="http://schemas.microsoft.com/office/drawing/2014/main" id="{ABC78875-226D-432F-4D11-CAC4A8FD277D}"/>
              </a:ext>
            </a:extLst>
          </p:cNvPr>
          <p:cNvSpPr/>
          <p:nvPr/>
        </p:nvSpPr>
        <p:spPr>
          <a:xfrm>
            <a:off x="1460500" y="4089400"/>
            <a:ext cx="927100" cy="1206500"/>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56D21D2-1E4C-77A7-4A94-2BF7914EE323}"/>
              </a:ext>
            </a:extLst>
          </p:cNvPr>
          <p:cNvSpPr/>
          <p:nvPr/>
        </p:nvSpPr>
        <p:spPr>
          <a:xfrm>
            <a:off x="6302059" y="4089400"/>
            <a:ext cx="927100" cy="1206500"/>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2BEAC94-D17B-6B5D-2CA9-F3E9F67336F8}"/>
              </a:ext>
            </a:extLst>
          </p:cNvPr>
          <p:cNvSpPr/>
          <p:nvPr/>
        </p:nvSpPr>
        <p:spPr>
          <a:xfrm>
            <a:off x="8259288" y="4089400"/>
            <a:ext cx="2884330" cy="1206500"/>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00C3E20B-DDBE-3BE4-181C-5F1117435317}"/>
              </a:ext>
            </a:extLst>
          </p:cNvPr>
          <p:cNvSpPr txBox="1">
            <a:spLocks/>
          </p:cNvSpPr>
          <p:nvPr/>
        </p:nvSpPr>
        <p:spPr>
          <a:xfrm>
            <a:off x="544800" y="1431430"/>
            <a:ext cx="11102399" cy="1206500"/>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800" dirty="0"/>
              <a:t>You will have to use data visualization tools in the following roles:</a:t>
            </a:r>
          </a:p>
          <a:p>
            <a:pPr lvl="1"/>
            <a:r>
              <a:rPr lang="en-US" sz="2800" dirty="0"/>
              <a:t>Data Analyst, Data Scientist, Machine Learning Engineer, </a:t>
            </a:r>
            <a:r>
              <a:rPr lang="en-US" sz="2800" dirty="0" err="1"/>
              <a:t>MLOps</a:t>
            </a:r>
            <a:endParaRPr lang="en-US" sz="2800" dirty="0"/>
          </a:p>
          <a:p>
            <a:pPr lvl="1"/>
            <a:r>
              <a:rPr lang="en-US" sz="2800" dirty="0"/>
              <a:t>Academic researcher</a:t>
            </a:r>
          </a:p>
          <a:p>
            <a:pPr lvl="1"/>
            <a:r>
              <a:rPr lang="en-US" sz="2800" dirty="0"/>
              <a:t>Managerial roles</a:t>
            </a:r>
          </a:p>
          <a:p>
            <a:endParaRPr lang="en-US" sz="1800" dirty="0"/>
          </a:p>
        </p:txBody>
      </p:sp>
    </p:spTree>
    <p:extLst>
      <p:ext uri="{BB962C8B-B14F-4D97-AF65-F5344CB8AC3E}">
        <p14:creationId xmlns:p14="http://schemas.microsoft.com/office/powerpoint/2010/main" val="1258098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5B935-5E38-D878-603E-75C37B771F76}"/>
              </a:ext>
            </a:extLst>
          </p:cNvPr>
          <p:cNvSpPr>
            <a:spLocks noGrp="1"/>
          </p:cNvSpPr>
          <p:nvPr>
            <p:ph type="title"/>
          </p:nvPr>
        </p:nvSpPr>
        <p:spPr/>
        <p:txBody>
          <a:bodyPr/>
          <a:lstStyle/>
          <a:p>
            <a:r>
              <a:rPr lang="en-US" dirty="0"/>
              <a:t>Good vs Bad communication:</a:t>
            </a:r>
          </a:p>
        </p:txBody>
      </p:sp>
      <p:pic>
        <p:nvPicPr>
          <p:cNvPr id="2054" name="Picture 6">
            <a:extLst>
              <a:ext uri="{FF2B5EF4-FFF2-40B4-BE49-F238E27FC236}">
                <a16:creationId xmlns:a16="http://schemas.microsoft.com/office/drawing/2014/main" id="{5FD43CD1-916F-F4CD-0338-39E831E498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4349" y="1170260"/>
            <a:ext cx="6085256" cy="5059194"/>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WTFViz from WTF Visualizations">
            <a:extLst>
              <a:ext uri="{FF2B5EF4-FFF2-40B4-BE49-F238E27FC236}">
                <a16:creationId xmlns:a16="http://schemas.microsoft.com/office/drawing/2014/main" id="{3C7B1F61-9FB2-4E1F-4DB6-B007559CB1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9043" y="1369297"/>
            <a:ext cx="4119405" cy="4119405"/>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4C33703A-ED59-486C-6D32-11F6555758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5508" y="1170260"/>
            <a:ext cx="7238605" cy="512906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4BB607A-A698-D0C3-7D2B-3631C40E9D88}"/>
              </a:ext>
            </a:extLst>
          </p:cNvPr>
          <p:cNvSpPr txBox="1"/>
          <p:nvPr/>
        </p:nvSpPr>
        <p:spPr>
          <a:xfrm>
            <a:off x="8594387" y="0"/>
            <a:ext cx="3351179" cy="369332"/>
          </a:xfrm>
          <a:prstGeom prst="rect">
            <a:avLst/>
          </a:prstGeom>
          <a:noFill/>
        </p:spPr>
        <p:txBody>
          <a:bodyPr wrap="square">
            <a:spAutoFit/>
          </a:bodyPr>
          <a:lstStyle/>
          <a:p>
            <a:r>
              <a:rPr lang="en-US" dirty="0"/>
              <a:t>https://</a:t>
            </a:r>
            <a:r>
              <a:rPr lang="en-US" dirty="0" err="1"/>
              <a:t>thumbsupviz.tumblr.com</a:t>
            </a:r>
            <a:r>
              <a:rPr lang="en-US" dirty="0"/>
              <a:t>/</a:t>
            </a:r>
          </a:p>
        </p:txBody>
      </p:sp>
      <p:sp>
        <p:nvSpPr>
          <p:cNvPr id="10" name="TextBox 9">
            <a:extLst>
              <a:ext uri="{FF2B5EF4-FFF2-40B4-BE49-F238E27FC236}">
                <a16:creationId xmlns:a16="http://schemas.microsoft.com/office/drawing/2014/main" id="{4E6FC97E-1ADA-C7BF-1122-29D746A98920}"/>
              </a:ext>
            </a:extLst>
          </p:cNvPr>
          <p:cNvSpPr txBox="1"/>
          <p:nvPr/>
        </p:nvSpPr>
        <p:spPr>
          <a:xfrm>
            <a:off x="8594387" y="558671"/>
            <a:ext cx="2689698" cy="369332"/>
          </a:xfrm>
          <a:prstGeom prst="rect">
            <a:avLst/>
          </a:prstGeom>
          <a:noFill/>
        </p:spPr>
        <p:txBody>
          <a:bodyPr wrap="square">
            <a:spAutoFit/>
          </a:bodyPr>
          <a:lstStyle/>
          <a:p>
            <a:r>
              <a:rPr lang="en-US" dirty="0"/>
              <a:t>https://</a:t>
            </a:r>
            <a:r>
              <a:rPr lang="en-US" dirty="0" err="1"/>
              <a:t>viz.wtf</a:t>
            </a:r>
            <a:r>
              <a:rPr lang="en-US" dirty="0"/>
              <a:t>/archive</a:t>
            </a:r>
          </a:p>
        </p:txBody>
      </p:sp>
    </p:spTree>
    <p:extLst>
      <p:ext uri="{BB962C8B-B14F-4D97-AF65-F5344CB8AC3E}">
        <p14:creationId xmlns:p14="http://schemas.microsoft.com/office/powerpoint/2010/main" val="4110914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05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05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D8048-ACF1-7B08-E12B-1ABB304CC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AF6028-BEE8-19F3-E104-64D5F1672571}"/>
              </a:ext>
            </a:extLst>
          </p:cNvPr>
          <p:cNvSpPr>
            <a:spLocks noGrp="1"/>
          </p:cNvSpPr>
          <p:nvPr>
            <p:ph type="title"/>
          </p:nvPr>
        </p:nvSpPr>
        <p:spPr/>
        <p:txBody>
          <a:bodyPr>
            <a:normAutofit/>
          </a:bodyPr>
          <a:lstStyle/>
          <a:p>
            <a:r>
              <a:rPr lang="en-US" dirty="0"/>
              <a:t>Good or Bad?</a:t>
            </a:r>
          </a:p>
        </p:txBody>
      </p:sp>
      <p:pic>
        <p:nvPicPr>
          <p:cNvPr id="11266" name="Picture 2" descr="The X-Axis is supposed to be backwards, right?">
            <a:extLst>
              <a:ext uri="{FF2B5EF4-FFF2-40B4-BE49-F238E27FC236}">
                <a16:creationId xmlns:a16="http://schemas.microsoft.com/office/drawing/2014/main" id="{7985D858-4C10-04F6-56F1-B61AA03A7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0848" y="1884667"/>
            <a:ext cx="5750304" cy="3885706"/>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F422AB0A-D8B9-3C8A-878C-081240BC1B89}"/>
              </a:ext>
            </a:extLst>
          </p:cNvPr>
          <p:cNvSpPr>
            <a:spLocks noGrp="1"/>
          </p:cNvSpPr>
          <p:nvPr>
            <p:ph idx="1"/>
          </p:nvPr>
        </p:nvSpPr>
        <p:spPr>
          <a:xfrm>
            <a:off x="648813" y="1215105"/>
            <a:ext cx="11102399" cy="439821"/>
          </a:xfrm>
        </p:spPr>
        <p:txBody>
          <a:bodyPr/>
          <a:lstStyle/>
          <a:p>
            <a:pPr marL="0" indent="0">
              <a:buNone/>
            </a:pPr>
            <a:r>
              <a:rPr lang="en-US" sz="2000" dirty="0"/>
              <a:t>Look at the X-axis: quite misleading</a:t>
            </a:r>
          </a:p>
          <a:p>
            <a:pPr marL="0" indent="0">
              <a:buNone/>
            </a:pPr>
            <a:endParaRPr lang="en-US" sz="2000" dirty="0"/>
          </a:p>
        </p:txBody>
      </p:sp>
    </p:spTree>
    <p:extLst>
      <p:ext uri="{BB962C8B-B14F-4D97-AF65-F5344CB8AC3E}">
        <p14:creationId xmlns:p14="http://schemas.microsoft.com/office/powerpoint/2010/main" val="74584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5CDA9-7B98-CC94-2920-DA84A0FCA0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75F6B7-C8EE-EADC-8163-8B1EC91035E4}"/>
              </a:ext>
            </a:extLst>
          </p:cNvPr>
          <p:cNvSpPr>
            <a:spLocks noGrp="1"/>
          </p:cNvSpPr>
          <p:nvPr>
            <p:ph type="title"/>
          </p:nvPr>
        </p:nvSpPr>
        <p:spPr/>
        <p:txBody>
          <a:bodyPr>
            <a:normAutofit/>
          </a:bodyPr>
          <a:lstStyle/>
          <a:p>
            <a:r>
              <a:rPr lang="en-US" dirty="0"/>
              <a:t>Good or Bad?</a:t>
            </a:r>
          </a:p>
        </p:txBody>
      </p:sp>
      <p:sp>
        <p:nvSpPr>
          <p:cNvPr id="7" name="Content Placeholder 2">
            <a:extLst>
              <a:ext uri="{FF2B5EF4-FFF2-40B4-BE49-F238E27FC236}">
                <a16:creationId xmlns:a16="http://schemas.microsoft.com/office/drawing/2014/main" id="{1051B0FE-9170-A51F-B838-F0DFC5CC49A9}"/>
              </a:ext>
            </a:extLst>
          </p:cNvPr>
          <p:cNvSpPr>
            <a:spLocks noGrp="1"/>
          </p:cNvSpPr>
          <p:nvPr>
            <p:ph idx="1"/>
          </p:nvPr>
        </p:nvSpPr>
        <p:spPr>
          <a:xfrm>
            <a:off x="648813" y="1215105"/>
            <a:ext cx="11102399" cy="439821"/>
          </a:xfrm>
        </p:spPr>
        <p:txBody>
          <a:bodyPr/>
          <a:lstStyle/>
          <a:p>
            <a:pPr marL="0" indent="0">
              <a:buNone/>
            </a:pPr>
            <a:r>
              <a:rPr lang="en-US" sz="2000" dirty="0"/>
              <a:t>Can you visually compare different groups?</a:t>
            </a:r>
          </a:p>
        </p:txBody>
      </p:sp>
      <p:pic>
        <p:nvPicPr>
          <p:cNvPr id="12290" name="Picture 2" descr="bad data visualisation example">
            <a:extLst>
              <a:ext uri="{FF2B5EF4-FFF2-40B4-BE49-F238E27FC236}">
                <a16:creationId xmlns:a16="http://schemas.microsoft.com/office/drawing/2014/main" id="{FC9C1C5B-BBA8-9153-C7F3-4CD280E14C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2186" y="1981005"/>
            <a:ext cx="3967627" cy="3661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9069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7" grpI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3844A-0106-91A8-26F8-78F795969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C3866-1994-9582-4368-345002F2EFF4}"/>
              </a:ext>
            </a:extLst>
          </p:cNvPr>
          <p:cNvSpPr>
            <a:spLocks noGrp="1"/>
          </p:cNvSpPr>
          <p:nvPr>
            <p:ph type="title"/>
          </p:nvPr>
        </p:nvSpPr>
        <p:spPr/>
        <p:txBody>
          <a:bodyPr>
            <a:normAutofit/>
          </a:bodyPr>
          <a:lstStyle/>
          <a:p>
            <a:r>
              <a:rPr lang="en-US" dirty="0"/>
              <a:t>Good or Bad?</a:t>
            </a:r>
          </a:p>
        </p:txBody>
      </p:sp>
      <p:pic>
        <p:nvPicPr>
          <p:cNvPr id="3" name="Picture 2">
            <a:extLst>
              <a:ext uri="{FF2B5EF4-FFF2-40B4-BE49-F238E27FC236}">
                <a16:creationId xmlns:a16="http://schemas.microsoft.com/office/drawing/2014/main" id="{EE1F5B5E-BB5A-8315-1D6D-F705B2E8F2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1975" y="1170260"/>
            <a:ext cx="3788049" cy="5493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941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94802-AEBB-BB0D-1D7B-9AF9BB1FE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BFB14-497A-31AC-34B3-E9EEA5713773}"/>
              </a:ext>
            </a:extLst>
          </p:cNvPr>
          <p:cNvSpPr>
            <a:spLocks noGrp="1"/>
          </p:cNvSpPr>
          <p:nvPr>
            <p:ph type="title"/>
          </p:nvPr>
        </p:nvSpPr>
        <p:spPr>
          <a:xfrm>
            <a:off x="480001" y="414261"/>
            <a:ext cx="10983995" cy="767425"/>
          </a:xfrm>
        </p:spPr>
        <p:txBody>
          <a:bodyPr/>
          <a:lstStyle/>
          <a:p>
            <a:r>
              <a:rPr lang="en-US" dirty="0"/>
              <a:t>Numerical and categorical variables</a:t>
            </a:r>
          </a:p>
        </p:txBody>
      </p:sp>
      <p:sp>
        <p:nvSpPr>
          <p:cNvPr id="4" name="TextBox 3">
            <a:extLst>
              <a:ext uri="{FF2B5EF4-FFF2-40B4-BE49-F238E27FC236}">
                <a16:creationId xmlns:a16="http://schemas.microsoft.com/office/drawing/2014/main" id="{073A0378-C741-A1FF-91B3-35BC08154332}"/>
              </a:ext>
            </a:extLst>
          </p:cNvPr>
          <p:cNvSpPr txBox="1"/>
          <p:nvPr/>
        </p:nvSpPr>
        <p:spPr>
          <a:xfrm>
            <a:off x="604002" y="1265769"/>
            <a:ext cx="10983995" cy="707886"/>
          </a:xfrm>
          <a:prstGeom prst="rect">
            <a:avLst/>
          </a:prstGeom>
          <a:noFill/>
        </p:spPr>
        <p:txBody>
          <a:bodyPr wrap="square">
            <a:spAutoFit/>
          </a:bodyPr>
          <a:lstStyle/>
          <a:p>
            <a:pPr marL="342900" indent="-342900">
              <a:buFont typeface="Arial" panose="020B0604020202020204" pitchFamily="34" charset="0"/>
              <a:buChar char="•"/>
            </a:pPr>
            <a:r>
              <a:rPr lang="en-US" sz="2000" dirty="0"/>
              <a:t>In data science, we often manipulate various variables (numbers, categories, datetime, etc.).</a:t>
            </a:r>
          </a:p>
          <a:p>
            <a:pPr marL="342900" indent="-342900">
              <a:buFont typeface="Arial" panose="020B0604020202020204" pitchFamily="34" charset="0"/>
              <a:buChar char="•"/>
            </a:pPr>
            <a:r>
              <a:rPr lang="en-US" sz="2000" dirty="0"/>
              <a:t>Often, we try to transform them to numerical and/or categorical variables for further analysis</a:t>
            </a:r>
          </a:p>
        </p:txBody>
      </p:sp>
      <p:sp>
        <p:nvSpPr>
          <p:cNvPr id="6" name="Rectangle 5">
            <a:extLst>
              <a:ext uri="{FF2B5EF4-FFF2-40B4-BE49-F238E27FC236}">
                <a16:creationId xmlns:a16="http://schemas.microsoft.com/office/drawing/2014/main" id="{5AF88529-9FE3-4F71-4B10-D552C70E476D}"/>
              </a:ext>
            </a:extLst>
          </p:cNvPr>
          <p:cNvSpPr/>
          <p:nvPr/>
        </p:nvSpPr>
        <p:spPr>
          <a:xfrm>
            <a:off x="3951193" y="3216913"/>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Numerical</a:t>
            </a:r>
          </a:p>
        </p:txBody>
      </p:sp>
      <p:sp>
        <p:nvSpPr>
          <p:cNvPr id="7" name="Rectangle 6">
            <a:extLst>
              <a:ext uri="{FF2B5EF4-FFF2-40B4-BE49-F238E27FC236}">
                <a16:creationId xmlns:a16="http://schemas.microsoft.com/office/drawing/2014/main" id="{3C48841A-6D11-24BE-D02F-A57FC1DFC92D}"/>
              </a:ext>
            </a:extLst>
          </p:cNvPr>
          <p:cNvSpPr/>
          <p:nvPr/>
        </p:nvSpPr>
        <p:spPr>
          <a:xfrm>
            <a:off x="6748181" y="326091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Categorical</a:t>
            </a:r>
          </a:p>
        </p:txBody>
      </p:sp>
      <p:sp>
        <p:nvSpPr>
          <p:cNvPr id="11" name="Rectangle 10">
            <a:extLst>
              <a:ext uri="{FF2B5EF4-FFF2-40B4-BE49-F238E27FC236}">
                <a16:creationId xmlns:a16="http://schemas.microsoft.com/office/drawing/2014/main" id="{40F057E5-2150-01C5-0692-2B23A31A1EF9}"/>
              </a:ext>
            </a:extLst>
          </p:cNvPr>
          <p:cNvSpPr/>
          <p:nvPr/>
        </p:nvSpPr>
        <p:spPr>
          <a:xfrm>
            <a:off x="3099547"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Continuous</a:t>
            </a:r>
          </a:p>
        </p:txBody>
      </p:sp>
      <p:sp>
        <p:nvSpPr>
          <p:cNvPr id="12" name="Rectangle 11">
            <a:extLst>
              <a:ext uri="{FF2B5EF4-FFF2-40B4-BE49-F238E27FC236}">
                <a16:creationId xmlns:a16="http://schemas.microsoft.com/office/drawing/2014/main" id="{CB7B61A2-6AAA-4D6D-5EA2-EB992C41BE14}"/>
              </a:ext>
            </a:extLst>
          </p:cNvPr>
          <p:cNvSpPr/>
          <p:nvPr/>
        </p:nvSpPr>
        <p:spPr>
          <a:xfrm>
            <a:off x="4654921"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Discrete</a:t>
            </a:r>
          </a:p>
        </p:txBody>
      </p:sp>
      <p:sp>
        <p:nvSpPr>
          <p:cNvPr id="13" name="Rectangle 12">
            <a:extLst>
              <a:ext uri="{FF2B5EF4-FFF2-40B4-BE49-F238E27FC236}">
                <a16:creationId xmlns:a16="http://schemas.microsoft.com/office/drawing/2014/main" id="{B71228B4-4076-CD79-2774-085F2A931FA1}"/>
              </a:ext>
            </a:extLst>
          </p:cNvPr>
          <p:cNvSpPr/>
          <p:nvPr/>
        </p:nvSpPr>
        <p:spPr>
          <a:xfrm>
            <a:off x="6205814"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Ordinal</a:t>
            </a:r>
          </a:p>
        </p:txBody>
      </p:sp>
      <p:sp>
        <p:nvSpPr>
          <p:cNvPr id="14" name="Rectangle 13">
            <a:extLst>
              <a:ext uri="{FF2B5EF4-FFF2-40B4-BE49-F238E27FC236}">
                <a16:creationId xmlns:a16="http://schemas.microsoft.com/office/drawing/2014/main" id="{468752AA-3642-2739-4B09-841F2DE98CCF}"/>
              </a:ext>
            </a:extLst>
          </p:cNvPr>
          <p:cNvSpPr/>
          <p:nvPr/>
        </p:nvSpPr>
        <p:spPr>
          <a:xfrm>
            <a:off x="7816097"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Nominal</a:t>
            </a:r>
          </a:p>
        </p:txBody>
      </p:sp>
      <p:cxnSp>
        <p:nvCxnSpPr>
          <p:cNvPr id="16" name="Straight Arrow Connector 15">
            <a:extLst>
              <a:ext uri="{FF2B5EF4-FFF2-40B4-BE49-F238E27FC236}">
                <a16:creationId xmlns:a16="http://schemas.microsoft.com/office/drawing/2014/main" id="{C5CAF167-5716-B0BF-CE1A-BE52BAD77F9E}"/>
              </a:ext>
            </a:extLst>
          </p:cNvPr>
          <p:cNvCxnSpPr>
            <a:stCxn id="6" idx="2"/>
            <a:endCxn id="11" idx="0"/>
          </p:cNvCxnSpPr>
          <p:nvPr/>
        </p:nvCxnSpPr>
        <p:spPr>
          <a:xfrm flipH="1">
            <a:off x="3798794" y="3727901"/>
            <a:ext cx="851646" cy="253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38180A0E-1E44-3BA6-EC32-580E61271F66}"/>
              </a:ext>
            </a:extLst>
          </p:cNvPr>
          <p:cNvCxnSpPr>
            <a:cxnSpLocks/>
            <a:stCxn id="6" idx="2"/>
            <a:endCxn id="12" idx="0"/>
          </p:cNvCxnSpPr>
          <p:nvPr/>
        </p:nvCxnSpPr>
        <p:spPr>
          <a:xfrm>
            <a:off x="4650440" y="3727901"/>
            <a:ext cx="703728" cy="253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82AEF79D-C527-B7E8-C840-C798B24AFD92}"/>
              </a:ext>
            </a:extLst>
          </p:cNvPr>
          <p:cNvCxnSpPr>
            <a:cxnSpLocks/>
            <a:stCxn id="48" idx="2"/>
            <a:endCxn id="6" idx="0"/>
          </p:cNvCxnSpPr>
          <p:nvPr/>
        </p:nvCxnSpPr>
        <p:spPr>
          <a:xfrm flipH="1">
            <a:off x="4650440" y="2840992"/>
            <a:ext cx="1398494" cy="3759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BF687FC-E14A-6AA2-4981-C2D108BB1174}"/>
              </a:ext>
            </a:extLst>
          </p:cNvPr>
          <p:cNvCxnSpPr>
            <a:cxnSpLocks/>
            <a:stCxn id="48" idx="2"/>
            <a:endCxn id="7" idx="0"/>
          </p:cNvCxnSpPr>
          <p:nvPr/>
        </p:nvCxnSpPr>
        <p:spPr>
          <a:xfrm>
            <a:off x="6048934" y="2840992"/>
            <a:ext cx="1398494" cy="4199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5CDFB9FE-8F33-AF02-FF23-797C9683B4C8}"/>
              </a:ext>
            </a:extLst>
          </p:cNvPr>
          <p:cNvCxnSpPr>
            <a:cxnSpLocks/>
            <a:stCxn id="7" idx="2"/>
            <a:endCxn id="13" idx="0"/>
          </p:cNvCxnSpPr>
          <p:nvPr/>
        </p:nvCxnSpPr>
        <p:spPr>
          <a:xfrm flipH="1">
            <a:off x="6905061" y="3771902"/>
            <a:ext cx="542367" cy="20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CA13FF39-58F5-405C-0353-C7AEDB44D5AC}"/>
              </a:ext>
            </a:extLst>
          </p:cNvPr>
          <p:cNvCxnSpPr>
            <a:cxnSpLocks/>
            <a:stCxn id="7" idx="2"/>
            <a:endCxn id="14" idx="0"/>
          </p:cNvCxnSpPr>
          <p:nvPr/>
        </p:nvCxnSpPr>
        <p:spPr>
          <a:xfrm>
            <a:off x="7447428" y="3771902"/>
            <a:ext cx="1067916" cy="20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Rectangle 47">
            <a:extLst>
              <a:ext uri="{FF2B5EF4-FFF2-40B4-BE49-F238E27FC236}">
                <a16:creationId xmlns:a16="http://schemas.microsoft.com/office/drawing/2014/main" id="{49BD866D-A5CE-D42F-AF97-3059E20BAB93}"/>
              </a:ext>
            </a:extLst>
          </p:cNvPr>
          <p:cNvSpPr/>
          <p:nvPr/>
        </p:nvSpPr>
        <p:spPr>
          <a:xfrm>
            <a:off x="5349687" y="233000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Variables</a:t>
            </a:r>
          </a:p>
        </p:txBody>
      </p:sp>
    </p:spTree>
    <p:extLst>
      <p:ext uri="{BB962C8B-B14F-4D97-AF65-F5344CB8AC3E}">
        <p14:creationId xmlns:p14="http://schemas.microsoft.com/office/powerpoint/2010/main" val="2031241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5C8EB-662D-BC2E-94E1-4CBFA9640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2F2E2-F13C-C932-B910-460A02C637D8}"/>
              </a:ext>
            </a:extLst>
          </p:cNvPr>
          <p:cNvSpPr>
            <a:spLocks noGrp="1"/>
          </p:cNvSpPr>
          <p:nvPr>
            <p:ph type="title"/>
          </p:nvPr>
        </p:nvSpPr>
        <p:spPr>
          <a:xfrm>
            <a:off x="480001" y="414261"/>
            <a:ext cx="10983995" cy="767425"/>
          </a:xfrm>
        </p:spPr>
        <p:txBody>
          <a:bodyPr/>
          <a:lstStyle/>
          <a:p>
            <a:r>
              <a:rPr lang="en-US" dirty="0"/>
              <a:t>Numerical and categorical variables</a:t>
            </a:r>
          </a:p>
        </p:txBody>
      </p:sp>
      <p:sp>
        <p:nvSpPr>
          <p:cNvPr id="4" name="TextBox 3">
            <a:extLst>
              <a:ext uri="{FF2B5EF4-FFF2-40B4-BE49-F238E27FC236}">
                <a16:creationId xmlns:a16="http://schemas.microsoft.com/office/drawing/2014/main" id="{01A13D6F-B0A8-42D6-A9A8-42FC817D00B5}"/>
              </a:ext>
            </a:extLst>
          </p:cNvPr>
          <p:cNvSpPr txBox="1"/>
          <p:nvPr/>
        </p:nvSpPr>
        <p:spPr>
          <a:xfrm>
            <a:off x="604002" y="1265769"/>
            <a:ext cx="10983995" cy="707886"/>
          </a:xfrm>
          <a:prstGeom prst="rect">
            <a:avLst/>
          </a:prstGeom>
          <a:noFill/>
        </p:spPr>
        <p:txBody>
          <a:bodyPr wrap="square">
            <a:spAutoFit/>
          </a:bodyPr>
          <a:lstStyle/>
          <a:p>
            <a:pPr marL="342900" indent="-342900">
              <a:buFont typeface="Arial" panose="020B0604020202020204" pitchFamily="34" charset="0"/>
              <a:buChar char="•"/>
            </a:pPr>
            <a:r>
              <a:rPr lang="en-US" sz="2000" dirty="0"/>
              <a:t>In data science, we often manipulate various variables (numbers, categories, datetime, etc.).</a:t>
            </a:r>
          </a:p>
          <a:p>
            <a:pPr marL="342900" indent="-342900">
              <a:buFont typeface="Arial" panose="020B0604020202020204" pitchFamily="34" charset="0"/>
              <a:buChar char="•"/>
            </a:pPr>
            <a:r>
              <a:rPr lang="en-US" sz="2000" dirty="0"/>
              <a:t>Often, we abstract them into numerical and/or categorical variables for further analysis</a:t>
            </a:r>
          </a:p>
        </p:txBody>
      </p:sp>
      <p:sp>
        <p:nvSpPr>
          <p:cNvPr id="6" name="Rectangle 5">
            <a:extLst>
              <a:ext uri="{FF2B5EF4-FFF2-40B4-BE49-F238E27FC236}">
                <a16:creationId xmlns:a16="http://schemas.microsoft.com/office/drawing/2014/main" id="{BEA1E963-EE8C-4D8B-2EC6-89FAF4EED83D}"/>
              </a:ext>
            </a:extLst>
          </p:cNvPr>
          <p:cNvSpPr/>
          <p:nvPr/>
        </p:nvSpPr>
        <p:spPr>
          <a:xfrm>
            <a:off x="3951193" y="3216913"/>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Numerical</a:t>
            </a:r>
          </a:p>
        </p:txBody>
      </p:sp>
      <p:sp>
        <p:nvSpPr>
          <p:cNvPr id="7" name="Rectangle 6">
            <a:extLst>
              <a:ext uri="{FF2B5EF4-FFF2-40B4-BE49-F238E27FC236}">
                <a16:creationId xmlns:a16="http://schemas.microsoft.com/office/drawing/2014/main" id="{209C82D0-A62E-F0AB-E717-702F67BB2EB3}"/>
              </a:ext>
            </a:extLst>
          </p:cNvPr>
          <p:cNvSpPr/>
          <p:nvPr/>
        </p:nvSpPr>
        <p:spPr>
          <a:xfrm>
            <a:off x="6748181" y="326091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Categorical</a:t>
            </a:r>
          </a:p>
        </p:txBody>
      </p:sp>
      <p:sp>
        <p:nvSpPr>
          <p:cNvPr id="11" name="Rectangle 10">
            <a:extLst>
              <a:ext uri="{FF2B5EF4-FFF2-40B4-BE49-F238E27FC236}">
                <a16:creationId xmlns:a16="http://schemas.microsoft.com/office/drawing/2014/main" id="{FF41A5C1-1E03-2129-C3CA-9A21CB70B7A8}"/>
              </a:ext>
            </a:extLst>
          </p:cNvPr>
          <p:cNvSpPr/>
          <p:nvPr/>
        </p:nvSpPr>
        <p:spPr>
          <a:xfrm>
            <a:off x="3099547"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solidFill>
                  <a:schemeClr val="tx1"/>
                </a:solidFill>
              </a:rPr>
              <a:t>Continuous</a:t>
            </a:r>
          </a:p>
        </p:txBody>
      </p:sp>
      <p:sp>
        <p:nvSpPr>
          <p:cNvPr id="12" name="Rectangle 11">
            <a:extLst>
              <a:ext uri="{FF2B5EF4-FFF2-40B4-BE49-F238E27FC236}">
                <a16:creationId xmlns:a16="http://schemas.microsoft.com/office/drawing/2014/main" id="{821802A8-F385-E859-04F0-2213AA3C0A5B}"/>
              </a:ext>
            </a:extLst>
          </p:cNvPr>
          <p:cNvSpPr/>
          <p:nvPr/>
        </p:nvSpPr>
        <p:spPr>
          <a:xfrm>
            <a:off x="4654921"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Discrete</a:t>
            </a:r>
          </a:p>
        </p:txBody>
      </p:sp>
      <p:sp>
        <p:nvSpPr>
          <p:cNvPr id="13" name="Rectangle 12">
            <a:extLst>
              <a:ext uri="{FF2B5EF4-FFF2-40B4-BE49-F238E27FC236}">
                <a16:creationId xmlns:a16="http://schemas.microsoft.com/office/drawing/2014/main" id="{106D8866-2620-6DB4-D86D-DB85E41D69A1}"/>
              </a:ext>
            </a:extLst>
          </p:cNvPr>
          <p:cNvSpPr/>
          <p:nvPr/>
        </p:nvSpPr>
        <p:spPr>
          <a:xfrm>
            <a:off x="6205814"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Ordinal</a:t>
            </a:r>
          </a:p>
        </p:txBody>
      </p:sp>
      <p:sp>
        <p:nvSpPr>
          <p:cNvPr id="14" name="Rectangle 13">
            <a:extLst>
              <a:ext uri="{FF2B5EF4-FFF2-40B4-BE49-F238E27FC236}">
                <a16:creationId xmlns:a16="http://schemas.microsoft.com/office/drawing/2014/main" id="{9EDA1645-30D2-B998-8533-86A1566325BE}"/>
              </a:ext>
            </a:extLst>
          </p:cNvPr>
          <p:cNvSpPr/>
          <p:nvPr/>
        </p:nvSpPr>
        <p:spPr>
          <a:xfrm>
            <a:off x="7816097"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Nominal</a:t>
            </a:r>
          </a:p>
        </p:txBody>
      </p:sp>
      <p:cxnSp>
        <p:nvCxnSpPr>
          <p:cNvPr id="16" name="Straight Arrow Connector 15">
            <a:extLst>
              <a:ext uri="{FF2B5EF4-FFF2-40B4-BE49-F238E27FC236}">
                <a16:creationId xmlns:a16="http://schemas.microsoft.com/office/drawing/2014/main" id="{D81B92A8-09E0-72ED-B1E6-47078A796997}"/>
              </a:ext>
            </a:extLst>
          </p:cNvPr>
          <p:cNvCxnSpPr>
            <a:stCxn id="6" idx="2"/>
            <a:endCxn id="11" idx="0"/>
          </p:cNvCxnSpPr>
          <p:nvPr/>
        </p:nvCxnSpPr>
        <p:spPr>
          <a:xfrm flipH="1">
            <a:off x="3798794" y="3727901"/>
            <a:ext cx="851646" cy="253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94CD146C-E3FE-AC14-7C8C-DFF92E39ABBD}"/>
              </a:ext>
            </a:extLst>
          </p:cNvPr>
          <p:cNvCxnSpPr>
            <a:cxnSpLocks/>
            <a:stCxn id="6" idx="2"/>
            <a:endCxn id="12" idx="0"/>
          </p:cNvCxnSpPr>
          <p:nvPr/>
        </p:nvCxnSpPr>
        <p:spPr>
          <a:xfrm>
            <a:off x="4650440" y="3727901"/>
            <a:ext cx="703728" cy="253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D391916D-F1FE-E649-05DF-DE4DBEF43DD8}"/>
              </a:ext>
            </a:extLst>
          </p:cNvPr>
          <p:cNvCxnSpPr>
            <a:cxnSpLocks/>
            <a:stCxn id="48" idx="2"/>
            <a:endCxn id="6" idx="0"/>
          </p:cNvCxnSpPr>
          <p:nvPr/>
        </p:nvCxnSpPr>
        <p:spPr>
          <a:xfrm flipH="1">
            <a:off x="4650440" y="2840992"/>
            <a:ext cx="1398494" cy="3759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E3B67F93-A16A-6EAD-E877-CEC3D992A816}"/>
              </a:ext>
            </a:extLst>
          </p:cNvPr>
          <p:cNvCxnSpPr>
            <a:cxnSpLocks/>
            <a:stCxn id="48" idx="2"/>
            <a:endCxn id="7" idx="0"/>
          </p:cNvCxnSpPr>
          <p:nvPr/>
        </p:nvCxnSpPr>
        <p:spPr>
          <a:xfrm>
            <a:off x="6048934" y="2840992"/>
            <a:ext cx="1398494" cy="4199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09AF6F3-95BE-2C7C-1586-F6ECBDFFD768}"/>
              </a:ext>
            </a:extLst>
          </p:cNvPr>
          <p:cNvCxnSpPr>
            <a:cxnSpLocks/>
            <a:stCxn id="7" idx="2"/>
            <a:endCxn id="13" idx="0"/>
          </p:cNvCxnSpPr>
          <p:nvPr/>
        </p:nvCxnSpPr>
        <p:spPr>
          <a:xfrm flipH="1">
            <a:off x="6905061" y="3771902"/>
            <a:ext cx="542367" cy="20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C8C79C56-A3C4-893F-8C04-43DD53DC06C1}"/>
              </a:ext>
            </a:extLst>
          </p:cNvPr>
          <p:cNvCxnSpPr>
            <a:cxnSpLocks/>
            <a:stCxn id="7" idx="2"/>
            <a:endCxn id="14" idx="0"/>
          </p:cNvCxnSpPr>
          <p:nvPr/>
        </p:nvCxnSpPr>
        <p:spPr>
          <a:xfrm>
            <a:off x="7447428" y="3771902"/>
            <a:ext cx="1067916" cy="20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Rectangle 47">
            <a:extLst>
              <a:ext uri="{FF2B5EF4-FFF2-40B4-BE49-F238E27FC236}">
                <a16:creationId xmlns:a16="http://schemas.microsoft.com/office/drawing/2014/main" id="{BC77A281-0994-B1AA-A58C-7F690A3DB84C}"/>
              </a:ext>
            </a:extLst>
          </p:cNvPr>
          <p:cNvSpPr/>
          <p:nvPr/>
        </p:nvSpPr>
        <p:spPr>
          <a:xfrm>
            <a:off x="5349687" y="233000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Variables</a:t>
            </a:r>
          </a:p>
        </p:txBody>
      </p:sp>
      <p:sp>
        <p:nvSpPr>
          <p:cNvPr id="3" name="TextBox 2">
            <a:extLst>
              <a:ext uri="{FF2B5EF4-FFF2-40B4-BE49-F238E27FC236}">
                <a16:creationId xmlns:a16="http://schemas.microsoft.com/office/drawing/2014/main" id="{DF048805-AB28-1FB5-B2C3-8683F29E24EE}"/>
              </a:ext>
            </a:extLst>
          </p:cNvPr>
          <p:cNvSpPr txBox="1"/>
          <p:nvPr/>
        </p:nvSpPr>
        <p:spPr>
          <a:xfrm>
            <a:off x="3375212" y="4460171"/>
            <a:ext cx="8088784" cy="523220"/>
          </a:xfrm>
          <a:prstGeom prst="rect">
            <a:avLst/>
          </a:prstGeom>
          <a:noFill/>
        </p:spPr>
        <p:txBody>
          <a:bodyPr wrap="square">
            <a:spAutoFit/>
          </a:bodyPr>
          <a:lstStyle/>
          <a:p>
            <a:pPr marL="342900" indent="-342900">
              <a:buFont typeface="Arial" panose="020B0604020202020204" pitchFamily="34" charset="0"/>
              <a:buChar char="•"/>
            </a:pPr>
            <a:r>
              <a:rPr lang="en-US" sz="1400" dirty="0"/>
              <a:t>Measured: typically, real values</a:t>
            </a:r>
          </a:p>
          <a:p>
            <a:pPr marL="342900" indent="-342900">
              <a:buFont typeface="Arial" panose="020B0604020202020204" pitchFamily="34" charset="0"/>
              <a:buChar char="•"/>
            </a:pPr>
            <a:r>
              <a:rPr lang="en-US" sz="1400" dirty="0"/>
              <a:t>Height, weight, time interval, temperature, etc.</a:t>
            </a:r>
          </a:p>
        </p:txBody>
      </p:sp>
    </p:spTree>
    <p:extLst>
      <p:ext uri="{BB962C8B-B14F-4D97-AF65-F5344CB8AC3E}">
        <p14:creationId xmlns:p14="http://schemas.microsoft.com/office/powerpoint/2010/main" val="1389082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F7653-EB34-8281-2F8F-703E28BEAF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FCA67-C12E-6527-35E9-97A83FCA436C}"/>
              </a:ext>
            </a:extLst>
          </p:cNvPr>
          <p:cNvSpPr>
            <a:spLocks noGrp="1"/>
          </p:cNvSpPr>
          <p:nvPr>
            <p:ph type="title"/>
          </p:nvPr>
        </p:nvSpPr>
        <p:spPr>
          <a:xfrm>
            <a:off x="480001" y="414261"/>
            <a:ext cx="10983995" cy="767425"/>
          </a:xfrm>
        </p:spPr>
        <p:txBody>
          <a:bodyPr/>
          <a:lstStyle/>
          <a:p>
            <a:r>
              <a:rPr lang="en-US" dirty="0"/>
              <a:t>Numerical and categorical variables</a:t>
            </a:r>
          </a:p>
        </p:txBody>
      </p:sp>
      <p:sp>
        <p:nvSpPr>
          <p:cNvPr id="4" name="TextBox 3">
            <a:extLst>
              <a:ext uri="{FF2B5EF4-FFF2-40B4-BE49-F238E27FC236}">
                <a16:creationId xmlns:a16="http://schemas.microsoft.com/office/drawing/2014/main" id="{7EEA0B4A-E97E-E108-1FB1-7FCFA7F6D7A1}"/>
              </a:ext>
            </a:extLst>
          </p:cNvPr>
          <p:cNvSpPr txBox="1"/>
          <p:nvPr/>
        </p:nvSpPr>
        <p:spPr>
          <a:xfrm>
            <a:off x="604002" y="1265769"/>
            <a:ext cx="10983995" cy="707886"/>
          </a:xfrm>
          <a:prstGeom prst="rect">
            <a:avLst/>
          </a:prstGeom>
          <a:noFill/>
        </p:spPr>
        <p:txBody>
          <a:bodyPr wrap="square">
            <a:spAutoFit/>
          </a:bodyPr>
          <a:lstStyle/>
          <a:p>
            <a:pPr marL="342900" indent="-342900">
              <a:buFont typeface="Arial" panose="020B0604020202020204" pitchFamily="34" charset="0"/>
              <a:buChar char="•"/>
            </a:pPr>
            <a:r>
              <a:rPr lang="en-US" sz="2000" dirty="0"/>
              <a:t>In data science, we often manipulate various variables (numbers, categories, datetime, etc.).</a:t>
            </a:r>
          </a:p>
          <a:p>
            <a:pPr marL="342900" indent="-342900">
              <a:buFont typeface="Arial" panose="020B0604020202020204" pitchFamily="34" charset="0"/>
              <a:buChar char="•"/>
            </a:pPr>
            <a:r>
              <a:rPr lang="en-US" sz="2000" dirty="0"/>
              <a:t>Often, we try to transform them to numerical and/or categorical variables for further analysis</a:t>
            </a:r>
          </a:p>
        </p:txBody>
      </p:sp>
      <p:sp>
        <p:nvSpPr>
          <p:cNvPr id="6" name="Rectangle 5">
            <a:extLst>
              <a:ext uri="{FF2B5EF4-FFF2-40B4-BE49-F238E27FC236}">
                <a16:creationId xmlns:a16="http://schemas.microsoft.com/office/drawing/2014/main" id="{283A36E9-74D9-E56F-B5FF-E4EAFC9FA669}"/>
              </a:ext>
            </a:extLst>
          </p:cNvPr>
          <p:cNvSpPr/>
          <p:nvPr/>
        </p:nvSpPr>
        <p:spPr>
          <a:xfrm>
            <a:off x="3951193" y="3216913"/>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Numerical</a:t>
            </a:r>
          </a:p>
        </p:txBody>
      </p:sp>
      <p:sp>
        <p:nvSpPr>
          <p:cNvPr id="7" name="Rectangle 6">
            <a:extLst>
              <a:ext uri="{FF2B5EF4-FFF2-40B4-BE49-F238E27FC236}">
                <a16:creationId xmlns:a16="http://schemas.microsoft.com/office/drawing/2014/main" id="{05D36513-E54D-6475-709C-E7E4BF1D46EB}"/>
              </a:ext>
            </a:extLst>
          </p:cNvPr>
          <p:cNvSpPr/>
          <p:nvPr/>
        </p:nvSpPr>
        <p:spPr>
          <a:xfrm>
            <a:off x="6748181" y="326091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Categorical</a:t>
            </a:r>
          </a:p>
        </p:txBody>
      </p:sp>
      <p:sp>
        <p:nvSpPr>
          <p:cNvPr id="11" name="Rectangle 10">
            <a:extLst>
              <a:ext uri="{FF2B5EF4-FFF2-40B4-BE49-F238E27FC236}">
                <a16:creationId xmlns:a16="http://schemas.microsoft.com/office/drawing/2014/main" id="{C39A7B02-53F8-2734-DA1B-3212844A6F10}"/>
              </a:ext>
            </a:extLst>
          </p:cNvPr>
          <p:cNvSpPr/>
          <p:nvPr/>
        </p:nvSpPr>
        <p:spPr>
          <a:xfrm>
            <a:off x="3099547"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Continuous</a:t>
            </a:r>
          </a:p>
        </p:txBody>
      </p:sp>
      <p:sp>
        <p:nvSpPr>
          <p:cNvPr id="12" name="Rectangle 11">
            <a:extLst>
              <a:ext uri="{FF2B5EF4-FFF2-40B4-BE49-F238E27FC236}">
                <a16:creationId xmlns:a16="http://schemas.microsoft.com/office/drawing/2014/main" id="{8B17A110-200E-9344-A39C-D8143EE31E10}"/>
              </a:ext>
            </a:extLst>
          </p:cNvPr>
          <p:cNvSpPr/>
          <p:nvPr/>
        </p:nvSpPr>
        <p:spPr>
          <a:xfrm>
            <a:off x="4654921"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solidFill>
                  <a:schemeClr val="tx1"/>
                </a:solidFill>
              </a:rPr>
              <a:t>Discrete</a:t>
            </a:r>
          </a:p>
        </p:txBody>
      </p:sp>
      <p:sp>
        <p:nvSpPr>
          <p:cNvPr id="13" name="Rectangle 12">
            <a:extLst>
              <a:ext uri="{FF2B5EF4-FFF2-40B4-BE49-F238E27FC236}">
                <a16:creationId xmlns:a16="http://schemas.microsoft.com/office/drawing/2014/main" id="{5A2F96AC-1FB6-4ECC-C2BD-804EEFB89887}"/>
              </a:ext>
            </a:extLst>
          </p:cNvPr>
          <p:cNvSpPr/>
          <p:nvPr/>
        </p:nvSpPr>
        <p:spPr>
          <a:xfrm>
            <a:off x="6205814"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Ordinal</a:t>
            </a:r>
          </a:p>
        </p:txBody>
      </p:sp>
      <p:sp>
        <p:nvSpPr>
          <p:cNvPr id="14" name="Rectangle 13">
            <a:extLst>
              <a:ext uri="{FF2B5EF4-FFF2-40B4-BE49-F238E27FC236}">
                <a16:creationId xmlns:a16="http://schemas.microsoft.com/office/drawing/2014/main" id="{E991E79C-EAFE-248A-4B87-417D5393EA4C}"/>
              </a:ext>
            </a:extLst>
          </p:cNvPr>
          <p:cNvSpPr/>
          <p:nvPr/>
        </p:nvSpPr>
        <p:spPr>
          <a:xfrm>
            <a:off x="7816097"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Nominal</a:t>
            </a:r>
          </a:p>
        </p:txBody>
      </p:sp>
      <p:cxnSp>
        <p:nvCxnSpPr>
          <p:cNvPr id="16" name="Straight Arrow Connector 15">
            <a:extLst>
              <a:ext uri="{FF2B5EF4-FFF2-40B4-BE49-F238E27FC236}">
                <a16:creationId xmlns:a16="http://schemas.microsoft.com/office/drawing/2014/main" id="{8F970DD3-DDCB-465F-5B37-8E19CFE84001}"/>
              </a:ext>
            </a:extLst>
          </p:cNvPr>
          <p:cNvCxnSpPr>
            <a:stCxn id="6" idx="2"/>
            <a:endCxn id="11" idx="0"/>
          </p:cNvCxnSpPr>
          <p:nvPr/>
        </p:nvCxnSpPr>
        <p:spPr>
          <a:xfrm flipH="1">
            <a:off x="3798794" y="3727901"/>
            <a:ext cx="851646" cy="253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59982400-CBB9-B9B6-C36E-68B81E189744}"/>
              </a:ext>
            </a:extLst>
          </p:cNvPr>
          <p:cNvCxnSpPr>
            <a:cxnSpLocks/>
            <a:stCxn id="6" idx="2"/>
            <a:endCxn id="12" idx="0"/>
          </p:cNvCxnSpPr>
          <p:nvPr/>
        </p:nvCxnSpPr>
        <p:spPr>
          <a:xfrm>
            <a:off x="4650440" y="3727901"/>
            <a:ext cx="703728" cy="253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7B788D5-146F-24EC-B720-B8D10FABC4AE}"/>
              </a:ext>
            </a:extLst>
          </p:cNvPr>
          <p:cNvCxnSpPr>
            <a:cxnSpLocks/>
            <a:stCxn id="48" idx="2"/>
            <a:endCxn id="6" idx="0"/>
          </p:cNvCxnSpPr>
          <p:nvPr/>
        </p:nvCxnSpPr>
        <p:spPr>
          <a:xfrm flipH="1">
            <a:off x="4650440" y="2840992"/>
            <a:ext cx="1398494" cy="3759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AB4C1673-8257-1D73-45FD-6A02BE12642E}"/>
              </a:ext>
            </a:extLst>
          </p:cNvPr>
          <p:cNvCxnSpPr>
            <a:cxnSpLocks/>
            <a:stCxn id="48" idx="2"/>
            <a:endCxn id="7" idx="0"/>
          </p:cNvCxnSpPr>
          <p:nvPr/>
        </p:nvCxnSpPr>
        <p:spPr>
          <a:xfrm>
            <a:off x="6048934" y="2840992"/>
            <a:ext cx="1398494" cy="4199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B38D0BC-5F14-4390-4BB4-B4D7EF50E6EA}"/>
              </a:ext>
            </a:extLst>
          </p:cNvPr>
          <p:cNvCxnSpPr>
            <a:cxnSpLocks/>
            <a:stCxn id="7" idx="2"/>
            <a:endCxn id="13" idx="0"/>
          </p:cNvCxnSpPr>
          <p:nvPr/>
        </p:nvCxnSpPr>
        <p:spPr>
          <a:xfrm flipH="1">
            <a:off x="6905061" y="3771902"/>
            <a:ext cx="542367" cy="20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22D5CC07-854A-04B5-3ECC-7130DA32C8B7}"/>
              </a:ext>
            </a:extLst>
          </p:cNvPr>
          <p:cNvCxnSpPr>
            <a:cxnSpLocks/>
            <a:stCxn id="7" idx="2"/>
            <a:endCxn id="14" idx="0"/>
          </p:cNvCxnSpPr>
          <p:nvPr/>
        </p:nvCxnSpPr>
        <p:spPr>
          <a:xfrm>
            <a:off x="7447428" y="3771902"/>
            <a:ext cx="1067916" cy="20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Rectangle 47">
            <a:extLst>
              <a:ext uri="{FF2B5EF4-FFF2-40B4-BE49-F238E27FC236}">
                <a16:creationId xmlns:a16="http://schemas.microsoft.com/office/drawing/2014/main" id="{F8D10376-659F-4210-DE24-E63702921D18}"/>
              </a:ext>
            </a:extLst>
          </p:cNvPr>
          <p:cNvSpPr/>
          <p:nvPr/>
        </p:nvSpPr>
        <p:spPr>
          <a:xfrm>
            <a:off x="5349687" y="233000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Variables</a:t>
            </a:r>
          </a:p>
        </p:txBody>
      </p:sp>
      <p:sp>
        <p:nvSpPr>
          <p:cNvPr id="3" name="TextBox 2">
            <a:extLst>
              <a:ext uri="{FF2B5EF4-FFF2-40B4-BE49-F238E27FC236}">
                <a16:creationId xmlns:a16="http://schemas.microsoft.com/office/drawing/2014/main" id="{B74E24D4-C2A3-13F1-DE33-5AF54D115A1D}"/>
              </a:ext>
            </a:extLst>
          </p:cNvPr>
          <p:cNvSpPr txBox="1"/>
          <p:nvPr/>
        </p:nvSpPr>
        <p:spPr>
          <a:xfrm>
            <a:off x="5002306" y="4460171"/>
            <a:ext cx="6461690" cy="523220"/>
          </a:xfrm>
          <a:prstGeom prst="rect">
            <a:avLst/>
          </a:prstGeom>
          <a:noFill/>
        </p:spPr>
        <p:txBody>
          <a:bodyPr wrap="square">
            <a:spAutoFit/>
          </a:bodyPr>
          <a:lstStyle/>
          <a:p>
            <a:pPr marL="342900" indent="-342900">
              <a:buFont typeface="Arial" panose="020B0604020202020204" pitchFamily="34" charset="0"/>
              <a:buChar char="•"/>
            </a:pPr>
            <a:r>
              <a:rPr lang="en-US" sz="1400" dirty="0"/>
              <a:t>Counted: integer values</a:t>
            </a:r>
          </a:p>
          <a:p>
            <a:pPr marL="342900" indent="-342900">
              <a:buFont typeface="Arial" panose="020B0604020202020204" pitchFamily="34" charset="0"/>
              <a:buChar char="•"/>
            </a:pPr>
            <a:r>
              <a:rPr lang="en-US" sz="1400" dirty="0"/>
              <a:t>Number of users, number of clicks, items in cart, etc.</a:t>
            </a:r>
          </a:p>
        </p:txBody>
      </p:sp>
    </p:spTree>
    <p:extLst>
      <p:ext uri="{BB962C8B-B14F-4D97-AF65-F5344CB8AC3E}">
        <p14:creationId xmlns:p14="http://schemas.microsoft.com/office/powerpoint/2010/main" val="1513106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3FF96-A9E4-82BE-E281-8A2287853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704C0-C927-02E9-A40E-74E70EF3C4A4}"/>
              </a:ext>
            </a:extLst>
          </p:cNvPr>
          <p:cNvSpPr>
            <a:spLocks noGrp="1"/>
          </p:cNvSpPr>
          <p:nvPr>
            <p:ph type="title"/>
          </p:nvPr>
        </p:nvSpPr>
        <p:spPr>
          <a:xfrm>
            <a:off x="480001" y="414261"/>
            <a:ext cx="10983995" cy="767425"/>
          </a:xfrm>
        </p:spPr>
        <p:txBody>
          <a:bodyPr/>
          <a:lstStyle/>
          <a:p>
            <a:r>
              <a:rPr lang="en-US" dirty="0"/>
              <a:t>Numerical and categorical variables</a:t>
            </a:r>
          </a:p>
        </p:txBody>
      </p:sp>
      <p:sp>
        <p:nvSpPr>
          <p:cNvPr id="4" name="TextBox 3">
            <a:extLst>
              <a:ext uri="{FF2B5EF4-FFF2-40B4-BE49-F238E27FC236}">
                <a16:creationId xmlns:a16="http://schemas.microsoft.com/office/drawing/2014/main" id="{8E240426-90CE-4CBF-72AD-6258B17187FA}"/>
              </a:ext>
            </a:extLst>
          </p:cNvPr>
          <p:cNvSpPr txBox="1"/>
          <p:nvPr/>
        </p:nvSpPr>
        <p:spPr>
          <a:xfrm>
            <a:off x="604002" y="1265769"/>
            <a:ext cx="10983995" cy="707886"/>
          </a:xfrm>
          <a:prstGeom prst="rect">
            <a:avLst/>
          </a:prstGeom>
          <a:noFill/>
        </p:spPr>
        <p:txBody>
          <a:bodyPr wrap="square">
            <a:spAutoFit/>
          </a:bodyPr>
          <a:lstStyle/>
          <a:p>
            <a:pPr marL="342900" indent="-342900">
              <a:buFont typeface="Arial" panose="020B0604020202020204" pitchFamily="34" charset="0"/>
              <a:buChar char="•"/>
            </a:pPr>
            <a:r>
              <a:rPr lang="en-US" sz="2000" dirty="0"/>
              <a:t>In data science, we often manipulate various variables (numbers, categories, datetime, etc.).</a:t>
            </a:r>
          </a:p>
          <a:p>
            <a:pPr marL="342900" indent="-342900">
              <a:buFont typeface="Arial" panose="020B0604020202020204" pitchFamily="34" charset="0"/>
              <a:buChar char="•"/>
            </a:pPr>
            <a:r>
              <a:rPr lang="en-US" sz="2000" dirty="0"/>
              <a:t>Often, we try to transform them to numerical and/or categorical variables for further analysis</a:t>
            </a:r>
          </a:p>
        </p:txBody>
      </p:sp>
      <p:sp>
        <p:nvSpPr>
          <p:cNvPr id="6" name="Rectangle 5">
            <a:extLst>
              <a:ext uri="{FF2B5EF4-FFF2-40B4-BE49-F238E27FC236}">
                <a16:creationId xmlns:a16="http://schemas.microsoft.com/office/drawing/2014/main" id="{ED30C78D-7DC9-1310-8932-68F383D2F725}"/>
              </a:ext>
            </a:extLst>
          </p:cNvPr>
          <p:cNvSpPr/>
          <p:nvPr/>
        </p:nvSpPr>
        <p:spPr>
          <a:xfrm>
            <a:off x="3951193" y="3216913"/>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Numerical</a:t>
            </a:r>
          </a:p>
        </p:txBody>
      </p:sp>
      <p:sp>
        <p:nvSpPr>
          <p:cNvPr id="7" name="Rectangle 6">
            <a:extLst>
              <a:ext uri="{FF2B5EF4-FFF2-40B4-BE49-F238E27FC236}">
                <a16:creationId xmlns:a16="http://schemas.microsoft.com/office/drawing/2014/main" id="{812F1FC7-36AC-4F02-4844-E70C6D798578}"/>
              </a:ext>
            </a:extLst>
          </p:cNvPr>
          <p:cNvSpPr/>
          <p:nvPr/>
        </p:nvSpPr>
        <p:spPr>
          <a:xfrm>
            <a:off x="6748181" y="326091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Categorical</a:t>
            </a:r>
          </a:p>
        </p:txBody>
      </p:sp>
      <p:sp>
        <p:nvSpPr>
          <p:cNvPr id="11" name="Rectangle 10">
            <a:extLst>
              <a:ext uri="{FF2B5EF4-FFF2-40B4-BE49-F238E27FC236}">
                <a16:creationId xmlns:a16="http://schemas.microsoft.com/office/drawing/2014/main" id="{C55BD4D7-FFAC-0626-FC0C-9CD3BB795018}"/>
              </a:ext>
            </a:extLst>
          </p:cNvPr>
          <p:cNvSpPr/>
          <p:nvPr/>
        </p:nvSpPr>
        <p:spPr>
          <a:xfrm>
            <a:off x="3099547"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Continuous</a:t>
            </a:r>
          </a:p>
        </p:txBody>
      </p:sp>
      <p:sp>
        <p:nvSpPr>
          <p:cNvPr id="12" name="Rectangle 11">
            <a:extLst>
              <a:ext uri="{FF2B5EF4-FFF2-40B4-BE49-F238E27FC236}">
                <a16:creationId xmlns:a16="http://schemas.microsoft.com/office/drawing/2014/main" id="{FCE72360-1E04-15DD-370C-B1C77C3715F9}"/>
              </a:ext>
            </a:extLst>
          </p:cNvPr>
          <p:cNvSpPr/>
          <p:nvPr/>
        </p:nvSpPr>
        <p:spPr>
          <a:xfrm>
            <a:off x="4654921"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Discrete</a:t>
            </a:r>
          </a:p>
        </p:txBody>
      </p:sp>
      <p:sp>
        <p:nvSpPr>
          <p:cNvPr id="13" name="Rectangle 12">
            <a:extLst>
              <a:ext uri="{FF2B5EF4-FFF2-40B4-BE49-F238E27FC236}">
                <a16:creationId xmlns:a16="http://schemas.microsoft.com/office/drawing/2014/main" id="{6F77A3FB-633D-55CE-09FF-B4433DCAE76E}"/>
              </a:ext>
            </a:extLst>
          </p:cNvPr>
          <p:cNvSpPr/>
          <p:nvPr/>
        </p:nvSpPr>
        <p:spPr>
          <a:xfrm>
            <a:off x="6205814"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solidFill>
                  <a:schemeClr val="tx1"/>
                </a:solidFill>
              </a:rPr>
              <a:t>Ordinal</a:t>
            </a:r>
          </a:p>
        </p:txBody>
      </p:sp>
      <p:sp>
        <p:nvSpPr>
          <p:cNvPr id="14" name="Rectangle 13">
            <a:extLst>
              <a:ext uri="{FF2B5EF4-FFF2-40B4-BE49-F238E27FC236}">
                <a16:creationId xmlns:a16="http://schemas.microsoft.com/office/drawing/2014/main" id="{C4D4F3D7-1B8B-0F0B-4B05-861B1EF88E2C}"/>
              </a:ext>
            </a:extLst>
          </p:cNvPr>
          <p:cNvSpPr/>
          <p:nvPr/>
        </p:nvSpPr>
        <p:spPr>
          <a:xfrm>
            <a:off x="7816097"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Nominal</a:t>
            </a:r>
          </a:p>
        </p:txBody>
      </p:sp>
      <p:cxnSp>
        <p:nvCxnSpPr>
          <p:cNvPr id="16" name="Straight Arrow Connector 15">
            <a:extLst>
              <a:ext uri="{FF2B5EF4-FFF2-40B4-BE49-F238E27FC236}">
                <a16:creationId xmlns:a16="http://schemas.microsoft.com/office/drawing/2014/main" id="{83492244-38BF-DEF9-B7C0-1C262C98126D}"/>
              </a:ext>
            </a:extLst>
          </p:cNvPr>
          <p:cNvCxnSpPr>
            <a:stCxn id="6" idx="2"/>
            <a:endCxn id="11" idx="0"/>
          </p:cNvCxnSpPr>
          <p:nvPr/>
        </p:nvCxnSpPr>
        <p:spPr>
          <a:xfrm flipH="1">
            <a:off x="3798794" y="3727901"/>
            <a:ext cx="851646" cy="253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23E79905-859A-0F98-9995-F9E7F24DAC53}"/>
              </a:ext>
            </a:extLst>
          </p:cNvPr>
          <p:cNvCxnSpPr>
            <a:cxnSpLocks/>
            <a:stCxn id="6" idx="2"/>
            <a:endCxn id="12" idx="0"/>
          </p:cNvCxnSpPr>
          <p:nvPr/>
        </p:nvCxnSpPr>
        <p:spPr>
          <a:xfrm>
            <a:off x="4650440" y="3727901"/>
            <a:ext cx="703728" cy="253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E2EE950-7931-092F-B6DC-A8F9AD22154A}"/>
              </a:ext>
            </a:extLst>
          </p:cNvPr>
          <p:cNvCxnSpPr>
            <a:cxnSpLocks/>
            <a:stCxn id="48" idx="2"/>
            <a:endCxn id="6" idx="0"/>
          </p:cNvCxnSpPr>
          <p:nvPr/>
        </p:nvCxnSpPr>
        <p:spPr>
          <a:xfrm flipH="1">
            <a:off x="4650440" y="2840992"/>
            <a:ext cx="1398494" cy="3759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2174F94-4804-938C-17F1-9A545FA64CD1}"/>
              </a:ext>
            </a:extLst>
          </p:cNvPr>
          <p:cNvCxnSpPr>
            <a:cxnSpLocks/>
            <a:stCxn id="48" idx="2"/>
            <a:endCxn id="7" idx="0"/>
          </p:cNvCxnSpPr>
          <p:nvPr/>
        </p:nvCxnSpPr>
        <p:spPr>
          <a:xfrm>
            <a:off x="6048934" y="2840992"/>
            <a:ext cx="1398494" cy="4199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9553044B-6113-4A7E-43EF-DB408F45B5C8}"/>
              </a:ext>
            </a:extLst>
          </p:cNvPr>
          <p:cNvCxnSpPr>
            <a:cxnSpLocks/>
            <a:stCxn id="7" idx="2"/>
            <a:endCxn id="13" idx="0"/>
          </p:cNvCxnSpPr>
          <p:nvPr/>
        </p:nvCxnSpPr>
        <p:spPr>
          <a:xfrm flipH="1">
            <a:off x="6905061" y="3771902"/>
            <a:ext cx="542367" cy="20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278EEDD3-D594-01D4-9CE6-28A3AC5519DA}"/>
              </a:ext>
            </a:extLst>
          </p:cNvPr>
          <p:cNvCxnSpPr>
            <a:cxnSpLocks/>
            <a:stCxn id="7" idx="2"/>
            <a:endCxn id="14" idx="0"/>
          </p:cNvCxnSpPr>
          <p:nvPr/>
        </p:nvCxnSpPr>
        <p:spPr>
          <a:xfrm>
            <a:off x="7447428" y="3771902"/>
            <a:ext cx="1067916" cy="20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Rectangle 47">
            <a:extLst>
              <a:ext uri="{FF2B5EF4-FFF2-40B4-BE49-F238E27FC236}">
                <a16:creationId xmlns:a16="http://schemas.microsoft.com/office/drawing/2014/main" id="{C436363F-B40C-08AA-239F-80919BD5049C}"/>
              </a:ext>
            </a:extLst>
          </p:cNvPr>
          <p:cNvSpPr/>
          <p:nvPr/>
        </p:nvSpPr>
        <p:spPr>
          <a:xfrm>
            <a:off x="5349687" y="233000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Variables</a:t>
            </a:r>
          </a:p>
        </p:txBody>
      </p:sp>
      <p:sp>
        <p:nvSpPr>
          <p:cNvPr id="3" name="TextBox 2">
            <a:extLst>
              <a:ext uri="{FF2B5EF4-FFF2-40B4-BE49-F238E27FC236}">
                <a16:creationId xmlns:a16="http://schemas.microsoft.com/office/drawing/2014/main" id="{52126161-08C3-B15B-E7A9-1B0906729D5F}"/>
              </a:ext>
            </a:extLst>
          </p:cNvPr>
          <p:cNvSpPr txBox="1"/>
          <p:nvPr/>
        </p:nvSpPr>
        <p:spPr>
          <a:xfrm>
            <a:off x="6629400" y="4460171"/>
            <a:ext cx="4834596" cy="1169551"/>
          </a:xfrm>
          <a:prstGeom prst="rect">
            <a:avLst/>
          </a:prstGeom>
          <a:noFill/>
        </p:spPr>
        <p:txBody>
          <a:bodyPr wrap="square">
            <a:spAutoFit/>
          </a:bodyPr>
          <a:lstStyle/>
          <a:p>
            <a:pPr marL="342900" indent="-342900">
              <a:buFont typeface="Arial" panose="020B0604020202020204" pitchFamily="34" charset="0"/>
              <a:buChar char="•"/>
            </a:pPr>
            <a:r>
              <a:rPr lang="en-US" sz="1400" dirty="0"/>
              <a:t>Ranked: order matters, distances do not</a:t>
            </a:r>
          </a:p>
          <a:p>
            <a:pPr marL="342900" indent="-342900">
              <a:buFont typeface="Arial" panose="020B0604020202020204" pitchFamily="34" charset="0"/>
              <a:buChar char="•"/>
            </a:pPr>
            <a:r>
              <a:rPr lang="en-US" sz="1400" dirty="0"/>
              <a:t>Examples:</a:t>
            </a:r>
          </a:p>
          <a:p>
            <a:pPr marL="800100" lvl="1" indent="-342900">
              <a:buFont typeface="Arial" panose="020B0604020202020204" pitchFamily="34" charset="0"/>
              <a:buChar char="•"/>
            </a:pPr>
            <a:r>
              <a:rPr lang="en-US" sz="1400" dirty="0"/>
              <a:t>Education level (high-school, college, bachelors, etc.)</a:t>
            </a:r>
          </a:p>
          <a:p>
            <a:pPr marL="800100" lvl="1" indent="-342900">
              <a:buFont typeface="Arial" panose="020B0604020202020204" pitchFamily="34" charset="0"/>
              <a:buChar char="•"/>
            </a:pPr>
            <a:r>
              <a:rPr lang="en-US" sz="1400" dirty="0"/>
              <a:t>User satisfaction (low, medium, high)</a:t>
            </a:r>
          </a:p>
          <a:p>
            <a:pPr marL="800100" lvl="1" indent="-342900">
              <a:buFont typeface="Arial" panose="020B0604020202020204" pitchFamily="34" charset="0"/>
              <a:buChar char="•"/>
            </a:pPr>
            <a:r>
              <a:rPr lang="en-US" sz="1400" dirty="0"/>
              <a:t>Star ratings (1-5) </a:t>
            </a:r>
          </a:p>
        </p:txBody>
      </p:sp>
    </p:spTree>
    <p:extLst>
      <p:ext uri="{BB962C8B-B14F-4D97-AF65-F5344CB8AC3E}">
        <p14:creationId xmlns:p14="http://schemas.microsoft.com/office/powerpoint/2010/main" val="2164990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7A090-B43F-12AE-F33C-286A4A99E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97CE13-2045-A978-08D7-9BD7CECC1852}"/>
              </a:ext>
            </a:extLst>
          </p:cNvPr>
          <p:cNvSpPr>
            <a:spLocks noGrp="1"/>
          </p:cNvSpPr>
          <p:nvPr>
            <p:ph type="title"/>
          </p:nvPr>
        </p:nvSpPr>
        <p:spPr>
          <a:xfrm>
            <a:off x="480001" y="414261"/>
            <a:ext cx="10983995" cy="767425"/>
          </a:xfrm>
        </p:spPr>
        <p:txBody>
          <a:bodyPr/>
          <a:lstStyle/>
          <a:p>
            <a:r>
              <a:rPr lang="en-US" dirty="0"/>
              <a:t>Numerical and categorical variables</a:t>
            </a:r>
          </a:p>
        </p:txBody>
      </p:sp>
      <p:sp>
        <p:nvSpPr>
          <p:cNvPr id="4" name="TextBox 3">
            <a:extLst>
              <a:ext uri="{FF2B5EF4-FFF2-40B4-BE49-F238E27FC236}">
                <a16:creationId xmlns:a16="http://schemas.microsoft.com/office/drawing/2014/main" id="{363F5EB2-535D-8B54-03F9-D878BB882347}"/>
              </a:ext>
            </a:extLst>
          </p:cNvPr>
          <p:cNvSpPr txBox="1"/>
          <p:nvPr/>
        </p:nvSpPr>
        <p:spPr>
          <a:xfrm>
            <a:off x="604002" y="1265769"/>
            <a:ext cx="10983995" cy="707886"/>
          </a:xfrm>
          <a:prstGeom prst="rect">
            <a:avLst/>
          </a:prstGeom>
          <a:noFill/>
        </p:spPr>
        <p:txBody>
          <a:bodyPr wrap="square">
            <a:spAutoFit/>
          </a:bodyPr>
          <a:lstStyle/>
          <a:p>
            <a:pPr marL="342900" indent="-342900">
              <a:buFont typeface="Arial" panose="020B0604020202020204" pitchFamily="34" charset="0"/>
              <a:buChar char="•"/>
            </a:pPr>
            <a:r>
              <a:rPr lang="en-US" sz="2000" dirty="0"/>
              <a:t>In data science, we often manipulate various variables (numbers, categories, datetime, etc.).</a:t>
            </a:r>
          </a:p>
          <a:p>
            <a:pPr marL="342900" indent="-342900">
              <a:buFont typeface="Arial" panose="020B0604020202020204" pitchFamily="34" charset="0"/>
              <a:buChar char="•"/>
            </a:pPr>
            <a:r>
              <a:rPr lang="en-US" sz="2000" dirty="0"/>
              <a:t>Often, we try to transform them to numerical and/or categorical variables for further analysis</a:t>
            </a:r>
          </a:p>
        </p:txBody>
      </p:sp>
      <p:sp>
        <p:nvSpPr>
          <p:cNvPr id="6" name="Rectangle 5">
            <a:extLst>
              <a:ext uri="{FF2B5EF4-FFF2-40B4-BE49-F238E27FC236}">
                <a16:creationId xmlns:a16="http://schemas.microsoft.com/office/drawing/2014/main" id="{34B4F316-5E34-B8DA-D647-45C5C6711ACB}"/>
              </a:ext>
            </a:extLst>
          </p:cNvPr>
          <p:cNvSpPr/>
          <p:nvPr/>
        </p:nvSpPr>
        <p:spPr>
          <a:xfrm>
            <a:off x="3951193" y="3216913"/>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Numerical</a:t>
            </a:r>
          </a:p>
        </p:txBody>
      </p:sp>
      <p:sp>
        <p:nvSpPr>
          <p:cNvPr id="7" name="Rectangle 6">
            <a:extLst>
              <a:ext uri="{FF2B5EF4-FFF2-40B4-BE49-F238E27FC236}">
                <a16:creationId xmlns:a16="http://schemas.microsoft.com/office/drawing/2014/main" id="{3C3E5EEE-5789-12AA-F8E3-DB5446F28485}"/>
              </a:ext>
            </a:extLst>
          </p:cNvPr>
          <p:cNvSpPr/>
          <p:nvPr/>
        </p:nvSpPr>
        <p:spPr>
          <a:xfrm>
            <a:off x="6748181" y="326091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Categorical</a:t>
            </a:r>
          </a:p>
        </p:txBody>
      </p:sp>
      <p:sp>
        <p:nvSpPr>
          <p:cNvPr id="11" name="Rectangle 10">
            <a:extLst>
              <a:ext uri="{FF2B5EF4-FFF2-40B4-BE49-F238E27FC236}">
                <a16:creationId xmlns:a16="http://schemas.microsoft.com/office/drawing/2014/main" id="{AE285222-5E84-99ED-CEAF-78EE3319520C}"/>
              </a:ext>
            </a:extLst>
          </p:cNvPr>
          <p:cNvSpPr/>
          <p:nvPr/>
        </p:nvSpPr>
        <p:spPr>
          <a:xfrm>
            <a:off x="3099547"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Continuous</a:t>
            </a:r>
          </a:p>
        </p:txBody>
      </p:sp>
      <p:sp>
        <p:nvSpPr>
          <p:cNvPr id="12" name="Rectangle 11">
            <a:extLst>
              <a:ext uri="{FF2B5EF4-FFF2-40B4-BE49-F238E27FC236}">
                <a16:creationId xmlns:a16="http://schemas.microsoft.com/office/drawing/2014/main" id="{778ACBD0-7CD1-4ACF-5979-44B3CB45B049}"/>
              </a:ext>
            </a:extLst>
          </p:cNvPr>
          <p:cNvSpPr/>
          <p:nvPr/>
        </p:nvSpPr>
        <p:spPr>
          <a:xfrm>
            <a:off x="4654921"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Discrete</a:t>
            </a:r>
          </a:p>
        </p:txBody>
      </p:sp>
      <p:sp>
        <p:nvSpPr>
          <p:cNvPr id="13" name="Rectangle 12">
            <a:extLst>
              <a:ext uri="{FF2B5EF4-FFF2-40B4-BE49-F238E27FC236}">
                <a16:creationId xmlns:a16="http://schemas.microsoft.com/office/drawing/2014/main" id="{2DE473C4-9F14-5DE5-9D94-A51F6DA61E01}"/>
              </a:ext>
            </a:extLst>
          </p:cNvPr>
          <p:cNvSpPr/>
          <p:nvPr/>
        </p:nvSpPr>
        <p:spPr>
          <a:xfrm>
            <a:off x="6205814"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Ordinal</a:t>
            </a:r>
          </a:p>
        </p:txBody>
      </p:sp>
      <p:sp>
        <p:nvSpPr>
          <p:cNvPr id="14" name="Rectangle 13">
            <a:extLst>
              <a:ext uri="{FF2B5EF4-FFF2-40B4-BE49-F238E27FC236}">
                <a16:creationId xmlns:a16="http://schemas.microsoft.com/office/drawing/2014/main" id="{B4FF18B3-E352-3CCC-F254-BE5F69893953}"/>
              </a:ext>
            </a:extLst>
          </p:cNvPr>
          <p:cNvSpPr/>
          <p:nvPr/>
        </p:nvSpPr>
        <p:spPr>
          <a:xfrm>
            <a:off x="7816097"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solidFill>
                  <a:schemeClr val="tx1"/>
                </a:solidFill>
              </a:rPr>
              <a:t>Nominal</a:t>
            </a:r>
          </a:p>
        </p:txBody>
      </p:sp>
      <p:cxnSp>
        <p:nvCxnSpPr>
          <p:cNvPr id="16" name="Straight Arrow Connector 15">
            <a:extLst>
              <a:ext uri="{FF2B5EF4-FFF2-40B4-BE49-F238E27FC236}">
                <a16:creationId xmlns:a16="http://schemas.microsoft.com/office/drawing/2014/main" id="{2AB0EBFD-178E-A084-EA1A-CE36885949D3}"/>
              </a:ext>
            </a:extLst>
          </p:cNvPr>
          <p:cNvCxnSpPr>
            <a:stCxn id="6" idx="2"/>
            <a:endCxn id="11" idx="0"/>
          </p:cNvCxnSpPr>
          <p:nvPr/>
        </p:nvCxnSpPr>
        <p:spPr>
          <a:xfrm flipH="1">
            <a:off x="3798794" y="3727901"/>
            <a:ext cx="851646" cy="253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94B8EE9-75FB-E3B7-AD8C-DD3B82254842}"/>
              </a:ext>
            </a:extLst>
          </p:cNvPr>
          <p:cNvCxnSpPr>
            <a:cxnSpLocks/>
            <a:stCxn id="6" idx="2"/>
            <a:endCxn id="12" idx="0"/>
          </p:cNvCxnSpPr>
          <p:nvPr/>
        </p:nvCxnSpPr>
        <p:spPr>
          <a:xfrm>
            <a:off x="4650440" y="3727901"/>
            <a:ext cx="703728" cy="253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32AD953-EBE6-4998-5864-DF6D9F78CD36}"/>
              </a:ext>
            </a:extLst>
          </p:cNvPr>
          <p:cNvCxnSpPr>
            <a:cxnSpLocks/>
            <a:stCxn id="48" idx="2"/>
            <a:endCxn id="6" idx="0"/>
          </p:cNvCxnSpPr>
          <p:nvPr/>
        </p:nvCxnSpPr>
        <p:spPr>
          <a:xfrm flipH="1">
            <a:off x="4650440" y="2840992"/>
            <a:ext cx="1398494" cy="3759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9B72748-E76F-1B17-EEE0-D2EFD28945D2}"/>
              </a:ext>
            </a:extLst>
          </p:cNvPr>
          <p:cNvCxnSpPr>
            <a:cxnSpLocks/>
            <a:stCxn id="48" idx="2"/>
            <a:endCxn id="7" idx="0"/>
          </p:cNvCxnSpPr>
          <p:nvPr/>
        </p:nvCxnSpPr>
        <p:spPr>
          <a:xfrm>
            <a:off x="6048934" y="2840992"/>
            <a:ext cx="1398494" cy="4199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973C389-B070-06B9-3278-D32D3853E7AA}"/>
              </a:ext>
            </a:extLst>
          </p:cNvPr>
          <p:cNvCxnSpPr>
            <a:cxnSpLocks/>
            <a:stCxn id="7" idx="2"/>
            <a:endCxn id="13" idx="0"/>
          </p:cNvCxnSpPr>
          <p:nvPr/>
        </p:nvCxnSpPr>
        <p:spPr>
          <a:xfrm flipH="1">
            <a:off x="6905061" y="3771902"/>
            <a:ext cx="542367" cy="20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8374AAEC-9B03-2F7E-6DB8-D8259E58823E}"/>
              </a:ext>
            </a:extLst>
          </p:cNvPr>
          <p:cNvCxnSpPr>
            <a:cxnSpLocks/>
            <a:stCxn id="7" idx="2"/>
            <a:endCxn id="14" idx="0"/>
          </p:cNvCxnSpPr>
          <p:nvPr/>
        </p:nvCxnSpPr>
        <p:spPr>
          <a:xfrm>
            <a:off x="7447428" y="3771902"/>
            <a:ext cx="1067916" cy="20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Rectangle 47">
            <a:extLst>
              <a:ext uri="{FF2B5EF4-FFF2-40B4-BE49-F238E27FC236}">
                <a16:creationId xmlns:a16="http://schemas.microsoft.com/office/drawing/2014/main" id="{26AE5E52-A1DC-5368-0A22-06F2E4E5A13E}"/>
              </a:ext>
            </a:extLst>
          </p:cNvPr>
          <p:cNvSpPr/>
          <p:nvPr/>
        </p:nvSpPr>
        <p:spPr>
          <a:xfrm>
            <a:off x="5349687" y="233000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bg2">
                    <a:lumMod val="85000"/>
                  </a:schemeClr>
                </a:solidFill>
              </a:rPr>
              <a:t>Variables</a:t>
            </a:r>
          </a:p>
        </p:txBody>
      </p:sp>
      <p:sp>
        <p:nvSpPr>
          <p:cNvPr id="3" name="TextBox 2">
            <a:extLst>
              <a:ext uri="{FF2B5EF4-FFF2-40B4-BE49-F238E27FC236}">
                <a16:creationId xmlns:a16="http://schemas.microsoft.com/office/drawing/2014/main" id="{50D8B43B-59D9-23FC-C785-D03089280CBA}"/>
              </a:ext>
            </a:extLst>
          </p:cNvPr>
          <p:cNvSpPr txBox="1"/>
          <p:nvPr/>
        </p:nvSpPr>
        <p:spPr>
          <a:xfrm>
            <a:off x="8195982" y="4460171"/>
            <a:ext cx="3268014" cy="1169551"/>
          </a:xfrm>
          <a:prstGeom prst="rect">
            <a:avLst/>
          </a:prstGeom>
          <a:noFill/>
        </p:spPr>
        <p:txBody>
          <a:bodyPr wrap="square">
            <a:spAutoFit/>
          </a:bodyPr>
          <a:lstStyle/>
          <a:p>
            <a:pPr marL="342900" indent="-342900">
              <a:buFont typeface="Arial" panose="020B0604020202020204" pitchFamily="34" charset="0"/>
              <a:buChar char="•"/>
            </a:pPr>
            <a:r>
              <a:rPr lang="en-US" sz="1400" dirty="0"/>
              <a:t>No order, distinct categories</a:t>
            </a:r>
          </a:p>
          <a:p>
            <a:pPr marL="342900" indent="-342900">
              <a:buFont typeface="Arial" panose="020B0604020202020204" pitchFamily="34" charset="0"/>
              <a:buChar char="•"/>
            </a:pPr>
            <a:r>
              <a:rPr lang="en-US" sz="1400" dirty="0"/>
              <a:t>Examples:</a:t>
            </a:r>
          </a:p>
          <a:p>
            <a:pPr marL="800100" lvl="1" indent="-342900">
              <a:buFont typeface="Arial" panose="020B0604020202020204" pitchFamily="34" charset="0"/>
              <a:buChar char="•"/>
            </a:pPr>
            <a:r>
              <a:rPr lang="en-US" sz="1400" dirty="0"/>
              <a:t>Color (red, blue)</a:t>
            </a:r>
          </a:p>
          <a:p>
            <a:pPr marL="800100" lvl="1" indent="-342900">
              <a:buFont typeface="Arial" panose="020B0604020202020204" pitchFamily="34" charset="0"/>
              <a:buChar char="•"/>
            </a:pPr>
            <a:r>
              <a:rPr lang="en-US" sz="1400" dirty="0"/>
              <a:t>Continent</a:t>
            </a:r>
          </a:p>
          <a:p>
            <a:pPr marL="800100" lvl="1" indent="-342900">
              <a:buFont typeface="Arial" panose="020B0604020202020204" pitchFamily="34" charset="0"/>
              <a:buChar char="•"/>
            </a:pPr>
            <a:endParaRPr lang="en-US" sz="1400" dirty="0"/>
          </a:p>
        </p:txBody>
      </p:sp>
    </p:spTree>
    <p:extLst>
      <p:ext uri="{BB962C8B-B14F-4D97-AF65-F5344CB8AC3E}">
        <p14:creationId xmlns:p14="http://schemas.microsoft.com/office/powerpoint/2010/main" val="3417256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9E0D1-C2B5-70EE-2FA5-B889888BA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BB8696-4E31-9A41-19E4-4599A723E7B2}"/>
              </a:ext>
            </a:extLst>
          </p:cNvPr>
          <p:cNvSpPr>
            <a:spLocks noGrp="1"/>
          </p:cNvSpPr>
          <p:nvPr>
            <p:ph type="title"/>
          </p:nvPr>
        </p:nvSpPr>
        <p:spPr>
          <a:xfrm>
            <a:off x="480001" y="414261"/>
            <a:ext cx="10983995" cy="767425"/>
          </a:xfrm>
        </p:spPr>
        <p:txBody>
          <a:bodyPr/>
          <a:lstStyle/>
          <a:p>
            <a:r>
              <a:rPr lang="en-US" dirty="0"/>
              <a:t>Numerical and categorical variables</a:t>
            </a:r>
          </a:p>
        </p:txBody>
      </p:sp>
      <p:sp>
        <p:nvSpPr>
          <p:cNvPr id="4" name="TextBox 3">
            <a:extLst>
              <a:ext uri="{FF2B5EF4-FFF2-40B4-BE49-F238E27FC236}">
                <a16:creationId xmlns:a16="http://schemas.microsoft.com/office/drawing/2014/main" id="{166E68AF-6978-70BA-E784-AC368E83AAC9}"/>
              </a:ext>
            </a:extLst>
          </p:cNvPr>
          <p:cNvSpPr txBox="1"/>
          <p:nvPr/>
        </p:nvSpPr>
        <p:spPr>
          <a:xfrm>
            <a:off x="604002" y="1265769"/>
            <a:ext cx="10983995" cy="1015663"/>
          </a:xfrm>
          <a:prstGeom prst="rect">
            <a:avLst/>
          </a:prstGeom>
          <a:noFill/>
        </p:spPr>
        <p:txBody>
          <a:bodyPr wrap="square">
            <a:spAutoFit/>
          </a:bodyPr>
          <a:lstStyle/>
          <a:p>
            <a:r>
              <a:rPr lang="en-US" sz="2000" dirty="0"/>
              <a:t>In Data Science, we often treat numerical and categorical features using different techniques:</a:t>
            </a:r>
          </a:p>
          <a:p>
            <a:pPr marL="342900" indent="-342900">
              <a:buFont typeface="Arial" panose="020B0604020202020204" pitchFamily="34" charset="0"/>
              <a:buChar char="•"/>
            </a:pPr>
            <a:r>
              <a:rPr lang="en-US" sz="2000" dirty="0"/>
              <a:t>Same applies to data visualization</a:t>
            </a:r>
          </a:p>
          <a:p>
            <a:pPr marL="342900" indent="-342900">
              <a:buFont typeface="Arial" panose="020B0604020202020204" pitchFamily="34" charset="0"/>
              <a:buChar char="•"/>
            </a:pPr>
            <a:r>
              <a:rPr lang="en-US" sz="2000" dirty="0"/>
              <a:t>For the future: we often transform numerical features to categorical and vice versa!</a:t>
            </a:r>
          </a:p>
        </p:txBody>
      </p:sp>
      <p:sp>
        <p:nvSpPr>
          <p:cNvPr id="3" name="Rectangle 2">
            <a:extLst>
              <a:ext uri="{FF2B5EF4-FFF2-40B4-BE49-F238E27FC236}">
                <a16:creationId xmlns:a16="http://schemas.microsoft.com/office/drawing/2014/main" id="{71C0EF13-7927-AB28-6802-2F127B5016AB}"/>
              </a:ext>
            </a:extLst>
          </p:cNvPr>
          <p:cNvSpPr/>
          <p:nvPr/>
        </p:nvSpPr>
        <p:spPr>
          <a:xfrm>
            <a:off x="3951193" y="3216913"/>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Numerical</a:t>
            </a:r>
          </a:p>
        </p:txBody>
      </p:sp>
      <p:sp>
        <p:nvSpPr>
          <p:cNvPr id="5" name="Rectangle 4">
            <a:extLst>
              <a:ext uri="{FF2B5EF4-FFF2-40B4-BE49-F238E27FC236}">
                <a16:creationId xmlns:a16="http://schemas.microsoft.com/office/drawing/2014/main" id="{87C1BA2B-5C9E-D0AC-AED1-E2500501B1DF}"/>
              </a:ext>
            </a:extLst>
          </p:cNvPr>
          <p:cNvSpPr/>
          <p:nvPr/>
        </p:nvSpPr>
        <p:spPr>
          <a:xfrm>
            <a:off x="6748181" y="326091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Categorical</a:t>
            </a:r>
          </a:p>
        </p:txBody>
      </p:sp>
      <p:sp>
        <p:nvSpPr>
          <p:cNvPr id="8" name="Rectangle 7">
            <a:extLst>
              <a:ext uri="{FF2B5EF4-FFF2-40B4-BE49-F238E27FC236}">
                <a16:creationId xmlns:a16="http://schemas.microsoft.com/office/drawing/2014/main" id="{F02C1B1C-C485-745A-6633-AFE6C43CC563}"/>
              </a:ext>
            </a:extLst>
          </p:cNvPr>
          <p:cNvSpPr/>
          <p:nvPr/>
        </p:nvSpPr>
        <p:spPr>
          <a:xfrm>
            <a:off x="3099547"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Continuous</a:t>
            </a:r>
          </a:p>
        </p:txBody>
      </p:sp>
      <p:sp>
        <p:nvSpPr>
          <p:cNvPr id="9" name="Rectangle 8">
            <a:extLst>
              <a:ext uri="{FF2B5EF4-FFF2-40B4-BE49-F238E27FC236}">
                <a16:creationId xmlns:a16="http://schemas.microsoft.com/office/drawing/2014/main" id="{30E02A58-B6FF-2F85-5C85-20CB9B80E3B6}"/>
              </a:ext>
            </a:extLst>
          </p:cNvPr>
          <p:cNvSpPr/>
          <p:nvPr/>
        </p:nvSpPr>
        <p:spPr>
          <a:xfrm>
            <a:off x="4654921"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Discrete</a:t>
            </a:r>
          </a:p>
        </p:txBody>
      </p:sp>
      <p:sp>
        <p:nvSpPr>
          <p:cNvPr id="10" name="Rectangle 9">
            <a:extLst>
              <a:ext uri="{FF2B5EF4-FFF2-40B4-BE49-F238E27FC236}">
                <a16:creationId xmlns:a16="http://schemas.microsoft.com/office/drawing/2014/main" id="{B1335D3C-5D5D-2B21-E8F5-8E92FA7D7DE1}"/>
              </a:ext>
            </a:extLst>
          </p:cNvPr>
          <p:cNvSpPr/>
          <p:nvPr/>
        </p:nvSpPr>
        <p:spPr>
          <a:xfrm>
            <a:off x="6205814"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Ordinal</a:t>
            </a:r>
          </a:p>
        </p:txBody>
      </p:sp>
      <p:sp>
        <p:nvSpPr>
          <p:cNvPr id="15" name="Rectangle 14">
            <a:extLst>
              <a:ext uri="{FF2B5EF4-FFF2-40B4-BE49-F238E27FC236}">
                <a16:creationId xmlns:a16="http://schemas.microsoft.com/office/drawing/2014/main" id="{42DA0DB7-0AF1-7398-3EFB-1B2FDD38A538}"/>
              </a:ext>
            </a:extLst>
          </p:cNvPr>
          <p:cNvSpPr/>
          <p:nvPr/>
        </p:nvSpPr>
        <p:spPr>
          <a:xfrm>
            <a:off x="7816097" y="398186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Nominal</a:t>
            </a:r>
          </a:p>
        </p:txBody>
      </p:sp>
      <p:cxnSp>
        <p:nvCxnSpPr>
          <p:cNvPr id="18" name="Straight Arrow Connector 17">
            <a:extLst>
              <a:ext uri="{FF2B5EF4-FFF2-40B4-BE49-F238E27FC236}">
                <a16:creationId xmlns:a16="http://schemas.microsoft.com/office/drawing/2014/main" id="{FEE4EDC6-669A-AA7F-D300-21DD112A3C8F}"/>
              </a:ext>
            </a:extLst>
          </p:cNvPr>
          <p:cNvCxnSpPr>
            <a:stCxn id="3" idx="2"/>
            <a:endCxn id="8" idx="0"/>
          </p:cNvCxnSpPr>
          <p:nvPr/>
        </p:nvCxnSpPr>
        <p:spPr>
          <a:xfrm flipH="1">
            <a:off x="3798794" y="3727901"/>
            <a:ext cx="851646" cy="253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104900E-0E8E-4E81-271D-CD3F64B7A9AA}"/>
              </a:ext>
            </a:extLst>
          </p:cNvPr>
          <p:cNvCxnSpPr>
            <a:cxnSpLocks/>
            <a:stCxn id="3" idx="2"/>
            <a:endCxn id="9" idx="0"/>
          </p:cNvCxnSpPr>
          <p:nvPr/>
        </p:nvCxnSpPr>
        <p:spPr>
          <a:xfrm>
            <a:off x="4650440" y="3727901"/>
            <a:ext cx="703728" cy="253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D694DF36-E8DC-3C6C-7CF3-86086CF9820F}"/>
              </a:ext>
            </a:extLst>
          </p:cNvPr>
          <p:cNvCxnSpPr>
            <a:cxnSpLocks/>
            <a:stCxn id="26" idx="2"/>
            <a:endCxn id="3" idx="0"/>
          </p:cNvCxnSpPr>
          <p:nvPr/>
        </p:nvCxnSpPr>
        <p:spPr>
          <a:xfrm flipH="1">
            <a:off x="4650440" y="2840992"/>
            <a:ext cx="1398494" cy="3759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98C2AA7E-779F-DBD4-EA7B-08416168CD0F}"/>
              </a:ext>
            </a:extLst>
          </p:cNvPr>
          <p:cNvCxnSpPr>
            <a:cxnSpLocks/>
            <a:stCxn id="26" idx="2"/>
            <a:endCxn id="5" idx="0"/>
          </p:cNvCxnSpPr>
          <p:nvPr/>
        </p:nvCxnSpPr>
        <p:spPr>
          <a:xfrm>
            <a:off x="6048934" y="2840992"/>
            <a:ext cx="1398494" cy="4199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D56A8D9E-DC88-136C-FC70-8350188E9F46}"/>
              </a:ext>
            </a:extLst>
          </p:cNvPr>
          <p:cNvCxnSpPr>
            <a:cxnSpLocks/>
            <a:stCxn id="5" idx="2"/>
            <a:endCxn id="10" idx="0"/>
          </p:cNvCxnSpPr>
          <p:nvPr/>
        </p:nvCxnSpPr>
        <p:spPr>
          <a:xfrm flipH="1">
            <a:off x="6905061" y="3771902"/>
            <a:ext cx="542367" cy="20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93E5F7F9-F490-4848-37F4-205BB2FF42DC}"/>
              </a:ext>
            </a:extLst>
          </p:cNvPr>
          <p:cNvCxnSpPr>
            <a:cxnSpLocks/>
            <a:stCxn id="5" idx="2"/>
            <a:endCxn id="15" idx="0"/>
          </p:cNvCxnSpPr>
          <p:nvPr/>
        </p:nvCxnSpPr>
        <p:spPr>
          <a:xfrm>
            <a:off x="7447428" y="3771902"/>
            <a:ext cx="1067916" cy="20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5F5B4FE6-49AE-3EBA-8E98-952A081EDD55}"/>
              </a:ext>
            </a:extLst>
          </p:cNvPr>
          <p:cNvSpPr/>
          <p:nvPr/>
        </p:nvSpPr>
        <p:spPr>
          <a:xfrm>
            <a:off x="5349687" y="2330004"/>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Variables</a:t>
            </a:r>
          </a:p>
        </p:txBody>
      </p:sp>
    </p:spTree>
    <p:extLst>
      <p:ext uri="{BB962C8B-B14F-4D97-AF65-F5344CB8AC3E}">
        <p14:creationId xmlns:p14="http://schemas.microsoft.com/office/powerpoint/2010/main" val="2656966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1CA34-E039-82B6-E74E-FDE029D5DF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D7257-B4BA-9CC7-29B5-FF5075E5F5A7}"/>
              </a:ext>
            </a:extLst>
          </p:cNvPr>
          <p:cNvSpPr>
            <a:spLocks noGrp="1"/>
          </p:cNvSpPr>
          <p:nvPr>
            <p:ph type="title"/>
          </p:nvPr>
        </p:nvSpPr>
        <p:spPr>
          <a:xfrm>
            <a:off x="480001" y="414261"/>
            <a:ext cx="10983995" cy="767425"/>
          </a:xfrm>
        </p:spPr>
        <p:txBody>
          <a:bodyPr/>
          <a:lstStyle/>
          <a:p>
            <a:r>
              <a:rPr lang="en-US" dirty="0"/>
              <a:t>Guess the variable type</a:t>
            </a:r>
          </a:p>
        </p:txBody>
      </p:sp>
      <p:sp>
        <p:nvSpPr>
          <p:cNvPr id="3" name="Rectangle 2">
            <a:extLst>
              <a:ext uri="{FF2B5EF4-FFF2-40B4-BE49-F238E27FC236}">
                <a16:creationId xmlns:a16="http://schemas.microsoft.com/office/drawing/2014/main" id="{C26B0320-0F73-818A-658E-818AFA89CFE0}"/>
              </a:ext>
            </a:extLst>
          </p:cNvPr>
          <p:cNvSpPr/>
          <p:nvPr/>
        </p:nvSpPr>
        <p:spPr>
          <a:xfrm>
            <a:off x="3998259" y="4315909"/>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Numerical</a:t>
            </a:r>
          </a:p>
        </p:txBody>
      </p:sp>
      <p:sp>
        <p:nvSpPr>
          <p:cNvPr id="5" name="Rectangle 4">
            <a:extLst>
              <a:ext uri="{FF2B5EF4-FFF2-40B4-BE49-F238E27FC236}">
                <a16:creationId xmlns:a16="http://schemas.microsoft.com/office/drawing/2014/main" id="{7C605CD6-07F9-F1DA-7105-0AF52AE002E0}"/>
              </a:ext>
            </a:extLst>
          </p:cNvPr>
          <p:cNvSpPr/>
          <p:nvPr/>
        </p:nvSpPr>
        <p:spPr>
          <a:xfrm>
            <a:off x="6795247" y="4359910"/>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Categorical</a:t>
            </a:r>
          </a:p>
        </p:txBody>
      </p:sp>
      <p:sp>
        <p:nvSpPr>
          <p:cNvPr id="8" name="Rectangle 7">
            <a:extLst>
              <a:ext uri="{FF2B5EF4-FFF2-40B4-BE49-F238E27FC236}">
                <a16:creationId xmlns:a16="http://schemas.microsoft.com/office/drawing/2014/main" id="{517F7C4B-2BFC-BD23-E754-C0A4934270D3}"/>
              </a:ext>
            </a:extLst>
          </p:cNvPr>
          <p:cNvSpPr/>
          <p:nvPr/>
        </p:nvSpPr>
        <p:spPr>
          <a:xfrm>
            <a:off x="3146613" y="5080860"/>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Continuous</a:t>
            </a:r>
          </a:p>
        </p:txBody>
      </p:sp>
      <p:sp>
        <p:nvSpPr>
          <p:cNvPr id="9" name="Rectangle 8">
            <a:extLst>
              <a:ext uri="{FF2B5EF4-FFF2-40B4-BE49-F238E27FC236}">
                <a16:creationId xmlns:a16="http://schemas.microsoft.com/office/drawing/2014/main" id="{33340776-168C-8756-E2F9-84EAA2AD3A39}"/>
              </a:ext>
            </a:extLst>
          </p:cNvPr>
          <p:cNvSpPr/>
          <p:nvPr/>
        </p:nvSpPr>
        <p:spPr>
          <a:xfrm>
            <a:off x="4701987" y="5080860"/>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Discrete</a:t>
            </a:r>
          </a:p>
        </p:txBody>
      </p:sp>
      <p:sp>
        <p:nvSpPr>
          <p:cNvPr id="10" name="Rectangle 9">
            <a:extLst>
              <a:ext uri="{FF2B5EF4-FFF2-40B4-BE49-F238E27FC236}">
                <a16:creationId xmlns:a16="http://schemas.microsoft.com/office/drawing/2014/main" id="{BC7891E1-D570-9729-93ED-E3A65CC5099E}"/>
              </a:ext>
            </a:extLst>
          </p:cNvPr>
          <p:cNvSpPr/>
          <p:nvPr/>
        </p:nvSpPr>
        <p:spPr>
          <a:xfrm>
            <a:off x="6252880" y="5080860"/>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Ordinal</a:t>
            </a:r>
          </a:p>
        </p:txBody>
      </p:sp>
      <p:sp>
        <p:nvSpPr>
          <p:cNvPr id="15" name="Rectangle 14">
            <a:extLst>
              <a:ext uri="{FF2B5EF4-FFF2-40B4-BE49-F238E27FC236}">
                <a16:creationId xmlns:a16="http://schemas.microsoft.com/office/drawing/2014/main" id="{03F60B64-A269-5365-A517-1F182C567959}"/>
              </a:ext>
            </a:extLst>
          </p:cNvPr>
          <p:cNvSpPr/>
          <p:nvPr/>
        </p:nvSpPr>
        <p:spPr>
          <a:xfrm>
            <a:off x="7863163" y="5080860"/>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Nominal</a:t>
            </a:r>
          </a:p>
        </p:txBody>
      </p:sp>
      <p:cxnSp>
        <p:nvCxnSpPr>
          <p:cNvPr id="18" name="Straight Arrow Connector 17">
            <a:extLst>
              <a:ext uri="{FF2B5EF4-FFF2-40B4-BE49-F238E27FC236}">
                <a16:creationId xmlns:a16="http://schemas.microsoft.com/office/drawing/2014/main" id="{8DF7CF80-53DC-F111-5A90-5578986E25BF}"/>
              </a:ext>
            </a:extLst>
          </p:cNvPr>
          <p:cNvCxnSpPr>
            <a:stCxn id="3" idx="2"/>
            <a:endCxn id="8" idx="0"/>
          </p:cNvCxnSpPr>
          <p:nvPr/>
        </p:nvCxnSpPr>
        <p:spPr>
          <a:xfrm flipH="1">
            <a:off x="3845860" y="4826897"/>
            <a:ext cx="851646" cy="253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33E19CDC-A880-76DE-6018-5BEA9140B743}"/>
              </a:ext>
            </a:extLst>
          </p:cNvPr>
          <p:cNvCxnSpPr>
            <a:cxnSpLocks/>
            <a:stCxn id="3" idx="2"/>
            <a:endCxn id="9" idx="0"/>
          </p:cNvCxnSpPr>
          <p:nvPr/>
        </p:nvCxnSpPr>
        <p:spPr>
          <a:xfrm>
            <a:off x="4697506" y="4826897"/>
            <a:ext cx="703728" cy="253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7E4A59C5-10B7-9102-9640-5ADB10B5C1C1}"/>
              </a:ext>
            </a:extLst>
          </p:cNvPr>
          <p:cNvCxnSpPr>
            <a:cxnSpLocks/>
            <a:stCxn id="26" idx="2"/>
            <a:endCxn id="3" idx="0"/>
          </p:cNvCxnSpPr>
          <p:nvPr/>
        </p:nvCxnSpPr>
        <p:spPr>
          <a:xfrm flipH="1">
            <a:off x="4697506" y="3939988"/>
            <a:ext cx="1398494" cy="3759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36D6C2C8-F354-8224-0BEE-30203E5FB46B}"/>
              </a:ext>
            </a:extLst>
          </p:cNvPr>
          <p:cNvCxnSpPr>
            <a:cxnSpLocks/>
            <a:stCxn id="26" idx="2"/>
            <a:endCxn id="5" idx="0"/>
          </p:cNvCxnSpPr>
          <p:nvPr/>
        </p:nvCxnSpPr>
        <p:spPr>
          <a:xfrm>
            <a:off x="6096000" y="3939988"/>
            <a:ext cx="1398494" cy="4199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67FC5B21-3D63-8675-9341-FD4286947604}"/>
              </a:ext>
            </a:extLst>
          </p:cNvPr>
          <p:cNvCxnSpPr>
            <a:cxnSpLocks/>
            <a:stCxn id="5" idx="2"/>
            <a:endCxn id="10" idx="0"/>
          </p:cNvCxnSpPr>
          <p:nvPr/>
        </p:nvCxnSpPr>
        <p:spPr>
          <a:xfrm flipH="1">
            <a:off x="6952127" y="4870898"/>
            <a:ext cx="542367" cy="20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B6A8631E-834B-E4B9-CC84-F1C51BAB8D02}"/>
              </a:ext>
            </a:extLst>
          </p:cNvPr>
          <p:cNvCxnSpPr>
            <a:cxnSpLocks/>
            <a:stCxn id="5" idx="2"/>
            <a:endCxn id="15" idx="0"/>
          </p:cNvCxnSpPr>
          <p:nvPr/>
        </p:nvCxnSpPr>
        <p:spPr>
          <a:xfrm>
            <a:off x="7494494" y="4870898"/>
            <a:ext cx="1067916" cy="20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48CD4287-202B-C429-38DF-CAAA77A76026}"/>
              </a:ext>
            </a:extLst>
          </p:cNvPr>
          <p:cNvSpPr/>
          <p:nvPr/>
        </p:nvSpPr>
        <p:spPr>
          <a:xfrm>
            <a:off x="5396753" y="3429000"/>
            <a:ext cx="1398494" cy="5109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tx1"/>
                </a:solidFill>
              </a:rPr>
              <a:t>Variables</a:t>
            </a:r>
          </a:p>
        </p:txBody>
      </p:sp>
      <p:sp>
        <p:nvSpPr>
          <p:cNvPr id="6" name="TextBox 5">
            <a:extLst>
              <a:ext uri="{FF2B5EF4-FFF2-40B4-BE49-F238E27FC236}">
                <a16:creationId xmlns:a16="http://schemas.microsoft.com/office/drawing/2014/main" id="{C567A507-635F-DC25-CFAF-5DAAA18AE4E1}"/>
              </a:ext>
            </a:extLst>
          </p:cNvPr>
          <p:cNvSpPr txBox="1"/>
          <p:nvPr/>
        </p:nvSpPr>
        <p:spPr>
          <a:xfrm>
            <a:off x="604002" y="1265769"/>
            <a:ext cx="10983995" cy="1938992"/>
          </a:xfrm>
          <a:prstGeom prst="rect">
            <a:avLst/>
          </a:prstGeom>
          <a:noFill/>
        </p:spPr>
        <p:txBody>
          <a:bodyPr wrap="square">
            <a:spAutoFit/>
          </a:bodyPr>
          <a:lstStyle/>
          <a:p>
            <a:pPr marL="342900" indent="-342900">
              <a:buFont typeface="Arial" panose="020B0604020202020204" pitchFamily="34" charset="0"/>
              <a:buChar char="•"/>
            </a:pPr>
            <a:r>
              <a:rPr lang="en-US" sz="2000" dirty="0"/>
              <a:t>Length of video</a:t>
            </a:r>
          </a:p>
          <a:p>
            <a:pPr marL="342900" indent="-342900">
              <a:buFont typeface="Arial" panose="020B0604020202020204" pitchFamily="34" charset="0"/>
              <a:buChar char="•"/>
            </a:pPr>
            <a:r>
              <a:rPr lang="en-US" sz="2000" dirty="0"/>
              <a:t>“Rate this order from 1 to 5”</a:t>
            </a:r>
          </a:p>
          <a:p>
            <a:pPr marL="342900" indent="-342900">
              <a:buFont typeface="Arial" panose="020B0604020202020204" pitchFamily="34" charset="0"/>
              <a:buChar char="•"/>
            </a:pPr>
            <a:r>
              <a:rPr lang="en-US" sz="2000" dirty="0"/>
              <a:t>Number of likes under the reels</a:t>
            </a:r>
          </a:p>
          <a:p>
            <a:pPr marL="342900" indent="-342900">
              <a:buFont typeface="Arial" panose="020B0604020202020204" pitchFamily="34" charset="0"/>
              <a:buChar char="•"/>
            </a:pPr>
            <a:r>
              <a:rPr lang="en-US" sz="2000" dirty="0"/>
              <a:t>Type of account: ”business”, “personal”</a:t>
            </a:r>
          </a:p>
          <a:p>
            <a:pPr marL="342900" indent="-342900">
              <a:buFont typeface="Arial" panose="020B0604020202020204" pitchFamily="34" charset="0"/>
              <a:buChar char="•"/>
            </a:pPr>
            <a:r>
              <a:rPr lang="en-US" sz="2000" dirty="0"/>
              <a:t>Pain level (while solving derivatives): “None”, “Mild”, “Moderate”, “Severe”</a:t>
            </a:r>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1380916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FC39B-87BD-2E3D-A31A-BA974DFEFEBF}"/>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E5AB5A2A-D364-5019-6A47-765BA7B62ACD}"/>
              </a:ext>
            </a:extLst>
          </p:cNvPr>
          <p:cNvPicPr>
            <a:picLocks noChangeAspect="1"/>
          </p:cNvPicPr>
          <p:nvPr/>
        </p:nvPicPr>
        <p:blipFill>
          <a:blip r:embed="rId2"/>
          <a:stretch>
            <a:fillRect/>
          </a:stretch>
        </p:blipFill>
        <p:spPr>
          <a:xfrm>
            <a:off x="2952750" y="3111500"/>
            <a:ext cx="6286500" cy="3746500"/>
          </a:xfrm>
          <a:prstGeom prst="rect">
            <a:avLst/>
          </a:prstGeom>
        </p:spPr>
      </p:pic>
      <p:sp>
        <p:nvSpPr>
          <p:cNvPr id="2" name="Title 1">
            <a:extLst>
              <a:ext uri="{FF2B5EF4-FFF2-40B4-BE49-F238E27FC236}">
                <a16:creationId xmlns:a16="http://schemas.microsoft.com/office/drawing/2014/main" id="{9F618007-69FB-977D-E3D3-8B3EF88DF74A}"/>
              </a:ext>
            </a:extLst>
          </p:cNvPr>
          <p:cNvSpPr>
            <a:spLocks noGrp="1"/>
          </p:cNvSpPr>
          <p:nvPr>
            <p:ph type="title"/>
          </p:nvPr>
        </p:nvSpPr>
        <p:spPr>
          <a:xfrm>
            <a:off x="480002" y="414261"/>
            <a:ext cx="11102398" cy="767425"/>
          </a:xfrm>
        </p:spPr>
        <p:txBody>
          <a:bodyPr>
            <a:normAutofit/>
          </a:bodyPr>
          <a:lstStyle/>
          <a:p>
            <a:r>
              <a:rPr lang="en-US" dirty="0"/>
              <a:t>Visualizing numerical data</a:t>
            </a:r>
          </a:p>
        </p:txBody>
      </p:sp>
      <p:cxnSp>
        <p:nvCxnSpPr>
          <p:cNvPr id="8" name="Straight Arrow Connector 7">
            <a:extLst>
              <a:ext uri="{FF2B5EF4-FFF2-40B4-BE49-F238E27FC236}">
                <a16:creationId xmlns:a16="http://schemas.microsoft.com/office/drawing/2014/main" id="{9C197094-AB94-0139-F7C9-E5D589C80A67}"/>
              </a:ext>
            </a:extLst>
          </p:cNvPr>
          <p:cNvCxnSpPr>
            <a:cxnSpLocks/>
          </p:cNvCxnSpPr>
          <p:nvPr/>
        </p:nvCxnSpPr>
        <p:spPr>
          <a:xfrm flipV="1">
            <a:off x="2327031" y="4285325"/>
            <a:ext cx="3182815" cy="6994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C8D7F02F-1E1C-7E92-7480-302BBC309B78}"/>
              </a:ext>
            </a:extLst>
          </p:cNvPr>
          <p:cNvSpPr txBox="1"/>
          <p:nvPr/>
        </p:nvSpPr>
        <p:spPr>
          <a:xfrm>
            <a:off x="1033828" y="4573040"/>
            <a:ext cx="1776047" cy="646331"/>
          </a:xfrm>
          <a:prstGeom prst="rect">
            <a:avLst/>
          </a:prstGeom>
          <a:noFill/>
        </p:spPr>
        <p:txBody>
          <a:bodyPr wrap="square" rtlCol="0">
            <a:spAutoFit/>
          </a:bodyPr>
          <a:lstStyle/>
          <a:p>
            <a:r>
              <a:rPr lang="en-US" dirty="0"/>
              <a:t>“Symmetric” distribution</a:t>
            </a:r>
          </a:p>
        </p:txBody>
      </p:sp>
      <p:graphicFrame>
        <p:nvGraphicFramePr>
          <p:cNvPr id="3" name="Content Placeholder 5">
            <a:extLst>
              <a:ext uri="{FF2B5EF4-FFF2-40B4-BE49-F238E27FC236}">
                <a16:creationId xmlns:a16="http://schemas.microsoft.com/office/drawing/2014/main" id="{19B08C53-8419-75B5-1F6B-6FCA70FA1125}"/>
              </a:ext>
            </a:extLst>
          </p:cNvPr>
          <p:cNvGraphicFramePr>
            <a:graphicFrameLocks/>
          </p:cNvGraphicFramePr>
          <p:nvPr>
            <p:extLst>
              <p:ext uri="{D42A27DB-BD31-4B8C-83A1-F6EECF244321}">
                <p14:modId xmlns:p14="http://schemas.microsoft.com/office/powerpoint/2010/main" val="1325984774"/>
              </p:ext>
            </p:extLst>
          </p:nvPr>
        </p:nvGraphicFramePr>
        <p:xfrm>
          <a:off x="359998" y="1021733"/>
          <a:ext cx="11222402" cy="1915840"/>
        </p:xfrm>
        <a:graphic>
          <a:graphicData uri="http://schemas.openxmlformats.org/drawingml/2006/table">
            <a:tbl>
              <a:tblPr firstRow="1" bandRow="1">
                <a:tableStyleId>{5C22544A-7EE6-4342-B048-85BDC9FD1C3A}</a:tableStyleId>
              </a:tblPr>
              <a:tblGrid>
                <a:gridCol w="11222402">
                  <a:extLst>
                    <a:ext uri="{9D8B030D-6E8A-4147-A177-3AD203B41FA5}">
                      <a16:colId xmlns:a16="http://schemas.microsoft.com/office/drawing/2014/main" val="2806566759"/>
                    </a:ext>
                  </a:extLst>
                </a:gridCol>
              </a:tblGrid>
              <a:tr h="5442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574495">
                <a:tc>
                  <a:txBody>
                    <a:bodyPr/>
                    <a:lstStyle/>
                    <a:p>
                      <a:r>
                        <a:rPr lang="en-US" sz="2800" b="1" dirty="0"/>
                        <a:t>Distribution </a:t>
                      </a:r>
                      <a:r>
                        <a:rPr lang="en-US" sz="2800" b="0" dirty="0"/>
                        <a:t>refers to the spread of the data over a number line. This in effect can be approximated with a mathematical structure – a probability distribution function, one that we will try to characterize with various tools.</a:t>
                      </a:r>
                    </a:p>
                  </a:txBody>
                  <a:tcPr>
                    <a:solidFill>
                      <a:srgbClr val="F6D0CC"/>
                    </a:solidFill>
                  </a:tcPr>
                </a:tc>
                <a:extLst>
                  <a:ext uri="{0D108BD9-81ED-4DB2-BD59-A6C34878D82A}">
                    <a16:rowId xmlns:a16="http://schemas.microsoft.com/office/drawing/2014/main" val="2257841623"/>
                  </a:ext>
                </a:extLst>
              </a:tr>
            </a:tbl>
          </a:graphicData>
        </a:graphic>
      </p:graphicFrame>
    </p:spTree>
    <p:extLst>
      <p:ext uri="{BB962C8B-B14F-4D97-AF65-F5344CB8AC3E}">
        <p14:creationId xmlns:p14="http://schemas.microsoft.com/office/powerpoint/2010/main" val="304377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760A4-BD9C-D4EA-CE21-733F9A6807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C49F3CD-F358-196A-7A66-7E1C90996518}"/>
              </a:ext>
            </a:extLst>
          </p:cNvPr>
          <p:cNvSpPr txBox="1"/>
          <p:nvPr/>
        </p:nvSpPr>
        <p:spPr>
          <a:xfrm>
            <a:off x="728002" y="1181686"/>
            <a:ext cx="10983995" cy="2246769"/>
          </a:xfrm>
          <a:prstGeom prst="rect">
            <a:avLst/>
          </a:prstGeom>
          <a:noFill/>
        </p:spPr>
        <p:txBody>
          <a:bodyPr wrap="square">
            <a:spAutoFit/>
          </a:bodyPr>
          <a:lstStyle/>
          <a:p>
            <a:r>
              <a:rPr lang="en-US" sz="2000" dirty="0"/>
              <a:t>How to visualize distributions:</a:t>
            </a:r>
          </a:p>
          <a:p>
            <a:pPr marL="342900" indent="-342900">
              <a:buFont typeface="Arial" panose="020B0604020202020204" pitchFamily="34" charset="0"/>
              <a:buChar char="•"/>
            </a:pPr>
            <a:r>
              <a:rPr lang="en-US" sz="2000" dirty="0"/>
              <a:t>Bar plot</a:t>
            </a:r>
          </a:p>
          <a:p>
            <a:pPr marL="342900" indent="-342900">
              <a:buFont typeface="Arial" panose="020B0604020202020204" pitchFamily="34" charset="0"/>
              <a:buChar char="•"/>
            </a:pPr>
            <a:r>
              <a:rPr lang="en-US" sz="2000" dirty="0"/>
              <a:t>Boxplot</a:t>
            </a:r>
          </a:p>
          <a:p>
            <a:pPr marL="342900" indent="-342900">
              <a:buFont typeface="Arial" panose="020B0604020202020204" pitchFamily="34" charset="0"/>
              <a:buChar char="•"/>
            </a:pPr>
            <a:r>
              <a:rPr lang="en-US" sz="2000" dirty="0" err="1"/>
              <a:t>Violinplot</a:t>
            </a:r>
            <a:endParaRPr lang="en-US" sz="2000" dirty="0"/>
          </a:p>
          <a:p>
            <a:pPr marL="342900" indent="-342900">
              <a:buFont typeface="Arial" panose="020B0604020202020204" pitchFamily="34" charset="0"/>
              <a:buChar char="•"/>
            </a:pPr>
            <a:r>
              <a:rPr lang="en-US" sz="2000" dirty="0" err="1"/>
              <a:t>Stripchart</a:t>
            </a:r>
            <a:endParaRPr lang="en-US" sz="2000" dirty="0"/>
          </a:p>
          <a:p>
            <a:pPr marL="342900" indent="-342900">
              <a:buFont typeface="Arial" panose="020B0604020202020204" pitchFamily="34" charset="0"/>
              <a:buChar char="•"/>
            </a:pPr>
            <a:r>
              <a:rPr lang="en-US" sz="2000" dirty="0"/>
              <a:t>…</a:t>
            </a:r>
          </a:p>
          <a:p>
            <a:pPr marL="342900" indent="-342900">
              <a:buFont typeface="Arial" panose="020B0604020202020204" pitchFamily="34" charset="0"/>
              <a:buChar char="•"/>
            </a:pPr>
            <a:endParaRPr lang="en-US" sz="2000" dirty="0"/>
          </a:p>
        </p:txBody>
      </p:sp>
      <p:sp>
        <p:nvSpPr>
          <p:cNvPr id="7" name="Title 1">
            <a:extLst>
              <a:ext uri="{FF2B5EF4-FFF2-40B4-BE49-F238E27FC236}">
                <a16:creationId xmlns:a16="http://schemas.microsoft.com/office/drawing/2014/main" id="{9E4B638F-53ED-8B2A-325B-2D148CF731FB}"/>
              </a:ext>
            </a:extLst>
          </p:cNvPr>
          <p:cNvSpPr>
            <a:spLocks noGrp="1"/>
          </p:cNvSpPr>
          <p:nvPr>
            <p:ph type="title"/>
          </p:nvPr>
        </p:nvSpPr>
        <p:spPr>
          <a:xfrm>
            <a:off x="480002" y="414261"/>
            <a:ext cx="11102398" cy="767425"/>
          </a:xfrm>
        </p:spPr>
        <p:txBody>
          <a:bodyPr>
            <a:normAutofit/>
          </a:bodyPr>
          <a:lstStyle/>
          <a:p>
            <a:r>
              <a:rPr lang="en-US" dirty="0"/>
              <a:t>Visualizing numerical data</a:t>
            </a:r>
          </a:p>
        </p:txBody>
      </p:sp>
    </p:spTree>
    <p:extLst>
      <p:ext uri="{BB962C8B-B14F-4D97-AF65-F5344CB8AC3E}">
        <p14:creationId xmlns:p14="http://schemas.microsoft.com/office/powerpoint/2010/main" val="3943316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BE091-7FD3-5F7D-70B6-89E98A33DC8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6F979A8-A22C-4377-BC41-9DDECF81B82B}"/>
              </a:ext>
            </a:extLst>
          </p:cNvPr>
          <p:cNvSpPr txBox="1"/>
          <p:nvPr/>
        </p:nvSpPr>
        <p:spPr>
          <a:xfrm>
            <a:off x="728002" y="1181686"/>
            <a:ext cx="10983995" cy="2246769"/>
          </a:xfrm>
          <a:prstGeom prst="rect">
            <a:avLst/>
          </a:prstGeom>
          <a:noFill/>
        </p:spPr>
        <p:txBody>
          <a:bodyPr wrap="square">
            <a:spAutoFit/>
          </a:bodyPr>
          <a:lstStyle/>
          <a:p>
            <a:r>
              <a:rPr lang="en-US" sz="2000" dirty="0"/>
              <a:t>How to visualize distributions of numerical variables:</a:t>
            </a:r>
          </a:p>
          <a:p>
            <a:pPr marL="342900" indent="-342900">
              <a:buFont typeface="Arial" panose="020B0604020202020204" pitchFamily="34" charset="0"/>
              <a:buChar char="•"/>
            </a:pPr>
            <a:r>
              <a:rPr lang="en-US" sz="2000" dirty="0"/>
              <a:t>Histogram</a:t>
            </a:r>
          </a:p>
          <a:p>
            <a:pPr marL="342900" indent="-342900">
              <a:buFont typeface="Arial" panose="020B0604020202020204" pitchFamily="34" charset="0"/>
              <a:buChar char="•"/>
            </a:pPr>
            <a:r>
              <a:rPr lang="en-US" sz="2000" dirty="0">
                <a:solidFill>
                  <a:schemeClr val="bg2">
                    <a:lumMod val="85000"/>
                  </a:schemeClr>
                </a:solidFill>
              </a:rPr>
              <a:t>Boxplot</a:t>
            </a:r>
          </a:p>
          <a:p>
            <a:pPr marL="342900" indent="-342900">
              <a:buFont typeface="Arial" panose="020B0604020202020204" pitchFamily="34" charset="0"/>
              <a:buChar char="•"/>
            </a:pPr>
            <a:r>
              <a:rPr lang="en-US" sz="2000" dirty="0" err="1">
                <a:solidFill>
                  <a:schemeClr val="bg2">
                    <a:lumMod val="85000"/>
                  </a:schemeClr>
                </a:solidFill>
              </a:rPr>
              <a:t>Violinplot</a:t>
            </a:r>
            <a:endParaRPr lang="en-US" sz="2000" dirty="0">
              <a:solidFill>
                <a:schemeClr val="bg2">
                  <a:lumMod val="85000"/>
                </a:schemeClr>
              </a:solidFill>
            </a:endParaRPr>
          </a:p>
          <a:p>
            <a:pPr marL="342900" indent="-342900">
              <a:buFont typeface="Arial" panose="020B0604020202020204" pitchFamily="34" charset="0"/>
              <a:buChar char="•"/>
            </a:pPr>
            <a:r>
              <a:rPr lang="en-US" sz="2000" dirty="0" err="1">
                <a:solidFill>
                  <a:schemeClr val="bg2">
                    <a:lumMod val="85000"/>
                  </a:schemeClr>
                </a:solidFill>
              </a:rPr>
              <a:t>Stripchart</a:t>
            </a:r>
            <a:endParaRPr lang="en-US" sz="2000" dirty="0">
              <a:solidFill>
                <a:schemeClr val="bg2">
                  <a:lumMod val="85000"/>
                </a:schemeClr>
              </a:solidFill>
            </a:endParaRPr>
          </a:p>
          <a:p>
            <a:pPr marL="342900" indent="-342900">
              <a:buFont typeface="Arial" panose="020B0604020202020204" pitchFamily="34" charset="0"/>
              <a:buChar char="•"/>
            </a:pPr>
            <a:r>
              <a:rPr lang="en-US" sz="2000" dirty="0">
                <a:solidFill>
                  <a:schemeClr val="bg2">
                    <a:lumMod val="85000"/>
                  </a:schemeClr>
                </a:solidFill>
              </a:rPr>
              <a:t>…</a:t>
            </a:r>
          </a:p>
          <a:p>
            <a:pPr marL="342900" indent="-342900">
              <a:buFont typeface="Arial" panose="020B0604020202020204" pitchFamily="34" charset="0"/>
              <a:buChar char="•"/>
            </a:pPr>
            <a:endParaRPr lang="en-US" sz="2000" dirty="0"/>
          </a:p>
        </p:txBody>
      </p:sp>
      <p:pic>
        <p:nvPicPr>
          <p:cNvPr id="6" name="Picture 5">
            <a:extLst>
              <a:ext uri="{FF2B5EF4-FFF2-40B4-BE49-F238E27FC236}">
                <a16:creationId xmlns:a16="http://schemas.microsoft.com/office/drawing/2014/main" id="{C1E8AA71-6D38-F5A5-25ED-322EB014B0FB}"/>
              </a:ext>
            </a:extLst>
          </p:cNvPr>
          <p:cNvPicPr>
            <a:picLocks noChangeAspect="1"/>
          </p:cNvPicPr>
          <p:nvPr/>
        </p:nvPicPr>
        <p:blipFill>
          <a:blip r:embed="rId2"/>
          <a:stretch>
            <a:fillRect/>
          </a:stretch>
        </p:blipFill>
        <p:spPr>
          <a:xfrm>
            <a:off x="7206663" y="2446418"/>
            <a:ext cx="4374199" cy="2606846"/>
          </a:xfrm>
          <a:prstGeom prst="rect">
            <a:avLst/>
          </a:prstGeom>
        </p:spPr>
      </p:pic>
      <p:pic>
        <p:nvPicPr>
          <p:cNvPr id="7" name="Picture 6">
            <a:extLst>
              <a:ext uri="{FF2B5EF4-FFF2-40B4-BE49-F238E27FC236}">
                <a16:creationId xmlns:a16="http://schemas.microsoft.com/office/drawing/2014/main" id="{F253A116-B0D2-7AFE-D251-F8221386A9A2}"/>
              </a:ext>
            </a:extLst>
          </p:cNvPr>
          <p:cNvPicPr>
            <a:picLocks noChangeAspect="1"/>
          </p:cNvPicPr>
          <p:nvPr/>
        </p:nvPicPr>
        <p:blipFill>
          <a:blip r:embed="rId3"/>
          <a:stretch>
            <a:fillRect/>
          </a:stretch>
        </p:blipFill>
        <p:spPr>
          <a:xfrm>
            <a:off x="2687320" y="2446418"/>
            <a:ext cx="4374199" cy="2612123"/>
          </a:xfrm>
          <a:prstGeom prst="rect">
            <a:avLst/>
          </a:prstGeom>
        </p:spPr>
      </p:pic>
      <p:sp>
        <p:nvSpPr>
          <p:cNvPr id="13" name="Title 1">
            <a:extLst>
              <a:ext uri="{FF2B5EF4-FFF2-40B4-BE49-F238E27FC236}">
                <a16:creationId xmlns:a16="http://schemas.microsoft.com/office/drawing/2014/main" id="{A3410E7D-2672-9BE8-284C-635432E8955D}"/>
              </a:ext>
            </a:extLst>
          </p:cNvPr>
          <p:cNvSpPr txBox="1">
            <a:spLocks/>
          </p:cNvSpPr>
          <p:nvPr/>
        </p:nvSpPr>
        <p:spPr>
          <a:xfrm>
            <a:off x="480002" y="414261"/>
            <a:ext cx="11102398" cy="767425"/>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a:t>Visualizing numerical data</a:t>
            </a:r>
            <a:endParaRPr lang="en-US" dirty="0"/>
          </a:p>
        </p:txBody>
      </p:sp>
    </p:spTree>
    <p:extLst>
      <p:ext uri="{BB962C8B-B14F-4D97-AF65-F5344CB8AC3E}">
        <p14:creationId xmlns:p14="http://schemas.microsoft.com/office/powerpoint/2010/main" val="4008304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948BC-ECEF-B41F-3650-543A09453A6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DE7CFA0-8452-AB8E-AECB-514357BB004A}"/>
              </a:ext>
            </a:extLst>
          </p:cNvPr>
          <p:cNvSpPr txBox="1"/>
          <p:nvPr/>
        </p:nvSpPr>
        <p:spPr>
          <a:xfrm>
            <a:off x="728002" y="1181686"/>
            <a:ext cx="10983995" cy="2246769"/>
          </a:xfrm>
          <a:prstGeom prst="rect">
            <a:avLst/>
          </a:prstGeom>
          <a:noFill/>
        </p:spPr>
        <p:txBody>
          <a:bodyPr wrap="square">
            <a:spAutoFit/>
          </a:bodyPr>
          <a:lstStyle/>
          <a:p>
            <a:r>
              <a:rPr lang="en-US" sz="2000" dirty="0"/>
              <a:t>How to visualize distributions:</a:t>
            </a:r>
          </a:p>
          <a:p>
            <a:pPr marL="342900" indent="-342900">
              <a:buFont typeface="Arial" panose="020B0604020202020204" pitchFamily="34" charset="0"/>
              <a:buChar char="•"/>
            </a:pPr>
            <a:r>
              <a:rPr lang="en-US" sz="2000" dirty="0">
                <a:solidFill>
                  <a:schemeClr val="bg2">
                    <a:lumMod val="85000"/>
                  </a:schemeClr>
                </a:solidFill>
              </a:rPr>
              <a:t>Histogram</a:t>
            </a:r>
          </a:p>
          <a:p>
            <a:pPr marL="342900" indent="-342900">
              <a:buFont typeface="Arial" panose="020B0604020202020204" pitchFamily="34" charset="0"/>
              <a:buChar char="•"/>
            </a:pPr>
            <a:r>
              <a:rPr lang="en-US" sz="2000" dirty="0"/>
              <a:t>Boxplot</a:t>
            </a:r>
          </a:p>
          <a:p>
            <a:pPr marL="342900" indent="-342900">
              <a:buFont typeface="Arial" panose="020B0604020202020204" pitchFamily="34" charset="0"/>
              <a:buChar char="•"/>
            </a:pPr>
            <a:r>
              <a:rPr lang="en-US" sz="2000" dirty="0" err="1">
                <a:solidFill>
                  <a:schemeClr val="bg2">
                    <a:lumMod val="85000"/>
                  </a:schemeClr>
                </a:solidFill>
              </a:rPr>
              <a:t>Violinplot</a:t>
            </a:r>
            <a:endParaRPr lang="en-US" sz="2000" dirty="0">
              <a:solidFill>
                <a:schemeClr val="bg2">
                  <a:lumMod val="85000"/>
                </a:schemeClr>
              </a:solidFill>
            </a:endParaRPr>
          </a:p>
          <a:p>
            <a:pPr marL="342900" indent="-342900">
              <a:buFont typeface="Arial" panose="020B0604020202020204" pitchFamily="34" charset="0"/>
              <a:buChar char="•"/>
            </a:pPr>
            <a:r>
              <a:rPr lang="en-US" sz="2000" dirty="0" err="1">
                <a:solidFill>
                  <a:schemeClr val="bg2">
                    <a:lumMod val="85000"/>
                  </a:schemeClr>
                </a:solidFill>
              </a:rPr>
              <a:t>Stripchart</a:t>
            </a:r>
            <a:endParaRPr lang="en-US" sz="2000" dirty="0">
              <a:solidFill>
                <a:schemeClr val="bg2">
                  <a:lumMod val="85000"/>
                </a:schemeClr>
              </a:solidFill>
            </a:endParaRPr>
          </a:p>
          <a:p>
            <a:pPr marL="342900" indent="-342900">
              <a:buFont typeface="Arial" panose="020B0604020202020204" pitchFamily="34" charset="0"/>
              <a:buChar char="•"/>
            </a:pPr>
            <a:r>
              <a:rPr lang="en-US" sz="2000" dirty="0">
                <a:solidFill>
                  <a:schemeClr val="bg2">
                    <a:lumMod val="85000"/>
                  </a:schemeClr>
                </a:solidFill>
              </a:rPr>
              <a:t>…</a:t>
            </a:r>
          </a:p>
          <a:p>
            <a:pPr marL="342900" indent="-342900">
              <a:buFont typeface="Arial" panose="020B0604020202020204" pitchFamily="34" charset="0"/>
              <a:buChar char="•"/>
            </a:pPr>
            <a:endParaRPr lang="en-US" sz="2000" dirty="0"/>
          </a:p>
        </p:txBody>
      </p:sp>
      <p:pic>
        <p:nvPicPr>
          <p:cNvPr id="3" name="Picture 2">
            <a:extLst>
              <a:ext uri="{FF2B5EF4-FFF2-40B4-BE49-F238E27FC236}">
                <a16:creationId xmlns:a16="http://schemas.microsoft.com/office/drawing/2014/main" id="{3928FB25-15AD-9417-6A3F-8F2311E469AB}"/>
              </a:ext>
            </a:extLst>
          </p:cNvPr>
          <p:cNvPicPr>
            <a:picLocks noChangeAspect="1"/>
          </p:cNvPicPr>
          <p:nvPr/>
        </p:nvPicPr>
        <p:blipFill>
          <a:blip r:embed="rId2"/>
          <a:stretch>
            <a:fillRect/>
          </a:stretch>
        </p:blipFill>
        <p:spPr>
          <a:xfrm>
            <a:off x="4720561" y="1949111"/>
            <a:ext cx="5905500" cy="3526563"/>
          </a:xfrm>
          <a:prstGeom prst="rect">
            <a:avLst/>
          </a:prstGeom>
        </p:spPr>
      </p:pic>
      <p:cxnSp>
        <p:nvCxnSpPr>
          <p:cNvPr id="6" name="Straight Arrow Connector 5">
            <a:extLst>
              <a:ext uri="{FF2B5EF4-FFF2-40B4-BE49-F238E27FC236}">
                <a16:creationId xmlns:a16="http://schemas.microsoft.com/office/drawing/2014/main" id="{344F1185-FFBA-5C05-6D95-E5C7A7DB2F22}"/>
              </a:ext>
            </a:extLst>
          </p:cNvPr>
          <p:cNvCxnSpPr>
            <a:cxnSpLocks/>
          </p:cNvCxnSpPr>
          <p:nvPr/>
        </p:nvCxnSpPr>
        <p:spPr>
          <a:xfrm flipH="1">
            <a:off x="8030308" y="1200461"/>
            <a:ext cx="1470018" cy="12848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D2E1DDD-2A45-7EDC-6231-7B8C963DA2A6}"/>
              </a:ext>
            </a:extLst>
          </p:cNvPr>
          <p:cNvSpPr txBox="1"/>
          <p:nvPr/>
        </p:nvSpPr>
        <p:spPr>
          <a:xfrm>
            <a:off x="9149199" y="892684"/>
            <a:ext cx="2314799" cy="307777"/>
          </a:xfrm>
          <a:prstGeom prst="rect">
            <a:avLst/>
          </a:prstGeom>
          <a:noFill/>
        </p:spPr>
        <p:txBody>
          <a:bodyPr wrap="square" rtlCol="0">
            <a:spAutoFit/>
          </a:bodyPr>
          <a:lstStyle/>
          <a:p>
            <a:r>
              <a:rPr lang="en-US" sz="1400" dirty="0"/>
              <a:t>Median aka 50th percentile</a:t>
            </a:r>
          </a:p>
        </p:txBody>
      </p:sp>
      <p:cxnSp>
        <p:nvCxnSpPr>
          <p:cNvPr id="8" name="Straight Arrow Connector 7">
            <a:extLst>
              <a:ext uri="{FF2B5EF4-FFF2-40B4-BE49-F238E27FC236}">
                <a16:creationId xmlns:a16="http://schemas.microsoft.com/office/drawing/2014/main" id="{4596CDE0-7606-1B09-880D-0AA99790BA33}"/>
              </a:ext>
            </a:extLst>
          </p:cNvPr>
          <p:cNvCxnSpPr>
            <a:cxnSpLocks/>
          </p:cNvCxnSpPr>
          <p:nvPr/>
        </p:nvCxnSpPr>
        <p:spPr>
          <a:xfrm flipH="1">
            <a:off x="8405446" y="1864406"/>
            <a:ext cx="1641231" cy="7967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FC8E058-6F51-16A0-D12F-B72E0AACB854}"/>
              </a:ext>
            </a:extLst>
          </p:cNvPr>
          <p:cNvSpPr txBox="1"/>
          <p:nvPr/>
        </p:nvSpPr>
        <p:spPr>
          <a:xfrm>
            <a:off x="9692849" y="1472033"/>
            <a:ext cx="2470486" cy="307777"/>
          </a:xfrm>
          <a:prstGeom prst="rect">
            <a:avLst/>
          </a:prstGeom>
          <a:noFill/>
        </p:spPr>
        <p:txBody>
          <a:bodyPr wrap="square" rtlCol="0">
            <a:spAutoFit/>
          </a:bodyPr>
          <a:lstStyle/>
          <a:p>
            <a:r>
              <a:rPr lang="en-US" sz="1400" dirty="0"/>
              <a:t>3</a:t>
            </a:r>
            <a:r>
              <a:rPr lang="en-US" sz="1400" baseline="30000" dirty="0"/>
              <a:t>rd</a:t>
            </a:r>
            <a:r>
              <a:rPr lang="en-US" sz="1400" dirty="0"/>
              <a:t> quartile aka 75th percentile</a:t>
            </a:r>
          </a:p>
        </p:txBody>
      </p:sp>
      <p:sp>
        <p:nvSpPr>
          <p:cNvPr id="12" name="TextBox 11">
            <a:extLst>
              <a:ext uri="{FF2B5EF4-FFF2-40B4-BE49-F238E27FC236}">
                <a16:creationId xmlns:a16="http://schemas.microsoft.com/office/drawing/2014/main" id="{19E7BC50-5665-3328-553C-9B88CEC5B585}"/>
              </a:ext>
            </a:extLst>
          </p:cNvPr>
          <p:cNvSpPr txBox="1"/>
          <p:nvPr/>
        </p:nvSpPr>
        <p:spPr>
          <a:xfrm>
            <a:off x="4938345" y="5676314"/>
            <a:ext cx="2482362" cy="307777"/>
          </a:xfrm>
          <a:prstGeom prst="rect">
            <a:avLst/>
          </a:prstGeom>
          <a:noFill/>
        </p:spPr>
        <p:txBody>
          <a:bodyPr wrap="square" rtlCol="0">
            <a:spAutoFit/>
          </a:bodyPr>
          <a:lstStyle/>
          <a:p>
            <a:r>
              <a:rPr lang="en-US" sz="1400" dirty="0"/>
              <a:t>1</a:t>
            </a:r>
            <a:r>
              <a:rPr lang="en-US" sz="1400" baseline="30000" dirty="0"/>
              <a:t>st</a:t>
            </a:r>
            <a:r>
              <a:rPr lang="en-US" sz="1400" dirty="0"/>
              <a:t> quartile aka 25th percentile</a:t>
            </a:r>
          </a:p>
        </p:txBody>
      </p:sp>
      <p:cxnSp>
        <p:nvCxnSpPr>
          <p:cNvPr id="13" name="Straight Arrow Connector 12">
            <a:extLst>
              <a:ext uri="{FF2B5EF4-FFF2-40B4-BE49-F238E27FC236}">
                <a16:creationId xmlns:a16="http://schemas.microsoft.com/office/drawing/2014/main" id="{C07E043E-01C3-A8AD-1A10-647B346319C9}"/>
              </a:ext>
            </a:extLst>
          </p:cNvPr>
          <p:cNvCxnSpPr>
            <a:cxnSpLocks/>
            <a:stCxn id="12" idx="0"/>
          </p:cNvCxnSpPr>
          <p:nvPr/>
        </p:nvCxnSpPr>
        <p:spPr>
          <a:xfrm flipV="1">
            <a:off x="6179526" y="4195880"/>
            <a:ext cx="1241181" cy="14804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DA968D3-6861-6394-E5B2-A08125A3C737}"/>
              </a:ext>
            </a:extLst>
          </p:cNvPr>
          <p:cNvCxnSpPr>
            <a:cxnSpLocks/>
          </p:cNvCxnSpPr>
          <p:nvPr/>
        </p:nvCxnSpPr>
        <p:spPr>
          <a:xfrm flipH="1" flipV="1">
            <a:off x="9686806" y="4039443"/>
            <a:ext cx="359871" cy="15209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0D2F18BF-EA91-A426-E90F-277F4E9DEBE1}"/>
              </a:ext>
            </a:extLst>
          </p:cNvPr>
          <p:cNvSpPr txBox="1"/>
          <p:nvPr/>
        </p:nvSpPr>
        <p:spPr>
          <a:xfrm>
            <a:off x="9350949" y="5676313"/>
            <a:ext cx="2314799" cy="307777"/>
          </a:xfrm>
          <a:prstGeom prst="rect">
            <a:avLst/>
          </a:prstGeom>
          <a:noFill/>
        </p:spPr>
        <p:txBody>
          <a:bodyPr wrap="square" rtlCol="0">
            <a:spAutoFit/>
          </a:bodyPr>
          <a:lstStyle/>
          <a:p>
            <a:r>
              <a:rPr lang="en-US" sz="1400" dirty="0"/>
              <a:t>Median + 1.5 * IQR</a:t>
            </a:r>
          </a:p>
        </p:txBody>
      </p:sp>
      <p:cxnSp>
        <p:nvCxnSpPr>
          <p:cNvPr id="23" name="Straight Arrow Connector 22">
            <a:extLst>
              <a:ext uri="{FF2B5EF4-FFF2-40B4-BE49-F238E27FC236}">
                <a16:creationId xmlns:a16="http://schemas.microsoft.com/office/drawing/2014/main" id="{12A8EF2E-CF62-2E6A-BCDE-D1F37ECF2602}"/>
              </a:ext>
            </a:extLst>
          </p:cNvPr>
          <p:cNvCxnSpPr>
            <a:cxnSpLocks/>
          </p:cNvCxnSpPr>
          <p:nvPr/>
        </p:nvCxnSpPr>
        <p:spPr>
          <a:xfrm flipV="1">
            <a:off x="4173415" y="4039443"/>
            <a:ext cx="2006111" cy="11818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FD33107-30EC-1FE5-016D-84AA95DE17B1}"/>
              </a:ext>
            </a:extLst>
          </p:cNvPr>
          <p:cNvSpPr txBox="1"/>
          <p:nvPr/>
        </p:nvSpPr>
        <p:spPr>
          <a:xfrm>
            <a:off x="3477687" y="5337198"/>
            <a:ext cx="2314799" cy="307777"/>
          </a:xfrm>
          <a:prstGeom prst="rect">
            <a:avLst/>
          </a:prstGeom>
          <a:noFill/>
        </p:spPr>
        <p:txBody>
          <a:bodyPr wrap="square" rtlCol="0">
            <a:spAutoFit/>
          </a:bodyPr>
          <a:lstStyle/>
          <a:p>
            <a:r>
              <a:rPr lang="en-US" sz="1400" dirty="0"/>
              <a:t>Median - 1.5 * IQR</a:t>
            </a:r>
          </a:p>
        </p:txBody>
      </p:sp>
      <p:sp>
        <p:nvSpPr>
          <p:cNvPr id="26" name="TextBox 25">
            <a:extLst>
              <a:ext uri="{FF2B5EF4-FFF2-40B4-BE49-F238E27FC236}">
                <a16:creationId xmlns:a16="http://schemas.microsoft.com/office/drawing/2014/main" id="{7EDE351F-8989-85D8-2383-FA08784405FA}"/>
              </a:ext>
            </a:extLst>
          </p:cNvPr>
          <p:cNvSpPr txBox="1"/>
          <p:nvPr/>
        </p:nvSpPr>
        <p:spPr>
          <a:xfrm>
            <a:off x="3439162" y="1820427"/>
            <a:ext cx="2314799" cy="307777"/>
          </a:xfrm>
          <a:prstGeom prst="rect">
            <a:avLst/>
          </a:prstGeom>
          <a:noFill/>
        </p:spPr>
        <p:txBody>
          <a:bodyPr wrap="square" rtlCol="0">
            <a:spAutoFit/>
          </a:bodyPr>
          <a:lstStyle/>
          <a:p>
            <a:r>
              <a:rPr lang="en-US" sz="1400" dirty="0"/>
              <a:t>Outliers</a:t>
            </a:r>
          </a:p>
        </p:txBody>
      </p:sp>
      <p:cxnSp>
        <p:nvCxnSpPr>
          <p:cNvPr id="27" name="Straight Arrow Connector 26">
            <a:extLst>
              <a:ext uri="{FF2B5EF4-FFF2-40B4-BE49-F238E27FC236}">
                <a16:creationId xmlns:a16="http://schemas.microsoft.com/office/drawing/2014/main" id="{E8638689-413B-3C3B-B3F9-55884C003CA2}"/>
              </a:ext>
            </a:extLst>
          </p:cNvPr>
          <p:cNvCxnSpPr>
            <a:cxnSpLocks/>
          </p:cNvCxnSpPr>
          <p:nvPr/>
        </p:nvCxnSpPr>
        <p:spPr>
          <a:xfrm>
            <a:off x="4173415" y="2128204"/>
            <a:ext cx="5873262" cy="14566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BD1D96E9-AE89-3FB7-5158-5C0B669867D8}"/>
              </a:ext>
            </a:extLst>
          </p:cNvPr>
          <p:cNvCxnSpPr>
            <a:cxnSpLocks/>
          </p:cNvCxnSpPr>
          <p:nvPr/>
        </p:nvCxnSpPr>
        <p:spPr>
          <a:xfrm>
            <a:off x="3833446" y="2140607"/>
            <a:ext cx="1920515" cy="14438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itle 1">
            <a:extLst>
              <a:ext uri="{FF2B5EF4-FFF2-40B4-BE49-F238E27FC236}">
                <a16:creationId xmlns:a16="http://schemas.microsoft.com/office/drawing/2014/main" id="{EDC3D90F-381E-FE8C-D60E-EB5AD07E1AAC}"/>
              </a:ext>
            </a:extLst>
          </p:cNvPr>
          <p:cNvSpPr txBox="1">
            <a:spLocks/>
          </p:cNvSpPr>
          <p:nvPr/>
        </p:nvSpPr>
        <p:spPr>
          <a:xfrm>
            <a:off x="480002" y="414261"/>
            <a:ext cx="11102398" cy="767425"/>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a:t>Visualizing numerical data</a:t>
            </a:r>
            <a:endParaRPr lang="en-US" dirty="0"/>
          </a:p>
        </p:txBody>
      </p:sp>
    </p:spTree>
    <p:extLst>
      <p:ext uri="{BB962C8B-B14F-4D97-AF65-F5344CB8AC3E}">
        <p14:creationId xmlns:p14="http://schemas.microsoft.com/office/powerpoint/2010/main" val="1706130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21" grpId="0"/>
      <p:bldP spid="24" grpId="0"/>
      <p:bldP spid="2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2BF5D-6D39-8E3A-F29B-4CF0E9010B8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CE74EA3-8828-7933-130C-4B132171B508}"/>
              </a:ext>
            </a:extLst>
          </p:cNvPr>
          <p:cNvSpPr txBox="1"/>
          <p:nvPr/>
        </p:nvSpPr>
        <p:spPr>
          <a:xfrm>
            <a:off x="728002" y="1181686"/>
            <a:ext cx="10983995" cy="2246769"/>
          </a:xfrm>
          <a:prstGeom prst="rect">
            <a:avLst/>
          </a:prstGeom>
          <a:noFill/>
        </p:spPr>
        <p:txBody>
          <a:bodyPr wrap="square">
            <a:spAutoFit/>
          </a:bodyPr>
          <a:lstStyle/>
          <a:p>
            <a:r>
              <a:rPr lang="en-US" sz="2000" dirty="0"/>
              <a:t>How to visualize distributions:</a:t>
            </a:r>
          </a:p>
          <a:p>
            <a:pPr marL="342900" indent="-342900">
              <a:buFont typeface="Arial" panose="020B0604020202020204" pitchFamily="34" charset="0"/>
              <a:buChar char="•"/>
            </a:pPr>
            <a:r>
              <a:rPr lang="en-US" sz="2000" dirty="0">
                <a:solidFill>
                  <a:schemeClr val="bg2">
                    <a:lumMod val="85000"/>
                  </a:schemeClr>
                </a:solidFill>
              </a:rPr>
              <a:t>Histogram</a:t>
            </a:r>
          </a:p>
          <a:p>
            <a:pPr marL="342900" indent="-342900">
              <a:buFont typeface="Arial" panose="020B0604020202020204" pitchFamily="34" charset="0"/>
              <a:buChar char="•"/>
            </a:pPr>
            <a:r>
              <a:rPr lang="en-US" sz="2000" dirty="0">
                <a:solidFill>
                  <a:schemeClr val="bg2">
                    <a:lumMod val="85000"/>
                  </a:schemeClr>
                </a:solidFill>
              </a:rPr>
              <a:t>Boxplot</a:t>
            </a:r>
          </a:p>
          <a:p>
            <a:pPr marL="342900" indent="-342900">
              <a:buFont typeface="Arial" panose="020B0604020202020204" pitchFamily="34" charset="0"/>
              <a:buChar char="•"/>
            </a:pPr>
            <a:r>
              <a:rPr lang="en-US" sz="2000" dirty="0" err="1"/>
              <a:t>Violinplot</a:t>
            </a:r>
            <a:endParaRPr lang="en-US" sz="2000" dirty="0"/>
          </a:p>
          <a:p>
            <a:pPr marL="342900" indent="-342900">
              <a:buFont typeface="Arial" panose="020B0604020202020204" pitchFamily="34" charset="0"/>
              <a:buChar char="•"/>
            </a:pPr>
            <a:r>
              <a:rPr lang="en-US" sz="2000" dirty="0" err="1">
                <a:solidFill>
                  <a:schemeClr val="bg2">
                    <a:lumMod val="85000"/>
                  </a:schemeClr>
                </a:solidFill>
              </a:rPr>
              <a:t>Stripchart</a:t>
            </a:r>
            <a:endParaRPr lang="en-US" sz="2000" dirty="0">
              <a:solidFill>
                <a:schemeClr val="bg2">
                  <a:lumMod val="85000"/>
                </a:schemeClr>
              </a:solidFill>
            </a:endParaRPr>
          </a:p>
          <a:p>
            <a:pPr marL="342900" indent="-342900">
              <a:buFont typeface="Arial" panose="020B0604020202020204" pitchFamily="34" charset="0"/>
              <a:buChar char="•"/>
            </a:pPr>
            <a:r>
              <a:rPr lang="en-US" sz="2000" dirty="0">
                <a:solidFill>
                  <a:schemeClr val="bg2">
                    <a:lumMod val="85000"/>
                  </a:schemeClr>
                </a:solidFill>
              </a:rPr>
              <a:t>…</a:t>
            </a:r>
          </a:p>
          <a:p>
            <a:pPr marL="342900" indent="-342900">
              <a:buFont typeface="Arial" panose="020B0604020202020204" pitchFamily="34" charset="0"/>
              <a:buChar char="•"/>
            </a:pPr>
            <a:endParaRPr lang="en-US" sz="2000" dirty="0"/>
          </a:p>
        </p:txBody>
      </p:sp>
      <p:pic>
        <p:nvPicPr>
          <p:cNvPr id="3" name="Picture 2">
            <a:extLst>
              <a:ext uri="{FF2B5EF4-FFF2-40B4-BE49-F238E27FC236}">
                <a16:creationId xmlns:a16="http://schemas.microsoft.com/office/drawing/2014/main" id="{64BAD133-9EFE-837D-124F-A76B5D53991E}"/>
              </a:ext>
            </a:extLst>
          </p:cNvPr>
          <p:cNvPicPr>
            <a:picLocks noChangeAspect="1"/>
          </p:cNvPicPr>
          <p:nvPr/>
        </p:nvPicPr>
        <p:blipFill>
          <a:blip r:embed="rId2"/>
          <a:stretch>
            <a:fillRect/>
          </a:stretch>
        </p:blipFill>
        <p:spPr>
          <a:xfrm>
            <a:off x="4871983" y="1713405"/>
            <a:ext cx="6273800" cy="3746500"/>
          </a:xfrm>
          <a:prstGeom prst="rect">
            <a:avLst/>
          </a:prstGeom>
        </p:spPr>
      </p:pic>
      <p:sp>
        <p:nvSpPr>
          <p:cNvPr id="7" name="Title 1">
            <a:extLst>
              <a:ext uri="{FF2B5EF4-FFF2-40B4-BE49-F238E27FC236}">
                <a16:creationId xmlns:a16="http://schemas.microsoft.com/office/drawing/2014/main" id="{2B0BF38A-1355-6B0A-8BD1-701A69F660F5}"/>
              </a:ext>
            </a:extLst>
          </p:cNvPr>
          <p:cNvSpPr txBox="1">
            <a:spLocks/>
          </p:cNvSpPr>
          <p:nvPr/>
        </p:nvSpPr>
        <p:spPr>
          <a:xfrm>
            <a:off x="480002" y="414261"/>
            <a:ext cx="11102398" cy="767425"/>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Visualizing numerical data</a:t>
            </a:r>
          </a:p>
        </p:txBody>
      </p:sp>
    </p:spTree>
    <p:extLst>
      <p:ext uri="{BB962C8B-B14F-4D97-AF65-F5344CB8AC3E}">
        <p14:creationId xmlns:p14="http://schemas.microsoft.com/office/powerpoint/2010/main" val="25484562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BBB24-9161-FF33-2218-71B00A1B080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344B6F7-D615-657A-1A6A-BF1E45B93002}"/>
              </a:ext>
            </a:extLst>
          </p:cNvPr>
          <p:cNvSpPr txBox="1"/>
          <p:nvPr/>
        </p:nvSpPr>
        <p:spPr>
          <a:xfrm>
            <a:off x="728002" y="1181686"/>
            <a:ext cx="10983995" cy="2246769"/>
          </a:xfrm>
          <a:prstGeom prst="rect">
            <a:avLst/>
          </a:prstGeom>
          <a:noFill/>
        </p:spPr>
        <p:txBody>
          <a:bodyPr wrap="square">
            <a:spAutoFit/>
          </a:bodyPr>
          <a:lstStyle/>
          <a:p>
            <a:r>
              <a:rPr lang="en-US" sz="2000" dirty="0"/>
              <a:t>How to visualize distributions:</a:t>
            </a:r>
          </a:p>
          <a:p>
            <a:pPr marL="342900" indent="-342900">
              <a:buFont typeface="Arial" panose="020B0604020202020204" pitchFamily="34" charset="0"/>
              <a:buChar char="•"/>
            </a:pPr>
            <a:r>
              <a:rPr lang="en-US" sz="2000" dirty="0">
                <a:solidFill>
                  <a:schemeClr val="bg2">
                    <a:lumMod val="85000"/>
                  </a:schemeClr>
                </a:solidFill>
              </a:rPr>
              <a:t>Histogram</a:t>
            </a:r>
          </a:p>
          <a:p>
            <a:pPr marL="342900" indent="-342900">
              <a:buFont typeface="Arial" panose="020B0604020202020204" pitchFamily="34" charset="0"/>
              <a:buChar char="•"/>
            </a:pPr>
            <a:r>
              <a:rPr lang="en-US" sz="2000" dirty="0">
                <a:solidFill>
                  <a:schemeClr val="bg2">
                    <a:lumMod val="85000"/>
                  </a:schemeClr>
                </a:solidFill>
              </a:rPr>
              <a:t>Boxplot</a:t>
            </a:r>
          </a:p>
          <a:p>
            <a:pPr marL="342900" indent="-342900">
              <a:buFont typeface="Arial" panose="020B0604020202020204" pitchFamily="34" charset="0"/>
              <a:buChar char="•"/>
            </a:pPr>
            <a:r>
              <a:rPr lang="en-US" sz="2000" dirty="0" err="1">
                <a:solidFill>
                  <a:schemeClr val="bg2">
                    <a:lumMod val="85000"/>
                  </a:schemeClr>
                </a:solidFill>
              </a:rPr>
              <a:t>Violinplot</a:t>
            </a:r>
            <a:endParaRPr lang="en-US" sz="2000" dirty="0">
              <a:solidFill>
                <a:schemeClr val="bg2">
                  <a:lumMod val="85000"/>
                </a:schemeClr>
              </a:solidFill>
            </a:endParaRPr>
          </a:p>
          <a:p>
            <a:pPr marL="342900" indent="-342900">
              <a:buFont typeface="Arial" panose="020B0604020202020204" pitchFamily="34" charset="0"/>
              <a:buChar char="•"/>
            </a:pPr>
            <a:r>
              <a:rPr lang="en-US" sz="2000" dirty="0" err="1"/>
              <a:t>Stripchart</a:t>
            </a:r>
            <a:endParaRPr lang="en-US" sz="2000" dirty="0"/>
          </a:p>
          <a:p>
            <a:pPr marL="342900" indent="-342900">
              <a:buFont typeface="Arial" panose="020B0604020202020204" pitchFamily="34" charset="0"/>
              <a:buChar char="•"/>
            </a:pPr>
            <a:r>
              <a:rPr lang="en-US" sz="2000" dirty="0"/>
              <a:t>…</a:t>
            </a:r>
          </a:p>
          <a:p>
            <a:pPr marL="342900" indent="-342900">
              <a:buFont typeface="Arial" panose="020B0604020202020204" pitchFamily="34" charset="0"/>
              <a:buChar char="•"/>
            </a:pPr>
            <a:endParaRPr lang="en-US" sz="2000" dirty="0"/>
          </a:p>
        </p:txBody>
      </p:sp>
      <p:pic>
        <p:nvPicPr>
          <p:cNvPr id="3" name="Picture 2">
            <a:extLst>
              <a:ext uri="{FF2B5EF4-FFF2-40B4-BE49-F238E27FC236}">
                <a16:creationId xmlns:a16="http://schemas.microsoft.com/office/drawing/2014/main" id="{56C2910B-D352-D39D-EBC9-603526959B63}"/>
              </a:ext>
            </a:extLst>
          </p:cNvPr>
          <p:cNvPicPr>
            <a:picLocks noChangeAspect="1"/>
          </p:cNvPicPr>
          <p:nvPr/>
        </p:nvPicPr>
        <p:blipFill>
          <a:blip r:embed="rId2"/>
          <a:stretch>
            <a:fillRect/>
          </a:stretch>
        </p:blipFill>
        <p:spPr>
          <a:xfrm>
            <a:off x="4720561" y="1929814"/>
            <a:ext cx="6273800" cy="3746500"/>
          </a:xfrm>
          <a:prstGeom prst="rect">
            <a:avLst/>
          </a:prstGeom>
        </p:spPr>
      </p:pic>
      <p:sp>
        <p:nvSpPr>
          <p:cNvPr id="7" name="Title 1">
            <a:extLst>
              <a:ext uri="{FF2B5EF4-FFF2-40B4-BE49-F238E27FC236}">
                <a16:creationId xmlns:a16="http://schemas.microsoft.com/office/drawing/2014/main" id="{A1AE7266-F3C5-C50C-CDE9-D3874EC7DF1A}"/>
              </a:ext>
            </a:extLst>
          </p:cNvPr>
          <p:cNvSpPr txBox="1">
            <a:spLocks/>
          </p:cNvSpPr>
          <p:nvPr/>
        </p:nvSpPr>
        <p:spPr>
          <a:xfrm>
            <a:off x="480002" y="414261"/>
            <a:ext cx="11102398" cy="767425"/>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Visualizing numerical data</a:t>
            </a:r>
          </a:p>
        </p:txBody>
      </p:sp>
    </p:spTree>
    <p:extLst>
      <p:ext uri="{BB962C8B-B14F-4D97-AF65-F5344CB8AC3E}">
        <p14:creationId xmlns:p14="http://schemas.microsoft.com/office/powerpoint/2010/main" val="2077371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F95BB-CE0E-F07F-BD77-D9F12DFD6AF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0D7502-DBE0-1504-3632-CB34E557CC0F}"/>
              </a:ext>
            </a:extLst>
          </p:cNvPr>
          <p:cNvSpPr txBox="1"/>
          <p:nvPr/>
        </p:nvSpPr>
        <p:spPr>
          <a:xfrm>
            <a:off x="728002" y="1181686"/>
            <a:ext cx="10983995" cy="707886"/>
          </a:xfrm>
          <a:prstGeom prst="rect">
            <a:avLst/>
          </a:prstGeom>
          <a:noFill/>
        </p:spPr>
        <p:txBody>
          <a:bodyPr wrap="square">
            <a:spAutoFit/>
          </a:bodyPr>
          <a:lstStyle/>
          <a:p>
            <a:r>
              <a:rPr lang="en-US" sz="2000" dirty="0"/>
              <a:t>Which one do you like the most?</a:t>
            </a:r>
          </a:p>
          <a:p>
            <a:pPr marL="342900" indent="-342900">
              <a:buFont typeface="Arial" panose="020B0604020202020204" pitchFamily="34" charset="0"/>
              <a:buChar char="•"/>
            </a:pPr>
            <a:endParaRPr lang="en-US" sz="2000" dirty="0"/>
          </a:p>
        </p:txBody>
      </p:sp>
      <p:grpSp>
        <p:nvGrpSpPr>
          <p:cNvPr id="8" name="Group 7">
            <a:extLst>
              <a:ext uri="{FF2B5EF4-FFF2-40B4-BE49-F238E27FC236}">
                <a16:creationId xmlns:a16="http://schemas.microsoft.com/office/drawing/2014/main" id="{F522D771-5DA9-5BEF-9B03-4868F0D60822}"/>
              </a:ext>
            </a:extLst>
          </p:cNvPr>
          <p:cNvGrpSpPr/>
          <p:nvPr/>
        </p:nvGrpSpPr>
        <p:grpSpPr>
          <a:xfrm>
            <a:off x="2391494" y="1710896"/>
            <a:ext cx="7409011" cy="4501616"/>
            <a:chOff x="2523853" y="707644"/>
            <a:chExt cx="8470507" cy="4987967"/>
          </a:xfrm>
        </p:grpSpPr>
        <p:pic>
          <p:nvPicPr>
            <p:cNvPr id="3" name="Picture 2">
              <a:extLst>
                <a:ext uri="{FF2B5EF4-FFF2-40B4-BE49-F238E27FC236}">
                  <a16:creationId xmlns:a16="http://schemas.microsoft.com/office/drawing/2014/main" id="{FD92CC9B-C54D-3549-1906-E0EAC9CAA808}"/>
                </a:ext>
              </a:extLst>
            </p:cNvPr>
            <p:cNvPicPr>
              <a:picLocks noChangeAspect="1"/>
            </p:cNvPicPr>
            <p:nvPr/>
          </p:nvPicPr>
          <p:blipFill>
            <a:blip r:embed="rId3"/>
            <a:stretch>
              <a:fillRect/>
            </a:stretch>
          </p:blipFill>
          <p:spPr>
            <a:xfrm>
              <a:off x="6842233" y="3196804"/>
              <a:ext cx="4152127" cy="2479509"/>
            </a:xfrm>
            <a:prstGeom prst="rect">
              <a:avLst/>
            </a:prstGeom>
          </p:spPr>
        </p:pic>
        <p:pic>
          <p:nvPicPr>
            <p:cNvPr id="5" name="Picture 4">
              <a:extLst>
                <a:ext uri="{FF2B5EF4-FFF2-40B4-BE49-F238E27FC236}">
                  <a16:creationId xmlns:a16="http://schemas.microsoft.com/office/drawing/2014/main" id="{5495D7B0-A13F-D772-7B70-F90310BE2E10}"/>
                </a:ext>
              </a:extLst>
            </p:cNvPr>
            <p:cNvPicPr>
              <a:picLocks noChangeAspect="1"/>
            </p:cNvPicPr>
            <p:nvPr/>
          </p:nvPicPr>
          <p:blipFill>
            <a:blip r:embed="rId4"/>
            <a:stretch>
              <a:fillRect/>
            </a:stretch>
          </p:blipFill>
          <p:spPr>
            <a:xfrm>
              <a:off x="2690103" y="3216101"/>
              <a:ext cx="4152129" cy="2479510"/>
            </a:xfrm>
            <a:prstGeom prst="rect">
              <a:avLst/>
            </a:prstGeom>
          </p:spPr>
        </p:pic>
        <p:pic>
          <p:nvPicPr>
            <p:cNvPr id="6" name="Picture 5">
              <a:extLst>
                <a:ext uri="{FF2B5EF4-FFF2-40B4-BE49-F238E27FC236}">
                  <a16:creationId xmlns:a16="http://schemas.microsoft.com/office/drawing/2014/main" id="{0358E1C8-9B68-CF8C-837F-54EDEEC51843}"/>
                </a:ext>
              </a:extLst>
            </p:cNvPr>
            <p:cNvPicPr>
              <a:picLocks noChangeAspect="1"/>
            </p:cNvPicPr>
            <p:nvPr/>
          </p:nvPicPr>
          <p:blipFill>
            <a:blip r:embed="rId5"/>
            <a:stretch>
              <a:fillRect/>
            </a:stretch>
          </p:blipFill>
          <p:spPr>
            <a:xfrm>
              <a:off x="6842230" y="707645"/>
              <a:ext cx="4152130" cy="2479510"/>
            </a:xfrm>
            <a:prstGeom prst="rect">
              <a:avLst/>
            </a:prstGeom>
          </p:spPr>
        </p:pic>
        <p:pic>
          <p:nvPicPr>
            <p:cNvPr id="7" name="Picture 6">
              <a:extLst>
                <a:ext uri="{FF2B5EF4-FFF2-40B4-BE49-F238E27FC236}">
                  <a16:creationId xmlns:a16="http://schemas.microsoft.com/office/drawing/2014/main" id="{BDE7481E-355E-B3FD-15E7-6AF63F1A1664}"/>
                </a:ext>
              </a:extLst>
            </p:cNvPr>
            <p:cNvPicPr>
              <a:picLocks noChangeAspect="1"/>
            </p:cNvPicPr>
            <p:nvPr/>
          </p:nvPicPr>
          <p:blipFill>
            <a:blip r:embed="rId6"/>
            <a:stretch>
              <a:fillRect/>
            </a:stretch>
          </p:blipFill>
          <p:spPr>
            <a:xfrm>
              <a:off x="2523853" y="707644"/>
              <a:ext cx="4318375" cy="2573577"/>
            </a:xfrm>
            <a:prstGeom prst="rect">
              <a:avLst/>
            </a:prstGeom>
          </p:spPr>
        </p:pic>
      </p:grpSp>
      <p:sp>
        <p:nvSpPr>
          <p:cNvPr id="11" name="Title 1">
            <a:extLst>
              <a:ext uri="{FF2B5EF4-FFF2-40B4-BE49-F238E27FC236}">
                <a16:creationId xmlns:a16="http://schemas.microsoft.com/office/drawing/2014/main" id="{13927576-7C33-FA8C-BF16-833FD652C67F}"/>
              </a:ext>
            </a:extLst>
          </p:cNvPr>
          <p:cNvSpPr txBox="1">
            <a:spLocks/>
          </p:cNvSpPr>
          <p:nvPr/>
        </p:nvSpPr>
        <p:spPr>
          <a:xfrm>
            <a:off x="480002" y="414261"/>
            <a:ext cx="11102398" cy="767425"/>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Visualizing numerical data</a:t>
            </a:r>
          </a:p>
        </p:txBody>
      </p:sp>
    </p:spTree>
    <p:extLst>
      <p:ext uri="{BB962C8B-B14F-4D97-AF65-F5344CB8AC3E}">
        <p14:creationId xmlns:p14="http://schemas.microsoft.com/office/powerpoint/2010/main" val="1766610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3D93A-9867-FC22-4CF5-A46A5CFD1AE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6C70416-5B2D-EAD4-1749-0D16642582ED}"/>
              </a:ext>
            </a:extLst>
          </p:cNvPr>
          <p:cNvSpPr txBox="1"/>
          <p:nvPr/>
        </p:nvSpPr>
        <p:spPr>
          <a:xfrm>
            <a:off x="728002" y="1181686"/>
            <a:ext cx="10983995" cy="707886"/>
          </a:xfrm>
          <a:prstGeom prst="rect">
            <a:avLst/>
          </a:prstGeom>
          <a:noFill/>
        </p:spPr>
        <p:txBody>
          <a:bodyPr wrap="square">
            <a:spAutoFit/>
          </a:bodyPr>
          <a:lstStyle/>
          <a:p>
            <a:r>
              <a:rPr lang="en-US" sz="2000" b="1" dirty="0"/>
              <a:t>Again, it depends on what you want to highlight!</a:t>
            </a:r>
          </a:p>
          <a:p>
            <a:pPr marL="342900" indent="-342900">
              <a:buFont typeface="Arial" panose="020B0604020202020204" pitchFamily="34" charset="0"/>
              <a:buChar char="•"/>
            </a:pPr>
            <a:endParaRPr lang="en-US" sz="2000" b="1" dirty="0"/>
          </a:p>
        </p:txBody>
      </p:sp>
      <p:grpSp>
        <p:nvGrpSpPr>
          <p:cNvPr id="8" name="Group 7">
            <a:extLst>
              <a:ext uri="{FF2B5EF4-FFF2-40B4-BE49-F238E27FC236}">
                <a16:creationId xmlns:a16="http://schemas.microsoft.com/office/drawing/2014/main" id="{F09E1D5A-EEE8-7E02-7355-42C32C72A450}"/>
              </a:ext>
            </a:extLst>
          </p:cNvPr>
          <p:cNvGrpSpPr/>
          <p:nvPr/>
        </p:nvGrpSpPr>
        <p:grpSpPr>
          <a:xfrm>
            <a:off x="2391494" y="1710896"/>
            <a:ext cx="7409011" cy="4501616"/>
            <a:chOff x="2523853" y="707644"/>
            <a:chExt cx="8470507" cy="4987967"/>
          </a:xfrm>
        </p:grpSpPr>
        <p:pic>
          <p:nvPicPr>
            <p:cNvPr id="3" name="Picture 2">
              <a:extLst>
                <a:ext uri="{FF2B5EF4-FFF2-40B4-BE49-F238E27FC236}">
                  <a16:creationId xmlns:a16="http://schemas.microsoft.com/office/drawing/2014/main" id="{9A6CC94E-C488-C0F5-7A7A-393C002D051B}"/>
                </a:ext>
              </a:extLst>
            </p:cNvPr>
            <p:cNvPicPr>
              <a:picLocks noChangeAspect="1"/>
            </p:cNvPicPr>
            <p:nvPr/>
          </p:nvPicPr>
          <p:blipFill>
            <a:blip r:embed="rId3"/>
            <a:stretch>
              <a:fillRect/>
            </a:stretch>
          </p:blipFill>
          <p:spPr>
            <a:xfrm>
              <a:off x="6842233" y="3196804"/>
              <a:ext cx="4152127" cy="2479509"/>
            </a:xfrm>
            <a:prstGeom prst="rect">
              <a:avLst/>
            </a:prstGeom>
          </p:spPr>
        </p:pic>
        <p:pic>
          <p:nvPicPr>
            <p:cNvPr id="5" name="Picture 4">
              <a:extLst>
                <a:ext uri="{FF2B5EF4-FFF2-40B4-BE49-F238E27FC236}">
                  <a16:creationId xmlns:a16="http://schemas.microsoft.com/office/drawing/2014/main" id="{E76BBBF9-7413-A428-DEC8-DDF21C8B8AF5}"/>
                </a:ext>
              </a:extLst>
            </p:cNvPr>
            <p:cNvPicPr>
              <a:picLocks noChangeAspect="1"/>
            </p:cNvPicPr>
            <p:nvPr/>
          </p:nvPicPr>
          <p:blipFill>
            <a:blip r:embed="rId4"/>
            <a:stretch>
              <a:fillRect/>
            </a:stretch>
          </p:blipFill>
          <p:spPr>
            <a:xfrm>
              <a:off x="2690103" y="3216101"/>
              <a:ext cx="4152129" cy="2479510"/>
            </a:xfrm>
            <a:prstGeom prst="rect">
              <a:avLst/>
            </a:prstGeom>
          </p:spPr>
        </p:pic>
        <p:pic>
          <p:nvPicPr>
            <p:cNvPr id="6" name="Picture 5">
              <a:extLst>
                <a:ext uri="{FF2B5EF4-FFF2-40B4-BE49-F238E27FC236}">
                  <a16:creationId xmlns:a16="http://schemas.microsoft.com/office/drawing/2014/main" id="{1E706FA3-57CB-118A-9D17-0D0FA282C15A}"/>
                </a:ext>
              </a:extLst>
            </p:cNvPr>
            <p:cNvPicPr>
              <a:picLocks noChangeAspect="1"/>
            </p:cNvPicPr>
            <p:nvPr/>
          </p:nvPicPr>
          <p:blipFill>
            <a:blip r:embed="rId5"/>
            <a:stretch>
              <a:fillRect/>
            </a:stretch>
          </p:blipFill>
          <p:spPr>
            <a:xfrm>
              <a:off x="6842230" y="707645"/>
              <a:ext cx="4152130" cy="2479510"/>
            </a:xfrm>
            <a:prstGeom prst="rect">
              <a:avLst/>
            </a:prstGeom>
          </p:spPr>
        </p:pic>
        <p:pic>
          <p:nvPicPr>
            <p:cNvPr id="7" name="Picture 6">
              <a:extLst>
                <a:ext uri="{FF2B5EF4-FFF2-40B4-BE49-F238E27FC236}">
                  <a16:creationId xmlns:a16="http://schemas.microsoft.com/office/drawing/2014/main" id="{D847AB39-FC9D-8F8E-EC66-C7838DFCE7C8}"/>
                </a:ext>
              </a:extLst>
            </p:cNvPr>
            <p:cNvPicPr>
              <a:picLocks noChangeAspect="1"/>
            </p:cNvPicPr>
            <p:nvPr/>
          </p:nvPicPr>
          <p:blipFill>
            <a:blip r:embed="rId6"/>
            <a:stretch>
              <a:fillRect/>
            </a:stretch>
          </p:blipFill>
          <p:spPr>
            <a:xfrm>
              <a:off x="2523853" y="707644"/>
              <a:ext cx="4318375" cy="2573577"/>
            </a:xfrm>
            <a:prstGeom prst="rect">
              <a:avLst/>
            </a:prstGeom>
          </p:spPr>
        </p:pic>
      </p:grpSp>
      <p:sp>
        <p:nvSpPr>
          <p:cNvPr id="11" name="Title 1">
            <a:extLst>
              <a:ext uri="{FF2B5EF4-FFF2-40B4-BE49-F238E27FC236}">
                <a16:creationId xmlns:a16="http://schemas.microsoft.com/office/drawing/2014/main" id="{5E414242-8186-82B6-4FB7-66A327BED21E}"/>
              </a:ext>
            </a:extLst>
          </p:cNvPr>
          <p:cNvSpPr txBox="1">
            <a:spLocks/>
          </p:cNvSpPr>
          <p:nvPr/>
        </p:nvSpPr>
        <p:spPr>
          <a:xfrm>
            <a:off x="480002" y="414261"/>
            <a:ext cx="11102398" cy="767425"/>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Visualizing numerical data</a:t>
            </a:r>
          </a:p>
        </p:txBody>
      </p:sp>
    </p:spTree>
    <p:extLst>
      <p:ext uri="{BB962C8B-B14F-4D97-AF65-F5344CB8AC3E}">
        <p14:creationId xmlns:p14="http://schemas.microsoft.com/office/powerpoint/2010/main" val="1777691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028DF-9579-A050-2BD8-DD5C33A46F15}"/>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33C10676-8587-673B-4630-9B3823A7A7A3}"/>
              </a:ext>
            </a:extLst>
          </p:cNvPr>
          <p:cNvPicPr>
            <a:picLocks noChangeAspect="1"/>
          </p:cNvPicPr>
          <p:nvPr/>
        </p:nvPicPr>
        <p:blipFill>
          <a:blip r:embed="rId2"/>
          <a:stretch>
            <a:fillRect/>
          </a:stretch>
        </p:blipFill>
        <p:spPr>
          <a:xfrm>
            <a:off x="1092200" y="2963493"/>
            <a:ext cx="5003800" cy="2476500"/>
          </a:xfrm>
          <a:prstGeom prst="rect">
            <a:avLst/>
          </a:prstGeom>
        </p:spPr>
      </p:pic>
      <p:sp>
        <p:nvSpPr>
          <p:cNvPr id="2" name="Title 1">
            <a:extLst>
              <a:ext uri="{FF2B5EF4-FFF2-40B4-BE49-F238E27FC236}">
                <a16:creationId xmlns:a16="http://schemas.microsoft.com/office/drawing/2014/main" id="{C2B3FF0C-7149-EFBF-73D7-A3D52C2D2AF8}"/>
              </a:ext>
            </a:extLst>
          </p:cNvPr>
          <p:cNvSpPr>
            <a:spLocks noGrp="1"/>
          </p:cNvSpPr>
          <p:nvPr>
            <p:ph type="title"/>
          </p:nvPr>
        </p:nvSpPr>
        <p:spPr>
          <a:xfrm>
            <a:off x="480002" y="414261"/>
            <a:ext cx="8481118" cy="767425"/>
          </a:xfrm>
        </p:spPr>
        <p:txBody>
          <a:bodyPr/>
          <a:lstStyle/>
          <a:p>
            <a:r>
              <a:rPr lang="en-US" dirty="0"/>
              <a:t>Plotting the sample distribution</a:t>
            </a:r>
          </a:p>
        </p:txBody>
      </p:sp>
      <p:sp>
        <p:nvSpPr>
          <p:cNvPr id="7" name="TextBox 6">
            <a:extLst>
              <a:ext uri="{FF2B5EF4-FFF2-40B4-BE49-F238E27FC236}">
                <a16:creationId xmlns:a16="http://schemas.microsoft.com/office/drawing/2014/main" id="{FCC79913-6E2A-483E-A10D-0F8CC4A4BA4A}"/>
              </a:ext>
            </a:extLst>
          </p:cNvPr>
          <p:cNvSpPr txBox="1"/>
          <p:nvPr/>
        </p:nvSpPr>
        <p:spPr>
          <a:xfrm>
            <a:off x="728002" y="1181686"/>
            <a:ext cx="10983995" cy="1015663"/>
          </a:xfrm>
          <a:prstGeom prst="rect">
            <a:avLst/>
          </a:prstGeom>
          <a:noFill/>
        </p:spPr>
        <p:txBody>
          <a:bodyPr wrap="square">
            <a:spAutoFit/>
          </a:bodyPr>
          <a:lstStyle/>
          <a:p>
            <a:r>
              <a:rPr lang="en-US" sz="2000" b="1" dirty="0"/>
              <a:t>Skewed data </a:t>
            </a:r>
            <a:r>
              <a:rPr lang="en-US" sz="2000" dirty="0"/>
              <a:t>is data where there is a lack of symmetry in the distribution of the data:</a:t>
            </a:r>
          </a:p>
          <a:p>
            <a:pPr marL="342900" indent="-342900">
              <a:buFont typeface="Arial" panose="020B0604020202020204" pitchFamily="34" charset="0"/>
              <a:buChar char="•"/>
            </a:pPr>
            <a:r>
              <a:rPr lang="en-US" sz="2000" dirty="0"/>
              <a:t>We also say a </a:t>
            </a:r>
            <a:r>
              <a:rPr lang="en-US" sz="2000" i="1" dirty="0"/>
              <a:t>thick-tailed or long-tail distribution</a:t>
            </a:r>
            <a:r>
              <a:rPr lang="en-US" sz="2000" dirty="0"/>
              <a:t> since there is more data in the </a:t>
            </a:r>
            <a:r>
              <a:rPr lang="en-US" sz="2000" i="1" dirty="0"/>
              <a:t>tail (outer edge) </a:t>
            </a:r>
            <a:r>
              <a:rPr lang="en-US" sz="2000" dirty="0"/>
              <a:t>of the distribution.</a:t>
            </a:r>
          </a:p>
        </p:txBody>
      </p:sp>
      <p:cxnSp>
        <p:nvCxnSpPr>
          <p:cNvPr id="10" name="Straight Arrow Connector 9">
            <a:extLst>
              <a:ext uri="{FF2B5EF4-FFF2-40B4-BE49-F238E27FC236}">
                <a16:creationId xmlns:a16="http://schemas.microsoft.com/office/drawing/2014/main" id="{FFAEACC0-D387-F104-8B7B-FAF113FF1191}"/>
              </a:ext>
            </a:extLst>
          </p:cNvPr>
          <p:cNvCxnSpPr>
            <a:cxnSpLocks/>
          </p:cNvCxnSpPr>
          <p:nvPr/>
        </p:nvCxnSpPr>
        <p:spPr>
          <a:xfrm flipH="1">
            <a:off x="2603500" y="2765087"/>
            <a:ext cx="1651000" cy="17434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30116D5A-8387-FB4F-6919-61862D840266}"/>
              </a:ext>
            </a:extLst>
          </p:cNvPr>
          <p:cNvSpPr txBox="1"/>
          <p:nvPr/>
        </p:nvSpPr>
        <p:spPr>
          <a:xfrm>
            <a:off x="4150751" y="2331147"/>
            <a:ext cx="1776047" cy="369332"/>
          </a:xfrm>
          <a:prstGeom prst="rect">
            <a:avLst/>
          </a:prstGeom>
          <a:noFill/>
        </p:spPr>
        <p:txBody>
          <a:bodyPr wrap="square" rtlCol="0">
            <a:spAutoFit/>
          </a:bodyPr>
          <a:lstStyle/>
          <a:p>
            <a:r>
              <a:rPr lang="en-US" dirty="0"/>
              <a:t>Long right tail</a:t>
            </a:r>
          </a:p>
        </p:txBody>
      </p:sp>
      <p:sp>
        <p:nvSpPr>
          <p:cNvPr id="18" name="TextBox 17">
            <a:extLst>
              <a:ext uri="{FF2B5EF4-FFF2-40B4-BE49-F238E27FC236}">
                <a16:creationId xmlns:a16="http://schemas.microsoft.com/office/drawing/2014/main" id="{4B3732DC-406F-3260-3614-F84FB58EF98A}"/>
              </a:ext>
            </a:extLst>
          </p:cNvPr>
          <p:cNvSpPr txBox="1"/>
          <p:nvPr/>
        </p:nvSpPr>
        <p:spPr>
          <a:xfrm>
            <a:off x="6265204" y="2331147"/>
            <a:ext cx="1776047" cy="369332"/>
          </a:xfrm>
          <a:prstGeom prst="rect">
            <a:avLst/>
          </a:prstGeom>
          <a:noFill/>
        </p:spPr>
        <p:txBody>
          <a:bodyPr wrap="square" rtlCol="0">
            <a:spAutoFit/>
          </a:bodyPr>
          <a:lstStyle/>
          <a:p>
            <a:r>
              <a:rPr lang="en-US" dirty="0"/>
              <a:t>Long left tail</a:t>
            </a:r>
          </a:p>
        </p:txBody>
      </p:sp>
      <p:pic>
        <p:nvPicPr>
          <p:cNvPr id="19" name="Picture 18">
            <a:extLst>
              <a:ext uri="{FF2B5EF4-FFF2-40B4-BE49-F238E27FC236}">
                <a16:creationId xmlns:a16="http://schemas.microsoft.com/office/drawing/2014/main" id="{4C2178AA-DA99-C4D8-E3E1-098F08747ECC}"/>
              </a:ext>
            </a:extLst>
          </p:cNvPr>
          <p:cNvPicPr>
            <a:picLocks noChangeAspect="1"/>
          </p:cNvPicPr>
          <p:nvPr/>
        </p:nvPicPr>
        <p:blipFill>
          <a:blip r:embed="rId3"/>
          <a:stretch>
            <a:fillRect/>
          </a:stretch>
        </p:blipFill>
        <p:spPr>
          <a:xfrm>
            <a:off x="6708197" y="2963493"/>
            <a:ext cx="5003800" cy="2470230"/>
          </a:xfrm>
          <a:prstGeom prst="rect">
            <a:avLst/>
          </a:prstGeom>
        </p:spPr>
      </p:pic>
      <p:cxnSp>
        <p:nvCxnSpPr>
          <p:cNvPr id="20" name="Straight Arrow Connector 19">
            <a:extLst>
              <a:ext uri="{FF2B5EF4-FFF2-40B4-BE49-F238E27FC236}">
                <a16:creationId xmlns:a16="http://schemas.microsoft.com/office/drawing/2014/main" id="{9B6A8067-D77A-5F45-6C46-085E444DD87F}"/>
              </a:ext>
            </a:extLst>
          </p:cNvPr>
          <p:cNvCxnSpPr>
            <a:cxnSpLocks/>
          </p:cNvCxnSpPr>
          <p:nvPr/>
        </p:nvCxnSpPr>
        <p:spPr>
          <a:xfrm>
            <a:off x="7607300" y="2700479"/>
            <a:ext cx="2362200" cy="14570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573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4BE825-8155-08DE-3C9F-9E362B03F96D}"/>
              </a:ext>
            </a:extLst>
          </p:cNvPr>
          <p:cNvSpPr>
            <a:spLocks noGrp="1"/>
          </p:cNvSpPr>
          <p:nvPr>
            <p:ph type="title"/>
          </p:nvPr>
        </p:nvSpPr>
        <p:spPr>
          <a:xfrm>
            <a:off x="480002" y="414261"/>
            <a:ext cx="5246167" cy="1565897"/>
          </a:xfrm>
        </p:spPr>
        <p:txBody>
          <a:bodyPr anchor="t">
            <a:normAutofit/>
          </a:bodyPr>
          <a:lstStyle/>
          <a:p>
            <a:r>
              <a:rPr lang="en-US" dirty="0"/>
              <a:t>Plotting the sample distribution, </a:t>
            </a:r>
            <a:r>
              <a:rPr lang="en-US" i="1" dirty="0"/>
              <a:t>log(x) axis</a:t>
            </a:r>
          </a:p>
        </p:txBody>
      </p:sp>
      <p:sp>
        <p:nvSpPr>
          <p:cNvPr id="12" name="Content Placeholder 2">
            <a:extLst>
              <a:ext uri="{FF2B5EF4-FFF2-40B4-BE49-F238E27FC236}">
                <a16:creationId xmlns:a16="http://schemas.microsoft.com/office/drawing/2014/main" id="{EDC52AD5-2BC8-8A99-9D23-75BF33421285}"/>
              </a:ext>
            </a:extLst>
          </p:cNvPr>
          <p:cNvSpPr>
            <a:spLocks noGrp="1"/>
          </p:cNvSpPr>
          <p:nvPr>
            <p:ph idx="1"/>
          </p:nvPr>
        </p:nvSpPr>
        <p:spPr>
          <a:xfrm>
            <a:off x="480001" y="1980156"/>
            <a:ext cx="5246165" cy="3810096"/>
          </a:xfrm>
        </p:spPr>
        <p:txBody>
          <a:bodyPr>
            <a:normAutofit/>
          </a:bodyPr>
          <a:lstStyle/>
          <a:p>
            <a:pPr>
              <a:spcAft>
                <a:spcPts val="600"/>
              </a:spcAft>
            </a:pPr>
            <a:r>
              <a:rPr lang="en-US" dirty="0"/>
              <a:t>Strip chart</a:t>
            </a:r>
          </a:p>
          <a:p>
            <a:pPr>
              <a:spcAft>
                <a:spcPts val="600"/>
              </a:spcAft>
            </a:pPr>
            <a:endParaRPr lang="en-US" dirty="0"/>
          </a:p>
          <a:p>
            <a:pPr>
              <a:spcAft>
                <a:spcPts val="600"/>
              </a:spcAft>
            </a:pPr>
            <a:r>
              <a:rPr lang="en-US" dirty="0"/>
              <a:t>Box and whisker plot</a:t>
            </a:r>
          </a:p>
          <a:p>
            <a:pPr>
              <a:spcAft>
                <a:spcPts val="600"/>
              </a:spcAft>
            </a:pPr>
            <a:endParaRPr lang="en-US" dirty="0"/>
          </a:p>
          <a:p>
            <a:pPr>
              <a:spcAft>
                <a:spcPts val="600"/>
              </a:spcAft>
            </a:pPr>
            <a:r>
              <a:rPr lang="en-US" dirty="0"/>
              <a:t>Histogram</a:t>
            </a:r>
          </a:p>
        </p:txBody>
      </p:sp>
      <p:pic>
        <p:nvPicPr>
          <p:cNvPr id="4" name="Picture 3" descr="A group of black and white graphs&#10;&#10;Description automatically generated">
            <a:extLst>
              <a:ext uri="{FF2B5EF4-FFF2-40B4-BE49-F238E27FC236}">
                <a16:creationId xmlns:a16="http://schemas.microsoft.com/office/drawing/2014/main" id="{F462D01B-6015-CAC2-4D19-DF5481018828}"/>
              </a:ext>
            </a:extLst>
          </p:cNvPr>
          <p:cNvPicPr>
            <a:picLocks noChangeAspect="1"/>
          </p:cNvPicPr>
          <p:nvPr/>
        </p:nvPicPr>
        <p:blipFill>
          <a:blip r:embed="rId3"/>
          <a:stretch>
            <a:fillRect/>
          </a:stretch>
        </p:blipFill>
        <p:spPr>
          <a:xfrm>
            <a:off x="6126726" y="228326"/>
            <a:ext cx="6065276" cy="6401347"/>
          </a:xfrm>
          <a:prstGeom prst="rect">
            <a:avLst/>
          </a:prstGeom>
          <a:noFill/>
        </p:spPr>
      </p:pic>
    </p:spTree>
    <p:extLst>
      <p:ext uri="{BB962C8B-B14F-4D97-AF65-F5344CB8AC3E}">
        <p14:creationId xmlns:p14="http://schemas.microsoft.com/office/powerpoint/2010/main" val="5541913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067F4-DF34-31CB-6D37-93E1136A6EF6}"/>
              </a:ext>
            </a:extLst>
          </p:cNvPr>
          <p:cNvSpPr>
            <a:spLocks noGrp="1"/>
          </p:cNvSpPr>
          <p:nvPr>
            <p:ph type="title"/>
          </p:nvPr>
        </p:nvSpPr>
        <p:spPr/>
        <p:txBody>
          <a:bodyPr>
            <a:normAutofit fontScale="90000"/>
          </a:bodyPr>
          <a:lstStyle/>
          <a:p>
            <a:r>
              <a:rPr lang="en-US" dirty="0"/>
              <a:t>Visualizing Categorical Data: Tables and Heatmaps</a:t>
            </a:r>
          </a:p>
        </p:txBody>
      </p:sp>
      <p:sp>
        <p:nvSpPr>
          <p:cNvPr id="7" name="Content Placeholder 6">
            <a:extLst>
              <a:ext uri="{FF2B5EF4-FFF2-40B4-BE49-F238E27FC236}">
                <a16:creationId xmlns:a16="http://schemas.microsoft.com/office/drawing/2014/main" id="{9C285088-D7FF-1DF4-E7BE-66A7E980712D}"/>
              </a:ext>
            </a:extLst>
          </p:cNvPr>
          <p:cNvSpPr>
            <a:spLocks noGrp="1"/>
          </p:cNvSpPr>
          <p:nvPr>
            <p:ph idx="1"/>
          </p:nvPr>
        </p:nvSpPr>
        <p:spPr>
          <a:xfrm>
            <a:off x="660974" y="1170260"/>
            <a:ext cx="10740452" cy="1327428"/>
          </a:xfrm>
        </p:spPr>
        <p:txBody>
          <a:bodyPr/>
          <a:lstStyle/>
          <a:p>
            <a:pPr marL="0" indent="0">
              <a:buNone/>
            </a:pPr>
            <a:r>
              <a:rPr lang="en-US" sz="2000" dirty="0"/>
              <a:t>There are multiple aspects to consider:</a:t>
            </a:r>
          </a:p>
          <a:p>
            <a:r>
              <a:rPr lang="en-US" sz="2000" dirty="0"/>
              <a:t>Positive vs negative framing: the chosen framing affects how patterns are perceived.</a:t>
            </a:r>
          </a:p>
          <a:p>
            <a:r>
              <a:rPr lang="en-US" sz="2000" dirty="0"/>
              <a:t>Counts vs percentages: absolute scale or relative values?</a:t>
            </a:r>
          </a:p>
          <a:p>
            <a:r>
              <a:rPr lang="en-US" sz="2000" dirty="0"/>
              <a:t>Bias in the counts from unmeasured reasons: for example, data imbalance</a:t>
            </a:r>
          </a:p>
        </p:txBody>
      </p:sp>
      <p:sp>
        <p:nvSpPr>
          <p:cNvPr id="5" name="TextBox 4">
            <a:extLst>
              <a:ext uri="{FF2B5EF4-FFF2-40B4-BE49-F238E27FC236}">
                <a16:creationId xmlns:a16="http://schemas.microsoft.com/office/drawing/2014/main" id="{C380B092-6831-60CC-74F0-5077567A350C}"/>
              </a:ext>
            </a:extLst>
          </p:cNvPr>
          <p:cNvSpPr txBox="1"/>
          <p:nvPr/>
        </p:nvSpPr>
        <p:spPr>
          <a:xfrm>
            <a:off x="660974" y="2567910"/>
            <a:ext cx="10921426" cy="523220"/>
          </a:xfrm>
          <a:prstGeom prst="rect">
            <a:avLst/>
          </a:prstGeom>
          <a:noFill/>
        </p:spPr>
        <p:txBody>
          <a:bodyPr wrap="square" rtlCol="0">
            <a:spAutoFit/>
          </a:bodyPr>
          <a:lstStyle/>
          <a:p>
            <a:r>
              <a:rPr lang="en-US" sz="1400" dirty="0"/>
              <a:t>Assume we track customer satisfaction (yes/no) of the store per department: clothing, electronics and groceries</a:t>
            </a:r>
          </a:p>
          <a:p>
            <a:pPr marL="285750" indent="-285750">
              <a:buFont typeface="Arial" panose="020B0604020202020204" pitchFamily="34" charset="0"/>
              <a:buChar char="•"/>
            </a:pPr>
            <a:r>
              <a:rPr lang="en-US" sz="1400" dirty="0"/>
              <a:t>How can this be possible?  </a:t>
            </a:r>
          </a:p>
        </p:txBody>
      </p:sp>
      <p:pic>
        <p:nvPicPr>
          <p:cNvPr id="12" name="Picture 11">
            <a:extLst>
              <a:ext uri="{FF2B5EF4-FFF2-40B4-BE49-F238E27FC236}">
                <a16:creationId xmlns:a16="http://schemas.microsoft.com/office/drawing/2014/main" id="{73DA428D-E299-8A3B-70ED-8090F6996C33}"/>
              </a:ext>
            </a:extLst>
          </p:cNvPr>
          <p:cNvPicPr>
            <a:picLocks noChangeAspect="1"/>
          </p:cNvPicPr>
          <p:nvPr/>
        </p:nvPicPr>
        <p:blipFill>
          <a:blip r:embed="rId3"/>
          <a:stretch>
            <a:fillRect/>
          </a:stretch>
        </p:blipFill>
        <p:spPr>
          <a:xfrm>
            <a:off x="919358" y="3231097"/>
            <a:ext cx="3776800" cy="2902952"/>
          </a:xfrm>
          <a:prstGeom prst="rect">
            <a:avLst/>
          </a:prstGeom>
        </p:spPr>
      </p:pic>
      <p:pic>
        <p:nvPicPr>
          <p:cNvPr id="13" name="Picture 12">
            <a:extLst>
              <a:ext uri="{FF2B5EF4-FFF2-40B4-BE49-F238E27FC236}">
                <a16:creationId xmlns:a16="http://schemas.microsoft.com/office/drawing/2014/main" id="{F97D5BAB-3EA3-9B7E-1D5F-ADC6CDBCEB98}"/>
              </a:ext>
            </a:extLst>
          </p:cNvPr>
          <p:cNvPicPr>
            <a:picLocks noChangeAspect="1"/>
          </p:cNvPicPr>
          <p:nvPr/>
        </p:nvPicPr>
        <p:blipFill>
          <a:blip r:embed="rId4"/>
          <a:stretch>
            <a:fillRect/>
          </a:stretch>
        </p:blipFill>
        <p:spPr>
          <a:xfrm>
            <a:off x="4928788" y="3268544"/>
            <a:ext cx="3776800" cy="2880361"/>
          </a:xfrm>
          <a:prstGeom prst="rect">
            <a:avLst/>
          </a:prstGeom>
        </p:spPr>
      </p:pic>
    </p:spTree>
    <p:extLst>
      <p:ext uri="{BB962C8B-B14F-4D97-AF65-F5344CB8AC3E}">
        <p14:creationId xmlns:p14="http://schemas.microsoft.com/office/powerpoint/2010/main" val="3858258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75210-7CEA-C43E-ACDD-032FD843A2F4}"/>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95E87D5-60A0-CBA0-DFE9-79E03EB16BD4}"/>
              </a:ext>
            </a:extLst>
          </p:cNvPr>
          <p:cNvSpPr>
            <a:spLocks noGrp="1"/>
          </p:cNvSpPr>
          <p:nvPr>
            <p:ph idx="1"/>
          </p:nvPr>
        </p:nvSpPr>
        <p:spPr>
          <a:xfrm>
            <a:off x="660974" y="1170260"/>
            <a:ext cx="10740452" cy="1327428"/>
          </a:xfrm>
        </p:spPr>
        <p:txBody>
          <a:bodyPr/>
          <a:lstStyle/>
          <a:p>
            <a:pPr marL="0" indent="0">
              <a:buNone/>
            </a:pPr>
            <a:r>
              <a:rPr lang="en-US" sz="2000" dirty="0"/>
              <a:t>There are multiple aspects to consider:</a:t>
            </a:r>
          </a:p>
          <a:p>
            <a:r>
              <a:rPr lang="en-US" sz="2000" dirty="0"/>
              <a:t>Positive vs negative framing: the chosen framing affects how patterns are perceived.</a:t>
            </a:r>
          </a:p>
          <a:p>
            <a:r>
              <a:rPr lang="en-US" sz="2000" dirty="0"/>
              <a:t>Counts vs percentages: absolute scale or relative values?</a:t>
            </a:r>
          </a:p>
          <a:p>
            <a:r>
              <a:rPr lang="en-US" sz="2000" dirty="0"/>
              <a:t>Bias in the counts from unmeasured reasons: for example, data imbalance</a:t>
            </a:r>
          </a:p>
        </p:txBody>
      </p:sp>
      <p:pic>
        <p:nvPicPr>
          <p:cNvPr id="3" name="Picture 2">
            <a:extLst>
              <a:ext uri="{FF2B5EF4-FFF2-40B4-BE49-F238E27FC236}">
                <a16:creationId xmlns:a16="http://schemas.microsoft.com/office/drawing/2014/main" id="{3F8BEF20-5B74-91AA-3DCC-3D0B21D49C25}"/>
              </a:ext>
            </a:extLst>
          </p:cNvPr>
          <p:cNvPicPr>
            <a:picLocks noChangeAspect="1"/>
          </p:cNvPicPr>
          <p:nvPr/>
        </p:nvPicPr>
        <p:blipFill>
          <a:blip r:embed="rId3"/>
          <a:stretch>
            <a:fillRect/>
          </a:stretch>
        </p:blipFill>
        <p:spPr>
          <a:xfrm>
            <a:off x="919358" y="3231097"/>
            <a:ext cx="3776800" cy="2902952"/>
          </a:xfrm>
          <a:prstGeom prst="rect">
            <a:avLst/>
          </a:prstGeom>
        </p:spPr>
      </p:pic>
      <p:pic>
        <p:nvPicPr>
          <p:cNvPr id="4" name="Picture 3">
            <a:extLst>
              <a:ext uri="{FF2B5EF4-FFF2-40B4-BE49-F238E27FC236}">
                <a16:creationId xmlns:a16="http://schemas.microsoft.com/office/drawing/2014/main" id="{9F90A529-5B75-24C2-92D7-B9C90AD27E83}"/>
              </a:ext>
            </a:extLst>
          </p:cNvPr>
          <p:cNvPicPr>
            <a:picLocks noChangeAspect="1"/>
          </p:cNvPicPr>
          <p:nvPr/>
        </p:nvPicPr>
        <p:blipFill>
          <a:blip r:embed="rId4"/>
          <a:stretch>
            <a:fillRect/>
          </a:stretch>
        </p:blipFill>
        <p:spPr>
          <a:xfrm>
            <a:off x="4928788" y="3268544"/>
            <a:ext cx="3776800" cy="2880361"/>
          </a:xfrm>
          <a:prstGeom prst="rect">
            <a:avLst/>
          </a:prstGeom>
        </p:spPr>
      </p:pic>
      <p:sp>
        <p:nvSpPr>
          <p:cNvPr id="10" name="TextBox 9">
            <a:extLst>
              <a:ext uri="{FF2B5EF4-FFF2-40B4-BE49-F238E27FC236}">
                <a16:creationId xmlns:a16="http://schemas.microsoft.com/office/drawing/2014/main" id="{B024CCE1-493D-2E15-8D03-57D99E7B3613}"/>
              </a:ext>
            </a:extLst>
          </p:cNvPr>
          <p:cNvSpPr txBox="1"/>
          <p:nvPr/>
        </p:nvSpPr>
        <p:spPr>
          <a:xfrm>
            <a:off x="9287846" y="2829520"/>
            <a:ext cx="2527184" cy="3323987"/>
          </a:xfrm>
          <a:prstGeom prst="rect">
            <a:avLst/>
          </a:prstGeom>
          <a:noFill/>
        </p:spPr>
        <p:txBody>
          <a:bodyPr wrap="square">
            <a:spAutoFit/>
          </a:bodyPr>
          <a:lstStyle/>
          <a:p>
            <a:pPr>
              <a:lnSpc>
                <a:spcPts val="1350"/>
              </a:lnSpc>
              <a:buNone/>
            </a:pPr>
            <a:r>
              <a:rPr lang="en-US" sz="1200" b="0" dirty="0">
                <a:effectLst/>
                <a:latin typeface="Menlo" panose="020B0609030804020204" pitchFamily="49" charset="0"/>
              </a:rPr>
              <a:t>"Electronics": {</a:t>
            </a:r>
          </a:p>
          <a:p>
            <a:pPr>
              <a:lnSpc>
                <a:spcPts val="1350"/>
              </a:lnSpc>
              <a:buNone/>
            </a:pPr>
            <a:r>
              <a:rPr lang="en-US" sz="1200" b="0" dirty="0">
                <a:effectLst/>
                <a:latin typeface="Menlo" panose="020B0609030804020204" pitchFamily="49" charset="0"/>
              </a:rPr>
              <a:t>"US": 900,</a:t>
            </a:r>
          </a:p>
          <a:p>
            <a:pPr>
              <a:lnSpc>
                <a:spcPts val="1350"/>
              </a:lnSpc>
              <a:buNone/>
            </a:pPr>
            <a:r>
              <a:rPr lang="en-US" sz="1200" b="0" dirty="0">
                <a:effectLst/>
                <a:latin typeface="Menlo" panose="020B0609030804020204" pitchFamily="49" charset="0"/>
              </a:rPr>
              <a:t>"EU": 700,</a:t>
            </a:r>
          </a:p>
          <a:p>
            <a:pPr>
              <a:lnSpc>
                <a:spcPts val="1350"/>
              </a:lnSpc>
              <a:buNone/>
            </a:pPr>
            <a:r>
              <a:rPr lang="en-US" sz="1200" b="0" dirty="0">
                <a:effectLst/>
                <a:latin typeface="Menlo" panose="020B0609030804020204" pitchFamily="49" charset="0"/>
              </a:rPr>
              <a:t>"Asia": 400</a:t>
            </a:r>
          </a:p>
          <a:p>
            <a:pPr>
              <a:lnSpc>
                <a:spcPts val="1350"/>
              </a:lnSpc>
              <a:buNone/>
            </a:pPr>
            <a:r>
              <a:rPr lang="en-US" sz="1200" b="0" dirty="0">
                <a:effectLst/>
                <a:latin typeface="Menlo" panose="020B0609030804020204" pitchFamily="49" charset="0"/>
              </a:rPr>
              <a:t>},</a:t>
            </a:r>
          </a:p>
          <a:p>
            <a:pPr>
              <a:lnSpc>
                <a:spcPts val="1350"/>
              </a:lnSpc>
              <a:buNone/>
            </a:pPr>
            <a:endParaRPr lang="en-US" sz="1200" b="0" dirty="0">
              <a:effectLst/>
              <a:latin typeface="Menlo" panose="020B0609030804020204" pitchFamily="49" charset="0"/>
            </a:endParaRPr>
          </a:p>
          <a:p>
            <a:pPr>
              <a:lnSpc>
                <a:spcPts val="1350"/>
              </a:lnSpc>
              <a:buNone/>
            </a:pPr>
            <a:r>
              <a:rPr lang="en-US" sz="1200" b="0" dirty="0">
                <a:effectLst/>
                <a:latin typeface="Menlo" panose="020B0609030804020204" pitchFamily="49" charset="0"/>
              </a:rPr>
              <a:t>"Clothing": {</a:t>
            </a:r>
          </a:p>
          <a:p>
            <a:pPr>
              <a:lnSpc>
                <a:spcPts val="1350"/>
              </a:lnSpc>
              <a:buNone/>
            </a:pPr>
            <a:r>
              <a:rPr lang="en-US" sz="1200" b="0" dirty="0">
                <a:effectLst/>
                <a:latin typeface="Menlo" panose="020B0609030804020204" pitchFamily="49" charset="0"/>
              </a:rPr>
              <a:t>"US": 300,</a:t>
            </a:r>
          </a:p>
          <a:p>
            <a:pPr>
              <a:lnSpc>
                <a:spcPts val="1350"/>
              </a:lnSpc>
              <a:buNone/>
            </a:pPr>
            <a:r>
              <a:rPr lang="en-US" sz="1200" b="0" dirty="0">
                <a:effectLst/>
                <a:latin typeface="Menlo" panose="020B0609030804020204" pitchFamily="49" charset="0"/>
              </a:rPr>
              <a:t>"EU": 250,</a:t>
            </a:r>
          </a:p>
          <a:p>
            <a:pPr>
              <a:lnSpc>
                <a:spcPts val="1350"/>
              </a:lnSpc>
              <a:buNone/>
            </a:pPr>
            <a:r>
              <a:rPr lang="en-US" sz="1200" b="0" dirty="0">
                <a:effectLst/>
                <a:latin typeface="Menlo" panose="020B0609030804020204" pitchFamily="49" charset="0"/>
              </a:rPr>
              <a:t>"Asia": 250</a:t>
            </a:r>
          </a:p>
          <a:p>
            <a:pPr>
              <a:lnSpc>
                <a:spcPts val="1350"/>
              </a:lnSpc>
              <a:buNone/>
            </a:pPr>
            <a:r>
              <a:rPr lang="en-US" sz="1200" b="0" dirty="0">
                <a:effectLst/>
                <a:latin typeface="Menlo" panose="020B0609030804020204" pitchFamily="49" charset="0"/>
              </a:rPr>
              <a:t>},</a:t>
            </a:r>
          </a:p>
          <a:p>
            <a:pPr>
              <a:lnSpc>
                <a:spcPts val="1350"/>
              </a:lnSpc>
              <a:buNone/>
            </a:pPr>
            <a:endParaRPr lang="en-US" sz="1200" dirty="0">
              <a:latin typeface="Menlo" panose="020B0609030804020204" pitchFamily="49" charset="0"/>
            </a:endParaRPr>
          </a:p>
          <a:p>
            <a:pPr>
              <a:lnSpc>
                <a:spcPts val="1350"/>
              </a:lnSpc>
              <a:buNone/>
            </a:pPr>
            <a:r>
              <a:rPr lang="en-US" sz="1200" b="0" dirty="0">
                <a:effectLst/>
                <a:latin typeface="Menlo" panose="020B0609030804020204" pitchFamily="49" charset="0"/>
              </a:rPr>
              <a:t>"Groceries": {</a:t>
            </a:r>
          </a:p>
          <a:p>
            <a:pPr>
              <a:lnSpc>
                <a:spcPts val="1350"/>
              </a:lnSpc>
              <a:buNone/>
            </a:pPr>
            <a:r>
              <a:rPr lang="en-US" sz="1200" b="0" dirty="0">
                <a:effectLst/>
                <a:latin typeface="Menlo" panose="020B0609030804020204" pitchFamily="49" charset="0"/>
              </a:rPr>
              <a:t>"US": 150,</a:t>
            </a:r>
          </a:p>
          <a:p>
            <a:pPr>
              <a:lnSpc>
                <a:spcPts val="1350"/>
              </a:lnSpc>
              <a:buNone/>
            </a:pPr>
            <a:r>
              <a:rPr lang="en-US" sz="1200" b="0" dirty="0">
                <a:effectLst/>
                <a:latin typeface="Menlo" panose="020B0609030804020204" pitchFamily="49" charset="0"/>
              </a:rPr>
              <a:t>"EU": 150,</a:t>
            </a:r>
          </a:p>
          <a:p>
            <a:pPr>
              <a:lnSpc>
                <a:spcPts val="1350"/>
              </a:lnSpc>
              <a:buNone/>
            </a:pPr>
            <a:r>
              <a:rPr lang="en-US" sz="1200" b="0" dirty="0">
                <a:effectLst/>
                <a:latin typeface="Menlo" panose="020B0609030804020204" pitchFamily="49" charset="0"/>
              </a:rPr>
              <a:t>"Asia": 100</a:t>
            </a:r>
          </a:p>
          <a:p>
            <a:pPr>
              <a:lnSpc>
                <a:spcPts val="1350"/>
              </a:lnSpc>
              <a:buNone/>
            </a:pPr>
            <a:r>
              <a:rPr lang="en-US" sz="1200" b="0" dirty="0">
                <a:effectLst/>
                <a:latin typeface="Menlo" panose="020B0609030804020204" pitchFamily="49" charset="0"/>
              </a:rPr>
              <a:t>}</a:t>
            </a:r>
          </a:p>
          <a:p>
            <a:pPr>
              <a:lnSpc>
                <a:spcPts val="1350"/>
              </a:lnSpc>
              <a:buNone/>
            </a:pPr>
            <a:r>
              <a:rPr lang="en-US" sz="1200" b="0" dirty="0">
                <a:effectLst/>
                <a:latin typeface="Menlo" panose="020B0609030804020204" pitchFamily="49" charset="0"/>
              </a:rPr>
              <a:t>}</a:t>
            </a:r>
          </a:p>
        </p:txBody>
      </p:sp>
      <p:sp>
        <p:nvSpPr>
          <p:cNvPr id="13" name="Title 1">
            <a:extLst>
              <a:ext uri="{FF2B5EF4-FFF2-40B4-BE49-F238E27FC236}">
                <a16:creationId xmlns:a16="http://schemas.microsoft.com/office/drawing/2014/main" id="{A577870E-0AFD-0B0F-77BC-D1A96F047406}"/>
              </a:ext>
            </a:extLst>
          </p:cNvPr>
          <p:cNvSpPr>
            <a:spLocks noGrp="1"/>
          </p:cNvSpPr>
          <p:nvPr>
            <p:ph type="title"/>
          </p:nvPr>
        </p:nvSpPr>
        <p:spPr>
          <a:xfrm>
            <a:off x="480001" y="414260"/>
            <a:ext cx="11102399" cy="756000"/>
          </a:xfrm>
        </p:spPr>
        <p:txBody>
          <a:bodyPr>
            <a:normAutofit fontScale="90000"/>
          </a:bodyPr>
          <a:lstStyle/>
          <a:p>
            <a:r>
              <a:rPr lang="en-US" dirty="0"/>
              <a:t>Visualizing Categorical Data: Tables and Heatmaps</a:t>
            </a:r>
          </a:p>
        </p:txBody>
      </p:sp>
      <p:sp>
        <p:nvSpPr>
          <p:cNvPr id="14" name="TextBox 13">
            <a:extLst>
              <a:ext uri="{FF2B5EF4-FFF2-40B4-BE49-F238E27FC236}">
                <a16:creationId xmlns:a16="http://schemas.microsoft.com/office/drawing/2014/main" id="{922ECF53-0002-D8F5-C081-086DA719F4BB}"/>
              </a:ext>
            </a:extLst>
          </p:cNvPr>
          <p:cNvSpPr txBox="1"/>
          <p:nvPr/>
        </p:nvSpPr>
        <p:spPr>
          <a:xfrm>
            <a:off x="660974" y="2567910"/>
            <a:ext cx="10921426" cy="523220"/>
          </a:xfrm>
          <a:prstGeom prst="rect">
            <a:avLst/>
          </a:prstGeom>
          <a:noFill/>
        </p:spPr>
        <p:txBody>
          <a:bodyPr wrap="square" rtlCol="0">
            <a:spAutoFit/>
          </a:bodyPr>
          <a:lstStyle/>
          <a:p>
            <a:r>
              <a:rPr lang="en-US" sz="1400" dirty="0"/>
              <a:t>Assume we track customer satisfaction (yes/no) of the store per department: clothing, electronics and groceries</a:t>
            </a:r>
          </a:p>
          <a:p>
            <a:pPr marL="285750" indent="-285750">
              <a:buFont typeface="Arial" panose="020B0604020202020204" pitchFamily="34" charset="0"/>
              <a:buChar char="•"/>
            </a:pPr>
            <a:r>
              <a:rPr lang="en-US" sz="1400" dirty="0"/>
              <a:t>How can this be possible?  </a:t>
            </a:r>
          </a:p>
        </p:txBody>
      </p:sp>
    </p:spTree>
    <p:extLst>
      <p:ext uri="{BB962C8B-B14F-4D97-AF65-F5344CB8AC3E}">
        <p14:creationId xmlns:p14="http://schemas.microsoft.com/office/powerpoint/2010/main" val="802061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F0D1E41-317A-890F-14E9-E3D109E30B65}"/>
              </a:ext>
            </a:extLst>
          </p:cNvPr>
          <p:cNvSpPr txBox="1">
            <a:spLocks/>
          </p:cNvSpPr>
          <p:nvPr/>
        </p:nvSpPr>
        <p:spPr>
          <a:xfrm>
            <a:off x="444511" y="391861"/>
            <a:ext cx="11102399" cy="756000"/>
          </a:xfrm>
          <a:prstGeom prst="rect">
            <a:avLst/>
          </a:prstGeom>
        </p:spPr>
        <p:txBody>
          <a:bodyPr vert="horz" lIns="0" tIns="0" rIns="0" bIns="0" rtlCol="0" anchor="t" anchorCtr="0">
            <a:normAutofit fontScale="97500"/>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Visualizing Categorical Data: Bar Plots</a:t>
            </a:r>
          </a:p>
        </p:txBody>
      </p:sp>
      <p:sp>
        <p:nvSpPr>
          <p:cNvPr id="21" name="Content Placeholder 6">
            <a:extLst>
              <a:ext uri="{FF2B5EF4-FFF2-40B4-BE49-F238E27FC236}">
                <a16:creationId xmlns:a16="http://schemas.microsoft.com/office/drawing/2014/main" id="{910A4A8C-6B8E-BE84-C09C-F11A80038A4D}"/>
              </a:ext>
            </a:extLst>
          </p:cNvPr>
          <p:cNvSpPr>
            <a:spLocks noGrp="1"/>
          </p:cNvSpPr>
          <p:nvPr>
            <p:ph idx="1"/>
          </p:nvPr>
        </p:nvSpPr>
        <p:spPr>
          <a:xfrm>
            <a:off x="660974" y="1170260"/>
            <a:ext cx="10740452" cy="470650"/>
          </a:xfrm>
        </p:spPr>
        <p:txBody>
          <a:bodyPr/>
          <a:lstStyle/>
          <a:p>
            <a:pPr marL="0" indent="0">
              <a:buNone/>
            </a:pPr>
            <a:r>
              <a:rPr lang="en-US" sz="2000" dirty="0"/>
              <a:t>Bar plots: bar per category or per combination of categories</a:t>
            </a:r>
          </a:p>
        </p:txBody>
      </p:sp>
      <p:pic>
        <p:nvPicPr>
          <p:cNvPr id="22" name="Picture 21">
            <a:extLst>
              <a:ext uri="{FF2B5EF4-FFF2-40B4-BE49-F238E27FC236}">
                <a16:creationId xmlns:a16="http://schemas.microsoft.com/office/drawing/2014/main" id="{83D77DEF-FB34-C50D-2531-3CC690F46D32}"/>
              </a:ext>
            </a:extLst>
          </p:cNvPr>
          <p:cNvPicPr>
            <a:picLocks noChangeAspect="1"/>
          </p:cNvPicPr>
          <p:nvPr/>
        </p:nvPicPr>
        <p:blipFill>
          <a:blip r:embed="rId3"/>
          <a:stretch>
            <a:fillRect/>
          </a:stretch>
        </p:blipFill>
        <p:spPr>
          <a:xfrm>
            <a:off x="7671095" y="1990152"/>
            <a:ext cx="3773293" cy="2877687"/>
          </a:xfrm>
          <a:prstGeom prst="rect">
            <a:avLst/>
          </a:prstGeom>
        </p:spPr>
      </p:pic>
      <p:pic>
        <p:nvPicPr>
          <p:cNvPr id="24" name="Picture 23">
            <a:extLst>
              <a:ext uri="{FF2B5EF4-FFF2-40B4-BE49-F238E27FC236}">
                <a16:creationId xmlns:a16="http://schemas.microsoft.com/office/drawing/2014/main" id="{55DC15EB-D67D-A6FC-8AE6-A4732301ADA3}"/>
              </a:ext>
            </a:extLst>
          </p:cNvPr>
          <p:cNvPicPr>
            <a:picLocks noChangeAspect="1"/>
          </p:cNvPicPr>
          <p:nvPr/>
        </p:nvPicPr>
        <p:blipFill>
          <a:blip r:embed="rId4"/>
          <a:stretch>
            <a:fillRect/>
          </a:stretch>
        </p:blipFill>
        <p:spPr>
          <a:xfrm>
            <a:off x="660974" y="1922452"/>
            <a:ext cx="4857837" cy="3013089"/>
          </a:xfrm>
          <a:prstGeom prst="rect">
            <a:avLst/>
          </a:prstGeom>
        </p:spPr>
      </p:pic>
      <p:sp>
        <p:nvSpPr>
          <p:cNvPr id="27" name="TextBox 26">
            <a:extLst>
              <a:ext uri="{FF2B5EF4-FFF2-40B4-BE49-F238E27FC236}">
                <a16:creationId xmlns:a16="http://schemas.microsoft.com/office/drawing/2014/main" id="{33C54DEE-CF88-3187-A143-CD603854DE46}"/>
              </a:ext>
            </a:extLst>
          </p:cNvPr>
          <p:cNvSpPr txBox="1"/>
          <p:nvPr/>
        </p:nvSpPr>
        <p:spPr>
          <a:xfrm>
            <a:off x="5661166" y="2962788"/>
            <a:ext cx="2009929" cy="369332"/>
          </a:xfrm>
          <a:prstGeom prst="rect">
            <a:avLst/>
          </a:prstGeom>
          <a:noFill/>
        </p:spPr>
        <p:txBody>
          <a:bodyPr wrap="square" rtlCol="0">
            <a:spAutoFit/>
          </a:bodyPr>
          <a:lstStyle/>
          <a:p>
            <a:pPr algn="ctr"/>
            <a:r>
              <a:rPr lang="en-US" dirty="0"/>
              <a:t>Same information</a:t>
            </a:r>
          </a:p>
        </p:txBody>
      </p:sp>
      <p:cxnSp>
        <p:nvCxnSpPr>
          <p:cNvPr id="29" name="Straight Arrow Connector 28">
            <a:extLst>
              <a:ext uri="{FF2B5EF4-FFF2-40B4-BE49-F238E27FC236}">
                <a16:creationId xmlns:a16="http://schemas.microsoft.com/office/drawing/2014/main" id="{9785EFB3-EA0F-02B5-F84A-3E0A6C96F8F1}"/>
              </a:ext>
            </a:extLst>
          </p:cNvPr>
          <p:cNvCxnSpPr>
            <a:cxnSpLocks/>
            <a:endCxn id="22" idx="1"/>
          </p:cNvCxnSpPr>
          <p:nvPr/>
        </p:nvCxnSpPr>
        <p:spPr>
          <a:xfrm flipV="1">
            <a:off x="5661166" y="3428996"/>
            <a:ext cx="2009929" cy="4"/>
          </a:xfrm>
          <a:prstGeom prst="straightConnector1">
            <a:avLst/>
          </a:prstGeom>
          <a:ln>
            <a:headEnd type="arrow" w="med" len="med"/>
            <a:tailEnd type="arrow"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2212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AC843-E27C-C3DB-AC56-82A88A6F4D04}"/>
              </a:ext>
            </a:extLst>
          </p:cNvPr>
          <p:cNvSpPr>
            <a:spLocks noGrp="1"/>
          </p:cNvSpPr>
          <p:nvPr>
            <p:ph type="title"/>
          </p:nvPr>
        </p:nvSpPr>
        <p:spPr/>
        <p:txBody>
          <a:bodyPr>
            <a:normAutofit/>
          </a:bodyPr>
          <a:lstStyle/>
          <a:p>
            <a:r>
              <a:rPr lang="en-US" dirty="0"/>
              <a:t>Visualize relationships between variables</a:t>
            </a:r>
          </a:p>
        </p:txBody>
      </p:sp>
      <p:pic>
        <p:nvPicPr>
          <p:cNvPr id="3074" name="Picture 2" descr="Chapter 18 Scatterplots and Best Fit Lines - Single Set | Basic R Guide for  NSC Statistics">
            <a:extLst>
              <a:ext uri="{FF2B5EF4-FFF2-40B4-BE49-F238E27FC236}">
                <a16:creationId xmlns:a16="http://schemas.microsoft.com/office/drawing/2014/main" id="{C5DAB791-7E8C-C01A-D712-8DCA7DAC69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043" y="1640910"/>
            <a:ext cx="6224074" cy="444576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15F7D5D-9EDF-2E97-29A6-B0E385F59D06}"/>
              </a:ext>
            </a:extLst>
          </p:cNvPr>
          <p:cNvSpPr txBox="1"/>
          <p:nvPr/>
        </p:nvSpPr>
        <p:spPr>
          <a:xfrm>
            <a:off x="6291620" y="6550223"/>
            <a:ext cx="6250674" cy="307777"/>
          </a:xfrm>
          <a:prstGeom prst="rect">
            <a:avLst/>
          </a:prstGeom>
          <a:noFill/>
        </p:spPr>
        <p:txBody>
          <a:bodyPr wrap="square" rtlCol="0">
            <a:spAutoFit/>
          </a:bodyPr>
          <a:lstStyle/>
          <a:p>
            <a:r>
              <a:rPr lang="en-US" sz="1400" dirty="0"/>
              <a:t>https://</a:t>
            </a:r>
            <a:r>
              <a:rPr lang="en-US" sz="1400" dirty="0" err="1"/>
              <a:t>bookdown.org</a:t>
            </a:r>
            <a:r>
              <a:rPr lang="en-US" sz="1400" dirty="0"/>
              <a:t>/dli/</a:t>
            </a:r>
            <a:r>
              <a:rPr lang="en-US" sz="1400" dirty="0" err="1"/>
              <a:t>rguide</a:t>
            </a:r>
            <a:r>
              <a:rPr lang="en-US" sz="1400" dirty="0"/>
              <a:t>/scatterplots-and-best-fit-lines-single-</a:t>
            </a:r>
            <a:r>
              <a:rPr lang="en-US" sz="1400" dirty="0" err="1"/>
              <a:t>set.html</a:t>
            </a:r>
            <a:endParaRPr lang="en-US" sz="1400" dirty="0"/>
          </a:p>
        </p:txBody>
      </p:sp>
      <p:sp>
        <p:nvSpPr>
          <p:cNvPr id="5" name="Content Placeholder 6">
            <a:extLst>
              <a:ext uri="{FF2B5EF4-FFF2-40B4-BE49-F238E27FC236}">
                <a16:creationId xmlns:a16="http://schemas.microsoft.com/office/drawing/2014/main" id="{DFDA3C4C-8084-3B25-3AC2-3943FD52CC20}"/>
              </a:ext>
            </a:extLst>
          </p:cNvPr>
          <p:cNvSpPr>
            <a:spLocks noGrp="1"/>
          </p:cNvSpPr>
          <p:nvPr>
            <p:ph idx="1"/>
          </p:nvPr>
        </p:nvSpPr>
        <p:spPr>
          <a:xfrm>
            <a:off x="660974" y="1170260"/>
            <a:ext cx="10740452" cy="470650"/>
          </a:xfrm>
        </p:spPr>
        <p:txBody>
          <a:bodyPr/>
          <a:lstStyle/>
          <a:p>
            <a:pPr marL="0" indent="0">
              <a:buNone/>
            </a:pPr>
            <a:r>
              <a:rPr lang="en-US" sz="2000" dirty="0"/>
              <a:t>Scatter plots can help visualizing pair-wise relationships between numerical variables:</a:t>
            </a:r>
          </a:p>
        </p:txBody>
      </p:sp>
      <p:cxnSp>
        <p:nvCxnSpPr>
          <p:cNvPr id="7" name="Straight Arrow Connector 6">
            <a:extLst>
              <a:ext uri="{FF2B5EF4-FFF2-40B4-BE49-F238E27FC236}">
                <a16:creationId xmlns:a16="http://schemas.microsoft.com/office/drawing/2014/main" id="{735531C4-6D9E-8CAA-48DD-FBE5FCBB33C8}"/>
              </a:ext>
            </a:extLst>
          </p:cNvPr>
          <p:cNvCxnSpPr>
            <a:cxnSpLocks/>
            <a:stCxn id="8" idx="1"/>
          </p:cNvCxnSpPr>
          <p:nvPr/>
        </p:nvCxnSpPr>
        <p:spPr>
          <a:xfrm flipH="1">
            <a:off x="3331923" y="2720076"/>
            <a:ext cx="4920114" cy="10538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D6BBB93E-1BBC-6490-2D7A-B3380355FF35}"/>
              </a:ext>
            </a:extLst>
          </p:cNvPr>
          <p:cNvSpPr txBox="1"/>
          <p:nvPr/>
        </p:nvSpPr>
        <p:spPr>
          <a:xfrm>
            <a:off x="8252037" y="2396910"/>
            <a:ext cx="3565742" cy="646331"/>
          </a:xfrm>
          <a:prstGeom prst="rect">
            <a:avLst/>
          </a:prstGeom>
          <a:noFill/>
        </p:spPr>
        <p:txBody>
          <a:bodyPr wrap="square" rtlCol="0">
            <a:spAutoFit/>
          </a:bodyPr>
          <a:lstStyle/>
          <a:p>
            <a:r>
              <a:rPr lang="en-US" dirty="0"/>
              <a:t>You can even fit a regression line to demonstrate trends</a:t>
            </a:r>
          </a:p>
        </p:txBody>
      </p:sp>
    </p:spTree>
    <p:extLst>
      <p:ext uri="{BB962C8B-B14F-4D97-AF65-F5344CB8AC3E}">
        <p14:creationId xmlns:p14="http://schemas.microsoft.com/office/powerpoint/2010/main" val="153350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BFC50-85C7-BDDD-D2C7-1D08CFADB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674754-A67B-4263-13E3-E3CB47DFA5CA}"/>
              </a:ext>
            </a:extLst>
          </p:cNvPr>
          <p:cNvSpPr>
            <a:spLocks noGrp="1"/>
          </p:cNvSpPr>
          <p:nvPr>
            <p:ph type="title"/>
          </p:nvPr>
        </p:nvSpPr>
        <p:spPr/>
        <p:txBody>
          <a:bodyPr>
            <a:normAutofit fontScale="90000"/>
          </a:bodyPr>
          <a:lstStyle/>
          <a:p>
            <a:r>
              <a:rPr lang="en-US" dirty="0"/>
              <a:t>Scatter plots visualize relationships between variables</a:t>
            </a:r>
          </a:p>
        </p:txBody>
      </p:sp>
      <p:sp>
        <p:nvSpPr>
          <p:cNvPr id="3" name="Content Placeholder 2">
            <a:extLst>
              <a:ext uri="{FF2B5EF4-FFF2-40B4-BE49-F238E27FC236}">
                <a16:creationId xmlns:a16="http://schemas.microsoft.com/office/drawing/2014/main" id="{2F6C6F0C-CB0A-0764-F763-D7133AA05591}"/>
              </a:ext>
            </a:extLst>
          </p:cNvPr>
          <p:cNvSpPr>
            <a:spLocks noGrp="1"/>
          </p:cNvSpPr>
          <p:nvPr>
            <p:ph idx="1"/>
          </p:nvPr>
        </p:nvSpPr>
        <p:spPr/>
        <p:txBody>
          <a:bodyPr/>
          <a:lstStyle/>
          <a:p>
            <a:endParaRPr lang="en-US"/>
          </a:p>
        </p:txBody>
      </p:sp>
      <p:sp>
        <p:nvSpPr>
          <p:cNvPr id="4" name="TextBox 3">
            <a:extLst>
              <a:ext uri="{FF2B5EF4-FFF2-40B4-BE49-F238E27FC236}">
                <a16:creationId xmlns:a16="http://schemas.microsoft.com/office/drawing/2014/main" id="{B9F8A58D-0C41-684D-2543-E02233890E47}"/>
              </a:ext>
            </a:extLst>
          </p:cNvPr>
          <p:cNvSpPr txBox="1"/>
          <p:nvPr/>
        </p:nvSpPr>
        <p:spPr>
          <a:xfrm>
            <a:off x="9671538" y="6550223"/>
            <a:ext cx="2870756" cy="307777"/>
          </a:xfrm>
          <a:prstGeom prst="rect">
            <a:avLst/>
          </a:prstGeom>
          <a:noFill/>
        </p:spPr>
        <p:txBody>
          <a:bodyPr wrap="square" rtlCol="0">
            <a:spAutoFit/>
          </a:bodyPr>
          <a:lstStyle/>
          <a:p>
            <a:r>
              <a:rPr lang="en-US" sz="1400" dirty="0"/>
              <a:t>The Functional Art, Alberto Cairo</a:t>
            </a:r>
          </a:p>
        </p:txBody>
      </p:sp>
      <p:pic>
        <p:nvPicPr>
          <p:cNvPr id="5" name="Picture 4">
            <a:extLst>
              <a:ext uri="{FF2B5EF4-FFF2-40B4-BE49-F238E27FC236}">
                <a16:creationId xmlns:a16="http://schemas.microsoft.com/office/drawing/2014/main" id="{B405083B-7C25-EB49-7852-26B3542595B7}"/>
              </a:ext>
            </a:extLst>
          </p:cNvPr>
          <p:cNvPicPr>
            <a:picLocks noChangeAspect="1"/>
          </p:cNvPicPr>
          <p:nvPr/>
        </p:nvPicPr>
        <p:blipFill>
          <a:blip r:embed="rId3"/>
          <a:stretch>
            <a:fillRect/>
          </a:stretch>
        </p:blipFill>
        <p:spPr>
          <a:xfrm>
            <a:off x="1909777" y="982029"/>
            <a:ext cx="7972777" cy="5152219"/>
          </a:xfrm>
          <a:prstGeom prst="rect">
            <a:avLst/>
          </a:prstGeom>
        </p:spPr>
      </p:pic>
    </p:spTree>
    <p:extLst>
      <p:ext uri="{BB962C8B-B14F-4D97-AF65-F5344CB8AC3E}">
        <p14:creationId xmlns:p14="http://schemas.microsoft.com/office/powerpoint/2010/main" val="5825610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FF4FBD10-9165-81FD-AD30-6B345D81F6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82" y="2000372"/>
            <a:ext cx="6705433" cy="40845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001FBDB-F35B-7D08-69C9-529E9D063F1A}"/>
              </a:ext>
            </a:extLst>
          </p:cNvPr>
          <p:cNvSpPr txBox="1"/>
          <p:nvPr/>
        </p:nvSpPr>
        <p:spPr>
          <a:xfrm>
            <a:off x="6646460" y="6537280"/>
            <a:ext cx="5545540" cy="307777"/>
          </a:xfrm>
          <a:prstGeom prst="rect">
            <a:avLst/>
          </a:prstGeom>
          <a:noFill/>
        </p:spPr>
        <p:txBody>
          <a:bodyPr wrap="square" rtlCol="0">
            <a:spAutoFit/>
          </a:bodyPr>
          <a:lstStyle/>
          <a:p>
            <a:r>
              <a:rPr lang="en-US" sz="1400" dirty="0"/>
              <a:t>https://</a:t>
            </a:r>
            <a:r>
              <a:rPr lang="en-US" sz="1400" dirty="0" err="1"/>
              <a:t>kerrykolosko.com</a:t>
            </a:r>
            <a:r>
              <a:rPr lang="en-US" sz="1400" dirty="0"/>
              <a:t>/overlapping-histogram-with-distribution-curve/</a:t>
            </a:r>
          </a:p>
        </p:txBody>
      </p:sp>
      <p:sp>
        <p:nvSpPr>
          <p:cNvPr id="5" name="Title 1">
            <a:extLst>
              <a:ext uri="{FF2B5EF4-FFF2-40B4-BE49-F238E27FC236}">
                <a16:creationId xmlns:a16="http://schemas.microsoft.com/office/drawing/2014/main" id="{01752FE7-B8F0-05FE-DBAB-9CD3C7A24D73}"/>
              </a:ext>
            </a:extLst>
          </p:cNvPr>
          <p:cNvSpPr txBox="1">
            <a:spLocks/>
          </p:cNvSpPr>
          <p:nvPr/>
        </p:nvSpPr>
        <p:spPr>
          <a:xfrm>
            <a:off x="632401" y="566660"/>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Visualize relationships between variables</a:t>
            </a:r>
          </a:p>
        </p:txBody>
      </p:sp>
      <p:sp>
        <p:nvSpPr>
          <p:cNvPr id="8" name="Content Placeholder 6">
            <a:extLst>
              <a:ext uri="{FF2B5EF4-FFF2-40B4-BE49-F238E27FC236}">
                <a16:creationId xmlns:a16="http://schemas.microsoft.com/office/drawing/2014/main" id="{0B54C479-23DF-6BCC-8D73-95EF0051CFC5}"/>
              </a:ext>
            </a:extLst>
          </p:cNvPr>
          <p:cNvSpPr>
            <a:spLocks noGrp="1"/>
          </p:cNvSpPr>
          <p:nvPr>
            <p:ph idx="1"/>
          </p:nvPr>
        </p:nvSpPr>
        <p:spPr>
          <a:xfrm>
            <a:off x="821171" y="1322660"/>
            <a:ext cx="10549656" cy="470650"/>
          </a:xfrm>
        </p:spPr>
        <p:txBody>
          <a:bodyPr/>
          <a:lstStyle/>
          <a:p>
            <a:pPr marL="0" indent="0">
              <a:buNone/>
            </a:pPr>
            <a:r>
              <a:rPr lang="en-US" sz="2000" dirty="0"/>
              <a:t>Overlapping and color-coded histograms to show relationship between numerical and categorical values. </a:t>
            </a:r>
          </a:p>
        </p:txBody>
      </p:sp>
    </p:spTree>
    <p:extLst>
      <p:ext uri="{BB962C8B-B14F-4D97-AF65-F5344CB8AC3E}">
        <p14:creationId xmlns:p14="http://schemas.microsoft.com/office/powerpoint/2010/main" val="3710587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702D509-3F48-48CE-6380-3EF86190A98C}"/>
              </a:ext>
            </a:extLst>
          </p:cNvPr>
          <p:cNvSpPr txBox="1">
            <a:spLocks/>
          </p:cNvSpPr>
          <p:nvPr/>
        </p:nvSpPr>
        <p:spPr>
          <a:xfrm>
            <a:off x="632401" y="566660"/>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a:t>Visualize relationships between variables</a:t>
            </a:r>
            <a:endParaRPr lang="en-US" dirty="0"/>
          </a:p>
        </p:txBody>
      </p:sp>
      <p:sp>
        <p:nvSpPr>
          <p:cNvPr id="9" name="Content Placeholder 6">
            <a:extLst>
              <a:ext uri="{FF2B5EF4-FFF2-40B4-BE49-F238E27FC236}">
                <a16:creationId xmlns:a16="http://schemas.microsoft.com/office/drawing/2014/main" id="{78484B4B-48A3-6ED3-CA59-FD7CE29F2A6D}"/>
              </a:ext>
            </a:extLst>
          </p:cNvPr>
          <p:cNvSpPr>
            <a:spLocks noGrp="1"/>
          </p:cNvSpPr>
          <p:nvPr>
            <p:ph idx="1"/>
          </p:nvPr>
        </p:nvSpPr>
        <p:spPr>
          <a:xfrm>
            <a:off x="819147" y="1322660"/>
            <a:ext cx="10740452" cy="470650"/>
          </a:xfrm>
        </p:spPr>
        <p:txBody>
          <a:bodyPr/>
          <a:lstStyle/>
          <a:p>
            <a:pPr marL="0" indent="0">
              <a:buNone/>
            </a:pPr>
            <a:r>
              <a:rPr lang="en-US" sz="2000" b="1" dirty="0"/>
              <a:t>Stacked area chart </a:t>
            </a:r>
            <a:r>
              <a:rPr lang="en-US" sz="2000" dirty="0"/>
              <a:t>can help to demonstrate trends:</a:t>
            </a:r>
          </a:p>
          <a:p>
            <a:r>
              <a:rPr lang="en-US" sz="2000" dirty="0"/>
              <a:t>2 numerical variables: year and proportion</a:t>
            </a:r>
          </a:p>
          <a:p>
            <a:r>
              <a:rPr lang="en-US" sz="2000" dirty="0"/>
              <a:t>1 categorical variable: type of political regime</a:t>
            </a:r>
          </a:p>
        </p:txBody>
      </p:sp>
      <p:pic>
        <p:nvPicPr>
          <p:cNvPr id="13" name="Picture 12" descr="A graph of growth in different colors&#10;&#10;AI-generated content may be incorrect.">
            <a:extLst>
              <a:ext uri="{FF2B5EF4-FFF2-40B4-BE49-F238E27FC236}">
                <a16:creationId xmlns:a16="http://schemas.microsoft.com/office/drawing/2014/main" id="{391D17BF-4F19-B295-5C8F-FEB9F8FC927D}"/>
              </a:ext>
            </a:extLst>
          </p:cNvPr>
          <p:cNvPicPr>
            <a:picLocks noChangeAspect="1"/>
          </p:cNvPicPr>
          <p:nvPr/>
        </p:nvPicPr>
        <p:blipFill>
          <a:blip r:embed="rId3"/>
          <a:stretch>
            <a:fillRect/>
          </a:stretch>
        </p:blipFill>
        <p:spPr>
          <a:xfrm>
            <a:off x="3385922" y="2436576"/>
            <a:ext cx="5878454" cy="3187612"/>
          </a:xfrm>
          <a:prstGeom prst="rect">
            <a:avLst/>
          </a:prstGeom>
        </p:spPr>
      </p:pic>
      <p:sp>
        <p:nvSpPr>
          <p:cNvPr id="15" name="TextBox 14">
            <a:extLst>
              <a:ext uri="{FF2B5EF4-FFF2-40B4-BE49-F238E27FC236}">
                <a16:creationId xmlns:a16="http://schemas.microsoft.com/office/drawing/2014/main" id="{6A2155BC-75E9-034C-D932-CF591EAA1077}"/>
              </a:ext>
            </a:extLst>
          </p:cNvPr>
          <p:cNvSpPr txBox="1"/>
          <p:nvPr/>
        </p:nvSpPr>
        <p:spPr>
          <a:xfrm>
            <a:off x="3385921" y="5700456"/>
            <a:ext cx="5878454" cy="369332"/>
          </a:xfrm>
          <a:prstGeom prst="rect">
            <a:avLst/>
          </a:prstGeom>
          <a:noFill/>
        </p:spPr>
        <p:txBody>
          <a:bodyPr wrap="square">
            <a:spAutoFit/>
          </a:bodyPr>
          <a:lstStyle/>
          <a:p>
            <a:pPr algn="ctr"/>
            <a:r>
              <a:rPr lang="en-US" b="1" dirty="0"/>
              <a:t>U</a:t>
            </a:r>
            <a:r>
              <a:rPr lang="en-US" sz="1800" b="1" dirty="0"/>
              <a:t>nrolling many pie-charts for each time slice</a:t>
            </a:r>
            <a:endParaRPr lang="en-US" b="1" dirty="0"/>
          </a:p>
        </p:txBody>
      </p:sp>
    </p:spTree>
    <p:extLst>
      <p:ext uri="{BB962C8B-B14F-4D97-AF65-F5344CB8AC3E}">
        <p14:creationId xmlns:p14="http://schemas.microsoft.com/office/powerpoint/2010/main" val="28732645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83027-88A5-9B6C-7945-4D2E70AFFE04}"/>
              </a:ext>
            </a:extLst>
          </p:cNvPr>
          <p:cNvSpPr>
            <a:spLocks noGrp="1"/>
          </p:cNvSpPr>
          <p:nvPr>
            <p:ph type="title"/>
          </p:nvPr>
        </p:nvSpPr>
        <p:spPr/>
        <p:txBody>
          <a:bodyPr/>
          <a:lstStyle/>
          <a:p>
            <a:r>
              <a:rPr lang="en-US" dirty="0"/>
              <a:t>Or just a line graph…</a:t>
            </a:r>
          </a:p>
        </p:txBody>
      </p:sp>
      <p:sp>
        <p:nvSpPr>
          <p:cNvPr id="3" name="Content Placeholder 2">
            <a:extLst>
              <a:ext uri="{FF2B5EF4-FFF2-40B4-BE49-F238E27FC236}">
                <a16:creationId xmlns:a16="http://schemas.microsoft.com/office/drawing/2014/main" id="{5AF88037-DD4C-FB16-1B96-91A25296C7B7}"/>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72B728A5-38E1-B103-3FAE-6388030997C7}"/>
              </a:ext>
            </a:extLst>
          </p:cNvPr>
          <p:cNvPicPr>
            <a:picLocks noChangeAspect="1"/>
          </p:cNvPicPr>
          <p:nvPr/>
        </p:nvPicPr>
        <p:blipFill>
          <a:blip r:embed="rId3"/>
          <a:stretch>
            <a:fillRect/>
          </a:stretch>
        </p:blipFill>
        <p:spPr>
          <a:xfrm>
            <a:off x="312093" y="1520990"/>
            <a:ext cx="11438213" cy="4266000"/>
          </a:xfrm>
          <a:prstGeom prst="rect">
            <a:avLst/>
          </a:prstGeom>
        </p:spPr>
      </p:pic>
    </p:spTree>
    <p:extLst>
      <p:ext uri="{BB962C8B-B14F-4D97-AF65-F5344CB8AC3E}">
        <p14:creationId xmlns:p14="http://schemas.microsoft.com/office/powerpoint/2010/main" val="30544423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A7C9E-2FD3-7F75-F4C7-5CD98D125EFC}"/>
              </a:ext>
            </a:extLst>
          </p:cNvPr>
          <p:cNvSpPr>
            <a:spLocks noGrp="1"/>
          </p:cNvSpPr>
          <p:nvPr>
            <p:ph type="title"/>
          </p:nvPr>
        </p:nvSpPr>
        <p:spPr/>
        <p:txBody>
          <a:bodyPr/>
          <a:lstStyle/>
          <a:p>
            <a:r>
              <a:rPr lang="en-US" dirty="0"/>
              <a:t>Line graph vs Histogram</a:t>
            </a:r>
          </a:p>
        </p:txBody>
      </p:sp>
      <p:sp>
        <p:nvSpPr>
          <p:cNvPr id="3" name="Content Placeholder 2">
            <a:extLst>
              <a:ext uri="{FF2B5EF4-FFF2-40B4-BE49-F238E27FC236}">
                <a16:creationId xmlns:a16="http://schemas.microsoft.com/office/drawing/2014/main" id="{68162186-095B-9D27-690A-29BDCD2BA4B2}"/>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3231100D-D95D-2AB5-E3B1-BDE68491F115}"/>
              </a:ext>
            </a:extLst>
          </p:cNvPr>
          <p:cNvPicPr>
            <a:picLocks noChangeAspect="1"/>
          </p:cNvPicPr>
          <p:nvPr/>
        </p:nvPicPr>
        <p:blipFill>
          <a:blip r:embed="rId3"/>
          <a:stretch>
            <a:fillRect/>
          </a:stretch>
        </p:blipFill>
        <p:spPr>
          <a:xfrm>
            <a:off x="480001" y="1447800"/>
            <a:ext cx="5905500" cy="3962400"/>
          </a:xfrm>
          <a:prstGeom prst="rect">
            <a:avLst/>
          </a:prstGeom>
        </p:spPr>
      </p:pic>
      <p:pic>
        <p:nvPicPr>
          <p:cNvPr id="5" name="Picture 4">
            <a:extLst>
              <a:ext uri="{FF2B5EF4-FFF2-40B4-BE49-F238E27FC236}">
                <a16:creationId xmlns:a16="http://schemas.microsoft.com/office/drawing/2014/main" id="{ADA8B7EF-78F1-5AD7-A389-525058C6E362}"/>
              </a:ext>
            </a:extLst>
          </p:cNvPr>
          <p:cNvPicPr>
            <a:picLocks noChangeAspect="1"/>
          </p:cNvPicPr>
          <p:nvPr/>
        </p:nvPicPr>
        <p:blipFill>
          <a:blip r:embed="rId4"/>
          <a:stretch>
            <a:fillRect/>
          </a:stretch>
        </p:blipFill>
        <p:spPr>
          <a:xfrm>
            <a:off x="6603511" y="1492250"/>
            <a:ext cx="5854700" cy="3873500"/>
          </a:xfrm>
          <a:prstGeom prst="rect">
            <a:avLst/>
          </a:prstGeom>
        </p:spPr>
      </p:pic>
    </p:spTree>
    <p:extLst>
      <p:ext uri="{BB962C8B-B14F-4D97-AF65-F5344CB8AC3E}">
        <p14:creationId xmlns:p14="http://schemas.microsoft.com/office/powerpoint/2010/main" val="4192480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A109D-B68B-9483-067F-FE4406F35EED}"/>
              </a:ext>
            </a:extLst>
          </p:cNvPr>
          <p:cNvSpPr>
            <a:spLocks noGrp="1"/>
          </p:cNvSpPr>
          <p:nvPr>
            <p:ph type="title"/>
          </p:nvPr>
        </p:nvSpPr>
        <p:spPr/>
        <p:txBody>
          <a:bodyPr/>
          <a:lstStyle/>
          <a:p>
            <a:r>
              <a:rPr lang="en-US" dirty="0"/>
              <a:t>Overlapping Histograms</a:t>
            </a:r>
          </a:p>
        </p:txBody>
      </p:sp>
      <p:sp>
        <p:nvSpPr>
          <p:cNvPr id="3" name="Content Placeholder 2">
            <a:extLst>
              <a:ext uri="{FF2B5EF4-FFF2-40B4-BE49-F238E27FC236}">
                <a16:creationId xmlns:a16="http://schemas.microsoft.com/office/drawing/2014/main" id="{783B9EFC-3096-8C46-8170-5069A060EB55}"/>
              </a:ext>
            </a:extLst>
          </p:cNvPr>
          <p:cNvSpPr>
            <a:spLocks noGrp="1"/>
          </p:cNvSpPr>
          <p:nvPr>
            <p:ph idx="1"/>
          </p:nvPr>
        </p:nvSpPr>
        <p:spPr/>
        <p:txBody>
          <a:bodyPr/>
          <a:lstStyle/>
          <a:p>
            <a:endParaRPr lang="en-US"/>
          </a:p>
        </p:txBody>
      </p:sp>
      <p:pic>
        <p:nvPicPr>
          <p:cNvPr id="5122" name="Picture 2">
            <a:extLst>
              <a:ext uri="{FF2B5EF4-FFF2-40B4-BE49-F238E27FC236}">
                <a16:creationId xmlns:a16="http://schemas.microsoft.com/office/drawing/2014/main" id="{FF4FBD10-9165-81FD-AD30-6B345D81F6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379" y="1116851"/>
            <a:ext cx="8516203" cy="518753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001FBDB-F35B-7D08-69C9-529E9D063F1A}"/>
              </a:ext>
            </a:extLst>
          </p:cNvPr>
          <p:cNvSpPr txBox="1"/>
          <p:nvPr/>
        </p:nvSpPr>
        <p:spPr>
          <a:xfrm>
            <a:off x="6646460" y="6537280"/>
            <a:ext cx="5545540" cy="307777"/>
          </a:xfrm>
          <a:prstGeom prst="rect">
            <a:avLst/>
          </a:prstGeom>
          <a:noFill/>
        </p:spPr>
        <p:txBody>
          <a:bodyPr wrap="square" rtlCol="0">
            <a:spAutoFit/>
          </a:bodyPr>
          <a:lstStyle/>
          <a:p>
            <a:r>
              <a:rPr lang="en-US" sz="1400" dirty="0"/>
              <a:t>https://</a:t>
            </a:r>
            <a:r>
              <a:rPr lang="en-US" sz="1400" dirty="0" err="1"/>
              <a:t>kerrykolosko.com</a:t>
            </a:r>
            <a:r>
              <a:rPr lang="en-US" sz="1400" dirty="0"/>
              <a:t>/overlapping-histogram-with-distribution-curve/</a:t>
            </a:r>
          </a:p>
        </p:txBody>
      </p:sp>
    </p:spTree>
    <p:extLst>
      <p:ext uri="{BB962C8B-B14F-4D97-AF65-F5344CB8AC3E}">
        <p14:creationId xmlns:p14="http://schemas.microsoft.com/office/powerpoint/2010/main" val="34728814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8F8A7-DB76-EB66-FDD9-994A82D7C155}"/>
              </a:ext>
            </a:extLst>
          </p:cNvPr>
          <p:cNvSpPr>
            <a:spLocks noGrp="1"/>
          </p:cNvSpPr>
          <p:nvPr>
            <p:ph type="title"/>
          </p:nvPr>
        </p:nvSpPr>
        <p:spPr/>
        <p:txBody>
          <a:bodyPr/>
          <a:lstStyle/>
          <a:p>
            <a:r>
              <a:rPr lang="en-US" dirty="0"/>
              <a:t>What makes an effective visualization?</a:t>
            </a:r>
          </a:p>
        </p:txBody>
      </p:sp>
      <p:sp>
        <p:nvSpPr>
          <p:cNvPr id="3" name="Content Placeholder 2">
            <a:extLst>
              <a:ext uri="{FF2B5EF4-FFF2-40B4-BE49-F238E27FC236}">
                <a16:creationId xmlns:a16="http://schemas.microsoft.com/office/drawing/2014/main" id="{992FE361-0C0A-5DA9-CB59-6D8DB067D8DB}"/>
              </a:ext>
            </a:extLst>
          </p:cNvPr>
          <p:cNvSpPr>
            <a:spLocks noGrp="1"/>
          </p:cNvSpPr>
          <p:nvPr>
            <p:ph idx="1"/>
          </p:nvPr>
        </p:nvSpPr>
        <p:spPr/>
        <p:txBody>
          <a:bodyPr/>
          <a:lstStyle/>
          <a:p>
            <a:pPr marL="742950" indent="-742950">
              <a:buFont typeface="+mj-lt"/>
              <a:buAutoNum type="arabicPeriod"/>
            </a:pPr>
            <a:r>
              <a:rPr lang="en-US" dirty="0"/>
              <a:t>Have graphical integrity (frame accurately)</a:t>
            </a:r>
          </a:p>
          <a:p>
            <a:pPr marL="742950" indent="-742950">
              <a:buFont typeface="+mj-lt"/>
              <a:buAutoNum type="arabicPeriod"/>
            </a:pPr>
            <a:r>
              <a:rPr lang="en-US" dirty="0"/>
              <a:t>Keep it simple (no extraneous information)</a:t>
            </a:r>
          </a:p>
          <a:p>
            <a:pPr marL="742950" indent="-742950">
              <a:buFont typeface="+mj-lt"/>
              <a:buAutoNum type="arabicPeriod"/>
            </a:pPr>
            <a:r>
              <a:rPr lang="en-US" dirty="0"/>
              <a:t>Use the right display (choose the right plot)</a:t>
            </a:r>
          </a:p>
          <a:p>
            <a:pPr marL="742950" indent="-742950">
              <a:buFont typeface="+mj-lt"/>
              <a:buAutoNum type="arabicPeriod"/>
            </a:pPr>
            <a:r>
              <a:rPr lang="en-US" dirty="0"/>
              <a:t>Use color strategically (to draw attention/give information)</a:t>
            </a:r>
          </a:p>
          <a:p>
            <a:pPr marL="742950" indent="-742950">
              <a:buFont typeface="+mj-lt"/>
              <a:buAutoNum type="arabicPeriod"/>
            </a:pPr>
            <a:r>
              <a:rPr lang="en-US" dirty="0"/>
              <a:t>Tell a story with data that is easy to intuit</a:t>
            </a:r>
          </a:p>
          <a:p>
            <a:pPr marL="742950" indent="-742950">
              <a:buFont typeface="+mj-lt"/>
              <a:buAutoNum type="arabicPeriod"/>
            </a:pPr>
            <a:endParaRPr lang="en-US" dirty="0"/>
          </a:p>
        </p:txBody>
      </p:sp>
    </p:spTree>
    <p:extLst>
      <p:ext uri="{BB962C8B-B14F-4D97-AF65-F5344CB8AC3E}">
        <p14:creationId xmlns:p14="http://schemas.microsoft.com/office/powerpoint/2010/main" val="28560431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68AE6-4FEA-7A90-61D8-97484C3887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118430-BE7C-0E15-3F53-389080BED9D5}"/>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FCFEA2B0-6D2C-2DF9-CAE3-62425B039427}"/>
              </a:ext>
            </a:extLst>
          </p:cNvPr>
          <p:cNvPicPr>
            <a:picLocks noChangeAspect="1"/>
          </p:cNvPicPr>
          <p:nvPr/>
        </p:nvPicPr>
        <p:blipFill>
          <a:blip r:embed="rId2"/>
          <a:stretch>
            <a:fillRect/>
          </a:stretch>
        </p:blipFill>
        <p:spPr>
          <a:xfrm>
            <a:off x="2209800" y="0"/>
            <a:ext cx="7772400" cy="6348538"/>
          </a:xfrm>
          <a:prstGeom prst="rect">
            <a:avLst/>
          </a:prstGeom>
        </p:spPr>
      </p:pic>
    </p:spTree>
    <p:extLst>
      <p:ext uri="{BB962C8B-B14F-4D97-AF65-F5344CB8AC3E}">
        <p14:creationId xmlns:p14="http://schemas.microsoft.com/office/powerpoint/2010/main" val="33398993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30DF3-3371-88B6-5983-E6CCB60080F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D229833-3054-8617-C752-B5F4516567C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F67704A-9556-A8EB-0778-B56CBED35FBA}"/>
              </a:ext>
            </a:extLst>
          </p:cNvPr>
          <p:cNvPicPr>
            <a:picLocks noChangeAspect="1"/>
          </p:cNvPicPr>
          <p:nvPr/>
        </p:nvPicPr>
        <p:blipFill>
          <a:blip r:embed="rId2"/>
          <a:stretch>
            <a:fillRect/>
          </a:stretch>
        </p:blipFill>
        <p:spPr>
          <a:xfrm>
            <a:off x="1536700" y="-119139"/>
            <a:ext cx="9448800" cy="6461264"/>
          </a:xfrm>
          <a:prstGeom prst="rect">
            <a:avLst/>
          </a:prstGeom>
        </p:spPr>
      </p:pic>
    </p:spTree>
    <p:extLst>
      <p:ext uri="{BB962C8B-B14F-4D97-AF65-F5344CB8AC3E}">
        <p14:creationId xmlns:p14="http://schemas.microsoft.com/office/powerpoint/2010/main" val="15170208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05B39-AFF0-22E0-C884-2038EF938B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E72952-763B-35F5-437F-2CF0D3E0299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BCD3D6D-79A0-6751-049D-0398873EED2C}"/>
              </a:ext>
            </a:extLst>
          </p:cNvPr>
          <p:cNvPicPr>
            <a:picLocks noChangeAspect="1"/>
          </p:cNvPicPr>
          <p:nvPr/>
        </p:nvPicPr>
        <p:blipFill>
          <a:blip r:embed="rId2"/>
          <a:stretch>
            <a:fillRect/>
          </a:stretch>
        </p:blipFill>
        <p:spPr>
          <a:xfrm>
            <a:off x="2976008" y="0"/>
            <a:ext cx="6239983" cy="6858000"/>
          </a:xfrm>
          <a:prstGeom prst="rect">
            <a:avLst/>
          </a:prstGeom>
        </p:spPr>
      </p:pic>
    </p:spTree>
    <p:extLst>
      <p:ext uri="{BB962C8B-B14F-4D97-AF65-F5344CB8AC3E}">
        <p14:creationId xmlns:p14="http://schemas.microsoft.com/office/powerpoint/2010/main" val="4537879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0E270-F460-F0F3-E5F0-B151FF3F53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6124063-3730-E463-1E5D-FCA6644661B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61D23F3-7E7B-32EC-6B33-67AFB4714DFA}"/>
              </a:ext>
            </a:extLst>
          </p:cNvPr>
          <p:cNvPicPr>
            <a:picLocks noChangeAspect="1"/>
          </p:cNvPicPr>
          <p:nvPr/>
        </p:nvPicPr>
        <p:blipFill>
          <a:blip r:embed="rId2"/>
          <a:stretch>
            <a:fillRect/>
          </a:stretch>
        </p:blipFill>
        <p:spPr>
          <a:xfrm>
            <a:off x="1650999" y="0"/>
            <a:ext cx="9245953" cy="6699691"/>
          </a:xfrm>
          <a:prstGeom prst="rect">
            <a:avLst/>
          </a:prstGeom>
        </p:spPr>
      </p:pic>
    </p:spTree>
    <p:extLst>
      <p:ext uri="{BB962C8B-B14F-4D97-AF65-F5344CB8AC3E}">
        <p14:creationId xmlns:p14="http://schemas.microsoft.com/office/powerpoint/2010/main" val="7578232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75929-229F-4B78-C4C2-696DBEE1A7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B1B96B-8F62-582C-82B3-D278FC69386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4CFBA84-D6E1-BD0D-3E51-BA6FB81BB6E8}"/>
              </a:ext>
            </a:extLst>
          </p:cNvPr>
          <p:cNvPicPr>
            <a:picLocks noChangeAspect="1"/>
          </p:cNvPicPr>
          <p:nvPr/>
        </p:nvPicPr>
        <p:blipFill>
          <a:blip r:embed="rId2"/>
          <a:stretch>
            <a:fillRect/>
          </a:stretch>
        </p:blipFill>
        <p:spPr>
          <a:xfrm>
            <a:off x="2209800" y="68615"/>
            <a:ext cx="7772400" cy="6720769"/>
          </a:xfrm>
          <a:prstGeom prst="rect">
            <a:avLst/>
          </a:prstGeom>
        </p:spPr>
      </p:pic>
    </p:spTree>
    <p:extLst>
      <p:ext uri="{BB962C8B-B14F-4D97-AF65-F5344CB8AC3E}">
        <p14:creationId xmlns:p14="http://schemas.microsoft.com/office/powerpoint/2010/main" val="36831089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64281-F228-904D-7583-7863A754C9A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24D596-34F0-9219-8290-68611657A78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20F727D-CD34-10C7-6FA0-A263C8A0CB37}"/>
              </a:ext>
            </a:extLst>
          </p:cNvPr>
          <p:cNvPicPr>
            <a:picLocks noChangeAspect="1"/>
          </p:cNvPicPr>
          <p:nvPr/>
        </p:nvPicPr>
        <p:blipFill>
          <a:blip r:embed="rId2"/>
          <a:stretch>
            <a:fillRect/>
          </a:stretch>
        </p:blipFill>
        <p:spPr>
          <a:xfrm>
            <a:off x="2091046" y="0"/>
            <a:ext cx="8009907" cy="6660505"/>
          </a:xfrm>
          <a:prstGeom prst="rect">
            <a:avLst/>
          </a:prstGeom>
        </p:spPr>
      </p:pic>
    </p:spTree>
    <p:extLst>
      <p:ext uri="{BB962C8B-B14F-4D97-AF65-F5344CB8AC3E}">
        <p14:creationId xmlns:p14="http://schemas.microsoft.com/office/powerpoint/2010/main" val="6507517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552CB-1180-D419-1953-4F034F5B4F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A33F760-E197-C9B9-31E3-3FEB466CA1E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70E2335-9870-535B-4C11-7A3FE4339774}"/>
              </a:ext>
            </a:extLst>
          </p:cNvPr>
          <p:cNvPicPr>
            <a:picLocks noChangeAspect="1"/>
          </p:cNvPicPr>
          <p:nvPr/>
        </p:nvPicPr>
        <p:blipFill>
          <a:blip r:embed="rId2"/>
          <a:stretch>
            <a:fillRect/>
          </a:stretch>
        </p:blipFill>
        <p:spPr>
          <a:xfrm>
            <a:off x="2179075" y="0"/>
            <a:ext cx="7772400" cy="6211204"/>
          </a:xfrm>
          <a:prstGeom prst="rect">
            <a:avLst/>
          </a:prstGeom>
        </p:spPr>
      </p:pic>
    </p:spTree>
    <p:extLst>
      <p:ext uri="{BB962C8B-B14F-4D97-AF65-F5344CB8AC3E}">
        <p14:creationId xmlns:p14="http://schemas.microsoft.com/office/powerpoint/2010/main" val="21292565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04683-3DA6-5739-4C66-F567AD39F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6F9BC3-89C3-4838-3F28-DAACF7B94A2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F1F2CBF-F9E9-E3CE-7A6F-B15A39DC3A4D}"/>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6F782FE-D456-FC06-28AE-14EFDC13FD13}"/>
              </a:ext>
            </a:extLst>
          </p:cNvPr>
          <p:cNvPicPr>
            <a:picLocks noChangeAspect="1"/>
          </p:cNvPicPr>
          <p:nvPr/>
        </p:nvPicPr>
        <p:blipFill>
          <a:blip r:embed="rId3"/>
          <a:stretch>
            <a:fillRect/>
          </a:stretch>
        </p:blipFill>
        <p:spPr>
          <a:xfrm>
            <a:off x="1564943" y="216533"/>
            <a:ext cx="9062114" cy="6065623"/>
          </a:xfrm>
          <a:prstGeom prst="rect">
            <a:avLst/>
          </a:prstGeom>
        </p:spPr>
      </p:pic>
    </p:spTree>
    <p:extLst>
      <p:ext uri="{BB962C8B-B14F-4D97-AF65-F5344CB8AC3E}">
        <p14:creationId xmlns:p14="http://schemas.microsoft.com/office/powerpoint/2010/main" val="18639798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8B7C0-0A8B-8A61-DAD0-6B44C0FA6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B89D5-4B6E-1F59-017C-2DE5C6D6AE14}"/>
              </a:ext>
            </a:extLst>
          </p:cNvPr>
          <p:cNvSpPr>
            <a:spLocks noGrp="1"/>
          </p:cNvSpPr>
          <p:nvPr>
            <p:ph type="title"/>
          </p:nvPr>
        </p:nvSpPr>
        <p:spPr/>
        <p:txBody>
          <a:bodyPr/>
          <a:lstStyle/>
          <a:p>
            <a:r>
              <a:rPr lang="en-US" dirty="0"/>
              <a:t>What is wrong with this plot?</a:t>
            </a:r>
          </a:p>
        </p:txBody>
      </p:sp>
      <p:sp>
        <p:nvSpPr>
          <p:cNvPr id="3" name="Content Placeholder 2">
            <a:extLst>
              <a:ext uri="{FF2B5EF4-FFF2-40B4-BE49-F238E27FC236}">
                <a16:creationId xmlns:a16="http://schemas.microsoft.com/office/drawing/2014/main" id="{4D3F2EDD-9786-F591-8107-90633F1FC591}"/>
              </a:ext>
            </a:extLst>
          </p:cNvPr>
          <p:cNvSpPr>
            <a:spLocks noGrp="1"/>
          </p:cNvSpPr>
          <p:nvPr>
            <p:ph idx="1"/>
          </p:nvPr>
        </p:nvSpPr>
        <p:spPr/>
        <p:txBody>
          <a:bodyPr/>
          <a:lstStyle/>
          <a:p>
            <a:endParaRPr lang="en-US"/>
          </a:p>
        </p:txBody>
      </p:sp>
      <p:pic>
        <p:nvPicPr>
          <p:cNvPr id="1026" name="Picture 2" descr="r/dataisugly - No source needed">
            <a:extLst>
              <a:ext uri="{FF2B5EF4-FFF2-40B4-BE49-F238E27FC236}">
                <a16:creationId xmlns:a16="http://schemas.microsoft.com/office/drawing/2014/main" id="{77721118-E86D-63AA-84BB-83BEB53C24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000" y="1296000"/>
            <a:ext cx="8128000" cy="478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57753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BCBAE-C941-2E9C-5EB7-A2A541715E19}"/>
              </a:ext>
            </a:extLst>
          </p:cNvPr>
          <p:cNvSpPr>
            <a:spLocks noGrp="1"/>
          </p:cNvSpPr>
          <p:nvPr>
            <p:ph type="title"/>
          </p:nvPr>
        </p:nvSpPr>
        <p:spPr/>
        <p:txBody>
          <a:bodyPr/>
          <a:lstStyle/>
          <a:p>
            <a:r>
              <a:rPr lang="en-US" dirty="0"/>
              <a:t>Some data is hard to visualize</a:t>
            </a:r>
          </a:p>
        </p:txBody>
      </p:sp>
      <p:sp>
        <p:nvSpPr>
          <p:cNvPr id="3" name="Content Placeholder 2">
            <a:extLst>
              <a:ext uri="{FF2B5EF4-FFF2-40B4-BE49-F238E27FC236}">
                <a16:creationId xmlns:a16="http://schemas.microsoft.com/office/drawing/2014/main" id="{49428DC0-D916-E46F-2281-EEBBEC59DF98}"/>
              </a:ext>
            </a:extLst>
          </p:cNvPr>
          <p:cNvSpPr>
            <a:spLocks noGrp="1"/>
          </p:cNvSpPr>
          <p:nvPr>
            <p:ph idx="1"/>
          </p:nvPr>
        </p:nvSpPr>
        <p:spPr/>
        <p:txBody>
          <a:bodyPr/>
          <a:lstStyle/>
          <a:p>
            <a:r>
              <a:rPr lang="en-US" dirty="0"/>
              <a:t>What if we had 100s of variables?</a:t>
            </a:r>
          </a:p>
          <a:p>
            <a:r>
              <a:rPr lang="en-US" dirty="0"/>
              <a:t>What if some of the data was categorical?</a:t>
            </a:r>
          </a:p>
          <a:p>
            <a:endParaRPr lang="en-US" dirty="0"/>
          </a:p>
          <a:p>
            <a:r>
              <a:rPr lang="en-US" dirty="0"/>
              <a:t>Can be useful if when you have multiple dimensions you can still look at them in pairs in scatterplots/boxplots/histograms.</a:t>
            </a:r>
          </a:p>
        </p:txBody>
      </p:sp>
    </p:spTree>
    <p:extLst>
      <p:ext uri="{BB962C8B-B14F-4D97-AF65-F5344CB8AC3E}">
        <p14:creationId xmlns:p14="http://schemas.microsoft.com/office/powerpoint/2010/main" val="14183550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FE9C7-B305-6584-1E6A-35029BA4EF4E}"/>
              </a:ext>
            </a:extLst>
          </p:cNvPr>
          <p:cNvSpPr>
            <a:spLocks noGrp="1"/>
          </p:cNvSpPr>
          <p:nvPr>
            <p:ph type="title"/>
          </p:nvPr>
        </p:nvSpPr>
        <p:spPr/>
        <p:txBody>
          <a:bodyPr/>
          <a:lstStyle/>
          <a:p>
            <a:r>
              <a:rPr lang="en-US" dirty="0"/>
              <a:t>Color Coding can be useful</a:t>
            </a:r>
          </a:p>
        </p:txBody>
      </p:sp>
      <p:sp>
        <p:nvSpPr>
          <p:cNvPr id="3" name="Content Placeholder 2">
            <a:extLst>
              <a:ext uri="{FF2B5EF4-FFF2-40B4-BE49-F238E27FC236}">
                <a16:creationId xmlns:a16="http://schemas.microsoft.com/office/drawing/2014/main" id="{88D9C028-0921-5CB0-8E3B-C7FCAB5165D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AC456DA-D1C0-58F0-FDA4-01CCE6C9468C}"/>
              </a:ext>
            </a:extLst>
          </p:cNvPr>
          <p:cNvPicPr>
            <a:picLocks noChangeAspect="1"/>
          </p:cNvPicPr>
          <p:nvPr/>
        </p:nvPicPr>
        <p:blipFill>
          <a:blip r:embed="rId3"/>
          <a:stretch>
            <a:fillRect/>
          </a:stretch>
        </p:blipFill>
        <p:spPr>
          <a:xfrm>
            <a:off x="2673350" y="1071700"/>
            <a:ext cx="6484298" cy="4992549"/>
          </a:xfrm>
          <a:prstGeom prst="rect">
            <a:avLst/>
          </a:prstGeom>
        </p:spPr>
      </p:pic>
    </p:spTree>
    <p:extLst>
      <p:ext uri="{BB962C8B-B14F-4D97-AF65-F5344CB8AC3E}">
        <p14:creationId xmlns:p14="http://schemas.microsoft.com/office/powerpoint/2010/main" val="1049381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2DA9C-EEF2-D487-577F-8647401CFE80}"/>
              </a:ext>
            </a:extLst>
          </p:cNvPr>
          <p:cNvSpPr>
            <a:spLocks noGrp="1"/>
          </p:cNvSpPr>
          <p:nvPr>
            <p:ph type="title"/>
          </p:nvPr>
        </p:nvSpPr>
        <p:spPr/>
        <p:txBody>
          <a:bodyPr/>
          <a:lstStyle/>
          <a:p>
            <a:r>
              <a:rPr lang="en-US" dirty="0"/>
              <a:t>Try Small Multiples</a:t>
            </a:r>
          </a:p>
        </p:txBody>
      </p:sp>
      <p:sp>
        <p:nvSpPr>
          <p:cNvPr id="3" name="Content Placeholder 2">
            <a:extLst>
              <a:ext uri="{FF2B5EF4-FFF2-40B4-BE49-F238E27FC236}">
                <a16:creationId xmlns:a16="http://schemas.microsoft.com/office/drawing/2014/main" id="{652EB34B-0AF8-54EC-5FDF-13EC8A8B78A5}"/>
              </a:ext>
            </a:extLst>
          </p:cNvPr>
          <p:cNvSpPr>
            <a:spLocks noGrp="1"/>
          </p:cNvSpPr>
          <p:nvPr>
            <p:ph idx="1"/>
          </p:nvPr>
        </p:nvSpPr>
        <p:spPr>
          <a:xfrm>
            <a:off x="480002" y="1296000"/>
            <a:ext cx="6284194" cy="4445149"/>
          </a:xfrm>
        </p:spPr>
        <p:txBody>
          <a:bodyPr/>
          <a:lstStyle/>
          <a:p>
            <a:r>
              <a:rPr lang="en-US" dirty="0"/>
              <a:t>Perhaps you have different opinions… </a:t>
            </a:r>
          </a:p>
          <a:p>
            <a:r>
              <a:rPr lang="en-US" dirty="0"/>
              <a:t>Or perhaps you’ve seen none of these movies.</a:t>
            </a:r>
          </a:p>
        </p:txBody>
      </p:sp>
      <p:pic>
        <p:nvPicPr>
          <p:cNvPr id="4" name="Picture 3">
            <a:extLst>
              <a:ext uri="{FF2B5EF4-FFF2-40B4-BE49-F238E27FC236}">
                <a16:creationId xmlns:a16="http://schemas.microsoft.com/office/drawing/2014/main" id="{8F97B8F6-3C04-F11E-0384-17AAA73AEE94}"/>
              </a:ext>
            </a:extLst>
          </p:cNvPr>
          <p:cNvPicPr>
            <a:picLocks noChangeAspect="1"/>
          </p:cNvPicPr>
          <p:nvPr/>
        </p:nvPicPr>
        <p:blipFill>
          <a:blip r:embed="rId2"/>
          <a:stretch>
            <a:fillRect/>
          </a:stretch>
        </p:blipFill>
        <p:spPr>
          <a:xfrm>
            <a:off x="6764195" y="181286"/>
            <a:ext cx="4818205" cy="6495428"/>
          </a:xfrm>
          <a:prstGeom prst="rect">
            <a:avLst/>
          </a:prstGeom>
        </p:spPr>
      </p:pic>
    </p:spTree>
    <p:extLst>
      <p:ext uri="{BB962C8B-B14F-4D97-AF65-F5344CB8AC3E}">
        <p14:creationId xmlns:p14="http://schemas.microsoft.com/office/powerpoint/2010/main" val="13913946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E680D-B29D-1AFC-5FFD-0B7344E479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35C737-93D5-0A4B-37AC-CEFC68207E0A}"/>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F35F149-0F16-BB9A-9EE7-DF83BFFCD305}"/>
              </a:ext>
            </a:extLst>
          </p:cNvPr>
          <p:cNvPicPr>
            <a:picLocks noChangeAspect="1"/>
          </p:cNvPicPr>
          <p:nvPr/>
        </p:nvPicPr>
        <p:blipFill>
          <a:blip r:embed="rId2"/>
          <a:stretch>
            <a:fillRect/>
          </a:stretch>
        </p:blipFill>
        <p:spPr>
          <a:xfrm>
            <a:off x="1392071" y="-20248"/>
            <a:ext cx="9380245" cy="6878247"/>
          </a:xfrm>
          <a:prstGeom prst="rect">
            <a:avLst/>
          </a:prstGeom>
        </p:spPr>
      </p:pic>
    </p:spTree>
    <p:extLst>
      <p:ext uri="{BB962C8B-B14F-4D97-AF65-F5344CB8AC3E}">
        <p14:creationId xmlns:p14="http://schemas.microsoft.com/office/powerpoint/2010/main" val="14479264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A57A2-3279-31EB-3C13-909BEA77BAC6}"/>
              </a:ext>
            </a:extLst>
          </p:cNvPr>
          <p:cNvSpPr>
            <a:spLocks noGrp="1"/>
          </p:cNvSpPr>
          <p:nvPr>
            <p:ph type="title"/>
          </p:nvPr>
        </p:nvSpPr>
        <p:spPr/>
        <p:txBody>
          <a:bodyPr>
            <a:normAutofit fontScale="90000"/>
          </a:bodyPr>
          <a:lstStyle/>
          <a:p>
            <a:r>
              <a:rPr lang="en-US" dirty="0"/>
              <a:t>Notes on Perceptual Effectiveness: </a:t>
            </a:r>
            <a:br>
              <a:rPr lang="en-US" dirty="0"/>
            </a:br>
            <a:r>
              <a:rPr lang="en-US" dirty="0"/>
              <a:t>How much longer is B?</a:t>
            </a:r>
          </a:p>
        </p:txBody>
      </p:sp>
      <p:pic>
        <p:nvPicPr>
          <p:cNvPr id="5" name="Picture 4">
            <a:extLst>
              <a:ext uri="{FF2B5EF4-FFF2-40B4-BE49-F238E27FC236}">
                <a16:creationId xmlns:a16="http://schemas.microsoft.com/office/drawing/2014/main" id="{EE0C87ED-8E3C-4C32-CF68-CE0C51E5C68A}"/>
              </a:ext>
            </a:extLst>
          </p:cNvPr>
          <p:cNvPicPr>
            <a:picLocks noChangeAspect="1"/>
          </p:cNvPicPr>
          <p:nvPr/>
        </p:nvPicPr>
        <p:blipFill>
          <a:blip r:embed="rId2"/>
          <a:stretch>
            <a:fillRect/>
          </a:stretch>
        </p:blipFill>
        <p:spPr>
          <a:xfrm>
            <a:off x="3054350" y="1714500"/>
            <a:ext cx="6083300" cy="3429000"/>
          </a:xfrm>
          <a:prstGeom prst="rect">
            <a:avLst/>
          </a:prstGeom>
        </p:spPr>
      </p:pic>
      <p:sp>
        <p:nvSpPr>
          <p:cNvPr id="6" name="TextBox 5">
            <a:extLst>
              <a:ext uri="{FF2B5EF4-FFF2-40B4-BE49-F238E27FC236}">
                <a16:creationId xmlns:a16="http://schemas.microsoft.com/office/drawing/2014/main" id="{A8418BA9-4FAD-501D-EB6E-3A7D289D06B1}"/>
              </a:ext>
            </a:extLst>
          </p:cNvPr>
          <p:cNvSpPr txBox="1"/>
          <p:nvPr/>
        </p:nvSpPr>
        <p:spPr>
          <a:xfrm>
            <a:off x="8625385" y="4012442"/>
            <a:ext cx="1241946" cy="646331"/>
          </a:xfrm>
          <a:prstGeom prst="rect">
            <a:avLst/>
          </a:prstGeom>
          <a:noFill/>
        </p:spPr>
        <p:txBody>
          <a:bodyPr wrap="square" rtlCol="0">
            <a:spAutoFit/>
          </a:bodyPr>
          <a:lstStyle/>
          <a:p>
            <a:r>
              <a:rPr lang="en-US" sz="3600" b="1" dirty="0"/>
              <a:t>4x</a:t>
            </a:r>
          </a:p>
        </p:txBody>
      </p:sp>
    </p:spTree>
    <p:extLst>
      <p:ext uri="{BB962C8B-B14F-4D97-AF65-F5344CB8AC3E}">
        <p14:creationId xmlns:p14="http://schemas.microsoft.com/office/powerpoint/2010/main" val="310569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341A8-6397-761E-DEBA-D1B948927A8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623D606-6A05-2209-311F-682728D328AA}"/>
              </a:ext>
            </a:extLst>
          </p:cNvPr>
          <p:cNvPicPr>
            <a:picLocks noChangeAspect="1"/>
          </p:cNvPicPr>
          <p:nvPr/>
        </p:nvPicPr>
        <p:blipFill>
          <a:blip r:embed="rId2"/>
          <a:stretch>
            <a:fillRect/>
          </a:stretch>
        </p:blipFill>
        <p:spPr>
          <a:xfrm>
            <a:off x="2895600" y="1174266"/>
            <a:ext cx="6084627" cy="4756633"/>
          </a:xfrm>
          <a:prstGeom prst="rect">
            <a:avLst/>
          </a:prstGeom>
        </p:spPr>
      </p:pic>
      <p:sp>
        <p:nvSpPr>
          <p:cNvPr id="2" name="Title 1">
            <a:extLst>
              <a:ext uri="{FF2B5EF4-FFF2-40B4-BE49-F238E27FC236}">
                <a16:creationId xmlns:a16="http://schemas.microsoft.com/office/drawing/2014/main" id="{5FB73F1D-025E-E803-C6AF-E256BE989C1C}"/>
              </a:ext>
            </a:extLst>
          </p:cNvPr>
          <p:cNvSpPr>
            <a:spLocks noGrp="1"/>
          </p:cNvSpPr>
          <p:nvPr>
            <p:ph type="title"/>
          </p:nvPr>
        </p:nvSpPr>
        <p:spPr>
          <a:xfrm>
            <a:off x="288932" y="0"/>
            <a:ext cx="11102399" cy="756000"/>
          </a:xfrm>
        </p:spPr>
        <p:txBody>
          <a:bodyPr>
            <a:normAutofit fontScale="90000"/>
          </a:bodyPr>
          <a:lstStyle/>
          <a:p>
            <a:r>
              <a:rPr lang="en-US" dirty="0"/>
              <a:t>Notes on Perceptual Effectiveness: </a:t>
            </a:r>
            <a:br>
              <a:rPr lang="en-US" dirty="0"/>
            </a:br>
            <a:r>
              <a:rPr lang="en-US" dirty="0"/>
              <a:t>How much steeper is A?</a:t>
            </a:r>
          </a:p>
        </p:txBody>
      </p:sp>
      <p:sp>
        <p:nvSpPr>
          <p:cNvPr id="6" name="TextBox 5">
            <a:extLst>
              <a:ext uri="{FF2B5EF4-FFF2-40B4-BE49-F238E27FC236}">
                <a16:creationId xmlns:a16="http://schemas.microsoft.com/office/drawing/2014/main" id="{D193AB2C-952B-E116-B032-A472C7393BC9}"/>
              </a:ext>
            </a:extLst>
          </p:cNvPr>
          <p:cNvSpPr txBox="1"/>
          <p:nvPr/>
        </p:nvSpPr>
        <p:spPr>
          <a:xfrm>
            <a:off x="4462818" y="1378424"/>
            <a:ext cx="1241946" cy="646331"/>
          </a:xfrm>
          <a:prstGeom prst="rect">
            <a:avLst/>
          </a:prstGeom>
          <a:noFill/>
        </p:spPr>
        <p:txBody>
          <a:bodyPr wrap="square" rtlCol="0">
            <a:spAutoFit/>
          </a:bodyPr>
          <a:lstStyle/>
          <a:p>
            <a:r>
              <a:rPr lang="en-US" sz="3600" b="1" dirty="0"/>
              <a:t>4x</a:t>
            </a:r>
          </a:p>
        </p:txBody>
      </p:sp>
    </p:spTree>
    <p:extLst>
      <p:ext uri="{BB962C8B-B14F-4D97-AF65-F5344CB8AC3E}">
        <p14:creationId xmlns:p14="http://schemas.microsoft.com/office/powerpoint/2010/main" val="734903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4C75F-5142-7D16-53F4-F7CC679555C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6A46745-7DBB-BE7A-E157-3BFAAD6073F5}"/>
              </a:ext>
            </a:extLst>
          </p:cNvPr>
          <p:cNvPicPr>
            <a:picLocks noChangeAspect="1"/>
          </p:cNvPicPr>
          <p:nvPr/>
        </p:nvPicPr>
        <p:blipFill>
          <a:blip r:embed="rId2"/>
          <a:stretch>
            <a:fillRect/>
          </a:stretch>
        </p:blipFill>
        <p:spPr>
          <a:xfrm>
            <a:off x="2209800" y="1041175"/>
            <a:ext cx="7772400" cy="5266970"/>
          </a:xfrm>
          <a:prstGeom prst="rect">
            <a:avLst/>
          </a:prstGeom>
        </p:spPr>
      </p:pic>
      <p:sp>
        <p:nvSpPr>
          <p:cNvPr id="2" name="Title 1">
            <a:extLst>
              <a:ext uri="{FF2B5EF4-FFF2-40B4-BE49-F238E27FC236}">
                <a16:creationId xmlns:a16="http://schemas.microsoft.com/office/drawing/2014/main" id="{E41E7BA0-5DB5-F030-02DB-C6F634DFD622}"/>
              </a:ext>
            </a:extLst>
          </p:cNvPr>
          <p:cNvSpPr>
            <a:spLocks noGrp="1"/>
          </p:cNvSpPr>
          <p:nvPr>
            <p:ph type="title"/>
          </p:nvPr>
        </p:nvSpPr>
        <p:spPr>
          <a:xfrm>
            <a:off x="288932" y="0"/>
            <a:ext cx="11102399" cy="756000"/>
          </a:xfrm>
        </p:spPr>
        <p:txBody>
          <a:bodyPr>
            <a:normAutofit fontScale="90000"/>
          </a:bodyPr>
          <a:lstStyle/>
          <a:p>
            <a:r>
              <a:rPr lang="en-US" dirty="0"/>
              <a:t>Notes on Perceptual Effectiveness: </a:t>
            </a:r>
            <a:br>
              <a:rPr lang="en-US" dirty="0"/>
            </a:br>
            <a:r>
              <a:rPr lang="en-US" dirty="0"/>
              <a:t>How much bigger in area is B?</a:t>
            </a:r>
          </a:p>
        </p:txBody>
      </p:sp>
      <p:sp>
        <p:nvSpPr>
          <p:cNvPr id="6" name="TextBox 5">
            <a:extLst>
              <a:ext uri="{FF2B5EF4-FFF2-40B4-BE49-F238E27FC236}">
                <a16:creationId xmlns:a16="http://schemas.microsoft.com/office/drawing/2014/main" id="{DC6A4075-3B54-D24E-DC6F-C55EB0314134}"/>
              </a:ext>
            </a:extLst>
          </p:cNvPr>
          <p:cNvSpPr txBox="1"/>
          <p:nvPr/>
        </p:nvSpPr>
        <p:spPr>
          <a:xfrm>
            <a:off x="4462818" y="1378424"/>
            <a:ext cx="1241946" cy="646331"/>
          </a:xfrm>
          <a:prstGeom prst="rect">
            <a:avLst/>
          </a:prstGeom>
          <a:noFill/>
        </p:spPr>
        <p:txBody>
          <a:bodyPr wrap="square" rtlCol="0">
            <a:spAutoFit/>
          </a:bodyPr>
          <a:lstStyle/>
          <a:p>
            <a:r>
              <a:rPr lang="en-US" sz="3600" b="1" dirty="0"/>
              <a:t>10x</a:t>
            </a:r>
          </a:p>
        </p:txBody>
      </p:sp>
    </p:spTree>
    <p:extLst>
      <p:ext uri="{BB962C8B-B14F-4D97-AF65-F5344CB8AC3E}">
        <p14:creationId xmlns:p14="http://schemas.microsoft.com/office/powerpoint/2010/main" val="289262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BEEDC-6CEA-BD69-B4E3-CD3328BA81C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1E56C4C-7166-AAE5-E570-944F47637859}"/>
              </a:ext>
            </a:extLst>
          </p:cNvPr>
          <p:cNvPicPr>
            <a:picLocks noChangeAspect="1"/>
          </p:cNvPicPr>
          <p:nvPr/>
        </p:nvPicPr>
        <p:blipFill>
          <a:blip r:embed="rId2"/>
          <a:stretch>
            <a:fillRect/>
          </a:stretch>
        </p:blipFill>
        <p:spPr>
          <a:xfrm>
            <a:off x="2209800" y="941598"/>
            <a:ext cx="7772400" cy="4974804"/>
          </a:xfrm>
          <a:prstGeom prst="rect">
            <a:avLst/>
          </a:prstGeom>
        </p:spPr>
      </p:pic>
      <p:sp>
        <p:nvSpPr>
          <p:cNvPr id="2" name="Title 1">
            <a:extLst>
              <a:ext uri="{FF2B5EF4-FFF2-40B4-BE49-F238E27FC236}">
                <a16:creationId xmlns:a16="http://schemas.microsoft.com/office/drawing/2014/main" id="{58A8F15F-FF27-0E59-06C4-E24F37F7D852}"/>
              </a:ext>
            </a:extLst>
          </p:cNvPr>
          <p:cNvSpPr>
            <a:spLocks noGrp="1"/>
          </p:cNvSpPr>
          <p:nvPr>
            <p:ph type="title"/>
          </p:nvPr>
        </p:nvSpPr>
        <p:spPr>
          <a:xfrm>
            <a:off x="288932" y="0"/>
            <a:ext cx="11102399" cy="756000"/>
          </a:xfrm>
        </p:spPr>
        <p:txBody>
          <a:bodyPr>
            <a:normAutofit fontScale="90000"/>
          </a:bodyPr>
          <a:lstStyle/>
          <a:p>
            <a:r>
              <a:rPr lang="en-US" dirty="0"/>
              <a:t>Notes on Perceptual Effectiveness: </a:t>
            </a:r>
            <a:br>
              <a:rPr lang="en-US" dirty="0"/>
            </a:br>
            <a:r>
              <a:rPr lang="en-US" dirty="0"/>
              <a:t>How much bigger is B?</a:t>
            </a:r>
          </a:p>
        </p:txBody>
      </p:sp>
      <p:sp>
        <p:nvSpPr>
          <p:cNvPr id="6" name="TextBox 5">
            <a:extLst>
              <a:ext uri="{FF2B5EF4-FFF2-40B4-BE49-F238E27FC236}">
                <a16:creationId xmlns:a16="http://schemas.microsoft.com/office/drawing/2014/main" id="{DBF220F9-4081-24C0-12E3-54F4DA2B32C6}"/>
              </a:ext>
            </a:extLst>
          </p:cNvPr>
          <p:cNvSpPr txBox="1"/>
          <p:nvPr/>
        </p:nvSpPr>
        <p:spPr>
          <a:xfrm>
            <a:off x="5840131" y="1937983"/>
            <a:ext cx="1241946" cy="646331"/>
          </a:xfrm>
          <a:prstGeom prst="rect">
            <a:avLst/>
          </a:prstGeom>
          <a:noFill/>
        </p:spPr>
        <p:txBody>
          <a:bodyPr wrap="square" rtlCol="0">
            <a:spAutoFit/>
          </a:bodyPr>
          <a:lstStyle/>
          <a:p>
            <a:r>
              <a:rPr lang="en-US" sz="3600" b="1" dirty="0"/>
              <a:t>4x</a:t>
            </a:r>
          </a:p>
        </p:txBody>
      </p:sp>
    </p:spTree>
    <p:extLst>
      <p:ext uri="{BB962C8B-B14F-4D97-AF65-F5344CB8AC3E}">
        <p14:creationId xmlns:p14="http://schemas.microsoft.com/office/powerpoint/2010/main" val="319040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5E2EC-2783-0096-68D6-D4FF4D597926}"/>
              </a:ext>
            </a:extLst>
          </p:cNvPr>
          <p:cNvSpPr>
            <a:spLocks noGrp="1"/>
          </p:cNvSpPr>
          <p:nvPr>
            <p:ph type="title"/>
          </p:nvPr>
        </p:nvSpPr>
        <p:spPr/>
        <p:txBody>
          <a:bodyPr/>
          <a:lstStyle/>
          <a:p>
            <a:r>
              <a:rPr lang="en-US" dirty="0"/>
              <a:t>Avoid Rainbow Colormaps!</a:t>
            </a:r>
          </a:p>
        </p:txBody>
      </p:sp>
      <p:sp>
        <p:nvSpPr>
          <p:cNvPr id="3" name="Content Placeholder 2">
            <a:extLst>
              <a:ext uri="{FF2B5EF4-FFF2-40B4-BE49-F238E27FC236}">
                <a16:creationId xmlns:a16="http://schemas.microsoft.com/office/drawing/2014/main" id="{EA174B80-1919-380D-0D2C-018DDE950B01}"/>
              </a:ext>
            </a:extLst>
          </p:cNvPr>
          <p:cNvSpPr>
            <a:spLocks noGrp="1"/>
          </p:cNvSpPr>
          <p:nvPr>
            <p:ph idx="1"/>
          </p:nvPr>
        </p:nvSpPr>
        <p:spPr>
          <a:xfrm>
            <a:off x="480002" y="1296000"/>
            <a:ext cx="3220844" cy="4445149"/>
          </a:xfrm>
        </p:spPr>
        <p:txBody>
          <a:bodyPr/>
          <a:lstStyle/>
          <a:p>
            <a:r>
              <a:rPr lang="en-US" dirty="0"/>
              <a:t>Use </a:t>
            </a:r>
            <a:r>
              <a:rPr lang="en-US" dirty="0">
                <a:hlinkClick r:id="rId3"/>
              </a:rPr>
              <a:t>Color Brewer </a:t>
            </a:r>
            <a:r>
              <a:rPr lang="en-US" dirty="0"/>
              <a:t>to find good color schemas.</a:t>
            </a:r>
          </a:p>
        </p:txBody>
      </p:sp>
      <p:pic>
        <p:nvPicPr>
          <p:cNvPr id="4" name="Picture 3">
            <a:extLst>
              <a:ext uri="{FF2B5EF4-FFF2-40B4-BE49-F238E27FC236}">
                <a16:creationId xmlns:a16="http://schemas.microsoft.com/office/drawing/2014/main" id="{FF9242E8-3B5E-FCAF-A8D7-AB3BB6FF960C}"/>
              </a:ext>
            </a:extLst>
          </p:cNvPr>
          <p:cNvPicPr>
            <a:picLocks noChangeAspect="1"/>
          </p:cNvPicPr>
          <p:nvPr/>
        </p:nvPicPr>
        <p:blipFill>
          <a:blip r:embed="rId4"/>
          <a:srcRect t="17664"/>
          <a:stretch/>
        </p:blipFill>
        <p:spPr>
          <a:xfrm>
            <a:off x="3700845" y="1078990"/>
            <a:ext cx="7772400" cy="4700019"/>
          </a:xfrm>
          <a:prstGeom prst="rect">
            <a:avLst/>
          </a:prstGeom>
        </p:spPr>
      </p:pic>
    </p:spTree>
    <p:extLst>
      <p:ext uri="{BB962C8B-B14F-4D97-AF65-F5344CB8AC3E}">
        <p14:creationId xmlns:p14="http://schemas.microsoft.com/office/powerpoint/2010/main" val="31594410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82D00-1C43-A580-688C-21DF1A78B030}"/>
              </a:ext>
            </a:extLst>
          </p:cNvPr>
          <p:cNvSpPr>
            <a:spLocks noGrp="1"/>
          </p:cNvSpPr>
          <p:nvPr>
            <p:ph type="title"/>
          </p:nvPr>
        </p:nvSpPr>
        <p:spPr/>
        <p:txBody>
          <a:bodyPr/>
          <a:lstStyle/>
          <a:p>
            <a:r>
              <a:rPr lang="en-US" dirty="0"/>
              <a:t>Perceptual Effectiveness</a:t>
            </a:r>
          </a:p>
        </p:txBody>
      </p:sp>
      <p:pic>
        <p:nvPicPr>
          <p:cNvPr id="7" name="Content Placeholder 6" descr="A diagram of different types of mathematical equations&#10;&#10;Description automatically generated with medium confidence">
            <a:extLst>
              <a:ext uri="{FF2B5EF4-FFF2-40B4-BE49-F238E27FC236}">
                <a16:creationId xmlns:a16="http://schemas.microsoft.com/office/drawing/2014/main" id="{FD4B92A9-2E23-9359-E342-0A06C5B751E4}"/>
              </a:ext>
            </a:extLst>
          </p:cNvPr>
          <p:cNvPicPr>
            <a:picLocks noGrp="1" noChangeAspect="1"/>
          </p:cNvPicPr>
          <p:nvPr>
            <p:ph idx="1"/>
          </p:nvPr>
        </p:nvPicPr>
        <p:blipFill>
          <a:blip r:embed="rId2"/>
          <a:stretch>
            <a:fillRect/>
          </a:stretch>
        </p:blipFill>
        <p:spPr>
          <a:xfrm>
            <a:off x="3327042" y="1295400"/>
            <a:ext cx="5407741" cy="4445000"/>
          </a:xfrm>
        </p:spPr>
      </p:pic>
      <p:sp>
        <p:nvSpPr>
          <p:cNvPr id="3" name="TextBox 2">
            <a:extLst>
              <a:ext uri="{FF2B5EF4-FFF2-40B4-BE49-F238E27FC236}">
                <a16:creationId xmlns:a16="http://schemas.microsoft.com/office/drawing/2014/main" id="{39E17609-B609-EE2A-DF93-93AEA2F321F3}"/>
              </a:ext>
            </a:extLst>
          </p:cNvPr>
          <p:cNvSpPr txBox="1"/>
          <p:nvPr/>
        </p:nvSpPr>
        <p:spPr>
          <a:xfrm>
            <a:off x="1957754" y="1418492"/>
            <a:ext cx="1699846" cy="923330"/>
          </a:xfrm>
          <a:prstGeom prst="rect">
            <a:avLst/>
          </a:prstGeom>
          <a:noFill/>
        </p:spPr>
        <p:txBody>
          <a:bodyPr wrap="square" rtlCol="0">
            <a:spAutoFit/>
          </a:bodyPr>
          <a:lstStyle/>
          <a:p>
            <a:r>
              <a:rPr lang="en-US" dirty="0"/>
              <a:t>Most accurate comparisons possible.</a:t>
            </a:r>
          </a:p>
        </p:txBody>
      </p:sp>
      <p:sp>
        <p:nvSpPr>
          <p:cNvPr id="4" name="TextBox 3">
            <a:extLst>
              <a:ext uri="{FF2B5EF4-FFF2-40B4-BE49-F238E27FC236}">
                <a16:creationId xmlns:a16="http://schemas.microsoft.com/office/drawing/2014/main" id="{D00C6724-9700-9303-9170-27F6E43575C6}"/>
              </a:ext>
            </a:extLst>
          </p:cNvPr>
          <p:cNvSpPr txBox="1"/>
          <p:nvPr/>
        </p:nvSpPr>
        <p:spPr>
          <a:xfrm>
            <a:off x="1957754" y="4761522"/>
            <a:ext cx="1699846" cy="923330"/>
          </a:xfrm>
          <a:prstGeom prst="rect">
            <a:avLst/>
          </a:prstGeom>
          <a:noFill/>
        </p:spPr>
        <p:txBody>
          <a:bodyPr wrap="square" rtlCol="0">
            <a:spAutoFit/>
          </a:bodyPr>
          <a:lstStyle/>
          <a:p>
            <a:r>
              <a:rPr lang="en-US" dirty="0"/>
              <a:t>Larger pattern detection possible.</a:t>
            </a:r>
          </a:p>
        </p:txBody>
      </p:sp>
    </p:spTree>
    <p:extLst>
      <p:ext uri="{BB962C8B-B14F-4D97-AF65-F5344CB8AC3E}">
        <p14:creationId xmlns:p14="http://schemas.microsoft.com/office/powerpoint/2010/main" val="1156509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4DCDA-2C40-9BF3-3F1F-EE673666FEB8}"/>
              </a:ext>
            </a:extLst>
          </p:cNvPr>
          <p:cNvSpPr>
            <a:spLocks noGrp="1"/>
          </p:cNvSpPr>
          <p:nvPr>
            <p:ph type="title"/>
          </p:nvPr>
        </p:nvSpPr>
        <p:spPr/>
        <p:txBody>
          <a:bodyPr/>
          <a:lstStyle/>
          <a:p>
            <a:r>
              <a:rPr lang="en-US" dirty="0"/>
              <a:t>Perceptual Effectiveness</a:t>
            </a:r>
          </a:p>
        </p:txBody>
      </p:sp>
      <p:sp>
        <p:nvSpPr>
          <p:cNvPr id="3" name="Content Placeholder 2">
            <a:extLst>
              <a:ext uri="{FF2B5EF4-FFF2-40B4-BE49-F238E27FC236}">
                <a16:creationId xmlns:a16="http://schemas.microsoft.com/office/drawing/2014/main" id="{3E8DE0CA-3F33-A81F-5265-A03A2A2AFE1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E03A85E-C903-690E-A717-70A59C7A2FB0}"/>
              </a:ext>
            </a:extLst>
          </p:cNvPr>
          <p:cNvPicPr>
            <a:picLocks noChangeAspect="1"/>
          </p:cNvPicPr>
          <p:nvPr/>
        </p:nvPicPr>
        <p:blipFill>
          <a:blip r:embed="rId2"/>
          <a:stretch>
            <a:fillRect/>
          </a:stretch>
        </p:blipFill>
        <p:spPr>
          <a:xfrm>
            <a:off x="3258403" y="1164072"/>
            <a:ext cx="4711890" cy="5693927"/>
          </a:xfrm>
          <a:prstGeom prst="rect">
            <a:avLst/>
          </a:prstGeom>
        </p:spPr>
      </p:pic>
    </p:spTree>
    <p:extLst>
      <p:ext uri="{BB962C8B-B14F-4D97-AF65-F5344CB8AC3E}">
        <p14:creationId xmlns:p14="http://schemas.microsoft.com/office/powerpoint/2010/main" val="24593367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7FC69-27E1-BE4B-6BF0-E28AFB60DF92}"/>
              </a:ext>
            </a:extLst>
          </p:cNvPr>
          <p:cNvSpPr>
            <a:spLocks noGrp="1"/>
          </p:cNvSpPr>
          <p:nvPr>
            <p:ph type="title"/>
          </p:nvPr>
        </p:nvSpPr>
        <p:spPr/>
        <p:txBody>
          <a:bodyPr/>
          <a:lstStyle/>
          <a:p>
            <a:r>
              <a:rPr lang="en-US" dirty="0"/>
              <a:t>Assessing Sales: Which plot?</a:t>
            </a:r>
          </a:p>
        </p:txBody>
      </p:sp>
      <p:sp>
        <p:nvSpPr>
          <p:cNvPr id="3" name="Content Placeholder 2">
            <a:extLst>
              <a:ext uri="{FF2B5EF4-FFF2-40B4-BE49-F238E27FC236}">
                <a16:creationId xmlns:a16="http://schemas.microsoft.com/office/drawing/2014/main" id="{C6BDA06A-FD7E-CF36-81CE-C91E622F318B}"/>
              </a:ext>
            </a:extLst>
          </p:cNvPr>
          <p:cNvSpPr>
            <a:spLocks noGrp="1"/>
          </p:cNvSpPr>
          <p:nvPr>
            <p:ph idx="1"/>
          </p:nvPr>
        </p:nvSpPr>
        <p:spPr/>
        <p:txBody>
          <a:bodyPr/>
          <a:lstStyle/>
          <a:p>
            <a:endParaRPr lang="en-US"/>
          </a:p>
        </p:txBody>
      </p:sp>
      <p:pic>
        <p:nvPicPr>
          <p:cNvPr id="4" name="Picture 3" descr="chart_1.png">
            <a:extLst>
              <a:ext uri="{FF2B5EF4-FFF2-40B4-BE49-F238E27FC236}">
                <a16:creationId xmlns:a16="http://schemas.microsoft.com/office/drawing/2014/main" id="{029E92FC-1265-F072-0AA8-A11836882322}"/>
              </a:ext>
            </a:extLst>
          </p:cNvPr>
          <p:cNvPicPr>
            <a:picLocks noChangeAspect="1"/>
          </p:cNvPicPr>
          <p:nvPr/>
        </p:nvPicPr>
        <p:blipFill>
          <a:blip r:embed="rId2"/>
          <a:stretch>
            <a:fillRect/>
          </a:stretch>
        </p:blipFill>
        <p:spPr>
          <a:xfrm>
            <a:off x="0" y="1600889"/>
            <a:ext cx="6614043" cy="4266000"/>
          </a:xfrm>
          <a:prstGeom prst="rect">
            <a:avLst/>
          </a:prstGeom>
        </p:spPr>
      </p:pic>
      <p:pic>
        <p:nvPicPr>
          <p:cNvPr id="5" name="Picture 4" descr="chart_2.png">
            <a:extLst>
              <a:ext uri="{FF2B5EF4-FFF2-40B4-BE49-F238E27FC236}">
                <a16:creationId xmlns:a16="http://schemas.microsoft.com/office/drawing/2014/main" id="{773064CE-D9D3-4267-0244-413347ABB429}"/>
              </a:ext>
            </a:extLst>
          </p:cNvPr>
          <p:cNvPicPr>
            <a:picLocks noChangeAspect="1"/>
          </p:cNvPicPr>
          <p:nvPr/>
        </p:nvPicPr>
        <p:blipFill>
          <a:blip r:embed="rId3"/>
          <a:stretch>
            <a:fillRect/>
          </a:stretch>
        </p:blipFill>
        <p:spPr>
          <a:xfrm>
            <a:off x="6824088" y="1600889"/>
            <a:ext cx="4887911" cy="4445150"/>
          </a:xfrm>
          <a:prstGeom prst="rect">
            <a:avLst/>
          </a:prstGeom>
        </p:spPr>
      </p:pic>
    </p:spTree>
    <p:extLst>
      <p:ext uri="{BB962C8B-B14F-4D97-AF65-F5344CB8AC3E}">
        <p14:creationId xmlns:p14="http://schemas.microsoft.com/office/powerpoint/2010/main" val="37575596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1E867-6B81-0221-1FB3-5A548489F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B957A-6764-2A93-201F-F43269EE92D3}"/>
              </a:ext>
            </a:extLst>
          </p:cNvPr>
          <p:cNvSpPr>
            <a:spLocks noGrp="1"/>
          </p:cNvSpPr>
          <p:nvPr>
            <p:ph type="title"/>
          </p:nvPr>
        </p:nvSpPr>
        <p:spPr/>
        <p:txBody>
          <a:bodyPr/>
          <a:lstStyle/>
          <a:p>
            <a:r>
              <a:rPr lang="en-US" dirty="0"/>
              <a:t>Assessing Market Share: Which plot?</a:t>
            </a:r>
          </a:p>
        </p:txBody>
      </p:sp>
      <p:sp>
        <p:nvSpPr>
          <p:cNvPr id="3" name="Content Placeholder 2">
            <a:extLst>
              <a:ext uri="{FF2B5EF4-FFF2-40B4-BE49-F238E27FC236}">
                <a16:creationId xmlns:a16="http://schemas.microsoft.com/office/drawing/2014/main" id="{B13A4E7F-9DDB-7CAB-32B3-A2C71CD3A03C}"/>
              </a:ext>
            </a:extLst>
          </p:cNvPr>
          <p:cNvSpPr>
            <a:spLocks noGrp="1"/>
          </p:cNvSpPr>
          <p:nvPr>
            <p:ph idx="1"/>
          </p:nvPr>
        </p:nvSpPr>
        <p:spPr/>
        <p:txBody>
          <a:bodyPr/>
          <a:lstStyle/>
          <a:p>
            <a:endParaRPr lang="en-US"/>
          </a:p>
        </p:txBody>
      </p:sp>
      <p:pic>
        <p:nvPicPr>
          <p:cNvPr id="6" name="Picture 5" descr="chart_3.png">
            <a:extLst>
              <a:ext uri="{FF2B5EF4-FFF2-40B4-BE49-F238E27FC236}">
                <a16:creationId xmlns:a16="http://schemas.microsoft.com/office/drawing/2014/main" id="{2D998736-E0B9-401D-A3B7-A4A33E3B59C8}"/>
              </a:ext>
            </a:extLst>
          </p:cNvPr>
          <p:cNvPicPr>
            <a:picLocks noChangeAspect="1"/>
          </p:cNvPicPr>
          <p:nvPr/>
        </p:nvPicPr>
        <p:blipFill>
          <a:blip r:embed="rId2"/>
          <a:stretch>
            <a:fillRect/>
          </a:stretch>
        </p:blipFill>
        <p:spPr>
          <a:xfrm>
            <a:off x="528989" y="1296000"/>
            <a:ext cx="5502211" cy="4902673"/>
          </a:xfrm>
          <a:prstGeom prst="rect">
            <a:avLst/>
          </a:prstGeom>
        </p:spPr>
      </p:pic>
      <p:pic>
        <p:nvPicPr>
          <p:cNvPr id="7" name="Picture 6" descr="chart_4.png">
            <a:extLst>
              <a:ext uri="{FF2B5EF4-FFF2-40B4-BE49-F238E27FC236}">
                <a16:creationId xmlns:a16="http://schemas.microsoft.com/office/drawing/2014/main" id="{8B7DB0BB-E7A3-C002-E053-50A36A020224}"/>
              </a:ext>
            </a:extLst>
          </p:cNvPr>
          <p:cNvPicPr>
            <a:picLocks noChangeAspect="1"/>
          </p:cNvPicPr>
          <p:nvPr/>
        </p:nvPicPr>
        <p:blipFill>
          <a:blip r:embed="rId3"/>
          <a:stretch>
            <a:fillRect/>
          </a:stretch>
        </p:blipFill>
        <p:spPr>
          <a:xfrm>
            <a:off x="5856668" y="1793829"/>
            <a:ext cx="5502212" cy="3449489"/>
          </a:xfrm>
          <a:prstGeom prst="rect">
            <a:avLst/>
          </a:prstGeom>
        </p:spPr>
      </p:pic>
    </p:spTree>
    <p:extLst>
      <p:ext uri="{BB962C8B-B14F-4D97-AF65-F5344CB8AC3E}">
        <p14:creationId xmlns:p14="http://schemas.microsoft.com/office/powerpoint/2010/main" val="28757048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FF5B1-DFAC-704C-5B17-9073E46C68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F28ABD-6446-07EF-7DD9-34A4532F3403}"/>
              </a:ext>
            </a:extLst>
          </p:cNvPr>
          <p:cNvSpPr>
            <a:spLocks noGrp="1"/>
          </p:cNvSpPr>
          <p:nvPr>
            <p:ph type="title"/>
          </p:nvPr>
        </p:nvSpPr>
        <p:spPr>
          <a:xfrm>
            <a:off x="480001" y="86708"/>
            <a:ext cx="11102399" cy="756000"/>
          </a:xfrm>
        </p:spPr>
        <p:txBody>
          <a:bodyPr/>
          <a:lstStyle/>
          <a:p>
            <a:r>
              <a:rPr lang="en-US" dirty="0"/>
              <a:t>Assessing Energy: Which plot?</a:t>
            </a:r>
          </a:p>
        </p:txBody>
      </p:sp>
      <p:sp>
        <p:nvSpPr>
          <p:cNvPr id="3" name="Content Placeholder 2">
            <a:extLst>
              <a:ext uri="{FF2B5EF4-FFF2-40B4-BE49-F238E27FC236}">
                <a16:creationId xmlns:a16="http://schemas.microsoft.com/office/drawing/2014/main" id="{3EDE7F9E-B606-9138-5EB4-9BC000F9F73D}"/>
              </a:ext>
            </a:extLst>
          </p:cNvPr>
          <p:cNvSpPr>
            <a:spLocks noGrp="1"/>
          </p:cNvSpPr>
          <p:nvPr>
            <p:ph idx="1"/>
          </p:nvPr>
        </p:nvSpPr>
        <p:spPr/>
        <p:txBody>
          <a:bodyPr/>
          <a:lstStyle/>
          <a:p>
            <a:endParaRPr lang="en-US"/>
          </a:p>
        </p:txBody>
      </p:sp>
      <p:pic>
        <p:nvPicPr>
          <p:cNvPr id="2050" name="Picture 2" descr="Output image">
            <a:extLst>
              <a:ext uri="{FF2B5EF4-FFF2-40B4-BE49-F238E27FC236}">
                <a16:creationId xmlns:a16="http://schemas.microsoft.com/office/drawing/2014/main" id="{AEEEEEA6-0B0F-7907-F21D-C1C99E6B23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226" y="1528549"/>
            <a:ext cx="6470860" cy="412302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Output image">
            <a:extLst>
              <a:ext uri="{FF2B5EF4-FFF2-40B4-BE49-F238E27FC236}">
                <a16:creationId xmlns:a16="http://schemas.microsoft.com/office/drawing/2014/main" id="{61B48AA3-21CD-45F6-2115-2C9FF2867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2007" y="1764674"/>
            <a:ext cx="5660393" cy="3650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21559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C39FA-35BA-566F-3C84-AED29E51A3C2}"/>
              </a:ext>
            </a:extLst>
          </p:cNvPr>
          <p:cNvSpPr>
            <a:spLocks noGrp="1"/>
          </p:cNvSpPr>
          <p:nvPr>
            <p:ph type="title"/>
          </p:nvPr>
        </p:nvSpPr>
        <p:spPr/>
        <p:txBody>
          <a:bodyPr>
            <a:normAutofit fontScale="90000"/>
          </a:bodyPr>
          <a:lstStyle/>
          <a:p>
            <a:r>
              <a:rPr lang="en-US" dirty="0"/>
              <a:t>Assessing a sports team performance: Which plot?</a:t>
            </a:r>
          </a:p>
        </p:txBody>
      </p:sp>
      <p:sp>
        <p:nvSpPr>
          <p:cNvPr id="3" name="Content Placeholder 2">
            <a:extLst>
              <a:ext uri="{FF2B5EF4-FFF2-40B4-BE49-F238E27FC236}">
                <a16:creationId xmlns:a16="http://schemas.microsoft.com/office/drawing/2014/main" id="{346F0B23-D162-6EBE-FB97-49E9F818F8EB}"/>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B8E77626-BA4A-5A62-E1E6-A6B23593A3DD}"/>
              </a:ext>
            </a:extLst>
          </p:cNvPr>
          <p:cNvPicPr>
            <a:picLocks noChangeAspect="1"/>
          </p:cNvPicPr>
          <p:nvPr/>
        </p:nvPicPr>
        <p:blipFill>
          <a:blip r:embed="rId2"/>
          <a:stretch>
            <a:fillRect/>
          </a:stretch>
        </p:blipFill>
        <p:spPr>
          <a:xfrm>
            <a:off x="330295" y="1296000"/>
            <a:ext cx="5499100" cy="4978400"/>
          </a:xfrm>
          <a:prstGeom prst="rect">
            <a:avLst/>
          </a:prstGeom>
        </p:spPr>
      </p:pic>
      <p:pic>
        <p:nvPicPr>
          <p:cNvPr id="1026" name="Picture 2" descr="Warriors">
            <a:extLst>
              <a:ext uri="{FF2B5EF4-FFF2-40B4-BE49-F238E27FC236}">
                <a16:creationId xmlns:a16="http://schemas.microsoft.com/office/drawing/2014/main" id="{B909321A-BCB2-205B-3EF8-D514F7DA11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2890" y="1380472"/>
            <a:ext cx="6328420" cy="4276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07807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A97E4-307C-2878-AF98-A1BF89146103}"/>
              </a:ext>
            </a:extLst>
          </p:cNvPr>
          <p:cNvSpPr>
            <a:spLocks noGrp="1"/>
          </p:cNvSpPr>
          <p:nvPr>
            <p:ph type="title"/>
          </p:nvPr>
        </p:nvSpPr>
        <p:spPr/>
        <p:txBody>
          <a:bodyPr/>
          <a:lstStyle/>
          <a:p>
            <a:r>
              <a:rPr lang="en-US" dirty="0"/>
              <a:t>Assessing furniture sales across regions</a:t>
            </a:r>
          </a:p>
        </p:txBody>
      </p:sp>
      <p:sp>
        <p:nvSpPr>
          <p:cNvPr id="3" name="Content Placeholder 2">
            <a:extLst>
              <a:ext uri="{FF2B5EF4-FFF2-40B4-BE49-F238E27FC236}">
                <a16:creationId xmlns:a16="http://schemas.microsoft.com/office/drawing/2014/main" id="{AE76B524-8678-8DC8-CB96-3F0DED2DCF82}"/>
              </a:ext>
            </a:extLst>
          </p:cNvPr>
          <p:cNvSpPr>
            <a:spLocks noGrp="1"/>
          </p:cNvSpPr>
          <p:nvPr>
            <p:ph idx="1"/>
          </p:nvPr>
        </p:nvSpPr>
        <p:spPr/>
        <p:txBody>
          <a:bodyPr/>
          <a:lstStyle/>
          <a:p>
            <a:endParaRPr lang="en-US"/>
          </a:p>
        </p:txBody>
      </p:sp>
      <p:pic>
        <p:nvPicPr>
          <p:cNvPr id="3074" name="Picture 2">
            <a:extLst>
              <a:ext uri="{FF2B5EF4-FFF2-40B4-BE49-F238E27FC236}">
                <a16:creationId xmlns:a16="http://schemas.microsoft.com/office/drawing/2014/main" id="{1152B887-198D-613C-2A51-CA295687DC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068" y="1421739"/>
            <a:ext cx="5580345" cy="346416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2-1 bar chart with sales">
            <a:extLst>
              <a:ext uri="{FF2B5EF4-FFF2-40B4-BE49-F238E27FC236}">
                <a16:creationId xmlns:a16="http://schemas.microsoft.com/office/drawing/2014/main" id="{63A0E31A-3858-C90C-15B0-B84E85125F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4704" y="1530921"/>
            <a:ext cx="6245629" cy="3212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9707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E991C-9401-6BE7-BA19-83FAD777C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088683-FED9-3243-065C-74FE0B461182}"/>
              </a:ext>
            </a:extLst>
          </p:cNvPr>
          <p:cNvSpPr>
            <a:spLocks noGrp="1"/>
          </p:cNvSpPr>
          <p:nvPr>
            <p:ph type="title"/>
          </p:nvPr>
        </p:nvSpPr>
        <p:spPr/>
        <p:txBody>
          <a:bodyPr/>
          <a:lstStyle/>
          <a:p>
            <a:r>
              <a:rPr lang="en-US" dirty="0"/>
              <a:t>There are many types of plots…</a:t>
            </a:r>
          </a:p>
        </p:txBody>
      </p:sp>
      <p:pic>
        <p:nvPicPr>
          <p:cNvPr id="11" name="Picture 10" descr="A screenshot of a computer screen&#10;&#10;AI-generated content may be incorrect.">
            <a:extLst>
              <a:ext uri="{FF2B5EF4-FFF2-40B4-BE49-F238E27FC236}">
                <a16:creationId xmlns:a16="http://schemas.microsoft.com/office/drawing/2014/main" id="{92526F35-84C3-7092-6338-86CB7076A5B0}"/>
              </a:ext>
            </a:extLst>
          </p:cNvPr>
          <p:cNvPicPr>
            <a:picLocks noChangeAspect="1"/>
          </p:cNvPicPr>
          <p:nvPr/>
        </p:nvPicPr>
        <p:blipFill>
          <a:blip r:embed="rId3"/>
          <a:stretch>
            <a:fillRect/>
          </a:stretch>
        </p:blipFill>
        <p:spPr>
          <a:xfrm>
            <a:off x="3900004" y="1691502"/>
            <a:ext cx="4391992" cy="4398093"/>
          </a:xfrm>
          <a:prstGeom prst="rect">
            <a:avLst/>
          </a:prstGeom>
        </p:spPr>
      </p:pic>
      <p:sp>
        <p:nvSpPr>
          <p:cNvPr id="12" name="Content Placeholder 2">
            <a:extLst>
              <a:ext uri="{FF2B5EF4-FFF2-40B4-BE49-F238E27FC236}">
                <a16:creationId xmlns:a16="http://schemas.microsoft.com/office/drawing/2014/main" id="{A566F4CD-5F4A-D0CF-651E-0FC9DB15B302}"/>
              </a:ext>
            </a:extLst>
          </p:cNvPr>
          <p:cNvSpPr>
            <a:spLocks noGrp="1"/>
          </p:cNvSpPr>
          <p:nvPr>
            <p:ph idx="1"/>
          </p:nvPr>
        </p:nvSpPr>
        <p:spPr>
          <a:xfrm>
            <a:off x="717452" y="1296000"/>
            <a:ext cx="10864948" cy="2133000"/>
          </a:xfrm>
        </p:spPr>
        <p:txBody>
          <a:bodyPr/>
          <a:lstStyle/>
          <a:p>
            <a:pPr marL="0" indent="0">
              <a:buNone/>
            </a:pPr>
            <a:r>
              <a:rPr lang="en-US" sz="2000" dirty="0"/>
              <a:t>Check here one of the Python libraries for plotting: </a:t>
            </a:r>
            <a:r>
              <a:rPr lang="en-US" sz="2000" dirty="0">
                <a:hlinkClick r:id="rId4"/>
              </a:rPr>
              <a:t>https://seaborn.pydata.org/examples/index.html</a:t>
            </a:r>
            <a:r>
              <a:rPr lang="en-US" sz="2000" dirty="0"/>
              <a:t> </a:t>
            </a:r>
          </a:p>
        </p:txBody>
      </p:sp>
    </p:spTree>
    <p:extLst>
      <p:ext uri="{BB962C8B-B14F-4D97-AF65-F5344CB8AC3E}">
        <p14:creationId xmlns:p14="http://schemas.microsoft.com/office/powerpoint/2010/main" val="12024331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7DEA7-E7F9-7715-2B91-520D2C938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EF9490-6F94-25BB-7AE3-3BC428FC7723}"/>
              </a:ext>
            </a:extLst>
          </p:cNvPr>
          <p:cNvSpPr>
            <a:spLocks noGrp="1"/>
          </p:cNvSpPr>
          <p:nvPr>
            <p:ph type="title"/>
          </p:nvPr>
        </p:nvSpPr>
        <p:spPr/>
        <p:txBody>
          <a:bodyPr/>
          <a:lstStyle/>
          <a:p>
            <a:r>
              <a:rPr lang="en-US" dirty="0"/>
              <a:t>Describing data quantitatively</a:t>
            </a:r>
          </a:p>
        </p:txBody>
      </p:sp>
      <p:sp>
        <p:nvSpPr>
          <p:cNvPr id="3" name="Content Placeholder 2">
            <a:extLst>
              <a:ext uri="{FF2B5EF4-FFF2-40B4-BE49-F238E27FC236}">
                <a16:creationId xmlns:a16="http://schemas.microsoft.com/office/drawing/2014/main" id="{3C4AD55F-A218-9E10-4E2E-77A20442C264}"/>
              </a:ext>
            </a:extLst>
          </p:cNvPr>
          <p:cNvSpPr>
            <a:spLocks noGrp="1"/>
          </p:cNvSpPr>
          <p:nvPr>
            <p:ph idx="1"/>
          </p:nvPr>
        </p:nvSpPr>
        <p:spPr>
          <a:xfrm>
            <a:off x="480001" y="1189241"/>
            <a:ext cx="11102399" cy="1522427"/>
          </a:xfrm>
        </p:spPr>
        <p:txBody>
          <a:bodyPr/>
          <a:lstStyle/>
          <a:p>
            <a:pPr marL="0" indent="0">
              <a:buNone/>
            </a:pPr>
            <a:r>
              <a:rPr lang="en-US" sz="2000" dirty="0"/>
              <a:t>In some cases, we need much simpler data summary than sophisticated data visualization strategies:</a:t>
            </a:r>
          </a:p>
          <a:p>
            <a:r>
              <a:rPr lang="en-US" sz="2000" dirty="0"/>
              <a:t>Deliver a structured report to a company management (that does not know about box plots)</a:t>
            </a:r>
          </a:p>
          <a:p>
            <a:r>
              <a:rPr lang="en-US" sz="2000" dirty="0"/>
              <a:t>Compare the differences between two samples with hundreds of variables</a:t>
            </a:r>
          </a:p>
          <a:p>
            <a:r>
              <a:rPr lang="en-US" sz="2000" dirty="0"/>
              <a:t>…</a:t>
            </a:r>
          </a:p>
        </p:txBody>
      </p:sp>
    </p:spTree>
    <p:extLst>
      <p:ext uri="{BB962C8B-B14F-4D97-AF65-F5344CB8AC3E}">
        <p14:creationId xmlns:p14="http://schemas.microsoft.com/office/powerpoint/2010/main" val="2211754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239FA-7762-5232-7355-4E8741AA0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4D12BF-DC94-2B82-95DF-44CAE74C6450}"/>
              </a:ext>
            </a:extLst>
          </p:cNvPr>
          <p:cNvSpPr>
            <a:spLocks noGrp="1"/>
          </p:cNvSpPr>
          <p:nvPr>
            <p:ph type="title"/>
          </p:nvPr>
        </p:nvSpPr>
        <p:spPr/>
        <p:txBody>
          <a:bodyPr/>
          <a:lstStyle/>
          <a:p>
            <a:r>
              <a:rPr lang="en-US" dirty="0"/>
              <a:t>Describing data quantitatively</a:t>
            </a:r>
          </a:p>
        </p:txBody>
      </p:sp>
      <p:sp>
        <p:nvSpPr>
          <p:cNvPr id="3" name="Content Placeholder 2">
            <a:extLst>
              <a:ext uri="{FF2B5EF4-FFF2-40B4-BE49-F238E27FC236}">
                <a16:creationId xmlns:a16="http://schemas.microsoft.com/office/drawing/2014/main" id="{1B06E161-0662-7237-1CB0-C855D4FDDC60}"/>
              </a:ext>
            </a:extLst>
          </p:cNvPr>
          <p:cNvSpPr>
            <a:spLocks noGrp="1"/>
          </p:cNvSpPr>
          <p:nvPr>
            <p:ph idx="1"/>
          </p:nvPr>
        </p:nvSpPr>
        <p:spPr>
          <a:xfrm>
            <a:off x="480001" y="1189241"/>
            <a:ext cx="11102399" cy="1522427"/>
          </a:xfrm>
        </p:spPr>
        <p:txBody>
          <a:bodyPr/>
          <a:lstStyle/>
          <a:p>
            <a:pPr marL="0" indent="0">
              <a:buNone/>
            </a:pPr>
            <a:r>
              <a:rPr lang="en-US" sz="2000" dirty="0"/>
              <a:t>In some cases, we need much simpler data summary than sophisticated data visualization strategies:</a:t>
            </a:r>
          </a:p>
          <a:p>
            <a:r>
              <a:rPr lang="en-US" sz="2000" dirty="0"/>
              <a:t>Deliver a structured report to a company management (that does not know about box plots)</a:t>
            </a:r>
          </a:p>
          <a:p>
            <a:r>
              <a:rPr lang="en-US" sz="2000" dirty="0"/>
              <a:t>Compare the differences between two samples with hundreds of variables</a:t>
            </a:r>
          </a:p>
          <a:p>
            <a:r>
              <a:rPr lang="en-US" sz="2000" dirty="0"/>
              <a:t>…</a:t>
            </a:r>
          </a:p>
          <a:p>
            <a:endParaRPr lang="en-US" sz="2000" dirty="0"/>
          </a:p>
          <a:p>
            <a:pPr marL="0" indent="0">
              <a:buNone/>
            </a:pPr>
            <a:endParaRPr lang="en-US" sz="2000" dirty="0"/>
          </a:p>
        </p:txBody>
      </p:sp>
      <p:sp>
        <p:nvSpPr>
          <p:cNvPr id="5" name="Content Placeholder 2">
            <a:extLst>
              <a:ext uri="{FF2B5EF4-FFF2-40B4-BE49-F238E27FC236}">
                <a16:creationId xmlns:a16="http://schemas.microsoft.com/office/drawing/2014/main" id="{32B35267-6002-4B22-42A4-632CD6CB4795}"/>
              </a:ext>
            </a:extLst>
          </p:cNvPr>
          <p:cNvSpPr txBox="1">
            <a:spLocks/>
          </p:cNvSpPr>
          <p:nvPr/>
        </p:nvSpPr>
        <p:spPr>
          <a:xfrm>
            <a:off x="480000" y="2865641"/>
            <a:ext cx="11102399" cy="1522427"/>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Common statistics:</a:t>
            </a:r>
          </a:p>
          <a:p>
            <a:r>
              <a:rPr lang="en-US" sz="2000" dirty="0"/>
              <a:t>Measures of central tendency: mean, median, mode</a:t>
            </a:r>
          </a:p>
          <a:p>
            <a:r>
              <a:rPr lang="en-US" sz="2000" dirty="0"/>
              <a:t>Measures of spread: variance, standard deviation, percentiles, IQR</a:t>
            </a:r>
          </a:p>
          <a:p>
            <a:r>
              <a:rPr lang="en-US" sz="2000" dirty="0"/>
              <a:t>Others: skewness, kurtosis</a:t>
            </a:r>
          </a:p>
        </p:txBody>
      </p:sp>
    </p:spTree>
    <p:extLst>
      <p:ext uri="{BB962C8B-B14F-4D97-AF65-F5344CB8AC3E}">
        <p14:creationId xmlns:p14="http://schemas.microsoft.com/office/powerpoint/2010/main" val="1356471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8B424-F3FE-19BB-BEBB-4634805792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57A7E-42F3-A8E5-99DC-E55099BDB2D2}"/>
              </a:ext>
            </a:extLst>
          </p:cNvPr>
          <p:cNvSpPr>
            <a:spLocks noGrp="1"/>
          </p:cNvSpPr>
          <p:nvPr>
            <p:ph type="title"/>
          </p:nvPr>
        </p:nvSpPr>
        <p:spPr/>
        <p:txBody>
          <a:bodyPr/>
          <a:lstStyle/>
          <a:p>
            <a:r>
              <a:rPr lang="en-US" sz="4400" dirty="0"/>
              <a:t>Measures of central tendency</a:t>
            </a:r>
            <a:endParaRPr lang="en-US" dirty="0"/>
          </a:p>
        </p:txBody>
      </p:sp>
      <p:sp>
        <p:nvSpPr>
          <p:cNvPr id="5" name="Content Placeholder 2">
            <a:extLst>
              <a:ext uri="{FF2B5EF4-FFF2-40B4-BE49-F238E27FC236}">
                <a16:creationId xmlns:a16="http://schemas.microsoft.com/office/drawing/2014/main" id="{A34B11B5-0BDE-0F3F-9E3F-B3FDC0BB7166}"/>
              </a:ext>
            </a:extLst>
          </p:cNvPr>
          <p:cNvSpPr txBox="1">
            <a:spLocks/>
          </p:cNvSpPr>
          <p:nvPr/>
        </p:nvSpPr>
        <p:spPr>
          <a:xfrm>
            <a:off x="544788" y="1227337"/>
            <a:ext cx="11037612"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Population mean:</a:t>
            </a:r>
          </a:p>
        </p:txBody>
      </p:sp>
      <p:pic>
        <p:nvPicPr>
          <p:cNvPr id="39938" name="Picture 2">
            <a:extLst>
              <a:ext uri="{FF2B5EF4-FFF2-40B4-BE49-F238E27FC236}">
                <a16:creationId xmlns:a16="http://schemas.microsoft.com/office/drawing/2014/main" id="{F241496D-2F0B-6339-97E9-E240844708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002" y="1713543"/>
            <a:ext cx="1786748" cy="9278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A7EF429F-9D5D-9978-24FE-E4601CB9E054}"/>
                  </a:ext>
                </a:extLst>
              </p:cNvPr>
              <p:cNvSpPr txBox="1">
                <a:spLocks/>
              </p:cNvSpPr>
              <p:nvPr/>
            </p:nvSpPr>
            <p:spPr>
              <a:xfrm>
                <a:off x="544788" y="4788752"/>
                <a:ext cx="11470792" cy="995032"/>
              </a:xfrm>
              <a:prstGeom prst="rect">
                <a:avLst/>
              </a:prstGeom>
              <a:ln>
                <a:noFill/>
              </a:ln>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Mean/Average of the population:</a:t>
                </a:r>
              </a:p>
              <a:p>
                <a:pPr marL="0" indent="0">
                  <a:buFont typeface="Arial"/>
                  <a:buNone/>
                </a:pPr>
                <a:endParaRPr lang="en-US" sz="2000" dirty="0"/>
              </a:p>
              <a:p>
                <a:pPr marL="0" indent="0">
                  <a:buNone/>
                </a:pPr>
                <a14:m>
                  <m:oMathPara xmlns:m="http://schemas.openxmlformats.org/officeDocument/2006/math">
                    <m:oMathParaPr>
                      <m:jc m:val="centerGroup"/>
                    </m:oMathParaPr>
                    <m:oMath xmlns:m="http://schemas.openxmlformats.org/officeDocument/2006/math">
                      <m:f>
                        <m:fPr>
                          <m:ctrlPr>
                            <a:rPr lang="en-US" sz="1400" i="1" dirty="0" smtClean="0">
                              <a:latin typeface="Cambria Math" panose="02040503050406030204" pitchFamily="18" charset="0"/>
                            </a:rPr>
                          </m:ctrlPr>
                        </m:fPr>
                        <m:num>
                          <m:r>
                            <a:rPr lang="en-US" sz="1400" i="1" dirty="0">
                              <a:latin typeface="Cambria Math" panose="02040503050406030204" pitchFamily="18" charset="0"/>
                            </a:rPr>
                            <m:t>(60 + 62 + 64 + 65 + 68 + 72 + 73 + 75 + 78 + 79 + 81 + 83 + </m:t>
                          </m:r>
                          <m:r>
                            <a:rPr lang="nl-NL" sz="1400" b="0" i="1" dirty="0" smtClean="0">
                              <a:latin typeface="Cambria Math" panose="02040503050406030204" pitchFamily="18" charset="0"/>
                            </a:rPr>
                            <m:t>93</m:t>
                          </m:r>
                          <m:r>
                            <a:rPr lang="en-US" sz="1400" i="1" dirty="0">
                              <a:latin typeface="Cambria Math" panose="02040503050406030204" pitchFamily="18" charset="0"/>
                            </a:rPr>
                            <m:t> + </m:t>
                          </m:r>
                          <m:r>
                            <a:rPr lang="nl-NL" sz="1400" b="0" i="1" dirty="0" smtClean="0">
                              <a:latin typeface="Cambria Math" panose="02040503050406030204" pitchFamily="18" charset="0"/>
                            </a:rPr>
                            <m:t>94</m:t>
                          </m:r>
                          <m:r>
                            <a:rPr lang="en-US" sz="1400" i="1" dirty="0">
                              <a:latin typeface="Cambria Math" panose="02040503050406030204" pitchFamily="18" charset="0"/>
                            </a:rPr>
                            <m:t> + </m:t>
                          </m:r>
                          <m:r>
                            <a:rPr lang="nl-NL" sz="1400" b="0" i="1" dirty="0" smtClean="0">
                              <a:latin typeface="Cambria Math" panose="02040503050406030204" pitchFamily="18" charset="0"/>
                            </a:rPr>
                            <m:t>95</m:t>
                          </m:r>
                          <m:r>
                            <a:rPr lang="en-US" sz="1400" i="1" dirty="0">
                              <a:latin typeface="Cambria Math" panose="02040503050406030204" pitchFamily="18" charset="0"/>
                            </a:rPr>
                            <m:t>)</m:t>
                          </m:r>
                        </m:num>
                        <m:den>
                          <m:r>
                            <a:rPr lang="nl-NL" sz="1400" b="0" i="1" dirty="0" smtClean="0">
                              <a:latin typeface="Cambria Math" panose="02040503050406030204" pitchFamily="18" charset="0"/>
                            </a:rPr>
                            <m:t>15</m:t>
                          </m:r>
                        </m:den>
                      </m:f>
                      <m:r>
                        <a:rPr lang="nl-NL" sz="1400" b="0" i="1" dirty="0" smtClean="0">
                          <a:latin typeface="Cambria Math" panose="02040503050406030204" pitchFamily="18" charset="0"/>
                        </a:rPr>
                        <m:t> = 81.53</m:t>
                      </m:r>
                    </m:oMath>
                  </m:oMathPara>
                </a14:m>
                <a:endParaRPr lang="en-US" sz="2000" dirty="0"/>
              </a:p>
            </p:txBody>
          </p:sp>
        </mc:Choice>
        <mc:Fallback xmlns="">
          <p:sp>
            <p:nvSpPr>
              <p:cNvPr id="12" name="Content Placeholder 2">
                <a:extLst>
                  <a:ext uri="{FF2B5EF4-FFF2-40B4-BE49-F238E27FC236}">
                    <a16:creationId xmlns:a16="http://schemas.microsoft.com/office/drawing/2014/main" id="{A7EF429F-9D5D-9978-24FE-E4601CB9E054}"/>
                  </a:ext>
                </a:extLst>
              </p:cNvPr>
              <p:cNvSpPr txBox="1">
                <a:spLocks noRot="1" noChangeAspect="1" noMove="1" noResize="1" noEditPoints="1" noAdjustHandles="1" noChangeArrowheads="1" noChangeShapeType="1" noTextEdit="1"/>
              </p:cNvSpPr>
              <p:nvPr/>
            </p:nvSpPr>
            <p:spPr>
              <a:xfrm>
                <a:off x="544788" y="4788752"/>
                <a:ext cx="11470792" cy="995032"/>
              </a:xfrm>
              <a:prstGeom prst="rect">
                <a:avLst/>
              </a:prstGeom>
              <a:blipFill>
                <a:blip r:embed="rId3"/>
                <a:stretch>
                  <a:fillRect l="-1326" t="-7595" b="-8861"/>
                </a:stretch>
              </a:blipFill>
              <a:ln>
                <a:noFill/>
              </a:ln>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93242ABC-62D5-F053-373A-1FC5D12D7669}"/>
              </a:ext>
            </a:extLst>
          </p:cNvPr>
          <p:cNvCxnSpPr>
            <a:cxnSpLocks/>
          </p:cNvCxnSpPr>
          <p:nvPr/>
        </p:nvCxnSpPr>
        <p:spPr>
          <a:xfrm>
            <a:off x="609600" y="4002129"/>
            <a:ext cx="11102413" cy="0"/>
          </a:xfrm>
          <a:prstGeom prst="line">
            <a:avLst/>
          </a:prstGeom>
          <a:ln>
            <a:solidFill>
              <a:schemeClr val="accent1">
                <a:lumMod val="40000"/>
                <a:lumOff val="60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graphicFrame>
        <p:nvGraphicFramePr>
          <p:cNvPr id="16" name="Table 15">
            <a:extLst>
              <a:ext uri="{FF2B5EF4-FFF2-40B4-BE49-F238E27FC236}">
                <a16:creationId xmlns:a16="http://schemas.microsoft.com/office/drawing/2014/main" id="{AB022E59-5485-2686-D0EE-E269D8ED93E8}"/>
              </a:ext>
            </a:extLst>
          </p:cNvPr>
          <p:cNvGraphicFramePr>
            <a:graphicFrameLocks noGrp="1"/>
          </p:cNvGraphicFramePr>
          <p:nvPr/>
        </p:nvGraphicFramePr>
        <p:xfrm>
          <a:off x="544789" y="4123463"/>
          <a:ext cx="10972790" cy="192405"/>
        </p:xfrm>
        <a:graphic>
          <a:graphicData uri="http://schemas.openxmlformats.org/drawingml/2006/table">
            <a:tbl>
              <a:tblPr>
                <a:tableStyleId>{5C22544A-7EE6-4342-B048-85BDC9FD1C3A}</a:tableStyleId>
              </a:tblPr>
              <a:tblGrid>
                <a:gridCol w="261202">
                  <a:extLst>
                    <a:ext uri="{9D8B030D-6E8A-4147-A177-3AD203B41FA5}">
                      <a16:colId xmlns:a16="http://schemas.microsoft.com/office/drawing/2014/main" val="2112383504"/>
                    </a:ext>
                  </a:extLst>
                </a:gridCol>
                <a:gridCol w="301334">
                  <a:extLst>
                    <a:ext uri="{9D8B030D-6E8A-4147-A177-3AD203B41FA5}">
                      <a16:colId xmlns:a16="http://schemas.microsoft.com/office/drawing/2014/main" val="3866655891"/>
                    </a:ext>
                  </a:extLst>
                </a:gridCol>
                <a:gridCol w="301334">
                  <a:extLst>
                    <a:ext uri="{9D8B030D-6E8A-4147-A177-3AD203B41FA5}">
                      <a16:colId xmlns:a16="http://schemas.microsoft.com/office/drawing/2014/main" val="992048752"/>
                    </a:ext>
                  </a:extLst>
                </a:gridCol>
                <a:gridCol w="301334">
                  <a:extLst>
                    <a:ext uri="{9D8B030D-6E8A-4147-A177-3AD203B41FA5}">
                      <a16:colId xmlns:a16="http://schemas.microsoft.com/office/drawing/2014/main" val="3273464670"/>
                    </a:ext>
                  </a:extLst>
                </a:gridCol>
                <a:gridCol w="301334">
                  <a:extLst>
                    <a:ext uri="{9D8B030D-6E8A-4147-A177-3AD203B41FA5}">
                      <a16:colId xmlns:a16="http://schemas.microsoft.com/office/drawing/2014/main" val="2211268083"/>
                    </a:ext>
                  </a:extLst>
                </a:gridCol>
                <a:gridCol w="301334">
                  <a:extLst>
                    <a:ext uri="{9D8B030D-6E8A-4147-A177-3AD203B41FA5}">
                      <a16:colId xmlns:a16="http://schemas.microsoft.com/office/drawing/2014/main" val="306927346"/>
                    </a:ext>
                  </a:extLst>
                </a:gridCol>
                <a:gridCol w="301334">
                  <a:extLst>
                    <a:ext uri="{9D8B030D-6E8A-4147-A177-3AD203B41FA5}">
                      <a16:colId xmlns:a16="http://schemas.microsoft.com/office/drawing/2014/main" val="3812172840"/>
                    </a:ext>
                  </a:extLst>
                </a:gridCol>
                <a:gridCol w="301334">
                  <a:extLst>
                    <a:ext uri="{9D8B030D-6E8A-4147-A177-3AD203B41FA5}">
                      <a16:colId xmlns:a16="http://schemas.microsoft.com/office/drawing/2014/main" val="1991276016"/>
                    </a:ext>
                  </a:extLst>
                </a:gridCol>
                <a:gridCol w="301334">
                  <a:extLst>
                    <a:ext uri="{9D8B030D-6E8A-4147-A177-3AD203B41FA5}">
                      <a16:colId xmlns:a16="http://schemas.microsoft.com/office/drawing/2014/main" val="2694655276"/>
                    </a:ext>
                  </a:extLst>
                </a:gridCol>
                <a:gridCol w="301334">
                  <a:extLst>
                    <a:ext uri="{9D8B030D-6E8A-4147-A177-3AD203B41FA5}">
                      <a16:colId xmlns:a16="http://schemas.microsoft.com/office/drawing/2014/main" val="35194619"/>
                    </a:ext>
                  </a:extLst>
                </a:gridCol>
                <a:gridCol w="301334">
                  <a:extLst>
                    <a:ext uri="{9D8B030D-6E8A-4147-A177-3AD203B41FA5}">
                      <a16:colId xmlns:a16="http://schemas.microsoft.com/office/drawing/2014/main" val="391543518"/>
                    </a:ext>
                  </a:extLst>
                </a:gridCol>
                <a:gridCol w="301334">
                  <a:extLst>
                    <a:ext uri="{9D8B030D-6E8A-4147-A177-3AD203B41FA5}">
                      <a16:colId xmlns:a16="http://schemas.microsoft.com/office/drawing/2014/main" val="3012374910"/>
                    </a:ext>
                  </a:extLst>
                </a:gridCol>
                <a:gridCol w="301334">
                  <a:extLst>
                    <a:ext uri="{9D8B030D-6E8A-4147-A177-3AD203B41FA5}">
                      <a16:colId xmlns:a16="http://schemas.microsoft.com/office/drawing/2014/main" val="264571868"/>
                    </a:ext>
                  </a:extLst>
                </a:gridCol>
                <a:gridCol w="301334">
                  <a:extLst>
                    <a:ext uri="{9D8B030D-6E8A-4147-A177-3AD203B41FA5}">
                      <a16:colId xmlns:a16="http://schemas.microsoft.com/office/drawing/2014/main" val="955528670"/>
                    </a:ext>
                  </a:extLst>
                </a:gridCol>
                <a:gridCol w="301334">
                  <a:extLst>
                    <a:ext uri="{9D8B030D-6E8A-4147-A177-3AD203B41FA5}">
                      <a16:colId xmlns:a16="http://schemas.microsoft.com/office/drawing/2014/main" val="132902476"/>
                    </a:ext>
                  </a:extLst>
                </a:gridCol>
                <a:gridCol w="301334">
                  <a:extLst>
                    <a:ext uri="{9D8B030D-6E8A-4147-A177-3AD203B41FA5}">
                      <a16:colId xmlns:a16="http://schemas.microsoft.com/office/drawing/2014/main" val="2955705816"/>
                    </a:ext>
                  </a:extLst>
                </a:gridCol>
                <a:gridCol w="301334">
                  <a:extLst>
                    <a:ext uri="{9D8B030D-6E8A-4147-A177-3AD203B41FA5}">
                      <a16:colId xmlns:a16="http://schemas.microsoft.com/office/drawing/2014/main" val="2413265556"/>
                    </a:ext>
                  </a:extLst>
                </a:gridCol>
                <a:gridCol w="301334">
                  <a:extLst>
                    <a:ext uri="{9D8B030D-6E8A-4147-A177-3AD203B41FA5}">
                      <a16:colId xmlns:a16="http://schemas.microsoft.com/office/drawing/2014/main" val="4027003227"/>
                    </a:ext>
                  </a:extLst>
                </a:gridCol>
                <a:gridCol w="301334">
                  <a:extLst>
                    <a:ext uri="{9D8B030D-6E8A-4147-A177-3AD203B41FA5}">
                      <a16:colId xmlns:a16="http://schemas.microsoft.com/office/drawing/2014/main" val="1783032949"/>
                    </a:ext>
                  </a:extLst>
                </a:gridCol>
                <a:gridCol w="301334">
                  <a:extLst>
                    <a:ext uri="{9D8B030D-6E8A-4147-A177-3AD203B41FA5}">
                      <a16:colId xmlns:a16="http://schemas.microsoft.com/office/drawing/2014/main" val="3398326629"/>
                    </a:ext>
                  </a:extLst>
                </a:gridCol>
                <a:gridCol w="301334">
                  <a:extLst>
                    <a:ext uri="{9D8B030D-6E8A-4147-A177-3AD203B41FA5}">
                      <a16:colId xmlns:a16="http://schemas.microsoft.com/office/drawing/2014/main" val="2284819630"/>
                    </a:ext>
                  </a:extLst>
                </a:gridCol>
                <a:gridCol w="301334">
                  <a:extLst>
                    <a:ext uri="{9D8B030D-6E8A-4147-A177-3AD203B41FA5}">
                      <a16:colId xmlns:a16="http://schemas.microsoft.com/office/drawing/2014/main" val="4195910540"/>
                    </a:ext>
                  </a:extLst>
                </a:gridCol>
                <a:gridCol w="301334">
                  <a:extLst>
                    <a:ext uri="{9D8B030D-6E8A-4147-A177-3AD203B41FA5}">
                      <a16:colId xmlns:a16="http://schemas.microsoft.com/office/drawing/2014/main" val="3959699492"/>
                    </a:ext>
                  </a:extLst>
                </a:gridCol>
                <a:gridCol w="301334">
                  <a:extLst>
                    <a:ext uri="{9D8B030D-6E8A-4147-A177-3AD203B41FA5}">
                      <a16:colId xmlns:a16="http://schemas.microsoft.com/office/drawing/2014/main" val="1073429929"/>
                    </a:ext>
                  </a:extLst>
                </a:gridCol>
                <a:gridCol w="301334">
                  <a:extLst>
                    <a:ext uri="{9D8B030D-6E8A-4147-A177-3AD203B41FA5}">
                      <a16:colId xmlns:a16="http://schemas.microsoft.com/office/drawing/2014/main" val="1930910466"/>
                    </a:ext>
                  </a:extLst>
                </a:gridCol>
                <a:gridCol w="301334">
                  <a:extLst>
                    <a:ext uri="{9D8B030D-6E8A-4147-A177-3AD203B41FA5}">
                      <a16:colId xmlns:a16="http://schemas.microsoft.com/office/drawing/2014/main" val="2710696277"/>
                    </a:ext>
                  </a:extLst>
                </a:gridCol>
                <a:gridCol w="301334">
                  <a:extLst>
                    <a:ext uri="{9D8B030D-6E8A-4147-A177-3AD203B41FA5}">
                      <a16:colId xmlns:a16="http://schemas.microsoft.com/office/drawing/2014/main" val="4078151139"/>
                    </a:ext>
                  </a:extLst>
                </a:gridCol>
                <a:gridCol w="301334">
                  <a:extLst>
                    <a:ext uri="{9D8B030D-6E8A-4147-A177-3AD203B41FA5}">
                      <a16:colId xmlns:a16="http://schemas.microsoft.com/office/drawing/2014/main" val="4071817021"/>
                    </a:ext>
                  </a:extLst>
                </a:gridCol>
                <a:gridCol w="301334">
                  <a:extLst>
                    <a:ext uri="{9D8B030D-6E8A-4147-A177-3AD203B41FA5}">
                      <a16:colId xmlns:a16="http://schemas.microsoft.com/office/drawing/2014/main" val="334609205"/>
                    </a:ext>
                  </a:extLst>
                </a:gridCol>
                <a:gridCol w="301334">
                  <a:extLst>
                    <a:ext uri="{9D8B030D-6E8A-4147-A177-3AD203B41FA5}">
                      <a16:colId xmlns:a16="http://schemas.microsoft.com/office/drawing/2014/main" val="3400151758"/>
                    </a:ext>
                  </a:extLst>
                </a:gridCol>
                <a:gridCol w="301334">
                  <a:extLst>
                    <a:ext uri="{9D8B030D-6E8A-4147-A177-3AD203B41FA5}">
                      <a16:colId xmlns:a16="http://schemas.microsoft.com/office/drawing/2014/main" val="1689673636"/>
                    </a:ext>
                  </a:extLst>
                </a:gridCol>
                <a:gridCol w="301334">
                  <a:extLst>
                    <a:ext uri="{9D8B030D-6E8A-4147-A177-3AD203B41FA5}">
                      <a16:colId xmlns:a16="http://schemas.microsoft.com/office/drawing/2014/main" val="1584454777"/>
                    </a:ext>
                  </a:extLst>
                </a:gridCol>
                <a:gridCol w="301334">
                  <a:extLst>
                    <a:ext uri="{9D8B030D-6E8A-4147-A177-3AD203B41FA5}">
                      <a16:colId xmlns:a16="http://schemas.microsoft.com/office/drawing/2014/main" val="1425856778"/>
                    </a:ext>
                  </a:extLst>
                </a:gridCol>
                <a:gridCol w="301334">
                  <a:extLst>
                    <a:ext uri="{9D8B030D-6E8A-4147-A177-3AD203B41FA5}">
                      <a16:colId xmlns:a16="http://schemas.microsoft.com/office/drawing/2014/main" val="2153097649"/>
                    </a:ext>
                  </a:extLst>
                </a:gridCol>
                <a:gridCol w="348025">
                  <a:extLst>
                    <a:ext uri="{9D8B030D-6E8A-4147-A177-3AD203B41FA5}">
                      <a16:colId xmlns:a16="http://schemas.microsoft.com/office/drawing/2014/main" val="2995553791"/>
                    </a:ext>
                  </a:extLst>
                </a:gridCol>
                <a:gridCol w="419541">
                  <a:extLst>
                    <a:ext uri="{9D8B030D-6E8A-4147-A177-3AD203B41FA5}">
                      <a16:colId xmlns:a16="http://schemas.microsoft.com/office/drawing/2014/main" val="3698766726"/>
                    </a:ext>
                  </a:extLst>
                </a:gridCol>
              </a:tblGrid>
              <a:tr h="44059">
                <a:tc>
                  <a:txBody>
                    <a:bodyPr/>
                    <a:lstStyle/>
                    <a:p>
                      <a:pPr algn="r" fontAlgn="b">
                        <a:buNone/>
                      </a:pPr>
                      <a:r>
                        <a:rPr lang="en-US" sz="1200" b="1" i="0" u="none" strike="noStrike" dirty="0">
                          <a:solidFill>
                            <a:schemeClr val="tx2"/>
                          </a:solidFill>
                          <a:effectLst/>
                          <a:latin typeface="Aptos Narrow" panose="020B0004020202020204" pitchFamily="34" charset="0"/>
                        </a:rPr>
                        <a:t>60</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61</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62</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63</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64</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65</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66</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67</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68</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69</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70</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71</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72</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73</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74</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75</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76</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77</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78</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79</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80</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81</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82</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83</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84</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85</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86</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87</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118</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119</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120</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121</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122</a:t>
                      </a:r>
                    </a:p>
                  </a:txBody>
                  <a:tcPr marL="9525" marR="9525" marT="9525" marB="0" anchor="b">
                    <a:noFill/>
                  </a:tcPr>
                </a:tc>
                <a:extLst>
                  <a:ext uri="{0D108BD9-81ED-4DB2-BD59-A6C34878D82A}">
                    <a16:rowId xmlns:a16="http://schemas.microsoft.com/office/drawing/2014/main" val="2799741168"/>
                  </a:ext>
                </a:extLst>
              </a:tr>
            </a:tbl>
          </a:graphicData>
        </a:graphic>
      </p:graphicFrame>
      <p:pic>
        <p:nvPicPr>
          <p:cNvPr id="20" name="Graphic 19" descr="Female Profile with solid fill">
            <a:extLst>
              <a:ext uri="{FF2B5EF4-FFF2-40B4-BE49-F238E27FC236}">
                <a16:creationId xmlns:a16="http://schemas.microsoft.com/office/drawing/2014/main" id="{9BFDC794-05B7-308F-2DF2-4ADA1B6D1C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3429000"/>
            <a:ext cx="433180" cy="433180"/>
          </a:xfrm>
          <a:prstGeom prst="rect">
            <a:avLst/>
          </a:prstGeom>
        </p:spPr>
      </p:pic>
      <p:pic>
        <p:nvPicPr>
          <p:cNvPr id="21" name="Graphic 20" descr="Female Profile with solid fill">
            <a:extLst>
              <a:ext uri="{FF2B5EF4-FFF2-40B4-BE49-F238E27FC236}">
                <a16:creationId xmlns:a16="http://schemas.microsoft.com/office/drawing/2014/main" id="{54605939-A463-B65B-CFC2-02FB6B20E0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0837" y="3450129"/>
            <a:ext cx="433180" cy="433180"/>
          </a:xfrm>
          <a:prstGeom prst="rect">
            <a:avLst/>
          </a:prstGeom>
        </p:spPr>
      </p:pic>
      <p:pic>
        <p:nvPicPr>
          <p:cNvPr id="22" name="Graphic 21" descr="Female Profile with solid fill">
            <a:extLst>
              <a:ext uri="{FF2B5EF4-FFF2-40B4-BE49-F238E27FC236}">
                <a16:creationId xmlns:a16="http://schemas.microsoft.com/office/drawing/2014/main" id="{8A1AE932-E8F4-070C-84F1-E1A73DC1BE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14142" y="3447616"/>
            <a:ext cx="433180" cy="433180"/>
          </a:xfrm>
          <a:prstGeom prst="rect">
            <a:avLst/>
          </a:prstGeom>
        </p:spPr>
      </p:pic>
      <p:pic>
        <p:nvPicPr>
          <p:cNvPr id="23" name="Graphic 22" descr="Female Profile with solid fill">
            <a:extLst>
              <a:ext uri="{FF2B5EF4-FFF2-40B4-BE49-F238E27FC236}">
                <a16:creationId xmlns:a16="http://schemas.microsoft.com/office/drawing/2014/main" id="{44ABE217-26FE-C2F6-64DD-27FAC2459E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37509" y="3447616"/>
            <a:ext cx="433180" cy="433180"/>
          </a:xfrm>
          <a:prstGeom prst="rect">
            <a:avLst/>
          </a:prstGeom>
        </p:spPr>
      </p:pic>
      <p:pic>
        <p:nvPicPr>
          <p:cNvPr id="24" name="Graphic 23" descr="Female Profile with solid fill">
            <a:extLst>
              <a:ext uri="{FF2B5EF4-FFF2-40B4-BE49-F238E27FC236}">
                <a16:creationId xmlns:a16="http://schemas.microsoft.com/office/drawing/2014/main" id="{98CE56EC-5E69-0ADA-7B28-BC668B2675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72633" y="3447616"/>
            <a:ext cx="433180" cy="433180"/>
          </a:xfrm>
          <a:prstGeom prst="rect">
            <a:avLst/>
          </a:prstGeom>
        </p:spPr>
      </p:pic>
      <p:pic>
        <p:nvPicPr>
          <p:cNvPr id="25" name="Graphic 24" descr="Female Profile with solid fill">
            <a:extLst>
              <a:ext uri="{FF2B5EF4-FFF2-40B4-BE49-F238E27FC236}">
                <a16:creationId xmlns:a16="http://schemas.microsoft.com/office/drawing/2014/main" id="{C59768BB-FCF9-9C38-647A-497FC90806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68585" y="3447616"/>
            <a:ext cx="433180" cy="433180"/>
          </a:xfrm>
          <a:prstGeom prst="rect">
            <a:avLst/>
          </a:prstGeom>
        </p:spPr>
      </p:pic>
      <p:pic>
        <p:nvPicPr>
          <p:cNvPr id="26" name="Graphic 25" descr="Female Profile with solid fill">
            <a:extLst>
              <a:ext uri="{FF2B5EF4-FFF2-40B4-BE49-F238E27FC236}">
                <a16:creationId xmlns:a16="http://schemas.microsoft.com/office/drawing/2014/main" id="{8031613C-C951-3DCA-8068-9A7CA311F4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34767" y="3443492"/>
            <a:ext cx="433180" cy="433180"/>
          </a:xfrm>
          <a:prstGeom prst="rect">
            <a:avLst/>
          </a:prstGeom>
        </p:spPr>
      </p:pic>
      <p:pic>
        <p:nvPicPr>
          <p:cNvPr id="29" name="Graphic 28" descr="Male profile with solid fill">
            <a:extLst>
              <a:ext uri="{FF2B5EF4-FFF2-40B4-BE49-F238E27FC236}">
                <a16:creationId xmlns:a16="http://schemas.microsoft.com/office/drawing/2014/main" id="{0A4D0BD8-5367-8086-413D-D666DC64198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74095" y="3492155"/>
            <a:ext cx="444563" cy="444563"/>
          </a:xfrm>
          <a:prstGeom prst="rect">
            <a:avLst/>
          </a:prstGeom>
        </p:spPr>
      </p:pic>
      <p:pic>
        <p:nvPicPr>
          <p:cNvPr id="30" name="Graphic 29" descr="Male profile with solid fill">
            <a:extLst>
              <a:ext uri="{FF2B5EF4-FFF2-40B4-BE49-F238E27FC236}">
                <a16:creationId xmlns:a16="http://schemas.microsoft.com/office/drawing/2014/main" id="{E1196443-BF6C-8E20-D357-DED484089CB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2350" y="3492156"/>
            <a:ext cx="444563" cy="444563"/>
          </a:xfrm>
          <a:prstGeom prst="rect">
            <a:avLst/>
          </a:prstGeom>
        </p:spPr>
      </p:pic>
      <p:pic>
        <p:nvPicPr>
          <p:cNvPr id="31" name="Graphic 30" descr="Male profile with solid fill">
            <a:extLst>
              <a:ext uri="{FF2B5EF4-FFF2-40B4-BE49-F238E27FC236}">
                <a16:creationId xmlns:a16="http://schemas.microsoft.com/office/drawing/2014/main" id="{AF55999F-2EC8-F348-39CE-5385BED1679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15393" y="3486376"/>
            <a:ext cx="444563" cy="444563"/>
          </a:xfrm>
          <a:prstGeom prst="rect">
            <a:avLst/>
          </a:prstGeom>
        </p:spPr>
      </p:pic>
      <p:pic>
        <p:nvPicPr>
          <p:cNvPr id="32" name="Graphic 31" descr="Male profile with solid fill">
            <a:extLst>
              <a:ext uri="{FF2B5EF4-FFF2-40B4-BE49-F238E27FC236}">
                <a16:creationId xmlns:a16="http://schemas.microsoft.com/office/drawing/2014/main" id="{3CEBCE6A-3358-7161-2D89-7655769C327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62827" y="3481268"/>
            <a:ext cx="444563" cy="444563"/>
          </a:xfrm>
          <a:prstGeom prst="rect">
            <a:avLst/>
          </a:prstGeom>
        </p:spPr>
      </p:pic>
      <p:pic>
        <p:nvPicPr>
          <p:cNvPr id="33" name="Graphic 32" descr="Male profile with solid fill">
            <a:extLst>
              <a:ext uri="{FF2B5EF4-FFF2-40B4-BE49-F238E27FC236}">
                <a16:creationId xmlns:a16="http://schemas.microsoft.com/office/drawing/2014/main" id="{110180C9-EE8E-5DC5-1870-631311B5CD4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30872" y="3482096"/>
            <a:ext cx="444563" cy="444563"/>
          </a:xfrm>
          <a:prstGeom prst="rect">
            <a:avLst/>
          </a:prstGeom>
        </p:spPr>
      </p:pic>
      <p:pic>
        <p:nvPicPr>
          <p:cNvPr id="34" name="Graphic 33" descr="Female Profile with solid fill">
            <a:extLst>
              <a:ext uri="{FF2B5EF4-FFF2-40B4-BE49-F238E27FC236}">
                <a16:creationId xmlns:a16="http://schemas.microsoft.com/office/drawing/2014/main" id="{82B37FEF-48E2-D623-E170-1AC4A11ACD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32779" y="3486959"/>
            <a:ext cx="433180" cy="433180"/>
          </a:xfrm>
          <a:prstGeom prst="rect">
            <a:avLst/>
          </a:prstGeom>
        </p:spPr>
      </p:pic>
      <p:pic>
        <p:nvPicPr>
          <p:cNvPr id="35" name="Graphic 34" descr="Male profile with solid fill">
            <a:extLst>
              <a:ext uri="{FF2B5EF4-FFF2-40B4-BE49-F238E27FC236}">
                <a16:creationId xmlns:a16="http://schemas.microsoft.com/office/drawing/2014/main" id="{EE1DCF6E-D8AD-2D44-0265-E14AAE2EF3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54472" y="3503039"/>
            <a:ext cx="444563" cy="444563"/>
          </a:xfrm>
          <a:prstGeom prst="rect">
            <a:avLst/>
          </a:prstGeom>
        </p:spPr>
      </p:pic>
      <p:pic>
        <p:nvPicPr>
          <p:cNvPr id="36" name="Graphic 35" descr="Male profile with solid fill">
            <a:extLst>
              <a:ext uri="{FF2B5EF4-FFF2-40B4-BE49-F238E27FC236}">
                <a16:creationId xmlns:a16="http://schemas.microsoft.com/office/drawing/2014/main" id="{F6305771-7875-E697-8D12-D76E7C8236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65286" y="3517329"/>
            <a:ext cx="444563" cy="444563"/>
          </a:xfrm>
          <a:prstGeom prst="rect">
            <a:avLst/>
          </a:prstGeom>
        </p:spPr>
      </p:pic>
      <p:sp>
        <p:nvSpPr>
          <p:cNvPr id="37" name="Content Placeholder 2">
            <a:extLst>
              <a:ext uri="{FF2B5EF4-FFF2-40B4-BE49-F238E27FC236}">
                <a16:creationId xmlns:a16="http://schemas.microsoft.com/office/drawing/2014/main" id="{458BB5AB-9848-0DEE-054A-C2A63563072E}"/>
              </a:ext>
            </a:extLst>
          </p:cNvPr>
          <p:cNvSpPr txBox="1">
            <a:spLocks/>
          </p:cNvSpPr>
          <p:nvPr/>
        </p:nvSpPr>
        <p:spPr>
          <a:xfrm>
            <a:off x="544788" y="2839746"/>
            <a:ext cx="10972800" cy="420796"/>
          </a:xfrm>
          <a:prstGeom prst="rect">
            <a:avLst/>
          </a:prstGeom>
          <a:ln>
            <a:noFill/>
          </a:ln>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High-school bench press distribution (kg):</a:t>
            </a:r>
          </a:p>
        </p:txBody>
      </p:sp>
    </p:spTree>
    <p:extLst>
      <p:ext uri="{BB962C8B-B14F-4D97-AF65-F5344CB8AC3E}">
        <p14:creationId xmlns:p14="http://schemas.microsoft.com/office/powerpoint/2010/main" val="3850105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DEDA8-D0B0-B738-C0C8-B973027C2D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10781-B473-1EFF-7DCC-9E660ED50D6E}"/>
              </a:ext>
            </a:extLst>
          </p:cNvPr>
          <p:cNvSpPr>
            <a:spLocks noGrp="1"/>
          </p:cNvSpPr>
          <p:nvPr>
            <p:ph type="title"/>
          </p:nvPr>
        </p:nvSpPr>
        <p:spPr/>
        <p:txBody>
          <a:bodyPr/>
          <a:lstStyle/>
          <a:p>
            <a:r>
              <a:rPr lang="en-US" sz="4400" dirty="0"/>
              <a:t>Measures of central tendency</a:t>
            </a:r>
            <a:endParaRPr lang="en-US" dirty="0"/>
          </a:p>
        </p:txBody>
      </p:sp>
      <p:sp>
        <p:nvSpPr>
          <p:cNvPr id="5" name="Content Placeholder 2">
            <a:extLst>
              <a:ext uri="{FF2B5EF4-FFF2-40B4-BE49-F238E27FC236}">
                <a16:creationId xmlns:a16="http://schemas.microsoft.com/office/drawing/2014/main" id="{4575A43A-82B4-EBA7-D0CD-58176F9F47C3}"/>
              </a:ext>
            </a:extLst>
          </p:cNvPr>
          <p:cNvSpPr txBox="1">
            <a:spLocks/>
          </p:cNvSpPr>
          <p:nvPr/>
        </p:nvSpPr>
        <p:spPr>
          <a:xfrm>
            <a:off x="544788" y="1227337"/>
            <a:ext cx="11037612"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Population mean:</a:t>
            </a:r>
          </a:p>
        </p:txBody>
      </p:sp>
      <p:pic>
        <p:nvPicPr>
          <p:cNvPr id="39938" name="Picture 2">
            <a:extLst>
              <a:ext uri="{FF2B5EF4-FFF2-40B4-BE49-F238E27FC236}">
                <a16:creationId xmlns:a16="http://schemas.microsoft.com/office/drawing/2014/main" id="{2B967E48-A66E-9EFD-1F86-9588455124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002" y="1713543"/>
            <a:ext cx="1786748" cy="9278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32A20D6B-35ED-48CF-AFE1-319680F84076}"/>
                  </a:ext>
                </a:extLst>
              </p:cNvPr>
              <p:cNvSpPr txBox="1">
                <a:spLocks/>
              </p:cNvSpPr>
              <p:nvPr/>
            </p:nvSpPr>
            <p:spPr>
              <a:xfrm>
                <a:off x="544788" y="4788752"/>
                <a:ext cx="11470792" cy="995032"/>
              </a:xfrm>
              <a:prstGeom prst="rect">
                <a:avLst/>
              </a:prstGeom>
              <a:ln>
                <a:noFill/>
              </a:ln>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Mean/Average of the population:</a:t>
                </a:r>
              </a:p>
              <a:p>
                <a:pPr marL="0" indent="0">
                  <a:buFont typeface="Arial"/>
                  <a:buNone/>
                </a:pPr>
                <a:endParaRPr lang="en-US" sz="2000" dirty="0"/>
              </a:p>
              <a:p>
                <a:pPr marL="0" indent="0">
                  <a:buNone/>
                </a:pPr>
                <a14:m>
                  <m:oMathPara xmlns:m="http://schemas.openxmlformats.org/officeDocument/2006/math">
                    <m:oMathParaPr>
                      <m:jc m:val="centerGroup"/>
                    </m:oMathParaPr>
                    <m:oMath xmlns:m="http://schemas.openxmlformats.org/officeDocument/2006/math">
                      <m:f>
                        <m:fPr>
                          <m:ctrlPr>
                            <a:rPr lang="en-US" sz="1400" i="1" dirty="0" smtClean="0">
                              <a:latin typeface="Cambria Math" panose="02040503050406030204" pitchFamily="18" charset="0"/>
                            </a:rPr>
                          </m:ctrlPr>
                        </m:fPr>
                        <m:num>
                          <m:r>
                            <a:rPr lang="en-US" sz="1400" i="1" dirty="0">
                              <a:latin typeface="Cambria Math" panose="02040503050406030204" pitchFamily="18" charset="0"/>
                            </a:rPr>
                            <m:t>(60 + 62 + 64 + 65 + 68 + 72 + 73 + 75 + 78 + 79 + 81 + 83 + </m:t>
                          </m:r>
                          <m:r>
                            <a:rPr lang="nl-NL" sz="1400" b="0" i="1" dirty="0" smtClean="0">
                              <a:latin typeface="Cambria Math" panose="02040503050406030204" pitchFamily="18" charset="0"/>
                            </a:rPr>
                            <m:t>120</m:t>
                          </m:r>
                          <m:r>
                            <a:rPr lang="en-US" sz="1400" i="1" dirty="0">
                              <a:latin typeface="Cambria Math" panose="02040503050406030204" pitchFamily="18" charset="0"/>
                            </a:rPr>
                            <m:t> + </m:t>
                          </m:r>
                          <m:r>
                            <a:rPr lang="nl-NL" sz="1400" b="0" i="1" dirty="0" smtClean="0">
                              <a:latin typeface="Cambria Math" panose="02040503050406030204" pitchFamily="18" charset="0"/>
                            </a:rPr>
                            <m:t>121</m:t>
                          </m:r>
                          <m:r>
                            <a:rPr lang="en-US" sz="1400" i="1" dirty="0">
                              <a:latin typeface="Cambria Math" panose="02040503050406030204" pitchFamily="18" charset="0"/>
                            </a:rPr>
                            <m:t> + </m:t>
                          </m:r>
                          <m:r>
                            <a:rPr lang="nl-NL" sz="1400" b="0" i="1" dirty="0" smtClean="0">
                              <a:latin typeface="Cambria Math" panose="02040503050406030204" pitchFamily="18" charset="0"/>
                            </a:rPr>
                            <m:t>122</m:t>
                          </m:r>
                          <m:r>
                            <a:rPr lang="en-US" sz="1400" i="1" dirty="0">
                              <a:latin typeface="Cambria Math" panose="02040503050406030204" pitchFamily="18" charset="0"/>
                            </a:rPr>
                            <m:t>)</m:t>
                          </m:r>
                        </m:num>
                        <m:den>
                          <m:r>
                            <a:rPr lang="nl-NL" sz="1400" b="0" i="1" dirty="0" smtClean="0">
                              <a:latin typeface="Cambria Math" panose="02040503050406030204" pitchFamily="18" charset="0"/>
                            </a:rPr>
                            <m:t>15</m:t>
                          </m:r>
                        </m:den>
                      </m:f>
                      <m:r>
                        <a:rPr lang="nl-NL" sz="1400" b="0" i="1" dirty="0" smtClean="0">
                          <a:latin typeface="Cambria Math" panose="02040503050406030204" pitchFamily="18" charset="0"/>
                        </a:rPr>
                        <m:t> = 81.53</m:t>
                      </m:r>
                    </m:oMath>
                  </m:oMathPara>
                </a14:m>
                <a:endParaRPr lang="en-US" sz="2000" dirty="0"/>
              </a:p>
            </p:txBody>
          </p:sp>
        </mc:Choice>
        <mc:Fallback xmlns="">
          <p:sp>
            <p:nvSpPr>
              <p:cNvPr id="12" name="Content Placeholder 2">
                <a:extLst>
                  <a:ext uri="{FF2B5EF4-FFF2-40B4-BE49-F238E27FC236}">
                    <a16:creationId xmlns:a16="http://schemas.microsoft.com/office/drawing/2014/main" id="{32A20D6B-35ED-48CF-AFE1-319680F84076}"/>
                  </a:ext>
                </a:extLst>
              </p:cNvPr>
              <p:cNvSpPr txBox="1">
                <a:spLocks noRot="1" noChangeAspect="1" noMove="1" noResize="1" noEditPoints="1" noAdjustHandles="1" noChangeArrowheads="1" noChangeShapeType="1" noTextEdit="1"/>
              </p:cNvSpPr>
              <p:nvPr/>
            </p:nvSpPr>
            <p:spPr>
              <a:xfrm>
                <a:off x="544788" y="4788752"/>
                <a:ext cx="11470792" cy="995032"/>
              </a:xfrm>
              <a:prstGeom prst="rect">
                <a:avLst/>
              </a:prstGeom>
              <a:blipFill>
                <a:blip r:embed="rId3"/>
                <a:stretch>
                  <a:fillRect l="-1326" t="-7595" b="-8861"/>
                </a:stretch>
              </a:blipFill>
              <a:ln>
                <a:noFill/>
              </a:ln>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ACEC86C6-BB72-FE76-AA82-2E5BEC6EA9BE}"/>
              </a:ext>
            </a:extLst>
          </p:cNvPr>
          <p:cNvCxnSpPr>
            <a:cxnSpLocks/>
          </p:cNvCxnSpPr>
          <p:nvPr/>
        </p:nvCxnSpPr>
        <p:spPr>
          <a:xfrm>
            <a:off x="609600" y="4002129"/>
            <a:ext cx="11102413" cy="0"/>
          </a:xfrm>
          <a:prstGeom prst="line">
            <a:avLst/>
          </a:prstGeom>
          <a:ln>
            <a:solidFill>
              <a:schemeClr val="accent1">
                <a:lumMod val="40000"/>
                <a:lumOff val="60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graphicFrame>
        <p:nvGraphicFramePr>
          <p:cNvPr id="16" name="Table 15">
            <a:extLst>
              <a:ext uri="{FF2B5EF4-FFF2-40B4-BE49-F238E27FC236}">
                <a16:creationId xmlns:a16="http://schemas.microsoft.com/office/drawing/2014/main" id="{E95ECC17-BD3E-858C-F572-F2A92E0B6179}"/>
              </a:ext>
            </a:extLst>
          </p:cNvPr>
          <p:cNvGraphicFramePr>
            <a:graphicFrameLocks noGrp="1"/>
          </p:cNvGraphicFramePr>
          <p:nvPr/>
        </p:nvGraphicFramePr>
        <p:xfrm>
          <a:off x="544789" y="4123463"/>
          <a:ext cx="10972790" cy="192405"/>
        </p:xfrm>
        <a:graphic>
          <a:graphicData uri="http://schemas.openxmlformats.org/drawingml/2006/table">
            <a:tbl>
              <a:tblPr>
                <a:tableStyleId>{5C22544A-7EE6-4342-B048-85BDC9FD1C3A}</a:tableStyleId>
              </a:tblPr>
              <a:tblGrid>
                <a:gridCol w="261202">
                  <a:extLst>
                    <a:ext uri="{9D8B030D-6E8A-4147-A177-3AD203B41FA5}">
                      <a16:colId xmlns:a16="http://schemas.microsoft.com/office/drawing/2014/main" val="2112383504"/>
                    </a:ext>
                  </a:extLst>
                </a:gridCol>
                <a:gridCol w="301334">
                  <a:extLst>
                    <a:ext uri="{9D8B030D-6E8A-4147-A177-3AD203B41FA5}">
                      <a16:colId xmlns:a16="http://schemas.microsoft.com/office/drawing/2014/main" val="3866655891"/>
                    </a:ext>
                  </a:extLst>
                </a:gridCol>
                <a:gridCol w="301334">
                  <a:extLst>
                    <a:ext uri="{9D8B030D-6E8A-4147-A177-3AD203B41FA5}">
                      <a16:colId xmlns:a16="http://schemas.microsoft.com/office/drawing/2014/main" val="992048752"/>
                    </a:ext>
                  </a:extLst>
                </a:gridCol>
                <a:gridCol w="301334">
                  <a:extLst>
                    <a:ext uri="{9D8B030D-6E8A-4147-A177-3AD203B41FA5}">
                      <a16:colId xmlns:a16="http://schemas.microsoft.com/office/drawing/2014/main" val="3273464670"/>
                    </a:ext>
                  </a:extLst>
                </a:gridCol>
                <a:gridCol w="301334">
                  <a:extLst>
                    <a:ext uri="{9D8B030D-6E8A-4147-A177-3AD203B41FA5}">
                      <a16:colId xmlns:a16="http://schemas.microsoft.com/office/drawing/2014/main" val="2211268083"/>
                    </a:ext>
                  </a:extLst>
                </a:gridCol>
                <a:gridCol w="301334">
                  <a:extLst>
                    <a:ext uri="{9D8B030D-6E8A-4147-A177-3AD203B41FA5}">
                      <a16:colId xmlns:a16="http://schemas.microsoft.com/office/drawing/2014/main" val="306927346"/>
                    </a:ext>
                  </a:extLst>
                </a:gridCol>
                <a:gridCol w="301334">
                  <a:extLst>
                    <a:ext uri="{9D8B030D-6E8A-4147-A177-3AD203B41FA5}">
                      <a16:colId xmlns:a16="http://schemas.microsoft.com/office/drawing/2014/main" val="3812172840"/>
                    </a:ext>
                  </a:extLst>
                </a:gridCol>
                <a:gridCol w="301334">
                  <a:extLst>
                    <a:ext uri="{9D8B030D-6E8A-4147-A177-3AD203B41FA5}">
                      <a16:colId xmlns:a16="http://schemas.microsoft.com/office/drawing/2014/main" val="1991276016"/>
                    </a:ext>
                  </a:extLst>
                </a:gridCol>
                <a:gridCol w="301334">
                  <a:extLst>
                    <a:ext uri="{9D8B030D-6E8A-4147-A177-3AD203B41FA5}">
                      <a16:colId xmlns:a16="http://schemas.microsoft.com/office/drawing/2014/main" val="2694655276"/>
                    </a:ext>
                  </a:extLst>
                </a:gridCol>
                <a:gridCol w="301334">
                  <a:extLst>
                    <a:ext uri="{9D8B030D-6E8A-4147-A177-3AD203B41FA5}">
                      <a16:colId xmlns:a16="http://schemas.microsoft.com/office/drawing/2014/main" val="35194619"/>
                    </a:ext>
                  </a:extLst>
                </a:gridCol>
                <a:gridCol w="301334">
                  <a:extLst>
                    <a:ext uri="{9D8B030D-6E8A-4147-A177-3AD203B41FA5}">
                      <a16:colId xmlns:a16="http://schemas.microsoft.com/office/drawing/2014/main" val="391543518"/>
                    </a:ext>
                  </a:extLst>
                </a:gridCol>
                <a:gridCol w="301334">
                  <a:extLst>
                    <a:ext uri="{9D8B030D-6E8A-4147-A177-3AD203B41FA5}">
                      <a16:colId xmlns:a16="http://schemas.microsoft.com/office/drawing/2014/main" val="3012374910"/>
                    </a:ext>
                  </a:extLst>
                </a:gridCol>
                <a:gridCol w="301334">
                  <a:extLst>
                    <a:ext uri="{9D8B030D-6E8A-4147-A177-3AD203B41FA5}">
                      <a16:colId xmlns:a16="http://schemas.microsoft.com/office/drawing/2014/main" val="264571868"/>
                    </a:ext>
                  </a:extLst>
                </a:gridCol>
                <a:gridCol w="301334">
                  <a:extLst>
                    <a:ext uri="{9D8B030D-6E8A-4147-A177-3AD203B41FA5}">
                      <a16:colId xmlns:a16="http://schemas.microsoft.com/office/drawing/2014/main" val="955528670"/>
                    </a:ext>
                  </a:extLst>
                </a:gridCol>
                <a:gridCol w="301334">
                  <a:extLst>
                    <a:ext uri="{9D8B030D-6E8A-4147-A177-3AD203B41FA5}">
                      <a16:colId xmlns:a16="http://schemas.microsoft.com/office/drawing/2014/main" val="132902476"/>
                    </a:ext>
                  </a:extLst>
                </a:gridCol>
                <a:gridCol w="301334">
                  <a:extLst>
                    <a:ext uri="{9D8B030D-6E8A-4147-A177-3AD203B41FA5}">
                      <a16:colId xmlns:a16="http://schemas.microsoft.com/office/drawing/2014/main" val="2955705816"/>
                    </a:ext>
                  </a:extLst>
                </a:gridCol>
                <a:gridCol w="301334">
                  <a:extLst>
                    <a:ext uri="{9D8B030D-6E8A-4147-A177-3AD203B41FA5}">
                      <a16:colId xmlns:a16="http://schemas.microsoft.com/office/drawing/2014/main" val="2413265556"/>
                    </a:ext>
                  </a:extLst>
                </a:gridCol>
                <a:gridCol w="301334">
                  <a:extLst>
                    <a:ext uri="{9D8B030D-6E8A-4147-A177-3AD203B41FA5}">
                      <a16:colId xmlns:a16="http://schemas.microsoft.com/office/drawing/2014/main" val="4027003227"/>
                    </a:ext>
                  </a:extLst>
                </a:gridCol>
                <a:gridCol w="301334">
                  <a:extLst>
                    <a:ext uri="{9D8B030D-6E8A-4147-A177-3AD203B41FA5}">
                      <a16:colId xmlns:a16="http://schemas.microsoft.com/office/drawing/2014/main" val="1783032949"/>
                    </a:ext>
                  </a:extLst>
                </a:gridCol>
                <a:gridCol w="301334">
                  <a:extLst>
                    <a:ext uri="{9D8B030D-6E8A-4147-A177-3AD203B41FA5}">
                      <a16:colId xmlns:a16="http://schemas.microsoft.com/office/drawing/2014/main" val="3398326629"/>
                    </a:ext>
                  </a:extLst>
                </a:gridCol>
                <a:gridCol w="301334">
                  <a:extLst>
                    <a:ext uri="{9D8B030D-6E8A-4147-A177-3AD203B41FA5}">
                      <a16:colId xmlns:a16="http://schemas.microsoft.com/office/drawing/2014/main" val="2284819630"/>
                    </a:ext>
                  </a:extLst>
                </a:gridCol>
                <a:gridCol w="301334">
                  <a:extLst>
                    <a:ext uri="{9D8B030D-6E8A-4147-A177-3AD203B41FA5}">
                      <a16:colId xmlns:a16="http://schemas.microsoft.com/office/drawing/2014/main" val="4195910540"/>
                    </a:ext>
                  </a:extLst>
                </a:gridCol>
                <a:gridCol w="301334">
                  <a:extLst>
                    <a:ext uri="{9D8B030D-6E8A-4147-A177-3AD203B41FA5}">
                      <a16:colId xmlns:a16="http://schemas.microsoft.com/office/drawing/2014/main" val="3959699492"/>
                    </a:ext>
                  </a:extLst>
                </a:gridCol>
                <a:gridCol w="301334">
                  <a:extLst>
                    <a:ext uri="{9D8B030D-6E8A-4147-A177-3AD203B41FA5}">
                      <a16:colId xmlns:a16="http://schemas.microsoft.com/office/drawing/2014/main" val="1073429929"/>
                    </a:ext>
                  </a:extLst>
                </a:gridCol>
                <a:gridCol w="301334">
                  <a:extLst>
                    <a:ext uri="{9D8B030D-6E8A-4147-A177-3AD203B41FA5}">
                      <a16:colId xmlns:a16="http://schemas.microsoft.com/office/drawing/2014/main" val="1930910466"/>
                    </a:ext>
                  </a:extLst>
                </a:gridCol>
                <a:gridCol w="301334">
                  <a:extLst>
                    <a:ext uri="{9D8B030D-6E8A-4147-A177-3AD203B41FA5}">
                      <a16:colId xmlns:a16="http://schemas.microsoft.com/office/drawing/2014/main" val="2710696277"/>
                    </a:ext>
                  </a:extLst>
                </a:gridCol>
                <a:gridCol w="301334">
                  <a:extLst>
                    <a:ext uri="{9D8B030D-6E8A-4147-A177-3AD203B41FA5}">
                      <a16:colId xmlns:a16="http://schemas.microsoft.com/office/drawing/2014/main" val="4078151139"/>
                    </a:ext>
                  </a:extLst>
                </a:gridCol>
                <a:gridCol w="301334">
                  <a:extLst>
                    <a:ext uri="{9D8B030D-6E8A-4147-A177-3AD203B41FA5}">
                      <a16:colId xmlns:a16="http://schemas.microsoft.com/office/drawing/2014/main" val="4071817021"/>
                    </a:ext>
                  </a:extLst>
                </a:gridCol>
                <a:gridCol w="301334">
                  <a:extLst>
                    <a:ext uri="{9D8B030D-6E8A-4147-A177-3AD203B41FA5}">
                      <a16:colId xmlns:a16="http://schemas.microsoft.com/office/drawing/2014/main" val="334609205"/>
                    </a:ext>
                  </a:extLst>
                </a:gridCol>
                <a:gridCol w="301334">
                  <a:extLst>
                    <a:ext uri="{9D8B030D-6E8A-4147-A177-3AD203B41FA5}">
                      <a16:colId xmlns:a16="http://schemas.microsoft.com/office/drawing/2014/main" val="3400151758"/>
                    </a:ext>
                  </a:extLst>
                </a:gridCol>
                <a:gridCol w="301334">
                  <a:extLst>
                    <a:ext uri="{9D8B030D-6E8A-4147-A177-3AD203B41FA5}">
                      <a16:colId xmlns:a16="http://schemas.microsoft.com/office/drawing/2014/main" val="1689673636"/>
                    </a:ext>
                  </a:extLst>
                </a:gridCol>
                <a:gridCol w="301334">
                  <a:extLst>
                    <a:ext uri="{9D8B030D-6E8A-4147-A177-3AD203B41FA5}">
                      <a16:colId xmlns:a16="http://schemas.microsoft.com/office/drawing/2014/main" val="1584454777"/>
                    </a:ext>
                  </a:extLst>
                </a:gridCol>
                <a:gridCol w="301334">
                  <a:extLst>
                    <a:ext uri="{9D8B030D-6E8A-4147-A177-3AD203B41FA5}">
                      <a16:colId xmlns:a16="http://schemas.microsoft.com/office/drawing/2014/main" val="1425856778"/>
                    </a:ext>
                  </a:extLst>
                </a:gridCol>
                <a:gridCol w="301334">
                  <a:extLst>
                    <a:ext uri="{9D8B030D-6E8A-4147-A177-3AD203B41FA5}">
                      <a16:colId xmlns:a16="http://schemas.microsoft.com/office/drawing/2014/main" val="2153097649"/>
                    </a:ext>
                  </a:extLst>
                </a:gridCol>
                <a:gridCol w="348025">
                  <a:extLst>
                    <a:ext uri="{9D8B030D-6E8A-4147-A177-3AD203B41FA5}">
                      <a16:colId xmlns:a16="http://schemas.microsoft.com/office/drawing/2014/main" val="2995553791"/>
                    </a:ext>
                  </a:extLst>
                </a:gridCol>
                <a:gridCol w="419541">
                  <a:extLst>
                    <a:ext uri="{9D8B030D-6E8A-4147-A177-3AD203B41FA5}">
                      <a16:colId xmlns:a16="http://schemas.microsoft.com/office/drawing/2014/main" val="3698766726"/>
                    </a:ext>
                  </a:extLst>
                </a:gridCol>
              </a:tblGrid>
              <a:tr h="44059">
                <a:tc>
                  <a:txBody>
                    <a:bodyPr/>
                    <a:lstStyle/>
                    <a:p>
                      <a:pPr algn="r" fontAlgn="b">
                        <a:buNone/>
                      </a:pPr>
                      <a:r>
                        <a:rPr lang="en-US" sz="1200" b="1" i="0" u="none" strike="noStrike" dirty="0">
                          <a:solidFill>
                            <a:schemeClr val="tx2"/>
                          </a:solidFill>
                          <a:effectLst/>
                          <a:latin typeface="Aptos Narrow" panose="020B0004020202020204" pitchFamily="34" charset="0"/>
                        </a:rPr>
                        <a:t>60</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61</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62</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63</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64</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65</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66</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67</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68</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69</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70</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71</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72</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73</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74</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75</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76</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77</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78</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79</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80</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81</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82</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83</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84</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85</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86</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87</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118</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119</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120</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121</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122</a:t>
                      </a:r>
                    </a:p>
                  </a:txBody>
                  <a:tcPr marL="9525" marR="9525" marT="9525" marB="0" anchor="b">
                    <a:noFill/>
                  </a:tcPr>
                </a:tc>
                <a:extLst>
                  <a:ext uri="{0D108BD9-81ED-4DB2-BD59-A6C34878D82A}">
                    <a16:rowId xmlns:a16="http://schemas.microsoft.com/office/drawing/2014/main" val="2799741168"/>
                  </a:ext>
                </a:extLst>
              </a:tr>
            </a:tbl>
          </a:graphicData>
        </a:graphic>
      </p:graphicFrame>
      <p:pic>
        <p:nvPicPr>
          <p:cNvPr id="20" name="Graphic 19" descr="Female Profile with solid fill">
            <a:extLst>
              <a:ext uri="{FF2B5EF4-FFF2-40B4-BE49-F238E27FC236}">
                <a16:creationId xmlns:a16="http://schemas.microsoft.com/office/drawing/2014/main" id="{FE37DC23-686E-B351-8BCB-83FCEE7180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3429000"/>
            <a:ext cx="433180" cy="433180"/>
          </a:xfrm>
          <a:prstGeom prst="rect">
            <a:avLst/>
          </a:prstGeom>
        </p:spPr>
      </p:pic>
      <p:pic>
        <p:nvPicPr>
          <p:cNvPr id="21" name="Graphic 20" descr="Female Profile with solid fill">
            <a:extLst>
              <a:ext uri="{FF2B5EF4-FFF2-40B4-BE49-F238E27FC236}">
                <a16:creationId xmlns:a16="http://schemas.microsoft.com/office/drawing/2014/main" id="{C2687160-15D0-F2A9-9BDF-92B08EC02B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0837" y="3450129"/>
            <a:ext cx="433180" cy="433180"/>
          </a:xfrm>
          <a:prstGeom prst="rect">
            <a:avLst/>
          </a:prstGeom>
        </p:spPr>
      </p:pic>
      <p:pic>
        <p:nvPicPr>
          <p:cNvPr id="22" name="Graphic 21" descr="Female Profile with solid fill">
            <a:extLst>
              <a:ext uri="{FF2B5EF4-FFF2-40B4-BE49-F238E27FC236}">
                <a16:creationId xmlns:a16="http://schemas.microsoft.com/office/drawing/2014/main" id="{B4AD150F-8A47-CDE1-37F7-2F9E0008DA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14142" y="3447616"/>
            <a:ext cx="433180" cy="433180"/>
          </a:xfrm>
          <a:prstGeom prst="rect">
            <a:avLst/>
          </a:prstGeom>
        </p:spPr>
      </p:pic>
      <p:pic>
        <p:nvPicPr>
          <p:cNvPr id="23" name="Graphic 22" descr="Female Profile with solid fill">
            <a:extLst>
              <a:ext uri="{FF2B5EF4-FFF2-40B4-BE49-F238E27FC236}">
                <a16:creationId xmlns:a16="http://schemas.microsoft.com/office/drawing/2014/main" id="{4CF2C6BC-107B-7B98-ED7A-B96952ACDA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37509" y="3447616"/>
            <a:ext cx="433180" cy="433180"/>
          </a:xfrm>
          <a:prstGeom prst="rect">
            <a:avLst/>
          </a:prstGeom>
        </p:spPr>
      </p:pic>
      <p:pic>
        <p:nvPicPr>
          <p:cNvPr id="24" name="Graphic 23" descr="Female Profile with solid fill">
            <a:extLst>
              <a:ext uri="{FF2B5EF4-FFF2-40B4-BE49-F238E27FC236}">
                <a16:creationId xmlns:a16="http://schemas.microsoft.com/office/drawing/2014/main" id="{34AD916B-8F40-98BF-6E11-8C4938C85E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72633" y="3447616"/>
            <a:ext cx="433180" cy="433180"/>
          </a:xfrm>
          <a:prstGeom prst="rect">
            <a:avLst/>
          </a:prstGeom>
        </p:spPr>
      </p:pic>
      <p:pic>
        <p:nvPicPr>
          <p:cNvPr id="25" name="Graphic 24" descr="Female Profile with solid fill">
            <a:extLst>
              <a:ext uri="{FF2B5EF4-FFF2-40B4-BE49-F238E27FC236}">
                <a16:creationId xmlns:a16="http://schemas.microsoft.com/office/drawing/2014/main" id="{BFEB5256-C352-F407-7820-236E163EAF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68585" y="3447616"/>
            <a:ext cx="433180" cy="433180"/>
          </a:xfrm>
          <a:prstGeom prst="rect">
            <a:avLst/>
          </a:prstGeom>
        </p:spPr>
      </p:pic>
      <p:pic>
        <p:nvPicPr>
          <p:cNvPr id="26" name="Graphic 25" descr="Female Profile with solid fill">
            <a:extLst>
              <a:ext uri="{FF2B5EF4-FFF2-40B4-BE49-F238E27FC236}">
                <a16:creationId xmlns:a16="http://schemas.microsoft.com/office/drawing/2014/main" id="{9B13D2A0-C978-C900-5F53-5237A898A2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34767" y="3443492"/>
            <a:ext cx="433180" cy="433180"/>
          </a:xfrm>
          <a:prstGeom prst="rect">
            <a:avLst/>
          </a:prstGeom>
        </p:spPr>
      </p:pic>
      <p:pic>
        <p:nvPicPr>
          <p:cNvPr id="29" name="Graphic 28" descr="Male profile with solid fill">
            <a:extLst>
              <a:ext uri="{FF2B5EF4-FFF2-40B4-BE49-F238E27FC236}">
                <a16:creationId xmlns:a16="http://schemas.microsoft.com/office/drawing/2014/main" id="{4B0E05C2-0A15-92A2-E5D4-5B25122CCC2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74095" y="3492155"/>
            <a:ext cx="444563" cy="444563"/>
          </a:xfrm>
          <a:prstGeom prst="rect">
            <a:avLst/>
          </a:prstGeom>
        </p:spPr>
      </p:pic>
      <p:pic>
        <p:nvPicPr>
          <p:cNvPr id="30" name="Graphic 29" descr="Male profile with solid fill">
            <a:extLst>
              <a:ext uri="{FF2B5EF4-FFF2-40B4-BE49-F238E27FC236}">
                <a16:creationId xmlns:a16="http://schemas.microsoft.com/office/drawing/2014/main" id="{28E47232-8741-9434-35D8-0F62181EB01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2350" y="3492156"/>
            <a:ext cx="444563" cy="444563"/>
          </a:xfrm>
          <a:prstGeom prst="rect">
            <a:avLst/>
          </a:prstGeom>
        </p:spPr>
      </p:pic>
      <p:pic>
        <p:nvPicPr>
          <p:cNvPr id="31" name="Graphic 30" descr="Male profile with solid fill">
            <a:extLst>
              <a:ext uri="{FF2B5EF4-FFF2-40B4-BE49-F238E27FC236}">
                <a16:creationId xmlns:a16="http://schemas.microsoft.com/office/drawing/2014/main" id="{D82EFA5A-E8D2-E142-A5BF-B02552F0E98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15393" y="3486376"/>
            <a:ext cx="444563" cy="444563"/>
          </a:xfrm>
          <a:prstGeom prst="rect">
            <a:avLst/>
          </a:prstGeom>
        </p:spPr>
      </p:pic>
      <p:pic>
        <p:nvPicPr>
          <p:cNvPr id="32" name="Graphic 31" descr="Male profile with solid fill">
            <a:extLst>
              <a:ext uri="{FF2B5EF4-FFF2-40B4-BE49-F238E27FC236}">
                <a16:creationId xmlns:a16="http://schemas.microsoft.com/office/drawing/2014/main" id="{C2E8AC2E-7AD1-0210-49D8-A767CE6844E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62827" y="3481268"/>
            <a:ext cx="444563" cy="444563"/>
          </a:xfrm>
          <a:prstGeom prst="rect">
            <a:avLst/>
          </a:prstGeom>
        </p:spPr>
      </p:pic>
      <p:pic>
        <p:nvPicPr>
          <p:cNvPr id="33" name="Graphic 32" descr="Male profile with solid fill">
            <a:extLst>
              <a:ext uri="{FF2B5EF4-FFF2-40B4-BE49-F238E27FC236}">
                <a16:creationId xmlns:a16="http://schemas.microsoft.com/office/drawing/2014/main" id="{22CBCE1B-4BED-1D94-9273-74BDCC5937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30872" y="3482096"/>
            <a:ext cx="444563" cy="444563"/>
          </a:xfrm>
          <a:prstGeom prst="rect">
            <a:avLst/>
          </a:prstGeom>
        </p:spPr>
      </p:pic>
      <p:pic>
        <p:nvPicPr>
          <p:cNvPr id="34" name="Graphic 33" descr="Female Profile with solid fill">
            <a:extLst>
              <a:ext uri="{FF2B5EF4-FFF2-40B4-BE49-F238E27FC236}">
                <a16:creationId xmlns:a16="http://schemas.microsoft.com/office/drawing/2014/main" id="{7D46196B-976C-6B3E-3871-65900A46AF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32779" y="3486959"/>
            <a:ext cx="433180" cy="433180"/>
          </a:xfrm>
          <a:prstGeom prst="rect">
            <a:avLst/>
          </a:prstGeom>
        </p:spPr>
      </p:pic>
      <p:pic>
        <p:nvPicPr>
          <p:cNvPr id="35" name="Graphic 34" descr="Male profile with solid fill">
            <a:extLst>
              <a:ext uri="{FF2B5EF4-FFF2-40B4-BE49-F238E27FC236}">
                <a16:creationId xmlns:a16="http://schemas.microsoft.com/office/drawing/2014/main" id="{3A2A5066-7884-5BEE-4A5D-E539DC86DE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54472" y="3503039"/>
            <a:ext cx="444563" cy="444563"/>
          </a:xfrm>
          <a:prstGeom prst="rect">
            <a:avLst/>
          </a:prstGeom>
        </p:spPr>
      </p:pic>
      <p:pic>
        <p:nvPicPr>
          <p:cNvPr id="36" name="Graphic 35" descr="Male profile with solid fill">
            <a:extLst>
              <a:ext uri="{FF2B5EF4-FFF2-40B4-BE49-F238E27FC236}">
                <a16:creationId xmlns:a16="http://schemas.microsoft.com/office/drawing/2014/main" id="{72795BBD-F385-6D1C-11DB-62FDA21256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65286" y="3517329"/>
            <a:ext cx="444563" cy="444563"/>
          </a:xfrm>
          <a:prstGeom prst="rect">
            <a:avLst/>
          </a:prstGeom>
        </p:spPr>
      </p:pic>
      <p:sp>
        <p:nvSpPr>
          <p:cNvPr id="37" name="Content Placeholder 2">
            <a:extLst>
              <a:ext uri="{FF2B5EF4-FFF2-40B4-BE49-F238E27FC236}">
                <a16:creationId xmlns:a16="http://schemas.microsoft.com/office/drawing/2014/main" id="{452E07A9-12E9-EE88-E58D-614C2D0EF317}"/>
              </a:ext>
            </a:extLst>
          </p:cNvPr>
          <p:cNvSpPr txBox="1">
            <a:spLocks/>
          </p:cNvSpPr>
          <p:nvPr/>
        </p:nvSpPr>
        <p:spPr>
          <a:xfrm>
            <a:off x="544788" y="2839746"/>
            <a:ext cx="10972800" cy="420796"/>
          </a:xfrm>
          <a:prstGeom prst="rect">
            <a:avLst/>
          </a:prstGeom>
          <a:ln>
            <a:noFill/>
          </a:ln>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High-school bench press distribution (kg):</a:t>
            </a:r>
          </a:p>
        </p:txBody>
      </p:sp>
      <p:cxnSp>
        <p:nvCxnSpPr>
          <p:cNvPr id="4" name="Straight Connector 3">
            <a:extLst>
              <a:ext uri="{FF2B5EF4-FFF2-40B4-BE49-F238E27FC236}">
                <a16:creationId xmlns:a16="http://schemas.microsoft.com/office/drawing/2014/main" id="{29630B11-31A5-F1F3-51A8-9AC901C61402}"/>
              </a:ext>
            </a:extLst>
          </p:cNvPr>
          <p:cNvCxnSpPr/>
          <p:nvPr/>
        </p:nvCxnSpPr>
        <p:spPr>
          <a:xfrm>
            <a:off x="7181625" y="2420471"/>
            <a:ext cx="0" cy="2368281"/>
          </a:xfrm>
          <a:prstGeom prst="line">
            <a:avLst/>
          </a:prstGeom>
          <a:ln w="38100"/>
        </p:spPr>
        <p:style>
          <a:lnRef idx="1">
            <a:schemeClr val="accent3"/>
          </a:lnRef>
          <a:fillRef idx="0">
            <a:schemeClr val="accent3"/>
          </a:fillRef>
          <a:effectRef idx="0">
            <a:schemeClr val="accent3"/>
          </a:effectRef>
          <a:fontRef idx="minor">
            <a:schemeClr val="tx1"/>
          </a:fontRef>
        </p:style>
      </p:cxnSp>
      <p:pic>
        <p:nvPicPr>
          <p:cNvPr id="6" name="Picture 2">
            <a:extLst>
              <a:ext uri="{FF2B5EF4-FFF2-40B4-BE49-F238E27FC236}">
                <a16:creationId xmlns:a16="http://schemas.microsoft.com/office/drawing/2014/main" id="{E0AA76A6-C0ED-2A64-9C50-0BDB379E5F2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5788"/>
          <a:stretch>
            <a:fillRect/>
          </a:stretch>
        </p:blipFill>
        <p:spPr bwMode="auto">
          <a:xfrm>
            <a:off x="7063321" y="1634252"/>
            <a:ext cx="253931" cy="927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1247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8EBCB-CBBB-6C5B-CEEC-CC001B204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A29BC-7C03-AE3B-3D0D-F4EE6F8661E0}"/>
              </a:ext>
            </a:extLst>
          </p:cNvPr>
          <p:cNvSpPr>
            <a:spLocks noGrp="1"/>
          </p:cNvSpPr>
          <p:nvPr>
            <p:ph type="title"/>
          </p:nvPr>
        </p:nvSpPr>
        <p:spPr/>
        <p:txBody>
          <a:bodyPr/>
          <a:lstStyle/>
          <a:p>
            <a:r>
              <a:rPr lang="en-US" sz="4400" dirty="0"/>
              <a:t>Measures of central tendency</a:t>
            </a:r>
            <a:endParaRPr lang="en-US" dirty="0"/>
          </a:p>
        </p:txBody>
      </p:sp>
      <p:sp>
        <p:nvSpPr>
          <p:cNvPr id="5" name="Content Placeholder 2">
            <a:extLst>
              <a:ext uri="{FF2B5EF4-FFF2-40B4-BE49-F238E27FC236}">
                <a16:creationId xmlns:a16="http://schemas.microsoft.com/office/drawing/2014/main" id="{0C9E0283-E122-9622-1F4D-36F1EFD71963}"/>
              </a:ext>
            </a:extLst>
          </p:cNvPr>
          <p:cNvSpPr txBox="1">
            <a:spLocks/>
          </p:cNvSpPr>
          <p:nvPr/>
        </p:nvSpPr>
        <p:spPr>
          <a:xfrm>
            <a:off x="544788" y="1227337"/>
            <a:ext cx="11037612"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Sample mean:</a:t>
            </a: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9961FB0C-8DAE-398C-AC4C-54315AC173EE}"/>
                  </a:ext>
                </a:extLst>
              </p:cNvPr>
              <p:cNvSpPr txBox="1">
                <a:spLocks/>
              </p:cNvSpPr>
              <p:nvPr/>
            </p:nvSpPr>
            <p:spPr>
              <a:xfrm>
                <a:off x="544788" y="4788752"/>
                <a:ext cx="11470792" cy="995032"/>
              </a:xfrm>
              <a:prstGeom prst="rect">
                <a:avLst/>
              </a:prstGeom>
              <a:ln>
                <a:noFill/>
              </a:ln>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Mean/Average of the population:</a:t>
                </a:r>
              </a:p>
              <a:p>
                <a:pPr marL="0" indent="0">
                  <a:buFont typeface="Arial"/>
                  <a:buNone/>
                </a:pPr>
                <a:endParaRPr lang="en-US" sz="2000" dirty="0"/>
              </a:p>
              <a:p>
                <a:pPr marL="0" indent="0">
                  <a:buNone/>
                </a:pPr>
                <a14:m>
                  <m:oMathPara xmlns:m="http://schemas.openxmlformats.org/officeDocument/2006/math">
                    <m:oMathParaPr>
                      <m:jc m:val="centerGroup"/>
                    </m:oMathParaPr>
                    <m:oMath xmlns:m="http://schemas.openxmlformats.org/officeDocument/2006/math">
                      <m:f>
                        <m:fPr>
                          <m:ctrlPr>
                            <a:rPr lang="en-US" sz="1400" i="1" dirty="0" smtClean="0">
                              <a:latin typeface="Cambria Math" panose="02040503050406030204" pitchFamily="18" charset="0"/>
                            </a:rPr>
                          </m:ctrlPr>
                        </m:fPr>
                        <m:num>
                          <m:r>
                            <a:rPr lang="en-US" sz="1400" i="1" dirty="0">
                              <a:latin typeface="Cambria Math" panose="02040503050406030204" pitchFamily="18" charset="0"/>
                            </a:rPr>
                            <m:t>(60 + </m:t>
                          </m:r>
                          <m:r>
                            <a:rPr lang="nl-NL" sz="1400" i="1" dirty="0" smtClean="0">
                              <a:latin typeface="Cambria Math" panose="02040503050406030204" pitchFamily="18" charset="0"/>
                            </a:rPr>
                            <m:t>7</m:t>
                          </m:r>
                          <m:r>
                            <a:rPr lang="nl-NL" sz="1400" b="0" i="1" dirty="0" smtClean="0">
                              <a:latin typeface="Cambria Math" panose="02040503050406030204" pitchFamily="18" charset="0"/>
                            </a:rPr>
                            <m:t>2 + 75 + 83</m:t>
                          </m:r>
                          <m:r>
                            <a:rPr lang="en-US" sz="1400" i="1" dirty="0">
                              <a:latin typeface="Cambria Math" panose="02040503050406030204" pitchFamily="18" charset="0"/>
                            </a:rPr>
                            <m:t>)</m:t>
                          </m:r>
                        </m:num>
                        <m:den>
                          <m:r>
                            <a:rPr lang="nl-NL" sz="1400" b="0" i="1" dirty="0" smtClean="0">
                              <a:latin typeface="Cambria Math" panose="02040503050406030204" pitchFamily="18" charset="0"/>
                            </a:rPr>
                            <m:t>5</m:t>
                          </m:r>
                        </m:den>
                      </m:f>
                      <m:r>
                        <a:rPr lang="nl-NL" sz="1400" b="0" i="1" dirty="0" smtClean="0">
                          <a:latin typeface="Cambria Math" panose="02040503050406030204" pitchFamily="18" charset="0"/>
                        </a:rPr>
                        <m:t> = 72.5</m:t>
                      </m:r>
                    </m:oMath>
                  </m:oMathPara>
                </a14:m>
                <a:endParaRPr lang="en-US" sz="2000" dirty="0"/>
              </a:p>
            </p:txBody>
          </p:sp>
        </mc:Choice>
        <mc:Fallback xmlns="">
          <p:sp>
            <p:nvSpPr>
              <p:cNvPr id="12" name="Content Placeholder 2">
                <a:extLst>
                  <a:ext uri="{FF2B5EF4-FFF2-40B4-BE49-F238E27FC236}">
                    <a16:creationId xmlns:a16="http://schemas.microsoft.com/office/drawing/2014/main" id="{9961FB0C-8DAE-398C-AC4C-54315AC173EE}"/>
                  </a:ext>
                </a:extLst>
              </p:cNvPr>
              <p:cNvSpPr txBox="1">
                <a:spLocks noRot="1" noChangeAspect="1" noMove="1" noResize="1" noEditPoints="1" noAdjustHandles="1" noChangeArrowheads="1" noChangeShapeType="1" noTextEdit="1"/>
              </p:cNvSpPr>
              <p:nvPr/>
            </p:nvSpPr>
            <p:spPr>
              <a:xfrm>
                <a:off x="544788" y="4788752"/>
                <a:ext cx="11470792" cy="995032"/>
              </a:xfrm>
              <a:prstGeom prst="rect">
                <a:avLst/>
              </a:prstGeom>
              <a:blipFill>
                <a:blip r:embed="rId2"/>
                <a:stretch>
                  <a:fillRect l="-1326" t="-7595" b="-8861"/>
                </a:stretch>
              </a:blipFill>
              <a:ln>
                <a:noFill/>
              </a:ln>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32CAD4CD-124D-5BCD-25FC-459175AFCB3C}"/>
              </a:ext>
            </a:extLst>
          </p:cNvPr>
          <p:cNvCxnSpPr>
            <a:cxnSpLocks/>
          </p:cNvCxnSpPr>
          <p:nvPr/>
        </p:nvCxnSpPr>
        <p:spPr>
          <a:xfrm>
            <a:off x="609600" y="4002129"/>
            <a:ext cx="11102413" cy="0"/>
          </a:xfrm>
          <a:prstGeom prst="line">
            <a:avLst/>
          </a:prstGeom>
          <a:ln>
            <a:solidFill>
              <a:schemeClr val="accent1">
                <a:lumMod val="40000"/>
                <a:lumOff val="60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graphicFrame>
        <p:nvGraphicFramePr>
          <p:cNvPr id="16" name="Table 15">
            <a:extLst>
              <a:ext uri="{FF2B5EF4-FFF2-40B4-BE49-F238E27FC236}">
                <a16:creationId xmlns:a16="http://schemas.microsoft.com/office/drawing/2014/main" id="{CABF9627-4491-7FF3-D1BE-8CDA64A9A4F8}"/>
              </a:ext>
            </a:extLst>
          </p:cNvPr>
          <p:cNvGraphicFramePr>
            <a:graphicFrameLocks noGrp="1"/>
          </p:cNvGraphicFramePr>
          <p:nvPr/>
        </p:nvGraphicFramePr>
        <p:xfrm>
          <a:off x="544789" y="4123463"/>
          <a:ext cx="10972790" cy="192405"/>
        </p:xfrm>
        <a:graphic>
          <a:graphicData uri="http://schemas.openxmlformats.org/drawingml/2006/table">
            <a:tbl>
              <a:tblPr>
                <a:tableStyleId>{5C22544A-7EE6-4342-B048-85BDC9FD1C3A}</a:tableStyleId>
              </a:tblPr>
              <a:tblGrid>
                <a:gridCol w="261202">
                  <a:extLst>
                    <a:ext uri="{9D8B030D-6E8A-4147-A177-3AD203B41FA5}">
                      <a16:colId xmlns:a16="http://schemas.microsoft.com/office/drawing/2014/main" val="2112383504"/>
                    </a:ext>
                  </a:extLst>
                </a:gridCol>
                <a:gridCol w="301334">
                  <a:extLst>
                    <a:ext uri="{9D8B030D-6E8A-4147-A177-3AD203B41FA5}">
                      <a16:colId xmlns:a16="http://schemas.microsoft.com/office/drawing/2014/main" val="3866655891"/>
                    </a:ext>
                  </a:extLst>
                </a:gridCol>
                <a:gridCol w="301334">
                  <a:extLst>
                    <a:ext uri="{9D8B030D-6E8A-4147-A177-3AD203B41FA5}">
                      <a16:colId xmlns:a16="http://schemas.microsoft.com/office/drawing/2014/main" val="992048752"/>
                    </a:ext>
                  </a:extLst>
                </a:gridCol>
                <a:gridCol w="301334">
                  <a:extLst>
                    <a:ext uri="{9D8B030D-6E8A-4147-A177-3AD203B41FA5}">
                      <a16:colId xmlns:a16="http://schemas.microsoft.com/office/drawing/2014/main" val="3273464670"/>
                    </a:ext>
                  </a:extLst>
                </a:gridCol>
                <a:gridCol w="301334">
                  <a:extLst>
                    <a:ext uri="{9D8B030D-6E8A-4147-A177-3AD203B41FA5}">
                      <a16:colId xmlns:a16="http://schemas.microsoft.com/office/drawing/2014/main" val="2211268083"/>
                    </a:ext>
                  </a:extLst>
                </a:gridCol>
                <a:gridCol w="301334">
                  <a:extLst>
                    <a:ext uri="{9D8B030D-6E8A-4147-A177-3AD203B41FA5}">
                      <a16:colId xmlns:a16="http://schemas.microsoft.com/office/drawing/2014/main" val="306927346"/>
                    </a:ext>
                  </a:extLst>
                </a:gridCol>
                <a:gridCol w="301334">
                  <a:extLst>
                    <a:ext uri="{9D8B030D-6E8A-4147-A177-3AD203B41FA5}">
                      <a16:colId xmlns:a16="http://schemas.microsoft.com/office/drawing/2014/main" val="3812172840"/>
                    </a:ext>
                  </a:extLst>
                </a:gridCol>
                <a:gridCol w="301334">
                  <a:extLst>
                    <a:ext uri="{9D8B030D-6E8A-4147-A177-3AD203B41FA5}">
                      <a16:colId xmlns:a16="http://schemas.microsoft.com/office/drawing/2014/main" val="1991276016"/>
                    </a:ext>
                  </a:extLst>
                </a:gridCol>
                <a:gridCol w="301334">
                  <a:extLst>
                    <a:ext uri="{9D8B030D-6E8A-4147-A177-3AD203B41FA5}">
                      <a16:colId xmlns:a16="http://schemas.microsoft.com/office/drawing/2014/main" val="2694655276"/>
                    </a:ext>
                  </a:extLst>
                </a:gridCol>
                <a:gridCol w="301334">
                  <a:extLst>
                    <a:ext uri="{9D8B030D-6E8A-4147-A177-3AD203B41FA5}">
                      <a16:colId xmlns:a16="http://schemas.microsoft.com/office/drawing/2014/main" val="35194619"/>
                    </a:ext>
                  </a:extLst>
                </a:gridCol>
                <a:gridCol w="301334">
                  <a:extLst>
                    <a:ext uri="{9D8B030D-6E8A-4147-A177-3AD203B41FA5}">
                      <a16:colId xmlns:a16="http://schemas.microsoft.com/office/drawing/2014/main" val="391543518"/>
                    </a:ext>
                  </a:extLst>
                </a:gridCol>
                <a:gridCol w="301334">
                  <a:extLst>
                    <a:ext uri="{9D8B030D-6E8A-4147-A177-3AD203B41FA5}">
                      <a16:colId xmlns:a16="http://schemas.microsoft.com/office/drawing/2014/main" val="3012374910"/>
                    </a:ext>
                  </a:extLst>
                </a:gridCol>
                <a:gridCol w="301334">
                  <a:extLst>
                    <a:ext uri="{9D8B030D-6E8A-4147-A177-3AD203B41FA5}">
                      <a16:colId xmlns:a16="http://schemas.microsoft.com/office/drawing/2014/main" val="264571868"/>
                    </a:ext>
                  </a:extLst>
                </a:gridCol>
                <a:gridCol w="301334">
                  <a:extLst>
                    <a:ext uri="{9D8B030D-6E8A-4147-A177-3AD203B41FA5}">
                      <a16:colId xmlns:a16="http://schemas.microsoft.com/office/drawing/2014/main" val="955528670"/>
                    </a:ext>
                  </a:extLst>
                </a:gridCol>
                <a:gridCol w="301334">
                  <a:extLst>
                    <a:ext uri="{9D8B030D-6E8A-4147-A177-3AD203B41FA5}">
                      <a16:colId xmlns:a16="http://schemas.microsoft.com/office/drawing/2014/main" val="132902476"/>
                    </a:ext>
                  </a:extLst>
                </a:gridCol>
                <a:gridCol w="301334">
                  <a:extLst>
                    <a:ext uri="{9D8B030D-6E8A-4147-A177-3AD203B41FA5}">
                      <a16:colId xmlns:a16="http://schemas.microsoft.com/office/drawing/2014/main" val="2955705816"/>
                    </a:ext>
                  </a:extLst>
                </a:gridCol>
                <a:gridCol w="301334">
                  <a:extLst>
                    <a:ext uri="{9D8B030D-6E8A-4147-A177-3AD203B41FA5}">
                      <a16:colId xmlns:a16="http://schemas.microsoft.com/office/drawing/2014/main" val="2413265556"/>
                    </a:ext>
                  </a:extLst>
                </a:gridCol>
                <a:gridCol w="301334">
                  <a:extLst>
                    <a:ext uri="{9D8B030D-6E8A-4147-A177-3AD203B41FA5}">
                      <a16:colId xmlns:a16="http://schemas.microsoft.com/office/drawing/2014/main" val="4027003227"/>
                    </a:ext>
                  </a:extLst>
                </a:gridCol>
                <a:gridCol w="301334">
                  <a:extLst>
                    <a:ext uri="{9D8B030D-6E8A-4147-A177-3AD203B41FA5}">
                      <a16:colId xmlns:a16="http://schemas.microsoft.com/office/drawing/2014/main" val="1783032949"/>
                    </a:ext>
                  </a:extLst>
                </a:gridCol>
                <a:gridCol w="301334">
                  <a:extLst>
                    <a:ext uri="{9D8B030D-6E8A-4147-A177-3AD203B41FA5}">
                      <a16:colId xmlns:a16="http://schemas.microsoft.com/office/drawing/2014/main" val="3398326629"/>
                    </a:ext>
                  </a:extLst>
                </a:gridCol>
                <a:gridCol w="301334">
                  <a:extLst>
                    <a:ext uri="{9D8B030D-6E8A-4147-A177-3AD203B41FA5}">
                      <a16:colId xmlns:a16="http://schemas.microsoft.com/office/drawing/2014/main" val="2284819630"/>
                    </a:ext>
                  </a:extLst>
                </a:gridCol>
                <a:gridCol w="301334">
                  <a:extLst>
                    <a:ext uri="{9D8B030D-6E8A-4147-A177-3AD203B41FA5}">
                      <a16:colId xmlns:a16="http://schemas.microsoft.com/office/drawing/2014/main" val="4195910540"/>
                    </a:ext>
                  </a:extLst>
                </a:gridCol>
                <a:gridCol w="301334">
                  <a:extLst>
                    <a:ext uri="{9D8B030D-6E8A-4147-A177-3AD203B41FA5}">
                      <a16:colId xmlns:a16="http://schemas.microsoft.com/office/drawing/2014/main" val="3959699492"/>
                    </a:ext>
                  </a:extLst>
                </a:gridCol>
                <a:gridCol w="301334">
                  <a:extLst>
                    <a:ext uri="{9D8B030D-6E8A-4147-A177-3AD203B41FA5}">
                      <a16:colId xmlns:a16="http://schemas.microsoft.com/office/drawing/2014/main" val="1073429929"/>
                    </a:ext>
                  </a:extLst>
                </a:gridCol>
                <a:gridCol w="301334">
                  <a:extLst>
                    <a:ext uri="{9D8B030D-6E8A-4147-A177-3AD203B41FA5}">
                      <a16:colId xmlns:a16="http://schemas.microsoft.com/office/drawing/2014/main" val="1930910466"/>
                    </a:ext>
                  </a:extLst>
                </a:gridCol>
                <a:gridCol w="301334">
                  <a:extLst>
                    <a:ext uri="{9D8B030D-6E8A-4147-A177-3AD203B41FA5}">
                      <a16:colId xmlns:a16="http://schemas.microsoft.com/office/drawing/2014/main" val="2710696277"/>
                    </a:ext>
                  </a:extLst>
                </a:gridCol>
                <a:gridCol w="301334">
                  <a:extLst>
                    <a:ext uri="{9D8B030D-6E8A-4147-A177-3AD203B41FA5}">
                      <a16:colId xmlns:a16="http://schemas.microsoft.com/office/drawing/2014/main" val="4078151139"/>
                    </a:ext>
                  </a:extLst>
                </a:gridCol>
                <a:gridCol w="301334">
                  <a:extLst>
                    <a:ext uri="{9D8B030D-6E8A-4147-A177-3AD203B41FA5}">
                      <a16:colId xmlns:a16="http://schemas.microsoft.com/office/drawing/2014/main" val="4071817021"/>
                    </a:ext>
                  </a:extLst>
                </a:gridCol>
                <a:gridCol w="301334">
                  <a:extLst>
                    <a:ext uri="{9D8B030D-6E8A-4147-A177-3AD203B41FA5}">
                      <a16:colId xmlns:a16="http://schemas.microsoft.com/office/drawing/2014/main" val="334609205"/>
                    </a:ext>
                  </a:extLst>
                </a:gridCol>
                <a:gridCol w="301334">
                  <a:extLst>
                    <a:ext uri="{9D8B030D-6E8A-4147-A177-3AD203B41FA5}">
                      <a16:colId xmlns:a16="http://schemas.microsoft.com/office/drawing/2014/main" val="3400151758"/>
                    </a:ext>
                  </a:extLst>
                </a:gridCol>
                <a:gridCol w="301334">
                  <a:extLst>
                    <a:ext uri="{9D8B030D-6E8A-4147-A177-3AD203B41FA5}">
                      <a16:colId xmlns:a16="http://schemas.microsoft.com/office/drawing/2014/main" val="1689673636"/>
                    </a:ext>
                  </a:extLst>
                </a:gridCol>
                <a:gridCol w="301334">
                  <a:extLst>
                    <a:ext uri="{9D8B030D-6E8A-4147-A177-3AD203B41FA5}">
                      <a16:colId xmlns:a16="http://schemas.microsoft.com/office/drawing/2014/main" val="1584454777"/>
                    </a:ext>
                  </a:extLst>
                </a:gridCol>
                <a:gridCol w="301334">
                  <a:extLst>
                    <a:ext uri="{9D8B030D-6E8A-4147-A177-3AD203B41FA5}">
                      <a16:colId xmlns:a16="http://schemas.microsoft.com/office/drawing/2014/main" val="1425856778"/>
                    </a:ext>
                  </a:extLst>
                </a:gridCol>
                <a:gridCol w="301334">
                  <a:extLst>
                    <a:ext uri="{9D8B030D-6E8A-4147-A177-3AD203B41FA5}">
                      <a16:colId xmlns:a16="http://schemas.microsoft.com/office/drawing/2014/main" val="2153097649"/>
                    </a:ext>
                  </a:extLst>
                </a:gridCol>
                <a:gridCol w="348025">
                  <a:extLst>
                    <a:ext uri="{9D8B030D-6E8A-4147-A177-3AD203B41FA5}">
                      <a16:colId xmlns:a16="http://schemas.microsoft.com/office/drawing/2014/main" val="2995553791"/>
                    </a:ext>
                  </a:extLst>
                </a:gridCol>
                <a:gridCol w="419541">
                  <a:extLst>
                    <a:ext uri="{9D8B030D-6E8A-4147-A177-3AD203B41FA5}">
                      <a16:colId xmlns:a16="http://schemas.microsoft.com/office/drawing/2014/main" val="3698766726"/>
                    </a:ext>
                  </a:extLst>
                </a:gridCol>
              </a:tblGrid>
              <a:tr h="44059">
                <a:tc>
                  <a:txBody>
                    <a:bodyPr/>
                    <a:lstStyle/>
                    <a:p>
                      <a:pPr algn="r" fontAlgn="b">
                        <a:buNone/>
                      </a:pPr>
                      <a:r>
                        <a:rPr lang="en-US" sz="1200" b="1" i="0" u="none" strike="noStrike" dirty="0">
                          <a:solidFill>
                            <a:schemeClr val="accent1"/>
                          </a:solidFill>
                          <a:effectLst/>
                          <a:latin typeface="Aptos Narrow" panose="020B0004020202020204" pitchFamily="34" charset="0"/>
                        </a:rPr>
                        <a:t>60</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61</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62</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63</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64</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65</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66</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67</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68</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69</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70</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71</a:t>
                      </a:r>
                    </a:p>
                  </a:txBody>
                  <a:tcPr marL="9525" marR="9525" marT="9525" marB="0" anchor="b">
                    <a:noFill/>
                  </a:tcPr>
                </a:tc>
                <a:tc>
                  <a:txBody>
                    <a:bodyPr/>
                    <a:lstStyle/>
                    <a:p>
                      <a:pPr algn="r" fontAlgn="b">
                        <a:buNone/>
                      </a:pPr>
                      <a:r>
                        <a:rPr lang="en-US" sz="1200" b="1" i="0" u="none" strike="noStrike" dirty="0">
                          <a:solidFill>
                            <a:schemeClr val="accent1"/>
                          </a:solidFill>
                          <a:effectLst/>
                          <a:latin typeface="Aptos Narrow" panose="020B0004020202020204" pitchFamily="34" charset="0"/>
                        </a:rPr>
                        <a:t>72</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73</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74</a:t>
                      </a:r>
                    </a:p>
                  </a:txBody>
                  <a:tcPr marL="9525" marR="9525" marT="9525" marB="0" anchor="b">
                    <a:noFill/>
                  </a:tcPr>
                </a:tc>
                <a:tc>
                  <a:txBody>
                    <a:bodyPr/>
                    <a:lstStyle/>
                    <a:p>
                      <a:pPr algn="r" fontAlgn="b">
                        <a:buNone/>
                      </a:pPr>
                      <a:r>
                        <a:rPr lang="en-US" sz="1200" b="1" i="0" u="none" strike="noStrike" dirty="0">
                          <a:solidFill>
                            <a:schemeClr val="accent1"/>
                          </a:solidFill>
                          <a:effectLst/>
                          <a:latin typeface="Aptos Narrow" panose="020B0004020202020204" pitchFamily="34" charset="0"/>
                        </a:rPr>
                        <a:t>75</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76</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77</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78</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79</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80</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81</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82</a:t>
                      </a:r>
                    </a:p>
                  </a:txBody>
                  <a:tcPr marL="9525" marR="9525" marT="9525" marB="0" anchor="b">
                    <a:noFill/>
                  </a:tcPr>
                </a:tc>
                <a:tc>
                  <a:txBody>
                    <a:bodyPr/>
                    <a:lstStyle/>
                    <a:p>
                      <a:pPr algn="r" fontAlgn="b">
                        <a:buNone/>
                      </a:pPr>
                      <a:r>
                        <a:rPr lang="en-US" sz="1200" b="1" i="0" u="none" strike="noStrike" dirty="0">
                          <a:solidFill>
                            <a:schemeClr val="accent1"/>
                          </a:solidFill>
                          <a:effectLst/>
                          <a:latin typeface="Aptos Narrow" panose="020B0004020202020204" pitchFamily="34" charset="0"/>
                        </a:rPr>
                        <a:t>83</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84</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85</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86</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87</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118</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119</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120</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121</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122</a:t>
                      </a:r>
                    </a:p>
                  </a:txBody>
                  <a:tcPr marL="9525" marR="9525" marT="9525" marB="0" anchor="b">
                    <a:noFill/>
                  </a:tcPr>
                </a:tc>
                <a:extLst>
                  <a:ext uri="{0D108BD9-81ED-4DB2-BD59-A6C34878D82A}">
                    <a16:rowId xmlns:a16="http://schemas.microsoft.com/office/drawing/2014/main" val="2799741168"/>
                  </a:ext>
                </a:extLst>
              </a:tr>
            </a:tbl>
          </a:graphicData>
        </a:graphic>
      </p:graphicFrame>
      <p:pic>
        <p:nvPicPr>
          <p:cNvPr id="20" name="Graphic 19" descr="Female Profile with solid fill">
            <a:extLst>
              <a:ext uri="{FF2B5EF4-FFF2-40B4-BE49-F238E27FC236}">
                <a16:creationId xmlns:a16="http://schemas.microsoft.com/office/drawing/2014/main" id="{A7810B48-64E1-0868-16DA-1ADF71865E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3429000"/>
            <a:ext cx="433180" cy="433180"/>
          </a:xfrm>
          <a:prstGeom prst="rect">
            <a:avLst/>
          </a:prstGeom>
        </p:spPr>
      </p:pic>
      <p:pic>
        <p:nvPicPr>
          <p:cNvPr id="21" name="Graphic 20" descr="Female Profile with solid fill">
            <a:extLst>
              <a:ext uri="{FF2B5EF4-FFF2-40B4-BE49-F238E27FC236}">
                <a16:creationId xmlns:a16="http://schemas.microsoft.com/office/drawing/2014/main" id="{06895CAF-AB65-D8A9-F8C7-17145BE71D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0837" y="3450129"/>
            <a:ext cx="433180" cy="433180"/>
          </a:xfrm>
          <a:prstGeom prst="rect">
            <a:avLst/>
          </a:prstGeom>
        </p:spPr>
      </p:pic>
      <p:pic>
        <p:nvPicPr>
          <p:cNvPr id="22" name="Graphic 21" descr="Female Profile with solid fill">
            <a:extLst>
              <a:ext uri="{FF2B5EF4-FFF2-40B4-BE49-F238E27FC236}">
                <a16:creationId xmlns:a16="http://schemas.microsoft.com/office/drawing/2014/main" id="{2EBDFB83-52EF-77BE-48DC-509102C844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14142" y="3447616"/>
            <a:ext cx="433180" cy="433180"/>
          </a:xfrm>
          <a:prstGeom prst="rect">
            <a:avLst/>
          </a:prstGeom>
        </p:spPr>
      </p:pic>
      <p:pic>
        <p:nvPicPr>
          <p:cNvPr id="23" name="Graphic 22" descr="Female Profile with solid fill">
            <a:extLst>
              <a:ext uri="{FF2B5EF4-FFF2-40B4-BE49-F238E27FC236}">
                <a16:creationId xmlns:a16="http://schemas.microsoft.com/office/drawing/2014/main" id="{A212CFD8-7398-FE3B-BE66-EB66D9BE33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37509" y="3447616"/>
            <a:ext cx="433180" cy="433180"/>
          </a:xfrm>
          <a:prstGeom prst="rect">
            <a:avLst/>
          </a:prstGeom>
        </p:spPr>
      </p:pic>
      <p:pic>
        <p:nvPicPr>
          <p:cNvPr id="24" name="Graphic 23" descr="Female Profile with solid fill">
            <a:extLst>
              <a:ext uri="{FF2B5EF4-FFF2-40B4-BE49-F238E27FC236}">
                <a16:creationId xmlns:a16="http://schemas.microsoft.com/office/drawing/2014/main" id="{1E95A913-307A-11CE-FBA9-0F4A5860B8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72633" y="3447616"/>
            <a:ext cx="433180" cy="433180"/>
          </a:xfrm>
          <a:prstGeom prst="rect">
            <a:avLst/>
          </a:prstGeom>
        </p:spPr>
      </p:pic>
      <p:pic>
        <p:nvPicPr>
          <p:cNvPr id="25" name="Graphic 24" descr="Female Profile with solid fill">
            <a:extLst>
              <a:ext uri="{FF2B5EF4-FFF2-40B4-BE49-F238E27FC236}">
                <a16:creationId xmlns:a16="http://schemas.microsoft.com/office/drawing/2014/main" id="{9CC06504-F537-6BC9-7348-FF79D5603D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68585" y="3447616"/>
            <a:ext cx="433180" cy="433180"/>
          </a:xfrm>
          <a:prstGeom prst="rect">
            <a:avLst/>
          </a:prstGeom>
        </p:spPr>
      </p:pic>
      <p:pic>
        <p:nvPicPr>
          <p:cNvPr id="26" name="Graphic 25" descr="Female Profile with solid fill">
            <a:extLst>
              <a:ext uri="{FF2B5EF4-FFF2-40B4-BE49-F238E27FC236}">
                <a16:creationId xmlns:a16="http://schemas.microsoft.com/office/drawing/2014/main" id="{797A7C34-C452-067A-0D7F-BC11E55D7E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34767" y="3443492"/>
            <a:ext cx="433180" cy="433180"/>
          </a:xfrm>
          <a:prstGeom prst="rect">
            <a:avLst/>
          </a:prstGeom>
        </p:spPr>
      </p:pic>
      <p:pic>
        <p:nvPicPr>
          <p:cNvPr id="29" name="Graphic 28" descr="Male profile with solid fill">
            <a:extLst>
              <a:ext uri="{FF2B5EF4-FFF2-40B4-BE49-F238E27FC236}">
                <a16:creationId xmlns:a16="http://schemas.microsoft.com/office/drawing/2014/main" id="{EE3E6631-B0C1-5664-B1A3-C354EA806C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74095" y="3492155"/>
            <a:ext cx="444563" cy="444563"/>
          </a:xfrm>
          <a:prstGeom prst="rect">
            <a:avLst/>
          </a:prstGeom>
        </p:spPr>
      </p:pic>
      <p:pic>
        <p:nvPicPr>
          <p:cNvPr id="30" name="Graphic 29" descr="Male profile with solid fill">
            <a:extLst>
              <a:ext uri="{FF2B5EF4-FFF2-40B4-BE49-F238E27FC236}">
                <a16:creationId xmlns:a16="http://schemas.microsoft.com/office/drawing/2014/main" id="{7B5BCBC4-E678-0C5B-A878-F9B2F55DAC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350" y="3492156"/>
            <a:ext cx="444563" cy="444563"/>
          </a:xfrm>
          <a:prstGeom prst="rect">
            <a:avLst/>
          </a:prstGeom>
        </p:spPr>
      </p:pic>
      <p:pic>
        <p:nvPicPr>
          <p:cNvPr id="31" name="Graphic 30" descr="Male profile with solid fill">
            <a:extLst>
              <a:ext uri="{FF2B5EF4-FFF2-40B4-BE49-F238E27FC236}">
                <a16:creationId xmlns:a16="http://schemas.microsoft.com/office/drawing/2014/main" id="{B50DE65D-369F-896F-0789-30BE5A1B3E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15393" y="3486376"/>
            <a:ext cx="444563" cy="444563"/>
          </a:xfrm>
          <a:prstGeom prst="rect">
            <a:avLst/>
          </a:prstGeom>
        </p:spPr>
      </p:pic>
      <p:pic>
        <p:nvPicPr>
          <p:cNvPr id="32" name="Graphic 31" descr="Male profile with solid fill">
            <a:extLst>
              <a:ext uri="{FF2B5EF4-FFF2-40B4-BE49-F238E27FC236}">
                <a16:creationId xmlns:a16="http://schemas.microsoft.com/office/drawing/2014/main" id="{882E8D11-067D-78E7-F8C8-494101DE7E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2827" y="3481268"/>
            <a:ext cx="444563" cy="444563"/>
          </a:xfrm>
          <a:prstGeom prst="rect">
            <a:avLst/>
          </a:prstGeom>
        </p:spPr>
      </p:pic>
      <p:pic>
        <p:nvPicPr>
          <p:cNvPr id="33" name="Graphic 32" descr="Male profile with solid fill">
            <a:extLst>
              <a:ext uri="{FF2B5EF4-FFF2-40B4-BE49-F238E27FC236}">
                <a16:creationId xmlns:a16="http://schemas.microsoft.com/office/drawing/2014/main" id="{26B4D3A0-B55B-B8D6-AA1C-98CBC0B830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30872" y="3482096"/>
            <a:ext cx="444563" cy="444563"/>
          </a:xfrm>
          <a:prstGeom prst="rect">
            <a:avLst/>
          </a:prstGeom>
        </p:spPr>
      </p:pic>
      <p:pic>
        <p:nvPicPr>
          <p:cNvPr id="34" name="Graphic 33" descr="Female Profile with solid fill">
            <a:extLst>
              <a:ext uri="{FF2B5EF4-FFF2-40B4-BE49-F238E27FC236}">
                <a16:creationId xmlns:a16="http://schemas.microsoft.com/office/drawing/2014/main" id="{4832DB2D-A066-9BCA-1888-D6BAD8AFA1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32779" y="3486959"/>
            <a:ext cx="433180" cy="433180"/>
          </a:xfrm>
          <a:prstGeom prst="rect">
            <a:avLst/>
          </a:prstGeom>
        </p:spPr>
      </p:pic>
      <p:pic>
        <p:nvPicPr>
          <p:cNvPr id="35" name="Graphic 34" descr="Male profile with solid fill">
            <a:extLst>
              <a:ext uri="{FF2B5EF4-FFF2-40B4-BE49-F238E27FC236}">
                <a16:creationId xmlns:a16="http://schemas.microsoft.com/office/drawing/2014/main" id="{90722228-B0DE-6F5B-3BED-E4B9288EB1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54472" y="3503039"/>
            <a:ext cx="444563" cy="444563"/>
          </a:xfrm>
          <a:prstGeom prst="rect">
            <a:avLst/>
          </a:prstGeom>
        </p:spPr>
      </p:pic>
      <p:pic>
        <p:nvPicPr>
          <p:cNvPr id="36" name="Graphic 35" descr="Male profile with solid fill">
            <a:extLst>
              <a:ext uri="{FF2B5EF4-FFF2-40B4-BE49-F238E27FC236}">
                <a16:creationId xmlns:a16="http://schemas.microsoft.com/office/drawing/2014/main" id="{E763857D-151F-8D43-AF4A-2639867274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65286" y="3517329"/>
            <a:ext cx="444563" cy="444563"/>
          </a:xfrm>
          <a:prstGeom prst="rect">
            <a:avLst/>
          </a:prstGeom>
        </p:spPr>
      </p:pic>
      <p:sp>
        <p:nvSpPr>
          <p:cNvPr id="37" name="Content Placeholder 2">
            <a:extLst>
              <a:ext uri="{FF2B5EF4-FFF2-40B4-BE49-F238E27FC236}">
                <a16:creationId xmlns:a16="http://schemas.microsoft.com/office/drawing/2014/main" id="{19164135-9172-4713-AAD6-498515925BD5}"/>
              </a:ext>
            </a:extLst>
          </p:cNvPr>
          <p:cNvSpPr txBox="1">
            <a:spLocks/>
          </p:cNvSpPr>
          <p:nvPr/>
        </p:nvSpPr>
        <p:spPr>
          <a:xfrm>
            <a:off x="544788" y="2839746"/>
            <a:ext cx="10972800" cy="420796"/>
          </a:xfrm>
          <a:prstGeom prst="rect">
            <a:avLst/>
          </a:prstGeom>
          <a:ln>
            <a:noFill/>
          </a:ln>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b="1" dirty="0">
                <a:solidFill>
                  <a:schemeClr val="accent1"/>
                </a:solidFill>
              </a:rPr>
              <a:t>A sample </a:t>
            </a:r>
            <a:r>
              <a:rPr lang="en-US" sz="2000" dirty="0"/>
              <a:t>from the high-school bench press distribution (kg):</a:t>
            </a:r>
          </a:p>
        </p:txBody>
      </p:sp>
      <p:cxnSp>
        <p:nvCxnSpPr>
          <p:cNvPr id="4" name="Straight Connector 3">
            <a:extLst>
              <a:ext uri="{FF2B5EF4-FFF2-40B4-BE49-F238E27FC236}">
                <a16:creationId xmlns:a16="http://schemas.microsoft.com/office/drawing/2014/main" id="{4F9CC3B9-4739-318D-7230-38FCAED4ACF4}"/>
              </a:ext>
            </a:extLst>
          </p:cNvPr>
          <p:cNvCxnSpPr/>
          <p:nvPr/>
        </p:nvCxnSpPr>
        <p:spPr>
          <a:xfrm>
            <a:off x="7181625" y="2420471"/>
            <a:ext cx="0" cy="2368281"/>
          </a:xfrm>
          <a:prstGeom prst="line">
            <a:avLst/>
          </a:prstGeom>
          <a:ln w="38100"/>
        </p:spPr>
        <p:style>
          <a:lnRef idx="1">
            <a:schemeClr val="accent3"/>
          </a:lnRef>
          <a:fillRef idx="0">
            <a:schemeClr val="accent3"/>
          </a:fillRef>
          <a:effectRef idx="0">
            <a:schemeClr val="accent3"/>
          </a:effectRef>
          <a:fontRef idx="minor">
            <a:schemeClr val="tx1"/>
          </a:fontRef>
        </p:style>
      </p:cxnSp>
      <p:pic>
        <p:nvPicPr>
          <p:cNvPr id="6" name="Picture 2">
            <a:extLst>
              <a:ext uri="{FF2B5EF4-FFF2-40B4-BE49-F238E27FC236}">
                <a16:creationId xmlns:a16="http://schemas.microsoft.com/office/drawing/2014/main" id="{54DC8F35-285F-1D1F-ED20-179CD4EEDB2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85788"/>
          <a:stretch>
            <a:fillRect/>
          </a:stretch>
        </p:blipFill>
        <p:spPr bwMode="auto">
          <a:xfrm>
            <a:off x="7063321" y="1634252"/>
            <a:ext cx="253931" cy="927813"/>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DAE28E0E-5D6E-32B8-3E13-7F7C44DB5BCF}"/>
              </a:ext>
            </a:extLst>
          </p:cNvPr>
          <p:cNvCxnSpPr/>
          <p:nvPr/>
        </p:nvCxnSpPr>
        <p:spPr>
          <a:xfrm>
            <a:off x="4501828" y="2413318"/>
            <a:ext cx="0" cy="2368281"/>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7" name="Picture 2">
            <a:extLst>
              <a:ext uri="{FF2B5EF4-FFF2-40B4-BE49-F238E27FC236}">
                <a16:creationId xmlns:a16="http://schemas.microsoft.com/office/drawing/2014/main" id="{FECFF381-6421-E3DC-B934-0025561299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9091" y="1624436"/>
            <a:ext cx="1881399" cy="927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412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E66B6-0481-9B86-E6B1-4B8B9EF89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03524-8AD7-01D0-A2F8-B7C284BD779C}"/>
              </a:ext>
            </a:extLst>
          </p:cNvPr>
          <p:cNvSpPr>
            <a:spLocks noGrp="1"/>
          </p:cNvSpPr>
          <p:nvPr>
            <p:ph type="title"/>
          </p:nvPr>
        </p:nvSpPr>
        <p:spPr/>
        <p:txBody>
          <a:bodyPr/>
          <a:lstStyle/>
          <a:p>
            <a:r>
              <a:rPr lang="en-US" sz="4400" dirty="0"/>
              <a:t>Measures of central tendency</a:t>
            </a:r>
            <a:endParaRPr lang="en-US" dirty="0"/>
          </a:p>
        </p:txBody>
      </p:sp>
      <p:sp>
        <p:nvSpPr>
          <p:cNvPr id="5" name="Content Placeholder 2">
            <a:extLst>
              <a:ext uri="{FF2B5EF4-FFF2-40B4-BE49-F238E27FC236}">
                <a16:creationId xmlns:a16="http://schemas.microsoft.com/office/drawing/2014/main" id="{12015C5B-4477-6664-B696-2F36638CF1A4}"/>
              </a:ext>
            </a:extLst>
          </p:cNvPr>
          <p:cNvSpPr txBox="1">
            <a:spLocks/>
          </p:cNvSpPr>
          <p:nvPr/>
        </p:nvSpPr>
        <p:spPr>
          <a:xfrm>
            <a:off x="544788" y="1227337"/>
            <a:ext cx="11037612"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Sample mean:</a:t>
            </a: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66EE1BFC-365D-3B48-F288-68D863820C89}"/>
                  </a:ext>
                </a:extLst>
              </p:cNvPr>
              <p:cNvSpPr txBox="1">
                <a:spLocks/>
              </p:cNvSpPr>
              <p:nvPr/>
            </p:nvSpPr>
            <p:spPr>
              <a:xfrm>
                <a:off x="544788" y="4788752"/>
                <a:ext cx="11470792" cy="995032"/>
              </a:xfrm>
              <a:prstGeom prst="rect">
                <a:avLst/>
              </a:prstGeom>
              <a:ln>
                <a:noFill/>
              </a:ln>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Mean/Average of the sample:</a:t>
                </a:r>
              </a:p>
              <a:p>
                <a:pPr marL="0" indent="0">
                  <a:buFont typeface="Arial"/>
                  <a:buNone/>
                </a:pPr>
                <a:endParaRPr lang="en-US" sz="2000" dirty="0"/>
              </a:p>
              <a:p>
                <a:pPr marL="0" indent="0">
                  <a:buNone/>
                </a:pPr>
                <a14:m>
                  <m:oMathPara xmlns:m="http://schemas.openxmlformats.org/officeDocument/2006/math">
                    <m:oMathParaPr>
                      <m:jc m:val="centerGroup"/>
                    </m:oMathParaPr>
                    <m:oMath xmlns:m="http://schemas.openxmlformats.org/officeDocument/2006/math">
                      <m:f>
                        <m:fPr>
                          <m:ctrlPr>
                            <a:rPr lang="en-US" sz="1400" i="1" dirty="0" smtClean="0">
                              <a:latin typeface="Cambria Math" panose="02040503050406030204" pitchFamily="18" charset="0"/>
                            </a:rPr>
                          </m:ctrlPr>
                        </m:fPr>
                        <m:num>
                          <m:r>
                            <a:rPr lang="en-US" sz="1400" i="1" dirty="0">
                              <a:latin typeface="Cambria Math" panose="02040503050406030204" pitchFamily="18" charset="0"/>
                            </a:rPr>
                            <m:t>(</m:t>
                          </m:r>
                          <m:r>
                            <a:rPr lang="nl-NL" sz="1400" i="1" dirty="0" smtClean="0">
                              <a:latin typeface="Cambria Math" panose="02040503050406030204" pitchFamily="18" charset="0"/>
                            </a:rPr>
                            <m:t>6</m:t>
                          </m:r>
                          <m:r>
                            <a:rPr lang="nl-NL" sz="1400" b="0" i="1" dirty="0" smtClean="0">
                              <a:latin typeface="Cambria Math" panose="02040503050406030204" pitchFamily="18" charset="0"/>
                            </a:rPr>
                            <m:t>2 + 72 + 75 + 83 + 122</m:t>
                          </m:r>
                          <m:r>
                            <a:rPr lang="en-US" sz="1400" i="1" dirty="0">
                              <a:latin typeface="Cambria Math" panose="02040503050406030204" pitchFamily="18" charset="0"/>
                            </a:rPr>
                            <m:t>)</m:t>
                          </m:r>
                        </m:num>
                        <m:den>
                          <m:r>
                            <a:rPr lang="nl-NL" sz="1400" b="0" i="1" dirty="0" smtClean="0">
                              <a:latin typeface="Cambria Math" panose="02040503050406030204" pitchFamily="18" charset="0"/>
                            </a:rPr>
                            <m:t>5</m:t>
                          </m:r>
                        </m:den>
                      </m:f>
                      <m:r>
                        <a:rPr lang="nl-NL" sz="1400" b="0" i="1" dirty="0" smtClean="0">
                          <a:latin typeface="Cambria Math" panose="02040503050406030204" pitchFamily="18" charset="0"/>
                        </a:rPr>
                        <m:t> = 82.4</m:t>
                      </m:r>
                    </m:oMath>
                  </m:oMathPara>
                </a14:m>
                <a:endParaRPr lang="en-US" sz="2000" dirty="0"/>
              </a:p>
            </p:txBody>
          </p:sp>
        </mc:Choice>
        <mc:Fallback xmlns="">
          <p:sp>
            <p:nvSpPr>
              <p:cNvPr id="12" name="Content Placeholder 2">
                <a:extLst>
                  <a:ext uri="{FF2B5EF4-FFF2-40B4-BE49-F238E27FC236}">
                    <a16:creationId xmlns:a16="http://schemas.microsoft.com/office/drawing/2014/main" id="{66EE1BFC-365D-3B48-F288-68D863820C89}"/>
                  </a:ext>
                </a:extLst>
              </p:cNvPr>
              <p:cNvSpPr txBox="1">
                <a:spLocks noRot="1" noChangeAspect="1" noMove="1" noResize="1" noEditPoints="1" noAdjustHandles="1" noChangeArrowheads="1" noChangeShapeType="1" noTextEdit="1"/>
              </p:cNvSpPr>
              <p:nvPr/>
            </p:nvSpPr>
            <p:spPr>
              <a:xfrm>
                <a:off x="544788" y="4788752"/>
                <a:ext cx="11470792" cy="995032"/>
              </a:xfrm>
              <a:prstGeom prst="rect">
                <a:avLst/>
              </a:prstGeom>
              <a:blipFill>
                <a:blip r:embed="rId2"/>
                <a:stretch>
                  <a:fillRect l="-1326" t="-7595" b="-8861"/>
                </a:stretch>
              </a:blipFill>
              <a:ln>
                <a:noFill/>
              </a:ln>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7A9F61D6-2F03-1B4C-28F4-DCF12D8F1D5B}"/>
              </a:ext>
            </a:extLst>
          </p:cNvPr>
          <p:cNvCxnSpPr>
            <a:cxnSpLocks/>
          </p:cNvCxnSpPr>
          <p:nvPr/>
        </p:nvCxnSpPr>
        <p:spPr>
          <a:xfrm>
            <a:off x="609600" y="4002129"/>
            <a:ext cx="11102413" cy="0"/>
          </a:xfrm>
          <a:prstGeom prst="line">
            <a:avLst/>
          </a:prstGeom>
          <a:ln>
            <a:solidFill>
              <a:schemeClr val="accent1">
                <a:lumMod val="40000"/>
                <a:lumOff val="60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graphicFrame>
        <p:nvGraphicFramePr>
          <p:cNvPr id="16" name="Table 15">
            <a:extLst>
              <a:ext uri="{FF2B5EF4-FFF2-40B4-BE49-F238E27FC236}">
                <a16:creationId xmlns:a16="http://schemas.microsoft.com/office/drawing/2014/main" id="{4776D89D-8D21-5AAD-573A-94B630835F56}"/>
              </a:ext>
            </a:extLst>
          </p:cNvPr>
          <p:cNvGraphicFramePr>
            <a:graphicFrameLocks noGrp="1"/>
          </p:cNvGraphicFramePr>
          <p:nvPr/>
        </p:nvGraphicFramePr>
        <p:xfrm>
          <a:off x="544789" y="4123463"/>
          <a:ext cx="10972790" cy="192405"/>
        </p:xfrm>
        <a:graphic>
          <a:graphicData uri="http://schemas.openxmlformats.org/drawingml/2006/table">
            <a:tbl>
              <a:tblPr>
                <a:tableStyleId>{5C22544A-7EE6-4342-B048-85BDC9FD1C3A}</a:tableStyleId>
              </a:tblPr>
              <a:tblGrid>
                <a:gridCol w="261202">
                  <a:extLst>
                    <a:ext uri="{9D8B030D-6E8A-4147-A177-3AD203B41FA5}">
                      <a16:colId xmlns:a16="http://schemas.microsoft.com/office/drawing/2014/main" val="2112383504"/>
                    </a:ext>
                  </a:extLst>
                </a:gridCol>
                <a:gridCol w="301334">
                  <a:extLst>
                    <a:ext uri="{9D8B030D-6E8A-4147-A177-3AD203B41FA5}">
                      <a16:colId xmlns:a16="http://schemas.microsoft.com/office/drawing/2014/main" val="3866655891"/>
                    </a:ext>
                  </a:extLst>
                </a:gridCol>
                <a:gridCol w="301334">
                  <a:extLst>
                    <a:ext uri="{9D8B030D-6E8A-4147-A177-3AD203B41FA5}">
                      <a16:colId xmlns:a16="http://schemas.microsoft.com/office/drawing/2014/main" val="992048752"/>
                    </a:ext>
                  </a:extLst>
                </a:gridCol>
                <a:gridCol w="301334">
                  <a:extLst>
                    <a:ext uri="{9D8B030D-6E8A-4147-A177-3AD203B41FA5}">
                      <a16:colId xmlns:a16="http://schemas.microsoft.com/office/drawing/2014/main" val="3273464670"/>
                    </a:ext>
                  </a:extLst>
                </a:gridCol>
                <a:gridCol w="301334">
                  <a:extLst>
                    <a:ext uri="{9D8B030D-6E8A-4147-A177-3AD203B41FA5}">
                      <a16:colId xmlns:a16="http://schemas.microsoft.com/office/drawing/2014/main" val="2211268083"/>
                    </a:ext>
                  </a:extLst>
                </a:gridCol>
                <a:gridCol w="301334">
                  <a:extLst>
                    <a:ext uri="{9D8B030D-6E8A-4147-A177-3AD203B41FA5}">
                      <a16:colId xmlns:a16="http://schemas.microsoft.com/office/drawing/2014/main" val="306927346"/>
                    </a:ext>
                  </a:extLst>
                </a:gridCol>
                <a:gridCol w="301334">
                  <a:extLst>
                    <a:ext uri="{9D8B030D-6E8A-4147-A177-3AD203B41FA5}">
                      <a16:colId xmlns:a16="http://schemas.microsoft.com/office/drawing/2014/main" val="3812172840"/>
                    </a:ext>
                  </a:extLst>
                </a:gridCol>
                <a:gridCol w="301334">
                  <a:extLst>
                    <a:ext uri="{9D8B030D-6E8A-4147-A177-3AD203B41FA5}">
                      <a16:colId xmlns:a16="http://schemas.microsoft.com/office/drawing/2014/main" val="1991276016"/>
                    </a:ext>
                  </a:extLst>
                </a:gridCol>
                <a:gridCol w="301334">
                  <a:extLst>
                    <a:ext uri="{9D8B030D-6E8A-4147-A177-3AD203B41FA5}">
                      <a16:colId xmlns:a16="http://schemas.microsoft.com/office/drawing/2014/main" val="2694655276"/>
                    </a:ext>
                  </a:extLst>
                </a:gridCol>
                <a:gridCol w="301334">
                  <a:extLst>
                    <a:ext uri="{9D8B030D-6E8A-4147-A177-3AD203B41FA5}">
                      <a16:colId xmlns:a16="http://schemas.microsoft.com/office/drawing/2014/main" val="35194619"/>
                    </a:ext>
                  </a:extLst>
                </a:gridCol>
                <a:gridCol w="301334">
                  <a:extLst>
                    <a:ext uri="{9D8B030D-6E8A-4147-A177-3AD203B41FA5}">
                      <a16:colId xmlns:a16="http://schemas.microsoft.com/office/drawing/2014/main" val="391543518"/>
                    </a:ext>
                  </a:extLst>
                </a:gridCol>
                <a:gridCol w="301334">
                  <a:extLst>
                    <a:ext uri="{9D8B030D-6E8A-4147-A177-3AD203B41FA5}">
                      <a16:colId xmlns:a16="http://schemas.microsoft.com/office/drawing/2014/main" val="3012374910"/>
                    </a:ext>
                  </a:extLst>
                </a:gridCol>
                <a:gridCol w="301334">
                  <a:extLst>
                    <a:ext uri="{9D8B030D-6E8A-4147-A177-3AD203B41FA5}">
                      <a16:colId xmlns:a16="http://schemas.microsoft.com/office/drawing/2014/main" val="264571868"/>
                    </a:ext>
                  </a:extLst>
                </a:gridCol>
                <a:gridCol w="301334">
                  <a:extLst>
                    <a:ext uri="{9D8B030D-6E8A-4147-A177-3AD203B41FA5}">
                      <a16:colId xmlns:a16="http://schemas.microsoft.com/office/drawing/2014/main" val="955528670"/>
                    </a:ext>
                  </a:extLst>
                </a:gridCol>
                <a:gridCol w="301334">
                  <a:extLst>
                    <a:ext uri="{9D8B030D-6E8A-4147-A177-3AD203B41FA5}">
                      <a16:colId xmlns:a16="http://schemas.microsoft.com/office/drawing/2014/main" val="132902476"/>
                    </a:ext>
                  </a:extLst>
                </a:gridCol>
                <a:gridCol w="301334">
                  <a:extLst>
                    <a:ext uri="{9D8B030D-6E8A-4147-A177-3AD203B41FA5}">
                      <a16:colId xmlns:a16="http://schemas.microsoft.com/office/drawing/2014/main" val="2955705816"/>
                    </a:ext>
                  </a:extLst>
                </a:gridCol>
                <a:gridCol w="301334">
                  <a:extLst>
                    <a:ext uri="{9D8B030D-6E8A-4147-A177-3AD203B41FA5}">
                      <a16:colId xmlns:a16="http://schemas.microsoft.com/office/drawing/2014/main" val="2413265556"/>
                    </a:ext>
                  </a:extLst>
                </a:gridCol>
                <a:gridCol w="301334">
                  <a:extLst>
                    <a:ext uri="{9D8B030D-6E8A-4147-A177-3AD203B41FA5}">
                      <a16:colId xmlns:a16="http://schemas.microsoft.com/office/drawing/2014/main" val="4027003227"/>
                    </a:ext>
                  </a:extLst>
                </a:gridCol>
                <a:gridCol w="301334">
                  <a:extLst>
                    <a:ext uri="{9D8B030D-6E8A-4147-A177-3AD203B41FA5}">
                      <a16:colId xmlns:a16="http://schemas.microsoft.com/office/drawing/2014/main" val="1783032949"/>
                    </a:ext>
                  </a:extLst>
                </a:gridCol>
                <a:gridCol w="301334">
                  <a:extLst>
                    <a:ext uri="{9D8B030D-6E8A-4147-A177-3AD203B41FA5}">
                      <a16:colId xmlns:a16="http://schemas.microsoft.com/office/drawing/2014/main" val="3398326629"/>
                    </a:ext>
                  </a:extLst>
                </a:gridCol>
                <a:gridCol w="301334">
                  <a:extLst>
                    <a:ext uri="{9D8B030D-6E8A-4147-A177-3AD203B41FA5}">
                      <a16:colId xmlns:a16="http://schemas.microsoft.com/office/drawing/2014/main" val="2284819630"/>
                    </a:ext>
                  </a:extLst>
                </a:gridCol>
                <a:gridCol w="301334">
                  <a:extLst>
                    <a:ext uri="{9D8B030D-6E8A-4147-A177-3AD203B41FA5}">
                      <a16:colId xmlns:a16="http://schemas.microsoft.com/office/drawing/2014/main" val="4195910540"/>
                    </a:ext>
                  </a:extLst>
                </a:gridCol>
                <a:gridCol w="301334">
                  <a:extLst>
                    <a:ext uri="{9D8B030D-6E8A-4147-A177-3AD203B41FA5}">
                      <a16:colId xmlns:a16="http://schemas.microsoft.com/office/drawing/2014/main" val="3959699492"/>
                    </a:ext>
                  </a:extLst>
                </a:gridCol>
                <a:gridCol w="301334">
                  <a:extLst>
                    <a:ext uri="{9D8B030D-6E8A-4147-A177-3AD203B41FA5}">
                      <a16:colId xmlns:a16="http://schemas.microsoft.com/office/drawing/2014/main" val="1073429929"/>
                    </a:ext>
                  </a:extLst>
                </a:gridCol>
                <a:gridCol w="301334">
                  <a:extLst>
                    <a:ext uri="{9D8B030D-6E8A-4147-A177-3AD203B41FA5}">
                      <a16:colId xmlns:a16="http://schemas.microsoft.com/office/drawing/2014/main" val="1930910466"/>
                    </a:ext>
                  </a:extLst>
                </a:gridCol>
                <a:gridCol w="301334">
                  <a:extLst>
                    <a:ext uri="{9D8B030D-6E8A-4147-A177-3AD203B41FA5}">
                      <a16:colId xmlns:a16="http://schemas.microsoft.com/office/drawing/2014/main" val="2710696277"/>
                    </a:ext>
                  </a:extLst>
                </a:gridCol>
                <a:gridCol w="301334">
                  <a:extLst>
                    <a:ext uri="{9D8B030D-6E8A-4147-A177-3AD203B41FA5}">
                      <a16:colId xmlns:a16="http://schemas.microsoft.com/office/drawing/2014/main" val="4078151139"/>
                    </a:ext>
                  </a:extLst>
                </a:gridCol>
                <a:gridCol w="301334">
                  <a:extLst>
                    <a:ext uri="{9D8B030D-6E8A-4147-A177-3AD203B41FA5}">
                      <a16:colId xmlns:a16="http://schemas.microsoft.com/office/drawing/2014/main" val="4071817021"/>
                    </a:ext>
                  </a:extLst>
                </a:gridCol>
                <a:gridCol w="301334">
                  <a:extLst>
                    <a:ext uri="{9D8B030D-6E8A-4147-A177-3AD203B41FA5}">
                      <a16:colId xmlns:a16="http://schemas.microsoft.com/office/drawing/2014/main" val="334609205"/>
                    </a:ext>
                  </a:extLst>
                </a:gridCol>
                <a:gridCol w="301334">
                  <a:extLst>
                    <a:ext uri="{9D8B030D-6E8A-4147-A177-3AD203B41FA5}">
                      <a16:colId xmlns:a16="http://schemas.microsoft.com/office/drawing/2014/main" val="3400151758"/>
                    </a:ext>
                  </a:extLst>
                </a:gridCol>
                <a:gridCol w="301334">
                  <a:extLst>
                    <a:ext uri="{9D8B030D-6E8A-4147-A177-3AD203B41FA5}">
                      <a16:colId xmlns:a16="http://schemas.microsoft.com/office/drawing/2014/main" val="1689673636"/>
                    </a:ext>
                  </a:extLst>
                </a:gridCol>
                <a:gridCol w="301334">
                  <a:extLst>
                    <a:ext uri="{9D8B030D-6E8A-4147-A177-3AD203B41FA5}">
                      <a16:colId xmlns:a16="http://schemas.microsoft.com/office/drawing/2014/main" val="1584454777"/>
                    </a:ext>
                  </a:extLst>
                </a:gridCol>
                <a:gridCol w="301334">
                  <a:extLst>
                    <a:ext uri="{9D8B030D-6E8A-4147-A177-3AD203B41FA5}">
                      <a16:colId xmlns:a16="http://schemas.microsoft.com/office/drawing/2014/main" val="1425856778"/>
                    </a:ext>
                  </a:extLst>
                </a:gridCol>
                <a:gridCol w="301334">
                  <a:extLst>
                    <a:ext uri="{9D8B030D-6E8A-4147-A177-3AD203B41FA5}">
                      <a16:colId xmlns:a16="http://schemas.microsoft.com/office/drawing/2014/main" val="2153097649"/>
                    </a:ext>
                  </a:extLst>
                </a:gridCol>
                <a:gridCol w="348025">
                  <a:extLst>
                    <a:ext uri="{9D8B030D-6E8A-4147-A177-3AD203B41FA5}">
                      <a16:colId xmlns:a16="http://schemas.microsoft.com/office/drawing/2014/main" val="2995553791"/>
                    </a:ext>
                  </a:extLst>
                </a:gridCol>
                <a:gridCol w="419541">
                  <a:extLst>
                    <a:ext uri="{9D8B030D-6E8A-4147-A177-3AD203B41FA5}">
                      <a16:colId xmlns:a16="http://schemas.microsoft.com/office/drawing/2014/main" val="3698766726"/>
                    </a:ext>
                  </a:extLst>
                </a:gridCol>
              </a:tblGrid>
              <a:tr h="44059">
                <a:tc>
                  <a:txBody>
                    <a:bodyPr/>
                    <a:lstStyle/>
                    <a:p>
                      <a:pPr algn="r" fontAlgn="b">
                        <a:buNone/>
                      </a:pPr>
                      <a:r>
                        <a:rPr lang="en-US" sz="1200" b="1" i="0" u="none" strike="noStrike" dirty="0">
                          <a:solidFill>
                            <a:schemeClr val="tx2"/>
                          </a:solidFill>
                          <a:effectLst/>
                          <a:latin typeface="Aptos Narrow" panose="020B0004020202020204" pitchFamily="34" charset="0"/>
                        </a:rPr>
                        <a:t>60</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61</a:t>
                      </a:r>
                    </a:p>
                  </a:txBody>
                  <a:tcPr marL="9525" marR="9525" marT="9525" marB="0" anchor="b">
                    <a:noFill/>
                  </a:tcPr>
                </a:tc>
                <a:tc>
                  <a:txBody>
                    <a:bodyPr/>
                    <a:lstStyle/>
                    <a:p>
                      <a:pPr algn="r" fontAlgn="b">
                        <a:buNone/>
                      </a:pPr>
                      <a:r>
                        <a:rPr lang="en-US" sz="1200" b="1" i="0" u="none" strike="noStrike" dirty="0">
                          <a:solidFill>
                            <a:schemeClr val="accent1"/>
                          </a:solidFill>
                          <a:effectLst/>
                          <a:latin typeface="Aptos Narrow" panose="020B0004020202020204" pitchFamily="34" charset="0"/>
                        </a:rPr>
                        <a:t>62</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63</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64</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65</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66</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67</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68</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69</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70</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71</a:t>
                      </a:r>
                    </a:p>
                  </a:txBody>
                  <a:tcPr marL="9525" marR="9525" marT="9525" marB="0" anchor="b">
                    <a:noFill/>
                  </a:tcPr>
                </a:tc>
                <a:tc>
                  <a:txBody>
                    <a:bodyPr/>
                    <a:lstStyle/>
                    <a:p>
                      <a:pPr algn="r" fontAlgn="b">
                        <a:buNone/>
                      </a:pPr>
                      <a:r>
                        <a:rPr lang="en-US" sz="1200" b="1" i="0" u="none" strike="noStrike" dirty="0">
                          <a:solidFill>
                            <a:schemeClr val="accent1"/>
                          </a:solidFill>
                          <a:effectLst/>
                          <a:latin typeface="Aptos Narrow" panose="020B0004020202020204" pitchFamily="34" charset="0"/>
                        </a:rPr>
                        <a:t>72</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73</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74</a:t>
                      </a:r>
                    </a:p>
                  </a:txBody>
                  <a:tcPr marL="9525" marR="9525" marT="9525" marB="0" anchor="b">
                    <a:noFill/>
                  </a:tcPr>
                </a:tc>
                <a:tc>
                  <a:txBody>
                    <a:bodyPr/>
                    <a:lstStyle/>
                    <a:p>
                      <a:pPr algn="r" fontAlgn="b">
                        <a:buNone/>
                      </a:pPr>
                      <a:r>
                        <a:rPr lang="en-US" sz="1200" b="1" i="0" u="none" strike="noStrike" dirty="0">
                          <a:solidFill>
                            <a:schemeClr val="accent1"/>
                          </a:solidFill>
                          <a:effectLst/>
                          <a:latin typeface="Aptos Narrow" panose="020B0004020202020204" pitchFamily="34" charset="0"/>
                        </a:rPr>
                        <a:t>75</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76</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77</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78</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79</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80</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81</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82</a:t>
                      </a:r>
                    </a:p>
                  </a:txBody>
                  <a:tcPr marL="9525" marR="9525" marT="9525" marB="0" anchor="b">
                    <a:noFill/>
                  </a:tcPr>
                </a:tc>
                <a:tc>
                  <a:txBody>
                    <a:bodyPr/>
                    <a:lstStyle/>
                    <a:p>
                      <a:pPr algn="r" fontAlgn="b">
                        <a:buNone/>
                      </a:pPr>
                      <a:r>
                        <a:rPr lang="en-US" sz="1200" b="1" i="0" u="none" strike="noStrike" dirty="0">
                          <a:solidFill>
                            <a:schemeClr val="accent1"/>
                          </a:solidFill>
                          <a:effectLst/>
                          <a:latin typeface="Aptos Narrow" panose="020B0004020202020204" pitchFamily="34" charset="0"/>
                        </a:rPr>
                        <a:t>83</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84</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85</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86</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87</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118</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119</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120</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121</a:t>
                      </a:r>
                    </a:p>
                  </a:txBody>
                  <a:tcPr marL="9525" marR="9525" marT="9525" marB="0" anchor="b">
                    <a:noFill/>
                  </a:tcPr>
                </a:tc>
                <a:tc>
                  <a:txBody>
                    <a:bodyPr/>
                    <a:lstStyle/>
                    <a:p>
                      <a:pPr algn="r" fontAlgn="b">
                        <a:buNone/>
                      </a:pPr>
                      <a:r>
                        <a:rPr lang="en-US" sz="1200" b="1" i="0" u="none" strike="noStrike" dirty="0">
                          <a:solidFill>
                            <a:schemeClr val="accent1"/>
                          </a:solidFill>
                          <a:effectLst/>
                          <a:latin typeface="Aptos Narrow" panose="020B0004020202020204" pitchFamily="34" charset="0"/>
                        </a:rPr>
                        <a:t>122</a:t>
                      </a:r>
                    </a:p>
                  </a:txBody>
                  <a:tcPr marL="9525" marR="9525" marT="9525" marB="0" anchor="b">
                    <a:noFill/>
                  </a:tcPr>
                </a:tc>
                <a:extLst>
                  <a:ext uri="{0D108BD9-81ED-4DB2-BD59-A6C34878D82A}">
                    <a16:rowId xmlns:a16="http://schemas.microsoft.com/office/drawing/2014/main" val="2799741168"/>
                  </a:ext>
                </a:extLst>
              </a:tr>
            </a:tbl>
          </a:graphicData>
        </a:graphic>
      </p:graphicFrame>
      <p:pic>
        <p:nvPicPr>
          <p:cNvPr id="20" name="Graphic 19" descr="Female Profile with solid fill">
            <a:extLst>
              <a:ext uri="{FF2B5EF4-FFF2-40B4-BE49-F238E27FC236}">
                <a16:creationId xmlns:a16="http://schemas.microsoft.com/office/drawing/2014/main" id="{D21EA2BD-EF5E-B91C-F065-55B2CEE87B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3429000"/>
            <a:ext cx="433180" cy="433180"/>
          </a:xfrm>
          <a:prstGeom prst="rect">
            <a:avLst/>
          </a:prstGeom>
        </p:spPr>
      </p:pic>
      <p:pic>
        <p:nvPicPr>
          <p:cNvPr id="21" name="Graphic 20" descr="Female Profile with solid fill">
            <a:extLst>
              <a:ext uri="{FF2B5EF4-FFF2-40B4-BE49-F238E27FC236}">
                <a16:creationId xmlns:a16="http://schemas.microsoft.com/office/drawing/2014/main" id="{D0CC8C7A-AF96-455D-0EFA-D60CC07E2A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0837" y="3450129"/>
            <a:ext cx="433180" cy="433180"/>
          </a:xfrm>
          <a:prstGeom prst="rect">
            <a:avLst/>
          </a:prstGeom>
        </p:spPr>
      </p:pic>
      <p:pic>
        <p:nvPicPr>
          <p:cNvPr id="22" name="Graphic 21" descr="Female Profile with solid fill">
            <a:extLst>
              <a:ext uri="{FF2B5EF4-FFF2-40B4-BE49-F238E27FC236}">
                <a16:creationId xmlns:a16="http://schemas.microsoft.com/office/drawing/2014/main" id="{C21A1BB8-FDB9-EB69-E785-02C05F0E7E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14142" y="3447616"/>
            <a:ext cx="433180" cy="433180"/>
          </a:xfrm>
          <a:prstGeom prst="rect">
            <a:avLst/>
          </a:prstGeom>
        </p:spPr>
      </p:pic>
      <p:pic>
        <p:nvPicPr>
          <p:cNvPr id="23" name="Graphic 22" descr="Female Profile with solid fill">
            <a:extLst>
              <a:ext uri="{FF2B5EF4-FFF2-40B4-BE49-F238E27FC236}">
                <a16:creationId xmlns:a16="http://schemas.microsoft.com/office/drawing/2014/main" id="{94559C86-5ED2-CE16-129C-E790A8B234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37509" y="3447616"/>
            <a:ext cx="433180" cy="433180"/>
          </a:xfrm>
          <a:prstGeom prst="rect">
            <a:avLst/>
          </a:prstGeom>
        </p:spPr>
      </p:pic>
      <p:pic>
        <p:nvPicPr>
          <p:cNvPr id="24" name="Graphic 23" descr="Female Profile with solid fill">
            <a:extLst>
              <a:ext uri="{FF2B5EF4-FFF2-40B4-BE49-F238E27FC236}">
                <a16:creationId xmlns:a16="http://schemas.microsoft.com/office/drawing/2014/main" id="{4526E0A7-BE39-2602-2087-04CC561813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72633" y="3447616"/>
            <a:ext cx="433180" cy="433180"/>
          </a:xfrm>
          <a:prstGeom prst="rect">
            <a:avLst/>
          </a:prstGeom>
        </p:spPr>
      </p:pic>
      <p:pic>
        <p:nvPicPr>
          <p:cNvPr id="25" name="Graphic 24" descr="Female Profile with solid fill">
            <a:extLst>
              <a:ext uri="{FF2B5EF4-FFF2-40B4-BE49-F238E27FC236}">
                <a16:creationId xmlns:a16="http://schemas.microsoft.com/office/drawing/2014/main" id="{586251AF-FAF2-B1BE-358A-B12AA80198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68585" y="3447616"/>
            <a:ext cx="433180" cy="433180"/>
          </a:xfrm>
          <a:prstGeom prst="rect">
            <a:avLst/>
          </a:prstGeom>
        </p:spPr>
      </p:pic>
      <p:pic>
        <p:nvPicPr>
          <p:cNvPr id="26" name="Graphic 25" descr="Female Profile with solid fill">
            <a:extLst>
              <a:ext uri="{FF2B5EF4-FFF2-40B4-BE49-F238E27FC236}">
                <a16:creationId xmlns:a16="http://schemas.microsoft.com/office/drawing/2014/main" id="{27B0874E-B175-5A67-BD6D-526AAAFE44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34767" y="3443492"/>
            <a:ext cx="433180" cy="433180"/>
          </a:xfrm>
          <a:prstGeom prst="rect">
            <a:avLst/>
          </a:prstGeom>
        </p:spPr>
      </p:pic>
      <p:pic>
        <p:nvPicPr>
          <p:cNvPr id="29" name="Graphic 28" descr="Male profile with solid fill">
            <a:extLst>
              <a:ext uri="{FF2B5EF4-FFF2-40B4-BE49-F238E27FC236}">
                <a16:creationId xmlns:a16="http://schemas.microsoft.com/office/drawing/2014/main" id="{4F1B7701-8135-B3FF-DFE4-303227FD66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74095" y="3492155"/>
            <a:ext cx="444563" cy="444563"/>
          </a:xfrm>
          <a:prstGeom prst="rect">
            <a:avLst/>
          </a:prstGeom>
        </p:spPr>
      </p:pic>
      <p:pic>
        <p:nvPicPr>
          <p:cNvPr id="30" name="Graphic 29" descr="Male profile with solid fill">
            <a:extLst>
              <a:ext uri="{FF2B5EF4-FFF2-40B4-BE49-F238E27FC236}">
                <a16:creationId xmlns:a16="http://schemas.microsoft.com/office/drawing/2014/main" id="{FCF467DF-C9F6-466A-401D-5E93EA824D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350" y="3492156"/>
            <a:ext cx="444563" cy="444563"/>
          </a:xfrm>
          <a:prstGeom prst="rect">
            <a:avLst/>
          </a:prstGeom>
        </p:spPr>
      </p:pic>
      <p:pic>
        <p:nvPicPr>
          <p:cNvPr id="31" name="Graphic 30" descr="Male profile with solid fill">
            <a:extLst>
              <a:ext uri="{FF2B5EF4-FFF2-40B4-BE49-F238E27FC236}">
                <a16:creationId xmlns:a16="http://schemas.microsoft.com/office/drawing/2014/main" id="{B0B4B922-188B-7BA3-45AC-06D36768FC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15393" y="3486376"/>
            <a:ext cx="444563" cy="444563"/>
          </a:xfrm>
          <a:prstGeom prst="rect">
            <a:avLst/>
          </a:prstGeom>
        </p:spPr>
      </p:pic>
      <p:pic>
        <p:nvPicPr>
          <p:cNvPr id="32" name="Graphic 31" descr="Male profile with solid fill">
            <a:extLst>
              <a:ext uri="{FF2B5EF4-FFF2-40B4-BE49-F238E27FC236}">
                <a16:creationId xmlns:a16="http://schemas.microsoft.com/office/drawing/2014/main" id="{5E6C57A6-4053-EDD7-F424-FC0704DC5F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2827" y="3481268"/>
            <a:ext cx="444563" cy="444563"/>
          </a:xfrm>
          <a:prstGeom prst="rect">
            <a:avLst/>
          </a:prstGeom>
        </p:spPr>
      </p:pic>
      <p:pic>
        <p:nvPicPr>
          <p:cNvPr id="33" name="Graphic 32" descr="Male profile with solid fill">
            <a:extLst>
              <a:ext uri="{FF2B5EF4-FFF2-40B4-BE49-F238E27FC236}">
                <a16:creationId xmlns:a16="http://schemas.microsoft.com/office/drawing/2014/main" id="{5CF576F7-EB48-0A5C-EF05-1CA1D6563B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30872" y="3482096"/>
            <a:ext cx="444563" cy="444563"/>
          </a:xfrm>
          <a:prstGeom prst="rect">
            <a:avLst/>
          </a:prstGeom>
        </p:spPr>
      </p:pic>
      <p:pic>
        <p:nvPicPr>
          <p:cNvPr id="34" name="Graphic 33" descr="Female Profile with solid fill">
            <a:extLst>
              <a:ext uri="{FF2B5EF4-FFF2-40B4-BE49-F238E27FC236}">
                <a16:creationId xmlns:a16="http://schemas.microsoft.com/office/drawing/2014/main" id="{E14FD748-D323-2B7B-AA9E-7EA28F75EB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32779" y="3486959"/>
            <a:ext cx="433180" cy="433180"/>
          </a:xfrm>
          <a:prstGeom prst="rect">
            <a:avLst/>
          </a:prstGeom>
        </p:spPr>
      </p:pic>
      <p:pic>
        <p:nvPicPr>
          <p:cNvPr id="35" name="Graphic 34" descr="Male profile with solid fill">
            <a:extLst>
              <a:ext uri="{FF2B5EF4-FFF2-40B4-BE49-F238E27FC236}">
                <a16:creationId xmlns:a16="http://schemas.microsoft.com/office/drawing/2014/main" id="{84D1D0EE-0839-7FC7-1BAC-042604A4C0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54472" y="3503039"/>
            <a:ext cx="444563" cy="444563"/>
          </a:xfrm>
          <a:prstGeom prst="rect">
            <a:avLst/>
          </a:prstGeom>
        </p:spPr>
      </p:pic>
      <p:pic>
        <p:nvPicPr>
          <p:cNvPr id="36" name="Graphic 35" descr="Male profile with solid fill">
            <a:extLst>
              <a:ext uri="{FF2B5EF4-FFF2-40B4-BE49-F238E27FC236}">
                <a16:creationId xmlns:a16="http://schemas.microsoft.com/office/drawing/2014/main" id="{B7F61E3C-3D2F-B5E3-8D84-B4F3B95902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65286" y="3517329"/>
            <a:ext cx="444563" cy="444563"/>
          </a:xfrm>
          <a:prstGeom prst="rect">
            <a:avLst/>
          </a:prstGeom>
        </p:spPr>
      </p:pic>
      <p:sp>
        <p:nvSpPr>
          <p:cNvPr id="37" name="Content Placeholder 2">
            <a:extLst>
              <a:ext uri="{FF2B5EF4-FFF2-40B4-BE49-F238E27FC236}">
                <a16:creationId xmlns:a16="http://schemas.microsoft.com/office/drawing/2014/main" id="{F4716561-5E2A-5B41-A665-BFEC428D723D}"/>
              </a:ext>
            </a:extLst>
          </p:cNvPr>
          <p:cNvSpPr txBox="1">
            <a:spLocks/>
          </p:cNvSpPr>
          <p:nvPr/>
        </p:nvSpPr>
        <p:spPr>
          <a:xfrm>
            <a:off x="544788" y="2839746"/>
            <a:ext cx="10972800" cy="420796"/>
          </a:xfrm>
          <a:prstGeom prst="rect">
            <a:avLst/>
          </a:prstGeom>
          <a:ln>
            <a:noFill/>
          </a:ln>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b="1" dirty="0">
                <a:solidFill>
                  <a:schemeClr val="accent1"/>
                </a:solidFill>
              </a:rPr>
              <a:t>A sample</a:t>
            </a:r>
            <a:r>
              <a:rPr lang="en-US" sz="2000" dirty="0"/>
              <a:t> from the high-school bench press distribution (kg):</a:t>
            </a:r>
          </a:p>
        </p:txBody>
      </p:sp>
      <p:pic>
        <p:nvPicPr>
          <p:cNvPr id="6" name="Picture 2">
            <a:extLst>
              <a:ext uri="{FF2B5EF4-FFF2-40B4-BE49-F238E27FC236}">
                <a16:creationId xmlns:a16="http://schemas.microsoft.com/office/drawing/2014/main" id="{9DB0F03F-6BFE-AF94-9AB3-FF07E0FF621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85788"/>
          <a:stretch>
            <a:fillRect/>
          </a:stretch>
        </p:blipFill>
        <p:spPr bwMode="auto">
          <a:xfrm>
            <a:off x="7063321" y="1634252"/>
            <a:ext cx="253931" cy="927813"/>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73867281-C19F-A880-DDF0-1BE92A8258FF}"/>
              </a:ext>
            </a:extLst>
          </p:cNvPr>
          <p:cNvCxnSpPr/>
          <p:nvPr/>
        </p:nvCxnSpPr>
        <p:spPr>
          <a:xfrm>
            <a:off x="7181625" y="2420471"/>
            <a:ext cx="0" cy="2368281"/>
          </a:xfrm>
          <a:prstGeom prst="line">
            <a:avLst/>
          </a:prstGeom>
          <a:ln w="38100"/>
        </p:spPr>
        <p:style>
          <a:lnRef idx="1">
            <a:schemeClr val="accent3"/>
          </a:lnRef>
          <a:fillRef idx="0">
            <a:schemeClr val="accent3"/>
          </a:fillRef>
          <a:effectRef idx="0">
            <a:schemeClr val="accent3"/>
          </a:effectRef>
          <a:fontRef idx="minor">
            <a:schemeClr val="tx1"/>
          </a:fontRef>
        </p:style>
      </p:cxnSp>
      <p:pic>
        <p:nvPicPr>
          <p:cNvPr id="43010" name="Picture 2">
            <a:extLst>
              <a:ext uri="{FF2B5EF4-FFF2-40B4-BE49-F238E27FC236}">
                <a16:creationId xmlns:a16="http://schemas.microsoft.com/office/drawing/2014/main" id="{C8301E80-44DF-19A4-85DF-B2FACFFA61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9091" y="1624436"/>
            <a:ext cx="1881399" cy="927813"/>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BEE7793D-2694-FDA6-B3B5-46A31501D902}"/>
              </a:ext>
            </a:extLst>
          </p:cNvPr>
          <p:cNvCxnSpPr/>
          <p:nvPr/>
        </p:nvCxnSpPr>
        <p:spPr>
          <a:xfrm>
            <a:off x="4504730" y="2413318"/>
            <a:ext cx="0" cy="236828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88C80BF-E322-CAA2-E708-FB1D461BE794}"/>
              </a:ext>
            </a:extLst>
          </p:cNvPr>
          <p:cNvCxnSpPr/>
          <p:nvPr/>
        </p:nvCxnSpPr>
        <p:spPr>
          <a:xfrm>
            <a:off x="7462827" y="2420932"/>
            <a:ext cx="0" cy="2368281"/>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628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B6D9E-A92D-DC8A-4BC0-966518E3C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E6A14-2391-0A23-DD94-41E021886187}"/>
              </a:ext>
            </a:extLst>
          </p:cNvPr>
          <p:cNvSpPr>
            <a:spLocks noGrp="1"/>
          </p:cNvSpPr>
          <p:nvPr>
            <p:ph type="title"/>
          </p:nvPr>
        </p:nvSpPr>
        <p:spPr/>
        <p:txBody>
          <a:bodyPr/>
          <a:lstStyle/>
          <a:p>
            <a:r>
              <a:rPr lang="en-US" sz="4400" dirty="0"/>
              <a:t>Measures of central tendency</a:t>
            </a:r>
            <a:endParaRPr lang="en-US" dirty="0"/>
          </a:p>
        </p:txBody>
      </p:sp>
      <p:sp>
        <p:nvSpPr>
          <p:cNvPr id="5" name="Content Placeholder 2">
            <a:extLst>
              <a:ext uri="{FF2B5EF4-FFF2-40B4-BE49-F238E27FC236}">
                <a16:creationId xmlns:a16="http://schemas.microsoft.com/office/drawing/2014/main" id="{C4B1EB0C-6DBA-25A2-FCAC-85464D99ADD5}"/>
              </a:ext>
            </a:extLst>
          </p:cNvPr>
          <p:cNvSpPr txBox="1">
            <a:spLocks/>
          </p:cNvSpPr>
          <p:nvPr/>
        </p:nvSpPr>
        <p:spPr>
          <a:xfrm>
            <a:off x="544788" y="1227337"/>
            <a:ext cx="11037612"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Median: sort all values and pick the one which splits data into two equal parts.</a:t>
            </a:r>
          </a:p>
        </p:txBody>
      </p:sp>
      <p:cxnSp>
        <p:nvCxnSpPr>
          <p:cNvPr id="14" name="Straight Connector 13">
            <a:extLst>
              <a:ext uri="{FF2B5EF4-FFF2-40B4-BE49-F238E27FC236}">
                <a16:creationId xmlns:a16="http://schemas.microsoft.com/office/drawing/2014/main" id="{7D496C3E-A507-D86B-8A5C-F9CF73D6E4B3}"/>
              </a:ext>
            </a:extLst>
          </p:cNvPr>
          <p:cNvCxnSpPr>
            <a:cxnSpLocks/>
          </p:cNvCxnSpPr>
          <p:nvPr/>
        </p:nvCxnSpPr>
        <p:spPr>
          <a:xfrm>
            <a:off x="609600" y="4727722"/>
            <a:ext cx="11102413" cy="0"/>
          </a:xfrm>
          <a:prstGeom prst="line">
            <a:avLst/>
          </a:prstGeom>
          <a:ln>
            <a:solidFill>
              <a:schemeClr val="accent1">
                <a:lumMod val="40000"/>
                <a:lumOff val="60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20" name="Graphic 19" descr="Female Profile with solid fill">
            <a:extLst>
              <a:ext uri="{FF2B5EF4-FFF2-40B4-BE49-F238E27FC236}">
                <a16:creationId xmlns:a16="http://schemas.microsoft.com/office/drawing/2014/main" id="{C1A3DED9-ADA5-1089-D4AF-0F1195BE044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9600" y="4154593"/>
            <a:ext cx="433180" cy="433180"/>
          </a:xfrm>
          <a:prstGeom prst="rect">
            <a:avLst/>
          </a:prstGeom>
        </p:spPr>
      </p:pic>
      <p:pic>
        <p:nvPicPr>
          <p:cNvPr id="21" name="Graphic 20" descr="Female Profile with solid fill">
            <a:extLst>
              <a:ext uri="{FF2B5EF4-FFF2-40B4-BE49-F238E27FC236}">
                <a16:creationId xmlns:a16="http://schemas.microsoft.com/office/drawing/2014/main" id="{9A64AE06-C56F-5DFE-C633-5E9B227CDD4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00837" y="4175722"/>
            <a:ext cx="433180" cy="433180"/>
          </a:xfrm>
          <a:prstGeom prst="rect">
            <a:avLst/>
          </a:prstGeom>
        </p:spPr>
      </p:pic>
      <p:pic>
        <p:nvPicPr>
          <p:cNvPr id="22" name="Graphic 21" descr="Female Profile with solid fill">
            <a:extLst>
              <a:ext uri="{FF2B5EF4-FFF2-40B4-BE49-F238E27FC236}">
                <a16:creationId xmlns:a16="http://schemas.microsoft.com/office/drawing/2014/main" id="{0D857B2E-8D72-4A74-E57C-BA1F1BF8080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14142" y="4173209"/>
            <a:ext cx="433180" cy="433180"/>
          </a:xfrm>
          <a:prstGeom prst="rect">
            <a:avLst/>
          </a:prstGeom>
        </p:spPr>
      </p:pic>
      <p:pic>
        <p:nvPicPr>
          <p:cNvPr id="23" name="Graphic 22" descr="Female Profile with solid fill">
            <a:extLst>
              <a:ext uri="{FF2B5EF4-FFF2-40B4-BE49-F238E27FC236}">
                <a16:creationId xmlns:a16="http://schemas.microsoft.com/office/drawing/2014/main" id="{1922C201-76CC-92E8-6C54-D68C4BA9CC6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37509" y="4173209"/>
            <a:ext cx="433180" cy="433180"/>
          </a:xfrm>
          <a:prstGeom prst="rect">
            <a:avLst/>
          </a:prstGeom>
        </p:spPr>
      </p:pic>
      <p:pic>
        <p:nvPicPr>
          <p:cNvPr id="24" name="Graphic 23" descr="Female Profile with solid fill">
            <a:extLst>
              <a:ext uri="{FF2B5EF4-FFF2-40B4-BE49-F238E27FC236}">
                <a16:creationId xmlns:a16="http://schemas.microsoft.com/office/drawing/2014/main" id="{598397A6-84EC-D7E8-9743-1A7A9783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72633" y="4173209"/>
            <a:ext cx="433180" cy="433180"/>
          </a:xfrm>
          <a:prstGeom prst="rect">
            <a:avLst/>
          </a:prstGeom>
        </p:spPr>
      </p:pic>
      <p:pic>
        <p:nvPicPr>
          <p:cNvPr id="25" name="Graphic 24" descr="Female Profile with solid fill">
            <a:extLst>
              <a:ext uri="{FF2B5EF4-FFF2-40B4-BE49-F238E27FC236}">
                <a16:creationId xmlns:a16="http://schemas.microsoft.com/office/drawing/2014/main" id="{F34D552F-1CE4-675E-28C2-5610BC1CD8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68585" y="4173209"/>
            <a:ext cx="433180" cy="433180"/>
          </a:xfrm>
          <a:prstGeom prst="rect">
            <a:avLst/>
          </a:prstGeom>
        </p:spPr>
      </p:pic>
      <p:pic>
        <p:nvPicPr>
          <p:cNvPr id="26" name="Graphic 25" descr="Female Profile with solid fill">
            <a:extLst>
              <a:ext uri="{FF2B5EF4-FFF2-40B4-BE49-F238E27FC236}">
                <a16:creationId xmlns:a16="http://schemas.microsoft.com/office/drawing/2014/main" id="{2B3795C7-406D-3CC8-5B23-29646CF651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34767" y="4169085"/>
            <a:ext cx="433180" cy="433180"/>
          </a:xfrm>
          <a:prstGeom prst="rect">
            <a:avLst/>
          </a:prstGeom>
        </p:spPr>
      </p:pic>
      <p:pic>
        <p:nvPicPr>
          <p:cNvPr id="29" name="Graphic 28" descr="Male profile with solid fill">
            <a:extLst>
              <a:ext uri="{FF2B5EF4-FFF2-40B4-BE49-F238E27FC236}">
                <a16:creationId xmlns:a16="http://schemas.microsoft.com/office/drawing/2014/main" id="{50D5954B-5F03-D5D7-248E-48F3DC4004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74095" y="4217748"/>
            <a:ext cx="444563" cy="444563"/>
          </a:xfrm>
          <a:prstGeom prst="rect">
            <a:avLst/>
          </a:prstGeom>
        </p:spPr>
      </p:pic>
      <p:pic>
        <p:nvPicPr>
          <p:cNvPr id="30" name="Graphic 29" descr="Male profile with solid fill">
            <a:extLst>
              <a:ext uri="{FF2B5EF4-FFF2-40B4-BE49-F238E27FC236}">
                <a16:creationId xmlns:a16="http://schemas.microsoft.com/office/drawing/2014/main" id="{96B927A7-E24D-21BA-8F4D-7B235D2299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350" y="4217749"/>
            <a:ext cx="444563" cy="444563"/>
          </a:xfrm>
          <a:prstGeom prst="rect">
            <a:avLst/>
          </a:prstGeom>
        </p:spPr>
      </p:pic>
      <p:pic>
        <p:nvPicPr>
          <p:cNvPr id="31" name="Graphic 30" descr="Male profile with solid fill">
            <a:extLst>
              <a:ext uri="{FF2B5EF4-FFF2-40B4-BE49-F238E27FC236}">
                <a16:creationId xmlns:a16="http://schemas.microsoft.com/office/drawing/2014/main" id="{1B129A1B-1FCB-9414-4B7C-EF1C585642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15393" y="4211969"/>
            <a:ext cx="444563" cy="444563"/>
          </a:xfrm>
          <a:prstGeom prst="rect">
            <a:avLst/>
          </a:prstGeom>
        </p:spPr>
      </p:pic>
      <p:pic>
        <p:nvPicPr>
          <p:cNvPr id="32" name="Graphic 31" descr="Male profile with solid fill">
            <a:extLst>
              <a:ext uri="{FF2B5EF4-FFF2-40B4-BE49-F238E27FC236}">
                <a16:creationId xmlns:a16="http://schemas.microsoft.com/office/drawing/2014/main" id="{BAF77467-4F32-8D76-4A58-3C5B1A79C5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62827" y="4206861"/>
            <a:ext cx="444563" cy="444563"/>
          </a:xfrm>
          <a:prstGeom prst="rect">
            <a:avLst/>
          </a:prstGeom>
        </p:spPr>
      </p:pic>
      <p:pic>
        <p:nvPicPr>
          <p:cNvPr id="33" name="Graphic 32" descr="Male profile with solid fill">
            <a:extLst>
              <a:ext uri="{FF2B5EF4-FFF2-40B4-BE49-F238E27FC236}">
                <a16:creationId xmlns:a16="http://schemas.microsoft.com/office/drawing/2014/main" id="{7D19623E-2B8F-964E-21F2-580C383A95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30872" y="4207689"/>
            <a:ext cx="444563" cy="444563"/>
          </a:xfrm>
          <a:prstGeom prst="rect">
            <a:avLst/>
          </a:prstGeom>
        </p:spPr>
      </p:pic>
      <p:pic>
        <p:nvPicPr>
          <p:cNvPr id="34" name="Graphic 33" descr="Female Profile with solid fill">
            <a:extLst>
              <a:ext uri="{FF2B5EF4-FFF2-40B4-BE49-F238E27FC236}">
                <a16:creationId xmlns:a16="http://schemas.microsoft.com/office/drawing/2014/main" id="{13BA568A-BDE8-5278-994F-3F3C6A3E47D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32779" y="4212552"/>
            <a:ext cx="433180" cy="433180"/>
          </a:xfrm>
          <a:prstGeom prst="rect">
            <a:avLst/>
          </a:prstGeom>
        </p:spPr>
      </p:pic>
      <p:pic>
        <p:nvPicPr>
          <p:cNvPr id="35" name="Graphic 34" descr="Male profile with solid fill">
            <a:extLst>
              <a:ext uri="{FF2B5EF4-FFF2-40B4-BE49-F238E27FC236}">
                <a16:creationId xmlns:a16="http://schemas.microsoft.com/office/drawing/2014/main" id="{375641C8-D333-DA3C-2BBA-2956624F82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54472" y="4228632"/>
            <a:ext cx="444563" cy="444563"/>
          </a:xfrm>
          <a:prstGeom prst="rect">
            <a:avLst/>
          </a:prstGeom>
        </p:spPr>
      </p:pic>
      <p:pic>
        <p:nvPicPr>
          <p:cNvPr id="36" name="Graphic 35" descr="Male profile with solid fill">
            <a:extLst>
              <a:ext uri="{FF2B5EF4-FFF2-40B4-BE49-F238E27FC236}">
                <a16:creationId xmlns:a16="http://schemas.microsoft.com/office/drawing/2014/main" id="{6D2A872B-DEAC-B763-C549-257E824959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65286" y="4242922"/>
            <a:ext cx="444563" cy="444563"/>
          </a:xfrm>
          <a:prstGeom prst="rect">
            <a:avLst/>
          </a:prstGeom>
        </p:spPr>
      </p:pic>
      <p:pic>
        <p:nvPicPr>
          <p:cNvPr id="6" name="Picture 2">
            <a:extLst>
              <a:ext uri="{FF2B5EF4-FFF2-40B4-BE49-F238E27FC236}">
                <a16:creationId xmlns:a16="http://schemas.microsoft.com/office/drawing/2014/main" id="{A733FF9A-053B-0569-B7D3-BA4A74E7E0B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85788"/>
          <a:stretch>
            <a:fillRect/>
          </a:stretch>
        </p:blipFill>
        <p:spPr bwMode="auto">
          <a:xfrm>
            <a:off x="7066154" y="2288941"/>
            <a:ext cx="253931" cy="927813"/>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1372ECD2-9E89-5D0C-C0C5-F1F65D21B46A}"/>
              </a:ext>
            </a:extLst>
          </p:cNvPr>
          <p:cNvCxnSpPr/>
          <p:nvPr/>
        </p:nvCxnSpPr>
        <p:spPr>
          <a:xfrm>
            <a:off x="7188434" y="3058781"/>
            <a:ext cx="0" cy="2368281"/>
          </a:xfrm>
          <a:prstGeom prst="line">
            <a:avLst/>
          </a:prstGeom>
          <a:ln w="38100"/>
        </p:spPr>
        <p:style>
          <a:lnRef idx="1">
            <a:schemeClr val="accent3"/>
          </a:lnRef>
          <a:fillRef idx="0">
            <a:schemeClr val="accent3"/>
          </a:fillRef>
          <a:effectRef idx="0">
            <a:schemeClr val="accent3"/>
          </a:effectRef>
          <a:fontRef idx="minor">
            <a:schemeClr val="tx1"/>
          </a:fontRef>
        </p:style>
      </p:cxnSp>
      <p:pic>
        <p:nvPicPr>
          <p:cNvPr id="45058" name="Picture 2">
            <a:extLst>
              <a:ext uri="{FF2B5EF4-FFF2-40B4-BE49-F238E27FC236}">
                <a16:creationId xmlns:a16="http://schemas.microsoft.com/office/drawing/2014/main" id="{FB7E056F-A7DB-B15C-5ED1-8DEDD4E479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6375" y="1655286"/>
            <a:ext cx="2535283" cy="251214"/>
          </a:xfrm>
          <a:prstGeom prst="rect">
            <a:avLst/>
          </a:prstGeom>
          <a:noFill/>
          <a:extLst>
            <a:ext uri="{909E8E84-426E-40DD-AFC4-6F175D3DCCD1}">
              <a14:hiddenFill xmlns:a14="http://schemas.microsoft.com/office/drawing/2010/main">
                <a:solidFill>
                  <a:srgbClr val="FFFFFF"/>
                </a:solidFill>
              </a14:hiddenFill>
            </a:ext>
          </a:extLst>
        </p:spPr>
      </p:pic>
      <p:pic>
        <p:nvPicPr>
          <p:cNvPr id="45060" name="Picture 4">
            <a:extLst>
              <a:ext uri="{FF2B5EF4-FFF2-40B4-BE49-F238E27FC236}">
                <a16:creationId xmlns:a16="http://schemas.microsoft.com/office/drawing/2014/main" id="{2E23DB0A-D479-50C0-3B78-EDC867C898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9113" y="2183056"/>
            <a:ext cx="1472121" cy="285438"/>
          </a:xfrm>
          <a:prstGeom prst="rect">
            <a:avLst/>
          </a:prstGeom>
          <a:noFill/>
          <a:extLst>
            <a:ext uri="{909E8E84-426E-40DD-AFC4-6F175D3DCCD1}">
              <a14:hiddenFill xmlns:a14="http://schemas.microsoft.com/office/drawing/2010/main">
                <a:solidFill>
                  <a:srgbClr val="FFFFFF"/>
                </a:solidFill>
              </a14:hiddenFill>
            </a:ext>
          </a:extLst>
        </p:spPr>
      </p:pic>
      <p:pic>
        <p:nvPicPr>
          <p:cNvPr id="45062" name="Picture 6">
            <a:extLst>
              <a:ext uri="{FF2B5EF4-FFF2-40B4-BE49-F238E27FC236}">
                <a16:creationId xmlns:a16="http://schemas.microsoft.com/office/drawing/2014/main" id="{B229BCB5-D8AA-AE0D-0786-372A61735B5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6165" y="2601583"/>
            <a:ext cx="2588104" cy="428318"/>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4CB2A441-18BB-709D-204E-48DEA4983C13}"/>
              </a:ext>
            </a:extLst>
          </p:cNvPr>
          <p:cNvSpPr txBox="1">
            <a:spLocks/>
          </p:cNvSpPr>
          <p:nvPr/>
        </p:nvSpPr>
        <p:spPr>
          <a:xfrm>
            <a:off x="906391" y="2115377"/>
            <a:ext cx="1046941"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Odd n:</a:t>
            </a:r>
          </a:p>
        </p:txBody>
      </p:sp>
      <p:sp>
        <p:nvSpPr>
          <p:cNvPr id="7" name="Content Placeholder 2">
            <a:extLst>
              <a:ext uri="{FF2B5EF4-FFF2-40B4-BE49-F238E27FC236}">
                <a16:creationId xmlns:a16="http://schemas.microsoft.com/office/drawing/2014/main" id="{0930D35B-12CF-E6AB-277E-BD64BA8B803A}"/>
              </a:ext>
            </a:extLst>
          </p:cNvPr>
          <p:cNvSpPr txBox="1">
            <a:spLocks/>
          </p:cNvSpPr>
          <p:nvPr/>
        </p:nvSpPr>
        <p:spPr>
          <a:xfrm>
            <a:off x="906391" y="2654993"/>
            <a:ext cx="1046941"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Even n:</a:t>
            </a:r>
          </a:p>
        </p:txBody>
      </p:sp>
      <p:graphicFrame>
        <p:nvGraphicFramePr>
          <p:cNvPr id="10" name="Table 9">
            <a:extLst>
              <a:ext uri="{FF2B5EF4-FFF2-40B4-BE49-F238E27FC236}">
                <a16:creationId xmlns:a16="http://schemas.microsoft.com/office/drawing/2014/main" id="{A453D9C9-2E00-130C-6F59-F65EBEE957FE}"/>
              </a:ext>
            </a:extLst>
          </p:cNvPr>
          <p:cNvGraphicFramePr>
            <a:graphicFrameLocks noGrp="1"/>
          </p:cNvGraphicFramePr>
          <p:nvPr/>
        </p:nvGraphicFramePr>
        <p:xfrm>
          <a:off x="544798" y="4789361"/>
          <a:ext cx="10972790" cy="192405"/>
        </p:xfrm>
        <a:graphic>
          <a:graphicData uri="http://schemas.openxmlformats.org/drawingml/2006/table">
            <a:tbl>
              <a:tblPr>
                <a:tableStyleId>{5C22544A-7EE6-4342-B048-85BDC9FD1C3A}</a:tableStyleId>
              </a:tblPr>
              <a:tblGrid>
                <a:gridCol w="261202">
                  <a:extLst>
                    <a:ext uri="{9D8B030D-6E8A-4147-A177-3AD203B41FA5}">
                      <a16:colId xmlns:a16="http://schemas.microsoft.com/office/drawing/2014/main" val="2112383504"/>
                    </a:ext>
                  </a:extLst>
                </a:gridCol>
                <a:gridCol w="301334">
                  <a:extLst>
                    <a:ext uri="{9D8B030D-6E8A-4147-A177-3AD203B41FA5}">
                      <a16:colId xmlns:a16="http://schemas.microsoft.com/office/drawing/2014/main" val="3866655891"/>
                    </a:ext>
                  </a:extLst>
                </a:gridCol>
                <a:gridCol w="301334">
                  <a:extLst>
                    <a:ext uri="{9D8B030D-6E8A-4147-A177-3AD203B41FA5}">
                      <a16:colId xmlns:a16="http://schemas.microsoft.com/office/drawing/2014/main" val="992048752"/>
                    </a:ext>
                  </a:extLst>
                </a:gridCol>
                <a:gridCol w="301334">
                  <a:extLst>
                    <a:ext uri="{9D8B030D-6E8A-4147-A177-3AD203B41FA5}">
                      <a16:colId xmlns:a16="http://schemas.microsoft.com/office/drawing/2014/main" val="3273464670"/>
                    </a:ext>
                  </a:extLst>
                </a:gridCol>
                <a:gridCol w="301334">
                  <a:extLst>
                    <a:ext uri="{9D8B030D-6E8A-4147-A177-3AD203B41FA5}">
                      <a16:colId xmlns:a16="http://schemas.microsoft.com/office/drawing/2014/main" val="2211268083"/>
                    </a:ext>
                  </a:extLst>
                </a:gridCol>
                <a:gridCol w="301334">
                  <a:extLst>
                    <a:ext uri="{9D8B030D-6E8A-4147-A177-3AD203B41FA5}">
                      <a16:colId xmlns:a16="http://schemas.microsoft.com/office/drawing/2014/main" val="306927346"/>
                    </a:ext>
                  </a:extLst>
                </a:gridCol>
                <a:gridCol w="301334">
                  <a:extLst>
                    <a:ext uri="{9D8B030D-6E8A-4147-A177-3AD203B41FA5}">
                      <a16:colId xmlns:a16="http://schemas.microsoft.com/office/drawing/2014/main" val="3812172840"/>
                    </a:ext>
                  </a:extLst>
                </a:gridCol>
                <a:gridCol w="301334">
                  <a:extLst>
                    <a:ext uri="{9D8B030D-6E8A-4147-A177-3AD203B41FA5}">
                      <a16:colId xmlns:a16="http://schemas.microsoft.com/office/drawing/2014/main" val="1991276016"/>
                    </a:ext>
                  </a:extLst>
                </a:gridCol>
                <a:gridCol w="301334">
                  <a:extLst>
                    <a:ext uri="{9D8B030D-6E8A-4147-A177-3AD203B41FA5}">
                      <a16:colId xmlns:a16="http://schemas.microsoft.com/office/drawing/2014/main" val="2694655276"/>
                    </a:ext>
                  </a:extLst>
                </a:gridCol>
                <a:gridCol w="301334">
                  <a:extLst>
                    <a:ext uri="{9D8B030D-6E8A-4147-A177-3AD203B41FA5}">
                      <a16:colId xmlns:a16="http://schemas.microsoft.com/office/drawing/2014/main" val="35194619"/>
                    </a:ext>
                  </a:extLst>
                </a:gridCol>
                <a:gridCol w="301334">
                  <a:extLst>
                    <a:ext uri="{9D8B030D-6E8A-4147-A177-3AD203B41FA5}">
                      <a16:colId xmlns:a16="http://schemas.microsoft.com/office/drawing/2014/main" val="391543518"/>
                    </a:ext>
                  </a:extLst>
                </a:gridCol>
                <a:gridCol w="301334">
                  <a:extLst>
                    <a:ext uri="{9D8B030D-6E8A-4147-A177-3AD203B41FA5}">
                      <a16:colId xmlns:a16="http://schemas.microsoft.com/office/drawing/2014/main" val="3012374910"/>
                    </a:ext>
                  </a:extLst>
                </a:gridCol>
                <a:gridCol w="301334">
                  <a:extLst>
                    <a:ext uri="{9D8B030D-6E8A-4147-A177-3AD203B41FA5}">
                      <a16:colId xmlns:a16="http://schemas.microsoft.com/office/drawing/2014/main" val="264571868"/>
                    </a:ext>
                  </a:extLst>
                </a:gridCol>
                <a:gridCol w="301334">
                  <a:extLst>
                    <a:ext uri="{9D8B030D-6E8A-4147-A177-3AD203B41FA5}">
                      <a16:colId xmlns:a16="http://schemas.microsoft.com/office/drawing/2014/main" val="955528670"/>
                    </a:ext>
                  </a:extLst>
                </a:gridCol>
                <a:gridCol w="301334">
                  <a:extLst>
                    <a:ext uri="{9D8B030D-6E8A-4147-A177-3AD203B41FA5}">
                      <a16:colId xmlns:a16="http://schemas.microsoft.com/office/drawing/2014/main" val="132902476"/>
                    </a:ext>
                  </a:extLst>
                </a:gridCol>
                <a:gridCol w="301334">
                  <a:extLst>
                    <a:ext uri="{9D8B030D-6E8A-4147-A177-3AD203B41FA5}">
                      <a16:colId xmlns:a16="http://schemas.microsoft.com/office/drawing/2014/main" val="2955705816"/>
                    </a:ext>
                  </a:extLst>
                </a:gridCol>
                <a:gridCol w="301334">
                  <a:extLst>
                    <a:ext uri="{9D8B030D-6E8A-4147-A177-3AD203B41FA5}">
                      <a16:colId xmlns:a16="http://schemas.microsoft.com/office/drawing/2014/main" val="2413265556"/>
                    </a:ext>
                  </a:extLst>
                </a:gridCol>
                <a:gridCol w="301334">
                  <a:extLst>
                    <a:ext uri="{9D8B030D-6E8A-4147-A177-3AD203B41FA5}">
                      <a16:colId xmlns:a16="http://schemas.microsoft.com/office/drawing/2014/main" val="4027003227"/>
                    </a:ext>
                  </a:extLst>
                </a:gridCol>
                <a:gridCol w="301334">
                  <a:extLst>
                    <a:ext uri="{9D8B030D-6E8A-4147-A177-3AD203B41FA5}">
                      <a16:colId xmlns:a16="http://schemas.microsoft.com/office/drawing/2014/main" val="1783032949"/>
                    </a:ext>
                  </a:extLst>
                </a:gridCol>
                <a:gridCol w="301334">
                  <a:extLst>
                    <a:ext uri="{9D8B030D-6E8A-4147-A177-3AD203B41FA5}">
                      <a16:colId xmlns:a16="http://schemas.microsoft.com/office/drawing/2014/main" val="3398326629"/>
                    </a:ext>
                  </a:extLst>
                </a:gridCol>
                <a:gridCol w="301334">
                  <a:extLst>
                    <a:ext uri="{9D8B030D-6E8A-4147-A177-3AD203B41FA5}">
                      <a16:colId xmlns:a16="http://schemas.microsoft.com/office/drawing/2014/main" val="2284819630"/>
                    </a:ext>
                  </a:extLst>
                </a:gridCol>
                <a:gridCol w="301334">
                  <a:extLst>
                    <a:ext uri="{9D8B030D-6E8A-4147-A177-3AD203B41FA5}">
                      <a16:colId xmlns:a16="http://schemas.microsoft.com/office/drawing/2014/main" val="4195910540"/>
                    </a:ext>
                  </a:extLst>
                </a:gridCol>
                <a:gridCol w="301334">
                  <a:extLst>
                    <a:ext uri="{9D8B030D-6E8A-4147-A177-3AD203B41FA5}">
                      <a16:colId xmlns:a16="http://schemas.microsoft.com/office/drawing/2014/main" val="3959699492"/>
                    </a:ext>
                  </a:extLst>
                </a:gridCol>
                <a:gridCol w="301334">
                  <a:extLst>
                    <a:ext uri="{9D8B030D-6E8A-4147-A177-3AD203B41FA5}">
                      <a16:colId xmlns:a16="http://schemas.microsoft.com/office/drawing/2014/main" val="1073429929"/>
                    </a:ext>
                  </a:extLst>
                </a:gridCol>
                <a:gridCol w="301334">
                  <a:extLst>
                    <a:ext uri="{9D8B030D-6E8A-4147-A177-3AD203B41FA5}">
                      <a16:colId xmlns:a16="http://schemas.microsoft.com/office/drawing/2014/main" val="1930910466"/>
                    </a:ext>
                  </a:extLst>
                </a:gridCol>
                <a:gridCol w="301334">
                  <a:extLst>
                    <a:ext uri="{9D8B030D-6E8A-4147-A177-3AD203B41FA5}">
                      <a16:colId xmlns:a16="http://schemas.microsoft.com/office/drawing/2014/main" val="2710696277"/>
                    </a:ext>
                  </a:extLst>
                </a:gridCol>
                <a:gridCol w="301334">
                  <a:extLst>
                    <a:ext uri="{9D8B030D-6E8A-4147-A177-3AD203B41FA5}">
                      <a16:colId xmlns:a16="http://schemas.microsoft.com/office/drawing/2014/main" val="4078151139"/>
                    </a:ext>
                  </a:extLst>
                </a:gridCol>
                <a:gridCol w="301334">
                  <a:extLst>
                    <a:ext uri="{9D8B030D-6E8A-4147-A177-3AD203B41FA5}">
                      <a16:colId xmlns:a16="http://schemas.microsoft.com/office/drawing/2014/main" val="4071817021"/>
                    </a:ext>
                  </a:extLst>
                </a:gridCol>
                <a:gridCol w="301334">
                  <a:extLst>
                    <a:ext uri="{9D8B030D-6E8A-4147-A177-3AD203B41FA5}">
                      <a16:colId xmlns:a16="http://schemas.microsoft.com/office/drawing/2014/main" val="334609205"/>
                    </a:ext>
                  </a:extLst>
                </a:gridCol>
                <a:gridCol w="301334">
                  <a:extLst>
                    <a:ext uri="{9D8B030D-6E8A-4147-A177-3AD203B41FA5}">
                      <a16:colId xmlns:a16="http://schemas.microsoft.com/office/drawing/2014/main" val="3400151758"/>
                    </a:ext>
                  </a:extLst>
                </a:gridCol>
                <a:gridCol w="301334">
                  <a:extLst>
                    <a:ext uri="{9D8B030D-6E8A-4147-A177-3AD203B41FA5}">
                      <a16:colId xmlns:a16="http://schemas.microsoft.com/office/drawing/2014/main" val="1689673636"/>
                    </a:ext>
                  </a:extLst>
                </a:gridCol>
                <a:gridCol w="301334">
                  <a:extLst>
                    <a:ext uri="{9D8B030D-6E8A-4147-A177-3AD203B41FA5}">
                      <a16:colId xmlns:a16="http://schemas.microsoft.com/office/drawing/2014/main" val="1584454777"/>
                    </a:ext>
                  </a:extLst>
                </a:gridCol>
                <a:gridCol w="301334">
                  <a:extLst>
                    <a:ext uri="{9D8B030D-6E8A-4147-A177-3AD203B41FA5}">
                      <a16:colId xmlns:a16="http://schemas.microsoft.com/office/drawing/2014/main" val="1425856778"/>
                    </a:ext>
                  </a:extLst>
                </a:gridCol>
                <a:gridCol w="301334">
                  <a:extLst>
                    <a:ext uri="{9D8B030D-6E8A-4147-A177-3AD203B41FA5}">
                      <a16:colId xmlns:a16="http://schemas.microsoft.com/office/drawing/2014/main" val="2153097649"/>
                    </a:ext>
                  </a:extLst>
                </a:gridCol>
                <a:gridCol w="348025">
                  <a:extLst>
                    <a:ext uri="{9D8B030D-6E8A-4147-A177-3AD203B41FA5}">
                      <a16:colId xmlns:a16="http://schemas.microsoft.com/office/drawing/2014/main" val="2995553791"/>
                    </a:ext>
                  </a:extLst>
                </a:gridCol>
                <a:gridCol w="419541">
                  <a:extLst>
                    <a:ext uri="{9D8B030D-6E8A-4147-A177-3AD203B41FA5}">
                      <a16:colId xmlns:a16="http://schemas.microsoft.com/office/drawing/2014/main" val="3698766726"/>
                    </a:ext>
                  </a:extLst>
                </a:gridCol>
              </a:tblGrid>
              <a:tr h="44059">
                <a:tc>
                  <a:txBody>
                    <a:bodyPr/>
                    <a:lstStyle/>
                    <a:p>
                      <a:pPr algn="r" fontAlgn="b">
                        <a:buNone/>
                      </a:pPr>
                      <a:r>
                        <a:rPr lang="en-US" sz="1200" b="1" i="0" u="none" strike="noStrike" dirty="0">
                          <a:solidFill>
                            <a:schemeClr val="tx2"/>
                          </a:solidFill>
                          <a:effectLst/>
                          <a:latin typeface="Aptos Narrow" panose="020B0004020202020204" pitchFamily="34" charset="0"/>
                        </a:rPr>
                        <a:t>60</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61</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62</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63</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64</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65</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66</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67</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68</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69</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70</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71</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72</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73</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74</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75</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76</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77</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78</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79</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80</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81</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82</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83</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84</a:t>
                      </a:r>
                    </a:p>
                  </a:txBody>
                  <a:tcPr marL="9525" marR="9525" marT="9525" marB="0" anchor="b">
                    <a:noFill/>
                  </a:tcPr>
                </a:tc>
                <a:tc>
                  <a:txBody>
                    <a:bodyPr/>
                    <a:lstStyle/>
                    <a:p>
                      <a:pPr algn="r" fontAlgn="b">
                        <a:buNone/>
                      </a:pPr>
                      <a:r>
                        <a:rPr lang="en-US" sz="1200" b="0" i="0" u="none" strike="noStrike">
                          <a:solidFill>
                            <a:srgbClr val="000000"/>
                          </a:solidFill>
                          <a:effectLst/>
                          <a:latin typeface="Aptos Narrow" panose="020B0004020202020204" pitchFamily="34" charset="0"/>
                        </a:rPr>
                        <a:t>85</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86</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87</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a:t>
                      </a:r>
                    </a:p>
                  </a:txBody>
                  <a:tcPr marL="9525" marR="9525" marT="9525" marB="0" anchor="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118</a:t>
                      </a:r>
                    </a:p>
                  </a:txBody>
                  <a:tcPr marL="9525" marR="9525" marT="9525" marB="0" anchor="b">
                    <a:noFill/>
                  </a:tcPr>
                </a:tc>
                <a:tc>
                  <a:txBody>
                    <a:bodyPr/>
                    <a:lstStyle/>
                    <a:p>
                      <a:pPr algn="r" fontAlgn="b">
                        <a:buNone/>
                      </a:pPr>
                      <a:r>
                        <a:rPr lang="en-US" sz="1200" b="0" i="0" u="none" strike="noStrike" dirty="0">
                          <a:solidFill>
                            <a:schemeClr val="tx1"/>
                          </a:solidFill>
                          <a:effectLst/>
                          <a:latin typeface="Aptos Narrow" panose="020B0004020202020204" pitchFamily="34" charset="0"/>
                        </a:rPr>
                        <a:t>119</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120</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121</a:t>
                      </a:r>
                    </a:p>
                  </a:txBody>
                  <a:tcPr marL="9525" marR="9525" marT="9525" marB="0" anchor="b">
                    <a:noFill/>
                  </a:tcPr>
                </a:tc>
                <a:tc>
                  <a:txBody>
                    <a:bodyPr/>
                    <a:lstStyle/>
                    <a:p>
                      <a:pPr algn="r" fontAlgn="b">
                        <a:buNone/>
                      </a:pPr>
                      <a:r>
                        <a:rPr lang="en-US" sz="1200" b="1" i="0" u="none" strike="noStrike" dirty="0">
                          <a:solidFill>
                            <a:schemeClr val="tx2"/>
                          </a:solidFill>
                          <a:effectLst/>
                          <a:latin typeface="Aptos Narrow" panose="020B0004020202020204" pitchFamily="34" charset="0"/>
                        </a:rPr>
                        <a:t>122</a:t>
                      </a:r>
                    </a:p>
                  </a:txBody>
                  <a:tcPr marL="9525" marR="9525" marT="9525" marB="0" anchor="b">
                    <a:noFill/>
                  </a:tcPr>
                </a:tc>
                <a:extLst>
                  <a:ext uri="{0D108BD9-81ED-4DB2-BD59-A6C34878D82A}">
                    <a16:rowId xmlns:a16="http://schemas.microsoft.com/office/drawing/2014/main" val="2799741168"/>
                  </a:ext>
                </a:extLst>
              </a:tr>
            </a:tbl>
          </a:graphicData>
        </a:graphic>
      </p:graphicFrame>
      <p:cxnSp>
        <p:nvCxnSpPr>
          <p:cNvPr id="11" name="Straight Connector 10">
            <a:extLst>
              <a:ext uri="{FF2B5EF4-FFF2-40B4-BE49-F238E27FC236}">
                <a16:creationId xmlns:a16="http://schemas.microsoft.com/office/drawing/2014/main" id="{04FE380C-D306-199D-BA14-0D60AED9B119}"/>
              </a:ext>
            </a:extLst>
          </p:cNvPr>
          <p:cNvCxnSpPr/>
          <p:nvPr/>
        </p:nvCxnSpPr>
        <p:spPr>
          <a:xfrm>
            <a:off x="5229389" y="3121727"/>
            <a:ext cx="0" cy="2368281"/>
          </a:xfrm>
          <a:prstGeom prst="line">
            <a:avLst/>
          </a:prstGeom>
          <a:ln w="38100"/>
        </p:spPr>
        <p:style>
          <a:lnRef idx="1">
            <a:schemeClr val="accent3"/>
          </a:lnRef>
          <a:fillRef idx="0">
            <a:schemeClr val="accent3"/>
          </a:fillRef>
          <a:effectRef idx="0">
            <a:schemeClr val="accent3"/>
          </a:effectRef>
          <a:fontRef idx="minor">
            <a:schemeClr val="tx1"/>
          </a:fontRef>
        </p:style>
      </p:cxnSp>
      <p:pic>
        <p:nvPicPr>
          <p:cNvPr id="13" name="Picture 6">
            <a:extLst>
              <a:ext uri="{FF2B5EF4-FFF2-40B4-BE49-F238E27FC236}">
                <a16:creationId xmlns:a16="http://schemas.microsoft.com/office/drawing/2014/main" id="{BB37E334-3214-EBBF-F173-EE7407EC0BB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74758" b="-8389"/>
          <a:stretch>
            <a:fillRect/>
          </a:stretch>
        </p:blipFill>
        <p:spPr bwMode="auto">
          <a:xfrm>
            <a:off x="4924548" y="5574261"/>
            <a:ext cx="653287" cy="464248"/>
          </a:xfrm>
          <a:prstGeom prst="rect">
            <a:avLst/>
          </a:prstGeom>
          <a:noFill/>
          <a:extLst>
            <a:ext uri="{909E8E84-426E-40DD-AFC4-6F175D3DCCD1}">
              <a14:hiddenFill xmlns:a14="http://schemas.microsoft.com/office/drawing/2010/main">
                <a:solidFill>
                  <a:srgbClr val="FFFFFF"/>
                </a:solidFill>
              </a14:hiddenFill>
            </a:ext>
          </a:extLst>
        </p:spPr>
      </p:pic>
      <p:sp>
        <p:nvSpPr>
          <p:cNvPr id="15" name="Content Placeholder 2">
            <a:extLst>
              <a:ext uri="{FF2B5EF4-FFF2-40B4-BE49-F238E27FC236}">
                <a16:creationId xmlns:a16="http://schemas.microsoft.com/office/drawing/2014/main" id="{43DC040A-14CE-6537-E332-383A3153F81E}"/>
              </a:ext>
            </a:extLst>
          </p:cNvPr>
          <p:cNvSpPr txBox="1">
            <a:spLocks/>
          </p:cNvSpPr>
          <p:nvPr/>
        </p:nvSpPr>
        <p:spPr>
          <a:xfrm>
            <a:off x="544788" y="3610454"/>
            <a:ext cx="10972800" cy="420796"/>
          </a:xfrm>
          <a:prstGeom prst="rect">
            <a:avLst/>
          </a:prstGeom>
          <a:ln>
            <a:noFill/>
          </a:ln>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High-school bench press distribution (kg):</a:t>
            </a:r>
          </a:p>
        </p:txBody>
      </p:sp>
      <p:sp>
        <p:nvSpPr>
          <p:cNvPr id="17" name="Content Placeholder 2">
            <a:extLst>
              <a:ext uri="{FF2B5EF4-FFF2-40B4-BE49-F238E27FC236}">
                <a16:creationId xmlns:a16="http://schemas.microsoft.com/office/drawing/2014/main" id="{DF2E5D71-AAC7-0777-DA39-E7C46966E505}"/>
              </a:ext>
            </a:extLst>
          </p:cNvPr>
          <p:cNvSpPr txBox="1">
            <a:spLocks/>
          </p:cNvSpPr>
          <p:nvPr/>
        </p:nvSpPr>
        <p:spPr>
          <a:xfrm>
            <a:off x="5416214" y="2112502"/>
            <a:ext cx="5416565"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What do you think about mean and median?</a:t>
            </a:r>
          </a:p>
        </p:txBody>
      </p:sp>
    </p:spTree>
    <p:extLst>
      <p:ext uri="{BB962C8B-B14F-4D97-AF65-F5344CB8AC3E}">
        <p14:creationId xmlns:p14="http://schemas.microsoft.com/office/powerpoint/2010/main" val="3667818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0398F-2CF5-E71F-2903-FB7CF0AE9E7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5AB6C26-60E0-4174-58D6-4E6D1562BA12}"/>
              </a:ext>
            </a:extLst>
          </p:cNvPr>
          <p:cNvSpPr txBox="1">
            <a:spLocks/>
          </p:cNvSpPr>
          <p:nvPr/>
        </p:nvSpPr>
        <p:spPr>
          <a:xfrm>
            <a:off x="480001" y="414260"/>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sz="4400"/>
              <a:t>Measures of central tendency</a:t>
            </a:r>
            <a:endParaRPr lang="en-US" dirty="0"/>
          </a:p>
        </p:txBody>
      </p:sp>
      <p:pic>
        <p:nvPicPr>
          <p:cNvPr id="15" name="Picture 2" descr="Mean and Median for Skewed Distribution | by Md Sohel ...">
            <a:extLst>
              <a:ext uri="{FF2B5EF4-FFF2-40B4-BE49-F238E27FC236}">
                <a16:creationId xmlns:a16="http://schemas.microsoft.com/office/drawing/2014/main" id="{E373DCB3-EC32-48AC-B61C-BC7C4621EDC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1468"/>
          <a:stretch>
            <a:fillRect/>
          </a:stretch>
        </p:blipFill>
        <p:spPr bwMode="auto">
          <a:xfrm>
            <a:off x="2225824" y="1768794"/>
            <a:ext cx="7740351" cy="2293756"/>
          </a:xfrm>
          <a:prstGeom prst="rect">
            <a:avLst/>
          </a:prstGeom>
          <a:noFill/>
          <a:extLst>
            <a:ext uri="{909E8E84-426E-40DD-AFC4-6F175D3DCCD1}">
              <a14:hiddenFill xmlns:a14="http://schemas.microsoft.com/office/drawing/2010/main">
                <a:solidFill>
                  <a:srgbClr val="FFFFFF"/>
                </a:solidFill>
              </a14:hiddenFill>
            </a:ext>
          </a:extLst>
        </p:spPr>
      </p:pic>
      <p:sp>
        <p:nvSpPr>
          <p:cNvPr id="16" name="Content Placeholder 2">
            <a:extLst>
              <a:ext uri="{FF2B5EF4-FFF2-40B4-BE49-F238E27FC236}">
                <a16:creationId xmlns:a16="http://schemas.microsoft.com/office/drawing/2014/main" id="{B45DBE50-832A-E67C-3AEB-85710A5B95A7}"/>
              </a:ext>
            </a:extLst>
          </p:cNvPr>
          <p:cNvSpPr txBox="1">
            <a:spLocks/>
          </p:cNvSpPr>
          <p:nvPr/>
        </p:nvSpPr>
        <p:spPr>
          <a:xfrm>
            <a:off x="2385630" y="4062550"/>
            <a:ext cx="1755295"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Long right tail</a:t>
            </a:r>
          </a:p>
        </p:txBody>
      </p:sp>
      <p:sp>
        <p:nvSpPr>
          <p:cNvPr id="17" name="Content Placeholder 2">
            <a:extLst>
              <a:ext uri="{FF2B5EF4-FFF2-40B4-BE49-F238E27FC236}">
                <a16:creationId xmlns:a16="http://schemas.microsoft.com/office/drawing/2014/main" id="{443929DD-8C94-3FE4-CF26-08E4519033CC}"/>
              </a:ext>
            </a:extLst>
          </p:cNvPr>
          <p:cNvSpPr txBox="1">
            <a:spLocks/>
          </p:cNvSpPr>
          <p:nvPr/>
        </p:nvSpPr>
        <p:spPr>
          <a:xfrm>
            <a:off x="7776236" y="4062550"/>
            <a:ext cx="1755295"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r">
              <a:buFont typeface="Arial"/>
              <a:buNone/>
            </a:pPr>
            <a:r>
              <a:rPr lang="en-US" sz="2000" dirty="0"/>
              <a:t>Long left tail</a:t>
            </a:r>
          </a:p>
        </p:txBody>
      </p:sp>
      <p:sp>
        <p:nvSpPr>
          <p:cNvPr id="19" name="Content Placeholder 2">
            <a:extLst>
              <a:ext uri="{FF2B5EF4-FFF2-40B4-BE49-F238E27FC236}">
                <a16:creationId xmlns:a16="http://schemas.microsoft.com/office/drawing/2014/main" id="{CE82B3CB-8E07-A450-A40D-92759867B6F9}"/>
              </a:ext>
            </a:extLst>
          </p:cNvPr>
          <p:cNvSpPr txBox="1">
            <a:spLocks/>
          </p:cNvSpPr>
          <p:nvPr/>
        </p:nvSpPr>
        <p:spPr>
          <a:xfrm>
            <a:off x="5063515" y="4062550"/>
            <a:ext cx="1755295"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buFont typeface="Arial"/>
              <a:buNone/>
            </a:pPr>
            <a:r>
              <a:rPr lang="en-US" sz="2000" dirty="0"/>
              <a:t>Symmetric</a:t>
            </a:r>
          </a:p>
        </p:txBody>
      </p:sp>
      <p:sp>
        <p:nvSpPr>
          <p:cNvPr id="20" name="Content Placeholder 2">
            <a:extLst>
              <a:ext uri="{FF2B5EF4-FFF2-40B4-BE49-F238E27FC236}">
                <a16:creationId xmlns:a16="http://schemas.microsoft.com/office/drawing/2014/main" id="{1E677BE8-D1A7-79D2-33BD-3D8E366CF8EB}"/>
              </a:ext>
            </a:extLst>
          </p:cNvPr>
          <p:cNvSpPr txBox="1">
            <a:spLocks/>
          </p:cNvSpPr>
          <p:nvPr/>
        </p:nvSpPr>
        <p:spPr>
          <a:xfrm>
            <a:off x="852921" y="5024847"/>
            <a:ext cx="6449215"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*Mode: the most frequent value in a sample/population</a:t>
            </a:r>
          </a:p>
        </p:txBody>
      </p:sp>
    </p:spTree>
    <p:extLst>
      <p:ext uri="{BB962C8B-B14F-4D97-AF65-F5344CB8AC3E}">
        <p14:creationId xmlns:p14="http://schemas.microsoft.com/office/powerpoint/2010/main" val="38436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P spid="2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5C9AD-CA4B-6AA1-C564-507488048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C4463-9B28-CF2F-6695-7C886DA3B2F0}"/>
              </a:ext>
            </a:extLst>
          </p:cNvPr>
          <p:cNvSpPr>
            <a:spLocks noGrp="1"/>
          </p:cNvSpPr>
          <p:nvPr>
            <p:ph type="title"/>
          </p:nvPr>
        </p:nvSpPr>
        <p:spPr/>
        <p:txBody>
          <a:bodyPr/>
          <a:lstStyle/>
          <a:p>
            <a:r>
              <a:rPr lang="en-US" dirty="0"/>
              <a:t>Mean and Median: Bimodal Distributions</a:t>
            </a:r>
          </a:p>
        </p:txBody>
      </p:sp>
      <p:pic>
        <p:nvPicPr>
          <p:cNvPr id="3" name="Picture 2">
            <a:extLst>
              <a:ext uri="{FF2B5EF4-FFF2-40B4-BE49-F238E27FC236}">
                <a16:creationId xmlns:a16="http://schemas.microsoft.com/office/drawing/2014/main" id="{57C43FC7-97FE-D047-F68A-43523864E918}"/>
              </a:ext>
            </a:extLst>
          </p:cNvPr>
          <p:cNvPicPr>
            <a:picLocks noChangeAspect="1"/>
          </p:cNvPicPr>
          <p:nvPr/>
        </p:nvPicPr>
        <p:blipFill>
          <a:blip r:embed="rId3"/>
          <a:stretch>
            <a:fillRect/>
          </a:stretch>
        </p:blipFill>
        <p:spPr>
          <a:xfrm>
            <a:off x="2934269" y="1170260"/>
            <a:ext cx="5854890" cy="4262469"/>
          </a:xfrm>
          <a:prstGeom prst="rect">
            <a:avLst/>
          </a:prstGeom>
        </p:spPr>
      </p:pic>
      <p:sp>
        <p:nvSpPr>
          <p:cNvPr id="5" name="TextBox 4">
            <a:extLst>
              <a:ext uri="{FF2B5EF4-FFF2-40B4-BE49-F238E27FC236}">
                <a16:creationId xmlns:a16="http://schemas.microsoft.com/office/drawing/2014/main" id="{9CAFE554-8D99-9C7F-803F-209FB89E8A08}"/>
              </a:ext>
            </a:extLst>
          </p:cNvPr>
          <p:cNvSpPr txBox="1"/>
          <p:nvPr/>
        </p:nvSpPr>
        <p:spPr>
          <a:xfrm>
            <a:off x="3833910" y="5337193"/>
            <a:ext cx="4394579" cy="954107"/>
          </a:xfrm>
          <a:prstGeom prst="rect">
            <a:avLst/>
          </a:prstGeom>
          <a:noFill/>
        </p:spPr>
        <p:txBody>
          <a:bodyPr wrap="square" rtlCol="0">
            <a:spAutoFit/>
          </a:bodyPr>
          <a:lstStyle/>
          <a:p>
            <a:pPr algn="ctr"/>
            <a:r>
              <a:rPr lang="en-US" sz="2800" b="1" dirty="0"/>
              <a:t>Distribution of the Surface Area of the Earth.</a:t>
            </a:r>
          </a:p>
        </p:txBody>
      </p:sp>
      <p:sp>
        <p:nvSpPr>
          <p:cNvPr id="6" name="TextBox 5">
            <a:extLst>
              <a:ext uri="{FF2B5EF4-FFF2-40B4-BE49-F238E27FC236}">
                <a16:creationId xmlns:a16="http://schemas.microsoft.com/office/drawing/2014/main" id="{CA15F206-4145-FA30-F79F-BCF673A95DC8}"/>
              </a:ext>
            </a:extLst>
          </p:cNvPr>
          <p:cNvSpPr txBox="1"/>
          <p:nvPr/>
        </p:nvSpPr>
        <p:spPr>
          <a:xfrm>
            <a:off x="8875776" y="2474976"/>
            <a:ext cx="2852928" cy="369332"/>
          </a:xfrm>
          <a:prstGeom prst="rect">
            <a:avLst/>
          </a:prstGeom>
          <a:noFill/>
        </p:spPr>
        <p:txBody>
          <a:bodyPr wrap="square" rtlCol="0">
            <a:spAutoFit/>
          </a:bodyPr>
          <a:lstStyle/>
          <a:p>
            <a:r>
              <a:rPr lang="en-US" b="1" dirty="0"/>
              <a:t>Always look at your data!</a:t>
            </a:r>
          </a:p>
        </p:txBody>
      </p:sp>
    </p:spTree>
    <p:extLst>
      <p:ext uri="{BB962C8B-B14F-4D97-AF65-F5344CB8AC3E}">
        <p14:creationId xmlns:p14="http://schemas.microsoft.com/office/powerpoint/2010/main" val="8412373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30513-7408-77E5-09C9-9E35B9A4B0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2CA62-E666-677F-984E-3A52D02A36F9}"/>
              </a:ext>
            </a:extLst>
          </p:cNvPr>
          <p:cNvSpPr>
            <a:spLocks noGrp="1"/>
          </p:cNvSpPr>
          <p:nvPr>
            <p:ph type="title"/>
          </p:nvPr>
        </p:nvSpPr>
        <p:spPr/>
        <p:txBody>
          <a:bodyPr/>
          <a:lstStyle/>
          <a:p>
            <a:r>
              <a:rPr lang="en-US" sz="4400" dirty="0"/>
              <a:t>Measures of spread</a:t>
            </a:r>
            <a:endParaRPr lang="en-US" dirty="0"/>
          </a:p>
        </p:txBody>
      </p:sp>
      <p:sp>
        <p:nvSpPr>
          <p:cNvPr id="8" name="Content Placeholder 2">
            <a:extLst>
              <a:ext uri="{FF2B5EF4-FFF2-40B4-BE49-F238E27FC236}">
                <a16:creationId xmlns:a16="http://schemas.microsoft.com/office/drawing/2014/main" id="{0CBD2FE8-DA59-8219-2777-EEA71D46A1E1}"/>
              </a:ext>
            </a:extLst>
          </p:cNvPr>
          <p:cNvSpPr txBox="1">
            <a:spLocks/>
          </p:cNvSpPr>
          <p:nvPr/>
        </p:nvSpPr>
        <p:spPr>
          <a:xfrm>
            <a:off x="544788" y="1227337"/>
            <a:ext cx="11037612"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Why is it not enough to use measures of central tendency? </a:t>
            </a:r>
          </a:p>
        </p:txBody>
      </p:sp>
      <p:sp>
        <p:nvSpPr>
          <p:cNvPr id="9" name="Content Placeholder 2">
            <a:extLst>
              <a:ext uri="{FF2B5EF4-FFF2-40B4-BE49-F238E27FC236}">
                <a16:creationId xmlns:a16="http://schemas.microsoft.com/office/drawing/2014/main" id="{18ADDA54-5086-A30A-E19F-B1EA42F85641}"/>
              </a:ext>
            </a:extLst>
          </p:cNvPr>
          <p:cNvSpPr txBox="1">
            <a:spLocks/>
          </p:cNvSpPr>
          <p:nvPr/>
        </p:nvSpPr>
        <p:spPr>
          <a:xfrm>
            <a:off x="544788" y="1705210"/>
            <a:ext cx="11538354" cy="420796"/>
          </a:xfrm>
          <a:prstGeom prst="rect">
            <a:avLst/>
          </a:prstGeom>
          <a:ln>
            <a:noFill/>
          </a:ln>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Imagine that you test different recommendation algorithms for an app:</a:t>
            </a:r>
          </a:p>
          <a:p>
            <a:r>
              <a:rPr lang="en-US" sz="2000" dirty="0"/>
              <a:t>As a business you want to increase the length of the average user session in the app (to show more adds)</a:t>
            </a:r>
          </a:p>
          <a:p>
            <a:r>
              <a:rPr lang="en-US" sz="2000" dirty="0"/>
              <a:t>You have 2 algorithms to suggest videos (reels): </a:t>
            </a:r>
            <a:r>
              <a:rPr lang="en-US" sz="2000" b="1" dirty="0">
                <a:solidFill>
                  <a:schemeClr val="accent2"/>
                </a:solidFill>
              </a:rPr>
              <a:t>automated</a:t>
            </a:r>
            <a:r>
              <a:rPr lang="en-US" sz="2000" dirty="0"/>
              <a:t> and </a:t>
            </a:r>
            <a:r>
              <a:rPr lang="en-US" sz="2000" b="1" dirty="0">
                <a:solidFill>
                  <a:schemeClr val="accent1"/>
                </a:solidFill>
              </a:rPr>
              <a:t>user-driven</a:t>
            </a:r>
          </a:p>
          <a:p>
            <a:pPr marL="0" indent="0">
              <a:buNone/>
            </a:pPr>
            <a:endParaRPr lang="en-US" sz="2000" dirty="0"/>
          </a:p>
        </p:txBody>
      </p:sp>
      <p:pic>
        <p:nvPicPr>
          <p:cNvPr id="18" name="Picture 17">
            <a:extLst>
              <a:ext uri="{FF2B5EF4-FFF2-40B4-BE49-F238E27FC236}">
                <a16:creationId xmlns:a16="http://schemas.microsoft.com/office/drawing/2014/main" id="{6FBF41D7-1F62-EF93-B2CB-374775DA6A70}"/>
              </a:ext>
            </a:extLst>
          </p:cNvPr>
          <p:cNvPicPr>
            <a:picLocks noChangeAspect="1"/>
          </p:cNvPicPr>
          <p:nvPr/>
        </p:nvPicPr>
        <p:blipFill>
          <a:blip r:embed="rId2"/>
          <a:srcRect t="32355" b="20326"/>
          <a:stretch>
            <a:fillRect/>
          </a:stretch>
        </p:blipFill>
        <p:spPr>
          <a:xfrm>
            <a:off x="1263245" y="3187337"/>
            <a:ext cx="2705354" cy="2770374"/>
          </a:xfrm>
          <a:prstGeom prst="rect">
            <a:avLst/>
          </a:prstGeom>
        </p:spPr>
      </p:pic>
      <p:sp>
        <p:nvSpPr>
          <p:cNvPr id="27" name="Content Placeholder 2">
            <a:extLst>
              <a:ext uri="{FF2B5EF4-FFF2-40B4-BE49-F238E27FC236}">
                <a16:creationId xmlns:a16="http://schemas.microsoft.com/office/drawing/2014/main" id="{DA8B965B-5DA2-3C24-D0AF-55C276AABA95}"/>
              </a:ext>
            </a:extLst>
          </p:cNvPr>
          <p:cNvSpPr txBox="1">
            <a:spLocks/>
          </p:cNvSpPr>
          <p:nvPr/>
        </p:nvSpPr>
        <p:spPr>
          <a:xfrm>
            <a:off x="743991" y="2766541"/>
            <a:ext cx="6449215"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That’s actually a new Instagram update:</a:t>
            </a:r>
          </a:p>
        </p:txBody>
      </p:sp>
    </p:spTree>
    <p:extLst>
      <p:ext uri="{BB962C8B-B14F-4D97-AF65-F5344CB8AC3E}">
        <p14:creationId xmlns:p14="http://schemas.microsoft.com/office/powerpoint/2010/main" val="3454513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5D74F-C658-D7B4-E8D6-429232BBD1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24ADE1-FD5D-F02D-6B70-9710019D2693}"/>
              </a:ext>
            </a:extLst>
          </p:cNvPr>
          <p:cNvSpPr>
            <a:spLocks noGrp="1"/>
          </p:cNvSpPr>
          <p:nvPr>
            <p:ph type="title"/>
          </p:nvPr>
        </p:nvSpPr>
        <p:spPr/>
        <p:txBody>
          <a:bodyPr/>
          <a:lstStyle/>
          <a:p>
            <a:r>
              <a:rPr lang="en-US" sz="4400" dirty="0"/>
              <a:t>Measures of spread</a:t>
            </a:r>
            <a:endParaRPr lang="en-US" dirty="0"/>
          </a:p>
        </p:txBody>
      </p:sp>
      <p:sp>
        <p:nvSpPr>
          <p:cNvPr id="8" name="Content Placeholder 2">
            <a:extLst>
              <a:ext uri="{FF2B5EF4-FFF2-40B4-BE49-F238E27FC236}">
                <a16:creationId xmlns:a16="http://schemas.microsoft.com/office/drawing/2014/main" id="{5F25AD83-4DEB-4D32-F8B4-0524C4F2069F}"/>
              </a:ext>
            </a:extLst>
          </p:cNvPr>
          <p:cNvSpPr txBox="1">
            <a:spLocks/>
          </p:cNvSpPr>
          <p:nvPr/>
        </p:nvSpPr>
        <p:spPr>
          <a:xfrm>
            <a:off x="544788" y="1227337"/>
            <a:ext cx="11037612"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Why is it not enough to use measures of central tendency? </a:t>
            </a:r>
          </a:p>
        </p:txBody>
      </p:sp>
      <p:sp>
        <p:nvSpPr>
          <p:cNvPr id="9" name="Content Placeholder 2">
            <a:extLst>
              <a:ext uri="{FF2B5EF4-FFF2-40B4-BE49-F238E27FC236}">
                <a16:creationId xmlns:a16="http://schemas.microsoft.com/office/drawing/2014/main" id="{8E4F6573-B9A8-A545-3316-7BBF9614549D}"/>
              </a:ext>
            </a:extLst>
          </p:cNvPr>
          <p:cNvSpPr txBox="1">
            <a:spLocks/>
          </p:cNvSpPr>
          <p:nvPr/>
        </p:nvSpPr>
        <p:spPr>
          <a:xfrm>
            <a:off x="544788" y="1705210"/>
            <a:ext cx="11538354" cy="420796"/>
          </a:xfrm>
          <a:prstGeom prst="rect">
            <a:avLst/>
          </a:prstGeom>
          <a:ln>
            <a:noFill/>
          </a:ln>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Imagine that you test different recommendation algorithms for an app:</a:t>
            </a:r>
          </a:p>
          <a:p>
            <a:r>
              <a:rPr lang="en-US" sz="2000" dirty="0"/>
              <a:t>As a business you want to increase the length of the average user session in the app (to show more adds)</a:t>
            </a:r>
          </a:p>
          <a:p>
            <a:r>
              <a:rPr lang="en-US" sz="2000" dirty="0"/>
              <a:t>You have 2 algorithms to suggest videos (reels): </a:t>
            </a:r>
            <a:r>
              <a:rPr lang="en-US" sz="2000" b="1" dirty="0">
                <a:solidFill>
                  <a:schemeClr val="accent2"/>
                </a:solidFill>
              </a:rPr>
              <a:t>automated</a:t>
            </a:r>
            <a:r>
              <a:rPr lang="en-US" sz="2000" dirty="0"/>
              <a:t> and </a:t>
            </a:r>
            <a:r>
              <a:rPr lang="en-US" sz="2000" b="1" dirty="0">
                <a:solidFill>
                  <a:schemeClr val="accent1"/>
                </a:solidFill>
              </a:rPr>
              <a:t>user-driven</a:t>
            </a:r>
          </a:p>
          <a:p>
            <a:r>
              <a:rPr lang="en-US" sz="2000" dirty="0"/>
              <a:t>You compute the mean session length: </a:t>
            </a:r>
            <a:r>
              <a:rPr lang="en-US" sz="2000" b="1" dirty="0">
                <a:solidFill>
                  <a:schemeClr val="accent2"/>
                </a:solidFill>
              </a:rPr>
              <a:t>30.1</a:t>
            </a:r>
            <a:r>
              <a:rPr lang="en-US" sz="2000" dirty="0"/>
              <a:t> vs </a:t>
            </a:r>
            <a:r>
              <a:rPr lang="en-US" sz="2000" b="1" dirty="0">
                <a:solidFill>
                  <a:schemeClr val="accent1"/>
                </a:solidFill>
              </a:rPr>
              <a:t>30.01</a:t>
            </a:r>
          </a:p>
          <a:p>
            <a:pPr marL="0" indent="0">
              <a:buNone/>
            </a:pPr>
            <a:endParaRPr lang="en-US" sz="2000" dirty="0"/>
          </a:p>
        </p:txBody>
      </p:sp>
      <p:pic>
        <p:nvPicPr>
          <p:cNvPr id="3" name="Picture 2">
            <a:extLst>
              <a:ext uri="{FF2B5EF4-FFF2-40B4-BE49-F238E27FC236}">
                <a16:creationId xmlns:a16="http://schemas.microsoft.com/office/drawing/2014/main" id="{21A221B1-857B-E790-649F-7594F7B034DF}"/>
              </a:ext>
            </a:extLst>
          </p:cNvPr>
          <p:cNvPicPr>
            <a:picLocks noChangeAspect="1"/>
          </p:cNvPicPr>
          <p:nvPr/>
        </p:nvPicPr>
        <p:blipFill>
          <a:blip r:embed="rId2"/>
          <a:srcRect t="32355" b="20326"/>
          <a:stretch>
            <a:fillRect/>
          </a:stretch>
        </p:blipFill>
        <p:spPr>
          <a:xfrm>
            <a:off x="1263245" y="3187337"/>
            <a:ext cx="2705354" cy="2770374"/>
          </a:xfrm>
          <a:prstGeom prst="rect">
            <a:avLst/>
          </a:prstGeom>
        </p:spPr>
      </p:pic>
      <p:pic>
        <p:nvPicPr>
          <p:cNvPr id="4" name="Picture 3">
            <a:extLst>
              <a:ext uri="{FF2B5EF4-FFF2-40B4-BE49-F238E27FC236}">
                <a16:creationId xmlns:a16="http://schemas.microsoft.com/office/drawing/2014/main" id="{37D23CDA-F429-2DC4-9B57-96D1EA035531}"/>
              </a:ext>
            </a:extLst>
          </p:cNvPr>
          <p:cNvPicPr>
            <a:picLocks noChangeAspect="1"/>
          </p:cNvPicPr>
          <p:nvPr/>
        </p:nvPicPr>
        <p:blipFill>
          <a:blip r:embed="rId3"/>
          <a:stretch>
            <a:fillRect/>
          </a:stretch>
        </p:blipFill>
        <p:spPr>
          <a:xfrm>
            <a:off x="4978735" y="3202310"/>
            <a:ext cx="4831471" cy="3004341"/>
          </a:xfrm>
          <a:prstGeom prst="rect">
            <a:avLst/>
          </a:prstGeom>
        </p:spPr>
      </p:pic>
      <p:sp>
        <p:nvSpPr>
          <p:cNvPr id="6" name="TextBox 5">
            <a:extLst>
              <a:ext uri="{FF2B5EF4-FFF2-40B4-BE49-F238E27FC236}">
                <a16:creationId xmlns:a16="http://schemas.microsoft.com/office/drawing/2014/main" id="{D685C442-97F8-F5F4-B9CE-B6903D830B2D}"/>
              </a:ext>
            </a:extLst>
          </p:cNvPr>
          <p:cNvSpPr txBox="1"/>
          <p:nvPr/>
        </p:nvSpPr>
        <p:spPr>
          <a:xfrm>
            <a:off x="7922623" y="2818005"/>
            <a:ext cx="1887583" cy="369332"/>
          </a:xfrm>
          <a:prstGeom prst="rect">
            <a:avLst/>
          </a:prstGeom>
          <a:noFill/>
        </p:spPr>
        <p:txBody>
          <a:bodyPr wrap="square">
            <a:spAutoFit/>
          </a:bodyPr>
          <a:lstStyle/>
          <a:p>
            <a:r>
              <a:rPr lang="en-US" sz="1800" b="1" dirty="0"/>
              <a:t>What do we see?</a:t>
            </a:r>
            <a:endParaRPr lang="en-US" b="1" dirty="0"/>
          </a:p>
        </p:txBody>
      </p:sp>
    </p:spTree>
    <p:extLst>
      <p:ext uri="{BB962C8B-B14F-4D97-AF65-F5344CB8AC3E}">
        <p14:creationId xmlns:p14="http://schemas.microsoft.com/office/powerpoint/2010/main" val="166617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DB2AF-439B-E745-322B-08CAD7B073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4B1E9D-18D3-E228-C1F3-E91B243C3E5D}"/>
              </a:ext>
            </a:extLst>
          </p:cNvPr>
          <p:cNvSpPr>
            <a:spLocks noGrp="1"/>
          </p:cNvSpPr>
          <p:nvPr>
            <p:ph type="title"/>
          </p:nvPr>
        </p:nvSpPr>
        <p:spPr/>
        <p:txBody>
          <a:bodyPr/>
          <a:lstStyle/>
          <a:p>
            <a:r>
              <a:rPr lang="en-US" sz="4400" dirty="0"/>
              <a:t>Measures of spread</a:t>
            </a:r>
            <a:endParaRPr lang="en-US" dirty="0"/>
          </a:p>
        </p:txBody>
      </p:sp>
      <p:sp>
        <p:nvSpPr>
          <p:cNvPr id="8" name="Content Placeholder 2">
            <a:extLst>
              <a:ext uri="{FF2B5EF4-FFF2-40B4-BE49-F238E27FC236}">
                <a16:creationId xmlns:a16="http://schemas.microsoft.com/office/drawing/2014/main" id="{D0ED20FA-8CA6-1D1A-8340-38875A40AACD}"/>
              </a:ext>
            </a:extLst>
          </p:cNvPr>
          <p:cNvSpPr txBox="1">
            <a:spLocks/>
          </p:cNvSpPr>
          <p:nvPr/>
        </p:nvSpPr>
        <p:spPr>
          <a:xfrm>
            <a:off x="544788" y="1227337"/>
            <a:ext cx="11037612"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Population variance:</a:t>
            </a:r>
          </a:p>
        </p:txBody>
      </p:sp>
      <p:pic>
        <p:nvPicPr>
          <p:cNvPr id="49154" name="Picture 2">
            <a:extLst>
              <a:ext uri="{FF2B5EF4-FFF2-40B4-BE49-F238E27FC236}">
                <a16:creationId xmlns:a16="http://schemas.microsoft.com/office/drawing/2014/main" id="{40E7584A-4CEB-5C16-FFC7-532B4E890B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996" y="1809713"/>
            <a:ext cx="2570204" cy="84687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56DD755-7DDB-34F8-2A23-E11D7B99B465}"/>
              </a:ext>
            </a:extLst>
          </p:cNvPr>
          <p:cNvSpPr txBox="1">
            <a:spLocks/>
          </p:cNvSpPr>
          <p:nvPr/>
        </p:nvSpPr>
        <p:spPr>
          <a:xfrm>
            <a:off x="291739" y="2782982"/>
            <a:ext cx="5804261"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buFont typeface="Arial"/>
              <a:buNone/>
            </a:pPr>
            <a:r>
              <a:rPr lang="en-US" sz="2000" dirty="0"/>
              <a:t>How far are </a:t>
            </a:r>
            <a:r>
              <a:rPr lang="en-US" sz="2000" b="1" dirty="0">
                <a:solidFill>
                  <a:schemeClr val="accent2"/>
                </a:solidFill>
              </a:rPr>
              <a:t>measurements</a:t>
            </a:r>
            <a:r>
              <a:rPr lang="en-US" sz="2000" dirty="0"/>
              <a:t> from </a:t>
            </a:r>
            <a:r>
              <a:rPr lang="en-US" sz="2000" b="1" dirty="0"/>
              <a:t>population mean</a:t>
            </a:r>
          </a:p>
        </p:txBody>
      </p:sp>
      <p:cxnSp>
        <p:nvCxnSpPr>
          <p:cNvPr id="5" name="Straight Arrow Connector 4">
            <a:extLst>
              <a:ext uri="{FF2B5EF4-FFF2-40B4-BE49-F238E27FC236}">
                <a16:creationId xmlns:a16="http://schemas.microsoft.com/office/drawing/2014/main" id="{D5417456-4A44-F8F4-5F2A-E289598FAC9B}"/>
              </a:ext>
            </a:extLst>
          </p:cNvPr>
          <p:cNvCxnSpPr>
            <a:cxnSpLocks/>
          </p:cNvCxnSpPr>
          <p:nvPr/>
        </p:nvCxnSpPr>
        <p:spPr>
          <a:xfrm flipV="1">
            <a:off x="2913017" y="2429691"/>
            <a:ext cx="169817" cy="35329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 name="Straight Arrow Connector 5">
            <a:extLst>
              <a:ext uri="{FF2B5EF4-FFF2-40B4-BE49-F238E27FC236}">
                <a16:creationId xmlns:a16="http://schemas.microsoft.com/office/drawing/2014/main" id="{5CFB4E5B-E3FA-7B77-6D27-BFEE4995AE60}"/>
              </a:ext>
            </a:extLst>
          </p:cNvPr>
          <p:cNvCxnSpPr>
            <a:cxnSpLocks/>
          </p:cNvCxnSpPr>
          <p:nvPr/>
        </p:nvCxnSpPr>
        <p:spPr>
          <a:xfrm flipH="1" flipV="1">
            <a:off x="3657600" y="2429691"/>
            <a:ext cx="901337" cy="353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Content Placeholder 2">
            <a:extLst>
              <a:ext uri="{FF2B5EF4-FFF2-40B4-BE49-F238E27FC236}">
                <a16:creationId xmlns:a16="http://schemas.microsoft.com/office/drawing/2014/main" id="{67E80D11-410E-F6A0-1C57-6DE42B3B6CE6}"/>
              </a:ext>
            </a:extLst>
          </p:cNvPr>
          <p:cNvSpPr txBox="1">
            <a:spLocks/>
          </p:cNvSpPr>
          <p:nvPr/>
        </p:nvSpPr>
        <p:spPr>
          <a:xfrm>
            <a:off x="4558937" y="1369442"/>
            <a:ext cx="2113755"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b="1" dirty="0">
                <a:solidFill>
                  <a:srgbClr val="00B050"/>
                </a:solidFill>
              </a:rPr>
              <a:t>Standard deviation (std) </a:t>
            </a:r>
          </a:p>
        </p:txBody>
      </p:sp>
      <p:sp>
        <p:nvSpPr>
          <p:cNvPr id="13" name="Rectangle 12">
            <a:extLst>
              <a:ext uri="{FF2B5EF4-FFF2-40B4-BE49-F238E27FC236}">
                <a16:creationId xmlns:a16="http://schemas.microsoft.com/office/drawing/2014/main" id="{4BE001BD-A63C-6F7D-99FF-E69FA5AF3F6C}"/>
              </a:ext>
            </a:extLst>
          </p:cNvPr>
          <p:cNvSpPr/>
          <p:nvPr/>
        </p:nvSpPr>
        <p:spPr>
          <a:xfrm>
            <a:off x="1314995" y="2163005"/>
            <a:ext cx="187233" cy="189132"/>
          </a:xfrm>
          <a:prstGeom prst="rect">
            <a:avLst/>
          </a:prstGeom>
          <a:solidFill>
            <a:srgbClr val="00B050">
              <a:alpha val="28000"/>
            </a:srgb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8289C344-901F-BAE5-D055-3D69C9D90F4F}"/>
              </a:ext>
            </a:extLst>
          </p:cNvPr>
          <p:cNvSpPr txBox="1">
            <a:spLocks/>
          </p:cNvSpPr>
          <p:nvPr/>
        </p:nvSpPr>
        <p:spPr>
          <a:xfrm>
            <a:off x="480001" y="3649330"/>
            <a:ext cx="9599181"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Population: [5, 7, 9, 11, 13, 15, 22, 42, 45]</a:t>
            </a:r>
          </a:p>
          <a:p>
            <a:pPr marL="0" indent="0">
              <a:buFont typeface="Arial"/>
              <a:buNone/>
            </a:pPr>
            <a:r>
              <a:rPr lang="en-US" sz="2000" dirty="0"/>
              <a:t>Compute variance and std:</a:t>
            </a:r>
          </a:p>
        </p:txBody>
      </p:sp>
    </p:spTree>
    <p:extLst>
      <p:ext uri="{BB962C8B-B14F-4D97-AF65-F5344CB8AC3E}">
        <p14:creationId xmlns:p14="http://schemas.microsoft.com/office/powerpoint/2010/main" val="346106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4070B-0E8B-64EC-7702-A4F1E87108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56FFE-E620-3E69-71AB-37735B4807F3}"/>
              </a:ext>
            </a:extLst>
          </p:cNvPr>
          <p:cNvSpPr>
            <a:spLocks noGrp="1"/>
          </p:cNvSpPr>
          <p:nvPr>
            <p:ph type="title"/>
          </p:nvPr>
        </p:nvSpPr>
        <p:spPr/>
        <p:txBody>
          <a:bodyPr/>
          <a:lstStyle/>
          <a:p>
            <a:r>
              <a:rPr lang="en-US" sz="4400" dirty="0"/>
              <a:t>Measures of spread</a:t>
            </a:r>
            <a:endParaRPr lang="en-US" dirty="0"/>
          </a:p>
        </p:txBody>
      </p:sp>
      <p:sp>
        <p:nvSpPr>
          <p:cNvPr id="8" name="Content Placeholder 2">
            <a:extLst>
              <a:ext uri="{FF2B5EF4-FFF2-40B4-BE49-F238E27FC236}">
                <a16:creationId xmlns:a16="http://schemas.microsoft.com/office/drawing/2014/main" id="{08CA4BF2-0F3F-FE0D-D1AB-FB3E93F60F0D}"/>
              </a:ext>
            </a:extLst>
          </p:cNvPr>
          <p:cNvSpPr txBox="1">
            <a:spLocks/>
          </p:cNvSpPr>
          <p:nvPr/>
        </p:nvSpPr>
        <p:spPr>
          <a:xfrm>
            <a:off x="544788" y="1227337"/>
            <a:ext cx="11037612"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Sample variance:</a:t>
            </a:r>
          </a:p>
        </p:txBody>
      </p:sp>
      <p:sp>
        <p:nvSpPr>
          <p:cNvPr id="3" name="Content Placeholder 2">
            <a:extLst>
              <a:ext uri="{FF2B5EF4-FFF2-40B4-BE49-F238E27FC236}">
                <a16:creationId xmlns:a16="http://schemas.microsoft.com/office/drawing/2014/main" id="{8E60F8D2-949A-CDC5-91EA-EA809AC939EB}"/>
              </a:ext>
            </a:extLst>
          </p:cNvPr>
          <p:cNvSpPr txBox="1">
            <a:spLocks/>
          </p:cNvSpPr>
          <p:nvPr/>
        </p:nvSpPr>
        <p:spPr>
          <a:xfrm>
            <a:off x="291739" y="2782982"/>
            <a:ext cx="5804261"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buFont typeface="Arial"/>
              <a:buNone/>
            </a:pPr>
            <a:r>
              <a:rPr lang="en-US" sz="2000" dirty="0"/>
              <a:t>How far are </a:t>
            </a:r>
            <a:r>
              <a:rPr lang="en-US" sz="2000" b="1" dirty="0">
                <a:solidFill>
                  <a:schemeClr val="accent2"/>
                </a:solidFill>
              </a:rPr>
              <a:t>measurements</a:t>
            </a:r>
            <a:r>
              <a:rPr lang="en-US" sz="2000" dirty="0"/>
              <a:t> from </a:t>
            </a:r>
            <a:r>
              <a:rPr lang="en-US" sz="2000" b="1" dirty="0"/>
              <a:t>sample mean</a:t>
            </a:r>
          </a:p>
        </p:txBody>
      </p:sp>
      <p:cxnSp>
        <p:nvCxnSpPr>
          <p:cNvPr id="5" name="Straight Arrow Connector 4">
            <a:extLst>
              <a:ext uri="{FF2B5EF4-FFF2-40B4-BE49-F238E27FC236}">
                <a16:creationId xmlns:a16="http://schemas.microsoft.com/office/drawing/2014/main" id="{F6BE9FBB-60CB-5938-D30D-5B9C214D0AD6}"/>
              </a:ext>
            </a:extLst>
          </p:cNvPr>
          <p:cNvCxnSpPr>
            <a:cxnSpLocks/>
          </p:cNvCxnSpPr>
          <p:nvPr/>
        </p:nvCxnSpPr>
        <p:spPr>
          <a:xfrm flipV="1">
            <a:off x="2913017" y="2429691"/>
            <a:ext cx="339976" cy="35329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 name="Straight Arrow Connector 5">
            <a:extLst>
              <a:ext uri="{FF2B5EF4-FFF2-40B4-BE49-F238E27FC236}">
                <a16:creationId xmlns:a16="http://schemas.microsoft.com/office/drawing/2014/main" id="{28D630CD-B2EA-9C43-1595-70AD69527D07}"/>
              </a:ext>
            </a:extLst>
          </p:cNvPr>
          <p:cNvCxnSpPr>
            <a:cxnSpLocks/>
          </p:cNvCxnSpPr>
          <p:nvPr/>
        </p:nvCxnSpPr>
        <p:spPr>
          <a:xfrm flipH="1" flipV="1">
            <a:off x="3872089" y="2429691"/>
            <a:ext cx="686848" cy="353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Content Placeholder 2">
            <a:extLst>
              <a:ext uri="{FF2B5EF4-FFF2-40B4-BE49-F238E27FC236}">
                <a16:creationId xmlns:a16="http://schemas.microsoft.com/office/drawing/2014/main" id="{3E1DEEC8-0410-D1FD-DC28-F31E698B185A}"/>
              </a:ext>
            </a:extLst>
          </p:cNvPr>
          <p:cNvSpPr txBox="1">
            <a:spLocks/>
          </p:cNvSpPr>
          <p:nvPr/>
        </p:nvSpPr>
        <p:spPr>
          <a:xfrm>
            <a:off x="4558937" y="1369442"/>
            <a:ext cx="2113755"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b="1" dirty="0">
                <a:solidFill>
                  <a:srgbClr val="00B050"/>
                </a:solidFill>
              </a:rPr>
              <a:t>Sample standard deviation (std) </a:t>
            </a:r>
          </a:p>
        </p:txBody>
      </p:sp>
      <p:sp>
        <p:nvSpPr>
          <p:cNvPr id="13" name="Rectangle 12">
            <a:extLst>
              <a:ext uri="{FF2B5EF4-FFF2-40B4-BE49-F238E27FC236}">
                <a16:creationId xmlns:a16="http://schemas.microsoft.com/office/drawing/2014/main" id="{C13A48E8-9B81-C02C-B09A-09C718373AF8}"/>
              </a:ext>
            </a:extLst>
          </p:cNvPr>
          <p:cNvSpPr/>
          <p:nvPr/>
        </p:nvSpPr>
        <p:spPr>
          <a:xfrm>
            <a:off x="1314995" y="2163005"/>
            <a:ext cx="187233" cy="189132"/>
          </a:xfrm>
          <a:prstGeom prst="rect">
            <a:avLst/>
          </a:prstGeom>
          <a:solidFill>
            <a:srgbClr val="00B050">
              <a:alpha val="28000"/>
            </a:srgb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F5C403E9-D55F-58B6-9EAF-7EE89E5770F4}"/>
              </a:ext>
            </a:extLst>
          </p:cNvPr>
          <p:cNvSpPr txBox="1">
            <a:spLocks/>
          </p:cNvSpPr>
          <p:nvPr/>
        </p:nvSpPr>
        <p:spPr>
          <a:xfrm>
            <a:off x="544788" y="3649330"/>
            <a:ext cx="9534394"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Sample: [5, 7, 9, 11, 13, 15, 22, 42, 45]</a:t>
            </a:r>
          </a:p>
          <a:p>
            <a:pPr marL="0" indent="0">
              <a:buFont typeface="Arial"/>
              <a:buNone/>
            </a:pPr>
            <a:r>
              <a:rPr lang="en-US" sz="2000" dirty="0"/>
              <a:t>Compute sample variance and std:</a:t>
            </a:r>
          </a:p>
        </p:txBody>
      </p:sp>
      <p:pic>
        <p:nvPicPr>
          <p:cNvPr id="52226" name="Picture 2">
            <a:extLst>
              <a:ext uri="{FF2B5EF4-FFF2-40B4-BE49-F238E27FC236}">
                <a16:creationId xmlns:a16="http://schemas.microsoft.com/office/drawing/2014/main" id="{F5B454A6-764D-E5CB-0A6A-C551265EEB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995" y="1891126"/>
            <a:ext cx="2839335" cy="74975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CB6208F-A4D5-4B45-66C1-99439F6E5F96}"/>
                  </a:ext>
                </a:extLst>
              </p:cNvPr>
              <p:cNvSpPr txBox="1"/>
              <p:nvPr/>
            </p:nvSpPr>
            <p:spPr>
              <a:xfrm>
                <a:off x="7015275" y="1324967"/>
                <a:ext cx="4872286" cy="646331"/>
              </a:xfrm>
              <a:prstGeom prst="rect">
                <a:avLst/>
              </a:prstGeom>
              <a:noFill/>
            </p:spPr>
            <p:txBody>
              <a:bodyPr wrap="square">
                <a:spAutoFit/>
              </a:bodyPr>
              <a:lstStyle/>
              <a:p>
                <a:r>
                  <a:rPr lang="en-US" b="1" dirty="0">
                    <a:solidFill>
                      <a:schemeClr val="accent1"/>
                    </a:solidFill>
                  </a:rPr>
                  <a:t>We divide by </a:t>
                </a:r>
                <a14:m>
                  <m:oMath xmlns:m="http://schemas.openxmlformats.org/officeDocument/2006/math">
                    <m:r>
                      <a:rPr lang="en-US" b="1" i="1">
                        <a:solidFill>
                          <a:schemeClr val="accent1"/>
                        </a:solidFill>
                        <a:latin typeface="Cambria Math" panose="02040503050406030204" pitchFamily="18" charset="0"/>
                      </a:rPr>
                      <m:t>𝒏</m:t>
                    </m:r>
                    <m:r>
                      <a:rPr lang="en-US" b="1" i="0">
                        <a:solidFill>
                          <a:schemeClr val="accent1"/>
                        </a:solidFill>
                        <a:latin typeface="Cambria Math" panose="02040503050406030204" pitchFamily="18" charset="0"/>
                      </a:rPr>
                      <m:t>−</m:t>
                    </m:r>
                    <m:r>
                      <a:rPr lang="en-US" b="1" i="0">
                        <a:solidFill>
                          <a:schemeClr val="accent1"/>
                        </a:solidFill>
                        <a:latin typeface="Cambria Math" panose="02040503050406030204" pitchFamily="18" charset="0"/>
                      </a:rPr>
                      <m:t>𝟏</m:t>
                    </m:r>
                    <m:r>
                      <a:rPr lang="nl-NL" b="1" i="0" smtClean="0">
                        <a:solidFill>
                          <a:schemeClr val="accent1"/>
                        </a:solidFill>
                        <a:latin typeface="Cambria Math" panose="02040503050406030204" pitchFamily="18" charset="0"/>
                      </a:rPr>
                      <m:t> </m:t>
                    </m:r>
                  </m:oMath>
                </a14:m>
                <a:r>
                  <a:rPr lang="en-US" b="1" dirty="0">
                    <a:solidFill>
                      <a:schemeClr val="accent1"/>
                    </a:solidFill>
                  </a:rPr>
                  <a:t>to correct for bias introduced by estimating the mean from the same data.</a:t>
                </a:r>
              </a:p>
            </p:txBody>
          </p:sp>
        </mc:Choice>
        <mc:Fallback xmlns="">
          <p:sp>
            <p:nvSpPr>
              <p:cNvPr id="10" name="TextBox 9">
                <a:extLst>
                  <a:ext uri="{FF2B5EF4-FFF2-40B4-BE49-F238E27FC236}">
                    <a16:creationId xmlns:a16="http://schemas.microsoft.com/office/drawing/2014/main" id="{DCB6208F-A4D5-4B45-66C1-99439F6E5F96}"/>
                  </a:ext>
                </a:extLst>
              </p:cNvPr>
              <p:cNvSpPr txBox="1">
                <a:spLocks noRot="1" noChangeAspect="1" noMove="1" noResize="1" noEditPoints="1" noAdjustHandles="1" noChangeArrowheads="1" noChangeShapeType="1" noTextEdit="1"/>
              </p:cNvSpPr>
              <p:nvPr/>
            </p:nvSpPr>
            <p:spPr>
              <a:xfrm>
                <a:off x="7015275" y="1324967"/>
                <a:ext cx="4872286" cy="646331"/>
              </a:xfrm>
              <a:prstGeom prst="rect">
                <a:avLst/>
              </a:prstGeom>
              <a:blipFill>
                <a:blip r:embed="rId3"/>
                <a:stretch>
                  <a:fillRect l="-1039" t="-3846" r="-1039" b="-13462"/>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F516D7B4-859E-DB88-DD1D-F909D4F4D3B7}"/>
              </a:ext>
            </a:extLst>
          </p:cNvPr>
          <p:cNvSpPr/>
          <p:nvPr/>
        </p:nvSpPr>
        <p:spPr>
          <a:xfrm>
            <a:off x="1896533" y="2266001"/>
            <a:ext cx="722489" cy="353291"/>
          </a:xfrm>
          <a:prstGeom prst="rect">
            <a:avLst/>
          </a:prstGeom>
          <a:solidFill>
            <a:schemeClr val="accent1">
              <a:lumMod val="20000"/>
              <a:lumOff val="80000"/>
              <a:alpha val="15196"/>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7171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p:bldP spid="10"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A7B7D-5E33-3654-F660-8EB6A5426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D64E8-F92B-4FEF-1DC5-7F29257E8D20}"/>
              </a:ext>
            </a:extLst>
          </p:cNvPr>
          <p:cNvSpPr>
            <a:spLocks noGrp="1"/>
          </p:cNvSpPr>
          <p:nvPr>
            <p:ph type="title"/>
          </p:nvPr>
        </p:nvSpPr>
        <p:spPr/>
        <p:txBody>
          <a:bodyPr/>
          <a:lstStyle/>
          <a:p>
            <a:r>
              <a:rPr lang="en-US" sz="4400" dirty="0"/>
              <a:t>Measures of spread</a:t>
            </a:r>
            <a:endParaRPr lang="en-US" dirty="0"/>
          </a:p>
        </p:txBody>
      </p:sp>
      <p:sp>
        <p:nvSpPr>
          <p:cNvPr id="8" name="Content Placeholder 2">
            <a:extLst>
              <a:ext uri="{FF2B5EF4-FFF2-40B4-BE49-F238E27FC236}">
                <a16:creationId xmlns:a16="http://schemas.microsoft.com/office/drawing/2014/main" id="{27086A40-590F-F0DB-E286-A95686FB1FCD}"/>
              </a:ext>
            </a:extLst>
          </p:cNvPr>
          <p:cNvSpPr txBox="1">
            <a:spLocks/>
          </p:cNvSpPr>
          <p:nvPr/>
        </p:nvSpPr>
        <p:spPr>
          <a:xfrm>
            <a:off x="544788" y="1227337"/>
            <a:ext cx="11037612"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Percentiles:</a:t>
            </a:r>
          </a:p>
          <a:p>
            <a:r>
              <a:rPr lang="en-US" sz="2000" dirty="0"/>
              <a:t>1</a:t>
            </a:r>
            <a:r>
              <a:rPr lang="en-US" sz="2000" baseline="30000" dirty="0"/>
              <a:t>st</a:t>
            </a:r>
            <a:r>
              <a:rPr lang="en-US" sz="2000" dirty="0"/>
              <a:t>, 3</a:t>
            </a:r>
            <a:r>
              <a:rPr lang="en-US" sz="2000" baseline="30000" dirty="0"/>
              <a:t>rd</a:t>
            </a:r>
            <a:r>
              <a:rPr lang="en-US" sz="2000" dirty="0"/>
              <a:t> quartiles (q1, q3) aka 25% and 75% percentiles</a:t>
            </a:r>
          </a:p>
          <a:p>
            <a:r>
              <a:rPr lang="en-US" sz="2000" dirty="0"/>
              <a:t>IQR = q3 – q1</a:t>
            </a:r>
          </a:p>
          <a:p>
            <a:r>
              <a:rPr lang="en-US" sz="2000" dirty="0"/>
              <a:t>p% percentiles</a:t>
            </a:r>
          </a:p>
        </p:txBody>
      </p:sp>
      <p:sp>
        <p:nvSpPr>
          <p:cNvPr id="7" name="Content Placeholder 2">
            <a:extLst>
              <a:ext uri="{FF2B5EF4-FFF2-40B4-BE49-F238E27FC236}">
                <a16:creationId xmlns:a16="http://schemas.microsoft.com/office/drawing/2014/main" id="{9F534C8F-3377-8C6B-8195-5C3EE1A49E40}"/>
              </a:ext>
            </a:extLst>
          </p:cNvPr>
          <p:cNvSpPr txBox="1">
            <a:spLocks/>
          </p:cNvSpPr>
          <p:nvPr/>
        </p:nvSpPr>
        <p:spPr>
          <a:xfrm>
            <a:off x="480001" y="2683110"/>
            <a:ext cx="11538354" cy="420796"/>
          </a:xfrm>
          <a:prstGeom prst="rect">
            <a:avLst/>
          </a:prstGeom>
          <a:ln>
            <a:noFill/>
          </a:ln>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Imagine that you test different recommendation algorithms for an app:</a:t>
            </a:r>
          </a:p>
          <a:p>
            <a:r>
              <a:rPr lang="en-US" sz="2000" dirty="0"/>
              <a:t>As a business you want to make sure that the algorithms fit certain </a:t>
            </a:r>
            <a:r>
              <a:rPr lang="en-US" sz="2000" b="1" dirty="0"/>
              <a:t>latency constraints</a:t>
            </a:r>
          </a:p>
          <a:p>
            <a:r>
              <a:rPr lang="en-US" sz="2000" dirty="0"/>
              <a:t>Assume, we want our model to recommend the next video </a:t>
            </a:r>
            <a:r>
              <a:rPr lang="en-US" sz="2000" b="1" dirty="0"/>
              <a:t>under than 100ms</a:t>
            </a:r>
            <a:r>
              <a:rPr lang="en-US" sz="2000" dirty="0"/>
              <a:t> in most cases</a:t>
            </a:r>
          </a:p>
        </p:txBody>
      </p:sp>
      <p:pic>
        <p:nvPicPr>
          <p:cNvPr id="9" name="Picture 8">
            <a:extLst>
              <a:ext uri="{FF2B5EF4-FFF2-40B4-BE49-F238E27FC236}">
                <a16:creationId xmlns:a16="http://schemas.microsoft.com/office/drawing/2014/main" id="{A9E2D02E-93C8-0BFB-C6C1-28A6AB3160E3}"/>
              </a:ext>
            </a:extLst>
          </p:cNvPr>
          <p:cNvPicPr>
            <a:picLocks noChangeAspect="1"/>
          </p:cNvPicPr>
          <p:nvPr/>
        </p:nvPicPr>
        <p:blipFill>
          <a:blip r:embed="rId2"/>
          <a:stretch>
            <a:fillRect/>
          </a:stretch>
        </p:blipFill>
        <p:spPr>
          <a:xfrm>
            <a:off x="857250" y="3754095"/>
            <a:ext cx="4660900" cy="2890938"/>
          </a:xfrm>
          <a:prstGeom prst="rect">
            <a:avLst/>
          </a:prstGeom>
        </p:spPr>
      </p:pic>
      <p:sp>
        <p:nvSpPr>
          <p:cNvPr id="15" name="TextBox 14">
            <a:extLst>
              <a:ext uri="{FF2B5EF4-FFF2-40B4-BE49-F238E27FC236}">
                <a16:creationId xmlns:a16="http://schemas.microsoft.com/office/drawing/2014/main" id="{149C111A-92E1-E477-7477-498FBD7471F6}"/>
              </a:ext>
            </a:extLst>
          </p:cNvPr>
          <p:cNvSpPr txBox="1"/>
          <p:nvPr/>
        </p:nvSpPr>
        <p:spPr>
          <a:xfrm>
            <a:off x="5518150" y="3754095"/>
            <a:ext cx="6214454" cy="646331"/>
          </a:xfrm>
          <a:prstGeom prst="rect">
            <a:avLst/>
          </a:prstGeom>
          <a:noFill/>
        </p:spPr>
        <p:txBody>
          <a:bodyPr wrap="square" rtlCol="0">
            <a:spAutoFit/>
          </a:bodyPr>
          <a:lstStyle/>
          <a:p>
            <a:r>
              <a:rPr lang="en-US" dirty="0"/>
              <a:t>We can compute </a:t>
            </a:r>
            <a:r>
              <a:rPr lang="en-US" b="1" dirty="0"/>
              <a:t>99th percentile (p99), </a:t>
            </a:r>
            <a:r>
              <a:rPr lang="en-US" dirty="0"/>
              <a:t>assuming that 1% of times there are some issues not related to the algorithm</a:t>
            </a:r>
          </a:p>
        </p:txBody>
      </p:sp>
    </p:spTree>
    <p:extLst>
      <p:ext uri="{BB962C8B-B14F-4D97-AF65-F5344CB8AC3E}">
        <p14:creationId xmlns:p14="http://schemas.microsoft.com/office/powerpoint/2010/main" val="1022182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067F4-DF34-31CB-6D37-93E1136A6EF6}"/>
              </a:ext>
            </a:extLst>
          </p:cNvPr>
          <p:cNvSpPr>
            <a:spLocks noGrp="1"/>
          </p:cNvSpPr>
          <p:nvPr>
            <p:ph type="title"/>
          </p:nvPr>
        </p:nvSpPr>
        <p:spPr/>
        <p:txBody>
          <a:bodyPr/>
          <a:lstStyle/>
          <a:p>
            <a:r>
              <a:rPr lang="en-US" dirty="0"/>
              <a:t>Measures of spread</a:t>
            </a:r>
          </a:p>
        </p:txBody>
      </p:sp>
      <p:pic>
        <p:nvPicPr>
          <p:cNvPr id="9" name="Picture 8" descr="A screenshot of a graph&#10;&#10;Description automatically generated">
            <a:extLst>
              <a:ext uri="{FF2B5EF4-FFF2-40B4-BE49-F238E27FC236}">
                <a16:creationId xmlns:a16="http://schemas.microsoft.com/office/drawing/2014/main" id="{7039F818-3212-5C0D-3F23-941890BB17E6}"/>
              </a:ext>
            </a:extLst>
          </p:cNvPr>
          <p:cNvPicPr>
            <a:picLocks noChangeAspect="1"/>
          </p:cNvPicPr>
          <p:nvPr/>
        </p:nvPicPr>
        <p:blipFill>
          <a:blip r:embed="rId3"/>
          <a:stretch>
            <a:fillRect/>
          </a:stretch>
        </p:blipFill>
        <p:spPr>
          <a:xfrm>
            <a:off x="2145000" y="1925152"/>
            <a:ext cx="7772400" cy="4111966"/>
          </a:xfrm>
          <a:prstGeom prst="rect">
            <a:avLst/>
          </a:prstGeom>
        </p:spPr>
      </p:pic>
      <p:sp>
        <p:nvSpPr>
          <p:cNvPr id="10" name="TextBox 9">
            <a:extLst>
              <a:ext uri="{FF2B5EF4-FFF2-40B4-BE49-F238E27FC236}">
                <a16:creationId xmlns:a16="http://schemas.microsoft.com/office/drawing/2014/main" id="{6430A295-E12E-4CEE-A631-9B1D6E715929}"/>
              </a:ext>
            </a:extLst>
          </p:cNvPr>
          <p:cNvSpPr txBox="1"/>
          <p:nvPr/>
        </p:nvSpPr>
        <p:spPr>
          <a:xfrm>
            <a:off x="3836895" y="1210967"/>
            <a:ext cx="5432612" cy="584775"/>
          </a:xfrm>
          <a:prstGeom prst="rect">
            <a:avLst/>
          </a:prstGeom>
          <a:noFill/>
        </p:spPr>
        <p:txBody>
          <a:bodyPr wrap="square" rtlCol="0">
            <a:spAutoFit/>
          </a:bodyPr>
          <a:lstStyle/>
          <a:p>
            <a:r>
              <a:rPr lang="en-US" sz="3200" b="1" dirty="0"/>
              <a:t>Data Scientist Salaries</a:t>
            </a:r>
          </a:p>
        </p:txBody>
      </p:sp>
    </p:spTree>
    <p:extLst>
      <p:ext uri="{BB962C8B-B14F-4D97-AF65-F5344CB8AC3E}">
        <p14:creationId xmlns:p14="http://schemas.microsoft.com/office/powerpoint/2010/main" val="8941498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A23E-7E93-F455-B4B4-6F55B9AB0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D73DAE-7962-D4EB-DFA5-53978D58141C}"/>
              </a:ext>
            </a:extLst>
          </p:cNvPr>
          <p:cNvSpPr>
            <a:spLocks noGrp="1"/>
          </p:cNvSpPr>
          <p:nvPr>
            <p:ph type="title"/>
          </p:nvPr>
        </p:nvSpPr>
        <p:spPr/>
        <p:txBody>
          <a:bodyPr/>
          <a:lstStyle/>
          <a:p>
            <a:r>
              <a:rPr lang="en-US" sz="4400" dirty="0"/>
              <a:t>Other statistical measures</a:t>
            </a:r>
            <a:endParaRPr lang="en-US" dirty="0"/>
          </a:p>
        </p:txBody>
      </p:sp>
      <p:sp>
        <p:nvSpPr>
          <p:cNvPr id="8" name="Content Placeholder 2">
            <a:extLst>
              <a:ext uri="{FF2B5EF4-FFF2-40B4-BE49-F238E27FC236}">
                <a16:creationId xmlns:a16="http://schemas.microsoft.com/office/drawing/2014/main" id="{AF456481-63E3-898A-2ADD-52E46594B902}"/>
              </a:ext>
            </a:extLst>
          </p:cNvPr>
          <p:cNvSpPr txBox="1">
            <a:spLocks/>
          </p:cNvSpPr>
          <p:nvPr/>
        </p:nvSpPr>
        <p:spPr>
          <a:xfrm>
            <a:off x="544788" y="1227337"/>
            <a:ext cx="11037612"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b="1" dirty="0"/>
              <a:t>Skewness:</a:t>
            </a:r>
          </a:p>
          <a:p>
            <a:pPr marL="0" indent="0">
              <a:buFont typeface="Arial"/>
              <a:buNone/>
            </a:pPr>
            <a:r>
              <a:rPr lang="en-US" sz="2000" dirty="0"/>
              <a:t>What if mean and std are the same, but distributions still differ, can we describe it quantitively?</a:t>
            </a:r>
          </a:p>
          <a:p>
            <a:endParaRPr lang="en-US" sz="2000" dirty="0"/>
          </a:p>
        </p:txBody>
      </p:sp>
      <p:pic>
        <p:nvPicPr>
          <p:cNvPr id="3" name="Picture 2">
            <a:extLst>
              <a:ext uri="{FF2B5EF4-FFF2-40B4-BE49-F238E27FC236}">
                <a16:creationId xmlns:a16="http://schemas.microsoft.com/office/drawing/2014/main" id="{DF85972D-3DA2-43D5-03EB-089A61F41E84}"/>
              </a:ext>
            </a:extLst>
          </p:cNvPr>
          <p:cNvPicPr>
            <a:picLocks noChangeAspect="1"/>
          </p:cNvPicPr>
          <p:nvPr/>
        </p:nvPicPr>
        <p:blipFill>
          <a:blip r:embed="rId2"/>
          <a:stretch>
            <a:fillRect/>
          </a:stretch>
        </p:blipFill>
        <p:spPr>
          <a:xfrm>
            <a:off x="544788" y="2305049"/>
            <a:ext cx="6108700" cy="3798557"/>
          </a:xfrm>
          <a:prstGeom prst="rect">
            <a:avLst/>
          </a:prstGeom>
        </p:spPr>
      </p:pic>
      <p:pic>
        <p:nvPicPr>
          <p:cNvPr id="55298" name="Picture 2">
            <a:extLst>
              <a:ext uri="{FF2B5EF4-FFF2-40B4-BE49-F238E27FC236}">
                <a16:creationId xmlns:a16="http://schemas.microsoft.com/office/drawing/2014/main" id="{AC3F562A-DBF6-527D-26BD-3AF9CA71A0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00" y="2506570"/>
            <a:ext cx="2603500" cy="72121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B8D0524-E70A-BEFE-071B-831719DF81C2}"/>
              </a:ext>
            </a:extLst>
          </p:cNvPr>
          <p:cNvSpPr txBox="1"/>
          <p:nvPr/>
        </p:nvSpPr>
        <p:spPr>
          <a:xfrm>
            <a:off x="7302500" y="3630213"/>
            <a:ext cx="3314700" cy="646331"/>
          </a:xfrm>
          <a:prstGeom prst="rect">
            <a:avLst/>
          </a:prstGeom>
          <a:noFill/>
        </p:spPr>
        <p:txBody>
          <a:bodyPr wrap="square">
            <a:spAutoFit/>
          </a:bodyPr>
          <a:lstStyle/>
          <a:p>
            <a:r>
              <a:rPr lang="en-US" dirty="0"/>
              <a:t>S</a:t>
            </a:r>
            <a:r>
              <a:rPr lang="en-US" b="0" i="0" dirty="0">
                <a:effectLst/>
              </a:rPr>
              <a:t>kewness right-tail: 0.89</a:t>
            </a:r>
          </a:p>
          <a:p>
            <a:r>
              <a:rPr lang="en-US" dirty="0"/>
              <a:t>S</a:t>
            </a:r>
            <a:r>
              <a:rPr lang="en-US" b="0" i="0" dirty="0">
                <a:effectLst/>
              </a:rPr>
              <a:t>kewness left-tail: -0.95</a:t>
            </a:r>
            <a:endParaRPr lang="en-US" dirty="0"/>
          </a:p>
        </p:txBody>
      </p:sp>
    </p:spTree>
    <p:extLst>
      <p:ext uri="{BB962C8B-B14F-4D97-AF65-F5344CB8AC3E}">
        <p14:creationId xmlns:p14="http://schemas.microsoft.com/office/powerpoint/2010/main" val="82912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2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067F4-DF34-31CB-6D37-93E1136A6EF6}"/>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E63F7CBB-2169-ED40-F928-3AB405AFC73D}"/>
              </a:ext>
            </a:extLst>
          </p:cNvPr>
          <p:cNvSpPr>
            <a:spLocks noGrp="1"/>
          </p:cNvSpPr>
          <p:nvPr>
            <p:ph idx="1"/>
          </p:nvPr>
        </p:nvSpPr>
        <p:spPr/>
        <p:txBody>
          <a:bodyPr/>
          <a:lstStyle/>
          <a:p>
            <a:r>
              <a:rPr lang="en-US" dirty="0"/>
              <a:t>Data visualization </a:t>
            </a:r>
          </a:p>
          <a:p>
            <a:pPr lvl="1"/>
            <a:r>
              <a:rPr lang="en-US" dirty="0"/>
              <a:t>Useful resource: The Functional Art by Alberto Cairo</a:t>
            </a:r>
          </a:p>
          <a:p>
            <a:r>
              <a:rPr lang="en-US" dirty="0"/>
              <a:t>Distributions and skewed data</a:t>
            </a:r>
          </a:p>
          <a:p>
            <a:r>
              <a:rPr lang="en-US" dirty="0"/>
              <a:t>Summarizing data </a:t>
            </a:r>
          </a:p>
          <a:p>
            <a:r>
              <a:rPr lang="en-US" dirty="0"/>
              <a:t>Checking how good is our summary</a:t>
            </a:r>
          </a:p>
        </p:txBody>
      </p:sp>
    </p:spTree>
    <p:extLst>
      <p:ext uri="{BB962C8B-B14F-4D97-AF65-F5344CB8AC3E}">
        <p14:creationId xmlns:p14="http://schemas.microsoft.com/office/powerpoint/2010/main" val="116978035"/>
      </p:ext>
    </p:extLst>
  </p:cSld>
  <p:clrMapOvr>
    <a:masterClrMapping/>
  </p:clrMapOvr>
</p:sld>
</file>

<file path=ppt/theme/theme1.xml><?xml version="1.0" encoding="utf-8"?>
<a:theme xmlns:a="http://schemas.openxmlformats.org/drawingml/2006/main" name="1_Maastricht University">
  <a:themeElements>
    <a:clrScheme name="UM">
      <a:dk1>
        <a:srgbClr val="001C3D"/>
      </a:dk1>
      <a:lt1>
        <a:srgbClr val="FFFFFF"/>
      </a:lt1>
      <a:dk2>
        <a:srgbClr val="00A2DB"/>
      </a:dk2>
      <a:lt2>
        <a:srgbClr val="FFFFFF"/>
      </a:lt2>
      <a:accent1>
        <a:srgbClr val="E84E10"/>
      </a:accent1>
      <a:accent2>
        <a:srgbClr val="00A2DB"/>
      </a:accent2>
      <a:accent3>
        <a:srgbClr val="001C3D"/>
      </a:accent3>
      <a:accent4>
        <a:srgbClr val="F3A687"/>
      </a:accent4>
      <a:accent5>
        <a:srgbClr val="7FD0ED"/>
      </a:accent5>
      <a:accent6>
        <a:srgbClr val="7F8D9E"/>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6589</TotalTime>
  <Words>3130</Words>
  <Application>Microsoft Macintosh PowerPoint</Application>
  <PresentationFormat>Widescreen</PresentationFormat>
  <Paragraphs>626</Paragraphs>
  <Slides>83</Slides>
  <Notes>38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83</vt:i4>
      </vt:variant>
    </vt:vector>
  </HeadingPairs>
  <TitlesOfParts>
    <vt:vector size="91" baseType="lpstr">
      <vt:lpstr>Aptos</vt:lpstr>
      <vt:lpstr>Aptos Narrow</vt:lpstr>
      <vt:lpstr>Arial</vt:lpstr>
      <vt:lpstr>Calibri</vt:lpstr>
      <vt:lpstr>Cambria Math</vt:lpstr>
      <vt:lpstr>Lucida Grande</vt:lpstr>
      <vt:lpstr>Menlo</vt:lpstr>
      <vt:lpstr>1_Maastricht University</vt:lpstr>
      <vt:lpstr>BSC1520: Statistics</vt:lpstr>
      <vt:lpstr>Stranger Things are (finally) over…</vt:lpstr>
      <vt:lpstr>Stranger Things is over…</vt:lpstr>
      <vt:lpstr>Stranger Things is over…</vt:lpstr>
      <vt:lpstr>Stranger Things is over…</vt:lpstr>
      <vt:lpstr>But why data visualization?</vt:lpstr>
      <vt:lpstr>Visualization of Data</vt:lpstr>
      <vt:lpstr>Visualization in Data Science Pipelines</vt:lpstr>
      <vt:lpstr>Good vs Bad communication:</vt:lpstr>
      <vt:lpstr>Good or Bad?</vt:lpstr>
      <vt:lpstr>Good or Bad?</vt:lpstr>
      <vt:lpstr>Good or Bad?</vt:lpstr>
      <vt:lpstr>Numerical and categorical variables</vt:lpstr>
      <vt:lpstr>Numerical and categorical variables</vt:lpstr>
      <vt:lpstr>Numerical and categorical variables</vt:lpstr>
      <vt:lpstr>Numerical and categorical variables</vt:lpstr>
      <vt:lpstr>Numerical and categorical variables</vt:lpstr>
      <vt:lpstr>Numerical and categorical variables</vt:lpstr>
      <vt:lpstr>Guess the variable type</vt:lpstr>
      <vt:lpstr>Visualizing numerical data</vt:lpstr>
      <vt:lpstr>Visualizing numerical data</vt:lpstr>
      <vt:lpstr>PowerPoint Presentation</vt:lpstr>
      <vt:lpstr>PowerPoint Presentation</vt:lpstr>
      <vt:lpstr>PowerPoint Presentation</vt:lpstr>
      <vt:lpstr>PowerPoint Presentation</vt:lpstr>
      <vt:lpstr>PowerPoint Presentation</vt:lpstr>
      <vt:lpstr>PowerPoint Presentation</vt:lpstr>
      <vt:lpstr>Plotting the sample distribution</vt:lpstr>
      <vt:lpstr>Plotting the sample distribution, log(x) axis</vt:lpstr>
      <vt:lpstr>Visualizing Categorical Data: Tables and Heatmaps</vt:lpstr>
      <vt:lpstr>Visualizing Categorical Data: Tables and Heatmaps</vt:lpstr>
      <vt:lpstr>PowerPoint Presentation</vt:lpstr>
      <vt:lpstr>Visualize relationships between variables</vt:lpstr>
      <vt:lpstr>Scatter plots visualize relationships between variables</vt:lpstr>
      <vt:lpstr>PowerPoint Presentation</vt:lpstr>
      <vt:lpstr>PowerPoint Presentation</vt:lpstr>
      <vt:lpstr>Or just a line graph…</vt:lpstr>
      <vt:lpstr>Line graph vs Histogram</vt:lpstr>
      <vt:lpstr>Overlapping Histograms</vt:lpstr>
      <vt:lpstr>What makes an effective visualization?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wrong with this plot?</vt:lpstr>
      <vt:lpstr>Some data is hard to visualize</vt:lpstr>
      <vt:lpstr>Color Coding can be useful</vt:lpstr>
      <vt:lpstr>Try Small Multiples</vt:lpstr>
      <vt:lpstr>PowerPoint Presentation</vt:lpstr>
      <vt:lpstr>Notes on Perceptual Effectiveness:  How much longer is B?</vt:lpstr>
      <vt:lpstr>Notes on Perceptual Effectiveness:  How much steeper is A?</vt:lpstr>
      <vt:lpstr>Notes on Perceptual Effectiveness:  How much bigger in area is B?</vt:lpstr>
      <vt:lpstr>Notes on Perceptual Effectiveness:  How much bigger is B?</vt:lpstr>
      <vt:lpstr>Avoid Rainbow Colormaps!</vt:lpstr>
      <vt:lpstr>Perceptual Effectiveness</vt:lpstr>
      <vt:lpstr>Perceptual Effectiveness</vt:lpstr>
      <vt:lpstr>Assessing Sales: Which plot?</vt:lpstr>
      <vt:lpstr>Assessing Market Share: Which plot?</vt:lpstr>
      <vt:lpstr>Assessing Energy: Which plot?</vt:lpstr>
      <vt:lpstr>Assessing a sports team performance: Which plot?</vt:lpstr>
      <vt:lpstr>Assessing furniture sales across regions</vt:lpstr>
      <vt:lpstr>There are many types of plots…</vt:lpstr>
      <vt:lpstr>Describing data quantitatively</vt:lpstr>
      <vt:lpstr>Describing data quantitatively</vt:lpstr>
      <vt:lpstr>Measures of central tendency</vt:lpstr>
      <vt:lpstr>Measures of central tendency</vt:lpstr>
      <vt:lpstr>Measures of central tendency</vt:lpstr>
      <vt:lpstr>Measures of central tendency</vt:lpstr>
      <vt:lpstr>Measures of central tendency</vt:lpstr>
      <vt:lpstr>PowerPoint Presentation</vt:lpstr>
      <vt:lpstr>Mean and Median: Bimodal Distributions</vt:lpstr>
      <vt:lpstr>Measures of spread</vt:lpstr>
      <vt:lpstr>Measures of spread</vt:lpstr>
      <vt:lpstr>Measures of spread</vt:lpstr>
      <vt:lpstr>Measures of spread</vt:lpstr>
      <vt:lpstr>Measures of spread</vt:lpstr>
      <vt:lpstr>Measures of spread</vt:lpstr>
      <vt:lpstr>Other statistical measures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Wodeyar, Anirudh (DACS)</dc:creator>
  <cp:lastModifiedBy>Wodeyar, Anirudh (DACS)</cp:lastModifiedBy>
  <cp:revision>81</cp:revision>
  <dcterms:created xsi:type="dcterms:W3CDTF">2024-09-03T09:19:51Z</dcterms:created>
  <dcterms:modified xsi:type="dcterms:W3CDTF">2026-03-31T14:41:35Z</dcterms:modified>
</cp:coreProperties>
</file>