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00"/>
  </p:notesMasterIdLst>
  <p:sldIdLst>
    <p:sldId id="261" r:id="rId2"/>
    <p:sldId id="699" r:id="rId3"/>
    <p:sldId id="670" r:id="rId4"/>
    <p:sldId id="653" r:id="rId5"/>
    <p:sldId id="652" r:id="rId6"/>
    <p:sldId id="703" r:id="rId7"/>
    <p:sldId id="704" r:id="rId8"/>
    <p:sldId id="705" r:id="rId9"/>
    <p:sldId id="690" r:id="rId10"/>
    <p:sldId id="691" r:id="rId11"/>
    <p:sldId id="639" r:id="rId12"/>
    <p:sldId id="700" r:id="rId13"/>
    <p:sldId id="701" r:id="rId14"/>
    <p:sldId id="706" r:id="rId15"/>
    <p:sldId id="707" r:id="rId16"/>
    <p:sldId id="708" r:id="rId17"/>
    <p:sldId id="702" r:id="rId18"/>
    <p:sldId id="709" r:id="rId19"/>
    <p:sldId id="712" r:id="rId20"/>
    <p:sldId id="710" r:id="rId21"/>
    <p:sldId id="498" r:id="rId22"/>
    <p:sldId id="501" r:id="rId23"/>
    <p:sldId id="500" r:id="rId24"/>
    <p:sldId id="504" r:id="rId25"/>
    <p:sldId id="717" r:id="rId26"/>
    <p:sldId id="718" r:id="rId27"/>
    <p:sldId id="719" r:id="rId28"/>
    <p:sldId id="711" r:id="rId29"/>
    <p:sldId id="713" r:id="rId30"/>
    <p:sldId id="720" r:id="rId31"/>
    <p:sldId id="721" r:id="rId32"/>
    <p:sldId id="723" r:id="rId33"/>
    <p:sldId id="716" r:id="rId34"/>
    <p:sldId id="724" r:id="rId35"/>
    <p:sldId id="780" r:id="rId36"/>
    <p:sldId id="521" r:id="rId37"/>
    <p:sldId id="725" r:id="rId38"/>
    <p:sldId id="726" r:id="rId39"/>
    <p:sldId id="727" r:id="rId40"/>
    <p:sldId id="728" r:id="rId41"/>
    <p:sldId id="732" r:id="rId42"/>
    <p:sldId id="714" r:id="rId43"/>
    <p:sldId id="733" r:id="rId44"/>
    <p:sldId id="731" r:id="rId45"/>
    <p:sldId id="739" r:id="rId46"/>
    <p:sldId id="734" r:id="rId47"/>
    <p:sldId id="736" r:id="rId48"/>
    <p:sldId id="735" r:id="rId49"/>
    <p:sldId id="737" r:id="rId50"/>
    <p:sldId id="741" r:id="rId51"/>
    <p:sldId id="738" r:id="rId52"/>
    <p:sldId id="740" r:id="rId53"/>
    <p:sldId id="715" r:id="rId54"/>
    <p:sldId id="742" r:id="rId55"/>
    <p:sldId id="743" r:id="rId56"/>
    <p:sldId id="729" r:id="rId57"/>
    <p:sldId id="745" r:id="rId58"/>
    <p:sldId id="744" r:id="rId59"/>
    <p:sldId id="746" r:id="rId60"/>
    <p:sldId id="747" r:id="rId61"/>
    <p:sldId id="748" r:id="rId62"/>
    <p:sldId id="749" r:id="rId63"/>
    <p:sldId id="750" r:id="rId64"/>
    <p:sldId id="753" r:id="rId65"/>
    <p:sldId id="754" r:id="rId66"/>
    <p:sldId id="751" r:id="rId67"/>
    <p:sldId id="755" r:id="rId68"/>
    <p:sldId id="752" r:id="rId69"/>
    <p:sldId id="759" r:id="rId70"/>
    <p:sldId id="756" r:id="rId71"/>
    <p:sldId id="757" r:id="rId72"/>
    <p:sldId id="760" r:id="rId73"/>
    <p:sldId id="761" r:id="rId74"/>
    <p:sldId id="762" r:id="rId75"/>
    <p:sldId id="763" r:id="rId76"/>
    <p:sldId id="764" r:id="rId77"/>
    <p:sldId id="765" r:id="rId78"/>
    <p:sldId id="767" r:id="rId79"/>
    <p:sldId id="766" r:id="rId80"/>
    <p:sldId id="758" r:id="rId81"/>
    <p:sldId id="768" r:id="rId82"/>
    <p:sldId id="771" r:id="rId83"/>
    <p:sldId id="672" r:id="rId84"/>
    <p:sldId id="772" r:id="rId85"/>
    <p:sldId id="773" r:id="rId86"/>
    <p:sldId id="781" r:id="rId87"/>
    <p:sldId id="676" r:id="rId88"/>
    <p:sldId id="677" r:id="rId89"/>
    <p:sldId id="769" r:id="rId90"/>
    <p:sldId id="774" r:id="rId91"/>
    <p:sldId id="776" r:id="rId92"/>
    <p:sldId id="664" r:id="rId93"/>
    <p:sldId id="544" r:id="rId94"/>
    <p:sldId id="775" r:id="rId95"/>
    <p:sldId id="777" r:id="rId96"/>
    <p:sldId id="778" r:id="rId97"/>
    <p:sldId id="779" r:id="rId98"/>
    <p:sldId id="262" r:id="rId9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CC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95"/>
    <p:restoredTop sz="91367"/>
  </p:normalViewPr>
  <p:slideViewPr>
    <p:cSldViewPr snapToGrid="0">
      <p:cViewPr>
        <p:scale>
          <a:sx n="110" d="100"/>
          <a:sy n="110" d="100"/>
        </p:scale>
        <p:origin x="1096" y="6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5D0003-FA4B-0F43-811D-7804FB41F3F8}" type="datetimeFigureOut">
              <a:rPr lang="en-US" smtClean="0"/>
              <a:t>4/1/26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EBCCA0-B08A-8E45-8AB6-C85393D3FEC0}" type="slidenum">
              <a:rPr lang="en-US" smtClean="0"/>
              <a:t>‹#›</a:t>
            </a:fld>
            <a:endParaRPr lang="en-US"/>
          </a:p>
        </p:txBody>
      </p:sp>
    </p:spTree>
    <p:extLst>
      <p:ext uri="{BB962C8B-B14F-4D97-AF65-F5344CB8AC3E}">
        <p14:creationId xmlns:p14="http://schemas.microsoft.com/office/powerpoint/2010/main" val="2028207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B47C9-94C3-6E8D-68B7-8D152156C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C4BCB4-2D36-B1EA-EE5F-69AC185AE5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3A1D5F-D1F7-E893-5CB2-328472D7A122}"/>
              </a:ext>
            </a:extLst>
          </p:cNvPr>
          <p:cNvSpPr>
            <a:spLocks noGrp="1"/>
          </p:cNvSpPr>
          <p:nvPr>
            <p:ph type="body" idx="1"/>
          </p:nvPr>
        </p:nvSpPr>
        <p:spPr/>
        <p:txBody>
          <a:bodyPr/>
          <a:lstStyle/>
          <a:p>
            <a:r>
              <a:rPr lang="en-NL" dirty="0"/>
              <a:t>PDF: finding probability of a range (area under the curve), e.g. [2.00000, 2.000001], never exact point. Probability of exact x = 0.</a:t>
            </a:r>
          </a:p>
          <a:p>
            <a:r>
              <a:rPr lang="en-NL" dirty="0"/>
              <a:t>You integrate to find the area under the curve. </a:t>
            </a:r>
          </a:p>
        </p:txBody>
      </p:sp>
      <p:sp>
        <p:nvSpPr>
          <p:cNvPr id="4" name="Slide Number Placeholder 3">
            <a:extLst>
              <a:ext uri="{FF2B5EF4-FFF2-40B4-BE49-F238E27FC236}">
                <a16:creationId xmlns:a16="http://schemas.microsoft.com/office/drawing/2014/main" id="{F7A1E315-E98C-D738-D4FF-C7B2EA9DAF8E}"/>
              </a:ext>
            </a:extLst>
          </p:cNvPr>
          <p:cNvSpPr>
            <a:spLocks noGrp="1"/>
          </p:cNvSpPr>
          <p:nvPr>
            <p:ph type="sldNum" sz="quarter" idx="5"/>
          </p:nvPr>
        </p:nvSpPr>
        <p:spPr/>
        <p:txBody>
          <a:bodyPr/>
          <a:lstStyle/>
          <a:p>
            <a:fld id="{74EBCCA0-B08A-8E45-8AB6-C85393D3FEC0}" type="slidenum">
              <a:rPr lang="en-US" smtClean="0"/>
              <a:t>2</a:t>
            </a:fld>
            <a:endParaRPr lang="en-US"/>
          </a:p>
        </p:txBody>
      </p:sp>
    </p:spTree>
    <p:extLst>
      <p:ext uri="{BB962C8B-B14F-4D97-AF65-F5344CB8AC3E}">
        <p14:creationId xmlns:p14="http://schemas.microsoft.com/office/powerpoint/2010/main" val="1771934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But once we know that we can use a distribution, our life gets much easier.</a:t>
            </a:r>
          </a:p>
        </p:txBody>
      </p:sp>
      <p:sp>
        <p:nvSpPr>
          <p:cNvPr id="4" name="Slide Number Placeholder 3"/>
          <p:cNvSpPr>
            <a:spLocks noGrp="1"/>
          </p:cNvSpPr>
          <p:nvPr>
            <p:ph type="sldNum" sz="quarter" idx="5"/>
          </p:nvPr>
        </p:nvSpPr>
        <p:spPr/>
        <p:txBody>
          <a:bodyPr/>
          <a:lstStyle/>
          <a:p>
            <a:fld id="{74EBCCA0-B08A-8E45-8AB6-C85393D3FEC0}" type="slidenum">
              <a:rPr lang="en-US" smtClean="0"/>
              <a:t>9</a:t>
            </a:fld>
            <a:endParaRPr lang="en-US"/>
          </a:p>
        </p:txBody>
      </p:sp>
    </p:spTree>
    <p:extLst>
      <p:ext uri="{BB962C8B-B14F-4D97-AF65-F5344CB8AC3E}">
        <p14:creationId xmlns:p14="http://schemas.microsoft.com/office/powerpoint/2010/main" val="4126566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We were in control of n, a set number of trials. But what if our n gets extremely large? Our calculations become difficult. </a:t>
            </a:r>
          </a:p>
          <a:p>
            <a:r>
              <a:rPr lang="en-NL" b="1" dirty="0"/>
              <a:t>What if I leave my laptop on for week? What if we run for every millisecond?</a:t>
            </a:r>
          </a:p>
        </p:txBody>
      </p:sp>
      <p:sp>
        <p:nvSpPr>
          <p:cNvPr id="4" name="Slide Number Placeholder 3"/>
          <p:cNvSpPr>
            <a:spLocks noGrp="1"/>
          </p:cNvSpPr>
          <p:nvPr>
            <p:ph type="sldNum" sz="quarter" idx="5"/>
          </p:nvPr>
        </p:nvSpPr>
        <p:spPr/>
        <p:txBody>
          <a:bodyPr/>
          <a:lstStyle/>
          <a:p>
            <a:fld id="{74EBCCA0-B08A-8E45-8AB6-C85393D3FEC0}" type="slidenum">
              <a:rPr lang="en-US" smtClean="0"/>
              <a:t>12</a:t>
            </a:fld>
            <a:endParaRPr lang="en-US"/>
          </a:p>
        </p:txBody>
      </p:sp>
    </p:spTree>
    <p:extLst>
      <p:ext uri="{BB962C8B-B14F-4D97-AF65-F5344CB8AC3E}">
        <p14:creationId xmlns:p14="http://schemas.microsoft.com/office/powerpoint/2010/main" val="2522085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t>
            </a:r>
            <a:r>
              <a:rPr lang="en-NL" dirty="0"/>
              <a:t>ostly used for fixed time intervals, but theoretically could be extended for any fixed time or space interval with rare events</a:t>
            </a:r>
          </a:p>
        </p:txBody>
      </p:sp>
      <p:sp>
        <p:nvSpPr>
          <p:cNvPr id="4" name="Slide Number Placeholder 3"/>
          <p:cNvSpPr>
            <a:spLocks noGrp="1"/>
          </p:cNvSpPr>
          <p:nvPr>
            <p:ph type="sldNum" sz="quarter" idx="5"/>
          </p:nvPr>
        </p:nvSpPr>
        <p:spPr/>
        <p:txBody>
          <a:bodyPr/>
          <a:lstStyle/>
          <a:p>
            <a:fld id="{74EBCCA0-B08A-8E45-8AB6-C85393D3FEC0}" type="slidenum">
              <a:rPr lang="en-US" smtClean="0"/>
              <a:t>13</a:t>
            </a:fld>
            <a:endParaRPr lang="en-US"/>
          </a:p>
        </p:txBody>
      </p:sp>
    </p:spTree>
    <p:extLst>
      <p:ext uri="{BB962C8B-B14F-4D97-AF65-F5344CB8AC3E}">
        <p14:creationId xmlns:p14="http://schemas.microsoft.com/office/powerpoint/2010/main" val="1952859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6040E-F5A8-656B-1835-20DAFA95C0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A916C3-D3C8-B180-D945-30FE02C9C3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56CC1-10B6-A22C-0ED6-C6DBA215100D}"/>
              </a:ext>
            </a:extLst>
          </p:cNvPr>
          <p:cNvSpPr>
            <a:spLocks noGrp="1"/>
          </p:cNvSpPr>
          <p:nvPr>
            <p:ph type="body" idx="1"/>
          </p:nvPr>
        </p:nvSpPr>
        <p:spPr/>
        <p:txBody>
          <a:bodyPr/>
          <a:lstStyle/>
          <a:p>
            <a:r>
              <a:rPr lang="en-GB" dirty="0"/>
              <a:t>M</a:t>
            </a:r>
            <a:r>
              <a:rPr lang="en-NL" dirty="0"/>
              <a:t>ostly used for fixed time intervals, but theoretically could be extended for any fixed time or space interval with rare events</a:t>
            </a:r>
          </a:p>
        </p:txBody>
      </p:sp>
      <p:sp>
        <p:nvSpPr>
          <p:cNvPr id="4" name="Slide Number Placeholder 3">
            <a:extLst>
              <a:ext uri="{FF2B5EF4-FFF2-40B4-BE49-F238E27FC236}">
                <a16:creationId xmlns:a16="http://schemas.microsoft.com/office/drawing/2014/main" id="{E82764BA-9A49-D78B-E27E-0CD8AD7145D1}"/>
              </a:ext>
            </a:extLst>
          </p:cNvPr>
          <p:cNvSpPr>
            <a:spLocks noGrp="1"/>
          </p:cNvSpPr>
          <p:nvPr>
            <p:ph type="sldNum" sz="quarter" idx="5"/>
          </p:nvPr>
        </p:nvSpPr>
        <p:spPr/>
        <p:txBody>
          <a:bodyPr/>
          <a:lstStyle/>
          <a:p>
            <a:fld id="{74EBCCA0-B08A-8E45-8AB6-C85393D3FEC0}" type="slidenum">
              <a:rPr lang="en-US" smtClean="0"/>
              <a:t>14</a:t>
            </a:fld>
            <a:endParaRPr lang="en-US"/>
          </a:p>
        </p:txBody>
      </p:sp>
    </p:spTree>
    <p:extLst>
      <p:ext uri="{BB962C8B-B14F-4D97-AF65-F5344CB8AC3E}">
        <p14:creationId xmlns:p14="http://schemas.microsoft.com/office/powerpoint/2010/main" val="3465885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6EBA4-6E7C-D9BC-CDEF-4A2EC82EA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6692FB-74F1-BF8E-6E63-E08009C999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03B247-C5FC-6BA3-6523-22C3E92EBC2F}"/>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BF2E51D9-87BE-B674-739B-A98CB7ED4007}"/>
              </a:ext>
            </a:extLst>
          </p:cNvPr>
          <p:cNvSpPr>
            <a:spLocks noGrp="1"/>
          </p:cNvSpPr>
          <p:nvPr>
            <p:ph type="sldNum" sz="quarter" idx="5"/>
          </p:nvPr>
        </p:nvSpPr>
        <p:spPr/>
        <p:txBody>
          <a:bodyPr/>
          <a:lstStyle/>
          <a:p>
            <a:fld id="{74EBCCA0-B08A-8E45-8AB6-C85393D3FEC0}" type="slidenum">
              <a:rPr lang="en-US" smtClean="0"/>
              <a:t>15</a:t>
            </a:fld>
            <a:endParaRPr lang="en-US"/>
          </a:p>
        </p:txBody>
      </p:sp>
    </p:spTree>
    <p:extLst>
      <p:ext uri="{BB962C8B-B14F-4D97-AF65-F5344CB8AC3E}">
        <p14:creationId xmlns:p14="http://schemas.microsoft.com/office/powerpoint/2010/main" val="1699635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7ACA7-C782-E4FF-923F-1FC8EF2953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F4AB35-02B4-5B38-7764-B578E9DDA3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F77EBC-8936-0AFB-9F3C-D5B41A446B8B}"/>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E0BCC8EB-D39A-571C-C35E-A4BADD592412}"/>
              </a:ext>
            </a:extLst>
          </p:cNvPr>
          <p:cNvSpPr>
            <a:spLocks noGrp="1"/>
          </p:cNvSpPr>
          <p:nvPr>
            <p:ph type="sldNum" sz="quarter" idx="5"/>
          </p:nvPr>
        </p:nvSpPr>
        <p:spPr/>
        <p:txBody>
          <a:bodyPr/>
          <a:lstStyle/>
          <a:p>
            <a:fld id="{74EBCCA0-B08A-8E45-8AB6-C85393D3FEC0}" type="slidenum">
              <a:rPr lang="en-US" smtClean="0"/>
              <a:t>16</a:t>
            </a:fld>
            <a:endParaRPr lang="en-US"/>
          </a:p>
        </p:txBody>
      </p:sp>
    </p:spTree>
    <p:extLst>
      <p:ext uri="{BB962C8B-B14F-4D97-AF65-F5344CB8AC3E}">
        <p14:creationId xmlns:p14="http://schemas.microsoft.com/office/powerpoint/2010/main" val="1137225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a:t>
            </a:r>
            <a:r>
              <a:rPr lang="en-NL" dirty="0"/>
              <a:t> to 10, 20, 50 and 100. As you see, binomial converges towards poisson</a:t>
            </a:r>
          </a:p>
        </p:txBody>
      </p:sp>
      <p:sp>
        <p:nvSpPr>
          <p:cNvPr id="4" name="Slide Number Placeholder 3"/>
          <p:cNvSpPr>
            <a:spLocks noGrp="1"/>
          </p:cNvSpPr>
          <p:nvPr>
            <p:ph type="sldNum" sz="quarter" idx="5"/>
          </p:nvPr>
        </p:nvSpPr>
        <p:spPr/>
        <p:txBody>
          <a:bodyPr/>
          <a:lstStyle/>
          <a:p>
            <a:fld id="{74EBCCA0-B08A-8E45-8AB6-C85393D3FEC0}" type="slidenum">
              <a:rPr lang="en-US" smtClean="0"/>
              <a:t>17</a:t>
            </a:fld>
            <a:endParaRPr lang="en-US"/>
          </a:p>
        </p:txBody>
      </p:sp>
    </p:spTree>
    <p:extLst>
      <p:ext uri="{BB962C8B-B14F-4D97-AF65-F5344CB8AC3E}">
        <p14:creationId xmlns:p14="http://schemas.microsoft.com/office/powerpoint/2010/main" val="30362186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The intuition of poisson begins with a counting process (li</a:t>
            </a:r>
            <a:r>
              <a:rPr lang="en-GB" dirty="0" err="1"/>
              <a:t>ke</a:t>
            </a:r>
            <a:r>
              <a:rPr lang="en-NL" dirty="0"/>
              <a:t> a stopwatch). We count the crashes during a continuous time laps</a:t>
            </a:r>
          </a:p>
          <a:p>
            <a:endParaRPr lang="en-NL" dirty="0"/>
          </a:p>
          <a:p>
            <a:r>
              <a:rPr lang="en-NL" dirty="0"/>
              <a:t>A counting process is not necessary to recognize poisson, but it explains the intuition. We simply count rare occurences over time and poisson helps us in deriving the probability of a number of events happening</a:t>
            </a:r>
          </a:p>
        </p:txBody>
      </p:sp>
      <p:sp>
        <p:nvSpPr>
          <p:cNvPr id="4" name="Slide Number Placeholder 3"/>
          <p:cNvSpPr>
            <a:spLocks noGrp="1"/>
          </p:cNvSpPr>
          <p:nvPr>
            <p:ph type="sldNum" sz="quarter" idx="5"/>
          </p:nvPr>
        </p:nvSpPr>
        <p:spPr/>
        <p:txBody>
          <a:bodyPr/>
          <a:lstStyle/>
          <a:p>
            <a:fld id="{74EBCCA0-B08A-8E45-8AB6-C85393D3FEC0}" type="slidenum">
              <a:rPr lang="en-US" smtClean="0"/>
              <a:t>18</a:t>
            </a:fld>
            <a:endParaRPr lang="en-US"/>
          </a:p>
        </p:txBody>
      </p:sp>
    </p:spTree>
    <p:extLst>
      <p:ext uri="{BB962C8B-B14F-4D97-AF65-F5344CB8AC3E}">
        <p14:creationId xmlns:p14="http://schemas.microsoft.com/office/powerpoint/2010/main" val="36194853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C9643-8EAE-AB5E-387A-8013CE42D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103EFB-EEC6-BB42-EA12-81F3C6E31A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54C451-BFFA-6366-AF0B-713FADD47394}"/>
              </a:ext>
            </a:extLst>
          </p:cNvPr>
          <p:cNvSpPr>
            <a:spLocks noGrp="1"/>
          </p:cNvSpPr>
          <p:nvPr>
            <p:ph type="body" idx="1"/>
          </p:nvPr>
        </p:nvSpPr>
        <p:spPr/>
        <p:txBody>
          <a:bodyPr/>
          <a:lstStyle/>
          <a:p>
            <a:r>
              <a:rPr lang="en-NL" dirty="0"/>
              <a:t>This helps us towards poisson. </a:t>
            </a:r>
          </a:p>
        </p:txBody>
      </p:sp>
      <p:sp>
        <p:nvSpPr>
          <p:cNvPr id="4" name="Slide Number Placeholder 3">
            <a:extLst>
              <a:ext uri="{FF2B5EF4-FFF2-40B4-BE49-F238E27FC236}">
                <a16:creationId xmlns:a16="http://schemas.microsoft.com/office/drawing/2014/main" id="{9B668697-E406-8EF8-B3B1-0586E519575F}"/>
              </a:ext>
            </a:extLst>
          </p:cNvPr>
          <p:cNvSpPr>
            <a:spLocks noGrp="1"/>
          </p:cNvSpPr>
          <p:nvPr>
            <p:ph type="sldNum" sz="quarter" idx="5"/>
          </p:nvPr>
        </p:nvSpPr>
        <p:spPr/>
        <p:txBody>
          <a:bodyPr/>
          <a:lstStyle/>
          <a:p>
            <a:fld id="{74EBCCA0-B08A-8E45-8AB6-C85393D3FEC0}" type="slidenum">
              <a:rPr lang="en-US" smtClean="0"/>
              <a:t>19</a:t>
            </a:fld>
            <a:endParaRPr lang="en-US"/>
          </a:p>
        </p:txBody>
      </p:sp>
    </p:spTree>
    <p:extLst>
      <p:ext uri="{BB962C8B-B14F-4D97-AF65-F5344CB8AC3E}">
        <p14:creationId xmlns:p14="http://schemas.microsoft.com/office/powerpoint/2010/main" val="14841793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74EBCCA0-B08A-8E45-8AB6-C85393D3FEC0}" type="slidenum">
              <a:rPr lang="en-US" smtClean="0"/>
              <a:t>20</a:t>
            </a:fld>
            <a:endParaRPr lang="en-US"/>
          </a:p>
        </p:txBody>
      </p:sp>
    </p:spTree>
    <p:extLst>
      <p:ext uri="{BB962C8B-B14F-4D97-AF65-F5344CB8AC3E}">
        <p14:creationId xmlns:p14="http://schemas.microsoft.com/office/powerpoint/2010/main" val="13331532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Left side is often used for poisson. But in this way, lambda is set and we only study a single time interval. When we account for t directly and use lambda as rate, we can directly change the time</a:t>
            </a:r>
          </a:p>
        </p:txBody>
      </p:sp>
      <p:sp>
        <p:nvSpPr>
          <p:cNvPr id="4" name="Slide Number Placeholder 3"/>
          <p:cNvSpPr>
            <a:spLocks noGrp="1"/>
          </p:cNvSpPr>
          <p:nvPr>
            <p:ph type="sldNum" sz="quarter" idx="5"/>
          </p:nvPr>
        </p:nvSpPr>
        <p:spPr/>
        <p:txBody>
          <a:bodyPr/>
          <a:lstStyle/>
          <a:p>
            <a:fld id="{74EBCCA0-B08A-8E45-8AB6-C85393D3FEC0}" type="slidenum">
              <a:rPr lang="en-US" smtClean="0"/>
              <a:t>25</a:t>
            </a:fld>
            <a:endParaRPr lang="en-US"/>
          </a:p>
        </p:txBody>
      </p:sp>
    </p:spTree>
    <p:extLst>
      <p:ext uri="{BB962C8B-B14F-4D97-AF65-F5344CB8AC3E}">
        <p14:creationId xmlns:p14="http://schemas.microsoft.com/office/powerpoint/2010/main" val="14237194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1A896-3787-56F4-0A53-E7659132D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55085E-457B-C773-8290-847859487F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E59549-390C-2E05-6FC6-A6B0CE36A2A3}"/>
              </a:ext>
            </a:extLst>
          </p:cNvPr>
          <p:cNvSpPr>
            <a:spLocks noGrp="1"/>
          </p:cNvSpPr>
          <p:nvPr>
            <p:ph type="body" idx="1"/>
          </p:nvPr>
        </p:nvSpPr>
        <p:spPr/>
        <p:txBody>
          <a:bodyPr/>
          <a:lstStyle/>
          <a:p>
            <a:r>
              <a:rPr lang="en-NL" dirty="0"/>
              <a:t>Left side is often used for poisson. But in this way, lambda is set and we only study a single time interval. When we account for t directly and use lambda as rate, we can directly change the time</a:t>
            </a:r>
          </a:p>
        </p:txBody>
      </p:sp>
      <p:sp>
        <p:nvSpPr>
          <p:cNvPr id="4" name="Slide Number Placeholder 3">
            <a:extLst>
              <a:ext uri="{FF2B5EF4-FFF2-40B4-BE49-F238E27FC236}">
                <a16:creationId xmlns:a16="http://schemas.microsoft.com/office/drawing/2014/main" id="{0BBBAD43-A94F-E25F-FB94-357C74FA1E13}"/>
              </a:ext>
            </a:extLst>
          </p:cNvPr>
          <p:cNvSpPr>
            <a:spLocks noGrp="1"/>
          </p:cNvSpPr>
          <p:nvPr>
            <p:ph type="sldNum" sz="quarter" idx="5"/>
          </p:nvPr>
        </p:nvSpPr>
        <p:spPr/>
        <p:txBody>
          <a:bodyPr/>
          <a:lstStyle/>
          <a:p>
            <a:fld id="{74EBCCA0-B08A-8E45-8AB6-C85393D3FEC0}" type="slidenum">
              <a:rPr lang="en-US" smtClean="0"/>
              <a:t>26</a:t>
            </a:fld>
            <a:endParaRPr lang="en-US"/>
          </a:p>
        </p:txBody>
      </p:sp>
    </p:spTree>
    <p:extLst>
      <p:ext uri="{BB962C8B-B14F-4D97-AF65-F5344CB8AC3E}">
        <p14:creationId xmlns:p14="http://schemas.microsoft.com/office/powerpoint/2010/main" val="15031572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74EBCCA0-B08A-8E45-8AB6-C85393D3FEC0}" type="slidenum">
              <a:rPr lang="en-US" smtClean="0"/>
              <a:t>28</a:t>
            </a:fld>
            <a:endParaRPr lang="en-US"/>
          </a:p>
        </p:txBody>
      </p:sp>
    </p:spTree>
    <p:extLst>
      <p:ext uri="{BB962C8B-B14F-4D97-AF65-F5344CB8AC3E}">
        <p14:creationId xmlns:p14="http://schemas.microsoft.com/office/powerpoint/2010/main" val="41659252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a:t>
            </a:r>
            <a:r>
              <a:rPr lang="en-NL" dirty="0"/>
              <a:t> = 1 so cancelled out in the multiplication</a:t>
            </a:r>
          </a:p>
        </p:txBody>
      </p:sp>
      <p:sp>
        <p:nvSpPr>
          <p:cNvPr id="4" name="Slide Number Placeholder 3"/>
          <p:cNvSpPr>
            <a:spLocks noGrp="1"/>
          </p:cNvSpPr>
          <p:nvPr>
            <p:ph type="sldNum" sz="quarter" idx="5"/>
          </p:nvPr>
        </p:nvSpPr>
        <p:spPr/>
        <p:txBody>
          <a:bodyPr/>
          <a:lstStyle/>
          <a:p>
            <a:fld id="{74EBCCA0-B08A-8E45-8AB6-C85393D3FEC0}" type="slidenum">
              <a:rPr lang="en-US" smtClean="0"/>
              <a:t>32</a:t>
            </a:fld>
            <a:endParaRPr lang="en-US"/>
          </a:p>
        </p:txBody>
      </p:sp>
    </p:spTree>
    <p:extLst>
      <p:ext uri="{BB962C8B-B14F-4D97-AF65-F5344CB8AC3E}">
        <p14:creationId xmlns:p14="http://schemas.microsoft.com/office/powerpoint/2010/main" val="904790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FROM POISSON TO NORMAL</a:t>
            </a:r>
          </a:p>
          <a:p>
            <a:r>
              <a:rPr lang="en-NL" dirty="0"/>
              <a:t>We see our lambda * t change. From 0.4 for 1 day to 100 for 250 days. Remember that the rate (lambda itself) remains constant at 0.4. Only t increases</a:t>
            </a:r>
          </a:p>
        </p:txBody>
      </p:sp>
      <p:sp>
        <p:nvSpPr>
          <p:cNvPr id="4" name="Slide Number Placeholder 3"/>
          <p:cNvSpPr>
            <a:spLocks noGrp="1"/>
          </p:cNvSpPr>
          <p:nvPr>
            <p:ph type="sldNum" sz="quarter" idx="5"/>
          </p:nvPr>
        </p:nvSpPr>
        <p:spPr/>
        <p:txBody>
          <a:bodyPr/>
          <a:lstStyle/>
          <a:p>
            <a:fld id="{74EBCCA0-B08A-8E45-8AB6-C85393D3FEC0}" type="slidenum">
              <a:rPr lang="en-US" smtClean="0"/>
              <a:t>33</a:t>
            </a:fld>
            <a:endParaRPr lang="en-US"/>
          </a:p>
        </p:txBody>
      </p:sp>
    </p:spTree>
    <p:extLst>
      <p:ext uri="{BB962C8B-B14F-4D97-AF65-F5344CB8AC3E}">
        <p14:creationId xmlns:p14="http://schemas.microsoft.com/office/powerpoint/2010/main" val="24587930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AC9EF-D029-F469-1FE5-08410C850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D5360-6172-9527-6851-8980F92F9F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670C11-BBC3-4884-71B1-8CDDAADE3D71}"/>
              </a:ext>
            </a:extLst>
          </p:cNvPr>
          <p:cNvSpPr>
            <a:spLocks noGrp="1"/>
          </p:cNvSpPr>
          <p:nvPr>
            <p:ph type="body" idx="1"/>
          </p:nvPr>
        </p:nvSpPr>
        <p:spPr/>
        <p:txBody>
          <a:bodyPr/>
          <a:lstStyle/>
          <a:p>
            <a:r>
              <a:rPr lang="en-NL" dirty="0"/>
              <a:t>FROM POISSON TO NORMAL</a:t>
            </a:r>
          </a:p>
          <a:p>
            <a:r>
              <a:rPr lang="en-NL" dirty="0"/>
              <a:t>We see our lambda * t change. From 0.4 for 1 day to 100 for 250 days. Remember that the rate (lambda itself) remains constant at 0.4. Only t increases</a:t>
            </a:r>
          </a:p>
        </p:txBody>
      </p:sp>
      <p:sp>
        <p:nvSpPr>
          <p:cNvPr id="4" name="Slide Number Placeholder 3">
            <a:extLst>
              <a:ext uri="{FF2B5EF4-FFF2-40B4-BE49-F238E27FC236}">
                <a16:creationId xmlns:a16="http://schemas.microsoft.com/office/drawing/2014/main" id="{E50B01E8-CB21-1D93-E77F-C3C3367D1150}"/>
              </a:ext>
            </a:extLst>
          </p:cNvPr>
          <p:cNvSpPr>
            <a:spLocks noGrp="1"/>
          </p:cNvSpPr>
          <p:nvPr>
            <p:ph type="sldNum" sz="quarter" idx="5"/>
          </p:nvPr>
        </p:nvSpPr>
        <p:spPr/>
        <p:txBody>
          <a:bodyPr/>
          <a:lstStyle/>
          <a:p>
            <a:fld id="{74EBCCA0-B08A-8E45-8AB6-C85393D3FEC0}" type="slidenum">
              <a:rPr lang="en-US" smtClean="0"/>
              <a:t>34</a:t>
            </a:fld>
            <a:endParaRPr lang="en-US"/>
          </a:p>
        </p:txBody>
      </p:sp>
    </p:spTree>
    <p:extLst>
      <p:ext uri="{BB962C8B-B14F-4D97-AF65-F5344CB8AC3E}">
        <p14:creationId xmlns:p14="http://schemas.microsoft.com/office/powerpoint/2010/main" val="1445984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B740C-A660-105F-1DEC-A9B5A85638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35DB81-3112-DCCC-000A-615C3D4F83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AD0A8F-B403-2041-409F-51F2939520FB}"/>
              </a:ext>
            </a:extLst>
          </p:cNvPr>
          <p:cNvSpPr>
            <a:spLocks noGrp="1"/>
          </p:cNvSpPr>
          <p:nvPr>
            <p:ph type="body" idx="1"/>
          </p:nvPr>
        </p:nvSpPr>
        <p:spPr/>
        <p:txBody>
          <a:bodyPr/>
          <a:lstStyle/>
          <a:p>
            <a:r>
              <a:rPr lang="en-NL" dirty="0"/>
              <a:t>FROM POISSON TO NORMAL</a:t>
            </a:r>
          </a:p>
          <a:p>
            <a:r>
              <a:rPr lang="en-NL" dirty="0"/>
              <a:t>We see our lambda * t change. From 0.4 for 1 day to 100 for 250 days. Remember that the rate (lambda itself) remains constant at 0.4. Only t increases</a:t>
            </a:r>
          </a:p>
        </p:txBody>
      </p:sp>
      <p:sp>
        <p:nvSpPr>
          <p:cNvPr id="4" name="Slide Number Placeholder 3">
            <a:extLst>
              <a:ext uri="{FF2B5EF4-FFF2-40B4-BE49-F238E27FC236}">
                <a16:creationId xmlns:a16="http://schemas.microsoft.com/office/drawing/2014/main" id="{3C0A59F9-4523-9A49-E27D-D155427509B5}"/>
              </a:ext>
            </a:extLst>
          </p:cNvPr>
          <p:cNvSpPr>
            <a:spLocks noGrp="1"/>
          </p:cNvSpPr>
          <p:nvPr>
            <p:ph type="sldNum" sz="quarter" idx="5"/>
          </p:nvPr>
        </p:nvSpPr>
        <p:spPr/>
        <p:txBody>
          <a:bodyPr/>
          <a:lstStyle/>
          <a:p>
            <a:fld id="{74EBCCA0-B08A-8E45-8AB6-C85393D3FEC0}" type="slidenum">
              <a:rPr lang="en-US" smtClean="0"/>
              <a:t>35</a:t>
            </a:fld>
            <a:endParaRPr lang="en-US"/>
          </a:p>
        </p:txBody>
      </p:sp>
    </p:spTree>
    <p:extLst>
      <p:ext uri="{BB962C8B-B14F-4D97-AF65-F5344CB8AC3E}">
        <p14:creationId xmlns:p14="http://schemas.microsoft.com/office/powerpoint/2010/main" val="21267732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t>
            </a:r>
            <a:r>
              <a:rPr lang="en-NL" dirty="0"/>
              <a:t>aximal for X = mu means that the top of the bell curve is the highest point and is the mean</a:t>
            </a:r>
          </a:p>
        </p:txBody>
      </p:sp>
      <p:sp>
        <p:nvSpPr>
          <p:cNvPr id="4" name="Slide Number Placeholder 3"/>
          <p:cNvSpPr>
            <a:spLocks noGrp="1"/>
          </p:cNvSpPr>
          <p:nvPr>
            <p:ph type="sldNum" sz="quarter" idx="5"/>
          </p:nvPr>
        </p:nvSpPr>
        <p:spPr/>
        <p:txBody>
          <a:bodyPr/>
          <a:lstStyle/>
          <a:p>
            <a:fld id="{74EBCCA0-B08A-8E45-8AB6-C85393D3FEC0}" type="slidenum">
              <a:rPr lang="en-US" smtClean="0"/>
              <a:t>36</a:t>
            </a:fld>
            <a:endParaRPr lang="en-US"/>
          </a:p>
        </p:txBody>
      </p:sp>
    </p:spTree>
    <p:extLst>
      <p:ext uri="{BB962C8B-B14F-4D97-AF65-F5344CB8AC3E}">
        <p14:creationId xmlns:p14="http://schemas.microsoft.com/office/powerpoint/2010/main" val="9319706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WE do not need an infinute number of possible normal distributions. The area under the bell curve will alway</a:t>
            </a:r>
            <a:r>
              <a:rPr lang="en-GB" dirty="0"/>
              <a:t>s</a:t>
            </a:r>
            <a:r>
              <a:rPr lang="en-NL" dirty="0"/>
              <a:t> remain 1, even if we change out the parameters. </a:t>
            </a:r>
          </a:p>
          <a:p>
            <a:r>
              <a:rPr lang="en-GB" sz="1200" kern="1200" dirty="0">
                <a:solidFill>
                  <a:schemeClr val="tx1"/>
                </a:solidFill>
                <a:effectLst/>
                <a:latin typeface="+mn-lt"/>
                <a:ea typeface="+mn-ea"/>
                <a:cs typeface="+mn-cs"/>
              </a:rPr>
              <a:t>Your laptop crashes: mu=100, sigma=10</a:t>
            </a:r>
          </a:p>
          <a:p>
            <a:r>
              <a:rPr lang="en-GB" sz="1200" kern="1200" dirty="0">
                <a:solidFill>
                  <a:schemeClr val="tx1"/>
                </a:solidFill>
                <a:effectLst/>
                <a:latin typeface="+mn-lt"/>
                <a:ea typeface="+mn-ea"/>
                <a:cs typeface="+mn-cs"/>
              </a:rPr>
              <a:t>A person's height: mu=175, sigma=6</a:t>
            </a:r>
          </a:p>
          <a:p>
            <a:r>
              <a:rPr lang="en-GB" sz="1200" kern="1200" dirty="0">
                <a:solidFill>
                  <a:schemeClr val="tx1"/>
                </a:solidFill>
                <a:effectLst/>
                <a:latin typeface="+mn-lt"/>
                <a:ea typeface="+mn-ea"/>
                <a:cs typeface="+mn-cs"/>
              </a:rPr>
              <a:t>A blood pressure reading: mu=120, sigma=15</a:t>
            </a:r>
          </a:p>
          <a:p>
            <a:endParaRPr lang="en-NL" dirty="0"/>
          </a:p>
        </p:txBody>
      </p:sp>
      <p:sp>
        <p:nvSpPr>
          <p:cNvPr id="4" name="Slide Number Placeholder 3"/>
          <p:cNvSpPr>
            <a:spLocks noGrp="1"/>
          </p:cNvSpPr>
          <p:nvPr>
            <p:ph type="sldNum" sz="quarter" idx="5"/>
          </p:nvPr>
        </p:nvSpPr>
        <p:spPr/>
        <p:txBody>
          <a:bodyPr/>
          <a:lstStyle/>
          <a:p>
            <a:fld id="{74EBCCA0-B08A-8E45-8AB6-C85393D3FEC0}" type="slidenum">
              <a:rPr lang="en-US" smtClean="0"/>
              <a:t>40</a:t>
            </a:fld>
            <a:endParaRPr lang="en-US"/>
          </a:p>
        </p:txBody>
      </p:sp>
    </p:spTree>
    <p:extLst>
      <p:ext uri="{BB962C8B-B14F-4D97-AF65-F5344CB8AC3E}">
        <p14:creationId xmlns:p14="http://schemas.microsoft.com/office/powerpoint/2010/main" val="22083231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subtracting the mean and dividing by the standard deviation transforms </a:t>
            </a:r>
            <a:r>
              <a:rPr lang="en-GB" sz="1200" i="1" kern="1200" dirty="0">
                <a:solidFill>
                  <a:schemeClr val="tx1"/>
                </a:solidFill>
                <a:effectLst/>
                <a:latin typeface="+mn-lt"/>
                <a:ea typeface="+mn-ea"/>
                <a:cs typeface="+mn-cs"/>
              </a:rPr>
              <a:t>any</a:t>
            </a:r>
            <a:r>
              <a:rPr lang="en-GB" dirty="0"/>
              <a:t> Normal distribution into the </a:t>
            </a:r>
            <a:r>
              <a:rPr lang="en-GB" sz="1200" b="1" kern="1200" dirty="0">
                <a:solidFill>
                  <a:schemeClr val="tx1"/>
                </a:solidFill>
                <a:effectLst/>
                <a:latin typeface="+mn-lt"/>
                <a:ea typeface="+mn-ea"/>
                <a:cs typeface="+mn-cs"/>
              </a:rPr>
              <a:t>Standard Normal (</a:t>
            </a:r>
            <a:r>
              <a:rPr lang="en-GB" dirty="0"/>
              <a:t>ASSUMING ORIGINAL DATA WAS ALREADY NORMAL )</a:t>
            </a:r>
            <a:endParaRPr lang="en-GB" sz="1200" b="1" kern="1200" dirty="0">
              <a:solidFill>
                <a:schemeClr val="tx1"/>
              </a:solidFill>
              <a:effectLst/>
              <a:latin typeface="+mn-lt"/>
              <a:ea typeface="+mn-ea"/>
              <a:cs typeface="+mn-cs"/>
            </a:endParaRPr>
          </a:p>
          <a:p>
            <a:r>
              <a:rPr lang="en-GB" b="1" dirty="0"/>
              <a:t>Goal: </a:t>
            </a:r>
            <a:r>
              <a:rPr lang="en-GB" dirty="0"/>
              <a:t>if </a:t>
            </a:r>
            <a:r>
              <a:rPr lang="en-GB" sz="1200" kern="1200" dirty="0">
                <a:solidFill>
                  <a:schemeClr val="tx1"/>
                </a:solidFill>
                <a:effectLst/>
                <a:latin typeface="+mn-lt"/>
                <a:ea typeface="+mn-ea"/>
                <a:cs typeface="+mn-cs"/>
              </a:rPr>
              <a:t>X</a:t>
            </a:r>
            <a:r>
              <a:rPr lang="en-GB" dirty="0"/>
              <a:t> is Normal, then </a:t>
            </a:r>
            <a:r>
              <a:rPr lang="en-GB" sz="1200" kern="1200" dirty="0">
                <a:solidFill>
                  <a:schemeClr val="tx1"/>
                </a:solidFill>
                <a:effectLst/>
                <a:latin typeface="+mn-lt"/>
                <a:ea typeface="+mn-ea"/>
                <a:cs typeface="+mn-cs"/>
              </a:rPr>
              <a:t>Z </a:t>
            </a:r>
            <a:r>
              <a:rPr lang="en-GB" dirty="0"/>
              <a:t>is also Normal but with a mean of </a:t>
            </a:r>
            <a:r>
              <a:rPr lang="en-GB" sz="1200" b="1" kern="1200" dirty="0">
                <a:solidFill>
                  <a:schemeClr val="tx1"/>
                </a:solidFill>
                <a:effectLst/>
                <a:latin typeface="+mn-lt"/>
                <a:ea typeface="+mn-ea"/>
                <a:cs typeface="+mn-cs"/>
              </a:rPr>
              <a:t>0</a:t>
            </a:r>
            <a:r>
              <a:rPr lang="en-GB" dirty="0"/>
              <a:t> and a variance of </a:t>
            </a:r>
            <a:r>
              <a:rPr lang="en-GB" sz="1200" b="1" kern="1200" dirty="0">
                <a:solidFill>
                  <a:schemeClr val="tx1"/>
                </a:solidFill>
                <a:effectLst/>
                <a:latin typeface="+mn-lt"/>
                <a:ea typeface="+mn-ea"/>
                <a:cs typeface="+mn-cs"/>
              </a:rPr>
              <a:t>1</a:t>
            </a:r>
          </a:p>
          <a:p>
            <a:r>
              <a:rPr lang="en-GB" sz="1200" b="1" kern="1200" dirty="0">
                <a:solidFill>
                  <a:schemeClr val="tx1"/>
                </a:solidFill>
                <a:effectLst/>
                <a:latin typeface="+mn-lt"/>
                <a:ea typeface="+mn-ea"/>
                <a:cs typeface="+mn-cs"/>
              </a:rPr>
              <a:t>CDF: </a:t>
            </a:r>
            <a:r>
              <a:rPr lang="en-GB" dirty="0"/>
              <a:t>The probability that our random variable </a:t>
            </a:r>
            <a:r>
              <a:rPr lang="en-GB" sz="1200" kern="1200" dirty="0">
                <a:solidFill>
                  <a:schemeClr val="tx1"/>
                </a:solidFill>
                <a:effectLst/>
                <a:latin typeface="+mn-lt"/>
                <a:ea typeface="+mn-ea"/>
                <a:cs typeface="+mn-cs"/>
              </a:rPr>
              <a:t>X</a:t>
            </a:r>
            <a:r>
              <a:rPr lang="en-GB" dirty="0"/>
              <a:t> is less than some value </a:t>
            </a:r>
            <a:r>
              <a:rPr lang="en-GB" sz="1200" kern="1200" dirty="0">
                <a:solidFill>
                  <a:schemeClr val="tx1"/>
                </a:solidFill>
                <a:effectLst/>
                <a:latin typeface="+mn-lt"/>
                <a:ea typeface="+mn-ea"/>
                <a:cs typeface="+mn-cs"/>
              </a:rPr>
              <a:t>\tilde{x}</a:t>
            </a:r>
            <a:r>
              <a:rPr lang="en-GB" dirty="0"/>
              <a:t> must be the same as the probability that our transformed variable </a:t>
            </a:r>
            <a:r>
              <a:rPr lang="en-GB" sz="1200" kern="1200" dirty="0">
                <a:solidFill>
                  <a:schemeClr val="tx1"/>
                </a:solidFill>
                <a:effectLst/>
                <a:latin typeface="+mn-lt"/>
                <a:ea typeface="+mn-ea"/>
                <a:cs typeface="+mn-cs"/>
              </a:rPr>
              <a:t>Z</a:t>
            </a:r>
            <a:r>
              <a:rPr lang="en-GB" dirty="0"/>
              <a:t> is less than the transformed value </a:t>
            </a:r>
            <a:r>
              <a:rPr lang="en-GB" sz="1200" kern="1200" dirty="0">
                <a:solidFill>
                  <a:schemeClr val="tx1"/>
                </a:solidFill>
                <a:effectLst/>
                <a:latin typeface="+mn-lt"/>
                <a:ea typeface="+mn-ea"/>
                <a:cs typeface="+mn-cs"/>
              </a:rPr>
              <a:t>\tilde{z}$</a:t>
            </a:r>
          </a:p>
          <a:p>
            <a:r>
              <a:rPr lang="en-GB" sz="1200" kern="1200" dirty="0">
                <a:solidFill>
                  <a:schemeClr val="tx1"/>
                </a:solidFill>
                <a:effectLst/>
                <a:latin typeface="+mn-lt"/>
                <a:ea typeface="+mn-ea"/>
                <a:cs typeface="+mn-cs"/>
              </a:rPr>
              <a:t>Standard substitution: within parentheses becomes z, 1/</a:t>
            </a:r>
            <a:r>
              <a:rPr lang="en-GB" sz="1200" kern="1200" dirty="0" err="1">
                <a:solidFill>
                  <a:schemeClr val="tx1"/>
                </a:solidFill>
                <a:effectLst/>
                <a:latin typeface="+mn-lt"/>
                <a:ea typeface="+mn-ea"/>
                <a:cs typeface="+mn-cs"/>
              </a:rPr>
              <a:t>stdev</a:t>
            </a:r>
            <a:r>
              <a:rPr lang="en-GB" sz="1200" kern="1200" dirty="0">
                <a:solidFill>
                  <a:schemeClr val="tx1"/>
                </a:solidFill>
                <a:effectLst/>
                <a:latin typeface="+mn-lt"/>
                <a:ea typeface="+mn-ea"/>
                <a:cs typeface="+mn-cs"/>
              </a:rPr>
              <a:t> dx becomes </a:t>
            </a:r>
            <a:r>
              <a:rPr lang="en-GB" sz="1200" kern="1200" dirty="0" err="1">
                <a:solidFill>
                  <a:schemeClr val="tx1"/>
                </a:solidFill>
                <a:effectLst/>
                <a:latin typeface="+mn-lt"/>
                <a:ea typeface="+mn-ea"/>
                <a:cs typeface="+mn-cs"/>
              </a:rPr>
              <a:t>dz</a:t>
            </a:r>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4EBCCA0-B08A-8E45-8AB6-C85393D3FEC0}" type="slidenum">
              <a:rPr lang="en-US" smtClean="0"/>
              <a:t>41</a:t>
            </a:fld>
            <a:endParaRPr lang="en-US"/>
          </a:p>
        </p:txBody>
      </p:sp>
    </p:spTree>
    <p:extLst>
      <p:ext uri="{BB962C8B-B14F-4D97-AF65-F5344CB8AC3E}">
        <p14:creationId xmlns:p14="http://schemas.microsoft.com/office/powerpoint/2010/main" val="3762341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AUC= area under the curve (always 1 in this case)</a:t>
            </a:r>
          </a:p>
        </p:txBody>
      </p:sp>
      <p:sp>
        <p:nvSpPr>
          <p:cNvPr id="4" name="Slide Number Placeholder 3"/>
          <p:cNvSpPr>
            <a:spLocks noGrp="1"/>
          </p:cNvSpPr>
          <p:nvPr>
            <p:ph type="sldNum" sz="quarter" idx="5"/>
          </p:nvPr>
        </p:nvSpPr>
        <p:spPr/>
        <p:txBody>
          <a:bodyPr/>
          <a:lstStyle/>
          <a:p>
            <a:fld id="{74EBCCA0-B08A-8E45-8AB6-C85393D3FEC0}" type="slidenum">
              <a:rPr lang="en-US" smtClean="0"/>
              <a:t>42</a:t>
            </a:fld>
            <a:endParaRPr lang="en-US"/>
          </a:p>
        </p:txBody>
      </p:sp>
    </p:spTree>
    <p:extLst>
      <p:ext uri="{BB962C8B-B14F-4D97-AF65-F5344CB8AC3E}">
        <p14:creationId xmlns:p14="http://schemas.microsoft.com/office/powerpoint/2010/main" val="2272232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257A4-5CE2-C45A-CD59-9443BE7E8C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58DC75-6D7D-7E13-A6C5-0B225939C4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6CE855-A5F3-A226-DEE4-EE26886551E2}"/>
              </a:ext>
            </a:extLst>
          </p:cNvPr>
          <p:cNvSpPr>
            <a:spLocks noGrp="1"/>
          </p:cNvSpPr>
          <p:nvPr>
            <p:ph type="body" idx="1"/>
          </p:nvPr>
        </p:nvSpPr>
        <p:spPr/>
        <p:txBody>
          <a:bodyPr/>
          <a:lstStyle/>
          <a:p>
            <a:r>
              <a:rPr lang="en-NL" dirty="0"/>
              <a:t>AUC= area under the curve (always 1 in this case)</a:t>
            </a:r>
          </a:p>
        </p:txBody>
      </p:sp>
      <p:sp>
        <p:nvSpPr>
          <p:cNvPr id="4" name="Slide Number Placeholder 3">
            <a:extLst>
              <a:ext uri="{FF2B5EF4-FFF2-40B4-BE49-F238E27FC236}">
                <a16:creationId xmlns:a16="http://schemas.microsoft.com/office/drawing/2014/main" id="{5EB68D57-4B70-7866-D2BC-0CE33D0379B3}"/>
              </a:ext>
            </a:extLst>
          </p:cNvPr>
          <p:cNvSpPr>
            <a:spLocks noGrp="1"/>
          </p:cNvSpPr>
          <p:nvPr>
            <p:ph type="sldNum" sz="quarter" idx="5"/>
          </p:nvPr>
        </p:nvSpPr>
        <p:spPr/>
        <p:txBody>
          <a:bodyPr/>
          <a:lstStyle/>
          <a:p>
            <a:fld id="{74EBCCA0-B08A-8E45-8AB6-C85393D3FEC0}" type="slidenum">
              <a:rPr lang="en-US" smtClean="0"/>
              <a:t>43</a:t>
            </a:fld>
            <a:endParaRPr lang="en-US"/>
          </a:p>
        </p:txBody>
      </p:sp>
    </p:spTree>
    <p:extLst>
      <p:ext uri="{BB962C8B-B14F-4D97-AF65-F5344CB8AC3E}">
        <p14:creationId xmlns:p14="http://schemas.microsoft.com/office/powerpoint/2010/main" val="26114720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a:t>
            </a:r>
            <a:r>
              <a:rPr lang="en-NL" dirty="0"/>
              <a:t>e only need the mean and standard deviation to get z scores for any real world value.</a:t>
            </a:r>
          </a:p>
          <a:p>
            <a:r>
              <a:rPr lang="en-NL" dirty="0"/>
              <a:t>Z-scores show where we are on the normal distribution (within the universal template that we have)</a:t>
            </a:r>
          </a:p>
        </p:txBody>
      </p:sp>
      <p:sp>
        <p:nvSpPr>
          <p:cNvPr id="4" name="Slide Number Placeholder 3"/>
          <p:cNvSpPr>
            <a:spLocks noGrp="1"/>
          </p:cNvSpPr>
          <p:nvPr>
            <p:ph type="sldNum" sz="quarter" idx="5"/>
          </p:nvPr>
        </p:nvSpPr>
        <p:spPr/>
        <p:txBody>
          <a:bodyPr/>
          <a:lstStyle/>
          <a:p>
            <a:fld id="{74EBCCA0-B08A-8E45-8AB6-C85393D3FEC0}" type="slidenum">
              <a:rPr lang="en-US" smtClean="0"/>
              <a:t>44</a:t>
            </a:fld>
            <a:endParaRPr lang="en-US"/>
          </a:p>
        </p:txBody>
      </p:sp>
    </p:spTree>
    <p:extLst>
      <p:ext uri="{BB962C8B-B14F-4D97-AF65-F5344CB8AC3E}">
        <p14:creationId xmlns:p14="http://schemas.microsoft.com/office/powerpoint/2010/main" val="6782405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a:t>
            </a:r>
            <a:r>
              <a:rPr lang="en-NL" dirty="0"/>
              <a:t>o what do we do with Z-scores?</a:t>
            </a:r>
          </a:p>
        </p:txBody>
      </p:sp>
      <p:sp>
        <p:nvSpPr>
          <p:cNvPr id="4" name="Slide Number Placeholder 3"/>
          <p:cNvSpPr>
            <a:spLocks noGrp="1"/>
          </p:cNvSpPr>
          <p:nvPr>
            <p:ph type="sldNum" sz="quarter" idx="5"/>
          </p:nvPr>
        </p:nvSpPr>
        <p:spPr/>
        <p:txBody>
          <a:bodyPr/>
          <a:lstStyle/>
          <a:p>
            <a:fld id="{74EBCCA0-B08A-8E45-8AB6-C85393D3FEC0}" type="slidenum">
              <a:rPr lang="en-US" smtClean="0"/>
              <a:t>46</a:t>
            </a:fld>
            <a:endParaRPr lang="en-US"/>
          </a:p>
        </p:txBody>
      </p:sp>
    </p:spTree>
    <p:extLst>
      <p:ext uri="{BB962C8B-B14F-4D97-AF65-F5344CB8AC3E}">
        <p14:creationId xmlns:p14="http://schemas.microsoft.com/office/powerpoint/2010/main" val="11728919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We are using cumulative functions. Area under the curve until 115 corvers 0.933</a:t>
            </a:r>
          </a:p>
        </p:txBody>
      </p:sp>
      <p:sp>
        <p:nvSpPr>
          <p:cNvPr id="4" name="Slide Number Placeholder 3"/>
          <p:cNvSpPr>
            <a:spLocks noGrp="1"/>
          </p:cNvSpPr>
          <p:nvPr>
            <p:ph type="sldNum" sz="quarter" idx="5"/>
          </p:nvPr>
        </p:nvSpPr>
        <p:spPr/>
        <p:txBody>
          <a:bodyPr/>
          <a:lstStyle/>
          <a:p>
            <a:fld id="{74EBCCA0-B08A-8E45-8AB6-C85393D3FEC0}" type="slidenum">
              <a:rPr lang="en-US" smtClean="0"/>
              <a:t>47</a:t>
            </a:fld>
            <a:endParaRPr lang="en-US"/>
          </a:p>
        </p:txBody>
      </p:sp>
    </p:spTree>
    <p:extLst>
      <p:ext uri="{BB962C8B-B14F-4D97-AF65-F5344CB8AC3E}">
        <p14:creationId xmlns:p14="http://schemas.microsoft.com/office/powerpoint/2010/main" val="37225882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Before the break, I spent a lot of time showing how the normal distribution is a handy tool. Now we will see the why.</a:t>
            </a:r>
          </a:p>
        </p:txBody>
      </p:sp>
      <p:sp>
        <p:nvSpPr>
          <p:cNvPr id="4" name="Slide Number Placeholder 3"/>
          <p:cNvSpPr>
            <a:spLocks noGrp="1"/>
          </p:cNvSpPr>
          <p:nvPr>
            <p:ph type="sldNum" sz="quarter" idx="5"/>
          </p:nvPr>
        </p:nvSpPr>
        <p:spPr/>
        <p:txBody>
          <a:bodyPr/>
          <a:lstStyle/>
          <a:p>
            <a:fld id="{74EBCCA0-B08A-8E45-8AB6-C85393D3FEC0}" type="slidenum">
              <a:rPr lang="en-US" smtClean="0"/>
              <a:t>52</a:t>
            </a:fld>
            <a:endParaRPr lang="en-US"/>
          </a:p>
        </p:txBody>
      </p:sp>
    </p:spTree>
    <p:extLst>
      <p:ext uri="{BB962C8B-B14F-4D97-AF65-F5344CB8AC3E}">
        <p14:creationId xmlns:p14="http://schemas.microsoft.com/office/powerpoint/2010/main" val="19728371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The more we do something, the less fluke crashes matter -&gt; the more the true average number of crashes is revealed over time</a:t>
            </a:r>
          </a:p>
        </p:txBody>
      </p:sp>
      <p:sp>
        <p:nvSpPr>
          <p:cNvPr id="4" name="Slide Number Placeholder 3"/>
          <p:cNvSpPr>
            <a:spLocks noGrp="1"/>
          </p:cNvSpPr>
          <p:nvPr>
            <p:ph type="sldNum" sz="quarter" idx="5"/>
          </p:nvPr>
        </p:nvSpPr>
        <p:spPr/>
        <p:txBody>
          <a:bodyPr/>
          <a:lstStyle/>
          <a:p>
            <a:fld id="{74EBCCA0-B08A-8E45-8AB6-C85393D3FEC0}" type="slidenum">
              <a:rPr lang="en-US" smtClean="0"/>
              <a:t>53</a:t>
            </a:fld>
            <a:endParaRPr lang="en-US"/>
          </a:p>
        </p:txBody>
      </p:sp>
    </p:spTree>
    <p:extLst>
      <p:ext uri="{BB962C8B-B14F-4D97-AF65-F5344CB8AC3E}">
        <p14:creationId xmlns:p14="http://schemas.microsoft.com/office/powerpoint/2010/main" val="20129568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B9B6B-F56E-D83F-DD62-E9CBA19C7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D42986-C433-4EF2-E0CC-E128618EC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8D3E6-A16C-936E-09AB-D00E39A07EB4}"/>
              </a:ext>
            </a:extLst>
          </p:cNvPr>
          <p:cNvSpPr>
            <a:spLocks noGrp="1"/>
          </p:cNvSpPr>
          <p:nvPr>
            <p:ph type="body" idx="1"/>
          </p:nvPr>
        </p:nvSpPr>
        <p:spPr/>
        <p:txBody>
          <a:bodyPr/>
          <a:lstStyle/>
          <a:p>
            <a:r>
              <a:rPr lang="en-GB" sz="1200" b="0" i="0" kern="1200" dirty="0">
                <a:solidFill>
                  <a:schemeClr val="tx1"/>
                </a:solidFill>
                <a:effectLst/>
                <a:latin typeface="+mn-lt"/>
                <a:ea typeface="+mn-ea"/>
                <a:cs typeface="+mn-cs"/>
              </a:rPr>
              <a:t>Also called Monte Carlo fallacy. Comes from gambling, thinking if you have an early losing streak you will surely win the next time because the average requires a few wins. Right?</a:t>
            </a:r>
            <a:endParaRPr lang="en-NL" dirty="0"/>
          </a:p>
        </p:txBody>
      </p:sp>
      <p:sp>
        <p:nvSpPr>
          <p:cNvPr id="4" name="Slide Number Placeholder 3">
            <a:extLst>
              <a:ext uri="{FF2B5EF4-FFF2-40B4-BE49-F238E27FC236}">
                <a16:creationId xmlns:a16="http://schemas.microsoft.com/office/drawing/2014/main" id="{1C16E91B-6134-751F-0EF8-F60CB9D180DA}"/>
              </a:ext>
            </a:extLst>
          </p:cNvPr>
          <p:cNvSpPr>
            <a:spLocks noGrp="1"/>
          </p:cNvSpPr>
          <p:nvPr>
            <p:ph type="sldNum" sz="quarter" idx="5"/>
          </p:nvPr>
        </p:nvSpPr>
        <p:spPr/>
        <p:txBody>
          <a:bodyPr/>
          <a:lstStyle/>
          <a:p>
            <a:fld id="{74EBCCA0-B08A-8E45-8AB6-C85393D3FEC0}" type="slidenum">
              <a:rPr lang="en-US" smtClean="0"/>
              <a:t>54</a:t>
            </a:fld>
            <a:endParaRPr lang="en-US"/>
          </a:p>
        </p:txBody>
      </p:sp>
    </p:spTree>
    <p:extLst>
      <p:ext uri="{BB962C8B-B14F-4D97-AF65-F5344CB8AC3E}">
        <p14:creationId xmlns:p14="http://schemas.microsoft.com/office/powerpoint/2010/main" val="39014377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403A0-F573-A8EF-1FAB-BC1687D0C1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60A572-FB0E-5D8E-3B14-D6AC6EBE88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7A4929-4A9A-A333-0856-D35B1DD60EE9}"/>
              </a:ext>
            </a:extLst>
          </p:cNvPr>
          <p:cNvSpPr>
            <a:spLocks noGrp="1"/>
          </p:cNvSpPr>
          <p:nvPr>
            <p:ph type="body" idx="1"/>
          </p:nvPr>
        </p:nvSpPr>
        <p:spPr/>
        <p:txBody>
          <a:bodyPr/>
          <a:lstStyle/>
          <a:p>
            <a:r>
              <a:rPr lang="en-NL" dirty="0"/>
              <a:t>The more we do something, the less fluke crashes matter -&gt; the more the true average number of crashes is revealed over time</a:t>
            </a:r>
          </a:p>
        </p:txBody>
      </p:sp>
      <p:sp>
        <p:nvSpPr>
          <p:cNvPr id="4" name="Slide Number Placeholder 3">
            <a:extLst>
              <a:ext uri="{FF2B5EF4-FFF2-40B4-BE49-F238E27FC236}">
                <a16:creationId xmlns:a16="http://schemas.microsoft.com/office/drawing/2014/main" id="{56E7BC90-5FA0-9EAE-F903-26E22BDAEF96}"/>
              </a:ext>
            </a:extLst>
          </p:cNvPr>
          <p:cNvSpPr>
            <a:spLocks noGrp="1"/>
          </p:cNvSpPr>
          <p:nvPr>
            <p:ph type="sldNum" sz="quarter" idx="5"/>
          </p:nvPr>
        </p:nvSpPr>
        <p:spPr/>
        <p:txBody>
          <a:bodyPr/>
          <a:lstStyle/>
          <a:p>
            <a:fld id="{74EBCCA0-B08A-8E45-8AB6-C85393D3FEC0}" type="slidenum">
              <a:rPr lang="en-US" smtClean="0"/>
              <a:t>55</a:t>
            </a:fld>
            <a:endParaRPr lang="en-US"/>
          </a:p>
        </p:txBody>
      </p:sp>
    </p:spTree>
    <p:extLst>
      <p:ext uri="{BB962C8B-B14F-4D97-AF65-F5344CB8AC3E}">
        <p14:creationId xmlns:p14="http://schemas.microsoft.com/office/powerpoint/2010/main" val="27368040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CLT</a:t>
            </a:r>
          </a:p>
        </p:txBody>
      </p:sp>
      <p:sp>
        <p:nvSpPr>
          <p:cNvPr id="4" name="Slide Number Placeholder 3"/>
          <p:cNvSpPr>
            <a:spLocks noGrp="1"/>
          </p:cNvSpPr>
          <p:nvPr>
            <p:ph type="sldNum" sz="quarter" idx="5"/>
          </p:nvPr>
        </p:nvSpPr>
        <p:spPr/>
        <p:txBody>
          <a:bodyPr/>
          <a:lstStyle/>
          <a:p>
            <a:fld id="{74EBCCA0-B08A-8E45-8AB6-C85393D3FEC0}" type="slidenum">
              <a:rPr lang="en-US" smtClean="0"/>
              <a:t>58</a:t>
            </a:fld>
            <a:endParaRPr lang="en-US"/>
          </a:p>
        </p:txBody>
      </p:sp>
    </p:spTree>
    <p:extLst>
      <p:ext uri="{BB962C8B-B14F-4D97-AF65-F5344CB8AC3E}">
        <p14:creationId xmlns:p14="http://schemas.microsoft.com/office/powerpoint/2010/main" val="5188112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E8333-D6CD-C82D-06B7-AE2014EEC7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66D46-86D0-D9C2-2BF4-73468FB627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AD1121-230B-6639-7A33-117F905E404A}"/>
              </a:ext>
            </a:extLst>
          </p:cNvPr>
          <p:cNvSpPr>
            <a:spLocks noGrp="1"/>
          </p:cNvSpPr>
          <p:nvPr>
            <p:ph type="body" idx="1"/>
          </p:nvPr>
        </p:nvSpPr>
        <p:spPr/>
        <p:txBody>
          <a:bodyPr/>
          <a:lstStyle/>
          <a:p>
            <a:r>
              <a:rPr lang="en-NL" dirty="0"/>
              <a:t>It is all because of combinations. Even though we are skewed towards 1, if we throw higher than 1 in even only a single throw, the sample mean already increases higher than 1…</a:t>
            </a:r>
          </a:p>
        </p:txBody>
      </p:sp>
      <p:sp>
        <p:nvSpPr>
          <p:cNvPr id="4" name="Slide Number Placeholder 3">
            <a:extLst>
              <a:ext uri="{FF2B5EF4-FFF2-40B4-BE49-F238E27FC236}">
                <a16:creationId xmlns:a16="http://schemas.microsoft.com/office/drawing/2014/main" id="{C8762A39-0FAE-ED83-9D6C-5721E2E4C412}"/>
              </a:ext>
            </a:extLst>
          </p:cNvPr>
          <p:cNvSpPr>
            <a:spLocks noGrp="1"/>
          </p:cNvSpPr>
          <p:nvPr>
            <p:ph type="sldNum" sz="quarter" idx="5"/>
          </p:nvPr>
        </p:nvSpPr>
        <p:spPr/>
        <p:txBody>
          <a:bodyPr/>
          <a:lstStyle/>
          <a:p>
            <a:fld id="{74EBCCA0-B08A-8E45-8AB6-C85393D3FEC0}" type="slidenum">
              <a:rPr lang="en-US" smtClean="0"/>
              <a:t>59</a:t>
            </a:fld>
            <a:endParaRPr lang="en-US"/>
          </a:p>
        </p:txBody>
      </p:sp>
    </p:spTree>
    <p:extLst>
      <p:ext uri="{BB962C8B-B14F-4D97-AF65-F5344CB8AC3E}">
        <p14:creationId xmlns:p14="http://schemas.microsoft.com/office/powerpoint/2010/main" val="35518479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6D1B0-40D9-DBC0-BB55-6E5791E163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7693C8-37DD-4D21-F7DF-86EDEC96C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9DBDC2-332A-F424-D709-0D7F8F8E747E}"/>
              </a:ext>
            </a:extLst>
          </p:cNvPr>
          <p:cNvSpPr>
            <a:spLocks noGrp="1"/>
          </p:cNvSpPr>
          <p:nvPr>
            <p:ph type="body" idx="1"/>
          </p:nvPr>
        </p:nvSpPr>
        <p:spPr/>
        <p:txBody>
          <a:bodyPr/>
          <a:lstStyle/>
          <a:p>
            <a:r>
              <a:rPr lang="en-NL" dirty="0"/>
              <a:t>It is all because of combinations. Even though we are skewed towards 1, if we throw higher than 1 in even only a single throw, the sample mean already increases higher than 1…</a:t>
            </a:r>
          </a:p>
        </p:txBody>
      </p:sp>
      <p:sp>
        <p:nvSpPr>
          <p:cNvPr id="4" name="Slide Number Placeholder 3">
            <a:extLst>
              <a:ext uri="{FF2B5EF4-FFF2-40B4-BE49-F238E27FC236}">
                <a16:creationId xmlns:a16="http://schemas.microsoft.com/office/drawing/2014/main" id="{61944704-BB16-9809-9938-135CB908C7B1}"/>
              </a:ext>
            </a:extLst>
          </p:cNvPr>
          <p:cNvSpPr>
            <a:spLocks noGrp="1"/>
          </p:cNvSpPr>
          <p:nvPr>
            <p:ph type="sldNum" sz="quarter" idx="5"/>
          </p:nvPr>
        </p:nvSpPr>
        <p:spPr/>
        <p:txBody>
          <a:bodyPr/>
          <a:lstStyle/>
          <a:p>
            <a:fld id="{74EBCCA0-B08A-8E45-8AB6-C85393D3FEC0}" type="slidenum">
              <a:rPr lang="en-US" smtClean="0"/>
              <a:t>60</a:t>
            </a:fld>
            <a:endParaRPr lang="en-US"/>
          </a:p>
        </p:txBody>
      </p:sp>
    </p:spTree>
    <p:extLst>
      <p:ext uri="{BB962C8B-B14F-4D97-AF65-F5344CB8AC3E}">
        <p14:creationId xmlns:p14="http://schemas.microsoft.com/office/powerpoint/2010/main" val="6948090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Averages are much more stable than individual data points. Rolling a 6 is common. Rolling 100 dice and having an average of 6 is very rare. Dividing the std by sqroot(n) corrects this.</a:t>
            </a:r>
          </a:p>
        </p:txBody>
      </p:sp>
      <p:sp>
        <p:nvSpPr>
          <p:cNvPr id="4" name="Slide Number Placeholder 3"/>
          <p:cNvSpPr>
            <a:spLocks noGrp="1"/>
          </p:cNvSpPr>
          <p:nvPr>
            <p:ph type="sldNum" sz="quarter" idx="5"/>
          </p:nvPr>
        </p:nvSpPr>
        <p:spPr/>
        <p:txBody>
          <a:bodyPr/>
          <a:lstStyle/>
          <a:p>
            <a:fld id="{74EBCCA0-B08A-8E45-8AB6-C85393D3FEC0}" type="slidenum">
              <a:rPr lang="en-US" smtClean="0"/>
              <a:t>63</a:t>
            </a:fld>
            <a:endParaRPr lang="en-US"/>
          </a:p>
        </p:txBody>
      </p:sp>
    </p:spTree>
    <p:extLst>
      <p:ext uri="{BB962C8B-B14F-4D97-AF65-F5344CB8AC3E}">
        <p14:creationId xmlns:p14="http://schemas.microsoft.com/office/powerpoint/2010/main" val="21126127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DED61-A4EE-0AAC-F0EF-EC4FE061DA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369F0-1B94-3B2A-BF58-8719B5E689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606C7-C143-38DA-D25F-2A22BDDC218B}"/>
              </a:ext>
            </a:extLst>
          </p:cNvPr>
          <p:cNvSpPr>
            <a:spLocks noGrp="1"/>
          </p:cNvSpPr>
          <p:nvPr>
            <p:ph type="body" idx="1"/>
          </p:nvPr>
        </p:nvSpPr>
        <p:spPr/>
        <p:txBody>
          <a:bodyPr/>
          <a:lstStyle/>
          <a:p>
            <a:r>
              <a:rPr lang="en-NL" dirty="0"/>
              <a:t>Averages are much more stable than individual data points. Rolling a 6 is common. Rolling 100 dice and having an average of 6 is very rare. Dividing the std by sqroot(n) corrects this.</a:t>
            </a:r>
          </a:p>
        </p:txBody>
      </p:sp>
      <p:sp>
        <p:nvSpPr>
          <p:cNvPr id="4" name="Slide Number Placeholder 3">
            <a:extLst>
              <a:ext uri="{FF2B5EF4-FFF2-40B4-BE49-F238E27FC236}">
                <a16:creationId xmlns:a16="http://schemas.microsoft.com/office/drawing/2014/main" id="{0B5649CB-7E7D-97C9-7601-12A59A7C1462}"/>
              </a:ext>
            </a:extLst>
          </p:cNvPr>
          <p:cNvSpPr>
            <a:spLocks noGrp="1"/>
          </p:cNvSpPr>
          <p:nvPr>
            <p:ph type="sldNum" sz="quarter" idx="5"/>
          </p:nvPr>
        </p:nvSpPr>
        <p:spPr/>
        <p:txBody>
          <a:bodyPr/>
          <a:lstStyle/>
          <a:p>
            <a:fld id="{74EBCCA0-B08A-8E45-8AB6-C85393D3FEC0}" type="slidenum">
              <a:rPr lang="en-US" smtClean="0"/>
              <a:t>64</a:t>
            </a:fld>
            <a:endParaRPr lang="en-US"/>
          </a:p>
        </p:txBody>
      </p:sp>
    </p:spTree>
    <p:extLst>
      <p:ext uri="{BB962C8B-B14F-4D97-AF65-F5344CB8AC3E}">
        <p14:creationId xmlns:p14="http://schemas.microsoft.com/office/powerpoint/2010/main" val="32828273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FFC01-6195-6639-DE20-BA86AD86B5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A8BB4C-8765-E8F5-F933-D8FE120734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CABA70-21FA-DC00-F47F-D49665D96692}"/>
              </a:ext>
            </a:extLst>
          </p:cNvPr>
          <p:cNvSpPr>
            <a:spLocks noGrp="1"/>
          </p:cNvSpPr>
          <p:nvPr>
            <p:ph type="body" idx="1"/>
          </p:nvPr>
        </p:nvSpPr>
        <p:spPr/>
        <p:txBody>
          <a:bodyPr/>
          <a:lstStyle/>
          <a:p>
            <a:r>
              <a:rPr lang="en-NL" dirty="0"/>
              <a:t>Averages are much more stable than individual data points. Rolling a 6 is common. Rolling 100 dice and having an average of 6 is very rare. Dividing the std by sqroot(n) corrects this.</a:t>
            </a:r>
          </a:p>
        </p:txBody>
      </p:sp>
      <p:sp>
        <p:nvSpPr>
          <p:cNvPr id="4" name="Slide Number Placeholder 3">
            <a:extLst>
              <a:ext uri="{FF2B5EF4-FFF2-40B4-BE49-F238E27FC236}">
                <a16:creationId xmlns:a16="http://schemas.microsoft.com/office/drawing/2014/main" id="{840048FB-4DA8-E09A-50DD-C1DDF7C2CBD3}"/>
              </a:ext>
            </a:extLst>
          </p:cNvPr>
          <p:cNvSpPr>
            <a:spLocks noGrp="1"/>
          </p:cNvSpPr>
          <p:nvPr>
            <p:ph type="sldNum" sz="quarter" idx="5"/>
          </p:nvPr>
        </p:nvSpPr>
        <p:spPr/>
        <p:txBody>
          <a:bodyPr/>
          <a:lstStyle/>
          <a:p>
            <a:fld id="{74EBCCA0-B08A-8E45-8AB6-C85393D3FEC0}" type="slidenum">
              <a:rPr lang="en-US" smtClean="0"/>
              <a:t>65</a:t>
            </a:fld>
            <a:endParaRPr lang="en-US"/>
          </a:p>
        </p:txBody>
      </p:sp>
    </p:spTree>
    <p:extLst>
      <p:ext uri="{BB962C8B-B14F-4D97-AF65-F5344CB8AC3E}">
        <p14:creationId xmlns:p14="http://schemas.microsoft.com/office/powerpoint/2010/main" val="28519024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We flip it around! Thanks to the CLT, we can determine that our sample is close to the truth. But we often do not know the truth. -&gt; We do not include all 8 billion people in each survey we do. </a:t>
            </a:r>
          </a:p>
          <a:p>
            <a:r>
              <a:rPr lang="en-NL" dirty="0"/>
              <a:t>BUT: due to this flip, we can say that our sample gets close to that truth. And we use confidence intervals to show the uncertainty. </a:t>
            </a:r>
            <a:r>
              <a:rPr lang="en-GB" dirty="0"/>
              <a:t>E</a:t>
            </a:r>
            <a:r>
              <a:rPr lang="en-NL" dirty="0"/>
              <a:t>.g. 95% </a:t>
            </a:r>
          </a:p>
        </p:txBody>
      </p:sp>
      <p:sp>
        <p:nvSpPr>
          <p:cNvPr id="4" name="Slide Number Placeholder 3"/>
          <p:cNvSpPr>
            <a:spLocks noGrp="1"/>
          </p:cNvSpPr>
          <p:nvPr>
            <p:ph type="sldNum" sz="quarter" idx="5"/>
          </p:nvPr>
        </p:nvSpPr>
        <p:spPr/>
        <p:txBody>
          <a:bodyPr/>
          <a:lstStyle/>
          <a:p>
            <a:fld id="{74EBCCA0-B08A-8E45-8AB6-C85393D3FEC0}" type="slidenum">
              <a:rPr lang="en-US" smtClean="0"/>
              <a:t>66</a:t>
            </a:fld>
            <a:endParaRPr lang="en-US"/>
          </a:p>
        </p:txBody>
      </p:sp>
    </p:spTree>
    <p:extLst>
      <p:ext uri="{BB962C8B-B14F-4D97-AF65-F5344CB8AC3E}">
        <p14:creationId xmlns:p14="http://schemas.microsoft.com/office/powerpoint/2010/main" val="42360844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Is everyone still on board?</a:t>
            </a:r>
          </a:p>
        </p:txBody>
      </p:sp>
      <p:sp>
        <p:nvSpPr>
          <p:cNvPr id="4" name="Slide Number Placeholder 3"/>
          <p:cNvSpPr>
            <a:spLocks noGrp="1"/>
          </p:cNvSpPr>
          <p:nvPr>
            <p:ph type="sldNum" sz="quarter" idx="5"/>
          </p:nvPr>
        </p:nvSpPr>
        <p:spPr/>
        <p:txBody>
          <a:bodyPr/>
          <a:lstStyle/>
          <a:p>
            <a:fld id="{74EBCCA0-B08A-8E45-8AB6-C85393D3FEC0}" type="slidenum">
              <a:rPr lang="en-US" smtClean="0"/>
              <a:t>67</a:t>
            </a:fld>
            <a:endParaRPr lang="en-US"/>
          </a:p>
        </p:txBody>
      </p:sp>
    </p:spTree>
    <p:extLst>
      <p:ext uri="{BB962C8B-B14F-4D97-AF65-F5344CB8AC3E}">
        <p14:creationId xmlns:p14="http://schemas.microsoft.com/office/powerpoint/2010/main" val="2492712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a:t>
            </a:r>
            <a:r>
              <a:rPr lang="en-NL" dirty="0"/>
              <a:t>f we go back to the normal distribution plot on slide 64, you can see the z-scores around the orange field. </a:t>
            </a:r>
            <a:r>
              <a:rPr lang="en-GB" dirty="0"/>
              <a:t>A</a:t>
            </a:r>
            <a:r>
              <a:rPr lang="en-NL" dirty="0"/>
              <a:t>pprox 1.96 and -1.96 to capture the middle 95% (so not the first 2.5% and the last 2.5%, since 2.5+2.5=5)</a:t>
            </a:r>
          </a:p>
        </p:txBody>
      </p:sp>
      <p:sp>
        <p:nvSpPr>
          <p:cNvPr id="4" name="Slide Number Placeholder 3"/>
          <p:cNvSpPr>
            <a:spLocks noGrp="1"/>
          </p:cNvSpPr>
          <p:nvPr>
            <p:ph type="sldNum" sz="quarter" idx="5"/>
          </p:nvPr>
        </p:nvSpPr>
        <p:spPr/>
        <p:txBody>
          <a:bodyPr/>
          <a:lstStyle/>
          <a:p>
            <a:fld id="{74EBCCA0-B08A-8E45-8AB6-C85393D3FEC0}" type="slidenum">
              <a:rPr lang="en-US" smtClean="0"/>
              <a:t>69</a:t>
            </a:fld>
            <a:endParaRPr lang="en-US"/>
          </a:p>
        </p:txBody>
      </p:sp>
    </p:spTree>
    <p:extLst>
      <p:ext uri="{BB962C8B-B14F-4D97-AF65-F5344CB8AC3E}">
        <p14:creationId xmlns:p14="http://schemas.microsoft.com/office/powerpoint/2010/main" val="32820207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What information do we need for our confidence interval calculation?</a:t>
            </a:r>
          </a:p>
        </p:txBody>
      </p:sp>
      <p:sp>
        <p:nvSpPr>
          <p:cNvPr id="4" name="Slide Number Placeholder 3"/>
          <p:cNvSpPr>
            <a:spLocks noGrp="1"/>
          </p:cNvSpPr>
          <p:nvPr>
            <p:ph type="sldNum" sz="quarter" idx="5"/>
          </p:nvPr>
        </p:nvSpPr>
        <p:spPr/>
        <p:txBody>
          <a:bodyPr/>
          <a:lstStyle/>
          <a:p>
            <a:fld id="{74EBCCA0-B08A-8E45-8AB6-C85393D3FEC0}" type="slidenum">
              <a:rPr lang="en-US" smtClean="0"/>
              <a:t>71</a:t>
            </a:fld>
            <a:endParaRPr lang="en-US"/>
          </a:p>
        </p:txBody>
      </p:sp>
    </p:spTree>
    <p:extLst>
      <p:ext uri="{BB962C8B-B14F-4D97-AF65-F5344CB8AC3E}">
        <p14:creationId xmlns:p14="http://schemas.microsoft.com/office/powerpoint/2010/main" val="34697265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a:t>
            </a:r>
            <a:r>
              <a:rPr lang="en-NL" dirty="0"/>
              <a:t>ow do we construct the 95% interval?</a:t>
            </a:r>
          </a:p>
        </p:txBody>
      </p:sp>
      <p:sp>
        <p:nvSpPr>
          <p:cNvPr id="4" name="Slide Number Placeholder 3"/>
          <p:cNvSpPr>
            <a:spLocks noGrp="1"/>
          </p:cNvSpPr>
          <p:nvPr>
            <p:ph type="sldNum" sz="quarter" idx="5"/>
          </p:nvPr>
        </p:nvSpPr>
        <p:spPr/>
        <p:txBody>
          <a:bodyPr/>
          <a:lstStyle/>
          <a:p>
            <a:fld id="{74EBCCA0-B08A-8E45-8AB6-C85393D3FEC0}" type="slidenum">
              <a:rPr lang="en-US" smtClean="0"/>
              <a:t>72</a:t>
            </a:fld>
            <a:endParaRPr lang="en-US"/>
          </a:p>
        </p:txBody>
      </p:sp>
    </p:spTree>
    <p:extLst>
      <p:ext uri="{BB962C8B-B14F-4D97-AF65-F5344CB8AC3E}">
        <p14:creationId xmlns:p14="http://schemas.microsoft.com/office/powerpoint/2010/main" val="364568188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The more data we have, the narrower our intervall becomes. Because we have more and more input. </a:t>
            </a:r>
            <a:r>
              <a:rPr lang="en-GB" dirty="0"/>
              <a:t>M</a:t>
            </a:r>
            <a:r>
              <a:rPr lang="en-NL" dirty="0"/>
              <a:t>athematically, this happens through the division of sqrt(n) when calculating the standard error. If n grows, the denominator grows as well. </a:t>
            </a:r>
          </a:p>
        </p:txBody>
      </p:sp>
      <p:sp>
        <p:nvSpPr>
          <p:cNvPr id="4" name="Slide Number Placeholder 3"/>
          <p:cNvSpPr>
            <a:spLocks noGrp="1"/>
          </p:cNvSpPr>
          <p:nvPr>
            <p:ph type="sldNum" sz="quarter" idx="5"/>
          </p:nvPr>
        </p:nvSpPr>
        <p:spPr/>
        <p:txBody>
          <a:bodyPr/>
          <a:lstStyle/>
          <a:p>
            <a:fld id="{74EBCCA0-B08A-8E45-8AB6-C85393D3FEC0}" type="slidenum">
              <a:rPr lang="en-US" smtClean="0"/>
              <a:t>74</a:t>
            </a:fld>
            <a:endParaRPr lang="en-US"/>
          </a:p>
        </p:txBody>
      </p:sp>
    </p:spTree>
    <p:extLst>
      <p:ext uri="{BB962C8B-B14F-4D97-AF65-F5344CB8AC3E}">
        <p14:creationId xmlns:p14="http://schemas.microsoft.com/office/powerpoint/2010/main" val="27729014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How close?</a:t>
            </a:r>
          </a:p>
        </p:txBody>
      </p:sp>
      <p:sp>
        <p:nvSpPr>
          <p:cNvPr id="4" name="Slide Number Placeholder 3"/>
          <p:cNvSpPr>
            <a:spLocks noGrp="1"/>
          </p:cNvSpPr>
          <p:nvPr>
            <p:ph type="sldNum" sz="quarter" idx="5"/>
          </p:nvPr>
        </p:nvSpPr>
        <p:spPr/>
        <p:txBody>
          <a:bodyPr/>
          <a:lstStyle/>
          <a:p>
            <a:fld id="{74EBCCA0-B08A-8E45-8AB6-C85393D3FEC0}" type="slidenum">
              <a:rPr lang="en-US" smtClean="0"/>
              <a:t>75</a:t>
            </a:fld>
            <a:endParaRPr lang="en-US"/>
          </a:p>
        </p:txBody>
      </p:sp>
    </p:spTree>
    <p:extLst>
      <p:ext uri="{BB962C8B-B14F-4D97-AF65-F5344CB8AC3E}">
        <p14:creationId xmlns:p14="http://schemas.microsoft.com/office/powerpoint/2010/main" val="25799202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We can adjust the 95% to show more or less confidence. We can adjust the Z in our formula with a z score for 90% certainty, or to be even more precise, 99% certainty. This will impact our interval size of course. If we need to be less certain, we have more wiggle room, we can be more free so the interval can be narrower (because we need to be less certain, we are willing to be more wrong). If we need to be more certain (e.g. 99% certain), the interval becomes wider because we have to be more careful </a:t>
            </a:r>
          </a:p>
        </p:txBody>
      </p:sp>
      <p:sp>
        <p:nvSpPr>
          <p:cNvPr id="4" name="Slide Number Placeholder 3"/>
          <p:cNvSpPr>
            <a:spLocks noGrp="1"/>
          </p:cNvSpPr>
          <p:nvPr>
            <p:ph type="sldNum" sz="quarter" idx="5"/>
          </p:nvPr>
        </p:nvSpPr>
        <p:spPr/>
        <p:txBody>
          <a:bodyPr/>
          <a:lstStyle/>
          <a:p>
            <a:fld id="{74EBCCA0-B08A-8E45-8AB6-C85393D3FEC0}" type="slidenum">
              <a:rPr lang="en-US" smtClean="0"/>
              <a:t>76</a:t>
            </a:fld>
            <a:endParaRPr lang="en-US"/>
          </a:p>
        </p:txBody>
      </p:sp>
    </p:spTree>
    <p:extLst>
      <p:ext uri="{BB962C8B-B14F-4D97-AF65-F5344CB8AC3E}">
        <p14:creationId xmlns:p14="http://schemas.microsoft.com/office/powerpoint/2010/main" val="39778936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a:t>
            </a:r>
            <a:r>
              <a:rPr lang="en-NL" dirty="0"/>
              <a:t>hen n is small, it becomes hard to assume the mean is close to a normal distribution and thus the use of the standard error becomes uncertain</a:t>
            </a:r>
          </a:p>
        </p:txBody>
      </p:sp>
      <p:sp>
        <p:nvSpPr>
          <p:cNvPr id="4" name="Slide Number Placeholder 3"/>
          <p:cNvSpPr>
            <a:spLocks noGrp="1"/>
          </p:cNvSpPr>
          <p:nvPr>
            <p:ph type="sldNum" sz="quarter" idx="5"/>
          </p:nvPr>
        </p:nvSpPr>
        <p:spPr/>
        <p:txBody>
          <a:bodyPr/>
          <a:lstStyle/>
          <a:p>
            <a:fld id="{74EBCCA0-B08A-8E45-8AB6-C85393D3FEC0}" type="slidenum">
              <a:rPr lang="en-US" smtClean="0"/>
              <a:t>77</a:t>
            </a:fld>
            <a:endParaRPr lang="en-US"/>
          </a:p>
        </p:txBody>
      </p:sp>
    </p:spTree>
    <p:extLst>
      <p:ext uri="{BB962C8B-B14F-4D97-AF65-F5344CB8AC3E}">
        <p14:creationId xmlns:p14="http://schemas.microsoft.com/office/powerpoint/2010/main" val="14438948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C1CD1-241D-D737-BC89-568291C21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0493D2-91E6-BC70-F402-A81B56F1B4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7B4CE1-3F22-882A-F52A-6599C112791D}"/>
              </a:ext>
            </a:extLst>
          </p:cNvPr>
          <p:cNvSpPr>
            <a:spLocks noGrp="1"/>
          </p:cNvSpPr>
          <p:nvPr>
            <p:ph type="body" idx="1"/>
          </p:nvPr>
        </p:nvSpPr>
        <p:spPr/>
        <p:txBody>
          <a:bodyPr/>
          <a:lstStyle/>
          <a:p>
            <a:r>
              <a:rPr lang="en-GB" dirty="0"/>
              <a:t>W</a:t>
            </a:r>
            <a:r>
              <a:rPr lang="en-NL" dirty="0"/>
              <a:t>hen n is small, it becomes hard to assume the mean is close to a normal distribution and thus the use of the standard error becomes uncertain</a:t>
            </a:r>
          </a:p>
        </p:txBody>
      </p:sp>
      <p:sp>
        <p:nvSpPr>
          <p:cNvPr id="4" name="Slide Number Placeholder 3">
            <a:extLst>
              <a:ext uri="{FF2B5EF4-FFF2-40B4-BE49-F238E27FC236}">
                <a16:creationId xmlns:a16="http://schemas.microsoft.com/office/drawing/2014/main" id="{4D4D147F-CC86-78AD-1600-D52C8A995C20}"/>
              </a:ext>
            </a:extLst>
          </p:cNvPr>
          <p:cNvSpPr>
            <a:spLocks noGrp="1"/>
          </p:cNvSpPr>
          <p:nvPr>
            <p:ph type="sldNum" sz="quarter" idx="5"/>
          </p:nvPr>
        </p:nvSpPr>
        <p:spPr/>
        <p:txBody>
          <a:bodyPr/>
          <a:lstStyle/>
          <a:p>
            <a:fld id="{74EBCCA0-B08A-8E45-8AB6-C85393D3FEC0}" type="slidenum">
              <a:rPr lang="en-US" smtClean="0"/>
              <a:t>78</a:t>
            </a:fld>
            <a:endParaRPr lang="en-US"/>
          </a:p>
        </p:txBody>
      </p:sp>
    </p:spTree>
    <p:extLst>
      <p:ext uri="{BB962C8B-B14F-4D97-AF65-F5344CB8AC3E}">
        <p14:creationId xmlns:p14="http://schemas.microsoft.com/office/powerpoint/2010/main" val="3689021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F9215-C930-17F5-9356-3181DD5B07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EB7DF9-63F2-0DE6-F045-16DE1A5EB7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34BC27-9CB2-DFD9-1353-D8CB581FFA88}"/>
              </a:ext>
            </a:extLst>
          </p:cNvPr>
          <p:cNvSpPr>
            <a:spLocks noGrp="1"/>
          </p:cNvSpPr>
          <p:nvPr>
            <p:ph type="body" idx="1"/>
          </p:nvPr>
        </p:nvSpPr>
        <p:spPr/>
        <p:txBody>
          <a:bodyPr/>
          <a:lstStyle/>
          <a:p>
            <a:r>
              <a:rPr lang="en-GB" dirty="0"/>
              <a:t>W</a:t>
            </a:r>
            <a:r>
              <a:rPr lang="en-NL" dirty="0"/>
              <a:t>hen n is small, it becomes hard to assume the mean is close to a normal distribution and thus the use of the standard error becomes uncertain</a:t>
            </a:r>
          </a:p>
        </p:txBody>
      </p:sp>
      <p:sp>
        <p:nvSpPr>
          <p:cNvPr id="4" name="Slide Number Placeholder 3">
            <a:extLst>
              <a:ext uri="{FF2B5EF4-FFF2-40B4-BE49-F238E27FC236}">
                <a16:creationId xmlns:a16="http://schemas.microsoft.com/office/drawing/2014/main" id="{3A778DBC-1627-B479-6DC8-419CE40B4D0C}"/>
              </a:ext>
            </a:extLst>
          </p:cNvPr>
          <p:cNvSpPr>
            <a:spLocks noGrp="1"/>
          </p:cNvSpPr>
          <p:nvPr>
            <p:ph type="sldNum" sz="quarter" idx="5"/>
          </p:nvPr>
        </p:nvSpPr>
        <p:spPr/>
        <p:txBody>
          <a:bodyPr/>
          <a:lstStyle/>
          <a:p>
            <a:fld id="{74EBCCA0-B08A-8E45-8AB6-C85393D3FEC0}" type="slidenum">
              <a:rPr lang="en-US" smtClean="0"/>
              <a:t>79</a:t>
            </a:fld>
            <a:endParaRPr lang="en-US"/>
          </a:p>
        </p:txBody>
      </p:sp>
    </p:spTree>
    <p:extLst>
      <p:ext uri="{BB962C8B-B14F-4D97-AF65-F5344CB8AC3E}">
        <p14:creationId xmlns:p14="http://schemas.microsoft.com/office/powerpoint/2010/main" val="95303060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Guinness forbade staff from publishing commercial know-how, so Gosset smuggled the paper into </a:t>
            </a:r>
            <a:r>
              <a:rPr lang="en-US" i="1" dirty="0" err="1"/>
              <a:t>Biometrika</a:t>
            </a:r>
            <a:r>
              <a:rPr lang="en-US" dirty="0"/>
              <a:t> (1908) under the pseudonym </a:t>
            </a:r>
            <a:r>
              <a:rPr lang="en-US" b="1" dirty="0"/>
              <a:t>“Student.”</a:t>
            </a:r>
            <a:endParaRPr lang="en-US" dirty="0"/>
          </a:p>
          <a:p>
            <a:r>
              <a:rPr lang="en-US" dirty="0"/>
              <a:t>He sent the manuscript to his friend Karl Pearson on his lunch break; Pearson mis-addressed the acceptance letter to “Student, Esq.” – the name stuck.</a:t>
            </a:r>
          </a:p>
          <a:p>
            <a:endParaRPr lang="en-NL" dirty="0"/>
          </a:p>
        </p:txBody>
      </p:sp>
      <p:sp>
        <p:nvSpPr>
          <p:cNvPr id="4" name="Slide Number Placeholder 3"/>
          <p:cNvSpPr>
            <a:spLocks noGrp="1"/>
          </p:cNvSpPr>
          <p:nvPr>
            <p:ph type="sldNum" sz="quarter" idx="5"/>
          </p:nvPr>
        </p:nvSpPr>
        <p:spPr/>
        <p:txBody>
          <a:bodyPr/>
          <a:lstStyle/>
          <a:p>
            <a:fld id="{74EBCCA0-B08A-8E45-8AB6-C85393D3FEC0}" type="slidenum">
              <a:rPr lang="en-US" smtClean="0"/>
              <a:t>80</a:t>
            </a:fld>
            <a:endParaRPr lang="en-US"/>
          </a:p>
        </p:txBody>
      </p:sp>
    </p:spTree>
    <p:extLst>
      <p:ext uri="{BB962C8B-B14F-4D97-AF65-F5344CB8AC3E}">
        <p14:creationId xmlns:p14="http://schemas.microsoft.com/office/powerpoint/2010/main" val="116492095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i="1" dirty="0"/>
              <a:t>t</a:t>
            </a:r>
            <a:r>
              <a:rPr lang="en-US" dirty="0"/>
              <a:t>-distribution was born because one brewer wanted to save good stout from the drain.</a:t>
            </a:r>
            <a:br>
              <a:rPr lang="en-US" dirty="0"/>
            </a:br>
            <a:r>
              <a:rPr lang="en-US" dirty="0"/>
              <a:t>Every time you see a ‘± * t*’ margin of error, you’re tapping a century-old pint raised to rigorous decision-making under scarcity.</a:t>
            </a:r>
          </a:p>
          <a:p>
            <a:r>
              <a:rPr lang="en-US" dirty="0"/>
              <a:t>The funny thing is that the way the t-distribution is used now is kind of in reverse, the reality is that we WANT to scrap the original expectation (think for example of a drug trial) so that difference in intent is worth keeping in mind.</a:t>
            </a:r>
          </a:p>
        </p:txBody>
      </p:sp>
      <p:sp>
        <p:nvSpPr>
          <p:cNvPr id="4" name="Slide Number Placeholder 3"/>
          <p:cNvSpPr>
            <a:spLocks noGrp="1"/>
          </p:cNvSpPr>
          <p:nvPr>
            <p:ph type="sldNum" sz="quarter" idx="5"/>
          </p:nvPr>
        </p:nvSpPr>
        <p:spPr/>
        <p:txBody>
          <a:bodyPr/>
          <a:lstStyle/>
          <a:p>
            <a:fld id="{74EBCCA0-B08A-8E45-8AB6-C85393D3FEC0}" type="slidenum">
              <a:rPr lang="en-US" smtClean="0"/>
              <a:t>82</a:t>
            </a:fld>
            <a:endParaRPr lang="en-US"/>
          </a:p>
        </p:txBody>
      </p:sp>
    </p:spTree>
    <p:extLst>
      <p:ext uri="{BB962C8B-B14F-4D97-AF65-F5344CB8AC3E}">
        <p14:creationId xmlns:p14="http://schemas.microsoft.com/office/powerpoint/2010/main" val="27958557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The idea is the same, only the tails of the distribution are thicker. So we build in more safety</a:t>
            </a:r>
          </a:p>
        </p:txBody>
      </p:sp>
      <p:sp>
        <p:nvSpPr>
          <p:cNvPr id="4" name="Slide Number Placeholder 3"/>
          <p:cNvSpPr>
            <a:spLocks noGrp="1"/>
          </p:cNvSpPr>
          <p:nvPr>
            <p:ph type="sldNum" sz="quarter" idx="5"/>
          </p:nvPr>
        </p:nvSpPr>
        <p:spPr/>
        <p:txBody>
          <a:bodyPr/>
          <a:lstStyle/>
          <a:p>
            <a:fld id="{74EBCCA0-B08A-8E45-8AB6-C85393D3FEC0}" type="slidenum">
              <a:rPr lang="en-US" smtClean="0"/>
              <a:t>84</a:t>
            </a:fld>
            <a:endParaRPr lang="en-US"/>
          </a:p>
        </p:txBody>
      </p:sp>
    </p:spTree>
    <p:extLst>
      <p:ext uri="{BB962C8B-B14F-4D97-AF65-F5344CB8AC3E}">
        <p14:creationId xmlns:p14="http://schemas.microsoft.com/office/powerpoint/2010/main" val="50723487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A349-0421-1D85-54E8-1DBB12E9DE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81174C-2617-2BD0-BF8D-47DC64BA41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02BD0D-82DD-E972-0588-4279449A12CF}"/>
              </a:ext>
            </a:extLst>
          </p:cNvPr>
          <p:cNvSpPr>
            <a:spLocks noGrp="1"/>
          </p:cNvSpPr>
          <p:nvPr>
            <p:ph type="body" idx="1"/>
          </p:nvPr>
        </p:nvSpPr>
        <p:spPr/>
        <p:txBody>
          <a:bodyPr/>
          <a:lstStyle/>
          <a:p>
            <a:r>
              <a:rPr lang="en-NL" dirty="0"/>
              <a:t>The idea is the same, only the tails of the distribution are thicker. So we build in more safety</a:t>
            </a:r>
          </a:p>
        </p:txBody>
      </p:sp>
      <p:sp>
        <p:nvSpPr>
          <p:cNvPr id="4" name="Slide Number Placeholder 3">
            <a:extLst>
              <a:ext uri="{FF2B5EF4-FFF2-40B4-BE49-F238E27FC236}">
                <a16:creationId xmlns:a16="http://schemas.microsoft.com/office/drawing/2014/main" id="{1CEEA2A6-4A6B-04DA-2A88-B6A69A3B60CA}"/>
              </a:ext>
            </a:extLst>
          </p:cNvPr>
          <p:cNvSpPr>
            <a:spLocks noGrp="1"/>
          </p:cNvSpPr>
          <p:nvPr>
            <p:ph type="sldNum" sz="quarter" idx="5"/>
          </p:nvPr>
        </p:nvSpPr>
        <p:spPr/>
        <p:txBody>
          <a:bodyPr/>
          <a:lstStyle/>
          <a:p>
            <a:fld id="{74EBCCA0-B08A-8E45-8AB6-C85393D3FEC0}" type="slidenum">
              <a:rPr lang="en-US" smtClean="0"/>
              <a:t>85</a:t>
            </a:fld>
            <a:endParaRPr lang="en-US"/>
          </a:p>
        </p:txBody>
      </p:sp>
    </p:spTree>
    <p:extLst>
      <p:ext uri="{BB962C8B-B14F-4D97-AF65-F5344CB8AC3E}">
        <p14:creationId xmlns:p14="http://schemas.microsoft.com/office/powerpoint/2010/main" val="115311601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big problem in statistics in assumptions which is why its great to have in your toolbox ways to not make assumptions when analyzing data.</a:t>
            </a:r>
          </a:p>
        </p:txBody>
      </p:sp>
      <p:sp>
        <p:nvSpPr>
          <p:cNvPr id="4" name="Slide Number Placeholder 3"/>
          <p:cNvSpPr>
            <a:spLocks noGrp="1"/>
          </p:cNvSpPr>
          <p:nvPr>
            <p:ph type="sldNum" sz="quarter" idx="5"/>
          </p:nvPr>
        </p:nvSpPr>
        <p:spPr/>
        <p:txBody>
          <a:bodyPr/>
          <a:lstStyle/>
          <a:p>
            <a:fld id="{74EBCCA0-B08A-8E45-8AB6-C85393D3FEC0}" type="slidenum">
              <a:rPr lang="en-US" smtClean="0"/>
              <a:t>87</a:t>
            </a:fld>
            <a:endParaRPr lang="en-US"/>
          </a:p>
        </p:txBody>
      </p:sp>
    </p:spTree>
    <p:extLst>
      <p:ext uri="{BB962C8B-B14F-4D97-AF65-F5344CB8AC3E}">
        <p14:creationId xmlns:p14="http://schemas.microsoft.com/office/powerpoint/2010/main" val="126702007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We do not need a single population parameter. As in a practical context, those are most probably unknown </a:t>
            </a:r>
          </a:p>
          <a:p>
            <a:r>
              <a:rPr lang="en-NL" dirty="0"/>
              <a:t>Now I can only afford 5 laptops… not 36 like before</a:t>
            </a:r>
          </a:p>
        </p:txBody>
      </p:sp>
      <p:sp>
        <p:nvSpPr>
          <p:cNvPr id="4" name="Slide Number Placeholder 3"/>
          <p:cNvSpPr>
            <a:spLocks noGrp="1"/>
          </p:cNvSpPr>
          <p:nvPr>
            <p:ph type="sldNum" sz="quarter" idx="5"/>
          </p:nvPr>
        </p:nvSpPr>
        <p:spPr/>
        <p:txBody>
          <a:bodyPr/>
          <a:lstStyle/>
          <a:p>
            <a:fld id="{74EBCCA0-B08A-8E45-8AB6-C85393D3FEC0}" type="slidenum">
              <a:rPr lang="en-US" smtClean="0"/>
              <a:t>89</a:t>
            </a:fld>
            <a:endParaRPr lang="en-US"/>
          </a:p>
        </p:txBody>
      </p:sp>
    </p:spTree>
    <p:extLst>
      <p:ext uri="{BB962C8B-B14F-4D97-AF65-F5344CB8AC3E}">
        <p14:creationId xmlns:p14="http://schemas.microsoft.com/office/powerpoint/2010/main" val="239041773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318CA-8C36-2F10-6B05-CDE5278DB2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0F3BD9-B457-A706-E9A0-5B6560171C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1EC464-6D95-9AB1-1936-97215E9E5928}"/>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Start is the mean</a:t>
            </a:r>
          </a:p>
          <a:p>
            <a:r>
              <a:rPr lang="en-GB" sz="1200" kern="1200" dirty="0">
                <a:solidFill>
                  <a:schemeClr val="tx1"/>
                </a:solidFill>
                <a:effectLst/>
                <a:latin typeface="+mn-lt"/>
                <a:ea typeface="+mn-ea"/>
                <a:cs typeface="+mn-cs"/>
              </a:rPr>
              <a:t>The multiplier is t -? Depends on n-1 and confidence (e.g. 95%)</a:t>
            </a:r>
          </a:p>
          <a:p>
            <a:r>
              <a:rPr lang="en-GB" sz="1200" kern="1200" dirty="0">
                <a:solidFill>
                  <a:schemeClr val="tx1"/>
                </a:solidFill>
                <a:effectLst/>
                <a:latin typeface="+mn-lt"/>
                <a:ea typeface="+mn-ea"/>
                <a:cs typeface="+mn-cs"/>
              </a:rPr>
              <a:t>Spread is captured by s/</a:t>
            </a:r>
            <a:r>
              <a:rPr lang="en-GB" sz="1200" kern="1200" dirty="0" err="1">
                <a:solidFill>
                  <a:schemeClr val="tx1"/>
                </a:solidFill>
                <a:effectLst/>
                <a:latin typeface="+mn-lt"/>
                <a:ea typeface="+mn-ea"/>
                <a:cs typeface="+mn-cs"/>
              </a:rPr>
              <a:t>srt</a:t>
            </a:r>
            <a:r>
              <a:rPr lang="en-GB" sz="1200" kern="1200" dirty="0">
                <a:solidFill>
                  <a:schemeClr val="tx1"/>
                </a:solidFill>
                <a:effectLst/>
                <a:latin typeface="+mn-lt"/>
                <a:ea typeface="+mn-ea"/>
                <a:cs typeface="+mn-cs"/>
              </a:rPr>
              <a:t>(n)</a:t>
            </a:r>
          </a:p>
          <a:p>
            <a:r>
              <a:rPr lang="en-GB" sz="1200" kern="1200" dirty="0">
                <a:solidFill>
                  <a:schemeClr val="tx1"/>
                </a:solidFill>
                <a:effectLst/>
                <a:latin typeface="+mn-lt"/>
                <a:ea typeface="+mn-ea"/>
                <a:cs typeface="+mn-cs"/>
              </a:rPr>
              <a:t>Logic behind it: since sample is small, our multiplier (t) is quite large (2.776 vs 1.96 for z). This builds in ore safety, the </a:t>
            </a:r>
            <a:r>
              <a:rPr lang="en-GB" sz="1200" b="1" kern="1200" dirty="0">
                <a:solidFill>
                  <a:schemeClr val="tx1"/>
                </a:solidFill>
                <a:effectLst/>
                <a:latin typeface="+mn-lt"/>
                <a:ea typeface="+mn-ea"/>
                <a:cs typeface="+mn-cs"/>
              </a:rPr>
              <a:t>net is larger for capturing the true population average.</a:t>
            </a:r>
          </a:p>
        </p:txBody>
      </p:sp>
      <p:sp>
        <p:nvSpPr>
          <p:cNvPr id="4" name="Slide Number Placeholder 3">
            <a:extLst>
              <a:ext uri="{FF2B5EF4-FFF2-40B4-BE49-F238E27FC236}">
                <a16:creationId xmlns:a16="http://schemas.microsoft.com/office/drawing/2014/main" id="{8AD373C3-1DD4-8D70-D0F6-D61553141904}"/>
              </a:ext>
            </a:extLst>
          </p:cNvPr>
          <p:cNvSpPr>
            <a:spLocks noGrp="1"/>
          </p:cNvSpPr>
          <p:nvPr>
            <p:ph type="sldNum" sz="quarter" idx="5"/>
          </p:nvPr>
        </p:nvSpPr>
        <p:spPr/>
        <p:txBody>
          <a:bodyPr/>
          <a:lstStyle/>
          <a:p>
            <a:fld id="{74EBCCA0-B08A-8E45-8AB6-C85393D3FEC0}" type="slidenum">
              <a:rPr lang="en-US" smtClean="0"/>
              <a:t>90</a:t>
            </a:fld>
            <a:endParaRPr lang="en-US"/>
          </a:p>
        </p:txBody>
      </p:sp>
    </p:spTree>
    <p:extLst>
      <p:ext uri="{BB962C8B-B14F-4D97-AF65-F5344CB8AC3E}">
        <p14:creationId xmlns:p14="http://schemas.microsoft.com/office/powerpoint/2010/main" val="184443089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EBCCA0-B08A-8E45-8AB6-C85393D3FEC0}" type="slidenum">
              <a:rPr lang="en-US" smtClean="0"/>
              <a:t>93</a:t>
            </a:fld>
            <a:endParaRPr lang="en-US"/>
          </a:p>
        </p:txBody>
      </p:sp>
    </p:spTree>
    <p:extLst>
      <p:ext uri="{BB962C8B-B14F-4D97-AF65-F5344CB8AC3E}">
        <p14:creationId xmlns:p14="http://schemas.microsoft.com/office/powerpoint/2010/main" val="102049966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Think about the CLT in this case. Bell curve emerges also for poisson or binomial. </a:t>
            </a:r>
            <a:r>
              <a:rPr lang="en-GB" dirty="0"/>
              <a:t>E</a:t>
            </a:r>
            <a:r>
              <a:rPr lang="en-NL" dirty="0"/>
              <a:t>.g. 1 hour window is a sum of 60 minute windows etc. Proportions are an average of multiple binary 1’s and 0’s</a:t>
            </a:r>
          </a:p>
        </p:txBody>
      </p:sp>
      <p:sp>
        <p:nvSpPr>
          <p:cNvPr id="4" name="Slide Number Placeholder 3"/>
          <p:cNvSpPr>
            <a:spLocks noGrp="1"/>
          </p:cNvSpPr>
          <p:nvPr>
            <p:ph type="sldNum" sz="quarter" idx="5"/>
          </p:nvPr>
        </p:nvSpPr>
        <p:spPr/>
        <p:txBody>
          <a:bodyPr/>
          <a:lstStyle/>
          <a:p>
            <a:fld id="{74EBCCA0-B08A-8E45-8AB6-C85393D3FEC0}" type="slidenum">
              <a:rPr lang="en-US" smtClean="0"/>
              <a:t>95</a:t>
            </a:fld>
            <a:endParaRPr lang="en-US"/>
          </a:p>
        </p:txBody>
      </p:sp>
    </p:spTree>
    <p:extLst>
      <p:ext uri="{BB962C8B-B14F-4D97-AF65-F5344CB8AC3E}">
        <p14:creationId xmlns:p14="http://schemas.microsoft.com/office/powerpoint/2010/main" val="22086514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g"/><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light blue">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11" name="Afbeelding 10" descr="UM40_RGB_B_blauw.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603924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 illustration">
    <p:bg>
      <p:bgPr>
        <a:solidFill>
          <a:schemeClr val="tx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26928" y="3030584"/>
            <a:ext cx="6065072" cy="4020392"/>
          </a:xfrm>
          <a:prstGeom prst="rect">
            <a:avLst/>
          </a:prstGeom>
        </p:spPr>
      </p:pic>
      <p:sp>
        <p:nvSpPr>
          <p:cNvPr id="2"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11" name="Afbeelding 10" descr="UM40_RGB_B_blauw.png"/>
          <p:cNvPicPr>
            <a:picLocks noChangeAspect="1"/>
          </p:cNvPicPr>
          <p:nvPr userDrawn="1"/>
        </p:nvPicPr>
        <p:blipFill rotWithShape="1">
          <a:blip r:embed="rId3">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3734630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 illustration">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11" name="Afbeelding 10" descr="UM40_RGB_B_blauw.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5" name="Afbeelding 4" descr="Future look.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95318" y="2513330"/>
            <a:ext cx="4710511" cy="4349289"/>
          </a:xfrm>
          <a:prstGeom prst="rect">
            <a:avLst/>
          </a:prstGeom>
        </p:spPr>
      </p:pic>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3987025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1_Title slide light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6" name="Afbeelding 6" descr="UM40_RGB_B_diap.png"/>
          <p:cNvPicPr>
            <a:picLocks noChangeAspect="1"/>
          </p:cNvPicPr>
          <p:nvPr userDrawn="1"/>
        </p:nvPicPr>
        <p:blipFill rotWithShape="1">
          <a:blip r:embed="rId3">
            <a:extLst>
              <a:ext uri="{28A0092B-C50C-407E-A947-70E740481C1C}">
                <a14:useLocalDpi xmlns:a14="http://schemas.microsoft.com/office/drawing/2010/main" val="0"/>
              </a:ext>
            </a:extLst>
          </a:blip>
          <a:srcRect r="20321"/>
          <a:stretch/>
        </p:blipFill>
        <p:spPr>
          <a:xfrm>
            <a:off x="480001" y="6174000"/>
            <a:ext cx="2120851" cy="509137"/>
          </a:xfrm>
          <a:prstGeom prst="rect">
            <a:avLst/>
          </a:prstGeom>
        </p:spPr>
      </p:pic>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2316380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hoto Randwij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3" y="253136"/>
            <a:ext cx="9836193" cy="2205259"/>
          </a:xfrm>
        </p:spPr>
        <p:txBody>
          <a:bodyPr>
            <a:noAutofit/>
          </a:bodyPr>
          <a:lstStyle>
            <a:lvl1pPr>
              <a:defRPr sz="7200">
                <a:solidFill>
                  <a:srgbClr val="001A3B"/>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001A3B"/>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6" name="Afbeelding 10" descr="UM40_RGB_B_blauw.png"/>
          <p:cNvPicPr>
            <a:picLocks noChangeAspect="1"/>
          </p:cNvPicPr>
          <p:nvPr userDrawn="1"/>
        </p:nvPicPr>
        <p:blipFill rotWithShape="1">
          <a:blip r:embed="rId3">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2719200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1_Title slide photo Randwij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3" y="253136"/>
            <a:ext cx="9836193" cy="2205259"/>
          </a:xfrm>
        </p:spPr>
        <p:txBody>
          <a:bodyPr>
            <a:noAutofit/>
          </a:bodyPr>
          <a:lstStyle>
            <a:lvl1pPr>
              <a:defRPr sz="7200">
                <a:solidFill>
                  <a:srgbClr val="001A3B"/>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001A3B"/>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6" name="Afbeelding 10" descr="UM40_RGB_B_blauw.png"/>
          <p:cNvPicPr>
            <a:picLocks noChangeAspect="1"/>
          </p:cNvPicPr>
          <p:nvPr userDrawn="1"/>
        </p:nvPicPr>
        <p:blipFill rotWithShape="1">
          <a:blip r:embed="rId3">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1561977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dark blue">
    <p:bg>
      <p:bgPr>
        <a:solidFill>
          <a:schemeClr val="tx1"/>
        </a:solidFill>
        <a:effectLst/>
      </p:bgPr>
    </p:bg>
    <p:spTree>
      <p:nvGrpSpPr>
        <p:cNvPr id="1" name=""/>
        <p:cNvGrpSpPr/>
        <p:nvPr/>
      </p:nvGrpSpPr>
      <p:grpSpPr>
        <a:xfrm>
          <a:off x="0" y="0"/>
          <a:ext cx="0" cy="0"/>
          <a:chOff x="0" y="0"/>
          <a:chExt cx="0" cy="0"/>
        </a:xfrm>
      </p:grpSpPr>
      <p:pic>
        <p:nvPicPr>
          <p:cNvPr id="9" name="Afbeelding 8"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0"/>
            <a:ext cx="2120851" cy="509137"/>
          </a:xfrm>
          <a:prstGeom prst="rect">
            <a:avLst/>
          </a:prstGeom>
        </p:spPr>
      </p:pic>
      <p:sp>
        <p:nvSpPr>
          <p:cNvPr id="6"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7"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4118586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lide dark blue">
    <p:bg>
      <p:bgPr>
        <a:solidFill>
          <a:schemeClr val="tx1"/>
        </a:solidFill>
        <a:effectLst/>
      </p:bgPr>
    </p:bg>
    <p:spTree>
      <p:nvGrpSpPr>
        <p:cNvPr id="1" name=""/>
        <p:cNvGrpSpPr/>
        <p:nvPr/>
      </p:nvGrpSpPr>
      <p:grpSpPr>
        <a:xfrm>
          <a:off x="0" y="0"/>
          <a:ext cx="0" cy="0"/>
          <a:chOff x="0" y="0"/>
          <a:chExt cx="0" cy="0"/>
        </a:xfrm>
      </p:grpSpPr>
      <p:pic>
        <p:nvPicPr>
          <p:cNvPr id="9" name="Afbeelding 8"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0"/>
            <a:ext cx="2120851" cy="509137"/>
          </a:xfrm>
          <a:prstGeom prst="rect">
            <a:avLst/>
          </a:prstGeom>
        </p:spPr>
      </p:pic>
      <p:sp>
        <p:nvSpPr>
          <p:cNvPr id="6"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7"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126929" y="3030584"/>
            <a:ext cx="6065071" cy="4020392"/>
          </a:xfrm>
          <a:prstGeom prst="rect">
            <a:avLst/>
          </a:prstGeom>
        </p:spPr>
      </p:pic>
    </p:spTree>
    <p:extLst>
      <p:ext uri="{BB962C8B-B14F-4D97-AF65-F5344CB8AC3E}">
        <p14:creationId xmlns:p14="http://schemas.microsoft.com/office/powerpoint/2010/main" val="1902329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orange">
    <p:bg>
      <p:bgPr>
        <a:solidFill>
          <a:schemeClr val="accent1"/>
        </a:solidFill>
        <a:effectLst/>
      </p:bgPr>
    </p:bg>
    <p:spTree>
      <p:nvGrpSpPr>
        <p:cNvPr id="1" name=""/>
        <p:cNvGrpSpPr/>
        <p:nvPr/>
      </p:nvGrpSpPr>
      <p:grpSpPr>
        <a:xfrm>
          <a:off x="0" y="0"/>
          <a:ext cx="0" cy="0"/>
          <a:chOff x="0" y="0"/>
          <a:chExt cx="0" cy="0"/>
        </a:xfrm>
      </p:grpSpPr>
      <p:pic>
        <p:nvPicPr>
          <p:cNvPr id="6" name="Afbeelding 5"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930"/>
          <a:stretch/>
        </p:blipFill>
        <p:spPr>
          <a:xfrm>
            <a:off x="480001" y="6174000"/>
            <a:ext cx="2104645" cy="509137"/>
          </a:xfrm>
          <a:prstGeom prst="rect">
            <a:avLst/>
          </a:prstGeom>
        </p:spPr>
      </p:pic>
      <p:sp>
        <p:nvSpPr>
          <p:cNvPr id="7"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8"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1110213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orange">
    <p:bg>
      <p:bgPr>
        <a:solidFill>
          <a:schemeClr val="accent1"/>
        </a:solidFill>
        <a:effectLst/>
      </p:bgPr>
    </p:bg>
    <p:spTree>
      <p:nvGrpSpPr>
        <p:cNvPr id="1" name=""/>
        <p:cNvGrpSpPr/>
        <p:nvPr/>
      </p:nvGrpSpPr>
      <p:grpSpPr>
        <a:xfrm>
          <a:off x="0" y="0"/>
          <a:ext cx="0" cy="0"/>
          <a:chOff x="0" y="0"/>
          <a:chExt cx="0" cy="0"/>
        </a:xfrm>
      </p:grpSpPr>
      <p:pic>
        <p:nvPicPr>
          <p:cNvPr id="6" name="Afbeelding 5"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930"/>
          <a:stretch/>
        </p:blipFill>
        <p:spPr>
          <a:xfrm>
            <a:off x="480001" y="6174000"/>
            <a:ext cx="2104645" cy="509137"/>
          </a:xfrm>
          <a:prstGeom prst="rect">
            <a:avLst/>
          </a:prstGeom>
        </p:spPr>
      </p:pic>
      <p:sp>
        <p:nvSpPr>
          <p:cNvPr id="7"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8"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pic>
        <p:nvPicPr>
          <p:cNvPr id="9" name="Pictur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126928" y="3030584"/>
            <a:ext cx="6065072" cy="4020392"/>
          </a:xfrm>
          <a:prstGeom prst="rect">
            <a:avLst/>
          </a:prstGeom>
        </p:spPr>
      </p:pic>
    </p:spTree>
    <p:extLst>
      <p:ext uri="{BB962C8B-B14F-4D97-AF65-F5344CB8AC3E}">
        <p14:creationId xmlns:p14="http://schemas.microsoft.com/office/powerpoint/2010/main" val="2369746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Titelstijl van model bewerken</a:t>
            </a:r>
          </a:p>
        </p:txBody>
      </p:sp>
      <p:sp>
        <p:nvSpPr>
          <p:cNvPr id="3" name="Tijdelijke aanduiding voor inhoud 2"/>
          <p:cNvSpPr>
            <a:spLocks noGrp="1"/>
          </p:cNvSpPr>
          <p:nvPr>
            <p:ph idx="1"/>
          </p:nvPr>
        </p:nvSpPr>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6" name="Tijdelijke aanduiding voor dianummer 5"/>
          <p:cNvSpPr>
            <a:spLocks noGrp="1"/>
          </p:cNvSpPr>
          <p:nvPr>
            <p:ph type="sldNum" sz="quarter" idx="12"/>
          </p:nvPr>
        </p:nvSpPr>
        <p:spPr/>
        <p:txBody>
          <a:bodyPr/>
          <a:lstStyle/>
          <a:p>
            <a:fld id="{09B7AD4A-C94A-7B42-9E17-606C7F366C4B}" type="slidenum">
              <a:rPr lang="nl-NL" smtClean="0"/>
              <a:t>‹#›</a:t>
            </a:fld>
            <a:endParaRPr lang="nl-NL"/>
          </a:p>
        </p:txBody>
      </p:sp>
      <p:pic>
        <p:nvPicPr>
          <p:cNvPr id="7" name="Afbeelding 6"/>
          <p:cNvPicPr>
            <a:picLocks noChangeAspect="1"/>
          </p:cNvPicPr>
          <p:nvPr userDrawn="1"/>
        </p:nvPicPr>
        <p:blipFill rotWithShape="1">
          <a:blip r:embed="rId2"/>
          <a:srcRect r="19769"/>
          <a:stretch/>
        </p:blipFill>
        <p:spPr>
          <a:xfrm>
            <a:off x="480001" y="6173621"/>
            <a:ext cx="2137056" cy="506307"/>
          </a:xfrm>
          <a:prstGeom prst="rect">
            <a:avLst/>
          </a:prstGeom>
        </p:spPr>
      </p:pic>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9" name="Tijdelijke aanduiding voor datum 3"/>
          <p:cNvSpPr>
            <a:spLocks noGrp="1"/>
          </p:cNvSpPr>
          <p:nvPr>
            <p:ph type="dt" sz="half" idx="10"/>
          </p:nvPr>
        </p:nvSpPr>
        <p:spPr>
          <a:xfrm>
            <a:off x="9781607" y="6314803"/>
            <a:ext cx="1219287" cy="365125"/>
          </a:xfrm>
        </p:spPr>
        <p:txBody>
          <a:bodyPr/>
          <a:lstStyle/>
          <a:p>
            <a:endParaRPr lang="nl-NL" dirty="0"/>
          </a:p>
        </p:txBody>
      </p:sp>
    </p:spTree>
    <p:extLst>
      <p:ext uri="{BB962C8B-B14F-4D97-AF65-F5344CB8AC3E}">
        <p14:creationId xmlns:p14="http://schemas.microsoft.com/office/powerpoint/2010/main" val="36088386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ext slide dark blue">
    <p:bg>
      <p:bgPr>
        <a:solidFill>
          <a:schemeClr val="accent3"/>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Titelstijl van model bewerken</a:t>
            </a:r>
          </a:p>
        </p:txBody>
      </p:sp>
      <p:sp>
        <p:nvSpPr>
          <p:cNvPr id="3" name="Tijdelijke aanduiding voor inhoud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6" name="Tijdelijke aanduiding voor dianummer 5"/>
          <p:cNvSpPr>
            <a:spLocks noGrp="1"/>
          </p:cNvSpPr>
          <p:nvPr>
            <p:ph type="sldNum" sz="quarter" idx="12"/>
          </p:nvPr>
        </p:nvSpPr>
        <p:spPr/>
        <p:txBody>
          <a:bodyPr/>
          <a:lstStyle>
            <a:lvl1pPr>
              <a:defRPr>
                <a:solidFill>
                  <a:srgbClr val="FFFFFF"/>
                </a:solidFill>
              </a:defRPr>
            </a:lvl1pPr>
          </a:lstStyle>
          <a:p>
            <a:fld id="{09B7AD4A-C94A-7B42-9E17-606C7F366C4B}" type="slidenum">
              <a:rPr lang="nl-NL" smtClean="0"/>
              <a:pPr/>
              <a:t>‹#›</a:t>
            </a:fld>
            <a:endParaRPr lang="nl-NL"/>
          </a:p>
        </p:txBody>
      </p:sp>
      <p:pic>
        <p:nvPicPr>
          <p:cNvPr id="10" name="Afbeelding 9"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1235"/>
          <a:stretch/>
        </p:blipFill>
        <p:spPr>
          <a:xfrm>
            <a:off x="480001" y="6174000"/>
            <a:ext cx="2096544" cy="509137"/>
          </a:xfrm>
          <a:prstGeom prst="rect">
            <a:avLst/>
          </a:prstGeom>
        </p:spPr>
      </p:pic>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7" name="Tijdelijke aanduiding voor datum 3"/>
          <p:cNvSpPr>
            <a:spLocks noGrp="1"/>
          </p:cNvSpPr>
          <p:nvPr>
            <p:ph type="dt" sz="half" idx="10"/>
          </p:nvPr>
        </p:nvSpPr>
        <p:spPr>
          <a:xfrm>
            <a:off x="9781607" y="6314803"/>
            <a:ext cx="1219287" cy="365125"/>
          </a:xfrm>
        </p:spPr>
        <p:txBody>
          <a:bodyPr/>
          <a:lstStyle>
            <a:lvl1pPr>
              <a:defRPr>
                <a:solidFill>
                  <a:schemeClr val="bg1"/>
                </a:solidFill>
              </a:defRPr>
            </a:lvl1pPr>
          </a:lstStyle>
          <a:p>
            <a:endParaRPr lang="nl-NL" dirty="0"/>
          </a:p>
        </p:txBody>
      </p:sp>
    </p:spTree>
    <p:extLst>
      <p:ext uri="{BB962C8B-B14F-4D97-AF65-F5344CB8AC3E}">
        <p14:creationId xmlns:p14="http://schemas.microsoft.com/office/powerpoint/2010/main" val="2323992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ext slide light blue">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FFFFFF"/>
                </a:solidFill>
              </a:defRPr>
            </a:lvl1pPr>
          </a:lstStyle>
          <a:p>
            <a:r>
              <a:rPr lang="nl-NL" dirty="0"/>
              <a:t>Titelstijl van model bewerken</a:t>
            </a:r>
          </a:p>
        </p:txBody>
      </p:sp>
      <p:sp>
        <p:nvSpPr>
          <p:cNvPr id="3" name="Tijdelijke aanduiding voor inhoud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6" name="Tijdelijke aanduiding voor dianummer 5"/>
          <p:cNvSpPr>
            <a:spLocks noGrp="1"/>
          </p:cNvSpPr>
          <p:nvPr>
            <p:ph type="sldNum" sz="quarter" idx="12"/>
          </p:nvPr>
        </p:nvSpPr>
        <p:spPr/>
        <p:txBody>
          <a:bodyPr/>
          <a:lstStyle>
            <a:lvl1pPr>
              <a:defRPr>
                <a:solidFill>
                  <a:srgbClr val="FFFFFF"/>
                </a:solidFill>
              </a:defRPr>
            </a:lvl1pPr>
          </a:lstStyle>
          <a:p>
            <a:fld id="{09B7AD4A-C94A-7B42-9E17-606C7F366C4B}" type="slidenum">
              <a:rPr lang="nl-NL" smtClean="0"/>
              <a:pPr/>
              <a:t>‹#›</a:t>
            </a:fld>
            <a:endParaRPr lang="nl-NL"/>
          </a:p>
        </p:txBody>
      </p:sp>
      <p:pic>
        <p:nvPicPr>
          <p:cNvPr id="10" name="Afbeelding 9" descr="UM40_RGB_B_blauw.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7" name="Tijdelijke aanduiding voor datum 3"/>
          <p:cNvSpPr>
            <a:spLocks noGrp="1"/>
          </p:cNvSpPr>
          <p:nvPr>
            <p:ph type="dt" sz="half" idx="10"/>
          </p:nvPr>
        </p:nvSpPr>
        <p:spPr>
          <a:xfrm>
            <a:off x="9781607" y="6314803"/>
            <a:ext cx="1219287" cy="365125"/>
          </a:xfrm>
        </p:spPr>
        <p:txBody>
          <a:bodyPr/>
          <a:lstStyle>
            <a:lvl1pPr>
              <a:defRPr>
                <a:solidFill>
                  <a:schemeClr val="bg1"/>
                </a:solidFill>
              </a:defRPr>
            </a:lvl1pPr>
          </a:lstStyle>
          <a:p>
            <a:endParaRPr lang="nl-NL" dirty="0"/>
          </a:p>
        </p:txBody>
      </p:sp>
    </p:spTree>
    <p:extLst>
      <p:ext uri="{BB962C8B-B14F-4D97-AF65-F5344CB8AC3E}">
        <p14:creationId xmlns:p14="http://schemas.microsoft.com/office/powerpoint/2010/main" val="24816769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photo slide">
    <p:spTree>
      <p:nvGrpSpPr>
        <p:cNvPr id="1" name=""/>
        <p:cNvGrpSpPr/>
        <p:nvPr/>
      </p:nvGrpSpPr>
      <p:grpSpPr>
        <a:xfrm>
          <a:off x="0" y="0"/>
          <a:ext cx="0" cy="0"/>
          <a:chOff x="0" y="0"/>
          <a:chExt cx="0" cy="0"/>
        </a:xfrm>
      </p:grpSpPr>
      <p:sp>
        <p:nvSpPr>
          <p:cNvPr id="2" name="Titel 1"/>
          <p:cNvSpPr>
            <a:spLocks noGrp="1"/>
          </p:cNvSpPr>
          <p:nvPr>
            <p:ph type="title"/>
          </p:nvPr>
        </p:nvSpPr>
        <p:spPr>
          <a:xfrm>
            <a:off x="480002" y="414261"/>
            <a:ext cx="5246167" cy="1565897"/>
          </a:xfrm>
        </p:spPr>
        <p:txBody>
          <a:bodyPr/>
          <a:lstStyle/>
          <a:p>
            <a:r>
              <a:rPr lang="nl-NL" dirty="0"/>
              <a:t>Titelstijl van model bewerken</a:t>
            </a:r>
          </a:p>
        </p:txBody>
      </p:sp>
      <p:sp>
        <p:nvSpPr>
          <p:cNvPr id="3" name="Tijdelijke aanduiding voor inhoud 2"/>
          <p:cNvSpPr>
            <a:spLocks noGrp="1"/>
          </p:cNvSpPr>
          <p:nvPr>
            <p:ph idx="1"/>
          </p:nvPr>
        </p:nvSpPr>
        <p:spPr>
          <a:xfrm>
            <a:off x="480001" y="1980156"/>
            <a:ext cx="5246165" cy="3810096"/>
          </a:xfrm>
        </p:spPr>
        <p:txBody>
          <a:bodyPr/>
          <a:lstStyle>
            <a:lvl3pPr marL="954592" indent="0">
              <a:buNone/>
              <a:defRPr/>
            </a:lvl3pPr>
          </a:lstStyle>
          <a:p>
            <a:pPr lvl="0"/>
            <a:r>
              <a:rPr lang="nl-NL" dirty="0"/>
              <a:t>Klik om de tekststijl van het model te bewerken</a:t>
            </a:r>
          </a:p>
          <a:p>
            <a:pPr lvl="1"/>
            <a:r>
              <a:rPr lang="nl-NL" dirty="0"/>
              <a:t>Tweede niveau</a:t>
            </a:r>
          </a:p>
        </p:txBody>
      </p:sp>
      <p:sp>
        <p:nvSpPr>
          <p:cNvPr id="4" name="Tijdelijke aanduiding voor datum 3"/>
          <p:cNvSpPr>
            <a:spLocks noGrp="1"/>
          </p:cNvSpPr>
          <p:nvPr>
            <p:ph type="dt" sz="half" idx="10"/>
          </p:nvPr>
        </p:nvSpPr>
        <p:spPr>
          <a:xfrm>
            <a:off x="6126724" y="6318628"/>
            <a:ext cx="734312" cy="365125"/>
          </a:xfrm>
        </p:spPr>
        <p:txBody>
          <a:bodyPr/>
          <a:lstStyle/>
          <a:p>
            <a:endParaRPr lang="nl-NL"/>
          </a:p>
        </p:txBody>
      </p:sp>
      <p:sp>
        <p:nvSpPr>
          <p:cNvPr id="5" name="Tijdelijke aanduiding voor voettekst 4"/>
          <p:cNvSpPr>
            <a:spLocks noGrp="1"/>
          </p:cNvSpPr>
          <p:nvPr>
            <p:ph type="ftr" sz="quarter" idx="11"/>
          </p:nvPr>
        </p:nvSpPr>
        <p:spPr>
          <a:xfrm>
            <a:off x="6327003" y="6318628"/>
            <a:ext cx="4599935" cy="365125"/>
          </a:xfrm>
        </p:spPr>
        <p:txBody>
          <a:bodyPr/>
          <a:lstStyle/>
          <a:p>
            <a:endParaRPr lang="nl-NL"/>
          </a:p>
        </p:txBody>
      </p:sp>
      <p:sp>
        <p:nvSpPr>
          <p:cNvPr id="6" name="Tijdelijke aanduiding voor dianummer 5"/>
          <p:cNvSpPr>
            <a:spLocks noGrp="1"/>
          </p:cNvSpPr>
          <p:nvPr>
            <p:ph type="sldNum" sz="quarter" idx="12"/>
          </p:nvPr>
        </p:nvSpPr>
        <p:spPr>
          <a:xfrm>
            <a:off x="10926941" y="6318400"/>
            <a:ext cx="759969" cy="365125"/>
          </a:xfrm>
        </p:spPr>
        <p:txBody>
          <a:bodyPr/>
          <a:lstStyle/>
          <a:p>
            <a:fld id="{09B7AD4A-C94A-7B42-9E17-606C7F366C4B}" type="slidenum">
              <a:rPr lang="nl-NL" smtClean="0"/>
              <a:t>‹#›</a:t>
            </a:fld>
            <a:endParaRPr lang="nl-NL"/>
          </a:p>
        </p:txBody>
      </p:sp>
      <p:sp>
        <p:nvSpPr>
          <p:cNvPr id="8" name="Tijdelijke aanduiding voor afbeelding 7"/>
          <p:cNvSpPr>
            <a:spLocks noGrp="1"/>
          </p:cNvSpPr>
          <p:nvPr>
            <p:ph type="pic" sz="quarter" idx="13"/>
          </p:nvPr>
        </p:nvSpPr>
        <p:spPr>
          <a:xfrm>
            <a:off x="6126726" y="0"/>
            <a:ext cx="6065276" cy="6858000"/>
          </a:xfrm>
          <a:solidFill>
            <a:schemeClr val="bg1">
              <a:lumMod val="85000"/>
            </a:schemeClr>
          </a:solidFill>
        </p:spPr>
        <p:txBody>
          <a:bodyPr/>
          <a:lstStyle/>
          <a:p>
            <a:endParaRPr lang="nl-NL"/>
          </a:p>
        </p:txBody>
      </p:sp>
      <p:pic>
        <p:nvPicPr>
          <p:cNvPr id="9" name="Afbeelding 8"/>
          <p:cNvPicPr>
            <a:picLocks noChangeAspect="1"/>
          </p:cNvPicPr>
          <p:nvPr userDrawn="1"/>
        </p:nvPicPr>
        <p:blipFill rotWithShape="1">
          <a:blip r:embed="rId2"/>
          <a:srcRect r="19769"/>
          <a:stretch/>
        </p:blipFill>
        <p:spPr>
          <a:xfrm>
            <a:off x="480001" y="6173621"/>
            <a:ext cx="2137056" cy="506307"/>
          </a:xfrm>
          <a:prstGeom prst="rect">
            <a:avLst/>
          </a:prstGeom>
        </p:spPr>
      </p:pic>
    </p:spTree>
    <p:extLst>
      <p:ext uri="{BB962C8B-B14F-4D97-AF65-F5344CB8AC3E}">
        <p14:creationId xmlns:p14="http://schemas.microsoft.com/office/powerpoint/2010/main" val="200602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slide">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p:cNvSpPr>
            <a:spLocks noGrp="1"/>
          </p:cNvSpPr>
          <p:nvPr>
            <p:ph type="pic" sz="quarter" idx="13"/>
          </p:nvPr>
        </p:nvSpPr>
        <p:spPr>
          <a:xfrm>
            <a:off x="0" y="0"/>
            <a:ext cx="12192000" cy="6858000"/>
          </a:xfrm>
          <a:solidFill>
            <a:schemeClr val="bg2">
              <a:lumMod val="85000"/>
            </a:schemeClr>
          </a:solidFill>
        </p:spPr>
        <p:txBody>
          <a:bodyPr/>
          <a:lstStyle/>
          <a:p>
            <a:endParaRPr lang="nl-NL" dirty="0"/>
          </a:p>
        </p:txBody>
      </p:sp>
      <p:sp>
        <p:nvSpPr>
          <p:cNvPr id="5" name="Tijdelijke aanduiding voor dianummer 4"/>
          <p:cNvSpPr>
            <a:spLocks noGrp="1"/>
          </p:cNvSpPr>
          <p:nvPr>
            <p:ph type="sldNum" sz="quarter" idx="12"/>
          </p:nvPr>
        </p:nvSpPr>
        <p:spPr/>
        <p:txBody>
          <a:bodyPr/>
          <a:lstStyle/>
          <a:p>
            <a:fld id="{09B7AD4A-C94A-7B42-9E17-606C7F366C4B}" type="slidenum">
              <a:rPr lang="nl-NL" smtClean="0"/>
              <a:pPr/>
              <a:t>‹#›</a:t>
            </a:fld>
            <a:endParaRPr lang="nl-NL" dirty="0"/>
          </a:p>
        </p:txBody>
      </p:sp>
      <p:sp>
        <p:nvSpPr>
          <p:cNvPr id="11" name="Tijdelijke aanduiding voor tekst 6">
            <a:extLst>
              <a:ext uri="{FF2B5EF4-FFF2-40B4-BE49-F238E27FC236}">
                <a16:creationId xmlns:a16="http://schemas.microsoft.com/office/drawing/2014/main" id="{65C5AF04-DC40-0847-A150-8AD1FF13551E}"/>
              </a:ext>
            </a:extLst>
          </p:cNvPr>
          <p:cNvSpPr>
            <a:spLocks noGrp="1"/>
          </p:cNvSpPr>
          <p:nvPr>
            <p:ph type="body" sz="quarter" idx="15" hasCustomPrompt="1"/>
          </p:nvPr>
        </p:nvSpPr>
        <p:spPr>
          <a:xfrm>
            <a:off x="478267" y="6249250"/>
            <a:ext cx="2044800" cy="311151"/>
          </a:xfrm>
          <a:blipFill>
            <a:blip r:embed="rId2"/>
            <a:stretch>
              <a:fillRect/>
            </a:stretch>
          </a:blipFill>
        </p:spPr>
        <p:txBody>
          <a:bodyPr/>
          <a:lstStyle>
            <a:lvl1pPr marL="0" indent="0" algn="ctr">
              <a:buNone/>
              <a:defRPr sz="1067"/>
            </a:lvl1pPr>
            <a:lvl2pPr marL="478355" indent="0">
              <a:buNone/>
              <a:defRPr sz="1067"/>
            </a:lvl2pPr>
            <a:lvl3pPr marL="954592" indent="0">
              <a:buNone/>
              <a:defRPr sz="1067"/>
            </a:lvl3pPr>
            <a:lvl4pPr marL="1432948" indent="0">
              <a:buNone/>
              <a:defRPr sz="1067"/>
            </a:lvl4pPr>
            <a:lvl5pPr marL="1911302" indent="0">
              <a:buNone/>
              <a:defRPr sz="1067"/>
            </a:lvl5pPr>
          </a:lstStyle>
          <a:p>
            <a:pPr lvl="0"/>
            <a:r>
              <a:rPr lang="nl-NL" dirty="0"/>
              <a:t>  </a:t>
            </a: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6" name="Tijdelijke aanduiding voor datum 3"/>
          <p:cNvSpPr>
            <a:spLocks noGrp="1"/>
          </p:cNvSpPr>
          <p:nvPr>
            <p:ph type="dt" sz="half" idx="10"/>
          </p:nvPr>
        </p:nvSpPr>
        <p:spPr>
          <a:xfrm>
            <a:off x="9781607" y="6314803"/>
            <a:ext cx="1219287" cy="365125"/>
          </a:xfrm>
        </p:spPr>
        <p:txBody>
          <a:bodyPr/>
          <a:lstStyle>
            <a:lvl1pPr>
              <a:defRPr>
                <a:solidFill>
                  <a:schemeClr val="tx1"/>
                </a:solidFill>
              </a:defRPr>
            </a:lvl1pPr>
          </a:lstStyle>
          <a:p>
            <a:endParaRPr lang="nl-NL" dirty="0"/>
          </a:p>
        </p:txBody>
      </p:sp>
    </p:spTree>
    <p:extLst>
      <p:ext uri="{BB962C8B-B14F-4D97-AF65-F5344CB8AC3E}">
        <p14:creationId xmlns:p14="http://schemas.microsoft.com/office/powerpoint/2010/main" val="281442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Titelstijl van model bewerken</a:t>
            </a:r>
          </a:p>
        </p:txBody>
      </p:sp>
      <p:sp>
        <p:nvSpPr>
          <p:cNvPr id="5" name="Tijdelijke aanduiding voor dianummer 4"/>
          <p:cNvSpPr>
            <a:spLocks noGrp="1"/>
          </p:cNvSpPr>
          <p:nvPr>
            <p:ph type="sldNum" sz="quarter" idx="12"/>
          </p:nvPr>
        </p:nvSpPr>
        <p:spPr/>
        <p:txBody>
          <a:bodyPr/>
          <a:lstStyle/>
          <a:p>
            <a:fld id="{09B7AD4A-C94A-7B42-9E17-606C7F366C4B}" type="slidenum">
              <a:rPr lang="nl-NL" smtClean="0"/>
              <a:t>‹#›</a:t>
            </a:fld>
            <a:endParaRPr lang="nl-NL"/>
          </a:p>
        </p:txBody>
      </p:sp>
      <p:sp>
        <p:nvSpPr>
          <p:cNvPr id="7" name="Tijdelijke aanduiding voor tabel 6"/>
          <p:cNvSpPr>
            <a:spLocks noGrp="1"/>
          </p:cNvSpPr>
          <p:nvPr>
            <p:ph type="tbl" sz="quarter" idx="13"/>
          </p:nvPr>
        </p:nvSpPr>
        <p:spPr>
          <a:xfrm>
            <a:off x="480486" y="1296001"/>
            <a:ext cx="11101916" cy="4309231"/>
          </a:xfrm>
        </p:spPr>
        <p:txBody>
          <a:bodyPr/>
          <a:lstStyle/>
          <a:p>
            <a:endParaRPr lang="nl-NL"/>
          </a:p>
        </p:txBody>
      </p:sp>
      <p:pic>
        <p:nvPicPr>
          <p:cNvPr id="8" name="Afbeelding 7"/>
          <p:cNvPicPr>
            <a:picLocks noChangeAspect="1"/>
          </p:cNvPicPr>
          <p:nvPr userDrawn="1"/>
        </p:nvPicPr>
        <p:blipFill rotWithShape="1">
          <a:blip r:embed="rId2"/>
          <a:srcRect r="19769"/>
          <a:stretch/>
        </p:blipFill>
        <p:spPr>
          <a:xfrm>
            <a:off x="480001" y="6173621"/>
            <a:ext cx="2137056" cy="506307"/>
          </a:xfrm>
          <a:prstGeom prst="rect">
            <a:avLst/>
          </a:prstGeom>
        </p:spPr>
      </p:pic>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10" name="Tijdelijke aanduiding voor datum 3"/>
          <p:cNvSpPr>
            <a:spLocks noGrp="1"/>
          </p:cNvSpPr>
          <p:nvPr>
            <p:ph type="dt" sz="half" idx="10"/>
          </p:nvPr>
        </p:nvSpPr>
        <p:spPr>
          <a:xfrm>
            <a:off x="9781607" y="6314803"/>
            <a:ext cx="1219287" cy="365125"/>
          </a:xfrm>
        </p:spPr>
        <p:txBody>
          <a:bodyPr/>
          <a:lstStyle/>
          <a:p>
            <a:endParaRPr lang="nl-NL" dirty="0"/>
          </a:p>
        </p:txBody>
      </p:sp>
    </p:spTree>
    <p:extLst>
      <p:ext uri="{BB962C8B-B14F-4D97-AF65-F5344CB8AC3E}">
        <p14:creationId xmlns:p14="http://schemas.microsoft.com/office/powerpoint/2010/main" val="1206062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480001" y="414260"/>
            <a:ext cx="11102399" cy="756000"/>
          </a:xfrm>
          <a:prstGeom prst="rect">
            <a:avLst/>
          </a:prstGeom>
        </p:spPr>
        <p:txBody>
          <a:bodyPr vert="horz" lIns="0" tIns="0" rIns="0" bIns="0" rtlCol="0" anchor="t" anchorCtr="0">
            <a:normAutofit/>
          </a:bodyPr>
          <a:lstStyle/>
          <a:p>
            <a:r>
              <a:rPr lang="nl-NL" dirty="0"/>
              <a:t>Titelstijl van model bewerken</a:t>
            </a:r>
          </a:p>
        </p:txBody>
      </p:sp>
      <p:sp>
        <p:nvSpPr>
          <p:cNvPr id="3" name="Tijdelijke aanduiding voor tekst 2"/>
          <p:cNvSpPr>
            <a:spLocks noGrp="1"/>
          </p:cNvSpPr>
          <p:nvPr>
            <p:ph type="body" idx="1"/>
          </p:nvPr>
        </p:nvSpPr>
        <p:spPr>
          <a:xfrm>
            <a:off x="480001" y="1296000"/>
            <a:ext cx="11102399" cy="4445149"/>
          </a:xfrm>
          <a:prstGeom prst="rect">
            <a:avLst/>
          </a:prstGeom>
        </p:spPr>
        <p:txBody>
          <a:bodyPr vert="horz" lIns="0" tIns="0" rIns="0" bIns="0" rtlCol="0">
            <a:no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4312625" y="6318628"/>
            <a:ext cx="1219287" cy="365125"/>
          </a:xfrm>
          <a:prstGeom prst="rect">
            <a:avLst/>
          </a:prstGeom>
        </p:spPr>
        <p:txBody>
          <a:bodyPr vert="horz" lIns="0" tIns="0" rIns="0" bIns="0" rtlCol="0" anchor="t" anchorCtr="0"/>
          <a:lstStyle>
            <a:lvl1pPr algn="r">
              <a:defRPr sz="1333">
                <a:solidFill>
                  <a:schemeClr val="tx1"/>
                </a:solidFill>
                <a:latin typeface="+mj-lt"/>
                <a:cs typeface="Verdana"/>
              </a:defRPr>
            </a:lvl1pPr>
          </a:lstStyle>
          <a:p>
            <a:endParaRPr lang="nl-NL" dirty="0"/>
          </a:p>
        </p:txBody>
      </p:sp>
      <p:sp>
        <p:nvSpPr>
          <p:cNvPr id="5" name="Tijdelijke aanduiding voor voettekst 4"/>
          <p:cNvSpPr>
            <a:spLocks noGrp="1"/>
          </p:cNvSpPr>
          <p:nvPr>
            <p:ph type="ftr" sz="quarter" idx="3"/>
          </p:nvPr>
        </p:nvSpPr>
        <p:spPr>
          <a:xfrm>
            <a:off x="5697661" y="6318628"/>
            <a:ext cx="5303544" cy="365125"/>
          </a:xfrm>
          <a:prstGeom prst="rect">
            <a:avLst/>
          </a:prstGeom>
        </p:spPr>
        <p:txBody>
          <a:bodyPr vert="horz" lIns="0" tIns="0" rIns="0" bIns="0" rtlCol="0" anchor="t" anchorCtr="0"/>
          <a:lstStyle>
            <a:lvl1pPr algn="r">
              <a:defRPr sz="1333">
                <a:solidFill>
                  <a:schemeClr val="tx1"/>
                </a:solidFill>
                <a:latin typeface="+mn-lt"/>
                <a:cs typeface="Verdana"/>
              </a:defRPr>
            </a:lvl1pPr>
          </a:lstStyle>
          <a:p>
            <a:endParaRPr lang="nl-NL" dirty="0"/>
          </a:p>
        </p:txBody>
      </p:sp>
      <p:sp>
        <p:nvSpPr>
          <p:cNvPr id="6" name="Tijdelijke aanduiding voor dianummer 5"/>
          <p:cNvSpPr>
            <a:spLocks noGrp="1"/>
          </p:cNvSpPr>
          <p:nvPr>
            <p:ph type="sldNum" sz="quarter" idx="4"/>
          </p:nvPr>
        </p:nvSpPr>
        <p:spPr>
          <a:xfrm>
            <a:off x="11088190" y="6318400"/>
            <a:ext cx="494209" cy="365125"/>
          </a:xfrm>
          <a:prstGeom prst="rect">
            <a:avLst/>
          </a:prstGeom>
        </p:spPr>
        <p:txBody>
          <a:bodyPr vert="horz" lIns="0" tIns="0" rIns="0" bIns="0" rtlCol="0" anchor="t" anchorCtr="0"/>
          <a:lstStyle>
            <a:lvl1pPr algn="r">
              <a:defRPr sz="1333">
                <a:solidFill>
                  <a:schemeClr val="tx1"/>
                </a:solidFill>
                <a:latin typeface="+mn-lt"/>
                <a:cs typeface="Verdana"/>
              </a:defRPr>
            </a:lvl1pPr>
          </a:lstStyle>
          <a:p>
            <a:fld id="{09B7AD4A-C94A-7B42-9E17-606C7F366C4B}" type="slidenum">
              <a:rPr lang="nl-NL" smtClean="0"/>
              <a:pPr/>
              <a:t>‹#›</a:t>
            </a:fld>
            <a:endParaRPr lang="nl-NL" dirty="0"/>
          </a:p>
        </p:txBody>
      </p:sp>
    </p:spTree>
    <p:extLst>
      <p:ext uri="{BB962C8B-B14F-4D97-AF65-F5344CB8AC3E}">
        <p14:creationId xmlns:p14="http://schemas.microsoft.com/office/powerpoint/2010/main" val="7651323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ftr="0" dt="0"/>
  <p:txStyles>
    <p:titleStyle>
      <a:lvl1pPr algn="l" defTabSz="609585" rtl="0" eaLnBrk="1" latinLnBrk="0" hangingPunct="1">
        <a:spcBef>
          <a:spcPct val="0"/>
        </a:spcBef>
        <a:buNone/>
        <a:defRPr sz="4267" b="1" kern="1200">
          <a:solidFill>
            <a:schemeClr val="tx2"/>
          </a:solidFill>
          <a:latin typeface="+mj-lt"/>
          <a:ea typeface="+mj-ea"/>
          <a:cs typeface="Verdana"/>
        </a:defRPr>
      </a:lvl1pPr>
    </p:titleStyle>
    <p:body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nl-NL"/>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11.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5.jpe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24.png"/><Relationship Id="rId5" Type="http://schemas.openxmlformats.org/officeDocument/2006/relationships/image" Target="../media/image170.png"/><Relationship Id="rId4" Type="http://schemas.openxmlformats.org/officeDocument/2006/relationships/image" Target="../media/image160.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8" Type="http://schemas.openxmlformats.org/officeDocument/2006/relationships/image" Target="../media/image330.png"/><Relationship Id="rId3" Type="http://schemas.openxmlformats.org/officeDocument/2006/relationships/image" Target="../media/image280.png"/><Relationship Id="rId7" Type="http://schemas.openxmlformats.org/officeDocument/2006/relationships/image" Target="../media/image320.png"/><Relationship Id="rId2" Type="http://schemas.openxmlformats.org/officeDocument/2006/relationships/image" Target="../media/image270.png"/><Relationship Id="rId1" Type="http://schemas.openxmlformats.org/officeDocument/2006/relationships/slideLayout" Target="../slideLayouts/slideLayout11.xml"/><Relationship Id="rId6" Type="http://schemas.openxmlformats.org/officeDocument/2006/relationships/image" Target="../media/image310.png"/><Relationship Id="rId5" Type="http://schemas.openxmlformats.org/officeDocument/2006/relationships/image" Target="../media/image300.png"/><Relationship Id="rId4" Type="http://schemas.openxmlformats.org/officeDocument/2006/relationships/image" Target="../media/image290.png"/><Relationship Id="rId9" Type="http://schemas.openxmlformats.org/officeDocument/2006/relationships/image" Target="../media/image340.png"/></Relationships>
</file>

<file path=ppt/slides/_rels/slide2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280.png"/><Relationship Id="rId7" Type="http://schemas.openxmlformats.org/officeDocument/2006/relationships/image" Target="../media/image39.png"/><Relationship Id="rId2" Type="http://schemas.openxmlformats.org/officeDocument/2006/relationships/image" Target="../media/image35.png"/><Relationship Id="rId1" Type="http://schemas.openxmlformats.org/officeDocument/2006/relationships/slideLayout" Target="../slideLayouts/slideLayout1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png"/></Relationships>
</file>

<file path=ppt/slides/_rels/slide2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1.xml"/><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49.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26.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54.png"/><Relationship Id="rId7" Type="http://schemas.openxmlformats.org/officeDocument/2006/relationships/image" Target="../media/image50.png"/><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image" Target="../media/image56.png"/><Relationship Id="rId5" Type="http://schemas.openxmlformats.org/officeDocument/2006/relationships/image" Target="../media/image48.png"/><Relationship Id="rId10" Type="http://schemas.openxmlformats.org/officeDocument/2006/relationships/image" Target="../media/image57.png"/><Relationship Id="rId4" Type="http://schemas.openxmlformats.org/officeDocument/2006/relationships/image" Target="../media/image55.png"/><Relationship Id="rId9" Type="http://schemas.openxmlformats.org/officeDocument/2006/relationships/image" Target="../media/image52.png"/></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61.png"/></Relationships>
</file>

<file path=ppt/slides/_rels/slide2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2.pn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3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9.xml"/><Relationship Id="rId1" Type="http://schemas.openxmlformats.org/officeDocument/2006/relationships/slideLayout" Target="../slideLayouts/slideLayout11.xml"/><Relationship Id="rId5" Type="http://schemas.openxmlformats.org/officeDocument/2006/relationships/image" Target="../media/image600.png"/><Relationship Id="rId4" Type="http://schemas.openxmlformats.org/officeDocument/2006/relationships/image" Target="../media/image590.png"/></Relationships>
</file>

<file path=ppt/slides/_rels/slide3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0.png"/><Relationship Id="rId1" Type="http://schemas.openxmlformats.org/officeDocument/2006/relationships/slideLayout" Target="../slideLayouts/slideLayout11.xml"/><Relationship Id="rId4" Type="http://schemas.openxmlformats.org/officeDocument/2006/relationships/image" Target="../media/image73.png"/></Relationships>
</file>

<file path=ppt/slides/_rels/slide4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1.xml"/><Relationship Id="rId1" Type="http://schemas.openxmlformats.org/officeDocument/2006/relationships/slideLayout" Target="../slideLayouts/slideLayout11.xml"/><Relationship Id="rId5" Type="http://schemas.openxmlformats.org/officeDocument/2006/relationships/image" Target="../media/image620.png"/><Relationship Id="rId4" Type="http://schemas.openxmlformats.org/officeDocument/2006/relationships/image" Target="../media/image610.png"/></Relationships>
</file>

<file path=ppt/slides/_rels/slide4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78.png"/></Relationships>
</file>

<file path=ppt/slides/_rels/slide45.xml.rels><?xml version="1.0" encoding="UTF-8" standalone="yes"?>
<Relationships xmlns="http://schemas.openxmlformats.org/package/2006/relationships"><Relationship Id="rId3" Type="http://schemas.openxmlformats.org/officeDocument/2006/relationships/hyperlink" Target="https://www.ztable.net/" TargetMode="External"/><Relationship Id="rId2" Type="http://schemas.openxmlformats.org/officeDocument/2006/relationships/image" Target="../media/image79.png"/><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5.xml"/><Relationship Id="rId1" Type="http://schemas.openxmlformats.org/officeDocument/2006/relationships/slideLayout" Target="../slideLayouts/slideLayout11.xml"/><Relationship Id="rId4" Type="http://schemas.openxmlformats.org/officeDocument/2006/relationships/image" Target="../media/image81.png"/></Relationships>
</file>

<file path=ppt/slides/_rels/slide4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6.xml"/><Relationship Id="rId1" Type="http://schemas.openxmlformats.org/officeDocument/2006/relationships/slideLayout" Target="../slideLayouts/slideLayout11.xml"/><Relationship Id="rId4" Type="http://schemas.openxmlformats.org/officeDocument/2006/relationships/image" Target="../media/image8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83.png"/><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31.xml"/><Relationship Id="rId1" Type="http://schemas.openxmlformats.org/officeDocument/2006/relationships/slideLayout" Target="../slideLayouts/slideLayout11.xml"/><Relationship Id="rId4" Type="http://schemas.openxmlformats.org/officeDocument/2006/relationships/image" Target="../media/image88.png"/></Relationships>
</file>

<file path=ppt/slides/_rels/slide59.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32.xml"/><Relationship Id="rId1" Type="http://schemas.openxmlformats.org/officeDocument/2006/relationships/slideLayout" Target="../slideLayouts/slideLayout11.xml"/><Relationship Id="rId4" Type="http://schemas.openxmlformats.org/officeDocument/2006/relationships/image" Target="../media/image89.png"/></Relationships>
</file>

<file path=ppt/slides/_rels/slide60.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33.xml"/><Relationship Id="rId1" Type="http://schemas.openxmlformats.org/officeDocument/2006/relationships/slideLayout" Target="../slideLayouts/slideLayout11.xml"/><Relationship Id="rId4" Type="http://schemas.openxmlformats.org/officeDocument/2006/relationships/image" Target="../media/image95.png"/></Relationships>
</file>

<file path=ppt/slides/_rels/slide61.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4.xml"/><Relationship Id="rId1" Type="http://schemas.openxmlformats.org/officeDocument/2006/relationships/slideLayout" Target="../slideLayouts/slideLayout11.xml"/><Relationship Id="rId4" Type="http://schemas.openxmlformats.org/officeDocument/2006/relationships/image" Target="../media/image95.png"/></Relationships>
</file>

<file path=ppt/slides/_rels/slide6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5.xml"/><Relationship Id="rId1" Type="http://schemas.openxmlformats.org/officeDocument/2006/relationships/slideLayout" Target="../slideLayouts/slideLayout11.xml"/><Relationship Id="rId5" Type="http://schemas.openxmlformats.org/officeDocument/2006/relationships/image" Target="../media/image100.png"/><Relationship Id="rId4" Type="http://schemas.openxmlformats.org/officeDocument/2006/relationships/image" Target="../media/image99.png"/></Relationships>
</file>

<file path=ppt/slides/_rels/slide6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36.xml"/><Relationship Id="rId1" Type="http://schemas.openxmlformats.org/officeDocument/2006/relationships/slideLayout" Target="../slideLayouts/slideLayout11.xml"/><Relationship Id="rId5" Type="http://schemas.openxmlformats.org/officeDocument/2006/relationships/image" Target="../media/image102.png"/><Relationship Id="rId4" Type="http://schemas.openxmlformats.org/officeDocument/2006/relationships/image" Target="../media/image78.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39.xml"/><Relationship Id="rId1" Type="http://schemas.openxmlformats.org/officeDocument/2006/relationships/slideLayout" Target="../slideLayouts/slideLayout11.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s>
</file>

<file path=ppt/slides/_rels/slide70.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11.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png"/></Relationships>
</file>

<file path=ppt/slides/_rels/slide7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42.xml"/><Relationship Id="rId1" Type="http://schemas.openxmlformats.org/officeDocument/2006/relationships/slideLayout" Target="../slideLayouts/slideLayout11.xml"/><Relationship Id="rId4" Type="http://schemas.openxmlformats.org/officeDocument/2006/relationships/image" Target="../media/image115.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46.xml"/><Relationship Id="rId1" Type="http://schemas.openxmlformats.org/officeDocument/2006/relationships/slideLayout" Target="../slideLayouts/slideLayout11.xml"/><Relationship Id="rId5" Type="http://schemas.openxmlformats.org/officeDocument/2006/relationships/image" Target="../media/image118.png"/><Relationship Id="rId4" Type="http://schemas.openxmlformats.org/officeDocument/2006/relationships/image" Target="../media/image117.png"/></Relationships>
</file>

<file path=ppt/slides/_rels/slide79.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80.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81.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2" Type="http://schemas.openxmlformats.org/officeDocument/2006/relationships/image" Target="../media/image840.png"/><Relationship Id="rId1" Type="http://schemas.openxmlformats.org/officeDocument/2006/relationships/slideLayout" Target="../slideLayouts/slideLayout11.xml"/></Relationships>
</file>

<file path=ppt/slides/_rels/slide8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0.xml"/><Relationship Id="rId1" Type="http://schemas.openxmlformats.org/officeDocument/2006/relationships/slideLayout" Target="../slideLayouts/slideLayout11.xml"/><Relationship Id="rId4" Type="http://schemas.openxmlformats.org/officeDocument/2006/relationships/image" Target="../media/image123.png"/></Relationships>
</file>

<file path=ppt/slides/_rels/slide85.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86.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9.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53.xml"/><Relationship Id="rId1" Type="http://schemas.openxmlformats.org/officeDocument/2006/relationships/slideLayout" Target="../slideLayouts/slideLayout11.xml"/><Relationship Id="rId4" Type="http://schemas.openxmlformats.org/officeDocument/2006/relationships/image" Target="../media/image126.png"/></Relationships>
</file>

<file path=ppt/slides/_rels/slide90.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54.xml"/><Relationship Id="rId1" Type="http://schemas.openxmlformats.org/officeDocument/2006/relationships/slideLayout" Target="../slideLayouts/slideLayout11.xml"/><Relationship Id="rId6" Type="http://schemas.openxmlformats.org/officeDocument/2006/relationships/image" Target="../media/image130.png"/><Relationship Id="rId5" Type="http://schemas.openxmlformats.org/officeDocument/2006/relationships/image" Target="../media/image129.png"/><Relationship Id="rId4" Type="http://schemas.openxmlformats.org/officeDocument/2006/relationships/image" Target="../media/image128.png"/></Relationships>
</file>

<file path=ppt/slides/_rels/slide91.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11.xml"/></Relationships>
</file>

<file path=ppt/slides/_rels/slide92.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640.png"/><Relationship Id="rId1" Type="http://schemas.openxmlformats.org/officeDocument/2006/relationships/slideLayout" Target="../slideLayouts/slideLayout11.xml"/><Relationship Id="rId6" Type="http://schemas.openxmlformats.org/officeDocument/2006/relationships/image" Target="../media/image680.png"/><Relationship Id="rId5" Type="http://schemas.openxmlformats.org/officeDocument/2006/relationships/image" Target="../media/image670.png"/><Relationship Id="rId4" Type="http://schemas.openxmlformats.org/officeDocument/2006/relationships/image" Target="../media/image660.png"/></Relationships>
</file>

<file path=ppt/slides/_rels/slide93.xml.rels><?xml version="1.0" encoding="UTF-8" standalone="yes"?>
<Relationships xmlns="http://schemas.openxmlformats.org/package/2006/relationships"><Relationship Id="rId3" Type="http://schemas.openxmlformats.org/officeDocument/2006/relationships/image" Target="../media/image640.png"/><Relationship Id="rId7" Type="http://schemas.openxmlformats.org/officeDocument/2006/relationships/image" Target="../media/image690.png"/><Relationship Id="rId2" Type="http://schemas.openxmlformats.org/officeDocument/2006/relationships/notesSlide" Target="../notesSlides/notesSlide55.xml"/><Relationship Id="rId1" Type="http://schemas.openxmlformats.org/officeDocument/2006/relationships/slideLayout" Target="../slideLayouts/slideLayout11.xml"/><Relationship Id="rId6" Type="http://schemas.openxmlformats.org/officeDocument/2006/relationships/image" Target="../media/image670.png"/><Relationship Id="rId5" Type="http://schemas.openxmlformats.org/officeDocument/2006/relationships/image" Target="../media/image660.png"/><Relationship Id="rId4" Type="http://schemas.openxmlformats.org/officeDocument/2006/relationships/image" Target="../media/image133.png"/></Relationships>
</file>

<file path=ppt/slides/_rels/slide9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9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96.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1.xml"/></Relationships>
</file>

<file path=ppt/slides/_rels/slide97.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2784" y="253136"/>
            <a:ext cx="9247059" cy="2205259"/>
          </a:xfrm>
        </p:spPr>
        <p:txBody>
          <a:bodyPr/>
          <a:lstStyle/>
          <a:p>
            <a:r>
              <a:rPr lang="en-US" dirty="0"/>
              <a:t>BCS1520: Statistics</a:t>
            </a:r>
          </a:p>
        </p:txBody>
      </p:sp>
      <p:sp>
        <p:nvSpPr>
          <p:cNvPr id="3" name="Subtitle 2"/>
          <p:cNvSpPr>
            <a:spLocks noGrp="1"/>
          </p:cNvSpPr>
          <p:nvPr>
            <p:ph type="subTitle" idx="1"/>
          </p:nvPr>
        </p:nvSpPr>
        <p:spPr>
          <a:xfrm>
            <a:off x="752784" y="2439519"/>
            <a:ext cx="7599479" cy="1752600"/>
          </a:xfrm>
        </p:spPr>
        <p:txBody>
          <a:bodyPr/>
          <a:lstStyle/>
          <a:p>
            <a:r>
              <a:rPr lang="en-US" b="1" dirty="0"/>
              <a:t>Lecture 06: </a:t>
            </a:r>
          </a:p>
          <a:p>
            <a:r>
              <a:rPr lang="en-US" b="1" dirty="0"/>
              <a:t>Probability meets Statistics PART 2</a:t>
            </a:r>
            <a:endParaRPr lang="en-US" sz="2800" b="1" dirty="0"/>
          </a:p>
        </p:txBody>
      </p:sp>
    </p:spTree>
    <p:extLst>
      <p:ext uri="{BB962C8B-B14F-4D97-AF65-F5344CB8AC3E}">
        <p14:creationId xmlns:p14="http://schemas.microsoft.com/office/powerpoint/2010/main" val="110467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985C8-A3D7-CF5F-17B0-A8F92403486A}"/>
            </a:ext>
          </a:extLst>
        </p:cNvPr>
        <p:cNvGrpSpPr/>
        <p:nvPr/>
      </p:nvGrpSpPr>
      <p:grpSpPr>
        <a:xfrm>
          <a:off x="0" y="0"/>
          <a:ext cx="0" cy="0"/>
          <a:chOff x="0" y="0"/>
          <a:chExt cx="0" cy="0"/>
        </a:xfrm>
      </p:grpSpPr>
      <p:pic>
        <p:nvPicPr>
          <p:cNvPr id="17" name="Picture 16" descr="A line graph with orange lines&#10;&#10;AI-generated content may be incorrect.">
            <a:extLst>
              <a:ext uri="{FF2B5EF4-FFF2-40B4-BE49-F238E27FC236}">
                <a16:creationId xmlns:a16="http://schemas.microsoft.com/office/drawing/2014/main" id="{796A6ECE-DFBA-B55F-22D3-496304734BED}"/>
              </a:ext>
            </a:extLst>
          </p:cNvPr>
          <p:cNvPicPr>
            <a:picLocks noChangeAspect="1"/>
          </p:cNvPicPr>
          <p:nvPr/>
        </p:nvPicPr>
        <p:blipFill>
          <a:blip r:embed="rId3"/>
          <a:srcRect t="18939"/>
          <a:stretch>
            <a:fillRect/>
          </a:stretch>
        </p:blipFill>
        <p:spPr>
          <a:xfrm>
            <a:off x="7400247" y="4525002"/>
            <a:ext cx="3499215" cy="1738008"/>
          </a:xfrm>
          <a:prstGeom prst="rect">
            <a:avLst/>
          </a:prstGeom>
        </p:spPr>
      </p:pic>
      <p:sp>
        <p:nvSpPr>
          <p:cNvPr id="2" name="Title 1">
            <a:extLst>
              <a:ext uri="{FF2B5EF4-FFF2-40B4-BE49-F238E27FC236}">
                <a16:creationId xmlns:a16="http://schemas.microsoft.com/office/drawing/2014/main" id="{5B897828-6CDF-D70F-1D54-414113A24449}"/>
              </a:ext>
            </a:extLst>
          </p:cNvPr>
          <p:cNvSpPr>
            <a:spLocks noGrp="1"/>
          </p:cNvSpPr>
          <p:nvPr>
            <p:ph type="title"/>
          </p:nvPr>
        </p:nvSpPr>
        <p:spPr/>
        <p:txBody>
          <a:bodyPr/>
          <a:lstStyle/>
          <a:p>
            <a:r>
              <a:rPr lang="en-NL" dirty="0"/>
              <a:t>Recap: Random Variables</a:t>
            </a:r>
          </a:p>
        </p:txBody>
      </p:sp>
      <p:sp>
        <p:nvSpPr>
          <p:cNvPr id="3" name="Content Placeholder 2">
            <a:extLst>
              <a:ext uri="{FF2B5EF4-FFF2-40B4-BE49-F238E27FC236}">
                <a16:creationId xmlns:a16="http://schemas.microsoft.com/office/drawing/2014/main" id="{B707F80E-C258-D99D-16A3-C8915706869C}"/>
              </a:ext>
            </a:extLst>
          </p:cNvPr>
          <p:cNvSpPr>
            <a:spLocks noGrp="1"/>
          </p:cNvSpPr>
          <p:nvPr>
            <p:ph idx="1"/>
          </p:nvPr>
        </p:nvSpPr>
        <p:spPr>
          <a:xfrm>
            <a:off x="596285" y="921752"/>
            <a:ext cx="5318633" cy="4445149"/>
          </a:xfrm>
        </p:spPr>
        <p:txBody>
          <a:bodyPr/>
          <a:lstStyle/>
          <a:p>
            <a:pPr marL="0" indent="0" algn="ctr">
              <a:buNone/>
            </a:pPr>
            <a:r>
              <a:rPr lang="en-NL" b="1" dirty="0">
                <a:solidFill>
                  <a:schemeClr val="accent1"/>
                </a:solidFill>
              </a:rPr>
              <a:t>Discrete</a:t>
            </a:r>
          </a:p>
          <a:p>
            <a:pPr marL="0" indent="0">
              <a:buNone/>
            </a:pPr>
            <a:r>
              <a:rPr lang="en-NL" sz="3200" dirty="0">
                <a:solidFill>
                  <a:schemeClr val="accent3"/>
                </a:solidFill>
              </a:rPr>
              <a:t>Probability Mass Function (PMF): </a:t>
            </a:r>
            <a:r>
              <a:rPr lang="en-NL" sz="3200" dirty="0">
                <a:solidFill>
                  <a:schemeClr val="accent1"/>
                </a:solidFill>
              </a:rPr>
              <a:t>p(x)</a:t>
            </a:r>
          </a:p>
          <a:p>
            <a:pPr>
              <a:buFont typeface="Wingdings" pitchFamily="2" charset="2"/>
              <a:buChar char="è"/>
            </a:pPr>
            <a:r>
              <a:rPr lang="en-GB" sz="3200" dirty="0">
                <a:solidFill>
                  <a:schemeClr val="accent3"/>
                </a:solidFill>
              </a:rPr>
              <a:t>P</a:t>
            </a:r>
            <a:r>
              <a:rPr lang="en-NL" sz="3200" dirty="0">
                <a:solidFill>
                  <a:schemeClr val="accent3"/>
                </a:solidFill>
              </a:rPr>
              <a:t>robability that X is </a:t>
            </a:r>
            <a:r>
              <a:rPr lang="en-NL" sz="3200" b="1" dirty="0">
                <a:solidFill>
                  <a:schemeClr val="accent3"/>
                </a:solidFill>
              </a:rPr>
              <a:t>exactly</a:t>
            </a:r>
            <a:r>
              <a:rPr lang="en-NL" sz="3200" dirty="0">
                <a:solidFill>
                  <a:schemeClr val="accent3"/>
                </a:solidFill>
              </a:rPr>
              <a:t> x</a:t>
            </a:r>
          </a:p>
          <a:p>
            <a:pPr>
              <a:buFont typeface="Wingdings" pitchFamily="2" charset="2"/>
              <a:buChar char="è"/>
            </a:pPr>
            <a:r>
              <a:rPr lang="en-NL" sz="3200" dirty="0">
                <a:solidFill>
                  <a:schemeClr val="accent3"/>
                </a:solidFill>
              </a:rPr>
              <a:t>Sum of all bars = 1</a:t>
            </a:r>
          </a:p>
          <a:p>
            <a:pPr>
              <a:buFont typeface="Wingdings" pitchFamily="2" charset="2"/>
              <a:buChar char="è"/>
            </a:pPr>
            <a:r>
              <a:rPr lang="en-GB" sz="3200" dirty="0">
                <a:solidFill>
                  <a:schemeClr val="accent3"/>
                </a:solidFill>
              </a:rPr>
              <a:t>y-axis: probability</a:t>
            </a:r>
            <a:endParaRPr lang="en-NL" sz="3200" dirty="0">
              <a:solidFill>
                <a:schemeClr val="accent3"/>
              </a:solidFill>
            </a:endParaRPr>
          </a:p>
        </p:txBody>
      </p:sp>
      <p:sp>
        <p:nvSpPr>
          <p:cNvPr id="4" name="Content Placeholder 2">
            <a:extLst>
              <a:ext uri="{FF2B5EF4-FFF2-40B4-BE49-F238E27FC236}">
                <a16:creationId xmlns:a16="http://schemas.microsoft.com/office/drawing/2014/main" id="{E926F62F-B4DC-FE16-142B-6FC01ECCDD33}"/>
              </a:ext>
            </a:extLst>
          </p:cNvPr>
          <p:cNvSpPr txBox="1">
            <a:spLocks/>
          </p:cNvSpPr>
          <p:nvPr/>
        </p:nvSpPr>
        <p:spPr>
          <a:xfrm>
            <a:off x="6393366" y="1206424"/>
            <a:ext cx="5318633" cy="4445149"/>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endParaRPr lang="en-NL" dirty="0"/>
          </a:p>
        </p:txBody>
      </p:sp>
      <p:pic>
        <p:nvPicPr>
          <p:cNvPr id="7" name="Picture 6" descr="A graph of a number of bars&#10;&#10;AI-generated content may be incorrect.">
            <a:extLst>
              <a:ext uri="{FF2B5EF4-FFF2-40B4-BE49-F238E27FC236}">
                <a16:creationId xmlns:a16="http://schemas.microsoft.com/office/drawing/2014/main" id="{801B8A40-B13E-331B-B428-586BE4E3B7A1}"/>
              </a:ext>
            </a:extLst>
          </p:cNvPr>
          <p:cNvPicPr>
            <a:picLocks noChangeAspect="1"/>
          </p:cNvPicPr>
          <p:nvPr/>
        </p:nvPicPr>
        <p:blipFill>
          <a:blip r:embed="rId4"/>
          <a:stretch>
            <a:fillRect/>
          </a:stretch>
        </p:blipFill>
        <p:spPr>
          <a:xfrm>
            <a:off x="1292512" y="4052548"/>
            <a:ext cx="3564014" cy="2421021"/>
          </a:xfrm>
          <a:prstGeom prst="rect">
            <a:avLst/>
          </a:prstGeom>
        </p:spPr>
      </p:pic>
      <p:sp>
        <p:nvSpPr>
          <p:cNvPr id="8" name="TextBox 7">
            <a:extLst>
              <a:ext uri="{FF2B5EF4-FFF2-40B4-BE49-F238E27FC236}">
                <a16:creationId xmlns:a16="http://schemas.microsoft.com/office/drawing/2014/main" id="{4BFF4BC4-7C49-9779-A477-EE2C89B9F63B}"/>
              </a:ext>
            </a:extLst>
          </p:cNvPr>
          <p:cNvSpPr txBox="1"/>
          <p:nvPr/>
        </p:nvSpPr>
        <p:spPr>
          <a:xfrm rot="18691207">
            <a:off x="155735" y="4508881"/>
            <a:ext cx="1796710" cy="461665"/>
          </a:xfrm>
          <a:prstGeom prst="rect">
            <a:avLst/>
          </a:prstGeom>
          <a:noFill/>
        </p:spPr>
        <p:txBody>
          <a:bodyPr wrap="none" rtlCol="0">
            <a:spAutoFit/>
          </a:bodyPr>
          <a:lstStyle/>
          <a:p>
            <a:r>
              <a:rPr lang="en-NL" sz="2400" b="1" dirty="0">
                <a:solidFill>
                  <a:schemeClr val="accent2"/>
                </a:solidFill>
              </a:rPr>
              <a:t>One dice roll</a:t>
            </a:r>
          </a:p>
        </p:txBody>
      </p:sp>
      <p:cxnSp>
        <p:nvCxnSpPr>
          <p:cNvPr id="10" name="Straight Arrow Connector 9">
            <a:extLst>
              <a:ext uri="{FF2B5EF4-FFF2-40B4-BE49-F238E27FC236}">
                <a16:creationId xmlns:a16="http://schemas.microsoft.com/office/drawing/2014/main" id="{4E9340BC-4E4B-9F21-0F65-22E8008C9289}"/>
              </a:ext>
            </a:extLst>
          </p:cNvPr>
          <p:cNvCxnSpPr>
            <a:cxnSpLocks/>
          </p:cNvCxnSpPr>
          <p:nvPr/>
        </p:nvCxnSpPr>
        <p:spPr>
          <a:xfrm>
            <a:off x="1292538" y="4739713"/>
            <a:ext cx="625472" cy="384876"/>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Connector 13">
            <a:extLst>
              <a:ext uri="{FF2B5EF4-FFF2-40B4-BE49-F238E27FC236}">
                <a16:creationId xmlns:a16="http://schemas.microsoft.com/office/drawing/2014/main" id="{DF285C1F-D2E4-F801-AFC7-BF6B0E72719E}"/>
              </a:ext>
            </a:extLst>
          </p:cNvPr>
          <p:cNvCxnSpPr>
            <a:stCxn id="2" idx="2"/>
          </p:cNvCxnSpPr>
          <p:nvPr/>
        </p:nvCxnSpPr>
        <p:spPr>
          <a:xfrm>
            <a:off x="6031201" y="1170260"/>
            <a:ext cx="64799" cy="4985213"/>
          </a:xfrm>
          <a:prstGeom prst="line">
            <a:avLst/>
          </a:prstGeom>
        </p:spPr>
        <p:style>
          <a:lnRef idx="2">
            <a:schemeClr val="accent1"/>
          </a:lnRef>
          <a:fillRef idx="0">
            <a:schemeClr val="accent1"/>
          </a:fillRef>
          <a:effectRef idx="1">
            <a:schemeClr val="accent1"/>
          </a:effectRef>
          <a:fontRef idx="minor">
            <a:schemeClr val="tx1"/>
          </a:fontRef>
        </p:style>
      </p:cxnSp>
      <p:sp>
        <p:nvSpPr>
          <p:cNvPr id="15" name="Content Placeholder 2">
            <a:extLst>
              <a:ext uri="{FF2B5EF4-FFF2-40B4-BE49-F238E27FC236}">
                <a16:creationId xmlns:a16="http://schemas.microsoft.com/office/drawing/2014/main" id="{28F39F43-CCD7-9073-3FDF-C01D769FA9C5}"/>
              </a:ext>
            </a:extLst>
          </p:cNvPr>
          <p:cNvSpPr txBox="1">
            <a:spLocks/>
          </p:cNvSpPr>
          <p:nvPr/>
        </p:nvSpPr>
        <p:spPr>
          <a:xfrm>
            <a:off x="6393366" y="912693"/>
            <a:ext cx="5318633" cy="4445149"/>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gn="ctr">
              <a:buFont typeface="Arial"/>
              <a:buNone/>
            </a:pPr>
            <a:r>
              <a:rPr lang="en-NL" b="1" dirty="0">
                <a:solidFill>
                  <a:schemeClr val="accent1"/>
                </a:solidFill>
              </a:rPr>
              <a:t>Continuous</a:t>
            </a:r>
          </a:p>
          <a:p>
            <a:pPr marL="0" indent="0">
              <a:buFont typeface="Arial"/>
              <a:buNone/>
            </a:pPr>
            <a:r>
              <a:rPr lang="en-NL" sz="3200" dirty="0">
                <a:solidFill>
                  <a:schemeClr val="accent3"/>
                </a:solidFill>
              </a:rPr>
              <a:t>Probability Density Function (PDF): </a:t>
            </a:r>
            <a:r>
              <a:rPr lang="en-NL" sz="3200" dirty="0">
                <a:solidFill>
                  <a:schemeClr val="accent1"/>
                </a:solidFill>
              </a:rPr>
              <a:t>f(x)</a:t>
            </a:r>
          </a:p>
          <a:p>
            <a:pPr>
              <a:buFont typeface="Wingdings" pitchFamily="2" charset="2"/>
              <a:buChar char="è"/>
            </a:pPr>
            <a:r>
              <a:rPr lang="nl-NL" sz="3200" dirty="0" err="1">
                <a:solidFill>
                  <a:schemeClr val="accent3"/>
                </a:solidFill>
              </a:rPr>
              <a:t>Density</a:t>
            </a:r>
            <a:r>
              <a:rPr lang="nl-NL" sz="3200" dirty="0">
                <a:solidFill>
                  <a:schemeClr val="accent3"/>
                </a:solidFill>
              </a:rPr>
              <a:t> at point x</a:t>
            </a:r>
            <a:endParaRPr lang="en-NL" sz="3200" dirty="0">
              <a:solidFill>
                <a:schemeClr val="accent3"/>
              </a:solidFill>
            </a:endParaRPr>
          </a:p>
          <a:p>
            <a:pPr>
              <a:buFont typeface="Wingdings" pitchFamily="2" charset="2"/>
              <a:buChar char="è"/>
            </a:pPr>
            <a:r>
              <a:rPr lang="en-NL" sz="3200" dirty="0">
                <a:solidFill>
                  <a:schemeClr val="accent3"/>
                </a:solidFill>
              </a:rPr>
              <a:t>Area under the curve = 1</a:t>
            </a:r>
          </a:p>
          <a:p>
            <a:pPr>
              <a:buFont typeface="Wingdings" pitchFamily="2" charset="2"/>
              <a:buChar char="è"/>
            </a:pPr>
            <a:r>
              <a:rPr lang="en-GB" sz="3200" dirty="0">
                <a:solidFill>
                  <a:schemeClr val="accent3"/>
                </a:solidFill>
              </a:rPr>
              <a:t>Y</a:t>
            </a:r>
            <a:r>
              <a:rPr lang="en-NL" sz="3200" dirty="0">
                <a:solidFill>
                  <a:schemeClr val="accent3"/>
                </a:solidFill>
              </a:rPr>
              <a:t>-axis: density (</a:t>
            </a:r>
            <a:r>
              <a:rPr lang="en-NL" sz="3200" i="1" dirty="0">
                <a:solidFill>
                  <a:schemeClr val="accent3"/>
                </a:solidFill>
              </a:rPr>
              <a:t>area is probability</a:t>
            </a:r>
            <a:r>
              <a:rPr lang="en-NL" sz="3200" dirty="0">
                <a:solidFill>
                  <a:schemeClr val="accent3"/>
                </a:solidFill>
              </a:rPr>
              <a:t>)</a:t>
            </a:r>
          </a:p>
        </p:txBody>
      </p:sp>
    </p:spTree>
    <p:extLst>
      <p:ext uri="{BB962C8B-B14F-4D97-AF65-F5344CB8AC3E}">
        <p14:creationId xmlns:p14="http://schemas.microsoft.com/office/powerpoint/2010/main" val="3878862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528BB-D99F-E095-488F-B9BC658CB3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0B822E-1DB8-5AD8-606D-10189D06B3DE}"/>
              </a:ext>
            </a:extLst>
          </p:cNvPr>
          <p:cNvSpPr>
            <a:spLocks noGrp="1"/>
          </p:cNvSpPr>
          <p:nvPr>
            <p:ph type="title"/>
          </p:nvPr>
        </p:nvSpPr>
        <p:spPr/>
        <p:txBody>
          <a:bodyPr/>
          <a:lstStyle/>
          <a:p>
            <a:r>
              <a:rPr lang="en-NL" dirty="0">
                <a:solidFill>
                  <a:schemeClr val="accent2"/>
                </a:solidFill>
              </a:rPr>
              <a:t>Recap: </a:t>
            </a:r>
            <a:r>
              <a:rPr lang="en-NL" dirty="0">
                <a:solidFill>
                  <a:schemeClr val="accent1"/>
                </a:solidFill>
              </a:rPr>
              <a:t>Continuous</a:t>
            </a:r>
            <a:r>
              <a:rPr lang="en-NL" dirty="0"/>
              <a:t> Random Variables</a:t>
            </a:r>
          </a:p>
        </p:txBody>
      </p:sp>
      <p:sp>
        <p:nvSpPr>
          <p:cNvPr id="3" name="Content Placeholder 2">
            <a:extLst>
              <a:ext uri="{FF2B5EF4-FFF2-40B4-BE49-F238E27FC236}">
                <a16:creationId xmlns:a16="http://schemas.microsoft.com/office/drawing/2014/main" id="{8499F437-AF96-CFC3-02C1-7D5C01DC670D}"/>
              </a:ext>
            </a:extLst>
          </p:cNvPr>
          <p:cNvSpPr>
            <a:spLocks noGrp="1"/>
          </p:cNvSpPr>
          <p:nvPr>
            <p:ph idx="1"/>
          </p:nvPr>
        </p:nvSpPr>
        <p:spPr/>
        <p:txBody>
          <a:bodyPr/>
          <a:lstStyle/>
          <a:p>
            <a:r>
              <a:rPr lang="en-NL" dirty="0"/>
              <a:t>Probability Density Function (pdf): f(x)</a:t>
            </a:r>
          </a:p>
        </p:txBody>
      </p:sp>
      <p:pic>
        <p:nvPicPr>
          <p:cNvPr id="4" name="Picture 3" descr="A line graph with orange lines&#10;&#10;AI-generated content may be incorrect.">
            <a:extLst>
              <a:ext uri="{FF2B5EF4-FFF2-40B4-BE49-F238E27FC236}">
                <a16:creationId xmlns:a16="http://schemas.microsoft.com/office/drawing/2014/main" id="{7BDBAAB1-E3B4-D1CC-7E4F-88129C9CEE35}"/>
              </a:ext>
            </a:extLst>
          </p:cNvPr>
          <p:cNvPicPr>
            <a:picLocks noChangeAspect="1"/>
          </p:cNvPicPr>
          <p:nvPr/>
        </p:nvPicPr>
        <p:blipFill>
          <a:blip r:embed="rId2"/>
          <a:srcRect t="18939"/>
          <a:stretch>
            <a:fillRect/>
          </a:stretch>
        </p:blipFill>
        <p:spPr>
          <a:xfrm>
            <a:off x="2672532" y="2774457"/>
            <a:ext cx="6226142" cy="3092432"/>
          </a:xfrm>
          <a:prstGeom prst="rect">
            <a:avLst/>
          </a:prstGeom>
        </p:spPr>
      </p:pic>
      <p:sp>
        <p:nvSpPr>
          <p:cNvPr id="5" name="Display 4">
            <a:extLst>
              <a:ext uri="{FF2B5EF4-FFF2-40B4-BE49-F238E27FC236}">
                <a16:creationId xmlns:a16="http://schemas.microsoft.com/office/drawing/2014/main" id="{2D771B68-72DC-5829-9535-FF7CE523AC8C}"/>
              </a:ext>
            </a:extLst>
          </p:cNvPr>
          <p:cNvSpPr/>
          <p:nvPr/>
        </p:nvSpPr>
        <p:spPr>
          <a:xfrm rot="16200000">
            <a:off x="4282408" y="4349985"/>
            <a:ext cx="2558094" cy="224232"/>
          </a:xfrm>
          <a:custGeom>
            <a:avLst/>
            <a:gdLst>
              <a:gd name="csX0" fmla="*/ 0 w 10000"/>
              <a:gd name="csY0" fmla="*/ 5000 h 10000"/>
              <a:gd name="csX1" fmla="*/ 1667 w 10000"/>
              <a:gd name="csY1" fmla="*/ 0 h 10000"/>
              <a:gd name="csX2" fmla="*/ 8333 w 10000"/>
              <a:gd name="csY2" fmla="*/ 0 h 10000"/>
              <a:gd name="csX3" fmla="*/ 10000 w 10000"/>
              <a:gd name="csY3" fmla="*/ 5000 h 10000"/>
              <a:gd name="csX4" fmla="*/ 8333 w 10000"/>
              <a:gd name="csY4" fmla="*/ 10000 h 10000"/>
              <a:gd name="csX5" fmla="*/ 1667 w 10000"/>
              <a:gd name="csY5" fmla="*/ 10000 h 10000"/>
              <a:gd name="csX6" fmla="*/ 0 w 10000"/>
              <a:gd name="csY6" fmla="*/ 5000 h 10000"/>
              <a:gd name="csX0" fmla="*/ 0 w 8690"/>
              <a:gd name="csY0" fmla="*/ 5663 h 10000"/>
              <a:gd name="csX1" fmla="*/ 357 w 8690"/>
              <a:gd name="csY1" fmla="*/ 0 h 10000"/>
              <a:gd name="csX2" fmla="*/ 7023 w 8690"/>
              <a:gd name="csY2" fmla="*/ 0 h 10000"/>
              <a:gd name="csX3" fmla="*/ 8690 w 8690"/>
              <a:gd name="csY3" fmla="*/ 5000 h 10000"/>
              <a:gd name="csX4" fmla="*/ 7023 w 8690"/>
              <a:gd name="csY4" fmla="*/ 10000 h 10000"/>
              <a:gd name="csX5" fmla="*/ 357 w 8690"/>
              <a:gd name="csY5" fmla="*/ 10000 h 10000"/>
              <a:gd name="csX6" fmla="*/ 0 w 8690"/>
              <a:gd name="csY6" fmla="*/ 5663 h 10000"/>
              <a:gd name="csX0" fmla="*/ 166 w 9589"/>
              <a:gd name="csY0" fmla="*/ 5240 h 10000"/>
              <a:gd name="csX1" fmla="*/ 0 w 9589"/>
              <a:gd name="csY1" fmla="*/ 0 h 10000"/>
              <a:gd name="csX2" fmla="*/ 7671 w 9589"/>
              <a:gd name="csY2" fmla="*/ 0 h 10000"/>
              <a:gd name="csX3" fmla="*/ 9589 w 9589"/>
              <a:gd name="csY3" fmla="*/ 5000 h 10000"/>
              <a:gd name="csX4" fmla="*/ 7671 w 9589"/>
              <a:gd name="csY4" fmla="*/ 10000 h 10000"/>
              <a:gd name="csX5" fmla="*/ 0 w 9589"/>
              <a:gd name="csY5" fmla="*/ 10000 h 10000"/>
              <a:gd name="csX6" fmla="*/ 166 w 9589"/>
              <a:gd name="csY6" fmla="*/ 5240 h 10000"/>
              <a:gd name="csX0" fmla="*/ 173 w 10159"/>
              <a:gd name="csY0" fmla="*/ 5240 h 11316"/>
              <a:gd name="csX1" fmla="*/ 0 w 10159"/>
              <a:gd name="csY1" fmla="*/ 0 h 11316"/>
              <a:gd name="csX2" fmla="*/ 8000 w 10159"/>
              <a:gd name="csY2" fmla="*/ 0 h 11316"/>
              <a:gd name="csX3" fmla="*/ 10000 w 10159"/>
              <a:gd name="csY3" fmla="*/ 5000 h 11316"/>
              <a:gd name="csX4" fmla="*/ 9284 w 10159"/>
              <a:gd name="csY4" fmla="*/ 11316 h 11316"/>
              <a:gd name="csX5" fmla="*/ 0 w 10159"/>
              <a:gd name="csY5" fmla="*/ 10000 h 11316"/>
              <a:gd name="csX6" fmla="*/ 173 w 10159"/>
              <a:gd name="csY6" fmla="*/ 5240 h 11316"/>
              <a:gd name="csX0" fmla="*/ 33 w 10159"/>
              <a:gd name="csY0" fmla="*/ 5240 h 11316"/>
              <a:gd name="csX1" fmla="*/ 0 w 10159"/>
              <a:gd name="csY1" fmla="*/ 0 h 11316"/>
              <a:gd name="csX2" fmla="*/ 8000 w 10159"/>
              <a:gd name="csY2" fmla="*/ 0 h 11316"/>
              <a:gd name="csX3" fmla="*/ 10000 w 10159"/>
              <a:gd name="csY3" fmla="*/ 5000 h 11316"/>
              <a:gd name="csX4" fmla="*/ 9284 w 10159"/>
              <a:gd name="csY4" fmla="*/ 11316 h 11316"/>
              <a:gd name="csX5" fmla="*/ 0 w 10159"/>
              <a:gd name="csY5" fmla="*/ 10000 h 11316"/>
              <a:gd name="csX6" fmla="*/ 33 w 10159"/>
              <a:gd name="csY6" fmla="*/ 5240 h 11316"/>
              <a:gd name="csX0" fmla="*/ 33 w 10401"/>
              <a:gd name="csY0" fmla="*/ 5240 h 11835"/>
              <a:gd name="csX1" fmla="*/ 0 w 10401"/>
              <a:gd name="csY1" fmla="*/ 0 h 11835"/>
              <a:gd name="csX2" fmla="*/ 8000 w 10401"/>
              <a:gd name="csY2" fmla="*/ 0 h 11835"/>
              <a:gd name="csX3" fmla="*/ 10000 w 10401"/>
              <a:gd name="csY3" fmla="*/ 5000 h 11835"/>
              <a:gd name="csX4" fmla="*/ 9744 w 10401"/>
              <a:gd name="csY4" fmla="*/ 11835 h 11835"/>
              <a:gd name="csX5" fmla="*/ 0 w 10401"/>
              <a:gd name="csY5" fmla="*/ 10000 h 11835"/>
              <a:gd name="csX6" fmla="*/ 33 w 10401"/>
              <a:gd name="csY6" fmla="*/ 5240 h 1183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401" h="11835">
                <a:moveTo>
                  <a:pt x="33" y="5240"/>
                </a:moveTo>
                <a:cubicBezTo>
                  <a:pt x="-24" y="3493"/>
                  <a:pt x="57" y="1747"/>
                  <a:pt x="0" y="0"/>
                </a:cubicBezTo>
                <a:lnTo>
                  <a:pt x="8000" y="0"/>
                </a:lnTo>
                <a:cubicBezTo>
                  <a:pt x="9105" y="0"/>
                  <a:pt x="9709" y="3028"/>
                  <a:pt x="10000" y="5000"/>
                </a:cubicBezTo>
                <a:cubicBezTo>
                  <a:pt x="10291" y="6972"/>
                  <a:pt x="10849" y="11835"/>
                  <a:pt x="9744" y="11835"/>
                </a:cubicBezTo>
                <a:lnTo>
                  <a:pt x="0" y="10000"/>
                </a:lnTo>
                <a:cubicBezTo>
                  <a:pt x="57" y="8413"/>
                  <a:pt x="-24" y="6827"/>
                  <a:pt x="33" y="5240"/>
                </a:cubicBezTo>
                <a:close/>
              </a:path>
            </a:pathLst>
          </a:custGeom>
          <a:solidFill>
            <a:schemeClr val="accent4">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7" name="TextBox 6">
            <a:extLst>
              <a:ext uri="{FF2B5EF4-FFF2-40B4-BE49-F238E27FC236}">
                <a16:creationId xmlns:a16="http://schemas.microsoft.com/office/drawing/2014/main" id="{58683C57-BA3D-2D0D-8CE8-A24AD36579E7}"/>
              </a:ext>
            </a:extLst>
          </p:cNvPr>
          <p:cNvSpPr txBox="1"/>
          <p:nvPr/>
        </p:nvSpPr>
        <p:spPr>
          <a:xfrm>
            <a:off x="7428518" y="3258297"/>
            <a:ext cx="3127587" cy="954107"/>
          </a:xfrm>
          <a:prstGeom prst="rect">
            <a:avLst/>
          </a:prstGeom>
          <a:noFill/>
        </p:spPr>
        <p:txBody>
          <a:bodyPr wrap="none" rtlCol="0">
            <a:spAutoFit/>
          </a:bodyPr>
          <a:lstStyle/>
          <a:p>
            <a:r>
              <a:rPr lang="en-NL" sz="2800" dirty="0"/>
              <a:t>Not an exact point, </a:t>
            </a:r>
          </a:p>
          <a:p>
            <a:r>
              <a:rPr lang="en-NL" sz="2800" dirty="0"/>
              <a:t>but an </a:t>
            </a:r>
            <a:r>
              <a:rPr lang="en-NL" sz="2800" b="1" dirty="0"/>
              <a:t>interval [a,b]</a:t>
            </a:r>
          </a:p>
        </p:txBody>
      </p:sp>
      <p:cxnSp>
        <p:nvCxnSpPr>
          <p:cNvPr id="9" name="Straight Arrow Connector 8">
            <a:extLst>
              <a:ext uri="{FF2B5EF4-FFF2-40B4-BE49-F238E27FC236}">
                <a16:creationId xmlns:a16="http://schemas.microsoft.com/office/drawing/2014/main" id="{6BAE16E4-90A5-98A5-0250-6A5382C26377}"/>
              </a:ext>
            </a:extLst>
          </p:cNvPr>
          <p:cNvCxnSpPr>
            <a:cxnSpLocks/>
          </p:cNvCxnSpPr>
          <p:nvPr/>
        </p:nvCxnSpPr>
        <p:spPr>
          <a:xfrm flipV="1">
            <a:off x="5673571" y="3518574"/>
            <a:ext cx="1672451" cy="6938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2E62E6D8-FCB6-0C10-34E5-F95DA01ED4BA}"/>
              </a:ext>
            </a:extLst>
          </p:cNvPr>
          <p:cNvSpPr txBox="1"/>
          <p:nvPr/>
        </p:nvSpPr>
        <p:spPr>
          <a:xfrm>
            <a:off x="5229313" y="5688079"/>
            <a:ext cx="332142" cy="461665"/>
          </a:xfrm>
          <a:prstGeom prst="rect">
            <a:avLst/>
          </a:prstGeom>
          <a:noFill/>
        </p:spPr>
        <p:txBody>
          <a:bodyPr wrap="none" rtlCol="0">
            <a:spAutoFit/>
          </a:bodyPr>
          <a:lstStyle/>
          <a:p>
            <a:r>
              <a:rPr lang="en-NL" sz="2400" dirty="0"/>
              <a:t>a</a:t>
            </a:r>
            <a:endParaRPr lang="en-NL" dirty="0"/>
          </a:p>
        </p:txBody>
      </p:sp>
      <p:sp>
        <p:nvSpPr>
          <p:cNvPr id="12" name="TextBox 11">
            <a:extLst>
              <a:ext uri="{FF2B5EF4-FFF2-40B4-BE49-F238E27FC236}">
                <a16:creationId xmlns:a16="http://schemas.microsoft.com/office/drawing/2014/main" id="{BC851540-7E81-98EB-A5C5-6E16594A7A29}"/>
              </a:ext>
            </a:extLst>
          </p:cNvPr>
          <p:cNvSpPr txBox="1"/>
          <p:nvPr/>
        </p:nvSpPr>
        <p:spPr>
          <a:xfrm>
            <a:off x="5514276" y="5694981"/>
            <a:ext cx="346570" cy="461665"/>
          </a:xfrm>
          <a:prstGeom prst="rect">
            <a:avLst/>
          </a:prstGeom>
          <a:noFill/>
        </p:spPr>
        <p:txBody>
          <a:bodyPr wrap="none" rtlCol="0">
            <a:spAutoFit/>
          </a:bodyPr>
          <a:lstStyle/>
          <a:p>
            <a:r>
              <a:rPr lang="en-NL" sz="2400" dirty="0"/>
              <a:t>b</a:t>
            </a:r>
          </a:p>
        </p:txBody>
      </p:sp>
    </p:spTree>
    <p:extLst>
      <p:ext uri="{BB962C8B-B14F-4D97-AF65-F5344CB8AC3E}">
        <p14:creationId xmlns:p14="http://schemas.microsoft.com/office/powerpoint/2010/main" val="1147584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8345E-8BD4-2DFD-939E-A0D7CFACA72C}"/>
              </a:ext>
            </a:extLst>
          </p:cNvPr>
          <p:cNvSpPr>
            <a:spLocks noGrp="1"/>
          </p:cNvSpPr>
          <p:nvPr>
            <p:ph type="title"/>
          </p:nvPr>
        </p:nvSpPr>
        <p:spPr/>
        <p:txBody>
          <a:bodyPr/>
          <a:lstStyle/>
          <a:p>
            <a:r>
              <a:rPr lang="en-NL" dirty="0">
                <a:solidFill>
                  <a:schemeClr val="accent2"/>
                </a:solidFill>
              </a:rPr>
              <a:t>Recap: </a:t>
            </a:r>
            <a:r>
              <a:rPr lang="en-NL" dirty="0">
                <a:solidFill>
                  <a:schemeClr val="accent1"/>
                </a:solidFill>
              </a:rPr>
              <a:t>Continuous</a:t>
            </a:r>
            <a:r>
              <a:rPr lang="en-NL" dirty="0"/>
              <a:t> Random Variables</a:t>
            </a:r>
          </a:p>
        </p:txBody>
      </p:sp>
      <p:sp>
        <p:nvSpPr>
          <p:cNvPr id="3" name="Content Placeholder 2">
            <a:extLst>
              <a:ext uri="{FF2B5EF4-FFF2-40B4-BE49-F238E27FC236}">
                <a16:creationId xmlns:a16="http://schemas.microsoft.com/office/drawing/2014/main" id="{A08F0F96-51EC-5BFA-94B4-628C70B6AE47}"/>
              </a:ext>
            </a:extLst>
          </p:cNvPr>
          <p:cNvSpPr>
            <a:spLocks noGrp="1"/>
          </p:cNvSpPr>
          <p:nvPr>
            <p:ph idx="1"/>
          </p:nvPr>
        </p:nvSpPr>
        <p:spPr/>
        <p:txBody>
          <a:bodyPr/>
          <a:lstStyle/>
          <a:p>
            <a:r>
              <a:rPr lang="en-NL" dirty="0">
                <a:solidFill>
                  <a:schemeClr val="bg1">
                    <a:lumMod val="75000"/>
                  </a:schemeClr>
                </a:solidFill>
              </a:rPr>
              <a:t>Probability Density Function (pdf): f(x)</a:t>
            </a:r>
          </a:p>
          <a:p>
            <a:r>
              <a:rPr lang="en-NL" dirty="0"/>
              <a:t>Cumulative Distribution: F(x)</a:t>
            </a:r>
          </a:p>
        </p:txBody>
      </p:sp>
      <p:pic>
        <p:nvPicPr>
          <p:cNvPr id="4" name="Picture 3" descr="A line graph with orange lines&#10;&#10;AI-generated content may be incorrect.">
            <a:extLst>
              <a:ext uri="{FF2B5EF4-FFF2-40B4-BE49-F238E27FC236}">
                <a16:creationId xmlns:a16="http://schemas.microsoft.com/office/drawing/2014/main" id="{20303D0D-BA8F-8C77-77AC-A0B4736EB2E3}"/>
              </a:ext>
            </a:extLst>
          </p:cNvPr>
          <p:cNvPicPr>
            <a:picLocks noChangeAspect="1"/>
          </p:cNvPicPr>
          <p:nvPr/>
        </p:nvPicPr>
        <p:blipFill>
          <a:blip r:embed="rId2"/>
          <a:srcRect t="18939"/>
          <a:stretch>
            <a:fillRect/>
          </a:stretch>
        </p:blipFill>
        <p:spPr>
          <a:xfrm>
            <a:off x="2672532" y="2774457"/>
            <a:ext cx="6226142" cy="3092432"/>
          </a:xfrm>
          <a:prstGeom prst="rect">
            <a:avLst/>
          </a:prstGeom>
        </p:spPr>
      </p:pic>
      <p:sp>
        <p:nvSpPr>
          <p:cNvPr id="5" name="Display 4">
            <a:extLst>
              <a:ext uri="{FF2B5EF4-FFF2-40B4-BE49-F238E27FC236}">
                <a16:creationId xmlns:a16="http://schemas.microsoft.com/office/drawing/2014/main" id="{F9F5C58A-E5C5-C6B5-4FBB-605EC5F71164}"/>
              </a:ext>
            </a:extLst>
          </p:cNvPr>
          <p:cNvSpPr/>
          <p:nvPr/>
        </p:nvSpPr>
        <p:spPr>
          <a:xfrm rot="16200000">
            <a:off x="3020689" y="3108329"/>
            <a:ext cx="2682790" cy="2662536"/>
          </a:xfrm>
          <a:custGeom>
            <a:avLst/>
            <a:gdLst>
              <a:gd name="csX0" fmla="*/ 0 w 10000"/>
              <a:gd name="csY0" fmla="*/ 5000 h 10000"/>
              <a:gd name="csX1" fmla="*/ 1667 w 10000"/>
              <a:gd name="csY1" fmla="*/ 0 h 10000"/>
              <a:gd name="csX2" fmla="*/ 8333 w 10000"/>
              <a:gd name="csY2" fmla="*/ 0 h 10000"/>
              <a:gd name="csX3" fmla="*/ 10000 w 10000"/>
              <a:gd name="csY3" fmla="*/ 5000 h 10000"/>
              <a:gd name="csX4" fmla="*/ 8333 w 10000"/>
              <a:gd name="csY4" fmla="*/ 10000 h 10000"/>
              <a:gd name="csX5" fmla="*/ 1667 w 10000"/>
              <a:gd name="csY5" fmla="*/ 10000 h 10000"/>
              <a:gd name="csX6" fmla="*/ 0 w 10000"/>
              <a:gd name="csY6" fmla="*/ 5000 h 10000"/>
              <a:gd name="csX0" fmla="*/ 0 w 8690"/>
              <a:gd name="csY0" fmla="*/ 5663 h 10000"/>
              <a:gd name="csX1" fmla="*/ 357 w 8690"/>
              <a:gd name="csY1" fmla="*/ 0 h 10000"/>
              <a:gd name="csX2" fmla="*/ 7023 w 8690"/>
              <a:gd name="csY2" fmla="*/ 0 h 10000"/>
              <a:gd name="csX3" fmla="*/ 8690 w 8690"/>
              <a:gd name="csY3" fmla="*/ 5000 h 10000"/>
              <a:gd name="csX4" fmla="*/ 7023 w 8690"/>
              <a:gd name="csY4" fmla="*/ 10000 h 10000"/>
              <a:gd name="csX5" fmla="*/ 357 w 8690"/>
              <a:gd name="csY5" fmla="*/ 10000 h 10000"/>
              <a:gd name="csX6" fmla="*/ 0 w 8690"/>
              <a:gd name="csY6" fmla="*/ 5663 h 10000"/>
              <a:gd name="csX0" fmla="*/ 166 w 9589"/>
              <a:gd name="csY0" fmla="*/ 5240 h 10000"/>
              <a:gd name="csX1" fmla="*/ 0 w 9589"/>
              <a:gd name="csY1" fmla="*/ 0 h 10000"/>
              <a:gd name="csX2" fmla="*/ 7671 w 9589"/>
              <a:gd name="csY2" fmla="*/ 0 h 10000"/>
              <a:gd name="csX3" fmla="*/ 9589 w 9589"/>
              <a:gd name="csY3" fmla="*/ 5000 h 10000"/>
              <a:gd name="csX4" fmla="*/ 7671 w 9589"/>
              <a:gd name="csY4" fmla="*/ 10000 h 10000"/>
              <a:gd name="csX5" fmla="*/ 0 w 9589"/>
              <a:gd name="csY5" fmla="*/ 10000 h 10000"/>
              <a:gd name="csX6" fmla="*/ 166 w 9589"/>
              <a:gd name="csY6" fmla="*/ 5240 h 10000"/>
              <a:gd name="csX0" fmla="*/ 173 w 10159"/>
              <a:gd name="csY0" fmla="*/ 5240 h 11316"/>
              <a:gd name="csX1" fmla="*/ 0 w 10159"/>
              <a:gd name="csY1" fmla="*/ 0 h 11316"/>
              <a:gd name="csX2" fmla="*/ 8000 w 10159"/>
              <a:gd name="csY2" fmla="*/ 0 h 11316"/>
              <a:gd name="csX3" fmla="*/ 10000 w 10159"/>
              <a:gd name="csY3" fmla="*/ 5000 h 11316"/>
              <a:gd name="csX4" fmla="*/ 9284 w 10159"/>
              <a:gd name="csY4" fmla="*/ 11316 h 11316"/>
              <a:gd name="csX5" fmla="*/ 0 w 10159"/>
              <a:gd name="csY5" fmla="*/ 10000 h 11316"/>
              <a:gd name="csX6" fmla="*/ 173 w 10159"/>
              <a:gd name="csY6" fmla="*/ 5240 h 11316"/>
              <a:gd name="csX0" fmla="*/ 33 w 10159"/>
              <a:gd name="csY0" fmla="*/ 5240 h 11316"/>
              <a:gd name="csX1" fmla="*/ 0 w 10159"/>
              <a:gd name="csY1" fmla="*/ 0 h 11316"/>
              <a:gd name="csX2" fmla="*/ 8000 w 10159"/>
              <a:gd name="csY2" fmla="*/ 0 h 11316"/>
              <a:gd name="csX3" fmla="*/ 10000 w 10159"/>
              <a:gd name="csY3" fmla="*/ 5000 h 11316"/>
              <a:gd name="csX4" fmla="*/ 9284 w 10159"/>
              <a:gd name="csY4" fmla="*/ 11316 h 11316"/>
              <a:gd name="csX5" fmla="*/ 0 w 10159"/>
              <a:gd name="csY5" fmla="*/ 10000 h 11316"/>
              <a:gd name="csX6" fmla="*/ 33 w 10159"/>
              <a:gd name="csY6" fmla="*/ 5240 h 11316"/>
              <a:gd name="csX0" fmla="*/ 33 w 10401"/>
              <a:gd name="csY0" fmla="*/ 5240 h 11835"/>
              <a:gd name="csX1" fmla="*/ 0 w 10401"/>
              <a:gd name="csY1" fmla="*/ 0 h 11835"/>
              <a:gd name="csX2" fmla="*/ 8000 w 10401"/>
              <a:gd name="csY2" fmla="*/ 0 h 11835"/>
              <a:gd name="csX3" fmla="*/ 10000 w 10401"/>
              <a:gd name="csY3" fmla="*/ 5000 h 11835"/>
              <a:gd name="csX4" fmla="*/ 9744 w 10401"/>
              <a:gd name="csY4" fmla="*/ 11835 h 11835"/>
              <a:gd name="csX5" fmla="*/ 0 w 10401"/>
              <a:gd name="csY5" fmla="*/ 10000 h 11835"/>
              <a:gd name="csX6" fmla="*/ 33 w 10401"/>
              <a:gd name="csY6" fmla="*/ 5240 h 11835"/>
              <a:gd name="csX0" fmla="*/ 114 w 10482"/>
              <a:gd name="csY0" fmla="*/ 95120 h 101715"/>
              <a:gd name="csX1" fmla="*/ 0 w 10482"/>
              <a:gd name="csY1" fmla="*/ 0 h 101715"/>
              <a:gd name="csX2" fmla="*/ 8081 w 10482"/>
              <a:gd name="csY2" fmla="*/ 89880 h 101715"/>
              <a:gd name="csX3" fmla="*/ 10081 w 10482"/>
              <a:gd name="csY3" fmla="*/ 94880 h 101715"/>
              <a:gd name="csX4" fmla="*/ 9825 w 10482"/>
              <a:gd name="csY4" fmla="*/ 101715 h 101715"/>
              <a:gd name="csX5" fmla="*/ 81 w 10482"/>
              <a:gd name="csY5" fmla="*/ 99880 h 101715"/>
              <a:gd name="csX6" fmla="*/ 114 w 10482"/>
              <a:gd name="csY6" fmla="*/ 95120 h 101715"/>
              <a:gd name="csX0" fmla="*/ 114 w 10790"/>
              <a:gd name="csY0" fmla="*/ 95120 h 102057"/>
              <a:gd name="csX1" fmla="*/ 0 w 10790"/>
              <a:gd name="csY1" fmla="*/ 0 h 102057"/>
              <a:gd name="csX2" fmla="*/ 3232 w 10790"/>
              <a:gd name="csY2" fmla="*/ 44766 h 102057"/>
              <a:gd name="csX3" fmla="*/ 10081 w 10790"/>
              <a:gd name="csY3" fmla="*/ 94880 h 102057"/>
              <a:gd name="csX4" fmla="*/ 9825 w 10790"/>
              <a:gd name="csY4" fmla="*/ 101715 h 102057"/>
              <a:gd name="csX5" fmla="*/ 81 w 10790"/>
              <a:gd name="csY5" fmla="*/ 99880 h 102057"/>
              <a:gd name="csX6" fmla="*/ 114 w 10790"/>
              <a:gd name="csY6" fmla="*/ 95120 h 102057"/>
              <a:gd name="csX0" fmla="*/ 114 w 10790"/>
              <a:gd name="csY0" fmla="*/ 95120 h 102057"/>
              <a:gd name="csX1" fmla="*/ 0 w 10790"/>
              <a:gd name="csY1" fmla="*/ 0 h 102057"/>
              <a:gd name="csX2" fmla="*/ 3232 w 10790"/>
              <a:gd name="csY2" fmla="*/ 44766 h 102057"/>
              <a:gd name="csX3" fmla="*/ 10081 w 10790"/>
              <a:gd name="csY3" fmla="*/ 94880 h 102057"/>
              <a:gd name="csX4" fmla="*/ 9825 w 10790"/>
              <a:gd name="csY4" fmla="*/ 101715 h 102057"/>
              <a:gd name="csX5" fmla="*/ 81 w 10790"/>
              <a:gd name="csY5" fmla="*/ 99880 h 102057"/>
              <a:gd name="csX6" fmla="*/ 114 w 10790"/>
              <a:gd name="csY6" fmla="*/ 95120 h 102057"/>
              <a:gd name="csX0" fmla="*/ 114 w 10805"/>
              <a:gd name="csY0" fmla="*/ 95120 h 102260"/>
              <a:gd name="csX1" fmla="*/ 0 w 10805"/>
              <a:gd name="csY1" fmla="*/ 0 h 102260"/>
              <a:gd name="csX2" fmla="*/ 3016 w 10805"/>
              <a:gd name="csY2" fmla="*/ 40220 h 102260"/>
              <a:gd name="csX3" fmla="*/ 10081 w 10805"/>
              <a:gd name="csY3" fmla="*/ 94880 h 102260"/>
              <a:gd name="csX4" fmla="*/ 9825 w 10805"/>
              <a:gd name="csY4" fmla="*/ 101715 h 102260"/>
              <a:gd name="csX5" fmla="*/ 81 w 10805"/>
              <a:gd name="csY5" fmla="*/ 99880 h 102260"/>
              <a:gd name="csX6" fmla="*/ 114 w 10805"/>
              <a:gd name="csY6" fmla="*/ 95120 h 102260"/>
              <a:gd name="csX0" fmla="*/ 168 w 10859"/>
              <a:gd name="csY0" fmla="*/ 129743 h 136883"/>
              <a:gd name="csX1" fmla="*/ 0 w 10859"/>
              <a:gd name="csY1" fmla="*/ 0 h 136883"/>
              <a:gd name="csX2" fmla="*/ 3070 w 10859"/>
              <a:gd name="csY2" fmla="*/ 74843 h 136883"/>
              <a:gd name="csX3" fmla="*/ 10135 w 10859"/>
              <a:gd name="csY3" fmla="*/ 129503 h 136883"/>
              <a:gd name="csX4" fmla="*/ 9879 w 10859"/>
              <a:gd name="csY4" fmla="*/ 136338 h 136883"/>
              <a:gd name="csX5" fmla="*/ 135 w 10859"/>
              <a:gd name="csY5" fmla="*/ 134503 h 136883"/>
              <a:gd name="csX6" fmla="*/ 168 w 10859"/>
              <a:gd name="csY6" fmla="*/ 129743 h 136883"/>
              <a:gd name="csX0" fmla="*/ 168 w 10859"/>
              <a:gd name="csY0" fmla="*/ 129743 h 136883"/>
              <a:gd name="csX1" fmla="*/ 0 w 10859"/>
              <a:gd name="csY1" fmla="*/ 0 h 136883"/>
              <a:gd name="csX2" fmla="*/ 3070 w 10859"/>
              <a:gd name="csY2" fmla="*/ 74843 h 136883"/>
              <a:gd name="csX3" fmla="*/ 10135 w 10859"/>
              <a:gd name="csY3" fmla="*/ 129503 h 136883"/>
              <a:gd name="csX4" fmla="*/ 9879 w 10859"/>
              <a:gd name="csY4" fmla="*/ 136338 h 136883"/>
              <a:gd name="csX5" fmla="*/ 135 w 10859"/>
              <a:gd name="csY5" fmla="*/ 134503 h 136883"/>
              <a:gd name="csX6" fmla="*/ 168 w 10859"/>
              <a:gd name="csY6" fmla="*/ 129743 h 136883"/>
              <a:gd name="csX0" fmla="*/ 168 w 10859"/>
              <a:gd name="csY0" fmla="*/ 129743 h 136883"/>
              <a:gd name="csX1" fmla="*/ 0 w 10859"/>
              <a:gd name="csY1" fmla="*/ 0 h 136883"/>
              <a:gd name="csX2" fmla="*/ 3070 w 10859"/>
              <a:gd name="csY2" fmla="*/ 74843 h 136883"/>
              <a:gd name="csX3" fmla="*/ 10135 w 10859"/>
              <a:gd name="csY3" fmla="*/ 129503 h 136883"/>
              <a:gd name="csX4" fmla="*/ 9879 w 10859"/>
              <a:gd name="csY4" fmla="*/ 136338 h 136883"/>
              <a:gd name="csX5" fmla="*/ 135 w 10859"/>
              <a:gd name="csY5" fmla="*/ 134503 h 136883"/>
              <a:gd name="csX6" fmla="*/ 168 w 10859"/>
              <a:gd name="csY6" fmla="*/ 129743 h 136883"/>
              <a:gd name="csX0" fmla="*/ 168 w 10859"/>
              <a:gd name="csY0" fmla="*/ 129743 h 137095"/>
              <a:gd name="csX1" fmla="*/ 0 w 10859"/>
              <a:gd name="csY1" fmla="*/ 0 h 137095"/>
              <a:gd name="csX2" fmla="*/ 3070 w 10859"/>
              <a:gd name="csY2" fmla="*/ 70646 h 137095"/>
              <a:gd name="csX3" fmla="*/ 10135 w 10859"/>
              <a:gd name="csY3" fmla="*/ 129503 h 137095"/>
              <a:gd name="csX4" fmla="*/ 9879 w 10859"/>
              <a:gd name="csY4" fmla="*/ 136338 h 137095"/>
              <a:gd name="csX5" fmla="*/ 135 w 10859"/>
              <a:gd name="csY5" fmla="*/ 134503 h 137095"/>
              <a:gd name="csX6" fmla="*/ 168 w 10859"/>
              <a:gd name="csY6" fmla="*/ 129743 h 137095"/>
              <a:gd name="csX0" fmla="*/ 168 w 10859"/>
              <a:gd name="csY0" fmla="*/ 129743 h 137095"/>
              <a:gd name="csX1" fmla="*/ 0 w 10859"/>
              <a:gd name="csY1" fmla="*/ 0 h 137095"/>
              <a:gd name="csX2" fmla="*/ 3070 w 10859"/>
              <a:gd name="csY2" fmla="*/ 70646 h 137095"/>
              <a:gd name="csX3" fmla="*/ 10135 w 10859"/>
              <a:gd name="csY3" fmla="*/ 129503 h 137095"/>
              <a:gd name="csX4" fmla="*/ 9879 w 10859"/>
              <a:gd name="csY4" fmla="*/ 136338 h 137095"/>
              <a:gd name="csX5" fmla="*/ 135 w 10859"/>
              <a:gd name="csY5" fmla="*/ 134503 h 137095"/>
              <a:gd name="csX6" fmla="*/ 168 w 10859"/>
              <a:gd name="csY6" fmla="*/ 129743 h 137095"/>
              <a:gd name="csX0" fmla="*/ 195 w 10886"/>
              <a:gd name="csY0" fmla="*/ 132890 h 140242"/>
              <a:gd name="csX1" fmla="*/ 0 w 10886"/>
              <a:gd name="csY1" fmla="*/ 0 h 140242"/>
              <a:gd name="csX2" fmla="*/ 3097 w 10886"/>
              <a:gd name="csY2" fmla="*/ 73793 h 140242"/>
              <a:gd name="csX3" fmla="*/ 10162 w 10886"/>
              <a:gd name="csY3" fmla="*/ 132650 h 140242"/>
              <a:gd name="csX4" fmla="*/ 9906 w 10886"/>
              <a:gd name="csY4" fmla="*/ 139485 h 140242"/>
              <a:gd name="csX5" fmla="*/ 162 w 10886"/>
              <a:gd name="csY5" fmla="*/ 137650 h 140242"/>
              <a:gd name="csX6" fmla="*/ 195 w 10886"/>
              <a:gd name="csY6" fmla="*/ 132890 h 140242"/>
              <a:gd name="csX0" fmla="*/ 195 w 10886"/>
              <a:gd name="csY0" fmla="*/ 132890 h 140242"/>
              <a:gd name="csX1" fmla="*/ 0 w 10886"/>
              <a:gd name="csY1" fmla="*/ 0 h 140242"/>
              <a:gd name="csX2" fmla="*/ 3097 w 10886"/>
              <a:gd name="csY2" fmla="*/ 73793 h 140242"/>
              <a:gd name="csX3" fmla="*/ 10162 w 10886"/>
              <a:gd name="csY3" fmla="*/ 132650 h 140242"/>
              <a:gd name="csX4" fmla="*/ 9906 w 10886"/>
              <a:gd name="csY4" fmla="*/ 139485 h 140242"/>
              <a:gd name="csX5" fmla="*/ 162 w 10886"/>
              <a:gd name="csY5" fmla="*/ 137650 h 140242"/>
              <a:gd name="csX6" fmla="*/ 195 w 10886"/>
              <a:gd name="csY6" fmla="*/ 132890 h 140242"/>
              <a:gd name="csX0" fmla="*/ 195 w 10910"/>
              <a:gd name="csY0" fmla="*/ 132890 h 140279"/>
              <a:gd name="csX1" fmla="*/ 0 w 10910"/>
              <a:gd name="csY1" fmla="*/ 0 h 140279"/>
              <a:gd name="csX2" fmla="*/ 2747 w 10910"/>
              <a:gd name="csY2" fmla="*/ 73094 h 140279"/>
              <a:gd name="csX3" fmla="*/ 10162 w 10910"/>
              <a:gd name="csY3" fmla="*/ 132650 h 140279"/>
              <a:gd name="csX4" fmla="*/ 9906 w 10910"/>
              <a:gd name="csY4" fmla="*/ 139485 h 140279"/>
              <a:gd name="csX5" fmla="*/ 162 w 10910"/>
              <a:gd name="csY5" fmla="*/ 137650 h 140279"/>
              <a:gd name="csX6" fmla="*/ 195 w 10910"/>
              <a:gd name="csY6" fmla="*/ 132890 h 140279"/>
              <a:gd name="csX0" fmla="*/ 195 w 10910"/>
              <a:gd name="csY0" fmla="*/ 132890 h 140279"/>
              <a:gd name="csX1" fmla="*/ 0 w 10910"/>
              <a:gd name="csY1" fmla="*/ 0 h 140279"/>
              <a:gd name="csX2" fmla="*/ 2747 w 10910"/>
              <a:gd name="csY2" fmla="*/ 73094 h 140279"/>
              <a:gd name="csX3" fmla="*/ 10162 w 10910"/>
              <a:gd name="csY3" fmla="*/ 132650 h 140279"/>
              <a:gd name="csX4" fmla="*/ 9906 w 10910"/>
              <a:gd name="csY4" fmla="*/ 139485 h 140279"/>
              <a:gd name="csX5" fmla="*/ 162 w 10910"/>
              <a:gd name="csY5" fmla="*/ 137650 h 140279"/>
              <a:gd name="csX6" fmla="*/ 195 w 10910"/>
              <a:gd name="csY6" fmla="*/ 132890 h 140279"/>
              <a:gd name="csX0" fmla="*/ 195 w 10910"/>
              <a:gd name="csY0" fmla="*/ 132890 h 140279"/>
              <a:gd name="csX1" fmla="*/ 0 w 10910"/>
              <a:gd name="csY1" fmla="*/ 0 h 140279"/>
              <a:gd name="csX2" fmla="*/ 2747 w 10910"/>
              <a:gd name="csY2" fmla="*/ 73094 h 140279"/>
              <a:gd name="csX3" fmla="*/ 10162 w 10910"/>
              <a:gd name="csY3" fmla="*/ 132650 h 140279"/>
              <a:gd name="csX4" fmla="*/ 9906 w 10910"/>
              <a:gd name="csY4" fmla="*/ 139485 h 140279"/>
              <a:gd name="csX5" fmla="*/ 162 w 10910"/>
              <a:gd name="csY5" fmla="*/ 137650 h 140279"/>
              <a:gd name="csX6" fmla="*/ 195 w 10910"/>
              <a:gd name="csY6" fmla="*/ 132890 h 140279"/>
              <a:gd name="csX0" fmla="*/ 195 w 10908"/>
              <a:gd name="csY0" fmla="*/ 132890 h 140529"/>
              <a:gd name="csX1" fmla="*/ 0 w 10908"/>
              <a:gd name="csY1" fmla="*/ 0 h 140529"/>
              <a:gd name="csX2" fmla="*/ 2774 w 10908"/>
              <a:gd name="csY2" fmla="*/ 68548 h 140529"/>
              <a:gd name="csX3" fmla="*/ 10162 w 10908"/>
              <a:gd name="csY3" fmla="*/ 132650 h 140529"/>
              <a:gd name="csX4" fmla="*/ 9906 w 10908"/>
              <a:gd name="csY4" fmla="*/ 139485 h 140529"/>
              <a:gd name="csX5" fmla="*/ 162 w 10908"/>
              <a:gd name="csY5" fmla="*/ 137650 h 140529"/>
              <a:gd name="csX6" fmla="*/ 195 w 10908"/>
              <a:gd name="csY6" fmla="*/ 132890 h 14052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908" h="140529">
                <a:moveTo>
                  <a:pt x="195" y="132890"/>
                </a:moveTo>
                <a:cubicBezTo>
                  <a:pt x="138" y="131143"/>
                  <a:pt x="57" y="1747"/>
                  <a:pt x="0" y="0"/>
                </a:cubicBezTo>
                <a:cubicBezTo>
                  <a:pt x="268" y="3381"/>
                  <a:pt x="861" y="47332"/>
                  <a:pt x="2774" y="68548"/>
                </a:cubicBezTo>
                <a:cubicBezTo>
                  <a:pt x="3610" y="73794"/>
                  <a:pt x="8973" y="120827"/>
                  <a:pt x="10162" y="132650"/>
                </a:cubicBezTo>
                <a:cubicBezTo>
                  <a:pt x="11351" y="144473"/>
                  <a:pt x="11011" y="139485"/>
                  <a:pt x="9906" y="139485"/>
                </a:cubicBezTo>
                <a:lnTo>
                  <a:pt x="162" y="137650"/>
                </a:lnTo>
                <a:cubicBezTo>
                  <a:pt x="219" y="136063"/>
                  <a:pt x="138" y="134477"/>
                  <a:pt x="195" y="132890"/>
                </a:cubicBezTo>
                <a:close/>
              </a:path>
            </a:pathLst>
          </a:custGeom>
          <a:solidFill>
            <a:schemeClr val="accent4">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7" name="TextBox 6">
            <a:extLst>
              <a:ext uri="{FF2B5EF4-FFF2-40B4-BE49-F238E27FC236}">
                <a16:creationId xmlns:a16="http://schemas.microsoft.com/office/drawing/2014/main" id="{BCC3E945-E126-46D5-EE09-64894B1B9C20}"/>
              </a:ext>
            </a:extLst>
          </p:cNvPr>
          <p:cNvSpPr txBox="1"/>
          <p:nvPr/>
        </p:nvSpPr>
        <p:spPr>
          <a:xfrm>
            <a:off x="5514276" y="5694981"/>
            <a:ext cx="346570" cy="461665"/>
          </a:xfrm>
          <a:prstGeom prst="rect">
            <a:avLst/>
          </a:prstGeom>
          <a:noFill/>
        </p:spPr>
        <p:txBody>
          <a:bodyPr wrap="none" rtlCol="0">
            <a:spAutoFit/>
          </a:bodyPr>
          <a:lstStyle/>
          <a:p>
            <a:r>
              <a:rPr lang="en-NL" sz="2400" dirty="0"/>
              <a:t>b</a:t>
            </a:r>
          </a:p>
        </p:txBody>
      </p:sp>
      <p:cxnSp>
        <p:nvCxnSpPr>
          <p:cNvPr id="9" name="Straight Arrow Connector 8">
            <a:extLst>
              <a:ext uri="{FF2B5EF4-FFF2-40B4-BE49-F238E27FC236}">
                <a16:creationId xmlns:a16="http://schemas.microsoft.com/office/drawing/2014/main" id="{27C963AB-2684-2ED5-4654-C99D6E0C7AB0}"/>
              </a:ext>
            </a:extLst>
          </p:cNvPr>
          <p:cNvCxnSpPr>
            <a:cxnSpLocks/>
          </p:cNvCxnSpPr>
          <p:nvPr/>
        </p:nvCxnSpPr>
        <p:spPr>
          <a:xfrm>
            <a:off x="2185864" y="5982636"/>
            <a:ext cx="323108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00440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B034F6F-11BD-5514-CCAD-0CC139C752BD}"/>
              </a:ext>
            </a:extLst>
          </p:cNvPr>
          <p:cNvSpPr/>
          <p:nvPr/>
        </p:nvSpPr>
        <p:spPr>
          <a:xfrm>
            <a:off x="3608040" y="1839474"/>
            <a:ext cx="4846320" cy="224536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
        <p:nvSpPr>
          <p:cNvPr id="3" name="Content Placeholder 2">
            <a:extLst>
              <a:ext uri="{FF2B5EF4-FFF2-40B4-BE49-F238E27FC236}">
                <a16:creationId xmlns:a16="http://schemas.microsoft.com/office/drawing/2014/main" id="{2C01DACA-957D-8FED-67DC-696792AAE97D}"/>
              </a:ext>
            </a:extLst>
          </p:cNvPr>
          <p:cNvSpPr>
            <a:spLocks noGrp="1"/>
          </p:cNvSpPr>
          <p:nvPr>
            <p:ph idx="1"/>
          </p:nvPr>
        </p:nvSpPr>
        <p:spPr/>
        <p:txBody>
          <a:bodyPr/>
          <a:lstStyle/>
          <a:p>
            <a:pPr marL="0" indent="0">
              <a:buNone/>
            </a:pPr>
            <a:r>
              <a:rPr lang="en-NL" b="1" dirty="0"/>
              <a:t>					</a:t>
            </a:r>
          </a:p>
          <a:p>
            <a:pPr marL="0" indent="0" algn="ctr">
              <a:buNone/>
            </a:pPr>
            <a:r>
              <a:rPr lang="en-NL" b="1" dirty="0"/>
              <a:t>Expectation, E[X]</a:t>
            </a:r>
          </a:p>
          <a:p>
            <a:pPr marL="0" indent="0" algn="ctr">
              <a:buNone/>
            </a:pPr>
            <a:r>
              <a:rPr lang="en-NL" b="1" dirty="0"/>
              <a:t>Variance, var(X)</a:t>
            </a:r>
          </a:p>
          <a:p>
            <a:pPr marL="0" indent="0" algn="ctr">
              <a:buNone/>
            </a:pPr>
            <a:r>
              <a:rPr lang="en-NL" b="1" dirty="0"/>
              <a:t>Covariance, cov(X)</a:t>
            </a:r>
          </a:p>
          <a:p>
            <a:endParaRPr lang="en-NL" dirty="0">
              <a:solidFill>
                <a:schemeClr val="accent1"/>
              </a:solidFill>
            </a:endParaRPr>
          </a:p>
          <a:p>
            <a:endParaRPr lang="en-NL" dirty="0">
              <a:solidFill>
                <a:schemeClr val="accent1"/>
              </a:solidFill>
            </a:endParaRPr>
          </a:p>
        </p:txBody>
      </p:sp>
      <p:sp>
        <p:nvSpPr>
          <p:cNvPr id="9" name="Title 1">
            <a:extLst>
              <a:ext uri="{FF2B5EF4-FFF2-40B4-BE49-F238E27FC236}">
                <a16:creationId xmlns:a16="http://schemas.microsoft.com/office/drawing/2014/main" id="{3DBCEAB7-D53E-3A80-C729-199FA51B7657}"/>
              </a:ext>
            </a:extLst>
          </p:cNvPr>
          <p:cNvSpPr>
            <a:spLocks noGrp="1"/>
          </p:cNvSpPr>
          <p:nvPr>
            <p:ph type="title"/>
          </p:nvPr>
        </p:nvSpPr>
        <p:spPr>
          <a:xfrm>
            <a:off x="480001" y="414260"/>
            <a:ext cx="11102399" cy="756000"/>
          </a:xfrm>
        </p:spPr>
        <p:txBody>
          <a:bodyPr/>
          <a:lstStyle/>
          <a:p>
            <a:r>
              <a:rPr lang="en-NL" dirty="0">
                <a:solidFill>
                  <a:schemeClr val="accent1"/>
                </a:solidFill>
              </a:rPr>
              <a:t>Recap</a:t>
            </a:r>
          </a:p>
        </p:txBody>
      </p:sp>
    </p:spTree>
    <p:extLst>
      <p:ext uri="{BB962C8B-B14F-4D97-AF65-F5344CB8AC3E}">
        <p14:creationId xmlns:p14="http://schemas.microsoft.com/office/powerpoint/2010/main" val="1428259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E5FBF-C78A-D3D8-D1C8-4C87ABB8BB7D}"/>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9E1AD861-88D6-8C01-A814-4AD62A53B782}"/>
              </a:ext>
            </a:extLst>
          </p:cNvPr>
          <p:cNvSpPr/>
          <p:nvPr/>
        </p:nvSpPr>
        <p:spPr>
          <a:xfrm>
            <a:off x="3608040" y="1088289"/>
            <a:ext cx="4846320" cy="224536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
        <p:nvSpPr>
          <p:cNvPr id="3" name="Content Placeholder 2">
            <a:extLst>
              <a:ext uri="{FF2B5EF4-FFF2-40B4-BE49-F238E27FC236}">
                <a16:creationId xmlns:a16="http://schemas.microsoft.com/office/drawing/2014/main" id="{C8056DBB-7D1E-E5F3-0690-A8ECE157E591}"/>
              </a:ext>
            </a:extLst>
          </p:cNvPr>
          <p:cNvSpPr>
            <a:spLocks noGrp="1"/>
          </p:cNvSpPr>
          <p:nvPr>
            <p:ph idx="1"/>
          </p:nvPr>
        </p:nvSpPr>
        <p:spPr>
          <a:xfrm>
            <a:off x="480000" y="572807"/>
            <a:ext cx="11102399" cy="4445149"/>
          </a:xfrm>
        </p:spPr>
        <p:txBody>
          <a:bodyPr/>
          <a:lstStyle/>
          <a:p>
            <a:pPr marL="0" indent="0">
              <a:buNone/>
            </a:pPr>
            <a:r>
              <a:rPr lang="en-NL" b="1" dirty="0"/>
              <a:t>					</a:t>
            </a:r>
          </a:p>
          <a:p>
            <a:pPr marL="0" indent="0" algn="ctr">
              <a:buNone/>
            </a:pPr>
            <a:r>
              <a:rPr lang="en-NL" b="1" dirty="0"/>
              <a:t>Expectation, E[X]</a:t>
            </a:r>
          </a:p>
          <a:p>
            <a:pPr marL="0" indent="0" algn="ctr">
              <a:buNone/>
            </a:pPr>
            <a:r>
              <a:rPr lang="en-NL" b="1" dirty="0">
                <a:solidFill>
                  <a:schemeClr val="bg1">
                    <a:lumMod val="75000"/>
                  </a:schemeClr>
                </a:solidFill>
              </a:rPr>
              <a:t>Variance, var(X)</a:t>
            </a:r>
          </a:p>
          <a:p>
            <a:pPr marL="0" indent="0" algn="ctr">
              <a:buNone/>
            </a:pPr>
            <a:r>
              <a:rPr lang="en-NL" b="1" dirty="0">
                <a:solidFill>
                  <a:schemeClr val="bg1">
                    <a:lumMod val="75000"/>
                  </a:schemeClr>
                </a:solidFill>
              </a:rPr>
              <a:t>Covariance, cov(X)</a:t>
            </a:r>
          </a:p>
          <a:p>
            <a:endParaRPr lang="en-NL" dirty="0">
              <a:solidFill>
                <a:schemeClr val="accent1"/>
              </a:solidFill>
            </a:endParaRPr>
          </a:p>
          <a:p>
            <a:endParaRPr lang="en-NL" dirty="0">
              <a:solidFill>
                <a:schemeClr val="accent1"/>
              </a:solidFill>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CC84B786-AB8A-6B1A-D2FD-36933B41FC07}"/>
                  </a:ext>
                </a:extLst>
              </p:cNvPr>
              <p:cNvSpPr txBox="1"/>
              <p:nvPr/>
            </p:nvSpPr>
            <p:spPr>
              <a:xfrm>
                <a:off x="1226916" y="3567688"/>
                <a:ext cx="10000527" cy="22924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ea typeface="Cambria Math" panose="02040503050406030204" pitchFamily="18" charset="0"/>
                        </a:rPr>
                        <m:t>𝐸</m:t>
                      </m:r>
                      <m:d>
                        <m:dPr>
                          <m:begChr m:val="["/>
                          <m:endChr m:val="]"/>
                          <m:ctrlPr>
                            <a:rPr lang="en-US" sz="2400" b="0" i="1" dirty="0" smtClean="0">
                              <a:latin typeface="Cambria Math" panose="02040503050406030204" pitchFamily="18" charset="0"/>
                              <a:ea typeface="Cambria Math" panose="02040503050406030204" pitchFamily="18" charset="0"/>
                            </a:rPr>
                          </m:ctrlPr>
                        </m:dPr>
                        <m:e>
                          <m:r>
                            <a:rPr lang="en-US" sz="2400" b="0" i="1" dirty="0" smtClean="0">
                              <a:latin typeface="Cambria Math" panose="02040503050406030204" pitchFamily="18" charset="0"/>
                              <a:ea typeface="Cambria Math" panose="02040503050406030204" pitchFamily="18" charset="0"/>
                            </a:rPr>
                            <m:t>𝑋</m:t>
                          </m:r>
                        </m:e>
                      </m:d>
                      <m:r>
                        <a:rPr lang="en-US" sz="2400" b="0" i="1" dirty="0" smtClean="0">
                          <a:latin typeface="Cambria Math" panose="02040503050406030204" pitchFamily="18" charset="0"/>
                          <a:ea typeface="Cambria Math" panose="02040503050406030204" pitchFamily="18" charset="0"/>
                        </a:rPr>
                        <m:t>=</m:t>
                      </m:r>
                      <m:sSub>
                        <m:sSubPr>
                          <m:ctrlPr>
                            <a:rPr lang="en-US" sz="2400" b="0" i="1" dirty="0" smtClean="0">
                              <a:latin typeface="Cambria Math" panose="02040503050406030204" pitchFamily="18" charset="0"/>
                              <a:ea typeface="Cambria Math" panose="02040503050406030204" pitchFamily="18" charset="0"/>
                            </a:rPr>
                          </m:ctrlPr>
                        </m:sSubPr>
                        <m:e>
                          <m:r>
                            <a:rPr lang="en-US" sz="2400" b="0" i="1" dirty="0" smtClean="0">
                              <a:latin typeface="Cambria Math" panose="02040503050406030204" pitchFamily="18" charset="0"/>
                              <a:ea typeface="Cambria Math" panose="02040503050406030204" pitchFamily="18" charset="0"/>
                            </a:rPr>
                            <m:t>𝜇</m:t>
                          </m:r>
                        </m:e>
                        <m:sub>
                          <m:r>
                            <a:rPr lang="en-US" sz="2400" b="0" i="1" dirty="0" smtClean="0">
                              <a:latin typeface="Cambria Math" panose="02040503050406030204" pitchFamily="18" charset="0"/>
                              <a:ea typeface="Cambria Math" panose="02040503050406030204" pitchFamily="18" charset="0"/>
                            </a:rPr>
                            <m:t>𝑋</m:t>
                          </m:r>
                        </m:sub>
                      </m:sSub>
                      <m:r>
                        <a:rPr lang="en-US" sz="2400" b="0" i="1" dirty="0" smtClean="0">
                          <a:latin typeface="Cambria Math" panose="02040503050406030204" pitchFamily="18" charset="0"/>
                          <a:ea typeface="Cambria Math" panose="02040503050406030204" pitchFamily="18" charset="0"/>
                        </a:rPr>
                        <m:t>=</m:t>
                      </m:r>
                      <m:d>
                        <m:dPr>
                          <m:begChr m:val="{"/>
                          <m:endChr m:val=""/>
                          <m:ctrlPr>
                            <a:rPr lang="en-US" sz="2400" b="0" i="1" dirty="0" smtClean="0">
                              <a:latin typeface="Cambria Math" panose="02040503050406030204" pitchFamily="18" charset="0"/>
                              <a:ea typeface="Cambria Math" panose="02040503050406030204" pitchFamily="18" charset="0"/>
                            </a:rPr>
                          </m:ctrlPr>
                        </m:dPr>
                        <m:e>
                          <m:eqArr>
                            <m:eqArrPr>
                              <m:ctrlPr>
                                <a:rPr lang="en-US" sz="2400" b="0" i="1" dirty="0" smtClean="0">
                                  <a:latin typeface="Cambria Math" panose="02040503050406030204" pitchFamily="18" charset="0"/>
                                  <a:ea typeface="Cambria Math" panose="02040503050406030204" pitchFamily="18" charset="0"/>
                                </a:rPr>
                              </m:ctrlPr>
                            </m:eqArrPr>
                            <m:e>
                              <m:m>
                                <m:mPr>
                                  <m:mcs>
                                    <m:mc>
                                      <m:mcPr>
                                        <m:count m:val="2"/>
                                        <m:mcJc m:val="center"/>
                                      </m:mcPr>
                                    </m:mc>
                                  </m:mcs>
                                  <m:ctrlPr>
                                    <a:rPr lang="en-US" sz="2400" b="0" i="1" dirty="0" smtClean="0">
                                      <a:latin typeface="Cambria Math" panose="02040503050406030204" pitchFamily="18" charset="0"/>
                                      <a:ea typeface="Cambria Math" panose="02040503050406030204" pitchFamily="18" charset="0"/>
                                    </a:rPr>
                                  </m:ctrlPr>
                                </m:mPr>
                                <m:mr>
                                  <m:e>
                                    <m:nary>
                                      <m:naryPr>
                                        <m:chr m:val="∑"/>
                                        <m:supHide m:val="on"/>
                                        <m:ctrlPr>
                                          <a:rPr lang="en-US" sz="2400" b="0" i="1" dirty="0" smtClean="0">
                                            <a:latin typeface="Cambria Math" panose="02040503050406030204" pitchFamily="18" charset="0"/>
                                            <a:ea typeface="Cambria Math" panose="02040503050406030204" pitchFamily="18" charset="0"/>
                                          </a:rPr>
                                        </m:ctrlPr>
                                      </m:naryPr>
                                      <m:sub>
                                        <m:r>
                                          <m:rPr>
                                            <m:brk m:alnAt="7"/>
                                          </m:rPr>
                                          <a:rPr lang="en-US" sz="2400" b="0" i="1" dirty="0" smtClean="0">
                                            <a:latin typeface="Cambria Math" panose="02040503050406030204" pitchFamily="18" charset="0"/>
                                            <a:ea typeface="Cambria Math" panose="02040503050406030204" pitchFamily="18" charset="0"/>
                                          </a:rPr>
                                          <m:t>𝑥</m:t>
                                        </m:r>
                                        <m:r>
                                          <m:rPr>
                                            <m:brk m:alnAt="7"/>
                                          </m:rPr>
                                          <a:rPr lang="en-US" sz="2400" b="0" i="0" dirty="0" smtClean="0">
                                            <a:latin typeface="Cambria Math" panose="02040503050406030204" pitchFamily="18" charset="0"/>
                                            <a:ea typeface="Cambria Math" panose="02040503050406030204" pitchFamily="18" charset="0"/>
                                          </a:rPr>
                                          <m:t>∈</m:t>
                                        </m:r>
                                        <m:sSub>
                                          <m:sSubPr>
                                            <m:ctrlPr>
                                              <a:rPr lang="en-US" sz="2400" b="0" i="1" dirty="0" smtClean="0">
                                                <a:latin typeface="Cambria Math" panose="02040503050406030204" pitchFamily="18" charset="0"/>
                                                <a:ea typeface="Cambria Math" panose="02040503050406030204" pitchFamily="18" charset="0"/>
                                              </a:rPr>
                                            </m:ctrlPr>
                                          </m:sSubPr>
                                          <m:e>
                                            <m:r>
                                              <m:rPr>
                                                <m:sty m:val="p"/>
                                                <m:brk m:alnAt="7"/>
                                              </m:rPr>
                                              <a:rPr lang="en-US" sz="2400" b="0" i="0" dirty="0" smtClean="0">
                                                <a:latin typeface="Cambria Math" panose="02040503050406030204" pitchFamily="18" charset="0"/>
                                                <a:ea typeface="Cambria Math" panose="02040503050406030204" pitchFamily="18" charset="0"/>
                                              </a:rPr>
                                              <m:t>S</m:t>
                                            </m:r>
                                          </m:e>
                                          <m:sub>
                                            <m:r>
                                              <m:rPr>
                                                <m:brk m:alnAt="7"/>
                                              </m:rPr>
                                              <a:rPr lang="en-US" sz="2400" b="0" i="1" dirty="0" smtClean="0">
                                                <a:latin typeface="Cambria Math" panose="02040503050406030204" pitchFamily="18" charset="0"/>
                                                <a:ea typeface="Cambria Math" panose="02040503050406030204" pitchFamily="18" charset="0"/>
                                              </a:rPr>
                                              <m:t>𝑋</m:t>
                                            </m:r>
                                          </m:sub>
                                        </m:sSub>
                                      </m:sub>
                                      <m:sup/>
                                      <m:e>
                                        <m:r>
                                          <a:rPr lang="en-US" sz="2400" b="0" i="1" dirty="0" smtClean="0">
                                            <a:latin typeface="Cambria Math" panose="02040503050406030204" pitchFamily="18" charset="0"/>
                                            <a:ea typeface="Cambria Math" panose="02040503050406030204" pitchFamily="18" charset="0"/>
                                          </a:rPr>
                                          <m:t>𝑥</m:t>
                                        </m:r>
                                        <m:r>
                                          <a:rPr lang="en-US" sz="2400" b="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𝑓</m:t>
                                        </m:r>
                                        <m:r>
                                          <a:rPr lang="en-US" sz="2400" b="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𝑥</m:t>
                                        </m:r>
                                        <m:r>
                                          <a:rPr lang="en-US" sz="2400" b="0" i="1" dirty="0" smtClean="0">
                                            <a:latin typeface="Cambria Math" panose="02040503050406030204" pitchFamily="18" charset="0"/>
                                            <a:ea typeface="Cambria Math" panose="02040503050406030204" pitchFamily="18" charset="0"/>
                                          </a:rPr>
                                          <m:t>)</m:t>
                                        </m:r>
                                      </m:e>
                                    </m:nary>
                                    <m:r>
                                      <a:rPr lang="en-US" sz="2400" b="0" i="1" dirty="0" smtClean="0">
                                        <a:latin typeface="Cambria Math" panose="02040503050406030204" pitchFamily="18" charset="0"/>
                                        <a:ea typeface="Cambria Math" panose="02040503050406030204" pitchFamily="18" charset="0"/>
                                      </a:rPr>
                                      <m:t>=</m:t>
                                    </m:r>
                                    <m:nary>
                                      <m:naryPr>
                                        <m:chr m:val="∑"/>
                                        <m:supHide m:val="on"/>
                                        <m:ctrlPr>
                                          <a:rPr lang="en-US" sz="2400" b="0" i="1" dirty="0" smtClean="0">
                                            <a:latin typeface="Cambria Math" panose="02040503050406030204" pitchFamily="18" charset="0"/>
                                            <a:ea typeface="Cambria Math" panose="02040503050406030204" pitchFamily="18" charset="0"/>
                                          </a:rPr>
                                        </m:ctrlPr>
                                      </m:naryPr>
                                      <m:sub>
                                        <m:r>
                                          <m:rPr>
                                            <m:brk m:alnAt="7"/>
                                          </m:rPr>
                                          <a:rPr lang="en-US" sz="2400" b="0" i="1" dirty="0" smtClean="0">
                                            <a:latin typeface="Cambria Math" panose="02040503050406030204" pitchFamily="18" charset="0"/>
                                            <a:ea typeface="Cambria Math" panose="02040503050406030204" pitchFamily="18" charset="0"/>
                                          </a:rPr>
                                          <m:t>𝑥</m:t>
                                        </m:r>
                                        <m:r>
                                          <m:rPr>
                                            <m:brk m:alnAt="7"/>
                                          </m:rPr>
                                          <a:rPr lang="en-US" sz="2400" b="0" i="0" dirty="0" smtClean="0">
                                            <a:latin typeface="Cambria Math" panose="02040503050406030204" pitchFamily="18" charset="0"/>
                                            <a:ea typeface="Cambria Math" panose="02040503050406030204" pitchFamily="18" charset="0"/>
                                          </a:rPr>
                                          <m:t>∈</m:t>
                                        </m:r>
                                        <m:sSub>
                                          <m:sSubPr>
                                            <m:ctrlPr>
                                              <a:rPr lang="en-US" sz="2400" b="0" i="1" dirty="0" smtClean="0">
                                                <a:latin typeface="Cambria Math" panose="02040503050406030204" pitchFamily="18" charset="0"/>
                                                <a:ea typeface="Cambria Math" panose="02040503050406030204" pitchFamily="18" charset="0"/>
                                              </a:rPr>
                                            </m:ctrlPr>
                                          </m:sSubPr>
                                          <m:e>
                                            <m:r>
                                              <m:rPr>
                                                <m:brk m:alnAt="7"/>
                                              </m:rPr>
                                              <a:rPr lang="en-US" sz="2400" b="0" i="1" dirty="0" smtClean="0">
                                                <a:latin typeface="Cambria Math" panose="02040503050406030204" pitchFamily="18" charset="0"/>
                                                <a:ea typeface="Cambria Math" panose="02040503050406030204" pitchFamily="18" charset="0"/>
                                              </a:rPr>
                                              <m:t>𝑆</m:t>
                                            </m:r>
                                          </m:e>
                                          <m:sub>
                                            <m:r>
                                              <m:rPr>
                                                <m:brk m:alnAt="7"/>
                                              </m:rPr>
                                              <a:rPr lang="en-US" sz="2400" b="0" i="1" dirty="0" smtClean="0">
                                                <a:latin typeface="Cambria Math" panose="02040503050406030204" pitchFamily="18" charset="0"/>
                                                <a:ea typeface="Cambria Math" panose="02040503050406030204" pitchFamily="18" charset="0"/>
                                              </a:rPr>
                                              <m:t>𝑋</m:t>
                                            </m:r>
                                          </m:sub>
                                        </m:sSub>
                                      </m:sub>
                                      <m:sup/>
                                      <m:e>
                                        <m:r>
                                          <a:rPr lang="en-US" sz="2400" b="0" i="1" dirty="0" smtClean="0">
                                            <a:latin typeface="Cambria Math" panose="02040503050406030204" pitchFamily="18" charset="0"/>
                                            <a:ea typeface="Cambria Math" panose="02040503050406030204" pitchFamily="18" charset="0"/>
                                          </a:rPr>
                                          <m:t>𝑥</m:t>
                                        </m:r>
                                        <m:r>
                                          <a:rPr lang="en-US" sz="2400" b="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𝑃</m:t>
                                        </m:r>
                                        <m:d>
                                          <m:dPr>
                                            <m:ctrlPr>
                                              <a:rPr lang="en-US" sz="2400" b="0" i="1" dirty="0" smtClean="0">
                                                <a:latin typeface="Cambria Math" panose="02040503050406030204" pitchFamily="18" charset="0"/>
                                                <a:ea typeface="Cambria Math" panose="02040503050406030204" pitchFamily="18" charset="0"/>
                                              </a:rPr>
                                            </m:ctrlPr>
                                          </m:dPr>
                                          <m:e>
                                            <m:r>
                                              <a:rPr lang="en-US" sz="2400" b="0" i="1" dirty="0" smtClean="0">
                                                <a:latin typeface="Cambria Math" panose="02040503050406030204" pitchFamily="18" charset="0"/>
                                                <a:ea typeface="Cambria Math" panose="02040503050406030204" pitchFamily="18" charset="0"/>
                                              </a:rPr>
                                              <m:t>𝑋</m:t>
                                            </m:r>
                                            <m:r>
                                              <a:rPr lang="en-US" sz="2400" b="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𝑥</m:t>
                                            </m:r>
                                          </m:e>
                                        </m:d>
                                      </m:e>
                                    </m:nary>
                                  </m:e>
                                  <m:e>
                                    <m:r>
                                      <a:rPr lang="en-US" sz="2400" b="0" i="1" dirty="0" smtClean="0">
                                        <a:latin typeface="Cambria Math" panose="02040503050406030204" pitchFamily="18" charset="0"/>
                                        <a:ea typeface="Cambria Math" panose="02040503050406030204" pitchFamily="18" charset="0"/>
                                      </a:rPr>
                                      <m:t>𝑋</m:t>
                                    </m:r>
                                    <m:r>
                                      <a:rPr lang="en-US" sz="2400" b="0" i="1" dirty="0" smtClean="0">
                                        <a:latin typeface="Cambria Math" panose="02040503050406030204" pitchFamily="18" charset="0"/>
                                        <a:ea typeface="Cambria Math" panose="02040503050406030204" pitchFamily="18" charset="0"/>
                                      </a:rPr>
                                      <m:t> </m:t>
                                    </m:r>
                                    <m:r>
                                      <m:rPr>
                                        <m:sty m:val="p"/>
                                      </m:rPr>
                                      <a:rPr lang="en-US" sz="2400" b="0" i="0" dirty="0" smtClean="0">
                                        <a:latin typeface="Cambria Math" panose="02040503050406030204" pitchFamily="18" charset="0"/>
                                        <a:ea typeface="Cambria Math" panose="02040503050406030204" pitchFamily="18" charset="0"/>
                                      </a:rPr>
                                      <m:t>is</m:t>
                                    </m:r>
                                    <m:r>
                                      <a:rPr lang="en-US" sz="2400" b="0" i="0" dirty="0" smtClean="0">
                                        <a:latin typeface="Cambria Math" panose="02040503050406030204" pitchFamily="18" charset="0"/>
                                        <a:ea typeface="Cambria Math" panose="02040503050406030204" pitchFamily="18" charset="0"/>
                                      </a:rPr>
                                      <m:t> </m:t>
                                    </m:r>
                                    <m:r>
                                      <m:rPr>
                                        <m:sty m:val="p"/>
                                      </m:rPr>
                                      <a:rPr lang="en-US" sz="2400" b="0" i="0" dirty="0" smtClean="0">
                                        <a:latin typeface="Cambria Math" panose="02040503050406030204" pitchFamily="18" charset="0"/>
                                        <a:ea typeface="Cambria Math" panose="02040503050406030204" pitchFamily="18" charset="0"/>
                                      </a:rPr>
                                      <m:t>a</m:t>
                                    </m:r>
                                    <m:r>
                                      <a:rPr lang="en-US" sz="2400" b="0" i="0" dirty="0" smtClean="0">
                                        <a:latin typeface="Cambria Math" panose="02040503050406030204" pitchFamily="18" charset="0"/>
                                        <a:ea typeface="Cambria Math" panose="02040503050406030204" pitchFamily="18" charset="0"/>
                                      </a:rPr>
                                      <m:t> </m:t>
                                    </m:r>
                                    <m:r>
                                      <m:rPr>
                                        <m:sty m:val="p"/>
                                      </m:rPr>
                                      <a:rPr lang="en-US" sz="2400" b="0" i="0" dirty="0" smtClean="0">
                                        <a:latin typeface="Cambria Math" panose="02040503050406030204" pitchFamily="18" charset="0"/>
                                        <a:ea typeface="Cambria Math" panose="02040503050406030204" pitchFamily="18" charset="0"/>
                                      </a:rPr>
                                      <m:t>discrete</m:t>
                                    </m:r>
                                    <m:r>
                                      <a:rPr lang="en-US" sz="2400" b="0" i="0" dirty="0" smtClean="0">
                                        <a:latin typeface="Cambria Math" panose="02040503050406030204" pitchFamily="18" charset="0"/>
                                        <a:ea typeface="Cambria Math" panose="02040503050406030204" pitchFamily="18" charset="0"/>
                                      </a:rPr>
                                      <m:t> </m:t>
                                    </m:r>
                                    <m:r>
                                      <m:rPr>
                                        <m:sty m:val="p"/>
                                      </m:rPr>
                                      <a:rPr lang="en-US" sz="2400" b="0" i="0" dirty="0" smtClean="0">
                                        <a:latin typeface="Cambria Math" panose="02040503050406030204" pitchFamily="18" charset="0"/>
                                        <a:ea typeface="Cambria Math" panose="02040503050406030204" pitchFamily="18" charset="0"/>
                                      </a:rPr>
                                      <m:t>RV</m:t>
                                    </m:r>
                                  </m:e>
                                </m:mr>
                              </m:m>
                            </m:e>
                            <m:e>
                              <m:m>
                                <m:mPr>
                                  <m:mcs>
                                    <m:mc>
                                      <m:mcPr>
                                        <m:count m:val="2"/>
                                        <m:mcJc m:val="center"/>
                                      </m:mcPr>
                                    </m:mc>
                                  </m:mcs>
                                  <m:ctrlPr>
                                    <a:rPr lang="en-US" sz="2400" b="0" i="1" dirty="0" smtClean="0">
                                      <a:latin typeface="Cambria Math" panose="02040503050406030204" pitchFamily="18" charset="0"/>
                                      <a:ea typeface="Cambria Math" panose="02040503050406030204" pitchFamily="18" charset="0"/>
                                    </a:rPr>
                                  </m:ctrlPr>
                                </m:mPr>
                                <m:mr>
                                  <m:e>
                                    <m:nary>
                                      <m:naryPr>
                                        <m:limLoc m:val="undOvr"/>
                                        <m:ctrlPr>
                                          <a:rPr lang="en-US" sz="2400" b="0" i="1" dirty="0" smtClean="0">
                                            <a:latin typeface="Cambria Math" panose="02040503050406030204" pitchFamily="18" charset="0"/>
                                            <a:ea typeface="Cambria Math" panose="02040503050406030204" pitchFamily="18" charset="0"/>
                                          </a:rPr>
                                        </m:ctrlPr>
                                      </m:naryPr>
                                      <m:sub>
                                        <m:r>
                                          <m:rPr>
                                            <m:brk m:alnAt="24"/>
                                          </m:rPr>
                                          <a:rPr lang="en-US" sz="2400" b="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m:t>
                                        </m:r>
                                      </m:sub>
                                      <m:sup>
                                        <m:r>
                                          <a:rPr lang="en-US" sz="2400" b="0" i="1" dirty="0" smtClean="0">
                                            <a:latin typeface="Cambria Math" panose="02040503050406030204" pitchFamily="18" charset="0"/>
                                            <a:ea typeface="Cambria Math" panose="02040503050406030204" pitchFamily="18" charset="0"/>
                                          </a:rPr>
                                          <m:t>∞</m:t>
                                        </m:r>
                                      </m:sup>
                                      <m:e>
                                        <m:r>
                                          <a:rPr lang="en-US" sz="2400" b="0" i="1" dirty="0" smtClean="0">
                                            <a:latin typeface="Cambria Math" panose="02040503050406030204" pitchFamily="18" charset="0"/>
                                            <a:ea typeface="Cambria Math" panose="02040503050406030204" pitchFamily="18" charset="0"/>
                                          </a:rPr>
                                          <m:t>𝑥</m:t>
                                        </m:r>
                                        <m:r>
                                          <a:rPr lang="en-US" sz="2400" b="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𝑓</m:t>
                                        </m:r>
                                        <m:d>
                                          <m:dPr>
                                            <m:ctrlPr>
                                              <a:rPr lang="en-US" sz="2400" b="0" i="1" dirty="0" smtClean="0">
                                                <a:latin typeface="Cambria Math" panose="02040503050406030204" pitchFamily="18" charset="0"/>
                                                <a:ea typeface="Cambria Math" panose="02040503050406030204" pitchFamily="18" charset="0"/>
                                              </a:rPr>
                                            </m:ctrlPr>
                                          </m:dPr>
                                          <m:e>
                                            <m:r>
                                              <a:rPr lang="en-US" sz="2400" b="0" i="1" dirty="0" smtClean="0">
                                                <a:latin typeface="Cambria Math" panose="02040503050406030204" pitchFamily="18" charset="0"/>
                                                <a:ea typeface="Cambria Math" panose="02040503050406030204" pitchFamily="18" charset="0"/>
                                              </a:rPr>
                                              <m:t>𝑥</m:t>
                                            </m:r>
                                          </m:e>
                                        </m:d>
                                        <m:r>
                                          <a:rPr lang="en-US" sz="2400" b="0" i="1" dirty="0" smtClean="0">
                                            <a:latin typeface="Cambria Math" panose="02040503050406030204" pitchFamily="18" charset="0"/>
                                            <a:ea typeface="Cambria Math" panose="02040503050406030204" pitchFamily="18" charset="0"/>
                                          </a:rPr>
                                          <m:t> </m:t>
                                        </m:r>
                                        <m:r>
                                          <a:rPr lang="en-US" sz="2400" b="0" i="1" dirty="0" smtClean="0">
                                            <a:latin typeface="Cambria Math" panose="02040503050406030204" pitchFamily="18" charset="0"/>
                                            <a:ea typeface="Cambria Math" panose="02040503050406030204" pitchFamily="18" charset="0"/>
                                          </a:rPr>
                                          <m:t>𝑑𝑥</m:t>
                                        </m:r>
                                      </m:e>
                                    </m:nary>
                                  </m:e>
                                  <m:e>
                                    <m:r>
                                      <a:rPr lang="en-US" sz="2400" b="0" i="1" dirty="0" smtClean="0">
                                        <a:latin typeface="Cambria Math" panose="02040503050406030204" pitchFamily="18" charset="0"/>
                                        <a:ea typeface="Cambria Math" panose="02040503050406030204" pitchFamily="18" charset="0"/>
                                      </a:rPr>
                                      <m:t>                             </m:t>
                                    </m:r>
                                    <m:r>
                                      <a:rPr lang="en-US" sz="2400" b="0" i="1" dirty="0" smtClean="0">
                                        <a:latin typeface="Cambria Math" panose="02040503050406030204" pitchFamily="18" charset="0"/>
                                        <a:ea typeface="Cambria Math" panose="02040503050406030204" pitchFamily="18" charset="0"/>
                                      </a:rPr>
                                      <m:t>𝑋</m:t>
                                    </m:r>
                                    <m:r>
                                      <a:rPr lang="en-US" sz="2400" b="0" i="1" dirty="0" smtClean="0">
                                        <a:latin typeface="Cambria Math" panose="02040503050406030204" pitchFamily="18" charset="0"/>
                                        <a:ea typeface="Cambria Math" panose="02040503050406030204" pitchFamily="18" charset="0"/>
                                      </a:rPr>
                                      <m:t> </m:t>
                                    </m:r>
                                    <m:r>
                                      <m:rPr>
                                        <m:sty m:val="p"/>
                                      </m:rPr>
                                      <a:rPr lang="en-US" sz="2400" b="0" i="0" dirty="0" smtClean="0">
                                        <a:latin typeface="Cambria Math" panose="02040503050406030204" pitchFamily="18" charset="0"/>
                                        <a:ea typeface="Cambria Math" panose="02040503050406030204" pitchFamily="18" charset="0"/>
                                      </a:rPr>
                                      <m:t>is</m:t>
                                    </m:r>
                                    <m:r>
                                      <a:rPr lang="en-US" sz="2400" b="0" i="0" dirty="0" smtClean="0">
                                        <a:latin typeface="Cambria Math" panose="02040503050406030204" pitchFamily="18" charset="0"/>
                                        <a:ea typeface="Cambria Math" panose="02040503050406030204" pitchFamily="18" charset="0"/>
                                      </a:rPr>
                                      <m:t> </m:t>
                                    </m:r>
                                    <m:r>
                                      <m:rPr>
                                        <m:sty m:val="p"/>
                                      </m:rPr>
                                      <a:rPr lang="en-US" sz="2400" b="0" i="0" dirty="0" smtClean="0">
                                        <a:latin typeface="Cambria Math" panose="02040503050406030204" pitchFamily="18" charset="0"/>
                                        <a:ea typeface="Cambria Math" panose="02040503050406030204" pitchFamily="18" charset="0"/>
                                      </a:rPr>
                                      <m:t>a</m:t>
                                    </m:r>
                                    <m:r>
                                      <a:rPr lang="en-US" sz="2400" b="0" i="0" dirty="0" smtClean="0">
                                        <a:latin typeface="Cambria Math" panose="02040503050406030204" pitchFamily="18" charset="0"/>
                                        <a:ea typeface="Cambria Math" panose="02040503050406030204" pitchFamily="18" charset="0"/>
                                      </a:rPr>
                                      <m:t> </m:t>
                                    </m:r>
                                    <m:r>
                                      <m:rPr>
                                        <m:sty m:val="p"/>
                                      </m:rPr>
                                      <a:rPr lang="en-US" sz="2400" b="0" i="0" dirty="0" smtClean="0">
                                        <a:latin typeface="Cambria Math" panose="02040503050406030204" pitchFamily="18" charset="0"/>
                                        <a:ea typeface="Cambria Math" panose="02040503050406030204" pitchFamily="18" charset="0"/>
                                      </a:rPr>
                                      <m:t>continuous</m:t>
                                    </m:r>
                                    <m:r>
                                      <a:rPr lang="en-US" sz="2400" b="0" i="0" dirty="0" smtClean="0">
                                        <a:latin typeface="Cambria Math" panose="02040503050406030204" pitchFamily="18" charset="0"/>
                                        <a:ea typeface="Cambria Math" panose="02040503050406030204" pitchFamily="18" charset="0"/>
                                      </a:rPr>
                                      <m:t> </m:t>
                                    </m:r>
                                    <m:r>
                                      <m:rPr>
                                        <m:sty m:val="p"/>
                                      </m:rPr>
                                      <a:rPr lang="en-US" sz="2400" b="0" i="0" dirty="0" smtClean="0">
                                        <a:latin typeface="Cambria Math" panose="02040503050406030204" pitchFamily="18" charset="0"/>
                                        <a:ea typeface="Cambria Math" panose="02040503050406030204" pitchFamily="18" charset="0"/>
                                      </a:rPr>
                                      <m:t>RV</m:t>
                                    </m:r>
                                  </m:e>
                                </m:mr>
                              </m:m>
                            </m:e>
                          </m:eqArr>
                        </m:e>
                      </m:d>
                    </m:oMath>
                  </m:oMathPara>
                </a14:m>
                <a:endParaRPr lang="en-NL" sz="2400" dirty="0"/>
              </a:p>
            </p:txBody>
          </p:sp>
        </mc:Choice>
        <mc:Fallback>
          <p:sp>
            <p:nvSpPr>
              <p:cNvPr id="6" name="TextBox 5">
                <a:extLst>
                  <a:ext uri="{FF2B5EF4-FFF2-40B4-BE49-F238E27FC236}">
                    <a16:creationId xmlns:a16="http://schemas.microsoft.com/office/drawing/2014/main" id="{CC84B786-AB8A-6B1A-D2FD-36933B41FC07}"/>
                  </a:ext>
                </a:extLst>
              </p:cNvPr>
              <p:cNvSpPr txBox="1">
                <a:spLocks noRot="1" noChangeAspect="1" noMove="1" noResize="1" noEditPoints="1" noAdjustHandles="1" noChangeArrowheads="1" noChangeShapeType="1" noTextEdit="1"/>
              </p:cNvSpPr>
              <p:nvPr/>
            </p:nvSpPr>
            <p:spPr>
              <a:xfrm>
                <a:off x="1226916" y="3567688"/>
                <a:ext cx="10000527" cy="2292422"/>
              </a:xfrm>
              <a:prstGeom prst="rect">
                <a:avLst/>
              </a:prstGeom>
              <a:blipFill>
                <a:blip r:embed="rId2"/>
                <a:stretch>
                  <a:fillRect t="-53846" b="-86264"/>
                </a:stretch>
              </a:blipFill>
            </p:spPr>
            <p:txBody>
              <a:bodyPr/>
              <a:lstStyle/>
              <a:p>
                <a:r>
                  <a:rPr lang="en-NL">
                    <a:noFill/>
                  </a:rPr>
                  <a:t> </a:t>
                </a:r>
              </a:p>
            </p:txBody>
          </p:sp>
        </mc:Fallback>
      </mc:AlternateContent>
      <p:sp>
        <p:nvSpPr>
          <p:cNvPr id="8" name="Title 1">
            <a:extLst>
              <a:ext uri="{FF2B5EF4-FFF2-40B4-BE49-F238E27FC236}">
                <a16:creationId xmlns:a16="http://schemas.microsoft.com/office/drawing/2014/main" id="{5ADD3008-EBB0-E74F-66BF-0EEB568FD4EE}"/>
              </a:ext>
            </a:extLst>
          </p:cNvPr>
          <p:cNvSpPr txBox="1">
            <a:spLocks/>
          </p:cNvSpPr>
          <p:nvPr/>
        </p:nvSpPr>
        <p:spPr>
          <a:xfrm>
            <a:off x="632401" y="566660"/>
            <a:ext cx="11102399" cy="756000"/>
          </a:xfrm>
          <a:prstGeom prst="rect">
            <a:avLst/>
          </a:prstGeom>
        </p:spPr>
        <p:txBody>
          <a:bodyPr vert="horz" lIns="0" tIns="0" rIns="0" bIns="0" rtlCol="0" anchor="t" anchorCtr="0">
            <a:normAutofit/>
          </a:bodyPr>
          <a:lstStyle>
            <a:lvl1pPr algn="l" defTabSz="609585" rtl="0" eaLnBrk="1" latinLnBrk="0" hangingPunct="1">
              <a:spcBef>
                <a:spcPct val="0"/>
              </a:spcBef>
              <a:buNone/>
              <a:defRPr sz="4267" b="1" kern="1200">
                <a:solidFill>
                  <a:schemeClr val="tx2"/>
                </a:solidFill>
                <a:latin typeface="+mj-lt"/>
                <a:ea typeface="+mj-ea"/>
                <a:cs typeface="Verdana"/>
              </a:defRPr>
            </a:lvl1pPr>
          </a:lstStyle>
          <a:p>
            <a:r>
              <a:rPr lang="en-NL">
                <a:solidFill>
                  <a:schemeClr val="accent1"/>
                </a:solidFill>
              </a:rPr>
              <a:t>Recap</a:t>
            </a:r>
            <a:endParaRPr lang="en-NL" dirty="0">
              <a:solidFill>
                <a:schemeClr val="accent1"/>
              </a:solidFill>
            </a:endParaRPr>
          </a:p>
        </p:txBody>
      </p:sp>
    </p:spTree>
    <p:extLst>
      <p:ext uri="{BB962C8B-B14F-4D97-AF65-F5344CB8AC3E}">
        <p14:creationId xmlns:p14="http://schemas.microsoft.com/office/powerpoint/2010/main" val="1142739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54BF8-D2C4-A5EB-B545-DE3AFB11D83D}"/>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74AE0E07-352B-8CA7-200B-CC538FBF45DC}"/>
              </a:ext>
            </a:extLst>
          </p:cNvPr>
          <p:cNvSpPr/>
          <p:nvPr/>
        </p:nvSpPr>
        <p:spPr>
          <a:xfrm>
            <a:off x="3608040" y="1088289"/>
            <a:ext cx="4846320" cy="224536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
        <p:nvSpPr>
          <p:cNvPr id="3" name="Content Placeholder 2">
            <a:extLst>
              <a:ext uri="{FF2B5EF4-FFF2-40B4-BE49-F238E27FC236}">
                <a16:creationId xmlns:a16="http://schemas.microsoft.com/office/drawing/2014/main" id="{CF8758DE-6A4F-595C-2225-8AA840F6DB81}"/>
              </a:ext>
            </a:extLst>
          </p:cNvPr>
          <p:cNvSpPr>
            <a:spLocks noGrp="1"/>
          </p:cNvSpPr>
          <p:nvPr>
            <p:ph idx="1"/>
          </p:nvPr>
        </p:nvSpPr>
        <p:spPr>
          <a:xfrm>
            <a:off x="480000" y="572807"/>
            <a:ext cx="11102399" cy="4445149"/>
          </a:xfrm>
        </p:spPr>
        <p:txBody>
          <a:bodyPr/>
          <a:lstStyle/>
          <a:p>
            <a:pPr marL="0" indent="0">
              <a:buNone/>
            </a:pPr>
            <a:r>
              <a:rPr lang="en-NL" b="1" dirty="0"/>
              <a:t>					</a:t>
            </a:r>
          </a:p>
          <a:p>
            <a:pPr marL="0" indent="0" algn="ctr">
              <a:buNone/>
            </a:pPr>
            <a:r>
              <a:rPr lang="en-NL" b="1" dirty="0">
                <a:solidFill>
                  <a:schemeClr val="bg1">
                    <a:lumMod val="75000"/>
                  </a:schemeClr>
                </a:solidFill>
              </a:rPr>
              <a:t>Expectation, E[X]</a:t>
            </a:r>
          </a:p>
          <a:p>
            <a:pPr marL="0" indent="0" algn="ctr">
              <a:buNone/>
            </a:pPr>
            <a:r>
              <a:rPr lang="en-NL" b="1" dirty="0"/>
              <a:t>Variance, var(X)</a:t>
            </a:r>
          </a:p>
          <a:p>
            <a:pPr marL="0" indent="0" algn="ctr">
              <a:buNone/>
            </a:pPr>
            <a:r>
              <a:rPr lang="en-NL" b="1" dirty="0">
                <a:solidFill>
                  <a:schemeClr val="bg1">
                    <a:lumMod val="75000"/>
                  </a:schemeClr>
                </a:solidFill>
              </a:rPr>
              <a:t>Covariance, cov(X)</a:t>
            </a:r>
          </a:p>
          <a:p>
            <a:endParaRPr lang="en-NL" dirty="0">
              <a:solidFill>
                <a:schemeClr val="accent1"/>
              </a:solidFill>
            </a:endParaRPr>
          </a:p>
          <a:p>
            <a:endParaRPr lang="en-NL" dirty="0">
              <a:solidFill>
                <a:schemeClr val="accent1"/>
              </a:solidFill>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5D25014C-FF85-805B-E169-90018E191DAE}"/>
                  </a:ext>
                </a:extLst>
              </p:cNvPr>
              <p:cNvSpPr txBox="1"/>
              <p:nvPr/>
            </p:nvSpPr>
            <p:spPr>
              <a:xfrm>
                <a:off x="2291524" y="3802289"/>
                <a:ext cx="7479350" cy="114076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sz="3200" dirty="0" smtClean="0">
                          <a:latin typeface="Cambria Math" panose="02040503050406030204" pitchFamily="18" charset="0"/>
                        </a:rPr>
                        <m:t>𝑉𝑎𝑟</m:t>
                      </m:r>
                      <m:d>
                        <m:dPr>
                          <m:ctrlPr>
                            <a:rPr lang="en-US" sz="3200" i="1" dirty="0" smtClean="0">
                              <a:latin typeface="Cambria Math" panose="02040503050406030204" pitchFamily="18" charset="0"/>
                            </a:rPr>
                          </m:ctrlPr>
                        </m:dPr>
                        <m:e>
                          <m:r>
                            <a:rPr lang="en-US" sz="3200" dirty="0" smtClean="0">
                              <a:latin typeface="Cambria Math" panose="02040503050406030204" pitchFamily="18" charset="0"/>
                            </a:rPr>
                            <m:t>𝑋</m:t>
                          </m:r>
                        </m:e>
                      </m:d>
                      <m:r>
                        <a:rPr lang="en-US" sz="3200" dirty="0" smtClean="0">
                          <a:latin typeface="Cambria Math" panose="02040503050406030204" pitchFamily="18" charset="0"/>
                        </a:rPr>
                        <m:t>=</m:t>
                      </m:r>
                      <m:r>
                        <a:rPr lang="en-US" sz="3200" dirty="0" smtClean="0">
                          <a:latin typeface="Cambria Math" panose="02040503050406030204" pitchFamily="18" charset="0"/>
                        </a:rPr>
                        <m:t>𝐸</m:t>
                      </m:r>
                      <m:d>
                        <m:dPr>
                          <m:begChr m:val="["/>
                          <m:endChr m:val="]"/>
                          <m:ctrlPr>
                            <a:rPr lang="en-US" sz="3200" i="1" dirty="0" smtClean="0">
                              <a:latin typeface="Cambria Math" panose="02040503050406030204" pitchFamily="18" charset="0"/>
                            </a:rPr>
                          </m:ctrlPr>
                        </m:dPr>
                        <m:e>
                          <m:sSup>
                            <m:sSupPr>
                              <m:ctrlPr>
                                <a:rPr lang="en-US" sz="3200" i="1" dirty="0" smtClean="0">
                                  <a:latin typeface="Cambria Math" panose="02040503050406030204" pitchFamily="18" charset="0"/>
                                </a:rPr>
                              </m:ctrlPr>
                            </m:sSupPr>
                            <m:e>
                              <m:d>
                                <m:dPr>
                                  <m:ctrlPr>
                                    <a:rPr lang="en-US" sz="3200" i="1" dirty="0" smtClean="0">
                                      <a:latin typeface="Cambria Math" panose="02040503050406030204" pitchFamily="18" charset="0"/>
                                    </a:rPr>
                                  </m:ctrlPr>
                                </m:dPr>
                                <m:e>
                                  <m:r>
                                    <a:rPr lang="en-US" sz="3200" dirty="0" smtClean="0">
                                      <a:latin typeface="Cambria Math" panose="02040503050406030204" pitchFamily="18" charset="0"/>
                                    </a:rPr>
                                    <m:t>𝑋</m:t>
                                  </m:r>
                                  <m:r>
                                    <a:rPr lang="en-US" sz="3200" dirty="0" smtClean="0">
                                      <a:latin typeface="Cambria Math" panose="02040503050406030204" pitchFamily="18" charset="0"/>
                                    </a:rPr>
                                    <m:t>−</m:t>
                                  </m:r>
                                  <m:sSub>
                                    <m:sSubPr>
                                      <m:ctrlPr>
                                        <a:rPr lang="en-US" sz="3200" i="1" dirty="0" smtClean="0">
                                          <a:latin typeface="Cambria Math" panose="02040503050406030204" pitchFamily="18" charset="0"/>
                                        </a:rPr>
                                      </m:ctrlPr>
                                    </m:sSubPr>
                                    <m:e>
                                      <m:r>
                                        <a:rPr lang="en-US" sz="3200" dirty="0" smtClean="0">
                                          <a:latin typeface="Cambria Math" panose="02040503050406030204" pitchFamily="18" charset="0"/>
                                        </a:rPr>
                                        <m:t>𝜇</m:t>
                                      </m:r>
                                    </m:e>
                                    <m:sub>
                                      <m:r>
                                        <a:rPr lang="en-US" sz="3200" dirty="0" smtClean="0">
                                          <a:latin typeface="Cambria Math" panose="02040503050406030204" pitchFamily="18" charset="0"/>
                                        </a:rPr>
                                        <m:t>𝑋</m:t>
                                      </m:r>
                                    </m:sub>
                                  </m:sSub>
                                </m:e>
                              </m:d>
                            </m:e>
                            <m:sup>
                              <m:r>
                                <a:rPr lang="en-US" sz="3200" dirty="0" smtClean="0">
                                  <a:latin typeface="Cambria Math" panose="02040503050406030204" pitchFamily="18" charset="0"/>
                                </a:rPr>
                                <m:t>2</m:t>
                              </m:r>
                            </m:sup>
                          </m:sSup>
                        </m:e>
                      </m:d>
                      <m:r>
                        <a:rPr lang="en-US" sz="3200" b="1" dirty="0">
                          <a:latin typeface="Cambria Math" panose="02040503050406030204" pitchFamily="18" charset="0"/>
                          <a:ea typeface="Cambria Math" panose="02040503050406030204" pitchFamily="18" charset="0"/>
                        </a:rPr>
                        <m:t>=</m:t>
                      </m:r>
                      <m:r>
                        <a:rPr lang="en-US" sz="3200" b="1" i="1" dirty="0">
                          <a:latin typeface="Cambria Math" panose="02040503050406030204" pitchFamily="18" charset="0"/>
                          <a:ea typeface="Cambria Math" panose="02040503050406030204" pitchFamily="18" charset="0"/>
                        </a:rPr>
                        <m:t>𝑬</m:t>
                      </m:r>
                      <m:d>
                        <m:dPr>
                          <m:begChr m:val="["/>
                          <m:endChr m:val="]"/>
                          <m:ctrlPr>
                            <a:rPr lang="en-US" sz="3200" b="1" i="1" dirty="0">
                              <a:latin typeface="Cambria Math" panose="02040503050406030204" pitchFamily="18" charset="0"/>
                              <a:ea typeface="Cambria Math" panose="02040503050406030204" pitchFamily="18" charset="0"/>
                            </a:rPr>
                          </m:ctrlPr>
                        </m:dPr>
                        <m:e>
                          <m:sSup>
                            <m:sSupPr>
                              <m:ctrlPr>
                                <a:rPr lang="en-US" sz="3200" b="1" i="1" dirty="0">
                                  <a:latin typeface="Cambria Math" panose="02040503050406030204" pitchFamily="18" charset="0"/>
                                  <a:ea typeface="Cambria Math" panose="02040503050406030204" pitchFamily="18" charset="0"/>
                                </a:rPr>
                              </m:ctrlPr>
                            </m:sSupPr>
                            <m:e>
                              <m:r>
                                <a:rPr lang="en-US" sz="3200" b="1" i="1" dirty="0">
                                  <a:latin typeface="Cambria Math" panose="02040503050406030204" pitchFamily="18" charset="0"/>
                                  <a:ea typeface="Cambria Math" panose="02040503050406030204" pitchFamily="18" charset="0"/>
                                </a:rPr>
                                <m:t>𝑿</m:t>
                              </m:r>
                            </m:e>
                            <m:sup>
                              <m:r>
                                <a:rPr lang="en-US" sz="3200" b="1" i="1" dirty="0">
                                  <a:latin typeface="Cambria Math" panose="02040503050406030204" pitchFamily="18" charset="0"/>
                                  <a:ea typeface="Cambria Math" panose="02040503050406030204" pitchFamily="18" charset="0"/>
                                </a:rPr>
                                <m:t>𝟐</m:t>
                              </m:r>
                            </m:sup>
                          </m:sSup>
                        </m:e>
                      </m:d>
                      <m:r>
                        <a:rPr lang="en-US" sz="3200" b="1" i="1" dirty="0">
                          <a:latin typeface="Cambria Math" panose="02040503050406030204" pitchFamily="18" charset="0"/>
                          <a:ea typeface="Cambria Math" panose="02040503050406030204" pitchFamily="18" charset="0"/>
                        </a:rPr>
                        <m:t>−</m:t>
                      </m:r>
                      <m:sSubSup>
                        <m:sSubSupPr>
                          <m:ctrlPr>
                            <a:rPr lang="en-US" sz="3200" b="1" i="1" dirty="0">
                              <a:latin typeface="Cambria Math" panose="02040503050406030204" pitchFamily="18" charset="0"/>
                              <a:ea typeface="Cambria Math" panose="02040503050406030204" pitchFamily="18" charset="0"/>
                            </a:rPr>
                          </m:ctrlPr>
                        </m:sSubSupPr>
                        <m:e>
                          <m:r>
                            <a:rPr lang="en-US" sz="3200" b="1" i="1" dirty="0">
                              <a:latin typeface="Cambria Math" panose="02040503050406030204" pitchFamily="18" charset="0"/>
                              <a:ea typeface="Cambria Math" panose="02040503050406030204" pitchFamily="18" charset="0"/>
                            </a:rPr>
                            <m:t>𝝁</m:t>
                          </m:r>
                        </m:e>
                        <m:sub>
                          <m:r>
                            <a:rPr lang="en-US" sz="3200" b="1" i="1" dirty="0">
                              <a:latin typeface="Cambria Math" panose="02040503050406030204" pitchFamily="18" charset="0"/>
                              <a:ea typeface="Cambria Math" panose="02040503050406030204" pitchFamily="18" charset="0"/>
                            </a:rPr>
                            <m:t>𝑿</m:t>
                          </m:r>
                        </m:sub>
                        <m:sup>
                          <m:r>
                            <a:rPr lang="en-US" sz="3200" b="1" i="1" dirty="0">
                              <a:latin typeface="Cambria Math" panose="02040503050406030204" pitchFamily="18" charset="0"/>
                              <a:ea typeface="Cambria Math" panose="02040503050406030204" pitchFamily="18" charset="0"/>
                            </a:rPr>
                            <m:t>𝟐</m:t>
                          </m:r>
                        </m:sup>
                      </m:sSubSup>
                    </m:oMath>
                  </m:oMathPara>
                </a14:m>
                <a:endParaRPr lang="en-US" sz="3200" b="1" dirty="0"/>
              </a:p>
              <a:p>
                <a:pPr/>
                <a:endParaRPr lang="en-NL" sz="3200" dirty="0"/>
              </a:p>
            </p:txBody>
          </p:sp>
        </mc:Choice>
        <mc:Fallback>
          <p:sp>
            <p:nvSpPr>
              <p:cNvPr id="7" name="TextBox 6">
                <a:extLst>
                  <a:ext uri="{FF2B5EF4-FFF2-40B4-BE49-F238E27FC236}">
                    <a16:creationId xmlns:a16="http://schemas.microsoft.com/office/drawing/2014/main" id="{5D25014C-FF85-805B-E169-90018E191DAE}"/>
                  </a:ext>
                </a:extLst>
              </p:cNvPr>
              <p:cNvSpPr txBox="1">
                <a:spLocks noRot="1" noChangeAspect="1" noMove="1" noResize="1" noEditPoints="1" noAdjustHandles="1" noChangeArrowheads="1" noChangeShapeType="1" noTextEdit="1"/>
              </p:cNvSpPr>
              <p:nvPr/>
            </p:nvSpPr>
            <p:spPr>
              <a:xfrm>
                <a:off x="2291524" y="3802289"/>
                <a:ext cx="7479350" cy="1140762"/>
              </a:xfrm>
              <a:prstGeom prst="rect">
                <a:avLst/>
              </a:prstGeom>
              <a:blipFill>
                <a:blip r:embed="rId2"/>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9E12951E-FC58-5F2D-60FE-A5E4DCBE56F9}"/>
                  </a:ext>
                </a:extLst>
              </p:cNvPr>
              <p:cNvSpPr txBox="1"/>
              <p:nvPr/>
            </p:nvSpPr>
            <p:spPr>
              <a:xfrm>
                <a:off x="8454360" y="5224986"/>
                <a:ext cx="6094070" cy="523220"/>
              </a:xfrm>
              <a:prstGeom prst="rect">
                <a:avLst/>
              </a:prstGeom>
              <a:noFill/>
            </p:spPr>
            <p:txBody>
              <a:bodyPr wrap="square">
                <a:spAutoFit/>
              </a:bodyPr>
              <a:lstStyle/>
              <a:p>
                <a:r>
                  <a:rPr lang="en-US" sz="2800" baseline="0" dirty="0"/>
                  <a:t>with </a:t>
                </a:r>
                <a14:m>
                  <m:oMath xmlns:m="http://schemas.openxmlformats.org/officeDocument/2006/math">
                    <m:sSub>
                      <m:sSubPr>
                        <m:ctrlPr>
                          <a:rPr lang="en-US" sz="2800" b="0" i="1" dirty="0" smtClean="0">
                            <a:latin typeface="Cambria Math" panose="02040503050406030204" pitchFamily="18" charset="0"/>
                            <a:ea typeface="Cambria Math" panose="02040503050406030204" pitchFamily="18" charset="0"/>
                          </a:rPr>
                        </m:ctrlPr>
                      </m:sSubPr>
                      <m:e>
                        <m:r>
                          <a:rPr lang="en-US" sz="2800" b="0" i="1" dirty="0" smtClean="0">
                            <a:latin typeface="Cambria Math" panose="02040503050406030204" pitchFamily="18" charset="0"/>
                            <a:ea typeface="Cambria Math" panose="02040503050406030204" pitchFamily="18" charset="0"/>
                          </a:rPr>
                          <m:t>𝜇</m:t>
                        </m:r>
                      </m:e>
                      <m:sub>
                        <m:r>
                          <a:rPr lang="en-US" sz="2800" b="0" i="1" dirty="0" smtClean="0">
                            <a:latin typeface="Cambria Math" panose="02040503050406030204" pitchFamily="18" charset="0"/>
                            <a:ea typeface="Cambria Math" panose="02040503050406030204" pitchFamily="18" charset="0"/>
                          </a:rPr>
                          <m:t>𝑋</m:t>
                        </m:r>
                      </m:sub>
                    </m:sSub>
                    <m:r>
                      <a:rPr lang="en-US" sz="2800" b="0" i="1" dirty="0" smtClean="0">
                        <a:latin typeface="Cambria Math" panose="02040503050406030204" pitchFamily="18" charset="0"/>
                        <a:ea typeface="Cambria Math" panose="02040503050406030204" pitchFamily="18" charset="0"/>
                      </a:rPr>
                      <m:t>=</m:t>
                    </m:r>
                    <m:r>
                      <a:rPr lang="en-US" sz="2800" b="0" i="1" dirty="0" smtClean="0">
                        <a:latin typeface="Cambria Math" panose="02040503050406030204" pitchFamily="18" charset="0"/>
                        <a:ea typeface="Cambria Math" panose="02040503050406030204" pitchFamily="18" charset="0"/>
                      </a:rPr>
                      <m:t>𝐸</m:t>
                    </m:r>
                    <m:d>
                      <m:dPr>
                        <m:begChr m:val="["/>
                        <m:endChr m:val="]"/>
                        <m:ctrlPr>
                          <a:rPr lang="en-US" sz="2800" b="0" i="1" dirty="0" smtClean="0">
                            <a:latin typeface="Cambria Math" panose="02040503050406030204" pitchFamily="18" charset="0"/>
                            <a:ea typeface="Cambria Math" panose="02040503050406030204" pitchFamily="18" charset="0"/>
                          </a:rPr>
                        </m:ctrlPr>
                      </m:dPr>
                      <m:e>
                        <m:r>
                          <a:rPr lang="en-US" sz="2800" b="0" i="1" dirty="0" smtClean="0">
                            <a:latin typeface="Cambria Math" panose="02040503050406030204" pitchFamily="18" charset="0"/>
                            <a:ea typeface="Cambria Math" panose="02040503050406030204" pitchFamily="18" charset="0"/>
                          </a:rPr>
                          <m:t>𝑋</m:t>
                        </m:r>
                      </m:e>
                    </m:d>
                  </m:oMath>
                </a14:m>
                <a:endParaRPr lang="en-NL" sz="2800" dirty="0"/>
              </a:p>
            </p:txBody>
          </p:sp>
        </mc:Choice>
        <mc:Fallback>
          <p:sp>
            <p:nvSpPr>
              <p:cNvPr id="9" name="TextBox 8">
                <a:extLst>
                  <a:ext uri="{FF2B5EF4-FFF2-40B4-BE49-F238E27FC236}">
                    <a16:creationId xmlns:a16="http://schemas.microsoft.com/office/drawing/2014/main" id="{9E12951E-FC58-5F2D-60FE-A5E4DCBE56F9}"/>
                  </a:ext>
                </a:extLst>
              </p:cNvPr>
              <p:cNvSpPr txBox="1">
                <a:spLocks noRot="1" noChangeAspect="1" noMove="1" noResize="1" noEditPoints="1" noAdjustHandles="1" noChangeArrowheads="1" noChangeShapeType="1" noTextEdit="1"/>
              </p:cNvSpPr>
              <p:nvPr/>
            </p:nvSpPr>
            <p:spPr>
              <a:xfrm>
                <a:off x="8454360" y="5224986"/>
                <a:ext cx="6094070" cy="523220"/>
              </a:xfrm>
              <a:prstGeom prst="rect">
                <a:avLst/>
              </a:prstGeom>
              <a:blipFill>
                <a:blip r:embed="rId3"/>
                <a:stretch>
                  <a:fillRect l="-2079" t="-11905" b="-30952"/>
                </a:stretch>
              </a:blipFill>
            </p:spPr>
            <p:txBody>
              <a:bodyPr/>
              <a:lstStyle/>
              <a:p>
                <a:r>
                  <a:rPr lang="en-NL">
                    <a:noFill/>
                  </a:rPr>
                  <a:t> </a:t>
                </a:r>
              </a:p>
            </p:txBody>
          </p:sp>
        </mc:Fallback>
      </mc:AlternateContent>
      <p:sp>
        <p:nvSpPr>
          <p:cNvPr id="12" name="Title 1">
            <a:extLst>
              <a:ext uri="{FF2B5EF4-FFF2-40B4-BE49-F238E27FC236}">
                <a16:creationId xmlns:a16="http://schemas.microsoft.com/office/drawing/2014/main" id="{3CD53310-90E2-1ED1-B978-2EF534760202}"/>
              </a:ext>
            </a:extLst>
          </p:cNvPr>
          <p:cNvSpPr txBox="1">
            <a:spLocks/>
          </p:cNvSpPr>
          <p:nvPr/>
        </p:nvSpPr>
        <p:spPr>
          <a:xfrm>
            <a:off x="632401" y="566660"/>
            <a:ext cx="11102399" cy="756000"/>
          </a:xfrm>
          <a:prstGeom prst="rect">
            <a:avLst/>
          </a:prstGeom>
        </p:spPr>
        <p:txBody>
          <a:bodyPr vert="horz" lIns="0" tIns="0" rIns="0" bIns="0" rtlCol="0" anchor="t" anchorCtr="0">
            <a:normAutofit/>
          </a:bodyPr>
          <a:lstStyle>
            <a:lvl1pPr algn="l" defTabSz="609585" rtl="0" eaLnBrk="1" latinLnBrk="0" hangingPunct="1">
              <a:spcBef>
                <a:spcPct val="0"/>
              </a:spcBef>
              <a:buNone/>
              <a:defRPr sz="4267" b="1" kern="1200">
                <a:solidFill>
                  <a:schemeClr val="tx2"/>
                </a:solidFill>
                <a:latin typeface="+mj-lt"/>
                <a:ea typeface="+mj-ea"/>
                <a:cs typeface="Verdana"/>
              </a:defRPr>
            </a:lvl1pPr>
          </a:lstStyle>
          <a:p>
            <a:r>
              <a:rPr lang="en-NL">
                <a:solidFill>
                  <a:schemeClr val="accent1"/>
                </a:solidFill>
              </a:rPr>
              <a:t>Recap</a:t>
            </a:r>
            <a:endParaRPr lang="en-NL" dirty="0">
              <a:solidFill>
                <a:schemeClr val="accent1"/>
              </a:solidFill>
            </a:endParaRPr>
          </a:p>
        </p:txBody>
      </p:sp>
    </p:spTree>
    <p:extLst>
      <p:ext uri="{BB962C8B-B14F-4D97-AF65-F5344CB8AC3E}">
        <p14:creationId xmlns:p14="http://schemas.microsoft.com/office/powerpoint/2010/main" val="933345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2E980-1B4D-9627-298E-D1E060F5EF73}"/>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73A759C8-7833-A594-CB38-8A8D10B6CAE6}"/>
              </a:ext>
            </a:extLst>
          </p:cNvPr>
          <p:cNvSpPr/>
          <p:nvPr/>
        </p:nvSpPr>
        <p:spPr>
          <a:xfrm>
            <a:off x="3608040" y="1088289"/>
            <a:ext cx="4846320" cy="224536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
        <p:nvSpPr>
          <p:cNvPr id="2" name="Title 1">
            <a:extLst>
              <a:ext uri="{FF2B5EF4-FFF2-40B4-BE49-F238E27FC236}">
                <a16:creationId xmlns:a16="http://schemas.microsoft.com/office/drawing/2014/main" id="{CAEC3507-27B2-7DAF-B90D-DA9A2CEC7F18}"/>
              </a:ext>
            </a:extLst>
          </p:cNvPr>
          <p:cNvSpPr>
            <a:spLocks noGrp="1"/>
          </p:cNvSpPr>
          <p:nvPr>
            <p:ph type="title"/>
          </p:nvPr>
        </p:nvSpPr>
        <p:spPr/>
        <p:txBody>
          <a:bodyPr/>
          <a:lstStyle/>
          <a:p>
            <a:r>
              <a:rPr lang="en-NL" dirty="0">
                <a:solidFill>
                  <a:schemeClr val="accent1"/>
                </a:solidFill>
              </a:rPr>
              <a:t>Recap</a:t>
            </a:r>
          </a:p>
        </p:txBody>
      </p:sp>
      <p:sp>
        <p:nvSpPr>
          <p:cNvPr id="3" name="Content Placeholder 2">
            <a:extLst>
              <a:ext uri="{FF2B5EF4-FFF2-40B4-BE49-F238E27FC236}">
                <a16:creationId xmlns:a16="http://schemas.microsoft.com/office/drawing/2014/main" id="{62D0FBE6-73CF-5A9B-8234-000E0119B2D4}"/>
              </a:ext>
            </a:extLst>
          </p:cNvPr>
          <p:cNvSpPr>
            <a:spLocks noGrp="1"/>
          </p:cNvSpPr>
          <p:nvPr>
            <p:ph idx="1"/>
          </p:nvPr>
        </p:nvSpPr>
        <p:spPr>
          <a:xfrm>
            <a:off x="480000" y="572807"/>
            <a:ext cx="11102399" cy="4445149"/>
          </a:xfrm>
        </p:spPr>
        <p:txBody>
          <a:bodyPr/>
          <a:lstStyle/>
          <a:p>
            <a:pPr marL="0" indent="0">
              <a:buNone/>
            </a:pPr>
            <a:r>
              <a:rPr lang="en-NL" b="1" dirty="0"/>
              <a:t>					</a:t>
            </a:r>
          </a:p>
          <a:p>
            <a:pPr marL="0" indent="0" algn="ctr">
              <a:buNone/>
            </a:pPr>
            <a:r>
              <a:rPr lang="en-NL" b="1" dirty="0">
                <a:solidFill>
                  <a:schemeClr val="bg1">
                    <a:lumMod val="75000"/>
                  </a:schemeClr>
                </a:solidFill>
              </a:rPr>
              <a:t>Expectation, E[X]</a:t>
            </a:r>
          </a:p>
          <a:p>
            <a:pPr marL="0" indent="0" algn="ctr">
              <a:buNone/>
            </a:pPr>
            <a:r>
              <a:rPr lang="en-NL" b="1" dirty="0">
                <a:solidFill>
                  <a:schemeClr val="bg1">
                    <a:lumMod val="75000"/>
                  </a:schemeClr>
                </a:solidFill>
              </a:rPr>
              <a:t>Variance, var(X)</a:t>
            </a:r>
          </a:p>
          <a:p>
            <a:pPr marL="0" indent="0" algn="ctr">
              <a:buNone/>
            </a:pPr>
            <a:r>
              <a:rPr lang="en-NL" b="1" dirty="0"/>
              <a:t>Covariance, cov(X)</a:t>
            </a:r>
          </a:p>
          <a:p>
            <a:endParaRPr lang="en-NL" dirty="0">
              <a:solidFill>
                <a:schemeClr val="accent1"/>
              </a:solidFill>
            </a:endParaRPr>
          </a:p>
          <a:p>
            <a:endParaRPr lang="en-NL" dirty="0">
              <a:solidFill>
                <a:schemeClr val="accent1"/>
              </a:solidFill>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261DB3B7-5CEB-48D2-B3D6-557C46105B5D}"/>
                  </a:ext>
                </a:extLst>
              </p:cNvPr>
              <p:cNvSpPr txBox="1"/>
              <p:nvPr/>
            </p:nvSpPr>
            <p:spPr>
              <a:xfrm>
                <a:off x="3048965" y="3849131"/>
                <a:ext cx="6094070" cy="1077218"/>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sz="3200" b="0" i="1" u="none" dirty="0" smtClean="0">
                          <a:latin typeface="Cambria Math" panose="02040503050406030204" pitchFamily="18" charset="0"/>
                        </a:rPr>
                        <m:t>𝐶𝑜𝑣</m:t>
                      </m:r>
                      <m:d>
                        <m:dPr>
                          <m:ctrlPr>
                            <a:rPr lang="en-US" sz="3200" i="1" u="none" dirty="0" smtClean="0">
                              <a:latin typeface="Cambria Math" panose="02040503050406030204" pitchFamily="18" charset="0"/>
                            </a:rPr>
                          </m:ctrlPr>
                        </m:dPr>
                        <m:e>
                          <m:r>
                            <a:rPr lang="en-US" sz="3200" u="none" dirty="0" smtClean="0">
                              <a:latin typeface="Cambria Math" panose="02040503050406030204" pitchFamily="18" charset="0"/>
                            </a:rPr>
                            <m:t>𝑋</m:t>
                          </m:r>
                          <m:r>
                            <a:rPr lang="en-US" sz="3200" b="0" i="1" u="none" dirty="0" smtClean="0">
                              <a:latin typeface="Cambria Math" panose="02040503050406030204" pitchFamily="18" charset="0"/>
                            </a:rPr>
                            <m:t>,</m:t>
                          </m:r>
                          <m:r>
                            <a:rPr lang="en-US" sz="3200" b="0" i="1" u="none" dirty="0" smtClean="0">
                              <a:latin typeface="Cambria Math" panose="02040503050406030204" pitchFamily="18" charset="0"/>
                            </a:rPr>
                            <m:t>𝑌</m:t>
                          </m:r>
                        </m:e>
                      </m:d>
                      <m:r>
                        <a:rPr lang="en-US" sz="3200" u="none" dirty="0" smtClean="0">
                          <a:latin typeface="Cambria Math" panose="02040503050406030204" pitchFamily="18" charset="0"/>
                        </a:rPr>
                        <m:t>=</m:t>
                      </m:r>
                      <m:r>
                        <a:rPr lang="en-US" sz="3200" b="1" i="1" dirty="0">
                          <a:latin typeface="Cambria Math" panose="02040503050406030204" pitchFamily="18" charset="0"/>
                        </a:rPr>
                        <m:t>𝐄</m:t>
                      </m:r>
                      <m:d>
                        <m:dPr>
                          <m:begChr m:val="["/>
                          <m:endChr m:val="]"/>
                          <m:ctrlPr>
                            <a:rPr lang="en-US" sz="3200" b="1" i="1" dirty="0">
                              <a:latin typeface="Cambria Math" panose="02040503050406030204" pitchFamily="18" charset="0"/>
                            </a:rPr>
                          </m:ctrlPr>
                        </m:dPr>
                        <m:e>
                          <m:r>
                            <a:rPr lang="en-US" sz="3200" b="1" i="1" dirty="0">
                              <a:latin typeface="Cambria Math" panose="02040503050406030204" pitchFamily="18" charset="0"/>
                            </a:rPr>
                            <m:t>𝑿𝒀</m:t>
                          </m:r>
                        </m:e>
                      </m:d>
                      <m:r>
                        <a:rPr lang="en-US" sz="3200" b="1" i="1" dirty="0">
                          <a:latin typeface="Cambria Math" panose="02040503050406030204" pitchFamily="18" charset="0"/>
                        </a:rPr>
                        <m:t>−</m:t>
                      </m:r>
                      <m:sSub>
                        <m:sSubPr>
                          <m:ctrlPr>
                            <a:rPr lang="en-US" sz="3200" b="1" i="1" dirty="0">
                              <a:latin typeface="Cambria Math" panose="02040503050406030204" pitchFamily="18" charset="0"/>
                            </a:rPr>
                          </m:ctrlPr>
                        </m:sSubPr>
                        <m:e>
                          <m:r>
                            <a:rPr lang="en-US" sz="3200" b="1" i="1" dirty="0">
                              <a:latin typeface="Cambria Math" panose="02040503050406030204" pitchFamily="18" charset="0"/>
                            </a:rPr>
                            <m:t>𝝁</m:t>
                          </m:r>
                        </m:e>
                        <m:sub>
                          <m:r>
                            <a:rPr lang="en-US" sz="3200" b="1" i="1" dirty="0">
                              <a:latin typeface="Cambria Math" panose="02040503050406030204" pitchFamily="18" charset="0"/>
                            </a:rPr>
                            <m:t>𝑿</m:t>
                          </m:r>
                        </m:sub>
                      </m:sSub>
                      <m:sSub>
                        <m:sSubPr>
                          <m:ctrlPr>
                            <a:rPr lang="en-US" sz="3200" b="1" i="1" dirty="0">
                              <a:latin typeface="Cambria Math" panose="02040503050406030204" pitchFamily="18" charset="0"/>
                            </a:rPr>
                          </m:ctrlPr>
                        </m:sSubPr>
                        <m:e>
                          <m:r>
                            <a:rPr lang="en-US" sz="3200" b="1" i="1" dirty="0">
                              <a:latin typeface="Cambria Math" panose="02040503050406030204" pitchFamily="18" charset="0"/>
                            </a:rPr>
                            <m:t>𝝁</m:t>
                          </m:r>
                        </m:e>
                        <m:sub>
                          <m:r>
                            <a:rPr lang="en-US" sz="3200" b="1" i="1" dirty="0">
                              <a:latin typeface="Cambria Math" panose="02040503050406030204" pitchFamily="18" charset="0"/>
                            </a:rPr>
                            <m:t>𝒀</m:t>
                          </m:r>
                        </m:sub>
                      </m:sSub>
                    </m:oMath>
                  </m:oMathPara>
                </a14:m>
                <a:endParaRPr lang="en-NL" sz="3200" b="1" dirty="0"/>
              </a:p>
              <a:p>
                <a:pPr/>
                <a:endParaRPr lang="en-NL" sz="3200" dirty="0"/>
              </a:p>
            </p:txBody>
          </p:sp>
        </mc:Choice>
        <mc:Fallback>
          <p:sp>
            <p:nvSpPr>
              <p:cNvPr id="6" name="TextBox 5">
                <a:extLst>
                  <a:ext uri="{FF2B5EF4-FFF2-40B4-BE49-F238E27FC236}">
                    <a16:creationId xmlns:a16="http://schemas.microsoft.com/office/drawing/2014/main" id="{261DB3B7-5CEB-48D2-B3D6-557C46105B5D}"/>
                  </a:ext>
                </a:extLst>
              </p:cNvPr>
              <p:cNvSpPr txBox="1">
                <a:spLocks noRot="1" noChangeAspect="1" noMove="1" noResize="1" noEditPoints="1" noAdjustHandles="1" noChangeArrowheads="1" noChangeShapeType="1" noTextEdit="1"/>
              </p:cNvSpPr>
              <p:nvPr/>
            </p:nvSpPr>
            <p:spPr>
              <a:xfrm>
                <a:off x="3048965" y="3849131"/>
                <a:ext cx="6094070" cy="1077218"/>
              </a:xfrm>
              <a:prstGeom prst="rect">
                <a:avLst/>
              </a:prstGeom>
              <a:blipFill>
                <a:blip r:embed="rId2"/>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5443BC78-3CB3-49C6-7DEE-141F9C3DEF8D}"/>
                  </a:ext>
                </a:extLst>
              </p:cNvPr>
              <p:cNvSpPr txBox="1"/>
              <p:nvPr/>
            </p:nvSpPr>
            <p:spPr>
              <a:xfrm>
                <a:off x="8454360" y="5224986"/>
                <a:ext cx="6094070" cy="523220"/>
              </a:xfrm>
              <a:prstGeom prst="rect">
                <a:avLst/>
              </a:prstGeom>
              <a:noFill/>
            </p:spPr>
            <p:txBody>
              <a:bodyPr wrap="square">
                <a:spAutoFit/>
              </a:bodyPr>
              <a:lstStyle/>
              <a:p>
                <a:r>
                  <a:rPr lang="en-US" sz="2800" baseline="0" dirty="0"/>
                  <a:t>with </a:t>
                </a:r>
                <a14:m>
                  <m:oMath xmlns:m="http://schemas.openxmlformats.org/officeDocument/2006/math">
                    <m:sSub>
                      <m:sSubPr>
                        <m:ctrlPr>
                          <a:rPr lang="en-US" sz="2800" b="0" i="1" dirty="0" smtClean="0">
                            <a:latin typeface="Cambria Math" panose="02040503050406030204" pitchFamily="18" charset="0"/>
                            <a:ea typeface="Cambria Math" panose="02040503050406030204" pitchFamily="18" charset="0"/>
                          </a:rPr>
                        </m:ctrlPr>
                      </m:sSubPr>
                      <m:e>
                        <m:r>
                          <a:rPr lang="en-US" sz="2800" b="0" i="1" dirty="0" smtClean="0">
                            <a:latin typeface="Cambria Math" panose="02040503050406030204" pitchFamily="18" charset="0"/>
                            <a:ea typeface="Cambria Math" panose="02040503050406030204" pitchFamily="18" charset="0"/>
                          </a:rPr>
                          <m:t>𝜇</m:t>
                        </m:r>
                      </m:e>
                      <m:sub>
                        <m:r>
                          <a:rPr lang="en-US" sz="2800" b="0" i="1" dirty="0" smtClean="0">
                            <a:latin typeface="Cambria Math" panose="02040503050406030204" pitchFamily="18" charset="0"/>
                            <a:ea typeface="Cambria Math" panose="02040503050406030204" pitchFamily="18" charset="0"/>
                          </a:rPr>
                          <m:t>𝑋</m:t>
                        </m:r>
                      </m:sub>
                    </m:sSub>
                    <m:r>
                      <a:rPr lang="en-US" sz="2800" b="0" i="1" dirty="0" smtClean="0">
                        <a:latin typeface="Cambria Math" panose="02040503050406030204" pitchFamily="18" charset="0"/>
                        <a:ea typeface="Cambria Math" panose="02040503050406030204" pitchFamily="18" charset="0"/>
                      </a:rPr>
                      <m:t>=</m:t>
                    </m:r>
                    <m:r>
                      <a:rPr lang="en-US" sz="2800" b="0" i="1" dirty="0" smtClean="0">
                        <a:latin typeface="Cambria Math" panose="02040503050406030204" pitchFamily="18" charset="0"/>
                        <a:ea typeface="Cambria Math" panose="02040503050406030204" pitchFamily="18" charset="0"/>
                      </a:rPr>
                      <m:t>𝐸</m:t>
                    </m:r>
                    <m:d>
                      <m:dPr>
                        <m:begChr m:val="["/>
                        <m:endChr m:val="]"/>
                        <m:ctrlPr>
                          <a:rPr lang="en-US" sz="2800" b="0" i="1" dirty="0" smtClean="0">
                            <a:latin typeface="Cambria Math" panose="02040503050406030204" pitchFamily="18" charset="0"/>
                            <a:ea typeface="Cambria Math" panose="02040503050406030204" pitchFamily="18" charset="0"/>
                          </a:rPr>
                        </m:ctrlPr>
                      </m:dPr>
                      <m:e>
                        <m:r>
                          <a:rPr lang="en-US" sz="2800" b="0" i="1" dirty="0" smtClean="0">
                            <a:latin typeface="Cambria Math" panose="02040503050406030204" pitchFamily="18" charset="0"/>
                            <a:ea typeface="Cambria Math" panose="02040503050406030204" pitchFamily="18" charset="0"/>
                          </a:rPr>
                          <m:t>𝑋</m:t>
                        </m:r>
                      </m:e>
                    </m:d>
                  </m:oMath>
                </a14:m>
                <a:endParaRPr lang="en-NL" sz="2800" dirty="0"/>
              </a:p>
            </p:txBody>
          </p:sp>
        </mc:Choice>
        <mc:Fallback>
          <p:sp>
            <p:nvSpPr>
              <p:cNvPr id="8" name="TextBox 7">
                <a:extLst>
                  <a:ext uri="{FF2B5EF4-FFF2-40B4-BE49-F238E27FC236}">
                    <a16:creationId xmlns:a16="http://schemas.microsoft.com/office/drawing/2014/main" id="{5443BC78-3CB3-49C6-7DEE-141F9C3DEF8D}"/>
                  </a:ext>
                </a:extLst>
              </p:cNvPr>
              <p:cNvSpPr txBox="1">
                <a:spLocks noRot="1" noChangeAspect="1" noMove="1" noResize="1" noEditPoints="1" noAdjustHandles="1" noChangeArrowheads="1" noChangeShapeType="1" noTextEdit="1"/>
              </p:cNvSpPr>
              <p:nvPr/>
            </p:nvSpPr>
            <p:spPr>
              <a:xfrm>
                <a:off x="8454360" y="5224986"/>
                <a:ext cx="6094070" cy="523220"/>
              </a:xfrm>
              <a:prstGeom prst="rect">
                <a:avLst/>
              </a:prstGeom>
              <a:blipFill>
                <a:blip r:embed="rId3"/>
                <a:stretch>
                  <a:fillRect l="-2079" t="-11905" b="-30952"/>
                </a:stretch>
              </a:blipFill>
            </p:spPr>
            <p:txBody>
              <a:bodyPr/>
              <a:lstStyle/>
              <a:p>
                <a:r>
                  <a:rPr lang="en-NL">
                    <a:noFill/>
                  </a:rPr>
                  <a:t> </a:t>
                </a:r>
              </a:p>
            </p:txBody>
          </p:sp>
        </mc:Fallback>
      </mc:AlternateContent>
    </p:spTree>
    <p:extLst>
      <p:ext uri="{BB962C8B-B14F-4D97-AF65-F5344CB8AC3E}">
        <p14:creationId xmlns:p14="http://schemas.microsoft.com/office/powerpoint/2010/main" val="2790763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6AC81-4380-AAB7-747F-EEC0CD6979BB}"/>
              </a:ext>
            </a:extLst>
          </p:cNvPr>
          <p:cNvSpPr>
            <a:spLocks noGrp="1"/>
          </p:cNvSpPr>
          <p:nvPr>
            <p:ph type="title"/>
          </p:nvPr>
        </p:nvSpPr>
        <p:spPr/>
        <p:txBody>
          <a:bodyPr/>
          <a:lstStyle/>
          <a:p>
            <a:r>
              <a:rPr lang="en-NL" dirty="0"/>
              <a:t>Recap</a:t>
            </a:r>
          </a:p>
        </p:txBody>
      </p:sp>
      <p:sp>
        <p:nvSpPr>
          <p:cNvPr id="4" name="Rounded Rectangle 3">
            <a:extLst>
              <a:ext uri="{FF2B5EF4-FFF2-40B4-BE49-F238E27FC236}">
                <a16:creationId xmlns:a16="http://schemas.microsoft.com/office/drawing/2014/main" id="{8915B137-FD9A-F807-7E5A-A5453C480550}"/>
              </a:ext>
            </a:extLst>
          </p:cNvPr>
          <p:cNvSpPr/>
          <p:nvPr/>
        </p:nvSpPr>
        <p:spPr>
          <a:xfrm>
            <a:off x="640080" y="1270000"/>
            <a:ext cx="11104880" cy="7518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NL" sz="2800" b="1" dirty="0"/>
              <a:t>Bernouilli</a:t>
            </a:r>
            <a:r>
              <a:rPr lang="en-NL" sz="2800" dirty="0"/>
              <a:t>: </a:t>
            </a:r>
          </a:p>
          <a:p>
            <a:pPr algn="ctr"/>
            <a:r>
              <a:rPr lang="en-GB" dirty="0"/>
              <a:t>"I just wrote a risky script. I press run. Does my laptop crash?"</a:t>
            </a:r>
            <a:endParaRPr lang="en-NL" dirty="0"/>
          </a:p>
        </p:txBody>
      </p:sp>
      <p:sp>
        <p:nvSpPr>
          <p:cNvPr id="5" name="Rounded Rectangle 4">
            <a:extLst>
              <a:ext uri="{FF2B5EF4-FFF2-40B4-BE49-F238E27FC236}">
                <a16:creationId xmlns:a16="http://schemas.microsoft.com/office/drawing/2014/main" id="{3E1D8F71-6641-D1EE-1657-2496C57FE97B}"/>
              </a:ext>
            </a:extLst>
          </p:cNvPr>
          <p:cNvSpPr/>
          <p:nvPr/>
        </p:nvSpPr>
        <p:spPr>
          <a:xfrm>
            <a:off x="640080" y="2318266"/>
            <a:ext cx="11104880" cy="75184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NL" sz="2800" b="1" dirty="0"/>
              <a:t>Binomial: </a:t>
            </a:r>
          </a:p>
          <a:p>
            <a:pPr algn="ctr"/>
            <a:r>
              <a:rPr lang="en-GB" dirty="0"/>
              <a:t>"Was that crash a fluke? I’m going to run the script 50 times in a row to be sure."</a:t>
            </a:r>
            <a:r>
              <a:rPr lang="en-NL" b="1" dirty="0"/>
              <a:t> </a:t>
            </a:r>
            <a:endParaRPr lang="en-NL" dirty="0"/>
          </a:p>
        </p:txBody>
      </p:sp>
      <p:sp>
        <p:nvSpPr>
          <p:cNvPr id="6" name="TextBox 5">
            <a:extLst>
              <a:ext uri="{FF2B5EF4-FFF2-40B4-BE49-F238E27FC236}">
                <a16:creationId xmlns:a16="http://schemas.microsoft.com/office/drawing/2014/main" id="{4DD4D0E5-F378-DA02-774A-78CD5DCFCC70}"/>
              </a:ext>
            </a:extLst>
          </p:cNvPr>
          <p:cNvSpPr txBox="1"/>
          <p:nvPr/>
        </p:nvSpPr>
        <p:spPr>
          <a:xfrm rot="20051260">
            <a:off x="28215" y="1330192"/>
            <a:ext cx="1986441" cy="584775"/>
          </a:xfrm>
          <a:prstGeom prst="rect">
            <a:avLst/>
          </a:prstGeom>
          <a:noFill/>
        </p:spPr>
        <p:txBody>
          <a:bodyPr wrap="none" rtlCol="0">
            <a:spAutoFit/>
          </a:bodyPr>
          <a:lstStyle/>
          <a:p>
            <a:r>
              <a:rPr lang="en-NL" sz="3200" b="1" dirty="0">
                <a:solidFill>
                  <a:schemeClr val="accent3"/>
                </a:solidFill>
              </a:rPr>
              <a:t>Single trial</a:t>
            </a:r>
          </a:p>
        </p:txBody>
      </p:sp>
      <p:sp>
        <p:nvSpPr>
          <p:cNvPr id="7" name="TextBox 6">
            <a:extLst>
              <a:ext uri="{FF2B5EF4-FFF2-40B4-BE49-F238E27FC236}">
                <a16:creationId xmlns:a16="http://schemas.microsoft.com/office/drawing/2014/main" id="{35351A35-FE5F-EDD3-0CDC-82EA3DE231ED}"/>
              </a:ext>
            </a:extLst>
          </p:cNvPr>
          <p:cNvSpPr txBox="1"/>
          <p:nvPr/>
        </p:nvSpPr>
        <p:spPr>
          <a:xfrm rot="20051260">
            <a:off x="110620" y="2209785"/>
            <a:ext cx="1635384" cy="1077218"/>
          </a:xfrm>
          <a:prstGeom prst="rect">
            <a:avLst/>
          </a:prstGeom>
          <a:noFill/>
        </p:spPr>
        <p:txBody>
          <a:bodyPr wrap="none" rtlCol="0">
            <a:spAutoFit/>
          </a:bodyPr>
          <a:lstStyle/>
          <a:p>
            <a:pPr algn="ctr"/>
            <a:r>
              <a:rPr lang="en-NL" sz="3200" b="1" dirty="0">
                <a:solidFill>
                  <a:schemeClr val="accent3"/>
                </a:solidFill>
              </a:rPr>
              <a:t>Multiple</a:t>
            </a:r>
          </a:p>
          <a:p>
            <a:pPr algn="ctr"/>
            <a:r>
              <a:rPr lang="en-NL" sz="3200" b="1" dirty="0">
                <a:solidFill>
                  <a:schemeClr val="accent3"/>
                </a:solidFill>
              </a:rPr>
              <a:t> trials</a:t>
            </a:r>
          </a:p>
        </p:txBody>
      </p:sp>
      <p:pic>
        <p:nvPicPr>
          <p:cNvPr id="8" name="Picture 7" descr="A graph with blue rectangular bars&#10;&#10;AI-generated content may be incorrect.">
            <a:extLst>
              <a:ext uri="{FF2B5EF4-FFF2-40B4-BE49-F238E27FC236}">
                <a16:creationId xmlns:a16="http://schemas.microsoft.com/office/drawing/2014/main" id="{CD9FA4B4-C359-DA3B-FCEA-5EE41086AF2C}"/>
              </a:ext>
            </a:extLst>
          </p:cNvPr>
          <p:cNvPicPr>
            <a:picLocks noChangeAspect="1"/>
          </p:cNvPicPr>
          <p:nvPr/>
        </p:nvPicPr>
        <p:blipFill>
          <a:blip r:embed="rId3"/>
          <a:stretch>
            <a:fillRect/>
          </a:stretch>
        </p:blipFill>
        <p:spPr>
          <a:xfrm>
            <a:off x="480001" y="3366532"/>
            <a:ext cx="5278539" cy="2879202"/>
          </a:xfrm>
          <a:prstGeom prst="rect">
            <a:avLst/>
          </a:prstGeom>
        </p:spPr>
      </p:pic>
      <p:pic>
        <p:nvPicPr>
          <p:cNvPr id="9" name="Picture 8" descr="A graph of a number of crashes&#10;&#10;AI-generated content may be incorrect.">
            <a:extLst>
              <a:ext uri="{FF2B5EF4-FFF2-40B4-BE49-F238E27FC236}">
                <a16:creationId xmlns:a16="http://schemas.microsoft.com/office/drawing/2014/main" id="{AA1B67CC-2B70-2F5F-997D-904DB659634B}"/>
              </a:ext>
            </a:extLst>
          </p:cNvPr>
          <p:cNvPicPr>
            <a:picLocks noChangeAspect="1"/>
          </p:cNvPicPr>
          <p:nvPr/>
        </p:nvPicPr>
        <p:blipFill>
          <a:blip r:embed="rId4"/>
          <a:stretch>
            <a:fillRect/>
          </a:stretch>
        </p:blipFill>
        <p:spPr>
          <a:xfrm>
            <a:off x="6433460" y="3396559"/>
            <a:ext cx="5278539" cy="2879203"/>
          </a:xfrm>
          <a:prstGeom prst="rect">
            <a:avLst/>
          </a:prstGeom>
        </p:spPr>
      </p:pic>
    </p:spTree>
    <p:extLst>
      <p:ext uri="{BB962C8B-B14F-4D97-AF65-F5344CB8AC3E}">
        <p14:creationId xmlns:p14="http://schemas.microsoft.com/office/powerpoint/2010/main" val="2662791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50962-F865-03D7-DC11-921A26578518}"/>
              </a:ext>
            </a:extLst>
          </p:cNvPr>
          <p:cNvSpPr>
            <a:spLocks noGrp="1"/>
          </p:cNvSpPr>
          <p:nvPr>
            <p:ph type="title"/>
          </p:nvPr>
        </p:nvSpPr>
        <p:spPr/>
        <p:txBody>
          <a:bodyPr/>
          <a:lstStyle/>
          <a:p>
            <a:r>
              <a:rPr lang="en-NL" dirty="0"/>
              <a:t>Recap</a:t>
            </a:r>
          </a:p>
        </p:txBody>
      </p:sp>
      <p:sp>
        <p:nvSpPr>
          <p:cNvPr id="4" name="Content Placeholder 2">
            <a:extLst>
              <a:ext uri="{FF2B5EF4-FFF2-40B4-BE49-F238E27FC236}">
                <a16:creationId xmlns:a16="http://schemas.microsoft.com/office/drawing/2014/main" id="{ACBA2539-F840-AD37-A7F5-2456A48F646D}"/>
              </a:ext>
            </a:extLst>
          </p:cNvPr>
          <p:cNvSpPr txBox="1">
            <a:spLocks/>
          </p:cNvSpPr>
          <p:nvPr/>
        </p:nvSpPr>
        <p:spPr>
          <a:xfrm>
            <a:off x="596285" y="921752"/>
            <a:ext cx="5318633" cy="4445149"/>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gn="ctr">
              <a:buFont typeface="Arial"/>
              <a:buNone/>
            </a:pPr>
            <a:r>
              <a:rPr lang="en-NL" b="1" dirty="0">
                <a:solidFill>
                  <a:schemeClr val="accent1"/>
                </a:solidFill>
              </a:rPr>
              <a:t>Bernoulli</a:t>
            </a:r>
          </a:p>
        </p:txBody>
      </p:sp>
      <p:sp>
        <p:nvSpPr>
          <p:cNvPr id="5" name="Content Placeholder 2">
            <a:extLst>
              <a:ext uri="{FF2B5EF4-FFF2-40B4-BE49-F238E27FC236}">
                <a16:creationId xmlns:a16="http://schemas.microsoft.com/office/drawing/2014/main" id="{A52EE0C9-C3FA-CA4D-D750-FB350848EE71}"/>
              </a:ext>
            </a:extLst>
          </p:cNvPr>
          <p:cNvSpPr txBox="1">
            <a:spLocks/>
          </p:cNvSpPr>
          <p:nvPr/>
        </p:nvSpPr>
        <p:spPr>
          <a:xfrm>
            <a:off x="6393366" y="912693"/>
            <a:ext cx="5318633" cy="4445149"/>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gn="ctr">
              <a:buFont typeface="Arial"/>
              <a:buNone/>
            </a:pPr>
            <a:r>
              <a:rPr lang="en-NL" b="1" dirty="0">
                <a:solidFill>
                  <a:schemeClr val="accent1"/>
                </a:solidFill>
              </a:rPr>
              <a:t>Binomial</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57EC33F-70CB-6F19-71D5-15365BAF3BDA}"/>
                  </a:ext>
                </a:extLst>
              </p:cNvPr>
              <p:cNvSpPr txBox="1"/>
              <p:nvPr/>
            </p:nvSpPr>
            <p:spPr>
              <a:xfrm>
                <a:off x="5616616" y="3978628"/>
                <a:ext cx="7483032" cy="1077218"/>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sz="3200" smtClean="0">
                          <a:latin typeface="Cambria Math" panose="02040503050406030204" pitchFamily="18" charset="0"/>
                        </a:rPr>
                        <m:t>𝐸</m:t>
                      </m:r>
                      <m:d>
                        <m:dPr>
                          <m:begChr m:val="["/>
                          <m:endChr m:val="]"/>
                          <m:ctrlPr>
                            <a:rPr lang="en-US" sz="3200" i="1">
                              <a:latin typeface="Cambria Math" panose="02040503050406030204" pitchFamily="18" charset="0"/>
                            </a:rPr>
                          </m:ctrlPr>
                        </m:dPr>
                        <m:e>
                          <m:r>
                            <a:rPr lang="en-US" sz="3200">
                              <a:latin typeface="Cambria Math" panose="02040503050406030204" pitchFamily="18" charset="0"/>
                            </a:rPr>
                            <m:t>𝑋</m:t>
                          </m:r>
                        </m:e>
                      </m:d>
                      <m:r>
                        <a:rPr lang="en-US" sz="3200">
                          <a:latin typeface="Cambria Math" panose="02040503050406030204" pitchFamily="18" charset="0"/>
                        </a:rPr>
                        <m:t>=</m:t>
                      </m:r>
                      <m:r>
                        <a:rPr lang="en-US" sz="3200">
                          <a:latin typeface="Cambria Math" panose="02040503050406030204" pitchFamily="18" charset="0"/>
                        </a:rPr>
                        <m:t>𝑛𝑝</m:t>
                      </m:r>
                    </m:oMath>
                  </m:oMathPara>
                </a14:m>
                <a:endParaRPr lang="en-US" sz="320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rPr>
                        <m:t>𝑉</m:t>
                      </m:r>
                      <m:r>
                        <a:rPr lang="en-US" sz="3200">
                          <a:latin typeface="Cambria Math" panose="02040503050406030204" pitchFamily="18" charset="0"/>
                        </a:rPr>
                        <m:t>𝑎𝑟</m:t>
                      </m:r>
                      <m:d>
                        <m:dPr>
                          <m:ctrlPr>
                            <a:rPr lang="en-US" sz="3200" i="1">
                              <a:latin typeface="Cambria Math" panose="02040503050406030204" pitchFamily="18" charset="0"/>
                            </a:rPr>
                          </m:ctrlPr>
                        </m:dPr>
                        <m:e>
                          <m:r>
                            <a:rPr lang="en-US" sz="3200">
                              <a:latin typeface="Cambria Math" panose="02040503050406030204" pitchFamily="18" charset="0"/>
                            </a:rPr>
                            <m:t>𝑋</m:t>
                          </m:r>
                        </m:e>
                      </m:d>
                      <m:r>
                        <a:rPr lang="en-US" sz="3200">
                          <a:latin typeface="Cambria Math" panose="02040503050406030204" pitchFamily="18" charset="0"/>
                        </a:rPr>
                        <m:t>=</m:t>
                      </m:r>
                      <m:r>
                        <a:rPr lang="en-US" sz="3200">
                          <a:latin typeface="Cambria Math" panose="02040503050406030204" pitchFamily="18" charset="0"/>
                        </a:rPr>
                        <m:t>𝑛𝑝</m:t>
                      </m:r>
                      <m:d>
                        <m:dPr>
                          <m:ctrlPr>
                            <a:rPr lang="en-US" sz="3200" i="1">
                              <a:latin typeface="Cambria Math" panose="02040503050406030204" pitchFamily="18" charset="0"/>
                            </a:rPr>
                          </m:ctrlPr>
                        </m:dPr>
                        <m:e>
                          <m:r>
                            <a:rPr lang="en-US" sz="3200">
                              <a:latin typeface="Cambria Math" panose="02040503050406030204" pitchFamily="18" charset="0"/>
                            </a:rPr>
                            <m:t>1−</m:t>
                          </m:r>
                          <m:r>
                            <a:rPr lang="en-US" sz="3200">
                              <a:latin typeface="Cambria Math" panose="02040503050406030204" pitchFamily="18" charset="0"/>
                            </a:rPr>
                            <m:t>𝑝</m:t>
                          </m:r>
                        </m:e>
                      </m:d>
                    </m:oMath>
                  </m:oMathPara>
                </a14:m>
                <a:endParaRPr lang="en-NL" sz="3200" dirty="0"/>
              </a:p>
            </p:txBody>
          </p:sp>
        </mc:Choice>
        <mc:Fallback xmlns="">
          <p:sp>
            <p:nvSpPr>
              <p:cNvPr id="8" name="TextBox 7">
                <a:extLst>
                  <a:ext uri="{FF2B5EF4-FFF2-40B4-BE49-F238E27FC236}">
                    <a16:creationId xmlns:a16="http://schemas.microsoft.com/office/drawing/2014/main" id="{757EC33F-70CB-6F19-71D5-15365BAF3BDA}"/>
                  </a:ext>
                </a:extLst>
              </p:cNvPr>
              <p:cNvSpPr txBox="1">
                <a:spLocks noRot="1" noChangeAspect="1" noMove="1" noResize="1" noEditPoints="1" noAdjustHandles="1" noChangeArrowheads="1" noChangeShapeType="1" noTextEdit="1"/>
              </p:cNvSpPr>
              <p:nvPr/>
            </p:nvSpPr>
            <p:spPr>
              <a:xfrm>
                <a:off x="5616616" y="3978628"/>
                <a:ext cx="7483032" cy="1077218"/>
              </a:xfrm>
              <a:prstGeom prst="rect">
                <a:avLst/>
              </a:prstGeom>
              <a:blipFill>
                <a:blip r:embed="rId2"/>
                <a:stretch>
                  <a:fillRect b="-705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B51AE8B-5DFF-EA68-6097-95ECA94BB0E9}"/>
                  </a:ext>
                </a:extLst>
              </p:cNvPr>
              <p:cNvSpPr txBox="1"/>
              <p:nvPr/>
            </p:nvSpPr>
            <p:spPr>
              <a:xfrm>
                <a:off x="2227202" y="3978628"/>
                <a:ext cx="1561325"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GB" sz="3200">
                          <a:latin typeface="Cambria Math" panose="02040503050406030204" pitchFamily="18" charset="0"/>
                          <a:ea typeface="Cambria Math" panose="02040503050406030204" pitchFamily="18" charset="0"/>
                        </a:rPr>
                        <m:t>E</m:t>
                      </m:r>
                      <m:r>
                        <m:rPr>
                          <m:nor/>
                        </m:rPr>
                        <a:rPr lang="en-GB" sz="3200">
                          <a:latin typeface="Cambria Math" panose="02040503050406030204" pitchFamily="18" charset="0"/>
                          <a:ea typeface="Cambria Math" panose="02040503050406030204" pitchFamily="18" charset="0"/>
                        </a:rPr>
                        <m:t>[</m:t>
                      </m:r>
                      <m:r>
                        <m:rPr>
                          <m:nor/>
                        </m:rPr>
                        <a:rPr lang="en-GB" sz="3200">
                          <a:latin typeface="Cambria Math" panose="02040503050406030204" pitchFamily="18" charset="0"/>
                          <a:ea typeface="Cambria Math" panose="02040503050406030204" pitchFamily="18" charset="0"/>
                        </a:rPr>
                        <m:t>X</m:t>
                      </m:r>
                      <m:r>
                        <m:rPr>
                          <m:nor/>
                        </m:rPr>
                        <a:rPr lang="en-GB" sz="3200">
                          <a:latin typeface="Cambria Math" panose="02040503050406030204" pitchFamily="18" charset="0"/>
                          <a:ea typeface="Cambria Math" panose="02040503050406030204" pitchFamily="18" charset="0"/>
                        </a:rPr>
                        <m:t>] = </m:t>
                      </m:r>
                      <m:r>
                        <m:rPr>
                          <m:nor/>
                        </m:rPr>
                        <a:rPr lang="en-GB" sz="3200">
                          <a:latin typeface="Cambria Math" panose="02040503050406030204" pitchFamily="18" charset="0"/>
                          <a:ea typeface="Cambria Math" panose="02040503050406030204" pitchFamily="18" charset="0"/>
                        </a:rPr>
                        <m:t>p</m:t>
                      </m:r>
                    </m:oMath>
                  </m:oMathPara>
                </a14:m>
                <a:endParaRPr lang="en-NL" sz="3200" dirty="0">
                  <a:latin typeface="Cambria Math" panose="02040503050406030204" pitchFamily="18" charset="0"/>
                  <a:ea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6B51AE8B-5DFF-EA68-6097-95ECA94BB0E9}"/>
                  </a:ext>
                </a:extLst>
              </p:cNvPr>
              <p:cNvSpPr txBox="1">
                <a:spLocks noRot="1" noChangeAspect="1" noMove="1" noResize="1" noEditPoints="1" noAdjustHandles="1" noChangeArrowheads="1" noChangeShapeType="1" noTextEdit="1"/>
              </p:cNvSpPr>
              <p:nvPr/>
            </p:nvSpPr>
            <p:spPr>
              <a:xfrm>
                <a:off x="2227202" y="3978628"/>
                <a:ext cx="1561325" cy="492443"/>
              </a:xfrm>
              <a:prstGeom prst="rect">
                <a:avLst/>
              </a:prstGeom>
              <a:blipFill>
                <a:blip r:embed="rId3"/>
                <a:stretch>
                  <a:fillRect l="-8871" t="-7692" r="-5645" b="-38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8A75F01-252F-072A-E7AD-4BA2EF2FE776}"/>
                  </a:ext>
                </a:extLst>
              </p:cNvPr>
              <p:cNvSpPr txBox="1"/>
              <p:nvPr/>
            </p:nvSpPr>
            <p:spPr>
              <a:xfrm>
                <a:off x="1654931" y="4517237"/>
                <a:ext cx="290303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GB" sz="3200">
                          <a:latin typeface="Cambria Math" panose="02040503050406030204" pitchFamily="18" charset="0"/>
                          <a:ea typeface="Cambria Math" panose="02040503050406030204" pitchFamily="18" charset="0"/>
                        </a:rPr>
                        <m:t>Var</m:t>
                      </m:r>
                      <m:r>
                        <m:rPr>
                          <m:nor/>
                        </m:rPr>
                        <a:rPr lang="en-GB" sz="3200">
                          <a:latin typeface="Cambria Math" panose="02040503050406030204" pitchFamily="18" charset="0"/>
                          <a:ea typeface="Cambria Math" panose="02040503050406030204" pitchFamily="18" charset="0"/>
                        </a:rPr>
                        <m:t>(</m:t>
                      </m:r>
                      <m:r>
                        <m:rPr>
                          <m:nor/>
                        </m:rPr>
                        <a:rPr lang="en-GB" sz="3200">
                          <a:latin typeface="Cambria Math" panose="02040503050406030204" pitchFamily="18" charset="0"/>
                          <a:ea typeface="Cambria Math" panose="02040503050406030204" pitchFamily="18" charset="0"/>
                        </a:rPr>
                        <m:t>X</m:t>
                      </m:r>
                      <m:r>
                        <m:rPr>
                          <m:nor/>
                        </m:rPr>
                        <a:rPr lang="en-GB" sz="3200">
                          <a:latin typeface="Cambria Math" panose="02040503050406030204" pitchFamily="18" charset="0"/>
                          <a:ea typeface="Cambria Math" panose="02040503050406030204" pitchFamily="18" charset="0"/>
                        </a:rPr>
                        <m:t>) = </m:t>
                      </m:r>
                      <m:r>
                        <m:rPr>
                          <m:nor/>
                        </m:rPr>
                        <a:rPr lang="en-GB" sz="3200">
                          <a:latin typeface="Cambria Math" panose="02040503050406030204" pitchFamily="18" charset="0"/>
                          <a:ea typeface="Cambria Math" panose="02040503050406030204" pitchFamily="18" charset="0"/>
                        </a:rPr>
                        <m:t>p</m:t>
                      </m:r>
                      <m:r>
                        <m:rPr>
                          <m:nor/>
                        </m:rPr>
                        <a:rPr lang="en-GB" sz="3200">
                          <a:latin typeface="Cambria Math" panose="02040503050406030204" pitchFamily="18" charset="0"/>
                          <a:ea typeface="Cambria Math" panose="02040503050406030204" pitchFamily="18" charset="0"/>
                        </a:rPr>
                        <m:t>(1−</m:t>
                      </m:r>
                      <m:r>
                        <m:rPr>
                          <m:nor/>
                        </m:rPr>
                        <a:rPr lang="en-GB" sz="3200">
                          <a:latin typeface="Cambria Math" panose="02040503050406030204" pitchFamily="18" charset="0"/>
                          <a:ea typeface="Cambria Math" panose="02040503050406030204" pitchFamily="18" charset="0"/>
                        </a:rPr>
                        <m:t>p</m:t>
                      </m:r>
                      <m:r>
                        <m:rPr>
                          <m:nor/>
                        </m:rPr>
                        <a:rPr lang="en-GB" sz="3200">
                          <a:latin typeface="Cambria Math" panose="02040503050406030204" pitchFamily="18" charset="0"/>
                          <a:ea typeface="Cambria Math" panose="02040503050406030204" pitchFamily="18" charset="0"/>
                        </a:rPr>
                        <m:t>)</m:t>
                      </m:r>
                    </m:oMath>
                  </m:oMathPara>
                </a14:m>
                <a:endParaRPr lang="en-NL" sz="3200" dirty="0">
                  <a:latin typeface="Cambria Math" panose="02040503050406030204" pitchFamily="18" charset="0"/>
                  <a:ea typeface="Cambria Math" panose="02040503050406030204" pitchFamily="18" charset="0"/>
                </a:endParaRPr>
              </a:p>
            </p:txBody>
          </p:sp>
        </mc:Choice>
        <mc:Fallback xmlns="">
          <p:sp>
            <p:nvSpPr>
              <p:cNvPr id="10" name="TextBox 9">
                <a:extLst>
                  <a:ext uri="{FF2B5EF4-FFF2-40B4-BE49-F238E27FC236}">
                    <a16:creationId xmlns:a16="http://schemas.microsoft.com/office/drawing/2014/main" id="{48A75F01-252F-072A-E7AD-4BA2EF2FE776}"/>
                  </a:ext>
                </a:extLst>
              </p:cNvPr>
              <p:cNvSpPr txBox="1">
                <a:spLocks noRot="1" noChangeAspect="1" noMove="1" noResize="1" noEditPoints="1" noAdjustHandles="1" noChangeArrowheads="1" noChangeShapeType="1" noTextEdit="1"/>
              </p:cNvSpPr>
              <p:nvPr/>
            </p:nvSpPr>
            <p:spPr>
              <a:xfrm>
                <a:off x="1654931" y="4517237"/>
                <a:ext cx="2903039" cy="492443"/>
              </a:xfrm>
              <a:prstGeom prst="rect">
                <a:avLst/>
              </a:prstGeom>
              <a:blipFill>
                <a:blip r:embed="rId4"/>
                <a:stretch>
                  <a:fillRect l="-4783" t="-7500" r="-4348" b="-35000"/>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A2BE9D2-991E-38CA-0098-FD12E9A0CE57}"/>
                  </a:ext>
                </a:extLst>
              </p:cNvPr>
              <p:cNvSpPr txBox="1"/>
              <p:nvPr/>
            </p:nvSpPr>
            <p:spPr>
              <a:xfrm>
                <a:off x="6393366" y="2835807"/>
                <a:ext cx="6094070" cy="8317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𝑋</m:t>
                          </m:r>
                          <m:r>
                            <a:rPr lang="en-US" sz="3200" b="0" i="1" smtClean="0">
                              <a:latin typeface="Cambria Math" panose="02040503050406030204" pitchFamily="18" charset="0"/>
                            </a:rPr>
                            <m:t>=</m:t>
                          </m:r>
                          <m:r>
                            <a:rPr lang="en-US" sz="3200" b="0" i="1" smtClean="0">
                              <a:latin typeface="Cambria Math" panose="02040503050406030204" pitchFamily="18" charset="0"/>
                            </a:rPr>
                            <m:t>𝑥</m:t>
                          </m:r>
                        </m:e>
                      </m:d>
                      <m:r>
                        <a:rPr lang="en-US" sz="3200" i="1" smtClean="0">
                          <a:latin typeface="Cambria Math" panose="02040503050406030204" pitchFamily="18" charset="0"/>
                        </a:rPr>
                        <m:t>=</m:t>
                      </m:r>
                      <m:d>
                        <m:dPr>
                          <m:ctrlPr>
                            <a:rPr lang="en-US" sz="3200" i="1" smtClean="0">
                              <a:latin typeface="Cambria Math" panose="02040503050406030204" pitchFamily="18" charset="0"/>
                            </a:rPr>
                          </m:ctrlPr>
                        </m:dPr>
                        <m:e>
                          <m:m>
                            <m:mPr>
                              <m:mcs>
                                <m:mc>
                                  <m:mcPr>
                                    <m:count m:val="1"/>
                                    <m:mcJc m:val="center"/>
                                  </m:mcPr>
                                </m:mc>
                              </m:mcs>
                              <m:ctrlPr>
                                <a:rPr lang="en-US" sz="3200" i="1" smtClean="0">
                                  <a:latin typeface="Cambria Math" panose="02040503050406030204" pitchFamily="18" charset="0"/>
                                </a:rPr>
                              </m:ctrlPr>
                            </m:mPr>
                            <m:mr>
                              <m:e>
                                <m:r>
                                  <m:rPr>
                                    <m:brk m:alnAt="7"/>
                                  </m:rPr>
                                  <a:rPr lang="en-US" sz="3200" smtClean="0">
                                    <a:latin typeface="Cambria Math" panose="02040503050406030204" pitchFamily="18" charset="0"/>
                                  </a:rPr>
                                  <m:t>𝑛</m:t>
                                </m:r>
                              </m:e>
                            </m:mr>
                            <m:mr>
                              <m:e>
                                <m:r>
                                  <a:rPr lang="en-US" sz="3200" smtClean="0">
                                    <a:latin typeface="Cambria Math" panose="02040503050406030204" pitchFamily="18" charset="0"/>
                                  </a:rPr>
                                  <m:t>𝑥</m:t>
                                </m:r>
                              </m:e>
                            </m:mr>
                          </m:m>
                        </m:e>
                      </m:d>
                      <m:sSup>
                        <m:sSupPr>
                          <m:ctrlPr>
                            <a:rPr lang="en-US" sz="3200" i="1" smtClean="0">
                              <a:latin typeface="Cambria Math" panose="02040503050406030204" pitchFamily="18" charset="0"/>
                            </a:rPr>
                          </m:ctrlPr>
                        </m:sSupPr>
                        <m:e>
                          <m:r>
                            <a:rPr lang="en-US" sz="3200" smtClean="0">
                              <a:latin typeface="Cambria Math" panose="02040503050406030204" pitchFamily="18" charset="0"/>
                            </a:rPr>
                            <m:t>𝑝</m:t>
                          </m:r>
                        </m:e>
                        <m:sup>
                          <m:r>
                            <a:rPr lang="en-US" sz="3200" smtClean="0">
                              <a:latin typeface="Cambria Math" panose="02040503050406030204" pitchFamily="18" charset="0"/>
                            </a:rPr>
                            <m:t>𝑥</m:t>
                          </m:r>
                        </m:sup>
                      </m:sSup>
                      <m:sSup>
                        <m:sSupPr>
                          <m:ctrlPr>
                            <a:rPr lang="en-US" sz="3200" i="1" smtClean="0">
                              <a:latin typeface="Cambria Math" panose="02040503050406030204" pitchFamily="18" charset="0"/>
                            </a:rPr>
                          </m:ctrlPr>
                        </m:sSupPr>
                        <m:e>
                          <m:d>
                            <m:dPr>
                              <m:ctrlPr>
                                <a:rPr lang="en-US" sz="3200" i="1" smtClean="0">
                                  <a:latin typeface="Cambria Math" panose="02040503050406030204" pitchFamily="18" charset="0"/>
                                </a:rPr>
                              </m:ctrlPr>
                            </m:dPr>
                            <m:e>
                              <m:r>
                                <a:rPr lang="en-US" sz="3200" smtClean="0">
                                  <a:latin typeface="Cambria Math" panose="02040503050406030204" pitchFamily="18" charset="0"/>
                                </a:rPr>
                                <m:t>1−</m:t>
                              </m:r>
                              <m:r>
                                <a:rPr lang="en-US" sz="3200" smtClean="0">
                                  <a:latin typeface="Cambria Math" panose="02040503050406030204" pitchFamily="18" charset="0"/>
                                </a:rPr>
                                <m:t>𝑝</m:t>
                              </m:r>
                            </m:e>
                          </m:d>
                        </m:e>
                        <m:sup>
                          <m:r>
                            <a:rPr lang="en-US" sz="3200" smtClean="0">
                              <a:latin typeface="Cambria Math" panose="02040503050406030204" pitchFamily="18" charset="0"/>
                            </a:rPr>
                            <m:t>𝑛</m:t>
                          </m:r>
                          <m:r>
                            <a:rPr lang="en-US" sz="3200" smtClean="0">
                              <a:latin typeface="Cambria Math" panose="02040503050406030204" pitchFamily="18" charset="0"/>
                            </a:rPr>
                            <m:t>−</m:t>
                          </m:r>
                          <m:r>
                            <a:rPr lang="en-US" sz="3200" smtClean="0">
                              <a:latin typeface="Cambria Math" panose="02040503050406030204" pitchFamily="18" charset="0"/>
                            </a:rPr>
                            <m:t>𝑥</m:t>
                          </m:r>
                        </m:sup>
                      </m:sSup>
                    </m:oMath>
                  </m:oMathPara>
                </a14:m>
                <a:endParaRPr lang="en-NL" sz="3200" dirty="0"/>
              </a:p>
            </p:txBody>
          </p:sp>
        </mc:Choice>
        <mc:Fallback xmlns="">
          <p:sp>
            <p:nvSpPr>
              <p:cNvPr id="11" name="TextBox 10">
                <a:extLst>
                  <a:ext uri="{FF2B5EF4-FFF2-40B4-BE49-F238E27FC236}">
                    <a16:creationId xmlns:a16="http://schemas.microsoft.com/office/drawing/2014/main" id="{0A2BE9D2-991E-38CA-0098-FD12E9A0CE57}"/>
                  </a:ext>
                </a:extLst>
              </p:cNvPr>
              <p:cNvSpPr txBox="1">
                <a:spLocks noRot="1" noChangeAspect="1" noMove="1" noResize="1" noEditPoints="1" noAdjustHandles="1" noChangeArrowheads="1" noChangeShapeType="1" noTextEdit="1"/>
              </p:cNvSpPr>
              <p:nvPr/>
            </p:nvSpPr>
            <p:spPr>
              <a:xfrm>
                <a:off x="6393366" y="2835807"/>
                <a:ext cx="6094070" cy="831766"/>
              </a:xfrm>
              <a:prstGeom prst="rect">
                <a:avLst/>
              </a:prstGeom>
              <a:blipFill>
                <a:blip r:embed="rId5"/>
                <a:stretch>
                  <a:fillRect b="-454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9292119-4BD6-49A4-9BBE-D8309B8B4502}"/>
                  </a:ext>
                </a:extLst>
              </p:cNvPr>
              <p:cNvSpPr txBox="1"/>
              <p:nvPr/>
            </p:nvSpPr>
            <p:spPr>
              <a:xfrm>
                <a:off x="1119767" y="2999890"/>
                <a:ext cx="4633833" cy="5035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3200" b="0" i="1" smtClean="0">
                          <a:latin typeface="Cambria Math" panose="02040503050406030204" pitchFamily="18" charset="0"/>
                        </a:rPr>
                        <m:t>𝑃</m:t>
                      </m:r>
                      <m:d>
                        <m:dPr>
                          <m:ctrlPr>
                            <a:rPr lang="en-GB" sz="3200" i="1">
                              <a:latin typeface="Cambria Math" panose="02040503050406030204" pitchFamily="18" charset="0"/>
                            </a:rPr>
                          </m:ctrlPr>
                        </m:dPr>
                        <m:e>
                          <m:r>
                            <a:rPr lang="en-GB" sz="3200" b="0" i="1">
                              <a:latin typeface="Cambria Math" panose="02040503050406030204" pitchFamily="18" charset="0"/>
                            </a:rPr>
                            <m:t>𝑋</m:t>
                          </m:r>
                          <m:r>
                            <a:rPr lang="en-GB" sz="3200" b="0" i="1">
                              <a:latin typeface="Cambria Math" panose="02040503050406030204" pitchFamily="18" charset="0"/>
                            </a:rPr>
                            <m:t>=</m:t>
                          </m:r>
                          <m:r>
                            <a:rPr lang="en-GB" sz="3200" b="0" i="1">
                              <a:latin typeface="Cambria Math" panose="02040503050406030204" pitchFamily="18" charset="0"/>
                            </a:rPr>
                            <m:t>𝑥</m:t>
                          </m:r>
                        </m:e>
                      </m:d>
                      <m:r>
                        <a:rPr lang="en-GB" sz="3200" b="0" i="1">
                          <a:latin typeface="Cambria Math" panose="02040503050406030204" pitchFamily="18" charset="0"/>
                        </a:rPr>
                        <m:t>=</m:t>
                      </m:r>
                      <m:sSup>
                        <m:sSupPr>
                          <m:ctrlPr>
                            <a:rPr lang="en-GB" sz="3200" i="1">
                              <a:latin typeface="Cambria Math" panose="02040503050406030204" pitchFamily="18" charset="0"/>
                            </a:rPr>
                          </m:ctrlPr>
                        </m:sSupPr>
                        <m:e>
                          <m:r>
                            <a:rPr lang="en-GB" sz="3200" b="0" i="1">
                              <a:latin typeface="Cambria Math" panose="02040503050406030204" pitchFamily="18" charset="0"/>
                            </a:rPr>
                            <m:t>𝑝</m:t>
                          </m:r>
                        </m:e>
                        <m:sup>
                          <m:r>
                            <a:rPr lang="en-GB" sz="3200" b="0" i="1">
                              <a:latin typeface="Cambria Math" panose="02040503050406030204" pitchFamily="18" charset="0"/>
                            </a:rPr>
                            <m:t>𝑥</m:t>
                          </m:r>
                        </m:sup>
                      </m:sSup>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b="0" i="1">
                                  <a:latin typeface="Cambria Math" panose="02040503050406030204" pitchFamily="18" charset="0"/>
                                </a:rPr>
                                <m:t>1−</m:t>
                              </m:r>
                              <m:r>
                                <a:rPr lang="en-GB" sz="3200" b="0" i="1">
                                  <a:latin typeface="Cambria Math" panose="02040503050406030204" pitchFamily="18" charset="0"/>
                                </a:rPr>
                                <m:t>𝑝</m:t>
                              </m:r>
                            </m:e>
                          </m:d>
                        </m:e>
                        <m:sup>
                          <m:r>
                            <a:rPr lang="en-GB" sz="3200" b="0" i="1">
                              <a:latin typeface="Cambria Math" panose="02040503050406030204" pitchFamily="18" charset="0"/>
                            </a:rPr>
                            <m:t>1−</m:t>
                          </m:r>
                          <m:r>
                            <a:rPr lang="en-GB" sz="3200" b="0" i="1">
                              <a:latin typeface="Cambria Math" panose="02040503050406030204" pitchFamily="18" charset="0"/>
                            </a:rPr>
                            <m:t>𝑥</m:t>
                          </m:r>
                        </m:sup>
                      </m:sSup>
                    </m:oMath>
                  </m:oMathPara>
                </a14:m>
                <a:endParaRPr lang="en-NL" sz="2000" dirty="0"/>
              </a:p>
            </p:txBody>
          </p:sp>
        </mc:Choice>
        <mc:Fallback xmlns="">
          <p:sp>
            <p:nvSpPr>
              <p:cNvPr id="12" name="TextBox 11">
                <a:extLst>
                  <a:ext uri="{FF2B5EF4-FFF2-40B4-BE49-F238E27FC236}">
                    <a16:creationId xmlns:a16="http://schemas.microsoft.com/office/drawing/2014/main" id="{D9292119-4BD6-49A4-9BBE-D8309B8B4502}"/>
                  </a:ext>
                </a:extLst>
              </p:cNvPr>
              <p:cNvSpPr txBox="1">
                <a:spLocks noRot="1" noChangeAspect="1" noMove="1" noResize="1" noEditPoints="1" noAdjustHandles="1" noChangeArrowheads="1" noChangeShapeType="1" noTextEdit="1"/>
              </p:cNvSpPr>
              <p:nvPr/>
            </p:nvSpPr>
            <p:spPr>
              <a:xfrm>
                <a:off x="1119767" y="2999890"/>
                <a:ext cx="4633833" cy="503599"/>
              </a:xfrm>
              <a:prstGeom prst="rect">
                <a:avLst/>
              </a:prstGeom>
              <a:blipFill>
                <a:blip r:embed="rId6"/>
                <a:stretch>
                  <a:fillRect l="-1093" t="-2500" b="-22500"/>
                </a:stretch>
              </a:blipFill>
            </p:spPr>
            <p:txBody>
              <a:bodyPr/>
              <a:lstStyle/>
              <a:p>
                <a:r>
                  <a:rPr lang="en-NL">
                    <a:noFill/>
                  </a:rPr>
                  <a:t> </a:t>
                </a:r>
              </a:p>
            </p:txBody>
          </p:sp>
        </mc:Fallback>
      </mc:AlternateContent>
      <p:cxnSp>
        <p:nvCxnSpPr>
          <p:cNvPr id="14" name="Straight Connector 13">
            <a:extLst>
              <a:ext uri="{FF2B5EF4-FFF2-40B4-BE49-F238E27FC236}">
                <a16:creationId xmlns:a16="http://schemas.microsoft.com/office/drawing/2014/main" id="{4407CC04-7414-6C46-BE91-EDC539FFB5C0}"/>
              </a:ext>
            </a:extLst>
          </p:cNvPr>
          <p:cNvCxnSpPr>
            <a:cxnSpLocks/>
          </p:cNvCxnSpPr>
          <p:nvPr/>
        </p:nvCxnSpPr>
        <p:spPr>
          <a:xfrm>
            <a:off x="6234501" y="1935369"/>
            <a:ext cx="0" cy="3464407"/>
          </a:xfrm>
          <a:prstGeom prst="line">
            <a:avLst/>
          </a:prstGeom>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E522C3D0-1F0A-E4BD-CBEB-68EC6C61ED05}"/>
              </a:ext>
            </a:extLst>
          </p:cNvPr>
          <p:cNvSpPr txBox="1"/>
          <p:nvPr/>
        </p:nvSpPr>
        <p:spPr>
          <a:xfrm>
            <a:off x="1238406" y="2098196"/>
            <a:ext cx="3961084" cy="800219"/>
          </a:xfrm>
          <a:prstGeom prst="rect">
            <a:avLst/>
          </a:prstGeom>
          <a:noFill/>
        </p:spPr>
        <p:txBody>
          <a:bodyPr wrap="none" rtlCol="0">
            <a:spAutoFit/>
          </a:bodyPr>
          <a:lstStyle/>
          <a:p>
            <a:r>
              <a:rPr lang="en-NL" sz="2800" i="1" dirty="0">
                <a:solidFill>
                  <a:schemeClr val="accent1"/>
                </a:solidFill>
                <a:latin typeface="Cambria Math" panose="02040503050406030204" pitchFamily="18" charset="0"/>
                <a:ea typeface="Cambria Math" panose="02040503050406030204" pitchFamily="18" charset="0"/>
              </a:rPr>
              <a:t>“Does my laptop crash?” </a:t>
            </a:r>
          </a:p>
          <a:p>
            <a:endParaRPr lang="en-NL" dirty="0"/>
          </a:p>
        </p:txBody>
      </p:sp>
      <p:sp>
        <p:nvSpPr>
          <p:cNvPr id="17" name="TextBox 16">
            <a:extLst>
              <a:ext uri="{FF2B5EF4-FFF2-40B4-BE49-F238E27FC236}">
                <a16:creationId xmlns:a16="http://schemas.microsoft.com/office/drawing/2014/main" id="{06758CBF-C57A-CBC5-ECD4-B7849331328E}"/>
              </a:ext>
            </a:extLst>
          </p:cNvPr>
          <p:cNvSpPr txBox="1"/>
          <p:nvPr/>
        </p:nvSpPr>
        <p:spPr>
          <a:xfrm>
            <a:off x="6735765" y="1882753"/>
            <a:ext cx="4633833" cy="1231106"/>
          </a:xfrm>
          <a:prstGeom prst="rect">
            <a:avLst/>
          </a:prstGeom>
          <a:noFill/>
        </p:spPr>
        <p:txBody>
          <a:bodyPr wrap="square" rtlCol="0">
            <a:spAutoFit/>
          </a:bodyPr>
          <a:lstStyle/>
          <a:p>
            <a:pPr algn="ctr"/>
            <a:r>
              <a:rPr lang="en-NL" sz="2800" i="1" dirty="0">
                <a:solidFill>
                  <a:schemeClr val="accent1"/>
                </a:solidFill>
                <a:latin typeface="Cambria Math" panose="02040503050406030204" pitchFamily="18" charset="0"/>
                <a:ea typeface="Cambria Math" panose="02040503050406030204" pitchFamily="18" charset="0"/>
              </a:rPr>
              <a:t>“Will my laptop crash 10 times out of 50 trials?”</a:t>
            </a:r>
          </a:p>
          <a:p>
            <a:endParaRPr lang="en-NL" dirty="0"/>
          </a:p>
        </p:txBody>
      </p:sp>
    </p:spTree>
    <p:extLst>
      <p:ext uri="{BB962C8B-B14F-4D97-AF65-F5344CB8AC3E}">
        <p14:creationId xmlns:p14="http://schemas.microsoft.com/office/powerpoint/2010/main" val="1306453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B578B-588E-2197-00B0-DE1D6BDE42CF}"/>
              </a:ext>
            </a:extLst>
          </p:cNvPr>
          <p:cNvSpPr>
            <a:spLocks noGrp="1"/>
          </p:cNvSpPr>
          <p:nvPr>
            <p:ph type="title"/>
          </p:nvPr>
        </p:nvSpPr>
        <p:spPr/>
        <p:txBody>
          <a:bodyPr/>
          <a:lstStyle/>
          <a:p>
            <a:r>
              <a:rPr lang="en-NL" dirty="0">
                <a:solidFill>
                  <a:schemeClr val="accent1"/>
                </a:solidFill>
              </a:rPr>
              <a:t>Distribution</a:t>
            </a:r>
            <a:r>
              <a:rPr lang="en-NL" dirty="0"/>
              <a:t> overview</a:t>
            </a:r>
          </a:p>
        </p:txBody>
      </p:sp>
      <p:sp>
        <p:nvSpPr>
          <p:cNvPr id="4" name="Rounded Rectangle 3">
            <a:extLst>
              <a:ext uri="{FF2B5EF4-FFF2-40B4-BE49-F238E27FC236}">
                <a16:creationId xmlns:a16="http://schemas.microsoft.com/office/drawing/2014/main" id="{0208EFDD-503B-29C9-9C19-6B7A976AED00}"/>
              </a:ext>
            </a:extLst>
          </p:cNvPr>
          <p:cNvSpPr/>
          <p:nvPr/>
        </p:nvSpPr>
        <p:spPr>
          <a:xfrm>
            <a:off x="640080" y="1270000"/>
            <a:ext cx="11104880" cy="7518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NL" sz="2800" b="1" dirty="0"/>
              <a:t>Bernouilli</a:t>
            </a:r>
            <a:r>
              <a:rPr lang="en-NL" sz="2800" dirty="0"/>
              <a:t>: </a:t>
            </a:r>
          </a:p>
          <a:p>
            <a:pPr algn="ctr"/>
            <a:r>
              <a:rPr lang="en-GB" dirty="0"/>
              <a:t>"I just wrote a risky script. I press run. Does my laptop crash?"</a:t>
            </a:r>
            <a:endParaRPr lang="en-NL" dirty="0"/>
          </a:p>
        </p:txBody>
      </p:sp>
      <p:sp>
        <p:nvSpPr>
          <p:cNvPr id="5" name="Rounded Rectangle 4">
            <a:extLst>
              <a:ext uri="{FF2B5EF4-FFF2-40B4-BE49-F238E27FC236}">
                <a16:creationId xmlns:a16="http://schemas.microsoft.com/office/drawing/2014/main" id="{941A67B1-ACF4-7A35-F32E-F541E40CDCD3}"/>
              </a:ext>
            </a:extLst>
          </p:cNvPr>
          <p:cNvSpPr/>
          <p:nvPr/>
        </p:nvSpPr>
        <p:spPr>
          <a:xfrm>
            <a:off x="640080" y="2318266"/>
            <a:ext cx="11104880" cy="75184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NL" sz="2800" b="1" dirty="0"/>
              <a:t>Binomial: </a:t>
            </a:r>
          </a:p>
          <a:p>
            <a:pPr algn="ctr"/>
            <a:r>
              <a:rPr lang="en-GB" dirty="0"/>
              <a:t>"Was that crash a fluke? I’m going to run the script 50 times in a row to be sure."</a:t>
            </a:r>
            <a:r>
              <a:rPr lang="en-NL" b="1" dirty="0"/>
              <a:t> </a:t>
            </a:r>
            <a:endParaRPr lang="en-NL" dirty="0"/>
          </a:p>
        </p:txBody>
      </p:sp>
      <p:sp>
        <p:nvSpPr>
          <p:cNvPr id="6" name="Rounded Rectangle 5">
            <a:extLst>
              <a:ext uri="{FF2B5EF4-FFF2-40B4-BE49-F238E27FC236}">
                <a16:creationId xmlns:a16="http://schemas.microsoft.com/office/drawing/2014/main" id="{D4CC7416-1F83-75D5-854E-B495837FD923}"/>
              </a:ext>
            </a:extLst>
          </p:cNvPr>
          <p:cNvSpPr/>
          <p:nvPr/>
        </p:nvSpPr>
        <p:spPr>
          <a:xfrm>
            <a:off x="640080" y="3950608"/>
            <a:ext cx="11104880" cy="7518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NL" sz="2800" b="1" dirty="0"/>
              <a:t>Poisson</a:t>
            </a:r>
            <a:r>
              <a:rPr lang="en-NL" sz="2400" b="1" dirty="0"/>
              <a:t>: </a:t>
            </a:r>
          </a:p>
          <a:p>
            <a:pPr algn="ctr"/>
            <a:r>
              <a:rPr lang="en-GB" dirty="0"/>
              <a:t>"I’m a workaholic; my code runs 24/7. It could crash at any millisecond. How many times will it fail tomorrow?"</a:t>
            </a:r>
            <a:endParaRPr lang="en-NL" dirty="0"/>
          </a:p>
        </p:txBody>
      </p:sp>
      <p:sp>
        <p:nvSpPr>
          <p:cNvPr id="7" name="Rounded Rectangle 6">
            <a:extLst>
              <a:ext uri="{FF2B5EF4-FFF2-40B4-BE49-F238E27FC236}">
                <a16:creationId xmlns:a16="http://schemas.microsoft.com/office/drawing/2014/main" id="{48964A1A-E0D7-2690-BA9A-BE944A62D274}"/>
              </a:ext>
            </a:extLst>
          </p:cNvPr>
          <p:cNvSpPr/>
          <p:nvPr/>
        </p:nvSpPr>
        <p:spPr>
          <a:xfrm>
            <a:off x="640080" y="4998874"/>
            <a:ext cx="11104880" cy="75184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NL" sz="2800" b="1" dirty="0"/>
              <a:t>Normal</a:t>
            </a:r>
            <a:r>
              <a:rPr lang="en-NL" b="1" dirty="0"/>
              <a:t>:</a:t>
            </a:r>
          </a:p>
          <a:p>
            <a:pPr algn="ctr"/>
            <a:r>
              <a:rPr lang="en-NL" b="1" dirty="0"/>
              <a:t> </a:t>
            </a:r>
            <a:r>
              <a:rPr lang="en-GB" dirty="0"/>
              <a:t>”I am running this on a thousand laptops 24/7. What is the total downtime due to crashes?"</a:t>
            </a:r>
            <a:endParaRPr lang="en-NL" dirty="0"/>
          </a:p>
        </p:txBody>
      </p:sp>
      <p:sp>
        <p:nvSpPr>
          <p:cNvPr id="8" name="TextBox 7">
            <a:extLst>
              <a:ext uri="{FF2B5EF4-FFF2-40B4-BE49-F238E27FC236}">
                <a16:creationId xmlns:a16="http://schemas.microsoft.com/office/drawing/2014/main" id="{046B4E3C-C411-D068-03F3-E6EA863F3B75}"/>
              </a:ext>
            </a:extLst>
          </p:cNvPr>
          <p:cNvSpPr txBox="1"/>
          <p:nvPr/>
        </p:nvSpPr>
        <p:spPr>
          <a:xfrm rot="20051260">
            <a:off x="28215" y="1330192"/>
            <a:ext cx="1986441" cy="584775"/>
          </a:xfrm>
          <a:prstGeom prst="rect">
            <a:avLst/>
          </a:prstGeom>
          <a:noFill/>
        </p:spPr>
        <p:txBody>
          <a:bodyPr wrap="none" rtlCol="0">
            <a:spAutoFit/>
          </a:bodyPr>
          <a:lstStyle/>
          <a:p>
            <a:r>
              <a:rPr lang="en-NL" sz="3200" b="1" dirty="0">
                <a:solidFill>
                  <a:schemeClr val="accent3"/>
                </a:solidFill>
              </a:rPr>
              <a:t>Single trial</a:t>
            </a:r>
          </a:p>
        </p:txBody>
      </p:sp>
      <p:sp>
        <p:nvSpPr>
          <p:cNvPr id="9" name="TextBox 8">
            <a:extLst>
              <a:ext uri="{FF2B5EF4-FFF2-40B4-BE49-F238E27FC236}">
                <a16:creationId xmlns:a16="http://schemas.microsoft.com/office/drawing/2014/main" id="{796B2E49-5E03-ACDB-2E80-29C389A912A8}"/>
              </a:ext>
            </a:extLst>
          </p:cNvPr>
          <p:cNvSpPr txBox="1"/>
          <p:nvPr/>
        </p:nvSpPr>
        <p:spPr>
          <a:xfrm rot="20051260">
            <a:off x="110620" y="2209785"/>
            <a:ext cx="1635384" cy="1077218"/>
          </a:xfrm>
          <a:prstGeom prst="rect">
            <a:avLst/>
          </a:prstGeom>
          <a:noFill/>
        </p:spPr>
        <p:txBody>
          <a:bodyPr wrap="none" rtlCol="0">
            <a:spAutoFit/>
          </a:bodyPr>
          <a:lstStyle/>
          <a:p>
            <a:pPr algn="ctr"/>
            <a:r>
              <a:rPr lang="en-NL" sz="3200" b="1" dirty="0">
                <a:solidFill>
                  <a:schemeClr val="accent3"/>
                </a:solidFill>
              </a:rPr>
              <a:t>Multiple</a:t>
            </a:r>
          </a:p>
          <a:p>
            <a:pPr algn="ctr"/>
            <a:r>
              <a:rPr lang="en-NL" sz="3200" b="1" dirty="0">
                <a:solidFill>
                  <a:schemeClr val="accent3"/>
                </a:solidFill>
              </a:rPr>
              <a:t> trials</a:t>
            </a:r>
          </a:p>
        </p:txBody>
      </p:sp>
      <p:sp>
        <p:nvSpPr>
          <p:cNvPr id="10" name="TextBox 9">
            <a:extLst>
              <a:ext uri="{FF2B5EF4-FFF2-40B4-BE49-F238E27FC236}">
                <a16:creationId xmlns:a16="http://schemas.microsoft.com/office/drawing/2014/main" id="{AABCCBF9-ADAE-9471-3A02-83B27DAD98D0}"/>
              </a:ext>
            </a:extLst>
          </p:cNvPr>
          <p:cNvSpPr txBox="1"/>
          <p:nvPr/>
        </p:nvSpPr>
        <p:spPr>
          <a:xfrm rot="20051260">
            <a:off x="-159109" y="4056950"/>
            <a:ext cx="1881669" cy="584775"/>
          </a:xfrm>
          <a:prstGeom prst="rect">
            <a:avLst/>
          </a:prstGeom>
          <a:noFill/>
        </p:spPr>
        <p:txBody>
          <a:bodyPr wrap="none" rtlCol="0">
            <a:spAutoFit/>
          </a:bodyPr>
          <a:lstStyle/>
          <a:p>
            <a:r>
              <a:rPr lang="en-NL" sz="3200" b="1" dirty="0">
                <a:solidFill>
                  <a:schemeClr val="accent3"/>
                </a:solidFill>
              </a:rPr>
              <a:t>Over time</a:t>
            </a:r>
          </a:p>
        </p:txBody>
      </p:sp>
      <p:sp>
        <p:nvSpPr>
          <p:cNvPr id="11" name="TextBox 10">
            <a:extLst>
              <a:ext uri="{FF2B5EF4-FFF2-40B4-BE49-F238E27FC236}">
                <a16:creationId xmlns:a16="http://schemas.microsoft.com/office/drawing/2014/main" id="{51913649-B74A-5E48-253B-15E63A147A7B}"/>
              </a:ext>
            </a:extLst>
          </p:cNvPr>
          <p:cNvSpPr txBox="1"/>
          <p:nvPr/>
        </p:nvSpPr>
        <p:spPr>
          <a:xfrm rot="20051260">
            <a:off x="238240" y="4937781"/>
            <a:ext cx="1601721" cy="1077218"/>
          </a:xfrm>
          <a:prstGeom prst="rect">
            <a:avLst/>
          </a:prstGeom>
          <a:noFill/>
        </p:spPr>
        <p:txBody>
          <a:bodyPr wrap="none" rtlCol="0">
            <a:spAutoFit/>
          </a:bodyPr>
          <a:lstStyle/>
          <a:p>
            <a:pPr algn="ctr"/>
            <a:r>
              <a:rPr lang="en-NL" sz="3200" b="1" dirty="0">
                <a:solidFill>
                  <a:schemeClr val="accent3"/>
                </a:solidFill>
              </a:rPr>
              <a:t>The BIG </a:t>
            </a:r>
          </a:p>
          <a:p>
            <a:pPr algn="ctr"/>
            <a:r>
              <a:rPr lang="en-NL" sz="3200" b="1" dirty="0">
                <a:solidFill>
                  <a:schemeClr val="accent3"/>
                </a:solidFill>
              </a:rPr>
              <a:t>picture</a:t>
            </a:r>
          </a:p>
        </p:txBody>
      </p:sp>
      <p:sp>
        <p:nvSpPr>
          <p:cNvPr id="12" name="TextBox 11">
            <a:extLst>
              <a:ext uri="{FF2B5EF4-FFF2-40B4-BE49-F238E27FC236}">
                <a16:creationId xmlns:a16="http://schemas.microsoft.com/office/drawing/2014/main" id="{75C0D306-CE4D-1906-0E9E-F3BCE59D75E4}"/>
              </a:ext>
            </a:extLst>
          </p:cNvPr>
          <p:cNvSpPr txBox="1"/>
          <p:nvPr/>
        </p:nvSpPr>
        <p:spPr>
          <a:xfrm>
            <a:off x="4875685" y="3217620"/>
            <a:ext cx="2633670" cy="584775"/>
          </a:xfrm>
          <a:prstGeom prst="rect">
            <a:avLst/>
          </a:prstGeom>
          <a:noFill/>
        </p:spPr>
        <p:txBody>
          <a:bodyPr wrap="none" rtlCol="0">
            <a:spAutoFit/>
          </a:bodyPr>
          <a:lstStyle/>
          <a:p>
            <a:r>
              <a:rPr lang="en-NL" sz="3200" dirty="0">
                <a:solidFill>
                  <a:srgbClr val="C00000"/>
                </a:solidFill>
              </a:rPr>
              <a:t>YOU ARE HERE</a:t>
            </a:r>
          </a:p>
        </p:txBody>
      </p:sp>
      <p:cxnSp>
        <p:nvCxnSpPr>
          <p:cNvPr id="14" name="Straight Connector 13">
            <a:extLst>
              <a:ext uri="{FF2B5EF4-FFF2-40B4-BE49-F238E27FC236}">
                <a16:creationId xmlns:a16="http://schemas.microsoft.com/office/drawing/2014/main" id="{11A761C0-26B3-1435-F773-27F77F154A57}"/>
              </a:ext>
            </a:extLst>
          </p:cNvPr>
          <p:cNvCxnSpPr>
            <a:cxnSpLocks/>
          </p:cNvCxnSpPr>
          <p:nvPr/>
        </p:nvCxnSpPr>
        <p:spPr>
          <a:xfrm flipV="1">
            <a:off x="7509355" y="3510007"/>
            <a:ext cx="1704093" cy="1"/>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4F5C03D-711F-A967-BC03-744672EF7D8A}"/>
              </a:ext>
            </a:extLst>
          </p:cNvPr>
          <p:cNvCxnSpPr>
            <a:cxnSpLocks/>
          </p:cNvCxnSpPr>
          <p:nvPr/>
        </p:nvCxnSpPr>
        <p:spPr>
          <a:xfrm flipV="1">
            <a:off x="3171592" y="3505717"/>
            <a:ext cx="1704093" cy="1"/>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5298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CC8DC-36CE-3E2A-046F-DA00C950AB31}"/>
              </a:ext>
            </a:extLst>
          </p:cNvPr>
          <p:cNvSpPr>
            <a:spLocks noGrp="1"/>
          </p:cNvSpPr>
          <p:nvPr>
            <p:ph type="title"/>
          </p:nvPr>
        </p:nvSpPr>
        <p:spPr/>
        <p:txBody>
          <a:bodyPr/>
          <a:lstStyle/>
          <a:p>
            <a:r>
              <a:rPr lang="en-NL" dirty="0"/>
              <a:t>My Laptop &amp; the </a:t>
            </a:r>
            <a:r>
              <a:rPr lang="en-NL" dirty="0">
                <a:solidFill>
                  <a:schemeClr val="accent1"/>
                </a:solidFill>
              </a:rPr>
              <a:t>Binomial</a:t>
            </a:r>
            <a:r>
              <a:rPr lang="en-NL" dirty="0"/>
              <a:t> Distribution</a:t>
            </a:r>
          </a:p>
        </p:txBody>
      </p:sp>
      <p:pic>
        <p:nvPicPr>
          <p:cNvPr id="4" name="Content Placeholder 4" descr="A graph of a number of crash test&#10;&#10;AI-generated content may be incorrect.">
            <a:extLst>
              <a:ext uri="{FF2B5EF4-FFF2-40B4-BE49-F238E27FC236}">
                <a16:creationId xmlns:a16="http://schemas.microsoft.com/office/drawing/2014/main" id="{14D6B002-3696-7C3F-7313-6B0C3A95B51D}"/>
              </a:ext>
            </a:extLst>
          </p:cNvPr>
          <p:cNvPicPr>
            <a:picLocks noGrp="1" noChangeAspect="1"/>
          </p:cNvPicPr>
          <p:nvPr>
            <p:ph idx="1"/>
          </p:nvPr>
        </p:nvPicPr>
        <p:blipFill>
          <a:blip r:embed="rId3"/>
          <a:stretch>
            <a:fillRect/>
          </a:stretch>
        </p:blipFill>
        <p:spPr>
          <a:xfrm>
            <a:off x="1952676" y="1031364"/>
            <a:ext cx="8286648" cy="4971989"/>
          </a:xfrm>
        </p:spPr>
      </p:pic>
      <p:sp>
        <p:nvSpPr>
          <p:cNvPr id="5" name="TextBox 4">
            <a:extLst>
              <a:ext uri="{FF2B5EF4-FFF2-40B4-BE49-F238E27FC236}">
                <a16:creationId xmlns:a16="http://schemas.microsoft.com/office/drawing/2014/main" id="{F3276445-B343-B670-3449-F3E104BC6AA1}"/>
              </a:ext>
            </a:extLst>
          </p:cNvPr>
          <p:cNvSpPr txBox="1"/>
          <p:nvPr/>
        </p:nvSpPr>
        <p:spPr>
          <a:xfrm>
            <a:off x="10012101" y="1898249"/>
            <a:ext cx="1234633" cy="707886"/>
          </a:xfrm>
          <a:prstGeom prst="rect">
            <a:avLst/>
          </a:prstGeom>
          <a:noFill/>
        </p:spPr>
        <p:txBody>
          <a:bodyPr wrap="none" rtlCol="0">
            <a:spAutoFit/>
          </a:bodyPr>
          <a:lstStyle/>
          <a:p>
            <a:r>
              <a:rPr lang="en-GB" sz="4000" b="1" dirty="0">
                <a:solidFill>
                  <a:srgbClr val="C00000"/>
                </a:solidFill>
              </a:rPr>
              <a:t>n</a:t>
            </a:r>
            <a:r>
              <a:rPr lang="en-NL" sz="4000" b="1" dirty="0">
                <a:solidFill>
                  <a:srgbClr val="C00000"/>
                </a:solidFill>
              </a:rPr>
              <a:t>=10</a:t>
            </a:r>
          </a:p>
        </p:txBody>
      </p:sp>
      <p:sp>
        <p:nvSpPr>
          <p:cNvPr id="6" name="Rounded Rectangle 5">
            <a:extLst>
              <a:ext uri="{FF2B5EF4-FFF2-40B4-BE49-F238E27FC236}">
                <a16:creationId xmlns:a16="http://schemas.microsoft.com/office/drawing/2014/main" id="{B8DBCE6C-51BD-A0E8-8999-E66B43C57B6B}"/>
              </a:ext>
            </a:extLst>
          </p:cNvPr>
          <p:cNvSpPr/>
          <p:nvPr/>
        </p:nvSpPr>
        <p:spPr>
          <a:xfrm>
            <a:off x="7187878" y="1319514"/>
            <a:ext cx="462988" cy="34724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cxnSp>
        <p:nvCxnSpPr>
          <p:cNvPr id="8" name="Straight Connector 7">
            <a:extLst>
              <a:ext uri="{FF2B5EF4-FFF2-40B4-BE49-F238E27FC236}">
                <a16:creationId xmlns:a16="http://schemas.microsoft.com/office/drawing/2014/main" id="{4E2A4816-F87A-D899-AD60-D6A4DCED42B0}"/>
              </a:ext>
            </a:extLst>
          </p:cNvPr>
          <p:cNvCxnSpPr>
            <a:stCxn id="6" idx="3"/>
            <a:endCxn id="5" idx="1"/>
          </p:cNvCxnSpPr>
          <p:nvPr/>
        </p:nvCxnSpPr>
        <p:spPr>
          <a:xfrm>
            <a:off x="7650866" y="1493134"/>
            <a:ext cx="2361235" cy="75905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4170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73ADB-98EE-C95A-86A8-AA6138EF01C0}"/>
              </a:ext>
            </a:extLst>
          </p:cNvPr>
          <p:cNvSpPr>
            <a:spLocks noGrp="1"/>
          </p:cNvSpPr>
          <p:nvPr>
            <p:ph type="title"/>
          </p:nvPr>
        </p:nvSpPr>
        <p:spPr/>
        <p:txBody>
          <a:bodyPr/>
          <a:lstStyle/>
          <a:p>
            <a:r>
              <a:rPr lang="en-NL" dirty="0"/>
              <a:t>From Binomial to </a:t>
            </a:r>
            <a:r>
              <a:rPr lang="en-NL" dirty="0">
                <a:solidFill>
                  <a:schemeClr val="accent1"/>
                </a:solidFill>
              </a:rPr>
              <a:t>Poisson</a:t>
            </a:r>
          </a:p>
        </p:txBody>
      </p:sp>
      <p:sp>
        <p:nvSpPr>
          <p:cNvPr id="3" name="Content Placeholder 2">
            <a:extLst>
              <a:ext uri="{FF2B5EF4-FFF2-40B4-BE49-F238E27FC236}">
                <a16:creationId xmlns:a16="http://schemas.microsoft.com/office/drawing/2014/main" id="{7A777C98-F259-EED0-490B-5019F9E1420C}"/>
              </a:ext>
            </a:extLst>
          </p:cNvPr>
          <p:cNvSpPr>
            <a:spLocks noGrp="1"/>
          </p:cNvSpPr>
          <p:nvPr>
            <p:ph idx="1"/>
          </p:nvPr>
        </p:nvSpPr>
        <p:spPr/>
        <p:txBody>
          <a:bodyPr/>
          <a:lstStyle/>
          <a:p>
            <a:r>
              <a:rPr lang="en-NL" dirty="0"/>
              <a:t>We were </a:t>
            </a:r>
            <a:r>
              <a:rPr lang="en-NL" u="sng" dirty="0"/>
              <a:t>in control of the number of trials (n)</a:t>
            </a:r>
          </a:p>
          <a:p>
            <a:r>
              <a:rPr lang="en-NL" dirty="0"/>
              <a:t>If that number goes toward infinity, we get </a:t>
            </a:r>
            <a:r>
              <a:rPr lang="en-NL" b="1" dirty="0">
                <a:solidFill>
                  <a:schemeClr val="accent1"/>
                </a:solidFill>
              </a:rPr>
              <a:t>poisson</a:t>
            </a:r>
          </a:p>
          <a:p>
            <a:r>
              <a:rPr lang="en-NL" dirty="0"/>
              <a:t>Mostly used for </a:t>
            </a:r>
            <a:r>
              <a:rPr lang="en-NL" b="1" dirty="0"/>
              <a:t>fixed time intervals</a:t>
            </a:r>
            <a:endParaRPr lang="en-NL" dirty="0"/>
          </a:p>
        </p:txBody>
      </p:sp>
    </p:spTree>
    <p:extLst>
      <p:ext uri="{BB962C8B-B14F-4D97-AF65-F5344CB8AC3E}">
        <p14:creationId xmlns:p14="http://schemas.microsoft.com/office/powerpoint/2010/main" val="25879011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0E541-4A97-C58D-50B1-E49A4EE27578}"/>
            </a:ext>
          </a:extLst>
        </p:cNvPr>
        <p:cNvGrpSpPr/>
        <p:nvPr/>
      </p:nvGrpSpPr>
      <p:grpSpPr>
        <a:xfrm>
          <a:off x="0" y="0"/>
          <a:ext cx="0" cy="0"/>
          <a:chOff x="0" y="0"/>
          <a:chExt cx="0" cy="0"/>
        </a:xfrm>
      </p:grpSpPr>
      <p:sp>
        <p:nvSpPr>
          <p:cNvPr id="21" name="Rounded Rectangle 20">
            <a:extLst>
              <a:ext uri="{FF2B5EF4-FFF2-40B4-BE49-F238E27FC236}">
                <a16:creationId xmlns:a16="http://schemas.microsoft.com/office/drawing/2014/main" id="{FFC6231C-91D9-DE38-0EE2-5A80C8DE0F4B}"/>
              </a:ext>
            </a:extLst>
          </p:cNvPr>
          <p:cNvSpPr/>
          <p:nvPr/>
        </p:nvSpPr>
        <p:spPr>
          <a:xfrm>
            <a:off x="312517" y="1170260"/>
            <a:ext cx="6782764" cy="89851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
        <p:nvSpPr>
          <p:cNvPr id="2" name="Title 1">
            <a:extLst>
              <a:ext uri="{FF2B5EF4-FFF2-40B4-BE49-F238E27FC236}">
                <a16:creationId xmlns:a16="http://schemas.microsoft.com/office/drawing/2014/main" id="{1BB7E890-1C6B-8625-CE03-084BEB66DABA}"/>
              </a:ext>
            </a:extLst>
          </p:cNvPr>
          <p:cNvSpPr>
            <a:spLocks noGrp="1"/>
          </p:cNvSpPr>
          <p:nvPr>
            <p:ph type="title"/>
          </p:nvPr>
        </p:nvSpPr>
        <p:spPr/>
        <p:txBody>
          <a:bodyPr/>
          <a:lstStyle/>
          <a:p>
            <a:r>
              <a:rPr lang="en-NL" dirty="0"/>
              <a:t>From Binomial to </a:t>
            </a:r>
            <a:r>
              <a:rPr lang="en-NL" dirty="0">
                <a:solidFill>
                  <a:schemeClr val="accent1"/>
                </a:solidFill>
              </a:rPr>
              <a:t>Poisson: </a:t>
            </a:r>
            <a:r>
              <a:rPr lang="en-NL" dirty="0"/>
              <a:t>intuition of time</a:t>
            </a:r>
          </a:p>
        </p:txBody>
      </p:sp>
      <p:cxnSp>
        <p:nvCxnSpPr>
          <p:cNvPr id="11" name="Straight Arrow Connector 10">
            <a:extLst>
              <a:ext uri="{FF2B5EF4-FFF2-40B4-BE49-F238E27FC236}">
                <a16:creationId xmlns:a16="http://schemas.microsoft.com/office/drawing/2014/main" id="{2357346B-97C4-907B-6D09-FF17BBBDFD1B}"/>
              </a:ext>
            </a:extLst>
          </p:cNvPr>
          <p:cNvCxnSpPr/>
          <p:nvPr/>
        </p:nvCxnSpPr>
        <p:spPr>
          <a:xfrm>
            <a:off x="609600" y="2507208"/>
            <a:ext cx="1113484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E02BE7EA-446D-4501-FEF6-FF36C1823A32}"/>
              </a:ext>
            </a:extLst>
          </p:cNvPr>
          <p:cNvSpPr txBox="1"/>
          <p:nvPr/>
        </p:nvSpPr>
        <p:spPr>
          <a:xfrm>
            <a:off x="480001" y="1117830"/>
            <a:ext cx="6322565" cy="584775"/>
          </a:xfrm>
          <a:prstGeom prst="rect">
            <a:avLst/>
          </a:prstGeom>
          <a:noFill/>
        </p:spPr>
        <p:txBody>
          <a:bodyPr wrap="none" rtlCol="0">
            <a:spAutoFit/>
          </a:bodyPr>
          <a:lstStyle/>
          <a:p>
            <a:r>
              <a:rPr lang="en-NL" sz="3200" b="1" dirty="0"/>
              <a:t>Binomial: </a:t>
            </a:r>
            <a:r>
              <a:rPr lang="en-NL" sz="3200" dirty="0"/>
              <a:t>n=10, p=0.4 -&gt; 10 * 0.4 = 4</a:t>
            </a:r>
          </a:p>
        </p:txBody>
      </p:sp>
      <p:sp>
        <p:nvSpPr>
          <p:cNvPr id="15" name="Explosion 1 14">
            <a:extLst>
              <a:ext uri="{FF2B5EF4-FFF2-40B4-BE49-F238E27FC236}">
                <a16:creationId xmlns:a16="http://schemas.microsoft.com/office/drawing/2014/main" id="{BDC64215-6096-A697-2BF4-D942BF4B4134}"/>
              </a:ext>
            </a:extLst>
          </p:cNvPr>
          <p:cNvSpPr/>
          <p:nvPr/>
        </p:nvSpPr>
        <p:spPr>
          <a:xfrm>
            <a:off x="1296365" y="2316225"/>
            <a:ext cx="625033" cy="381965"/>
          </a:xfrm>
          <a:prstGeom prst="irregularSeal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NL"/>
          </a:p>
        </p:txBody>
      </p:sp>
      <p:sp>
        <p:nvSpPr>
          <p:cNvPr id="16" name="Explosion 1 15">
            <a:extLst>
              <a:ext uri="{FF2B5EF4-FFF2-40B4-BE49-F238E27FC236}">
                <a16:creationId xmlns:a16="http://schemas.microsoft.com/office/drawing/2014/main" id="{A9087AE4-2B67-73B8-793E-B245AD44AA67}"/>
              </a:ext>
            </a:extLst>
          </p:cNvPr>
          <p:cNvSpPr/>
          <p:nvPr/>
        </p:nvSpPr>
        <p:spPr>
          <a:xfrm>
            <a:off x="4316862" y="2333587"/>
            <a:ext cx="625033" cy="381965"/>
          </a:xfrm>
          <a:prstGeom prst="irregularSeal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NL"/>
          </a:p>
        </p:txBody>
      </p:sp>
      <p:sp>
        <p:nvSpPr>
          <p:cNvPr id="17" name="Explosion 1 16">
            <a:extLst>
              <a:ext uri="{FF2B5EF4-FFF2-40B4-BE49-F238E27FC236}">
                <a16:creationId xmlns:a16="http://schemas.microsoft.com/office/drawing/2014/main" id="{86D1A57C-EB21-2D5E-949D-8672A949CA2B}"/>
              </a:ext>
            </a:extLst>
          </p:cNvPr>
          <p:cNvSpPr/>
          <p:nvPr/>
        </p:nvSpPr>
        <p:spPr>
          <a:xfrm>
            <a:off x="6565175" y="2333587"/>
            <a:ext cx="625033" cy="381965"/>
          </a:xfrm>
          <a:prstGeom prst="irregularSeal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NL"/>
          </a:p>
        </p:txBody>
      </p:sp>
      <p:sp>
        <p:nvSpPr>
          <p:cNvPr id="18" name="Explosion 1 17">
            <a:extLst>
              <a:ext uri="{FF2B5EF4-FFF2-40B4-BE49-F238E27FC236}">
                <a16:creationId xmlns:a16="http://schemas.microsoft.com/office/drawing/2014/main" id="{5679DCFB-ACE0-853B-E354-441F0E6C0785}"/>
              </a:ext>
            </a:extLst>
          </p:cNvPr>
          <p:cNvSpPr/>
          <p:nvPr/>
        </p:nvSpPr>
        <p:spPr>
          <a:xfrm>
            <a:off x="9886709" y="2316224"/>
            <a:ext cx="625033" cy="381965"/>
          </a:xfrm>
          <a:prstGeom prst="irregularSeal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NL"/>
          </a:p>
        </p:txBody>
      </p:sp>
      <p:sp>
        <p:nvSpPr>
          <p:cNvPr id="19" name="TextBox 18">
            <a:extLst>
              <a:ext uri="{FF2B5EF4-FFF2-40B4-BE49-F238E27FC236}">
                <a16:creationId xmlns:a16="http://schemas.microsoft.com/office/drawing/2014/main" id="{A017CBC3-7C39-8182-97CD-88F2EEA67114}"/>
              </a:ext>
            </a:extLst>
          </p:cNvPr>
          <p:cNvSpPr txBox="1"/>
          <p:nvPr/>
        </p:nvSpPr>
        <p:spPr>
          <a:xfrm>
            <a:off x="1224577" y="3015762"/>
            <a:ext cx="9904891" cy="2492990"/>
          </a:xfrm>
          <a:prstGeom prst="rect">
            <a:avLst/>
          </a:prstGeom>
          <a:noFill/>
        </p:spPr>
        <p:txBody>
          <a:bodyPr wrap="none" rtlCol="0">
            <a:spAutoFit/>
          </a:bodyPr>
          <a:lstStyle/>
          <a:p>
            <a:pPr marL="571500" indent="-571500">
              <a:buAutoNum type="romanLcParenR"/>
            </a:pPr>
            <a:r>
              <a:rPr lang="en-GB" sz="3200" dirty="0"/>
              <a:t>N</a:t>
            </a:r>
            <a:r>
              <a:rPr lang="en-NL" sz="3200" dirty="0"/>
              <a:t> = 10 (10 </a:t>
            </a:r>
            <a:r>
              <a:rPr lang="en-NL" sz="3200" b="1" dirty="0">
                <a:solidFill>
                  <a:schemeClr val="accent1"/>
                </a:solidFill>
              </a:rPr>
              <a:t>days</a:t>
            </a:r>
            <a:r>
              <a:rPr lang="en-NL" sz="3200" dirty="0"/>
              <a:t>), p=0.40</a:t>
            </a:r>
          </a:p>
          <a:p>
            <a:pPr marL="571500" indent="-571500">
              <a:buAutoNum type="romanLcParenR"/>
            </a:pPr>
            <a:r>
              <a:rPr lang="en-NL" sz="3200" dirty="0"/>
              <a:t>N = 240 (10 * 24 </a:t>
            </a:r>
            <a:r>
              <a:rPr lang="en-NL" sz="3200" b="1" dirty="0">
                <a:solidFill>
                  <a:schemeClr val="accent1"/>
                </a:solidFill>
              </a:rPr>
              <a:t>hours</a:t>
            </a:r>
            <a:r>
              <a:rPr lang="en-NL" sz="3200" dirty="0"/>
              <a:t>), p=0.0167</a:t>
            </a:r>
          </a:p>
          <a:p>
            <a:pPr marL="571500" indent="-571500">
              <a:buAutoNum type="romanLcParenR"/>
            </a:pPr>
            <a:r>
              <a:rPr lang="en-NL" sz="3200" dirty="0"/>
              <a:t>N = 14000 (10 * 24 * 60 </a:t>
            </a:r>
            <a:r>
              <a:rPr lang="en-NL" sz="3200" b="1" dirty="0">
                <a:solidFill>
                  <a:schemeClr val="accent1"/>
                </a:solidFill>
              </a:rPr>
              <a:t>minutes</a:t>
            </a:r>
            <a:r>
              <a:rPr lang="en-NL" sz="3200" dirty="0"/>
              <a:t>), p = 0.000278</a:t>
            </a:r>
          </a:p>
          <a:p>
            <a:pPr marL="571500" indent="-571500">
              <a:buAutoNum type="romanLcParenR"/>
            </a:pPr>
            <a:r>
              <a:rPr lang="en-NL" sz="3200" dirty="0"/>
              <a:t>N = 864000 (10 * 24 * 60 * 60 </a:t>
            </a:r>
            <a:r>
              <a:rPr lang="en-NL" sz="3200" b="1" dirty="0">
                <a:solidFill>
                  <a:schemeClr val="accent1"/>
                </a:solidFill>
              </a:rPr>
              <a:t>seconds</a:t>
            </a:r>
            <a:r>
              <a:rPr lang="en-NL" sz="3200" dirty="0"/>
              <a:t>), p=0.00000463</a:t>
            </a:r>
          </a:p>
          <a:p>
            <a:pPr marL="571500" indent="-571500">
              <a:buAutoNum type="romanLcParenR"/>
            </a:pPr>
            <a:endParaRPr lang="en-NL" sz="2800" dirty="0"/>
          </a:p>
        </p:txBody>
      </p:sp>
      <p:sp>
        <p:nvSpPr>
          <p:cNvPr id="20" name="TextBox 19">
            <a:extLst>
              <a:ext uri="{FF2B5EF4-FFF2-40B4-BE49-F238E27FC236}">
                <a16:creationId xmlns:a16="http://schemas.microsoft.com/office/drawing/2014/main" id="{4254F4A8-3C57-AC87-83DF-147AE19907F7}"/>
              </a:ext>
            </a:extLst>
          </p:cNvPr>
          <p:cNvSpPr txBox="1"/>
          <p:nvPr/>
        </p:nvSpPr>
        <p:spPr>
          <a:xfrm>
            <a:off x="573016" y="1642997"/>
            <a:ext cx="2696764" cy="461665"/>
          </a:xfrm>
          <a:prstGeom prst="rect">
            <a:avLst/>
          </a:prstGeom>
          <a:noFill/>
        </p:spPr>
        <p:txBody>
          <a:bodyPr wrap="none" rtlCol="0">
            <a:spAutoFit/>
          </a:bodyPr>
          <a:lstStyle/>
          <a:p>
            <a:r>
              <a:rPr lang="en-NL" sz="2400" b="1" dirty="0"/>
              <a:t>4 crashes in 10 days</a:t>
            </a:r>
          </a:p>
        </p:txBody>
      </p:sp>
    </p:spTree>
    <p:extLst>
      <p:ext uri="{BB962C8B-B14F-4D97-AF65-F5344CB8AC3E}">
        <p14:creationId xmlns:p14="http://schemas.microsoft.com/office/powerpoint/2010/main" val="2469628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1BF80-DE51-0D8B-D420-D2E090C6FF2B}"/>
            </a:ext>
          </a:extLst>
        </p:cNvPr>
        <p:cNvGrpSpPr/>
        <p:nvPr/>
      </p:nvGrpSpPr>
      <p:grpSpPr>
        <a:xfrm>
          <a:off x="0" y="0"/>
          <a:ext cx="0" cy="0"/>
          <a:chOff x="0" y="0"/>
          <a:chExt cx="0" cy="0"/>
        </a:xfrm>
      </p:grpSpPr>
      <p:sp>
        <p:nvSpPr>
          <p:cNvPr id="21" name="Rounded Rectangle 20">
            <a:extLst>
              <a:ext uri="{FF2B5EF4-FFF2-40B4-BE49-F238E27FC236}">
                <a16:creationId xmlns:a16="http://schemas.microsoft.com/office/drawing/2014/main" id="{45399E1A-F51C-BE64-7A86-2391D6F68313}"/>
              </a:ext>
            </a:extLst>
          </p:cNvPr>
          <p:cNvSpPr/>
          <p:nvPr/>
        </p:nvSpPr>
        <p:spPr>
          <a:xfrm>
            <a:off x="312517" y="1170260"/>
            <a:ext cx="6782764" cy="89851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
        <p:nvSpPr>
          <p:cNvPr id="2" name="Title 1">
            <a:extLst>
              <a:ext uri="{FF2B5EF4-FFF2-40B4-BE49-F238E27FC236}">
                <a16:creationId xmlns:a16="http://schemas.microsoft.com/office/drawing/2014/main" id="{DA5C591B-489C-1C9B-D9CD-F19603022C40}"/>
              </a:ext>
            </a:extLst>
          </p:cNvPr>
          <p:cNvSpPr>
            <a:spLocks noGrp="1"/>
          </p:cNvSpPr>
          <p:nvPr>
            <p:ph type="title"/>
          </p:nvPr>
        </p:nvSpPr>
        <p:spPr/>
        <p:txBody>
          <a:bodyPr/>
          <a:lstStyle/>
          <a:p>
            <a:r>
              <a:rPr lang="en-NL" dirty="0"/>
              <a:t>From Binomial to </a:t>
            </a:r>
            <a:r>
              <a:rPr lang="en-NL" dirty="0">
                <a:solidFill>
                  <a:schemeClr val="accent1"/>
                </a:solidFill>
              </a:rPr>
              <a:t>Poisson: </a:t>
            </a:r>
            <a:r>
              <a:rPr lang="en-NL" dirty="0"/>
              <a:t>intuition of time</a:t>
            </a:r>
          </a:p>
        </p:txBody>
      </p:sp>
      <p:cxnSp>
        <p:nvCxnSpPr>
          <p:cNvPr id="11" name="Straight Arrow Connector 10">
            <a:extLst>
              <a:ext uri="{FF2B5EF4-FFF2-40B4-BE49-F238E27FC236}">
                <a16:creationId xmlns:a16="http://schemas.microsoft.com/office/drawing/2014/main" id="{78DE12C0-2F8D-71CB-E91C-0A3A5EC74F16}"/>
              </a:ext>
            </a:extLst>
          </p:cNvPr>
          <p:cNvCxnSpPr/>
          <p:nvPr/>
        </p:nvCxnSpPr>
        <p:spPr>
          <a:xfrm>
            <a:off x="609600" y="2507208"/>
            <a:ext cx="1113484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88C79AEF-E35C-4452-0C9E-73DC5DFDA072}"/>
              </a:ext>
            </a:extLst>
          </p:cNvPr>
          <p:cNvSpPr txBox="1"/>
          <p:nvPr/>
        </p:nvSpPr>
        <p:spPr>
          <a:xfrm>
            <a:off x="480001" y="1117830"/>
            <a:ext cx="6322565" cy="584775"/>
          </a:xfrm>
          <a:prstGeom prst="rect">
            <a:avLst/>
          </a:prstGeom>
          <a:noFill/>
        </p:spPr>
        <p:txBody>
          <a:bodyPr wrap="none" rtlCol="0">
            <a:spAutoFit/>
          </a:bodyPr>
          <a:lstStyle/>
          <a:p>
            <a:r>
              <a:rPr lang="en-NL" sz="3200" b="1" dirty="0"/>
              <a:t>Binomial: </a:t>
            </a:r>
            <a:r>
              <a:rPr lang="en-NL" sz="3200" dirty="0"/>
              <a:t>n=10, p=0.4 -&gt; 10 * 0.4 = 4</a:t>
            </a:r>
          </a:p>
        </p:txBody>
      </p:sp>
      <p:sp>
        <p:nvSpPr>
          <p:cNvPr id="15" name="Explosion 1 14">
            <a:extLst>
              <a:ext uri="{FF2B5EF4-FFF2-40B4-BE49-F238E27FC236}">
                <a16:creationId xmlns:a16="http://schemas.microsoft.com/office/drawing/2014/main" id="{239E0F6E-395F-6647-656B-8D0612F61FB7}"/>
              </a:ext>
            </a:extLst>
          </p:cNvPr>
          <p:cNvSpPr/>
          <p:nvPr/>
        </p:nvSpPr>
        <p:spPr>
          <a:xfrm>
            <a:off x="1296365" y="2316225"/>
            <a:ext cx="625033" cy="381965"/>
          </a:xfrm>
          <a:prstGeom prst="irregularSeal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NL"/>
          </a:p>
        </p:txBody>
      </p:sp>
      <p:sp>
        <p:nvSpPr>
          <p:cNvPr id="16" name="Explosion 1 15">
            <a:extLst>
              <a:ext uri="{FF2B5EF4-FFF2-40B4-BE49-F238E27FC236}">
                <a16:creationId xmlns:a16="http://schemas.microsoft.com/office/drawing/2014/main" id="{31B2A54B-2332-B615-3442-F219D3D1E0D3}"/>
              </a:ext>
            </a:extLst>
          </p:cNvPr>
          <p:cNvSpPr/>
          <p:nvPr/>
        </p:nvSpPr>
        <p:spPr>
          <a:xfrm>
            <a:off x="4316862" y="2333587"/>
            <a:ext cx="625033" cy="381965"/>
          </a:xfrm>
          <a:prstGeom prst="irregularSeal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NL"/>
          </a:p>
        </p:txBody>
      </p:sp>
      <p:sp>
        <p:nvSpPr>
          <p:cNvPr id="17" name="Explosion 1 16">
            <a:extLst>
              <a:ext uri="{FF2B5EF4-FFF2-40B4-BE49-F238E27FC236}">
                <a16:creationId xmlns:a16="http://schemas.microsoft.com/office/drawing/2014/main" id="{027A4FAB-962A-2484-A770-528FA9BA0256}"/>
              </a:ext>
            </a:extLst>
          </p:cNvPr>
          <p:cNvSpPr/>
          <p:nvPr/>
        </p:nvSpPr>
        <p:spPr>
          <a:xfrm>
            <a:off x="6565175" y="2333587"/>
            <a:ext cx="625033" cy="381965"/>
          </a:xfrm>
          <a:prstGeom prst="irregularSeal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NL"/>
          </a:p>
        </p:txBody>
      </p:sp>
      <p:sp>
        <p:nvSpPr>
          <p:cNvPr id="18" name="Explosion 1 17">
            <a:extLst>
              <a:ext uri="{FF2B5EF4-FFF2-40B4-BE49-F238E27FC236}">
                <a16:creationId xmlns:a16="http://schemas.microsoft.com/office/drawing/2014/main" id="{91C3DA91-0138-33A3-D4AD-A310B105F92A}"/>
              </a:ext>
            </a:extLst>
          </p:cNvPr>
          <p:cNvSpPr/>
          <p:nvPr/>
        </p:nvSpPr>
        <p:spPr>
          <a:xfrm>
            <a:off x="9886709" y="2316224"/>
            <a:ext cx="625033" cy="381965"/>
          </a:xfrm>
          <a:prstGeom prst="irregularSeal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NL"/>
          </a:p>
        </p:txBody>
      </p:sp>
      <p:sp>
        <p:nvSpPr>
          <p:cNvPr id="19" name="TextBox 18">
            <a:extLst>
              <a:ext uri="{FF2B5EF4-FFF2-40B4-BE49-F238E27FC236}">
                <a16:creationId xmlns:a16="http://schemas.microsoft.com/office/drawing/2014/main" id="{2DEB7397-3483-B88A-D2A8-8F52FEA7060A}"/>
              </a:ext>
            </a:extLst>
          </p:cNvPr>
          <p:cNvSpPr txBox="1"/>
          <p:nvPr/>
        </p:nvSpPr>
        <p:spPr>
          <a:xfrm>
            <a:off x="1224577" y="3015762"/>
            <a:ext cx="9904891" cy="2492990"/>
          </a:xfrm>
          <a:prstGeom prst="rect">
            <a:avLst/>
          </a:prstGeom>
          <a:noFill/>
        </p:spPr>
        <p:txBody>
          <a:bodyPr wrap="none" rtlCol="0">
            <a:spAutoFit/>
          </a:bodyPr>
          <a:lstStyle/>
          <a:p>
            <a:pPr marL="571500" indent="-571500">
              <a:buAutoNum type="romanLcParenR"/>
            </a:pPr>
            <a:r>
              <a:rPr lang="en-GB" sz="3200" dirty="0"/>
              <a:t>N</a:t>
            </a:r>
            <a:r>
              <a:rPr lang="en-NL" sz="3200" dirty="0"/>
              <a:t> = 10 (10 </a:t>
            </a:r>
            <a:r>
              <a:rPr lang="en-NL" sz="3200" b="1" dirty="0">
                <a:solidFill>
                  <a:schemeClr val="accent1"/>
                </a:solidFill>
              </a:rPr>
              <a:t>days</a:t>
            </a:r>
            <a:r>
              <a:rPr lang="en-NL" sz="3200" dirty="0"/>
              <a:t>), p=0.40</a:t>
            </a:r>
          </a:p>
          <a:p>
            <a:pPr marL="571500" indent="-571500">
              <a:buAutoNum type="romanLcParenR"/>
            </a:pPr>
            <a:r>
              <a:rPr lang="en-NL" sz="3200" dirty="0"/>
              <a:t>N = 240 (10 * 24 </a:t>
            </a:r>
            <a:r>
              <a:rPr lang="en-NL" sz="3200" b="1" dirty="0">
                <a:solidFill>
                  <a:schemeClr val="accent1"/>
                </a:solidFill>
              </a:rPr>
              <a:t>hours</a:t>
            </a:r>
            <a:r>
              <a:rPr lang="en-NL" sz="3200" dirty="0"/>
              <a:t>), p=0.0167</a:t>
            </a:r>
          </a:p>
          <a:p>
            <a:pPr marL="571500" indent="-571500">
              <a:buAutoNum type="romanLcParenR"/>
            </a:pPr>
            <a:r>
              <a:rPr lang="en-NL" sz="3200" dirty="0"/>
              <a:t>N = 14000 (10 * 24 * 60 </a:t>
            </a:r>
            <a:r>
              <a:rPr lang="en-NL" sz="3200" b="1" dirty="0">
                <a:solidFill>
                  <a:schemeClr val="accent1"/>
                </a:solidFill>
              </a:rPr>
              <a:t>minutes</a:t>
            </a:r>
            <a:r>
              <a:rPr lang="en-NL" sz="3200" dirty="0"/>
              <a:t>), p = 0.000278</a:t>
            </a:r>
          </a:p>
          <a:p>
            <a:pPr marL="571500" indent="-571500">
              <a:buAutoNum type="romanLcParenR"/>
            </a:pPr>
            <a:r>
              <a:rPr lang="en-NL" sz="3200" dirty="0"/>
              <a:t>N = 864000 (10 * 24 * 60 * 60 </a:t>
            </a:r>
            <a:r>
              <a:rPr lang="en-NL" sz="3200" b="1" dirty="0">
                <a:solidFill>
                  <a:schemeClr val="accent1"/>
                </a:solidFill>
              </a:rPr>
              <a:t>seconds</a:t>
            </a:r>
            <a:r>
              <a:rPr lang="en-NL" sz="3200" dirty="0"/>
              <a:t>), p=0.00000463</a:t>
            </a:r>
          </a:p>
          <a:p>
            <a:pPr marL="571500" indent="-571500">
              <a:buAutoNum type="romanLcParenR"/>
            </a:pPr>
            <a:endParaRPr lang="en-NL" sz="2800" dirty="0"/>
          </a:p>
        </p:txBody>
      </p:sp>
      <p:sp>
        <p:nvSpPr>
          <p:cNvPr id="20" name="TextBox 19">
            <a:extLst>
              <a:ext uri="{FF2B5EF4-FFF2-40B4-BE49-F238E27FC236}">
                <a16:creationId xmlns:a16="http://schemas.microsoft.com/office/drawing/2014/main" id="{2098C54E-61C1-1E3F-FBCB-43A9866B760F}"/>
              </a:ext>
            </a:extLst>
          </p:cNvPr>
          <p:cNvSpPr txBox="1"/>
          <p:nvPr/>
        </p:nvSpPr>
        <p:spPr>
          <a:xfrm>
            <a:off x="573016" y="1642997"/>
            <a:ext cx="2696764" cy="461665"/>
          </a:xfrm>
          <a:prstGeom prst="rect">
            <a:avLst/>
          </a:prstGeom>
          <a:noFill/>
        </p:spPr>
        <p:txBody>
          <a:bodyPr wrap="none" rtlCol="0">
            <a:spAutoFit/>
          </a:bodyPr>
          <a:lstStyle/>
          <a:p>
            <a:r>
              <a:rPr lang="en-NL" sz="2400" b="1" dirty="0"/>
              <a:t>4 crashes in 10 days</a:t>
            </a:r>
          </a:p>
        </p:txBody>
      </p:sp>
      <p:sp>
        <p:nvSpPr>
          <p:cNvPr id="3" name="Rectangle 2">
            <a:extLst>
              <a:ext uri="{FF2B5EF4-FFF2-40B4-BE49-F238E27FC236}">
                <a16:creationId xmlns:a16="http://schemas.microsoft.com/office/drawing/2014/main" id="{579FED80-5A73-1E3E-9065-CCF50EF4682D}"/>
              </a:ext>
            </a:extLst>
          </p:cNvPr>
          <p:cNvSpPr/>
          <p:nvPr/>
        </p:nvSpPr>
        <p:spPr>
          <a:xfrm>
            <a:off x="1747777" y="3015762"/>
            <a:ext cx="544010" cy="2134972"/>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4" name="TextBox 3">
            <a:extLst>
              <a:ext uri="{FF2B5EF4-FFF2-40B4-BE49-F238E27FC236}">
                <a16:creationId xmlns:a16="http://schemas.microsoft.com/office/drawing/2014/main" id="{1A555203-DF99-3C69-A1E2-FEAAA85CAEE2}"/>
              </a:ext>
            </a:extLst>
          </p:cNvPr>
          <p:cNvSpPr txBox="1"/>
          <p:nvPr/>
        </p:nvSpPr>
        <p:spPr>
          <a:xfrm>
            <a:off x="879833" y="5224187"/>
            <a:ext cx="2900346" cy="584775"/>
          </a:xfrm>
          <a:prstGeom prst="rect">
            <a:avLst/>
          </a:prstGeom>
          <a:noFill/>
        </p:spPr>
        <p:txBody>
          <a:bodyPr wrap="none" rtlCol="0">
            <a:spAutoFit/>
          </a:bodyPr>
          <a:lstStyle/>
          <a:p>
            <a:r>
              <a:rPr lang="en-NL" sz="3200" b="1" dirty="0">
                <a:solidFill>
                  <a:schemeClr val="accent1"/>
                </a:solidFill>
              </a:rPr>
              <a:t>Towards infinity</a:t>
            </a:r>
          </a:p>
        </p:txBody>
      </p:sp>
      <p:sp>
        <p:nvSpPr>
          <p:cNvPr id="5" name="Rounded Rectangle 4">
            <a:extLst>
              <a:ext uri="{FF2B5EF4-FFF2-40B4-BE49-F238E27FC236}">
                <a16:creationId xmlns:a16="http://schemas.microsoft.com/office/drawing/2014/main" id="{DCD4E363-10A5-155F-0F8C-7C5E7D91550A}"/>
              </a:ext>
            </a:extLst>
          </p:cNvPr>
          <p:cNvSpPr/>
          <p:nvPr/>
        </p:nvSpPr>
        <p:spPr>
          <a:xfrm>
            <a:off x="8461094" y="4537276"/>
            <a:ext cx="2668374" cy="50008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6" name="TextBox 5">
            <a:extLst>
              <a:ext uri="{FF2B5EF4-FFF2-40B4-BE49-F238E27FC236}">
                <a16:creationId xmlns:a16="http://schemas.microsoft.com/office/drawing/2014/main" id="{9CB52CB2-73A1-5D38-7FFB-3C6F99E6DFD6}"/>
              </a:ext>
            </a:extLst>
          </p:cNvPr>
          <p:cNvSpPr txBox="1"/>
          <p:nvPr/>
        </p:nvSpPr>
        <p:spPr>
          <a:xfrm>
            <a:off x="8247373" y="5037356"/>
            <a:ext cx="3750197" cy="1815882"/>
          </a:xfrm>
          <a:prstGeom prst="rect">
            <a:avLst/>
          </a:prstGeom>
          <a:noFill/>
        </p:spPr>
        <p:txBody>
          <a:bodyPr wrap="square" rtlCol="0">
            <a:spAutoFit/>
          </a:bodyPr>
          <a:lstStyle/>
          <a:p>
            <a:pPr algn="ctr"/>
            <a:r>
              <a:rPr lang="en-NL" sz="2800" dirty="0">
                <a:solidFill>
                  <a:schemeClr val="accent1"/>
                </a:solidFill>
              </a:rPr>
              <a:t>As interval becomes smaller, probability per interval </a:t>
            </a:r>
            <a:r>
              <a:rPr lang="en-NL" sz="2800" b="1" dirty="0">
                <a:solidFill>
                  <a:schemeClr val="accent1"/>
                </a:solidFill>
              </a:rPr>
              <a:t>decreases as well</a:t>
            </a:r>
          </a:p>
        </p:txBody>
      </p:sp>
    </p:spTree>
    <p:extLst>
      <p:ext uri="{BB962C8B-B14F-4D97-AF65-F5344CB8AC3E}">
        <p14:creationId xmlns:p14="http://schemas.microsoft.com/office/powerpoint/2010/main" val="1346134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455B3-4726-A88B-C65E-5BCAA547878A}"/>
            </a:ext>
          </a:extLst>
        </p:cNvPr>
        <p:cNvGrpSpPr/>
        <p:nvPr/>
      </p:nvGrpSpPr>
      <p:grpSpPr>
        <a:xfrm>
          <a:off x="0" y="0"/>
          <a:ext cx="0" cy="0"/>
          <a:chOff x="0" y="0"/>
          <a:chExt cx="0" cy="0"/>
        </a:xfrm>
      </p:grpSpPr>
      <p:sp>
        <p:nvSpPr>
          <p:cNvPr id="21" name="Rounded Rectangle 20">
            <a:extLst>
              <a:ext uri="{FF2B5EF4-FFF2-40B4-BE49-F238E27FC236}">
                <a16:creationId xmlns:a16="http://schemas.microsoft.com/office/drawing/2014/main" id="{0B7EECB3-6A52-4D11-9A1C-C8C973942C1A}"/>
              </a:ext>
            </a:extLst>
          </p:cNvPr>
          <p:cNvSpPr/>
          <p:nvPr/>
        </p:nvSpPr>
        <p:spPr>
          <a:xfrm>
            <a:off x="312517" y="1170260"/>
            <a:ext cx="6782764" cy="89851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
        <p:nvSpPr>
          <p:cNvPr id="2" name="Title 1">
            <a:extLst>
              <a:ext uri="{FF2B5EF4-FFF2-40B4-BE49-F238E27FC236}">
                <a16:creationId xmlns:a16="http://schemas.microsoft.com/office/drawing/2014/main" id="{97F59510-19D9-2065-63AE-DFD0318540A6}"/>
              </a:ext>
            </a:extLst>
          </p:cNvPr>
          <p:cNvSpPr>
            <a:spLocks noGrp="1"/>
          </p:cNvSpPr>
          <p:nvPr>
            <p:ph type="title"/>
          </p:nvPr>
        </p:nvSpPr>
        <p:spPr/>
        <p:txBody>
          <a:bodyPr/>
          <a:lstStyle/>
          <a:p>
            <a:r>
              <a:rPr lang="en-NL" dirty="0"/>
              <a:t>From Binomial to </a:t>
            </a:r>
            <a:r>
              <a:rPr lang="en-NL" dirty="0">
                <a:solidFill>
                  <a:schemeClr val="accent1"/>
                </a:solidFill>
              </a:rPr>
              <a:t>Poisson: </a:t>
            </a:r>
            <a:r>
              <a:rPr lang="en-NL" dirty="0"/>
              <a:t>intuition of time</a:t>
            </a:r>
          </a:p>
        </p:txBody>
      </p:sp>
      <p:cxnSp>
        <p:nvCxnSpPr>
          <p:cNvPr id="11" name="Straight Arrow Connector 10">
            <a:extLst>
              <a:ext uri="{FF2B5EF4-FFF2-40B4-BE49-F238E27FC236}">
                <a16:creationId xmlns:a16="http://schemas.microsoft.com/office/drawing/2014/main" id="{C0FADD92-8C56-A987-C9BB-E0C9049D9484}"/>
              </a:ext>
            </a:extLst>
          </p:cNvPr>
          <p:cNvCxnSpPr/>
          <p:nvPr/>
        </p:nvCxnSpPr>
        <p:spPr>
          <a:xfrm>
            <a:off x="609600" y="2507208"/>
            <a:ext cx="1113484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BA4BFAF7-7140-DB98-E452-FFBAE23DC5E6}"/>
              </a:ext>
            </a:extLst>
          </p:cNvPr>
          <p:cNvSpPr txBox="1"/>
          <p:nvPr/>
        </p:nvSpPr>
        <p:spPr>
          <a:xfrm>
            <a:off x="480001" y="1117830"/>
            <a:ext cx="6322565" cy="584775"/>
          </a:xfrm>
          <a:prstGeom prst="rect">
            <a:avLst/>
          </a:prstGeom>
          <a:noFill/>
        </p:spPr>
        <p:txBody>
          <a:bodyPr wrap="none" rtlCol="0">
            <a:spAutoFit/>
          </a:bodyPr>
          <a:lstStyle/>
          <a:p>
            <a:r>
              <a:rPr lang="en-NL" sz="3200" b="1" dirty="0"/>
              <a:t>Binomial: </a:t>
            </a:r>
            <a:r>
              <a:rPr lang="en-NL" sz="3200" dirty="0"/>
              <a:t>n=10, p=0.4 -&gt; 10 * 0.4 = 4</a:t>
            </a:r>
          </a:p>
        </p:txBody>
      </p:sp>
      <p:sp>
        <p:nvSpPr>
          <p:cNvPr id="15" name="Explosion 1 14">
            <a:extLst>
              <a:ext uri="{FF2B5EF4-FFF2-40B4-BE49-F238E27FC236}">
                <a16:creationId xmlns:a16="http://schemas.microsoft.com/office/drawing/2014/main" id="{83A35EDB-CAF1-15E0-2C26-16F353F2B379}"/>
              </a:ext>
            </a:extLst>
          </p:cNvPr>
          <p:cNvSpPr/>
          <p:nvPr/>
        </p:nvSpPr>
        <p:spPr>
          <a:xfrm>
            <a:off x="1296365" y="2316225"/>
            <a:ext cx="625033" cy="381965"/>
          </a:xfrm>
          <a:prstGeom prst="irregularSeal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NL"/>
          </a:p>
        </p:txBody>
      </p:sp>
      <p:sp>
        <p:nvSpPr>
          <p:cNvPr id="16" name="Explosion 1 15">
            <a:extLst>
              <a:ext uri="{FF2B5EF4-FFF2-40B4-BE49-F238E27FC236}">
                <a16:creationId xmlns:a16="http://schemas.microsoft.com/office/drawing/2014/main" id="{A3F4457C-BE66-A0A9-40C7-FC098D710CA4}"/>
              </a:ext>
            </a:extLst>
          </p:cNvPr>
          <p:cNvSpPr/>
          <p:nvPr/>
        </p:nvSpPr>
        <p:spPr>
          <a:xfrm>
            <a:off x="4316862" y="2333587"/>
            <a:ext cx="625033" cy="381965"/>
          </a:xfrm>
          <a:prstGeom prst="irregularSeal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NL"/>
          </a:p>
        </p:txBody>
      </p:sp>
      <p:sp>
        <p:nvSpPr>
          <p:cNvPr id="17" name="Explosion 1 16">
            <a:extLst>
              <a:ext uri="{FF2B5EF4-FFF2-40B4-BE49-F238E27FC236}">
                <a16:creationId xmlns:a16="http://schemas.microsoft.com/office/drawing/2014/main" id="{B95E53AD-9FB3-AAE4-39BF-0F173C178EF2}"/>
              </a:ext>
            </a:extLst>
          </p:cNvPr>
          <p:cNvSpPr/>
          <p:nvPr/>
        </p:nvSpPr>
        <p:spPr>
          <a:xfrm>
            <a:off x="6565175" y="2333587"/>
            <a:ext cx="625033" cy="381965"/>
          </a:xfrm>
          <a:prstGeom prst="irregularSeal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NL"/>
          </a:p>
        </p:txBody>
      </p:sp>
      <p:sp>
        <p:nvSpPr>
          <p:cNvPr id="18" name="Explosion 1 17">
            <a:extLst>
              <a:ext uri="{FF2B5EF4-FFF2-40B4-BE49-F238E27FC236}">
                <a16:creationId xmlns:a16="http://schemas.microsoft.com/office/drawing/2014/main" id="{AB6196DE-4639-4809-AF62-A1D9316F07BD}"/>
              </a:ext>
            </a:extLst>
          </p:cNvPr>
          <p:cNvSpPr/>
          <p:nvPr/>
        </p:nvSpPr>
        <p:spPr>
          <a:xfrm>
            <a:off x="9886709" y="2316224"/>
            <a:ext cx="625033" cy="381965"/>
          </a:xfrm>
          <a:prstGeom prst="irregularSeal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NL"/>
          </a:p>
        </p:txBody>
      </p:sp>
      <p:sp>
        <p:nvSpPr>
          <p:cNvPr id="20" name="TextBox 19">
            <a:extLst>
              <a:ext uri="{FF2B5EF4-FFF2-40B4-BE49-F238E27FC236}">
                <a16:creationId xmlns:a16="http://schemas.microsoft.com/office/drawing/2014/main" id="{22FE3364-3423-80A2-B237-0DACEA705FFB}"/>
              </a:ext>
            </a:extLst>
          </p:cNvPr>
          <p:cNvSpPr txBox="1"/>
          <p:nvPr/>
        </p:nvSpPr>
        <p:spPr>
          <a:xfrm>
            <a:off x="573016" y="1642997"/>
            <a:ext cx="2696764" cy="461665"/>
          </a:xfrm>
          <a:prstGeom prst="rect">
            <a:avLst/>
          </a:prstGeom>
          <a:noFill/>
        </p:spPr>
        <p:txBody>
          <a:bodyPr wrap="none" rtlCol="0">
            <a:spAutoFit/>
          </a:bodyPr>
          <a:lstStyle/>
          <a:p>
            <a:r>
              <a:rPr lang="en-NL" sz="2400" b="1" dirty="0"/>
              <a:t>4 crashes in 10 days</a:t>
            </a:r>
          </a:p>
        </p:txBody>
      </p:sp>
      <p:sp>
        <p:nvSpPr>
          <p:cNvPr id="8" name="TextBox 7">
            <a:extLst>
              <a:ext uri="{FF2B5EF4-FFF2-40B4-BE49-F238E27FC236}">
                <a16:creationId xmlns:a16="http://schemas.microsoft.com/office/drawing/2014/main" id="{E7CB5458-D9F6-15E1-5F71-7CDA81D9F89D}"/>
              </a:ext>
            </a:extLst>
          </p:cNvPr>
          <p:cNvSpPr txBox="1"/>
          <p:nvPr/>
        </p:nvSpPr>
        <p:spPr>
          <a:xfrm>
            <a:off x="1296365" y="3621202"/>
            <a:ext cx="8892814" cy="1077218"/>
          </a:xfrm>
          <a:prstGeom prst="rect">
            <a:avLst/>
          </a:prstGeom>
          <a:noFill/>
        </p:spPr>
        <p:txBody>
          <a:bodyPr wrap="square">
            <a:spAutoFit/>
          </a:bodyPr>
          <a:lstStyle/>
          <a:p>
            <a:r>
              <a:rPr lang="en-US" sz="3200" noProof="1"/>
              <a:t>What remains constant? The number of crashes per 10 days, regardless of n or p. </a:t>
            </a:r>
            <a:endParaRPr lang="en-US" sz="3200" b="1" noProof="1">
              <a:solidFill>
                <a:schemeClr val="accent1"/>
              </a:solidFill>
            </a:endParaRPr>
          </a:p>
        </p:txBody>
      </p:sp>
      <p:sp>
        <p:nvSpPr>
          <p:cNvPr id="9" name="TextBox 8">
            <a:extLst>
              <a:ext uri="{FF2B5EF4-FFF2-40B4-BE49-F238E27FC236}">
                <a16:creationId xmlns:a16="http://schemas.microsoft.com/office/drawing/2014/main" id="{EF7D6841-671E-2536-9C4C-00DE9CD88177}"/>
              </a:ext>
            </a:extLst>
          </p:cNvPr>
          <p:cNvSpPr txBox="1"/>
          <p:nvPr/>
        </p:nvSpPr>
        <p:spPr>
          <a:xfrm>
            <a:off x="4941895" y="4834629"/>
            <a:ext cx="1802234" cy="769441"/>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4400" b="1" noProof="1"/>
              <a:t>λ = 4</a:t>
            </a:r>
            <a:endParaRPr lang="en-NL" sz="4400" dirty="0"/>
          </a:p>
        </p:txBody>
      </p:sp>
      <p:sp>
        <p:nvSpPr>
          <p:cNvPr id="10" name="Curved Right Arrow 9">
            <a:extLst>
              <a:ext uri="{FF2B5EF4-FFF2-40B4-BE49-F238E27FC236}">
                <a16:creationId xmlns:a16="http://schemas.microsoft.com/office/drawing/2014/main" id="{362CC147-3821-BEDA-FB62-1F07C83D41E4}"/>
              </a:ext>
            </a:extLst>
          </p:cNvPr>
          <p:cNvSpPr/>
          <p:nvPr/>
        </p:nvSpPr>
        <p:spPr>
          <a:xfrm rot="20704846">
            <a:off x="435881" y="1855738"/>
            <a:ext cx="414174" cy="2532219"/>
          </a:xfrm>
          <a:prstGeom prst="curv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solidFill>
                <a:schemeClr val="tx1"/>
              </a:solidFill>
            </a:endParaRPr>
          </a:p>
        </p:txBody>
      </p:sp>
      <p:sp>
        <p:nvSpPr>
          <p:cNvPr id="12" name="TextBox 11">
            <a:extLst>
              <a:ext uri="{FF2B5EF4-FFF2-40B4-BE49-F238E27FC236}">
                <a16:creationId xmlns:a16="http://schemas.microsoft.com/office/drawing/2014/main" id="{96C0101C-CE58-CB80-7192-0F9825B2E26F}"/>
              </a:ext>
            </a:extLst>
          </p:cNvPr>
          <p:cNvSpPr txBox="1"/>
          <p:nvPr/>
        </p:nvSpPr>
        <p:spPr>
          <a:xfrm>
            <a:off x="3703899" y="5621432"/>
            <a:ext cx="4767780" cy="461665"/>
          </a:xfrm>
          <a:prstGeom prst="rect">
            <a:avLst/>
          </a:prstGeom>
          <a:noFill/>
        </p:spPr>
        <p:txBody>
          <a:bodyPr wrap="none" rtlCol="0">
            <a:spAutoFit/>
          </a:bodyPr>
          <a:lstStyle/>
          <a:p>
            <a:r>
              <a:rPr lang="en-NL" sz="2400" dirty="0">
                <a:solidFill>
                  <a:schemeClr val="accent1"/>
                </a:solidFill>
              </a:rPr>
              <a:t>Lambda is our parameter for Poisson</a:t>
            </a:r>
          </a:p>
        </p:txBody>
      </p:sp>
    </p:spTree>
    <p:extLst>
      <p:ext uri="{BB962C8B-B14F-4D97-AF65-F5344CB8AC3E}">
        <p14:creationId xmlns:p14="http://schemas.microsoft.com/office/powerpoint/2010/main" val="38439795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7E88B-C21B-FB5C-0952-CDAFA219CC8D}"/>
              </a:ext>
            </a:extLst>
          </p:cNvPr>
          <p:cNvSpPr>
            <a:spLocks noGrp="1"/>
          </p:cNvSpPr>
          <p:nvPr>
            <p:ph type="title"/>
          </p:nvPr>
        </p:nvSpPr>
        <p:spPr/>
        <p:txBody>
          <a:bodyPr/>
          <a:lstStyle/>
          <a:p>
            <a:r>
              <a:rPr lang="en-NL" dirty="0"/>
              <a:t>From Binomial to </a:t>
            </a:r>
            <a:r>
              <a:rPr lang="en-NL" dirty="0">
                <a:solidFill>
                  <a:schemeClr val="accent1"/>
                </a:solidFill>
              </a:rPr>
              <a:t>Poisson</a:t>
            </a:r>
            <a:endParaRPr lang="en-NL" dirty="0"/>
          </a:p>
        </p:txBody>
      </p:sp>
      <p:pic>
        <p:nvPicPr>
          <p:cNvPr id="5" name="Picture 4" descr="A graph of a number of events&#10;&#10;AI-generated content may be incorrect.">
            <a:extLst>
              <a:ext uri="{FF2B5EF4-FFF2-40B4-BE49-F238E27FC236}">
                <a16:creationId xmlns:a16="http://schemas.microsoft.com/office/drawing/2014/main" id="{79347ECB-8B3E-052F-479C-BED6646C062B}"/>
              </a:ext>
            </a:extLst>
          </p:cNvPr>
          <p:cNvPicPr>
            <a:picLocks noChangeAspect="1"/>
          </p:cNvPicPr>
          <p:nvPr/>
        </p:nvPicPr>
        <p:blipFill>
          <a:blip r:embed="rId3"/>
          <a:srcRect t="6038"/>
          <a:stretch>
            <a:fillRect/>
          </a:stretch>
        </p:blipFill>
        <p:spPr>
          <a:xfrm>
            <a:off x="1757583" y="1011702"/>
            <a:ext cx="8867977" cy="4999514"/>
          </a:xfrm>
          <a:prstGeom prst="rect">
            <a:avLst/>
          </a:prstGeom>
        </p:spPr>
      </p:pic>
    </p:spTree>
    <p:extLst>
      <p:ext uri="{BB962C8B-B14F-4D97-AF65-F5344CB8AC3E}">
        <p14:creationId xmlns:p14="http://schemas.microsoft.com/office/powerpoint/2010/main" val="21968778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A89C6-4B1A-72D5-59A1-15C73E0A0209}"/>
              </a:ext>
            </a:extLst>
          </p:cNvPr>
          <p:cNvSpPr>
            <a:spLocks noGrp="1"/>
          </p:cNvSpPr>
          <p:nvPr>
            <p:ph type="title"/>
          </p:nvPr>
        </p:nvSpPr>
        <p:spPr/>
        <p:txBody>
          <a:bodyPr/>
          <a:lstStyle/>
          <a:p>
            <a:r>
              <a:rPr lang="en-NL" dirty="0">
                <a:solidFill>
                  <a:schemeClr val="accent1"/>
                </a:solidFill>
              </a:rPr>
              <a:t>Poisson: Counting</a:t>
            </a:r>
          </a:p>
        </p:txBody>
      </p:sp>
      <mc:AlternateContent xmlns:mc="http://schemas.openxmlformats.org/markup-compatibility/2006">
        <mc:Choice xmlns:a14="http://schemas.microsoft.com/office/drawing/2010/main" Requires="a14">
          <p:graphicFrame>
            <p:nvGraphicFramePr>
              <p:cNvPr id="4" name="Content Placeholder 5">
                <a:extLst>
                  <a:ext uri="{FF2B5EF4-FFF2-40B4-BE49-F238E27FC236}">
                    <a16:creationId xmlns:a16="http://schemas.microsoft.com/office/drawing/2014/main" id="{76BAAD31-CA58-EF33-5CE5-17204CAD2D2B}"/>
                  </a:ext>
                </a:extLst>
              </p:cNvPr>
              <p:cNvGraphicFramePr>
                <a:graphicFrameLocks/>
              </p:cNvGraphicFramePr>
              <p:nvPr/>
            </p:nvGraphicFramePr>
            <p:xfrm>
              <a:off x="480000" y="1347992"/>
              <a:ext cx="11101917" cy="4592320"/>
            </p:xfrm>
            <a:graphic>
              <a:graphicData uri="http://schemas.openxmlformats.org/drawingml/2006/table">
                <a:tbl>
                  <a:tblPr firstRow="1" bandRow="1">
                    <a:tableStyleId>{21E4AEA4-8DFA-4A89-87EB-49C32662AFE0}</a:tableStyleId>
                  </a:tblPr>
                  <a:tblGrid>
                    <a:gridCol w="11101917">
                      <a:extLst>
                        <a:ext uri="{9D8B030D-6E8A-4147-A177-3AD203B41FA5}">
                          <a16:colId xmlns:a16="http://schemas.microsoft.com/office/drawing/2014/main" val="2806566759"/>
                        </a:ext>
                      </a:extLst>
                    </a:gridCol>
                  </a:tblGrid>
                  <a:tr h="690880">
                    <a:tc>
                      <a:txBody>
                        <a:bodyPr/>
                        <a:lstStyle/>
                        <a:p>
                          <a:r>
                            <a:rPr lang="en-US" sz="3700" dirty="0"/>
                            <a:t>Counting Process</a:t>
                          </a:r>
                        </a:p>
                      </a:txBody>
                      <a:tcPr marL="121920" marR="121920" marT="60960" marB="60960"/>
                    </a:tc>
                    <a:extLst>
                      <a:ext uri="{0D108BD9-81ED-4DB2-BD59-A6C34878D82A}">
                        <a16:rowId xmlns:a16="http://schemas.microsoft.com/office/drawing/2014/main" val="4282699494"/>
                      </a:ext>
                    </a:extLst>
                  </a:tr>
                  <a:tr h="3860800">
                    <a:tc>
                      <a:txBody>
                        <a:bodyPr/>
                        <a:lstStyle/>
                        <a:p>
                          <a:pPr marL="0" indent="0">
                            <a:buFont typeface="Arial" panose="020B0604020202020204" pitchFamily="34" charset="0"/>
                            <a:buNone/>
                          </a:pPr>
                          <a:r>
                            <a:rPr lang="en-US" sz="2700" dirty="0"/>
                            <a:t>A stochastic process, </a:t>
                          </a:r>
                          <a14:m>
                            <m:oMath xmlns:m="http://schemas.openxmlformats.org/officeDocument/2006/math">
                              <m:d>
                                <m:dPr>
                                  <m:begChr m:val="{"/>
                                  <m:endChr m:val="}"/>
                                  <m:ctrlPr>
                                    <a:rPr lang="en-US" sz="2700" i="1">
                                      <a:latin typeface="Cambria Math" panose="02040503050406030204" pitchFamily="18" charset="0"/>
                                    </a:rPr>
                                  </m:ctrlPr>
                                </m:dPr>
                                <m:e>
                                  <m:r>
                                    <a:rPr lang="en-US" sz="2700">
                                      <a:latin typeface="Cambria Math" panose="02040503050406030204" pitchFamily="18" charset="0"/>
                                    </a:rPr>
                                    <m:t>𝑁</m:t>
                                  </m:r>
                                  <m:d>
                                    <m:dPr>
                                      <m:ctrlPr>
                                        <a:rPr lang="en-US" sz="2700" i="1">
                                          <a:latin typeface="Cambria Math" panose="02040503050406030204" pitchFamily="18" charset="0"/>
                                        </a:rPr>
                                      </m:ctrlPr>
                                    </m:dPr>
                                    <m:e>
                                      <m:r>
                                        <a:rPr lang="en-US" sz="2700">
                                          <a:latin typeface="Cambria Math" panose="02040503050406030204" pitchFamily="18" charset="0"/>
                                        </a:rPr>
                                        <m:t>𝑡</m:t>
                                      </m:r>
                                    </m:e>
                                  </m:d>
                                  <m:r>
                                    <a:rPr lang="en-US" sz="2700">
                                      <a:latin typeface="Cambria Math" panose="02040503050406030204" pitchFamily="18" charset="0"/>
                                    </a:rPr>
                                    <m:t>, </m:t>
                                  </m:r>
                                  <m:r>
                                    <a:rPr lang="en-US" sz="2700">
                                      <a:latin typeface="Cambria Math" panose="02040503050406030204" pitchFamily="18" charset="0"/>
                                    </a:rPr>
                                    <m:t>𝑡</m:t>
                                  </m:r>
                                  <m:r>
                                    <a:rPr lang="en-US" sz="2700">
                                      <a:latin typeface="Cambria Math" panose="02040503050406030204" pitchFamily="18" charset="0"/>
                                    </a:rPr>
                                    <m:t>≥0</m:t>
                                  </m:r>
                                </m:e>
                              </m:d>
                            </m:oMath>
                          </a14:m>
                          <a:r>
                            <a:rPr lang="en-US" sz="2700" dirty="0"/>
                            <a:t>, that represents the number of ‘events’ up to time </a:t>
                          </a:r>
                          <a14:m>
                            <m:oMath xmlns:m="http://schemas.openxmlformats.org/officeDocument/2006/math">
                              <m:r>
                                <a:rPr lang="en-US" sz="2700" smtClean="0">
                                  <a:latin typeface="Cambria Math" panose="02040503050406030204" pitchFamily="18" charset="0"/>
                                </a:rPr>
                                <m:t>𝑡</m:t>
                              </m:r>
                            </m:oMath>
                          </a14:m>
                          <a:r>
                            <a:rPr lang="en-US" sz="2700" dirty="0"/>
                            <a:t> is called a </a:t>
                          </a:r>
                          <a:r>
                            <a:rPr lang="en-US" sz="2700" b="1" i="1" dirty="0"/>
                            <a:t>counting process</a:t>
                          </a:r>
                          <a:r>
                            <a:rPr lang="en-US" sz="2700" dirty="0"/>
                            <a:t>.</a:t>
                          </a:r>
                        </a:p>
                        <a:p>
                          <a:pPr marL="0" indent="0">
                            <a:buFont typeface="Arial" panose="020B0604020202020204" pitchFamily="34" charset="0"/>
                            <a:buNone/>
                          </a:pPr>
                          <a:endParaRPr lang="en-US" sz="2700" dirty="0"/>
                        </a:p>
                        <a:p>
                          <a:pPr marL="0" indent="0">
                            <a:buFont typeface="Arial" panose="020B0604020202020204" pitchFamily="34" charset="0"/>
                            <a:buNone/>
                          </a:pPr>
                          <a:endParaRPr lang="en-US" sz="2700" dirty="0"/>
                        </a:p>
                        <a:p>
                          <a:pPr marL="0" indent="0">
                            <a:buFont typeface="Arial" panose="020B0604020202020204" pitchFamily="34" charset="0"/>
                            <a:buNone/>
                          </a:pPr>
                          <a:endParaRPr lang="en-US" sz="2700" dirty="0"/>
                        </a:p>
                        <a:p>
                          <a:pPr marL="0" indent="0">
                            <a:buFont typeface="Arial" panose="020B0604020202020204" pitchFamily="34" charset="0"/>
                            <a:buNone/>
                          </a:pPr>
                          <a:endParaRPr lang="en-US" sz="2700" dirty="0"/>
                        </a:p>
                        <a:p>
                          <a:pPr marL="0" indent="0">
                            <a:buFont typeface="Arial" panose="020B0604020202020204" pitchFamily="34" charset="0"/>
                            <a:buNone/>
                          </a:pPr>
                          <a:endParaRPr lang="en-US" sz="2700" dirty="0"/>
                        </a:p>
                        <a:p>
                          <a:pPr marL="0" indent="0">
                            <a:buFont typeface="Arial" panose="020B0604020202020204" pitchFamily="34" charset="0"/>
                            <a:buNone/>
                          </a:pPr>
                          <a:endParaRPr lang="en-US" sz="2700" dirty="0"/>
                        </a:p>
                        <a:p>
                          <a:pPr marL="0" indent="0">
                            <a:buFont typeface="Arial" panose="020B0604020202020204" pitchFamily="34" charset="0"/>
                            <a:buNone/>
                          </a:pPr>
                          <a:endParaRPr lang="en-US" sz="3200" dirty="0"/>
                        </a:p>
                      </a:txBody>
                      <a:tcPr marL="121920" marR="121920" marT="60960" marB="60960"/>
                    </a:tc>
                    <a:extLst>
                      <a:ext uri="{0D108BD9-81ED-4DB2-BD59-A6C34878D82A}">
                        <a16:rowId xmlns:a16="http://schemas.microsoft.com/office/drawing/2014/main" val="2257841623"/>
                      </a:ext>
                    </a:extLst>
                  </a:tr>
                </a:tbl>
              </a:graphicData>
            </a:graphic>
          </p:graphicFrame>
        </mc:Choice>
        <mc:Fallback>
          <p:graphicFrame>
            <p:nvGraphicFramePr>
              <p:cNvPr id="4" name="Content Placeholder 5">
                <a:extLst>
                  <a:ext uri="{FF2B5EF4-FFF2-40B4-BE49-F238E27FC236}">
                    <a16:creationId xmlns:a16="http://schemas.microsoft.com/office/drawing/2014/main" id="{76BAAD31-CA58-EF33-5CE5-17204CAD2D2B}"/>
                  </a:ext>
                </a:extLst>
              </p:cNvPr>
              <p:cNvGraphicFramePr>
                <a:graphicFrameLocks/>
              </p:cNvGraphicFramePr>
              <p:nvPr/>
            </p:nvGraphicFramePr>
            <p:xfrm>
              <a:off x="480000" y="1347992"/>
              <a:ext cx="11101917" cy="4592320"/>
            </p:xfrm>
            <a:graphic>
              <a:graphicData uri="http://schemas.openxmlformats.org/drawingml/2006/table">
                <a:tbl>
                  <a:tblPr firstRow="1" bandRow="1">
                    <a:tableStyleId>{21E4AEA4-8DFA-4A89-87EB-49C32662AFE0}</a:tableStyleId>
                  </a:tblPr>
                  <a:tblGrid>
                    <a:gridCol w="11101917">
                      <a:extLst>
                        <a:ext uri="{9D8B030D-6E8A-4147-A177-3AD203B41FA5}">
                          <a16:colId xmlns:a16="http://schemas.microsoft.com/office/drawing/2014/main" val="2806566759"/>
                        </a:ext>
                      </a:extLst>
                    </a:gridCol>
                  </a:tblGrid>
                  <a:tr h="690880">
                    <a:tc>
                      <a:txBody>
                        <a:bodyPr/>
                        <a:lstStyle/>
                        <a:p>
                          <a:r>
                            <a:rPr lang="en-US" sz="3700" dirty="0"/>
                            <a:t>Counting Process</a:t>
                          </a:r>
                        </a:p>
                      </a:txBody>
                      <a:tcPr marL="121920" marR="121920" marT="60960" marB="60960"/>
                    </a:tc>
                    <a:extLst>
                      <a:ext uri="{0D108BD9-81ED-4DB2-BD59-A6C34878D82A}">
                        <a16:rowId xmlns:a16="http://schemas.microsoft.com/office/drawing/2014/main" val="4282699494"/>
                      </a:ext>
                    </a:extLst>
                  </a:tr>
                  <a:tr h="3901440">
                    <a:tc>
                      <a:txBody>
                        <a:bodyPr/>
                        <a:lstStyle/>
                        <a:p>
                          <a:endParaRPr lang="en-NL"/>
                        </a:p>
                      </a:txBody>
                      <a:tcPr marL="121920" marR="121920" marT="60960" marB="60960">
                        <a:blipFill>
                          <a:blip r:embed="rId3"/>
                          <a:stretch>
                            <a:fillRect l="-114" t="-19805" r="-343" b="-325"/>
                          </a:stretch>
                        </a:blipFill>
                      </a:tcPr>
                    </a:tc>
                    <a:extLst>
                      <a:ext uri="{0D108BD9-81ED-4DB2-BD59-A6C34878D82A}">
                        <a16:rowId xmlns:a16="http://schemas.microsoft.com/office/drawing/2014/main" val="2257841623"/>
                      </a:ext>
                    </a:extLst>
                  </a:tr>
                </a:tbl>
              </a:graphicData>
            </a:graphic>
          </p:graphicFrame>
        </mc:Fallback>
      </mc:AlternateContent>
      <p:grpSp>
        <p:nvGrpSpPr>
          <p:cNvPr id="5" name="Group 4">
            <a:extLst>
              <a:ext uri="{FF2B5EF4-FFF2-40B4-BE49-F238E27FC236}">
                <a16:creationId xmlns:a16="http://schemas.microsoft.com/office/drawing/2014/main" id="{4A44D159-F342-CFD0-53C0-16E49CD60D73}"/>
              </a:ext>
            </a:extLst>
          </p:cNvPr>
          <p:cNvGrpSpPr/>
          <p:nvPr/>
        </p:nvGrpSpPr>
        <p:grpSpPr>
          <a:xfrm>
            <a:off x="6146129" y="3151582"/>
            <a:ext cx="5258513" cy="2468928"/>
            <a:chOff x="4609596" y="2363686"/>
            <a:chExt cx="3943885" cy="1851696"/>
          </a:xfrm>
        </p:grpSpPr>
        <p:sp>
          <p:nvSpPr>
            <p:cNvPr id="6" name="Rectangle 5">
              <a:extLst>
                <a:ext uri="{FF2B5EF4-FFF2-40B4-BE49-F238E27FC236}">
                  <a16:creationId xmlns:a16="http://schemas.microsoft.com/office/drawing/2014/main" id="{66F658CC-C5E5-1E63-506D-42C8E33B6891}"/>
                </a:ext>
              </a:extLst>
            </p:cNvPr>
            <p:cNvSpPr/>
            <p:nvPr/>
          </p:nvSpPr>
          <p:spPr>
            <a:xfrm>
              <a:off x="4609596" y="2363686"/>
              <a:ext cx="3943885" cy="185169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2400"/>
            </a:p>
          </p:txBody>
        </p:sp>
        <p:grpSp>
          <p:nvGrpSpPr>
            <p:cNvPr id="7" name="Group 6">
              <a:extLst>
                <a:ext uri="{FF2B5EF4-FFF2-40B4-BE49-F238E27FC236}">
                  <a16:creationId xmlns:a16="http://schemas.microsoft.com/office/drawing/2014/main" id="{7F339283-7560-1EDE-6CCF-A1F81A39DAD2}"/>
                </a:ext>
              </a:extLst>
            </p:cNvPr>
            <p:cNvGrpSpPr/>
            <p:nvPr/>
          </p:nvGrpSpPr>
          <p:grpSpPr>
            <a:xfrm>
              <a:off x="4697127" y="2491313"/>
              <a:ext cx="3768821" cy="1649456"/>
              <a:chOff x="994538" y="2580714"/>
              <a:chExt cx="7293372" cy="1649456"/>
            </a:xfrm>
          </p:grpSpPr>
          <p:cxnSp>
            <p:nvCxnSpPr>
              <p:cNvPr id="8" name="Straight Connector 7">
                <a:extLst>
                  <a:ext uri="{FF2B5EF4-FFF2-40B4-BE49-F238E27FC236}">
                    <a16:creationId xmlns:a16="http://schemas.microsoft.com/office/drawing/2014/main" id="{D0C70AC8-0D6B-8988-214C-92054965ECAF}"/>
                  </a:ext>
                </a:extLst>
              </p:cNvPr>
              <p:cNvCxnSpPr/>
              <p:nvPr/>
            </p:nvCxnSpPr>
            <p:spPr>
              <a:xfrm flipV="1">
                <a:off x="1087910" y="3121787"/>
                <a:ext cx="7200000" cy="0"/>
              </a:xfrm>
              <a:prstGeom prst="line">
                <a:avLst/>
              </a:prstGeom>
              <a:effectLst/>
            </p:spPr>
            <p:style>
              <a:lnRef idx="2">
                <a:schemeClr val="accent2"/>
              </a:lnRef>
              <a:fillRef idx="0">
                <a:schemeClr val="accent2"/>
              </a:fillRef>
              <a:effectRef idx="1">
                <a:schemeClr val="accent2"/>
              </a:effectRef>
              <a:fontRef idx="minor">
                <a:schemeClr val="tx1"/>
              </a:fontRef>
            </p:style>
          </p:cxnSp>
          <p:cxnSp>
            <p:nvCxnSpPr>
              <p:cNvPr id="9" name="Straight Connector 8">
                <a:extLst>
                  <a:ext uri="{FF2B5EF4-FFF2-40B4-BE49-F238E27FC236}">
                    <a16:creationId xmlns:a16="http://schemas.microsoft.com/office/drawing/2014/main" id="{897BC79C-04DF-EB01-3414-3696C1213E1C}"/>
                  </a:ext>
                </a:extLst>
              </p:cNvPr>
              <p:cNvCxnSpPr/>
              <p:nvPr/>
            </p:nvCxnSpPr>
            <p:spPr>
              <a:xfrm flipV="1">
                <a:off x="1087910" y="2941787"/>
                <a:ext cx="0" cy="360000"/>
              </a:xfrm>
              <a:prstGeom prst="line">
                <a:avLst/>
              </a:prstGeom>
              <a:effectLst/>
            </p:spPr>
            <p:style>
              <a:lnRef idx="2">
                <a:schemeClr val="accent2"/>
              </a:lnRef>
              <a:fillRef idx="0">
                <a:schemeClr val="accent2"/>
              </a:fillRef>
              <a:effectRef idx="1">
                <a:schemeClr val="accent2"/>
              </a:effectRef>
              <a:fontRef idx="minor">
                <a:schemeClr val="tx1"/>
              </a:fontRef>
            </p:style>
          </p:cxnSp>
          <p:cxnSp>
            <p:nvCxnSpPr>
              <p:cNvPr id="10" name="Straight Connector 9">
                <a:extLst>
                  <a:ext uri="{FF2B5EF4-FFF2-40B4-BE49-F238E27FC236}">
                    <a16:creationId xmlns:a16="http://schemas.microsoft.com/office/drawing/2014/main" id="{878A98C2-9D69-E0BD-11CA-8F85E34F4350}"/>
                  </a:ext>
                </a:extLst>
              </p:cNvPr>
              <p:cNvCxnSpPr/>
              <p:nvPr/>
            </p:nvCxnSpPr>
            <p:spPr>
              <a:xfrm flipV="1">
                <a:off x="7709797" y="2941787"/>
                <a:ext cx="0" cy="360000"/>
              </a:xfrm>
              <a:prstGeom prst="line">
                <a:avLst/>
              </a:prstGeom>
              <a:effectLst/>
            </p:spPr>
            <p:style>
              <a:lnRef idx="2">
                <a:schemeClr val="accent2"/>
              </a:lnRef>
              <a:fillRef idx="0">
                <a:schemeClr val="accent2"/>
              </a:fillRef>
              <a:effectRef idx="1">
                <a:schemeClr val="accent2"/>
              </a:effectRef>
              <a:fontRef idx="minor">
                <a:schemeClr val="tx1"/>
              </a:fontRef>
            </p:style>
          </p:cxnSp>
          <p:cxnSp>
            <p:nvCxnSpPr>
              <p:cNvPr id="11" name="Straight Arrow Connector 10">
                <a:extLst>
                  <a:ext uri="{FF2B5EF4-FFF2-40B4-BE49-F238E27FC236}">
                    <a16:creationId xmlns:a16="http://schemas.microsoft.com/office/drawing/2014/main" id="{02084A45-97F7-D353-5CEA-9BB3938F9BB4}"/>
                  </a:ext>
                </a:extLst>
              </p:cNvPr>
              <p:cNvCxnSpPr/>
              <p:nvPr/>
            </p:nvCxnSpPr>
            <p:spPr>
              <a:xfrm>
                <a:off x="1996225" y="2580714"/>
                <a:ext cx="0" cy="540000"/>
              </a:xfrm>
              <a:prstGeom prst="straightConnector1">
                <a:avLst/>
              </a:prstGeom>
              <a:ln w="38100">
                <a:solidFill>
                  <a:schemeClr val="accent1"/>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FB5EEAEB-B62A-1F7D-1448-D5F0E1AF0ED8}"/>
                  </a:ext>
                </a:extLst>
              </p:cNvPr>
              <p:cNvCxnSpPr/>
              <p:nvPr/>
            </p:nvCxnSpPr>
            <p:spPr>
              <a:xfrm>
                <a:off x="3586766" y="2580714"/>
                <a:ext cx="0" cy="540000"/>
              </a:xfrm>
              <a:prstGeom prst="straightConnector1">
                <a:avLst/>
              </a:prstGeom>
              <a:ln w="38100">
                <a:solidFill>
                  <a:schemeClr val="accent1"/>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4E510E5E-19DB-C4FF-61D0-747DBB9A00D1}"/>
                  </a:ext>
                </a:extLst>
              </p:cNvPr>
              <p:cNvCxnSpPr/>
              <p:nvPr/>
            </p:nvCxnSpPr>
            <p:spPr>
              <a:xfrm>
                <a:off x="6845121" y="2580714"/>
                <a:ext cx="0" cy="540000"/>
              </a:xfrm>
              <a:prstGeom prst="straightConnector1">
                <a:avLst/>
              </a:prstGeom>
              <a:ln w="38100">
                <a:solidFill>
                  <a:schemeClr val="accent1"/>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A86CFB54-6450-44FF-F97A-9E497D2DA77F}"/>
                  </a:ext>
                </a:extLst>
              </p:cNvPr>
              <p:cNvCxnSpPr/>
              <p:nvPr/>
            </p:nvCxnSpPr>
            <p:spPr>
              <a:xfrm>
                <a:off x="7192850" y="2580714"/>
                <a:ext cx="0" cy="540000"/>
              </a:xfrm>
              <a:prstGeom prst="straightConnector1">
                <a:avLst/>
              </a:prstGeom>
              <a:ln w="38100">
                <a:solidFill>
                  <a:schemeClr val="accent1"/>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F5F44CE-387E-CE98-8259-19D3400C8A90}"/>
                      </a:ext>
                    </a:extLst>
                  </p:cNvPr>
                  <p:cNvSpPr txBox="1"/>
                  <p:nvPr/>
                </p:nvSpPr>
                <p:spPr>
                  <a:xfrm>
                    <a:off x="7709797" y="3301786"/>
                    <a:ext cx="28775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solidFill>
                                <a:schemeClr val="tx2"/>
                              </a:solidFill>
                              <a:latin typeface="Cambria Math" panose="02040503050406030204" pitchFamily="18" charset="0"/>
                            </a:rPr>
                            <m:t>𝑡</m:t>
                          </m:r>
                        </m:oMath>
                      </m:oMathPara>
                    </a14:m>
                    <a:endParaRPr lang="en-US" sz="2400" dirty="0">
                      <a:solidFill>
                        <a:schemeClr val="tx2"/>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7709797" y="3301786"/>
                    <a:ext cx="287751" cy="276999"/>
                  </a:xfrm>
                  <a:prstGeom prst="rect">
                    <a:avLst/>
                  </a:prstGeom>
                  <a:blipFill>
                    <a:blip r:embed="rId4"/>
                    <a:stretch>
                      <a:fillRect l="-29412" r="-17647"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3398BF4-7383-631D-2620-743E9463E249}"/>
                      </a:ext>
                    </a:extLst>
                  </p:cNvPr>
                  <p:cNvSpPr txBox="1"/>
                  <p:nvPr/>
                </p:nvSpPr>
                <p:spPr>
                  <a:xfrm>
                    <a:off x="994538" y="3301787"/>
                    <a:ext cx="34666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solidFill>
                                <a:schemeClr val="tx2"/>
                              </a:solidFill>
                              <a:latin typeface="Cambria Math" panose="02040503050406030204" pitchFamily="18" charset="0"/>
                            </a:rPr>
                            <m:t>0</m:t>
                          </m:r>
                        </m:oMath>
                      </m:oMathPara>
                    </a14:m>
                    <a:endParaRPr lang="en-US" sz="2400" dirty="0">
                      <a:solidFill>
                        <a:schemeClr val="tx2"/>
                      </a:solidFill>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994538" y="3301787"/>
                    <a:ext cx="346660" cy="276999"/>
                  </a:xfrm>
                  <a:prstGeom prst="rect">
                    <a:avLst/>
                  </a:prstGeom>
                  <a:blipFill>
                    <a:blip r:embed="rId5"/>
                    <a:stretch>
                      <a:fillRect l="-23810" r="-23810" b="-6667"/>
                    </a:stretch>
                  </a:blipFill>
                </p:spPr>
                <p:txBody>
                  <a:bodyPr/>
                  <a:lstStyle/>
                  <a:p>
                    <a:r>
                      <a:rPr lang="en-US">
                        <a:noFill/>
                      </a:rPr>
                      <a:t> </a:t>
                    </a:r>
                  </a:p>
                </p:txBody>
              </p:sp>
            </mc:Fallback>
          </mc:AlternateContent>
          <p:sp>
            <p:nvSpPr>
              <p:cNvPr id="20" name="Left Brace 19">
                <a:extLst>
                  <a:ext uri="{FF2B5EF4-FFF2-40B4-BE49-F238E27FC236}">
                    <a16:creationId xmlns:a16="http://schemas.microsoft.com/office/drawing/2014/main" id="{CF605B16-A93F-4404-5AF9-C9FBAEA03A9B}"/>
                  </a:ext>
                </a:extLst>
              </p:cNvPr>
              <p:cNvSpPr/>
              <p:nvPr/>
            </p:nvSpPr>
            <p:spPr>
              <a:xfrm rot="16200000">
                <a:off x="4269356" y="443479"/>
                <a:ext cx="258996" cy="6621887"/>
              </a:xfrm>
              <a:prstGeom prst="leftBrace">
                <a:avLst/>
              </a:prstGeom>
              <a:ln>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mc:AlternateContent xmlns:mc="http://schemas.openxmlformats.org/markup-compatibility/2006">
            <mc:Choice xmlns:a14="http://schemas.microsoft.com/office/drawing/2010/main" Requires="a14">
              <p:sp>
                <p:nvSpPr>
                  <p:cNvPr id="21" name="Rectangle 20">
                    <a:extLst>
                      <a:ext uri="{FF2B5EF4-FFF2-40B4-BE49-F238E27FC236}">
                        <a16:creationId xmlns:a16="http://schemas.microsoft.com/office/drawing/2014/main" id="{7734284A-06CB-E2FC-AF2C-6C0C1584C4EF}"/>
                      </a:ext>
                    </a:extLst>
                  </p:cNvPr>
                  <p:cNvSpPr/>
                  <p:nvPr/>
                </p:nvSpPr>
                <p:spPr>
                  <a:xfrm>
                    <a:off x="3833987" y="3883921"/>
                    <a:ext cx="2092902" cy="3462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𝑁</m:t>
                          </m:r>
                          <m:d>
                            <m:dPr>
                              <m:ctrlPr>
                                <a:rPr lang="en-US" sz="2400" i="1">
                                  <a:latin typeface="Cambria Math" panose="02040503050406030204" pitchFamily="18" charset="0"/>
                                </a:rPr>
                              </m:ctrlPr>
                            </m:dPr>
                            <m:e>
                              <m:r>
                                <a:rPr lang="en-US" sz="2400" i="1">
                                  <a:latin typeface="Cambria Math" panose="02040503050406030204" pitchFamily="18" charset="0"/>
                                </a:rPr>
                                <m:t>𝑡</m:t>
                              </m:r>
                            </m:e>
                          </m:d>
                          <m:r>
                            <a:rPr lang="en-US" sz="2400" i="1">
                              <a:latin typeface="Cambria Math" panose="02040503050406030204" pitchFamily="18" charset="0"/>
                            </a:rPr>
                            <m:t>=</m:t>
                          </m:r>
                          <m:r>
                            <a:rPr lang="nl-NL" sz="2400" b="0" i="1" smtClean="0">
                              <a:latin typeface="Cambria Math" panose="02040503050406030204" pitchFamily="18" charset="0"/>
                            </a:rPr>
                            <m:t>4</m:t>
                          </m:r>
                        </m:oMath>
                      </m:oMathPara>
                    </a14:m>
                    <a:endParaRPr lang="en-US" sz="2400" dirty="0"/>
                  </a:p>
                </p:txBody>
              </p:sp>
            </mc:Choice>
            <mc:Fallback>
              <p:sp>
                <p:nvSpPr>
                  <p:cNvPr id="21" name="Rectangle 20">
                    <a:extLst>
                      <a:ext uri="{FF2B5EF4-FFF2-40B4-BE49-F238E27FC236}">
                        <a16:creationId xmlns:a16="http://schemas.microsoft.com/office/drawing/2014/main" id="{7734284A-06CB-E2FC-AF2C-6C0C1584C4EF}"/>
                      </a:ext>
                    </a:extLst>
                  </p:cNvPr>
                  <p:cNvSpPr>
                    <a:spLocks noRot="1" noChangeAspect="1" noMove="1" noResize="1" noEditPoints="1" noAdjustHandles="1" noChangeArrowheads="1" noChangeShapeType="1" noTextEdit="1"/>
                  </p:cNvSpPr>
                  <p:nvPr/>
                </p:nvSpPr>
                <p:spPr>
                  <a:xfrm>
                    <a:off x="3833987" y="3883921"/>
                    <a:ext cx="2092902" cy="346249"/>
                  </a:xfrm>
                  <a:prstGeom prst="rect">
                    <a:avLst/>
                  </a:prstGeom>
                  <a:blipFill>
                    <a:blip r:embed="rId6"/>
                    <a:stretch>
                      <a:fillRect/>
                    </a:stretch>
                  </a:blipFill>
                </p:spPr>
                <p:txBody>
                  <a:bodyPr/>
                  <a:lstStyle/>
                  <a:p>
                    <a:r>
                      <a:rPr lang="en-NL">
                        <a:noFill/>
                      </a:rPr>
                      <a:t> </a:t>
                    </a:r>
                  </a:p>
                </p:txBody>
              </p:sp>
            </mc:Fallback>
          </mc:AlternateContent>
        </p:grpSp>
      </p:grpSp>
      <p:grpSp>
        <p:nvGrpSpPr>
          <p:cNvPr id="22" name="Group 21">
            <a:extLst>
              <a:ext uri="{FF2B5EF4-FFF2-40B4-BE49-F238E27FC236}">
                <a16:creationId xmlns:a16="http://schemas.microsoft.com/office/drawing/2014/main" id="{E4B68ACA-3C03-9CA4-E317-98F96E2390E0}"/>
              </a:ext>
            </a:extLst>
          </p:cNvPr>
          <p:cNvGrpSpPr/>
          <p:nvPr/>
        </p:nvGrpSpPr>
        <p:grpSpPr>
          <a:xfrm>
            <a:off x="1061601" y="3151581"/>
            <a:ext cx="4402144" cy="2468928"/>
            <a:chOff x="360000" y="1954573"/>
            <a:chExt cx="4183165" cy="2346114"/>
          </a:xfrm>
        </p:grpSpPr>
        <p:pic>
          <p:nvPicPr>
            <p:cNvPr id="23" name="Picture 2" descr="https://prod-discovery.edx-cdn.org/media/course/image/a8222a05-65c8-4c4b-8d4c-595ea36d73c2-df57bfff4f3e.small.jpg">
              <a:extLst>
                <a:ext uri="{FF2B5EF4-FFF2-40B4-BE49-F238E27FC236}">
                  <a16:creationId xmlns:a16="http://schemas.microsoft.com/office/drawing/2014/main" id="{B3FA47BF-95C2-F7B0-B8E9-8B8A5DC7E51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000" y="1954573"/>
              <a:ext cx="4183165" cy="2346114"/>
            </a:xfrm>
            <a:prstGeom prst="rect">
              <a:avLst/>
            </a:prstGeom>
            <a:noFill/>
            <a:ln w="25400">
              <a:solidFill>
                <a:schemeClr val="tx2"/>
              </a:solidFill>
            </a:ln>
            <a:extLst>
              <a:ext uri="{909E8E84-426E-40DD-AFC4-6F175D3DCCD1}">
                <a14:hiddenFill xmlns:a14="http://schemas.microsoft.com/office/drawing/2010/main">
                  <a:solidFill>
                    <a:srgbClr val="FFFFFF"/>
                  </a:solidFill>
                </a14:hiddenFill>
              </a:ext>
            </a:extLst>
          </p:spPr>
        </p:pic>
        <p:sp>
          <p:nvSpPr>
            <p:cNvPr id="24" name="Rounded Rectangle 23">
              <a:extLst>
                <a:ext uri="{FF2B5EF4-FFF2-40B4-BE49-F238E27FC236}">
                  <a16:creationId xmlns:a16="http://schemas.microsoft.com/office/drawing/2014/main" id="{9EB618C1-7E5A-49DB-AAEA-1FB0FD66C643}"/>
                </a:ext>
              </a:extLst>
            </p:cNvPr>
            <p:cNvSpPr/>
            <p:nvPr/>
          </p:nvSpPr>
          <p:spPr>
            <a:xfrm>
              <a:off x="569925" y="2729455"/>
              <a:ext cx="1484465" cy="726929"/>
            </a:xfrm>
            <a:prstGeom prst="round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sz="2400"/>
            </a:p>
          </p:txBody>
        </p:sp>
      </p:grpSp>
    </p:spTree>
    <p:extLst>
      <p:ext uri="{BB962C8B-B14F-4D97-AF65-F5344CB8AC3E}">
        <p14:creationId xmlns:p14="http://schemas.microsoft.com/office/powerpoint/2010/main" val="177058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BDAAB-7ABA-F5AB-9C5B-36714FEE9E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9612F-C56D-021D-2078-D548D613C0AA}"/>
              </a:ext>
            </a:extLst>
          </p:cNvPr>
          <p:cNvSpPr>
            <a:spLocks noGrp="1"/>
          </p:cNvSpPr>
          <p:nvPr>
            <p:ph type="title"/>
          </p:nvPr>
        </p:nvSpPr>
        <p:spPr/>
        <p:txBody>
          <a:bodyPr/>
          <a:lstStyle/>
          <a:p>
            <a:r>
              <a:rPr lang="en-NL" dirty="0"/>
              <a:t>In the real world: </a:t>
            </a:r>
            <a:r>
              <a:rPr lang="en-NL" dirty="0">
                <a:solidFill>
                  <a:schemeClr val="accent1"/>
                </a:solidFill>
              </a:rPr>
              <a:t>Poisson Process</a:t>
            </a:r>
          </a:p>
        </p:txBody>
      </p:sp>
      <mc:AlternateContent xmlns:mc="http://schemas.openxmlformats.org/markup-compatibility/2006">
        <mc:Choice xmlns:a14="http://schemas.microsoft.com/office/drawing/2010/main" Requires="a14">
          <p:graphicFrame>
            <p:nvGraphicFramePr>
              <p:cNvPr id="4" name="Content Placeholder 5">
                <a:extLst>
                  <a:ext uri="{FF2B5EF4-FFF2-40B4-BE49-F238E27FC236}">
                    <a16:creationId xmlns:a16="http://schemas.microsoft.com/office/drawing/2014/main" id="{046DBC2D-BF0C-A00B-1770-517DF33F97E3}"/>
                  </a:ext>
                </a:extLst>
              </p:cNvPr>
              <p:cNvGraphicFramePr>
                <a:graphicFrameLocks/>
              </p:cNvGraphicFramePr>
              <p:nvPr/>
            </p:nvGraphicFramePr>
            <p:xfrm>
              <a:off x="480000" y="1347992"/>
              <a:ext cx="11101917" cy="4592320"/>
            </p:xfrm>
            <a:graphic>
              <a:graphicData uri="http://schemas.openxmlformats.org/drawingml/2006/table">
                <a:tbl>
                  <a:tblPr firstRow="1" bandRow="1">
                    <a:tableStyleId>{21E4AEA4-8DFA-4A89-87EB-49C32662AFE0}</a:tableStyleId>
                  </a:tblPr>
                  <a:tblGrid>
                    <a:gridCol w="11101917">
                      <a:extLst>
                        <a:ext uri="{9D8B030D-6E8A-4147-A177-3AD203B41FA5}">
                          <a16:colId xmlns:a16="http://schemas.microsoft.com/office/drawing/2014/main" val="2806566759"/>
                        </a:ext>
                      </a:extLst>
                    </a:gridCol>
                  </a:tblGrid>
                  <a:tr h="690880">
                    <a:tc>
                      <a:txBody>
                        <a:bodyPr/>
                        <a:lstStyle/>
                        <a:p>
                          <a:r>
                            <a:rPr lang="en-US" sz="3700" dirty="0"/>
                            <a:t>Counting Process</a:t>
                          </a:r>
                        </a:p>
                      </a:txBody>
                      <a:tcPr marL="121920" marR="121920" marT="60960" marB="60960"/>
                    </a:tc>
                    <a:extLst>
                      <a:ext uri="{0D108BD9-81ED-4DB2-BD59-A6C34878D82A}">
                        <a16:rowId xmlns:a16="http://schemas.microsoft.com/office/drawing/2014/main" val="4282699494"/>
                      </a:ext>
                    </a:extLst>
                  </a:tr>
                  <a:tr h="3860800">
                    <a:tc>
                      <a:txBody>
                        <a:bodyPr/>
                        <a:lstStyle/>
                        <a:p>
                          <a:pPr marL="0" indent="0">
                            <a:buFont typeface="Arial" panose="020B0604020202020204" pitchFamily="34" charset="0"/>
                            <a:buNone/>
                          </a:pPr>
                          <a:r>
                            <a:rPr lang="en-US" sz="2700" dirty="0"/>
                            <a:t>A stochastic process, </a:t>
                          </a:r>
                          <a14:m>
                            <m:oMath xmlns:m="http://schemas.openxmlformats.org/officeDocument/2006/math">
                              <m:d>
                                <m:dPr>
                                  <m:begChr m:val="{"/>
                                  <m:endChr m:val="}"/>
                                  <m:ctrlPr>
                                    <a:rPr lang="en-US" sz="2700" i="1">
                                      <a:latin typeface="Cambria Math" panose="02040503050406030204" pitchFamily="18" charset="0"/>
                                    </a:rPr>
                                  </m:ctrlPr>
                                </m:dPr>
                                <m:e>
                                  <m:r>
                                    <a:rPr lang="en-US" sz="2700">
                                      <a:latin typeface="Cambria Math" panose="02040503050406030204" pitchFamily="18" charset="0"/>
                                    </a:rPr>
                                    <m:t>𝑁</m:t>
                                  </m:r>
                                  <m:d>
                                    <m:dPr>
                                      <m:ctrlPr>
                                        <a:rPr lang="en-US" sz="2700" i="1">
                                          <a:latin typeface="Cambria Math" panose="02040503050406030204" pitchFamily="18" charset="0"/>
                                        </a:rPr>
                                      </m:ctrlPr>
                                    </m:dPr>
                                    <m:e>
                                      <m:r>
                                        <a:rPr lang="en-US" sz="2700">
                                          <a:latin typeface="Cambria Math" panose="02040503050406030204" pitchFamily="18" charset="0"/>
                                        </a:rPr>
                                        <m:t>𝑡</m:t>
                                      </m:r>
                                    </m:e>
                                  </m:d>
                                  <m:r>
                                    <a:rPr lang="en-US" sz="2700">
                                      <a:latin typeface="Cambria Math" panose="02040503050406030204" pitchFamily="18" charset="0"/>
                                    </a:rPr>
                                    <m:t>, </m:t>
                                  </m:r>
                                  <m:r>
                                    <a:rPr lang="en-US" sz="2700">
                                      <a:latin typeface="Cambria Math" panose="02040503050406030204" pitchFamily="18" charset="0"/>
                                    </a:rPr>
                                    <m:t>𝑡</m:t>
                                  </m:r>
                                  <m:r>
                                    <a:rPr lang="en-US" sz="2700">
                                      <a:latin typeface="Cambria Math" panose="02040503050406030204" pitchFamily="18" charset="0"/>
                                    </a:rPr>
                                    <m:t>≥0</m:t>
                                  </m:r>
                                </m:e>
                              </m:d>
                            </m:oMath>
                          </a14:m>
                          <a:r>
                            <a:rPr lang="en-US" sz="2700" dirty="0"/>
                            <a:t>, that represents the number of ‘events’ up to time </a:t>
                          </a:r>
                          <a14:m>
                            <m:oMath xmlns:m="http://schemas.openxmlformats.org/officeDocument/2006/math">
                              <m:r>
                                <a:rPr lang="en-US" sz="2700" smtClean="0">
                                  <a:latin typeface="Cambria Math" panose="02040503050406030204" pitchFamily="18" charset="0"/>
                                </a:rPr>
                                <m:t>𝑡</m:t>
                              </m:r>
                            </m:oMath>
                          </a14:m>
                          <a:r>
                            <a:rPr lang="en-US" sz="2700" dirty="0"/>
                            <a:t> is called a </a:t>
                          </a:r>
                          <a:r>
                            <a:rPr lang="en-US" sz="2700" b="1" i="1" dirty="0"/>
                            <a:t>counting process</a:t>
                          </a:r>
                          <a:r>
                            <a:rPr lang="en-US" sz="2700" dirty="0"/>
                            <a:t>.</a:t>
                          </a:r>
                        </a:p>
                        <a:p>
                          <a:pPr marL="0" indent="0">
                            <a:buFont typeface="Arial" panose="020B0604020202020204" pitchFamily="34" charset="0"/>
                            <a:buNone/>
                          </a:pPr>
                          <a:endParaRPr lang="en-US" sz="2700" dirty="0"/>
                        </a:p>
                        <a:p>
                          <a:pPr marL="0" indent="0">
                            <a:buFont typeface="Arial" panose="020B0604020202020204" pitchFamily="34" charset="0"/>
                            <a:buNone/>
                          </a:pPr>
                          <a:endParaRPr lang="en-US" sz="2700" dirty="0"/>
                        </a:p>
                        <a:p>
                          <a:pPr marL="0" indent="0">
                            <a:buFont typeface="Arial" panose="020B0604020202020204" pitchFamily="34" charset="0"/>
                            <a:buNone/>
                          </a:pPr>
                          <a:endParaRPr lang="en-US" sz="2700" dirty="0"/>
                        </a:p>
                        <a:p>
                          <a:pPr marL="0" indent="0">
                            <a:buFont typeface="Arial" panose="020B0604020202020204" pitchFamily="34" charset="0"/>
                            <a:buNone/>
                          </a:pPr>
                          <a:endParaRPr lang="en-US" sz="2700" dirty="0"/>
                        </a:p>
                        <a:p>
                          <a:pPr marL="0" indent="0">
                            <a:buFont typeface="Arial" panose="020B0604020202020204" pitchFamily="34" charset="0"/>
                            <a:buNone/>
                          </a:pPr>
                          <a:endParaRPr lang="en-US" sz="2700" dirty="0"/>
                        </a:p>
                        <a:p>
                          <a:pPr marL="0" indent="0">
                            <a:buFont typeface="Arial" panose="020B0604020202020204" pitchFamily="34" charset="0"/>
                            <a:buNone/>
                          </a:pPr>
                          <a:endParaRPr lang="en-US" sz="2700" dirty="0"/>
                        </a:p>
                        <a:p>
                          <a:pPr marL="0" indent="0">
                            <a:buFont typeface="Arial" panose="020B0604020202020204" pitchFamily="34" charset="0"/>
                            <a:buNone/>
                          </a:pPr>
                          <a:endParaRPr lang="en-US" sz="3200" dirty="0"/>
                        </a:p>
                      </a:txBody>
                      <a:tcPr marL="121920" marR="121920" marT="60960" marB="60960"/>
                    </a:tc>
                    <a:extLst>
                      <a:ext uri="{0D108BD9-81ED-4DB2-BD59-A6C34878D82A}">
                        <a16:rowId xmlns:a16="http://schemas.microsoft.com/office/drawing/2014/main" val="2257841623"/>
                      </a:ext>
                    </a:extLst>
                  </a:tr>
                </a:tbl>
              </a:graphicData>
            </a:graphic>
          </p:graphicFrame>
        </mc:Choice>
        <mc:Fallback>
          <p:graphicFrame>
            <p:nvGraphicFramePr>
              <p:cNvPr id="4" name="Content Placeholder 5">
                <a:extLst>
                  <a:ext uri="{FF2B5EF4-FFF2-40B4-BE49-F238E27FC236}">
                    <a16:creationId xmlns:a16="http://schemas.microsoft.com/office/drawing/2014/main" id="{046DBC2D-BF0C-A00B-1770-517DF33F97E3}"/>
                  </a:ext>
                </a:extLst>
              </p:cNvPr>
              <p:cNvGraphicFramePr>
                <a:graphicFrameLocks/>
              </p:cNvGraphicFramePr>
              <p:nvPr/>
            </p:nvGraphicFramePr>
            <p:xfrm>
              <a:off x="480000" y="1347992"/>
              <a:ext cx="11101917" cy="4592320"/>
            </p:xfrm>
            <a:graphic>
              <a:graphicData uri="http://schemas.openxmlformats.org/drawingml/2006/table">
                <a:tbl>
                  <a:tblPr firstRow="1" bandRow="1">
                    <a:tableStyleId>{21E4AEA4-8DFA-4A89-87EB-49C32662AFE0}</a:tableStyleId>
                  </a:tblPr>
                  <a:tblGrid>
                    <a:gridCol w="11101917">
                      <a:extLst>
                        <a:ext uri="{9D8B030D-6E8A-4147-A177-3AD203B41FA5}">
                          <a16:colId xmlns:a16="http://schemas.microsoft.com/office/drawing/2014/main" val="2806566759"/>
                        </a:ext>
                      </a:extLst>
                    </a:gridCol>
                  </a:tblGrid>
                  <a:tr h="690880">
                    <a:tc>
                      <a:txBody>
                        <a:bodyPr/>
                        <a:lstStyle/>
                        <a:p>
                          <a:r>
                            <a:rPr lang="en-US" sz="3700" dirty="0"/>
                            <a:t>Counting Process</a:t>
                          </a:r>
                        </a:p>
                      </a:txBody>
                      <a:tcPr marL="121920" marR="121920" marT="60960" marB="60960"/>
                    </a:tc>
                    <a:extLst>
                      <a:ext uri="{0D108BD9-81ED-4DB2-BD59-A6C34878D82A}">
                        <a16:rowId xmlns:a16="http://schemas.microsoft.com/office/drawing/2014/main" val="4282699494"/>
                      </a:ext>
                    </a:extLst>
                  </a:tr>
                  <a:tr h="3901440">
                    <a:tc>
                      <a:txBody>
                        <a:bodyPr/>
                        <a:lstStyle/>
                        <a:p>
                          <a:endParaRPr lang="en-NL"/>
                        </a:p>
                      </a:txBody>
                      <a:tcPr marL="121920" marR="121920" marT="60960" marB="60960">
                        <a:blipFill>
                          <a:blip r:embed="rId3"/>
                          <a:stretch>
                            <a:fillRect l="-114" t="-19805" r="-343" b="-325"/>
                          </a:stretch>
                        </a:blipFill>
                      </a:tcPr>
                    </a:tc>
                    <a:extLst>
                      <a:ext uri="{0D108BD9-81ED-4DB2-BD59-A6C34878D82A}">
                        <a16:rowId xmlns:a16="http://schemas.microsoft.com/office/drawing/2014/main" val="2257841623"/>
                      </a:ext>
                    </a:extLst>
                  </a:tr>
                </a:tbl>
              </a:graphicData>
            </a:graphic>
          </p:graphicFrame>
        </mc:Fallback>
      </mc:AlternateContent>
      <p:grpSp>
        <p:nvGrpSpPr>
          <p:cNvPr id="5" name="Group 4">
            <a:extLst>
              <a:ext uri="{FF2B5EF4-FFF2-40B4-BE49-F238E27FC236}">
                <a16:creationId xmlns:a16="http://schemas.microsoft.com/office/drawing/2014/main" id="{323DD4F2-4929-73D5-D8C3-2A941F170498}"/>
              </a:ext>
            </a:extLst>
          </p:cNvPr>
          <p:cNvGrpSpPr/>
          <p:nvPr/>
        </p:nvGrpSpPr>
        <p:grpSpPr>
          <a:xfrm>
            <a:off x="6146129" y="3151582"/>
            <a:ext cx="5258513" cy="2468928"/>
            <a:chOff x="4609596" y="2363686"/>
            <a:chExt cx="3943885" cy="1851696"/>
          </a:xfrm>
        </p:grpSpPr>
        <p:sp>
          <p:nvSpPr>
            <p:cNvPr id="6" name="Rectangle 5">
              <a:extLst>
                <a:ext uri="{FF2B5EF4-FFF2-40B4-BE49-F238E27FC236}">
                  <a16:creationId xmlns:a16="http://schemas.microsoft.com/office/drawing/2014/main" id="{ABBAE409-BF56-3E9C-F6A7-D31600E62DE1}"/>
                </a:ext>
              </a:extLst>
            </p:cNvPr>
            <p:cNvSpPr/>
            <p:nvPr/>
          </p:nvSpPr>
          <p:spPr>
            <a:xfrm>
              <a:off x="4609596" y="2363686"/>
              <a:ext cx="3943885" cy="185169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2400"/>
            </a:p>
          </p:txBody>
        </p:sp>
        <p:grpSp>
          <p:nvGrpSpPr>
            <p:cNvPr id="7" name="Group 6">
              <a:extLst>
                <a:ext uri="{FF2B5EF4-FFF2-40B4-BE49-F238E27FC236}">
                  <a16:creationId xmlns:a16="http://schemas.microsoft.com/office/drawing/2014/main" id="{77FDA562-C7BE-E454-BF1C-98065B94899E}"/>
                </a:ext>
              </a:extLst>
            </p:cNvPr>
            <p:cNvGrpSpPr/>
            <p:nvPr/>
          </p:nvGrpSpPr>
          <p:grpSpPr>
            <a:xfrm>
              <a:off x="4697127" y="2491313"/>
              <a:ext cx="3768821" cy="1649456"/>
              <a:chOff x="994538" y="2580714"/>
              <a:chExt cx="7293373" cy="1649456"/>
            </a:xfrm>
          </p:grpSpPr>
          <p:cxnSp>
            <p:nvCxnSpPr>
              <p:cNvPr id="8" name="Straight Connector 7">
                <a:extLst>
                  <a:ext uri="{FF2B5EF4-FFF2-40B4-BE49-F238E27FC236}">
                    <a16:creationId xmlns:a16="http://schemas.microsoft.com/office/drawing/2014/main" id="{D6E84E00-59EE-443D-BC8E-3E19BE5A3F51}"/>
                  </a:ext>
                </a:extLst>
              </p:cNvPr>
              <p:cNvCxnSpPr/>
              <p:nvPr/>
            </p:nvCxnSpPr>
            <p:spPr>
              <a:xfrm flipV="1">
                <a:off x="1087910" y="3121787"/>
                <a:ext cx="7200000" cy="0"/>
              </a:xfrm>
              <a:prstGeom prst="line">
                <a:avLst/>
              </a:prstGeom>
              <a:effectLst/>
            </p:spPr>
            <p:style>
              <a:lnRef idx="2">
                <a:schemeClr val="accent2"/>
              </a:lnRef>
              <a:fillRef idx="0">
                <a:schemeClr val="accent2"/>
              </a:fillRef>
              <a:effectRef idx="1">
                <a:schemeClr val="accent2"/>
              </a:effectRef>
              <a:fontRef idx="minor">
                <a:schemeClr val="tx1"/>
              </a:fontRef>
            </p:style>
          </p:cxnSp>
          <p:cxnSp>
            <p:nvCxnSpPr>
              <p:cNvPr id="9" name="Straight Connector 8">
                <a:extLst>
                  <a:ext uri="{FF2B5EF4-FFF2-40B4-BE49-F238E27FC236}">
                    <a16:creationId xmlns:a16="http://schemas.microsoft.com/office/drawing/2014/main" id="{941B33B3-299B-8C8F-A2E2-8FD1EDBAB6F0}"/>
                  </a:ext>
                </a:extLst>
              </p:cNvPr>
              <p:cNvCxnSpPr/>
              <p:nvPr/>
            </p:nvCxnSpPr>
            <p:spPr>
              <a:xfrm flipV="1">
                <a:off x="1087910" y="2941787"/>
                <a:ext cx="0" cy="360000"/>
              </a:xfrm>
              <a:prstGeom prst="line">
                <a:avLst/>
              </a:prstGeom>
              <a:effectLst/>
            </p:spPr>
            <p:style>
              <a:lnRef idx="2">
                <a:schemeClr val="accent2"/>
              </a:lnRef>
              <a:fillRef idx="0">
                <a:schemeClr val="accent2"/>
              </a:fillRef>
              <a:effectRef idx="1">
                <a:schemeClr val="accent2"/>
              </a:effectRef>
              <a:fontRef idx="minor">
                <a:schemeClr val="tx1"/>
              </a:fontRef>
            </p:style>
          </p:cxnSp>
          <p:cxnSp>
            <p:nvCxnSpPr>
              <p:cNvPr id="10" name="Straight Connector 9">
                <a:extLst>
                  <a:ext uri="{FF2B5EF4-FFF2-40B4-BE49-F238E27FC236}">
                    <a16:creationId xmlns:a16="http://schemas.microsoft.com/office/drawing/2014/main" id="{9400D867-015F-37CE-BF29-34A5086FCCB0}"/>
                  </a:ext>
                </a:extLst>
              </p:cNvPr>
              <p:cNvCxnSpPr/>
              <p:nvPr/>
            </p:nvCxnSpPr>
            <p:spPr>
              <a:xfrm flipV="1">
                <a:off x="7709797" y="2941787"/>
                <a:ext cx="0" cy="360000"/>
              </a:xfrm>
              <a:prstGeom prst="line">
                <a:avLst/>
              </a:prstGeom>
              <a:effectLst/>
            </p:spPr>
            <p:style>
              <a:lnRef idx="2">
                <a:schemeClr val="accent2"/>
              </a:lnRef>
              <a:fillRef idx="0">
                <a:schemeClr val="accent2"/>
              </a:fillRef>
              <a:effectRef idx="1">
                <a:schemeClr val="accent2"/>
              </a:effectRef>
              <a:fontRef idx="minor">
                <a:schemeClr val="tx1"/>
              </a:fontRef>
            </p:style>
          </p:cxnSp>
          <p:cxnSp>
            <p:nvCxnSpPr>
              <p:cNvPr id="11" name="Straight Arrow Connector 10">
                <a:extLst>
                  <a:ext uri="{FF2B5EF4-FFF2-40B4-BE49-F238E27FC236}">
                    <a16:creationId xmlns:a16="http://schemas.microsoft.com/office/drawing/2014/main" id="{316CA837-F2D6-3F65-2315-0F5CD8C43667}"/>
                  </a:ext>
                </a:extLst>
              </p:cNvPr>
              <p:cNvCxnSpPr/>
              <p:nvPr/>
            </p:nvCxnSpPr>
            <p:spPr>
              <a:xfrm>
                <a:off x="1996225" y="2580714"/>
                <a:ext cx="0" cy="540000"/>
              </a:xfrm>
              <a:prstGeom prst="straightConnector1">
                <a:avLst/>
              </a:prstGeom>
              <a:ln w="38100">
                <a:solidFill>
                  <a:schemeClr val="accent1"/>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BDCE671F-316E-A5F5-5EF1-1D67DC559B1B}"/>
                  </a:ext>
                </a:extLst>
              </p:cNvPr>
              <p:cNvCxnSpPr/>
              <p:nvPr/>
            </p:nvCxnSpPr>
            <p:spPr>
              <a:xfrm>
                <a:off x="3586766" y="2580714"/>
                <a:ext cx="0" cy="540000"/>
              </a:xfrm>
              <a:prstGeom prst="straightConnector1">
                <a:avLst/>
              </a:prstGeom>
              <a:ln w="38100">
                <a:solidFill>
                  <a:schemeClr val="accent1"/>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E7E86464-8119-0FDE-C95E-BF030A23E81B}"/>
                  </a:ext>
                </a:extLst>
              </p:cNvPr>
              <p:cNvCxnSpPr/>
              <p:nvPr/>
            </p:nvCxnSpPr>
            <p:spPr>
              <a:xfrm>
                <a:off x="6845121" y="2580714"/>
                <a:ext cx="0" cy="540000"/>
              </a:xfrm>
              <a:prstGeom prst="straightConnector1">
                <a:avLst/>
              </a:prstGeom>
              <a:ln w="38100">
                <a:solidFill>
                  <a:schemeClr val="accent1"/>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987EEDCC-CB17-1B3F-A777-911972CDB6B4}"/>
                  </a:ext>
                </a:extLst>
              </p:cNvPr>
              <p:cNvCxnSpPr/>
              <p:nvPr/>
            </p:nvCxnSpPr>
            <p:spPr>
              <a:xfrm>
                <a:off x="7192850" y="2580714"/>
                <a:ext cx="0" cy="540000"/>
              </a:xfrm>
              <a:prstGeom prst="straightConnector1">
                <a:avLst/>
              </a:prstGeom>
              <a:ln w="38100">
                <a:solidFill>
                  <a:schemeClr val="accent1"/>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374F85DF-9225-494B-A338-60A63AAFFC7B}"/>
                      </a:ext>
                    </a:extLst>
                  </p:cNvPr>
                  <p:cNvSpPr txBox="1"/>
                  <p:nvPr/>
                </p:nvSpPr>
                <p:spPr>
                  <a:xfrm>
                    <a:off x="7709799" y="3301785"/>
                    <a:ext cx="57811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nl-NL" sz="2400" b="0" i="1" smtClean="0">
                              <a:solidFill>
                                <a:schemeClr val="accent1"/>
                              </a:solidFill>
                              <a:latin typeface="Cambria Math" panose="02040503050406030204" pitchFamily="18" charset="0"/>
                            </a:rPr>
                            <m:t>10 </m:t>
                          </m:r>
                          <m:r>
                            <m:rPr>
                              <m:sty m:val="p"/>
                            </m:rPr>
                            <a:rPr lang="nl-NL" sz="2400" b="0" i="1" smtClean="0">
                              <a:solidFill>
                                <a:schemeClr val="accent1"/>
                              </a:solidFill>
                              <a:latin typeface="Cambria Math" panose="02040503050406030204" pitchFamily="18" charset="0"/>
                            </a:rPr>
                            <m:t>days</m:t>
                          </m:r>
                        </m:oMath>
                      </m:oMathPara>
                    </a14:m>
                    <a:endParaRPr lang="en-US" sz="2400" dirty="0">
                      <a:solidFill>
                        <a:schemeClr val="accent1"/>
                      </a:solidFill>
                    </a:endParaRPr>
                  </a:p>
                </p:txBody>
              </p:sp>
            </mc:Choice>
            <mc:Fallback>
              <p:sp>
                <p:nvSpPr>
                  <p:cNvPr id="18" name="TextBox 17">
                    <a:extLst>
                      <a:ext uri="{FF2B5EF4-FFF2-40B4-BE49-F238E27FC236}">
                        <a16:creationId xmlns:a16="http://schemas.microsoft.com/office/drawing/2014/main" id="{374F85DF-9225-494B-A338-60A63AAFFC7B}"/>
                      </a:ext>
                    </a:extLst>
                  </p:cNvPr>
                  <p:cNvSpPr txBox="1">
                    <a:spLocks noRot="1" noChangeAspect="1" noMove="1" noResize="1" noEditPoints="1" noAdjustHandles="1" noChangeArrowheads="1" noChangeShapeType="1" noTextEdit="1"/>
                  </p:cNvSpPr>
                  <p:nvPr/>
                </p:nvSpPr>
                <p:spPr>
                  <a:xfrm>
                    <a:off x="7709799" y="3301785"/>
                    <a:ext cx="578112" cy="276999"/>
                  </a:xfrm>
                  <a:prstGeom prst="rect">
                    <a:avLst/>
                  </a:prstGeom>
                  <a:blipFill>
                    <a:blip r:embed="rId4"/>
                    <a:stretch>
                      <a:fillRect l="-25000" t="-6667" r="-184375" b="-36667"/>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B974E05D-25FF-A6EC-FB57-3005EAF20485}"/>
                      </a:ext>
                    </a:extLst>
                  </p:cNvPr>
                  <p:cNvSpPr txBox="1"/>
                  <p:nvPr/>
                </p:nvSpPr>
                <p:spPr>
                  <a:xfrm>
                    <a:off x="994538" y="3301787"/>
                    <a:ext cx="34666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solidFill>
                                <a:schemeClr val="tx2"/>
                              </a:solidFill>
                              <a:latin typeface="Cambria Math" panose="02040503050406030204" pitchFamily="18" charset="0"/>
                            </a:rPr>
                            <m:t>0</m:t>
                          </m:r>
                        </m:oMath>
                      </m:oMathPara>
                    </a14:m>
                    <a:endParaRPr lang="en-US" sz="2400" dirty="0">
                      <a:solidFill>
                        <a:schemeClr val="tx2"/>
                      </a:solidFill>
                    </a:endParaRPr>
                  </a:p>
                </p:txBody>
              </p:sp>
            </mc:Choice>
            <mc:Fallback>
              <p:sp>
                <p:nvSpPr>
                  <p:cNvPr id="19" name="TextBox 18">
                    <a:extLst>
                      <a:ext uri="{FF2B5EF4-FFF2-40B4-BE49-F238E27FC236}">
                        <a16:creationId xmlns:a16="http://schemas.microsoft.com/office/drawing/2014/main" id="{B974E05D-25FF-A6EC-FB57-3005EAF20485}"/>
                      </a:ext>
                    </a:extLst>
                  </p:cNvPr>
                  <p:cNvSpPr txBox="1">
                    <a:spLocks noRot="1" noChangeAspect="1" noMove="1" noResize="1" noEditPoints="1" noAdjustHandles="1" noChangeArrowheads="1" noChangeShapeType="1" noTextEdit="1"/>
                  </p:cNvSpPr>
                  <p:nvPr/>
                </p:nvSpPr>
                <p:spPr>
                  <a:xfrm>
                    <a:off x="994538" y="3301787"/>
                    <a:ext cx="346660" cy="276999"/>
                  </a:xfrm>
                  <a:prstGeom prst="rect">
                    <a:avLst/>
                  </a:prstGeom>
                  <a:blipFill>
                    <a:blip r:embed="rId5"/>
                    <a:stretch>
                      <a:fillRect l="-23810" r="-23810" b="-6667"/>
                    </a:stretch>
                  </a:blipFill>
                </p:spPr>
                <p:txBody>
                  <a:bodyPr/>
                  <a:lstStyle/>
                  <a:p>
                    <a:r>
                      <a:rPr lang="en-NL">
                        <a:noFill/>
                      </a:rPr>
                      <a:t> </a:t>
                    </a:r>
                  </a:p>
                </p:txBody>
              </p:sp>
            </mc:Fallback>
          </mc:AlternateContent>
          <p:sp>
            <p:nvSpPr>
              <p:cNvPr id="20" name="Left Brace 19">
                <a:extLst>
                  <a:ext uri="{FF2B5EF4-FFF2-40B4-BE49-F238E27FC236}">
                    <a16:creationId xmlns:a16="http://schemas.microsoft.com/office/drawing/2014/main" id="{5A584F7B-C837-E681-BFB0-D97F32DB3EB4}"/>
                  </a:ext>
                </a:extLst>
              </p:cNvPr>
              <p:cNvSpPr/>
              <p:nvPr/>
            </p:nvSpPr>
            <p:spPr>
              <a:xfrm rot="16200000">
                <a:off x="4269356" y="443479"/>
                <a:ext cx="258996" cy="6621887"/>
              </a:xfrm>
              <a:prstGeom prst="leftBrace">
                <a:avLst/>
              </a:prstGeom>
              <a:ln>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mc:AlternateContent xmlns:mc="http://schemas.openxmlformats.org/markup-compatibility/2006">
            <mc:Choice xmlns:a14="http://schemas.microsoft.com/office/drawing/2010/main" Requires="a14">
              <p:sp>
                <p:nvSpPr>
                  <p:cNvPr id="21" name="Rectangle 20">
                    <a:extLst>
                      <a:ext uri="{FF2B5EF4-FFF2-40B4-BE49-F238E27FC236}">
                        <a16:creationId xmlns:a16="http://schemas.microsoft.com/office/drawing/2014/main" id="{27599A35-B3D6-7F88-29B9-A69D0CA7CC74}"/>
                      </a:ext>
                    </a:extLst>
                  </p:cNvPr>
                  <p:cNvSpPr/>
                  <p:nvPr/>
                </p:nvSpPr>
                <p:spPr>
                  <a:xfrm>
                    <a:off x="3833987" y="3883921"/>
                    <a:ext cx="3449485" cy="346249"/>
                  </a:xfrm>
                  <a:prstGeom prst="rect">
                    <a:avLst/>
                  </a:prstGeom>
                </p:spPr>
                <p:txBody>
                  <a:bodyPr wrap="none">
                    <a:spAutoFit/>
                  </a:bodyPr>
                  <a:lstStyle/>
                  <a:p>
                    <a:pPr/>
                    <a14:m>
                      <m:oMath xmlns:m="http://schemas.openxmlformats.org/officeDocument/2006/math">
                        <m:r>
                          <a:rPr lang="en-US" sz="2400" i="1">
                            <a:latin typeface="Cambria Math" panose="02040503050406030204" pitchFamily="18" charset="0"/>
                          </a:rPr>
                          <m:t>𝑁</m:t>
                        </m:r>
                        <m:d>
                          <m:dPr>
                            <m:ctrlPr>
                              <a:rPr lang="en-US" sz="2400" i="1">
                                <a:latin typeface="Cambria Math" panose="02040503050406030204" pitchFamily="18" charset="0"/>
                              </a:rPr>
                            </m:ctrlPr>
                          </m:dPr>
                          <m:e>
                            <m:r>
                              <a:rPr lang="en-US" sz="2400" i="1">
                                <a:latin typeface="Cambria Math" panose="02040503050406030204" pitchFamily="18" charset="0"/>
                              </a:rPr>
                              <m:t>𝑡</m:t>
                            </m:r>
                          </m:e>
                        </m:d>
                        <m:r>
                          <a:rPr lang="en-US" sz="2400" i="1">
                            <a:latin typeface="Cambria Math" panose="02040503050406030204" pitchFamily="18" charset="0"/>
                          </a:rPr>
                          <m:t>=</m:t>
                        </m:r>
                        <m:r>
                          <a:rPr lang="nl-NL" sz="2400" b="0" i="1" smtClean="0">
                            <a:latin typeface="Cambria Math" panose="02040503050406030204" pitchFamily="18" charset="0"/>
                          </a:rPr>
                          <m:t>4</m:t>
                        </m:r>
                      </m:oMath>
                    </a14:m>
                    <a:r>
                      <a:rPr lang="en-US" sz="2400" dirty="0"/>
                      <a:t> crashes</a:t>
                    </a:r>
                  </a:p>
                </p:txBody>
              </p:sp>
            </mc:Choice>
            <mc:Fallback>
              <p:sp>
                <p:nvSpPr>
                  <p:cNvPr id="21" name="Rectangle 20">
                    <a:extLst>
                      <a:ext uri="{FF2B5EF4-FFF2-40B4-BE49-F238E27FC236}">
                        <a16:creationId xmlns:a16="http://schemas.microsoft.com/office/drawing/2014/main" id="{27599A35-B3D6-7F88-29B9-A69D0CA7CC74}"/>
                      </a:ext>
                    </a:extLst>
                  </p:cNvPr>
                  <p:cNvSpPr>
                    <a:spLocks noRot="1" noChangeAspect="1" noMove="1" noResize="1" noEditPoints="1" noAdjustHandles="1" noChangeArrowheads="1" noChangeShapeType="1" noTextEdit="1"/>
                  </p:cNvSpPr>
                  <p:nvPr/>
                </p:nvSpPr>
                <p:spPr>
                  <a:xfrm>
                    <a:off x="3833987" y="3883921"/>
                    <a:ext cx="3449485" cy="346249"/>
                  </a:xfrm>
                  <a:prstGeom prst="rect">
                    <a:avLst/>
                  </a:prstGeom>
                  <a:blipFill>
                    <a:blip r:embed="rId6"/>
                    <a:stretch>
                      <a:fillRect l="-532" t="-8108" r="-3191" b="-29730"/>
                    </a:stretch>
                  </a:blipFill>
                </p:spPr>
                <p:txBody>
                  <a:bodyPr/>
                  <a:lstStyle/>
                  <a:p>
                    <a:r>
                      <a:rPr lang="en-NL">
                        <a:noFill/>
                      </a:rPr>
                      <a:t> </a:t>
                    </a:r>
                  </a:p>
                </p:txBody>
              </p:sp>
            </mc:Fallback>
          </mc:AlternateContent>
        </p:grpSp>
      </p:grpSp>
      <p:cxnSp>
        <p:nvCxnSpPr>
          <p:cNvPr id="3" name="Straight Arrow Connector 2">
            <a:extLst>
              <a:ext uri="{FF2B5EF4-FFF2-40B4-BE49-F238E27FC236}">
                <a16:creationId xmlns:a16="http://schemas.microsoft.com/office/drawing/2014/main" id="{CA31A835-0FB0-D365-335F-DB2F868CAD4C}"/>
              </a:ext>
            </a:extLst>
          </p:cNvPr>
          <p:cNvCxnSpPr>
            <a:cxnSpLocks/>
          </p:cNvCxnSpPr>
          <p:nvPr/>
        </p:nvCxnSpPr>
        <p:spPr>
          <a:xfrm>
            <a:off x="1105033" y="4283179"/>
            <a:ext cx="356342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Explosion 1 11">
            <a:extLst>
              <a:ext uri="{FF2B5EF4-FFF2-40B4-BE49-F238E27FC236}">
                <a16:creationId xmlns:a16="http://schemas.microsoft.com/office/drawing/2014/main" id="{46A8FAE9-F6B2-DC21-CF71-194CB9D7AC5C}"/>
              </a:ext>
            </a:extLst>
          </p:cNvPr>
          <p:cNvSpPr/>
          <p:nvPr/>
        </p:nvSpPr>
        <p:spPr>
          <a:xfrm>
            <a:off x="734846" y="4092566"/>
            <a:ext cx="625033" cy="381965"/>
          </a:xfrm>
          <a:prstGeom prst="irregularSeal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NL"/>
          </a:p>
        </p:txBody>
      </p:sp>
      <p:sp>
        <p:nvSpPr>
          <p:cNvPr id="14" name="Explosion 1 13">
            <a:extLst>
              <a:ext uri="{FF2B5EF4-FFF2-40B4-BE49-F238E27FC236}">
                <a16:creationId xmlns:a16="http://schemas.microsoft.com/office/drawing/2014/main" id="{E209A3E5-DC10-827A-BDF5-162691A77550}"/>
              </a:ext>
            </a:extLst>
          </p:cNvPr>
          <p:cNvSpPr/>
          <p:nvPr/>
        </p:nvSpPr>
        <p:spPr>
          <a:xfrm>
            <a:off x="1495868" y="4092566"/>
            <a:ext cx="625033" cy="381965"/>
          </a:xfrm>
          <a:prstGeom prst="irregularSeal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NL"/>
          </a:p>
        </p:txBody>
      </p:sp>
      <p:sp>
        <p:nvSpPr>
          <p:cNvPr id="15" name="Explosion 1 14">
            <a:extLst>
              <a:ext uri="{FF2B5EF4-FFF2-40B4-BE49-F238E27FC236}">
                <a16:creationId xmlns:a16="http://schemas.microsoft.com/office/drawing/2014/main" id="{C1B2268C-C46C-D9DA-E1F5-222D6F510619}"/>
              </a:ext>
            </a:extLst>
          </p:cNvPr>
          <p:cNvSpPr/>
          <p:nvPr/>
        </p:nvSpPr>
        <p:spPr>
          <a:xfrm>
            <a:off x="2769645" y="4092566"/>
            <a:ext cx="625033" cy="381965"/>
          </a:xfrm>
          <a:prstGeom prst="irregularSeal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NL"/>
          </a:p>
        </p:txBody>
      </p:sp>
      <p:sp>
        <p:nvSpPr>
          <p:cNvPr id="25" name="Explosion 1 24">
            <a:extLst>
              <a:ext uri="{FF2B5EF4-FFF2-40B4-BE49-F238E27FC236}">
                <a16:creationId xmlns:a16="http://schemas.microsoft.com/office/drawing/2014/main" id="{AEF5C039-2230-ECD2-3944-88E4963A968B}"/>
              </a:ext>
            </a:extLst>
          </p:cNvPr>
          <p:cNvSpPr/>
          <p:nvPr/>
        </p:nvSpPr>
        <p:spPr>
          <a:xfrm>
            <a:off x="3841751" y="4092566"/>
            <a:ext cx="625033" cy="381965"/>
          </a:xfrm>
          <a:prstGeom prst="irregularSeal1">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NL"/>
          </a:p>
        </p:txBody>
      </p:sp>
      <p:sp>
        <p:nvSpPr>
          <p:cNvPr id="28" name="TextBox 27">
            <a:extLst>
              <a:ext uri="{FF2B5EF4-FFF2-40B4-BE49-F238E27FC236}">
                <a16:creationId xmlns:a16="http://schemas.microsoft.com/office/drawing/2014/main" id="{0FE59102-0630-AB26-322F-116B4557FF5B}"/>
              </a:ext>
            </a:extLst>
          </p:cNvPr>
          <p:cNvSpPr txBox="1"/>
          <p:nvPr/>
        </p:nvSpPr>
        <p:spPr>
          <a:xfrm>
            <a:off x="529163" y="4555317"/>
            <a:ext cx="5616000" cy="1384995"/>
          </a:xfrm>
          <a:prstGeom prst="rect">
            <a:avLst/>
          </a:prstGeom>
          <a:noFill/>
        </p:spPr>
        <p:txBody>
          <a:bodyPr wrap="square">
            <a:spAutoFit/>
          </a:bodyPr>
          <a:lstStyle/>
          <a:p>
            <a:r>
              <a:rPr lang="en-GB" sz="2800" dirty="0"/>
              <a:t>The counting process </a:t>
            </a:r>
            <a:r>
              <a:rPr lang="en-GB" sz="2800" b="1" dirty="0">
                <a:effectLst/>
                <a:latin typeface="Google Sans Text"/>
              </a:rPr>
              <a:t>N(t)</a:t>
            </a:r>
            <a:r>
              <a:rPr lang="en-GB" sz="2800" b="1" dirty="0"/>
              <a:t> </a:t>
            </a:r>
            <a:r>
              <a:rPr lang="en-GB" sz="2800" dirty="0"/>
              <a:t>counts how many crashes have accumulated by time </a:t>
            </a:r>
            <a:r>
              <a:rPr lang="en-GB" sz="2800" b="1" dirty="0">
                <a:effectLst/>
                <a:latin typeface="Google Sans Text"/>
              </a:rPr>
              <a:t>t</a:t>
            </a:r>
            <a:r>
              <a:rPr lang="en-GB" sz="2800" dirty="0"/>
              <a:t>.</a:t>
            </a:r>
            <a:endParaRPr lang="en-NL" sz="2800" dirty="0"/>
          </a:p>
        </p:txBody>
      </p:sp>
    </p:spTree>
    <p:extLst>
      <p:ext uri="{BB962C8B-B14F-4D97-AF65-F5344CB8AC3E}">
        <p14:creationId xmlns:p14="http://schemas.microsoft.com/office/powerpoint/2010/main" val="12306288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EF953-5FDD-6F24-1593-ECB70860AEA5}"/>
              </a:ext>
            </a:extLst>
          </p:cNvPr>
          <p:cNvSpPr>
            <a:spLocks noGrp="1"/>
          </p:cNvSpPr>
          <p:nvPr>
            <p:ph type="title"/>
          </p:nvPr>
        </p:nvSpPr>
        <p:spPr/>
        <p:txBody>
          <a:bodyPr/>
          <a:lstStyle/>
          <a:p>
            <a:r>
              <a:rPr lang="en-NL" dirty="0">
                <a:solidFill>
                  <a:schemeClr val="accent1"/>
                </a:solidFill>
              </a:rPr>
              <a:t>Poisson</a:t>
            </a:r>
            <a:r>
              <a:rPr lang="en-NL" dirty="0"/>
              <a:t>: Counting</a:t>
            </a:r>
          </a:p>
        </p:txBody>
      </p:sp>
      <mc:AlternateContent xmlns:mc="http://schemas.openxmlformats.org/markup-compatibility/2006">
        <mc:Choice xmlns:a14="http://schemas.microsoft.com/office/drawing/2010/main" Requires="a14">
          <p:graphicFrame>
            <p:nvGraphicFramePr>
              <p:cNvPr id="4" name="Content Placeholder 5">
                <a:extLst>
                  <a:ext uri="{FF2B5EF4-FFF2-40B4-BE49-F238E27FC236}">
                    <a16:creationId xmlns:a16="http://schemas.microsoft.com/office/drawing/2014/main" id="{4C37C55E-2275-11BE-5428-C50F5F79E4FA}"/>
                  </a:ext>
                </a:extLst>
              </p:cNvPr>
              <p:cNvGraphicFramePr>
                <a:graphicFrameLocks/>
              </p:cNvGraphicFramePr>
              <p:nvPr/>
            </p:nvGraphicFramePr>
            <p:xfrm>
              <a:off x="480000" y="1347992"/>
              <a:ext cx="11101917" cy="3281680"/>
            </p:xfrm>
            <a:graphic>
              <a:graphicData uri="http://schemas.openxmlformats.org/drawingml/2006/table">
                <a:tbl>
                  <a:tblPr firstRow="1" bandRow="1">
                    <a:tableStyleId>{5C22544A-7EE6-4342-B048-85BDC9FD1C3A}</a:tableStyleId>
                  </a:tblPr>
                  <a:tblGrid>
                    <a:gridCol w="11101917">
                      <a:extLst>
                        <a:ext uri="{9D8B030D-6E8A-4147-A177-3AD203B41FA5}">
                          <a16:colId xmlns:a16="http://schemas.microsoft.com/office/drawing/2014/main" val="2806566759"/>
                        </a:ext>
                      </a:extLst>
                    </a:gridCol>
                  </a:tblGrid>
                  <a:tr h="690880">
                    <a:tc>
                      <a:txBody>
                        <a:bodyPr/>
                        <a:lstStyle/>
                        <a:p>
                          <a:r>
                            <a:rPr lang="en-US" sz="3700" dirty="0"/>
                            <a:t>Counting Process</a:t>
                          </a:r>
                        </a:p>
                      </a:txBody>
                      <a:tcPr marL="121920" marR="121920" marT="60960" marB="60960"/>
                    </a:tc>
                    <a:extLst>
                      <a:ext uri="{0D108BD9-81ED-4DB2-BD59-A6C34878D82A}">
                        <a16:rowId xmlns:a16="http://schemas.microsoft.com/office/drawing/2014/main" val="4282699494"/>
                      </a:ext>
                    </a:extLst>
                  </a:tr>
                  <a:tr h="2560320">
                    <a:tc>
                      <a:txBody>
                        <a:bodyPr/>
                        <a:lstStyle/>
                        <a:p>
                          <a:r>
                            <a:rPr lang="en-US" sz="2700" dirty="0"/>
                            <a:t>A </a:t>
                          </a:r>
                          <a:r>
                            <a:rPr lang="en-US" sz="2700" b="1" i="1" dirty="0"/>
                            <a:t>counting process</a:t>
                          </a:r>
                          <a:r>
                            <a:rPr lang="en-US" sz="2700" dirty="0"/>
                            <a:t>, </a:t>
                          </a:r>
                          <a14:m>
                            <m:oMath xmlns:m="http://schemas.openxmlformats.org/officeDocument/2006/math">
                              <m:d>
                                <m:dPr>
                                  <m:begChr m:val="{"/>
                                  <m:endChr m:val="}"/>
                                  <m:ctrlPr>
                                    <a:rPr lang="en-US" sz="2700" i="1">
                                      <a:latin typeface="Cambria Math" panose="02040503050406030204" pitchFamily="18" charset="0"/>
                                    </a:rPr>
                                  </m:ctrlPr>
                                </m:dPr>
                                <m:e>
                                  <m:r>
                                    <a:rPr lang="en-US" sz="2700" i="1">
                                      <a:latin typeface="Cambria Math" panose="02040503050406030204" pitchFamily="18" charset="0"/>
                                    </a:rPr>
                                    <m:t>𝑁</m:t>
                                  </m:r>
                                  <m:d>
                                    <m:dPr>
                                      <m:ctrlPr>
                                        <a:rPr lang="en-US" sz="2700" i="1">
                                          <a:latin typeface="Cambria Math" panose="02040503050406030204" pitchFamily="18" charset="0"/>
                                        </a:rPr>
                                      </m:ctrlPr>
                                    </m:dPr>
                                    <m:e>
                                      <m:r>
                                        <a:rPr lang="en-US" sz="2700" i="1">
                                          <a:latin typeface="Cambria Math" panose="02040503050406030204" pitchFamily="18" charset="0"/>
                                        </a:rPr>
                                        <m:t>𝑡</m:t>
                                      </m:r>
                                    </m:e>
                                  </m:d>
                                  <m:r>
                                    <a:rPr lang="en-US" sz="2700" i="1">
                                      <a:latin typeface="Cambria Math" panose="02040503050406030204" pitchFamily="18" charset="0"/>
                                    </a:rPr>
                                    <m:t>, </m:t>
                                  </m:r>
                                  <m:r>
                                    <a:rPr lang="en-US" sz="2700" i="1">
                                      <a:latin typeface="Cambria Math" panose="02040503050406030204" pitchFamily="18" charset="0"/>
                                    </a:rPr>
                                    <m:t>𝑡</m:t>
                                  </m:r>
                                  <m:r>
                                    <a:rPr lang="en-US" sz="2700" i="1">
                                      <a:latin typeface="Cambria Math" panose="02040503050406030204" pitchFamily="18" charset="0"/>
                                    </a:rPr>
                                    <m:t>≥0</m:t>
                                  </m:r>
                                </m:e>
                              </m:d>
                            </m:oMath>
                          </a14:m>
                          <a:r>
                            <a:rPr lang="en-US" sz="2700" dirty="0"/>
                            <a:t>, satisfies:</a:t>
                          </a:r>
                        </a:p>
                        <a:p>
                          <a:pPr marL="0" indent="0">
                            <a:buFont typeface="Arial" panose="020B0604020202020204" pitchFamily="34" charset="0"/>
                            <a:buNone/>
                          </a:pPr>
                          <a:endParaRPr lang="en-US" sz="2700" dirty="0"/>
                        </a:p>
                        <a:p>
                          <a:pPr marL="0" indent="0">
                            <a:buFont typeface="Arial" panose="020B0604020202020204" pitchFamily="34" charset="0"/>
                            <a:buNone/>
                          </a:pPr>
                          <a:endParaRPr lang="en-US" sz="2700" dirty="0"/>
                        </a:p>
                        <a:p>
                          <a:pPr marL="0" indent="0">
                            <a:buFont typeface="Arial" panose="020B0604020202020204" pitchFamily="34" charset="0"/>
                            <a:buNone/>
                          </a:pPr>
                          <a:endParaRPr lang="en-US" sz="2700" dirty="0"/>
                        </a:p>
                        <a:p>
                          <a:pPr marL="0" indent="0">
                            <a:buFont typeface="Arial" panose="020B0604020202020204" pitchFamily="34" charset="0"/>
                            <a:buNone/>
                          </a:pPr>
                          <a:endParaRPr lang="en-US" sz="2700" dirty="0"/>
                        </a:p>
                        <a:p>
                          <a:pPr marL="0" indent="0">
                            <a:buFont typeface="Arial" panose="020B0604020202020204" pitchFamily="34" charset="0"/>
                            <a:buNone/>
                          </a:pPr>
                          <a:endParaRPr lang="en-US" sz="2700" dirty="0"/>
                        </a:p>
                      </a:txBody>
                      <a:tcPr marL="121920" marR="121920" marT="60960" marB="60960"/>
                    </a:tc>
                    <a:extLst>
                      <a:ext uri="{0D108BD9-81ED-4DB2-BD59-A6C34878D82A}">
                        <a16:rowId xmlns:a16="http://schemas.microsoft.com/office/drawing/2014/main" val="2257841623"/>
                      </a:ext>
                    </a:extLst>
                  </a:tr>
                </a:tbl>
              </a:graphicData>
            </a:graphic>
          </p:graphicFrame>
        </mc:Choice>
        <mc:Fallback>
          <p:graphicFrame>
            <p:nvGraphicFramePr>
              <p:cNvPr id="4" name="Content Placeholder 5">
                <a:extLst>
                  <a:ext uri="{FF2B5EF4-FFF2-40B4-BE49-F238E27FC236}">
                    <a16:creationId xmlns:a16="http://schemas.microsoft.com/office/drawing/2014/main" id="{4C37C55E-2275-11BE-5428-C50F5F79E4FA}"/>
                  </a:ext>
                </a:extLst>
              </p:cNvPr>
              <p:cNvGraphicFramePr>
                <a:graphicFrameLocks/>
              </p:cNvGraphicFramePr>
              <p:nvPr/>
            </p:nvGraphicFramePr>
            <p:xfrm>
              <a:off x="480000" y="1347992"/>
              <a:ext cx="11101917" cy="3281680"/>
            </p:xfrm>
            <a:graphic>
              <a:graphicData uri="http://schemas.openxmlformats.org/drawingml/2006/table">
                <a:tbl>
                  <a:tblPr firstRow="1" bandRow="1">
                    <a:tableStyleId>{5C22544A-7EE6-4342-B048-85BDC9FD1C3A}</a:tableStyleId>
                  </a:tblPr>
                  <a:tblGrid>
                    <a:gridCol w="11101917">
                      <a:extLst>
                        <a:ext uri="{9D8B030D-6E8A-4147-A177-3AD203B41FA5}">
                          <a16:colId xmlns:a16="http://schemas.microsoft.com/office/drawing/2014/main" val="2806566759"/>
                        </a:ext>
                      </a:extLst>
                    </a:gridCol>
                  </a:tblGrid>
                  <a:tr h="690880">
                    <a:tc>
                      <a:txBody>
                        <a:bodyPr/>
                        <a:lstStyle/>
                        <a:p>
                          <a:r>
                            <a:rPr lang="en-US" sz="3700" dirty="0"/>
                            <a:t>Counting Process</a:t>
                          </a:r>
                        </a:p>
                      </a:txBody>
                      <a:tcPr marL="121920" marR="121920" marT="60960" marB="60960"/>
                    </a:tc>
                    <a:extLst>
                      <a:ext uri="{0D108BD9-81ED-4DB2-BD59-A6C34878D82A}">
                        <a16:rowId xmlns:a16="http://schemas.microsoft.com/office/drawing/2014/main" val="4282699494"/>
                      </a:ext>
                    </a:extLst>
                  </a:tr>
                  <a:tr h="2590800">
                    <a:tc>
                      <a:txBody>
                        <a:bodyPr/>
                        <a:lstStyle/>
                        <a:p>
                          <a:endParaRPr lang="en-NL"/>
                        </a:p>
                      </a:txBody>
                      <a:tcPr marL="121920" marR="121920" marT="60960" marB="60960">
                        <a:blipFill>
                          <a:blip r:embed="rId3"/>
                          <a:stretch>
                            <a:fillRect l="-114" t="-30392" r="-343" b="-490"/>
                          </a:stretch>
                        </a:blipFill>
                      </a:tcPr>
                    </a:tc>
                    <a:extLst>
                      <a:ext uri="{0D108BD9-81ED-4DB2-BD59-A6C34878D82A}">
                        <a16:rowId xmlns:a16="http://schemas.microsoft.com/office/drawing/2014/main" val="2257841623"/>
                      </a:ext>
                    </a:extLst>
                  </a:tr>
                </a:tbl>
              </a:graphicData>
            </a:graphic>
          </p:graphicFrame>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99D83B0-B7AA-AC1B-A4AA-19CD49065287}"/>
                  </a:ext>
                </a:extLst>
              </p:cNvPr>
              <p:cNvSpPr txBox="1"/>
              <p:nvPr/>
            </p:nvSpPr>
            <p:spPr>
              <a:xfrm>
                <a:off x="480000" y="2453956"/>
                <a:ext cx="11101917" cy="2144498"/>
              </a:xfrm>
              <a:prstGeom prst="rect">
                <a:avLst/>
              </a:prstGeom>
              <a:noFill/>
            </p:spPr>
            <p:txBody>
              <a:bodyPr wrap="square" numCol="1" rtlCol="0">
                <a:spAutoFit/>
              </a:bodyPr>
              <a:lstStyle/>
              <a:p>
                <a:pPr marL="1240336" lvl="1" indent="-761981">
                  <a:buFont typeface="+mj-lt"/>
                  <a:buAutoNum type="romanLcPeriod"/>
                </a:pPr>
                <a:r>
                  <a:rPr lang="en-US" sz="2667" dirty="0"/>
                  <a:t> </a:t>
                </a:r>
                <a14:m>
                  <m:oMath xmlns:m="http://schemas.openxmlformats.org/officeDocument/2006/math">
                    <m:r>
                      <a:rPr lang="en-US" sz="2667" i="1">
                        <a:latin typeface="Cambria Math" panose="02040503050406030204" pitchFamily="18" charset="0"/>
                      </a:rPr>
                      <m:t>𝑁</m:t>
                    </m:r>
                    <m:d>
                      <m:dPr>
                        <m:ctrlPr>
                          <a:rPr lang="en-US" sz="2667" i="1">
                            <a:latin typeface="Cambria Math" panose="02040503050406030204" pitchFamily="18" charset="0"/>
                          </a:rPr>
                        </m:ctrlPr>
                      </m:dPr>
                      <m:e>
                        <m:r>
                          <a:rPr lang="en-US" sz="2667" i="1">
                            <a:latin typeface="Cambria Math" panose="02040503050406030204" pitchFamily="18" charset="0"/>
                          </a:rPr>
                          <m:t>𝑡</m:t>
                        </m:r>
                      </m:e>
                    </m:d>
                    <m:r>
                      <a:rPr lang="en-US" sz="2667" i="1">
                        <a:latin typeface="Cambria Math" panose="02040503050406030204" pitchFamily="18" charset="0"/>
                      </a:rPr>
                      <m:t>≥0</m:t>
                    </m:r>
                    <m:r>
                      <a:rPr lang="en-US" sz="2667">
                        <a:latin typeface="Cambria Math" panose="02040503050406030204" pitchFamily="18" charset="0"/>
                      </a:rPr>
                      <m:t>.</m:t>
                    </m:r>
                  </m:oMath>
                </a14:m>
                <a:r>
                  <a:rPr lang="en-US" sz="2667" dirty="0"/>
                  <a:t> (count up to time t)</a:t>
                </a:r>
              </a:p>
              <a:p>
                <a:pPr marL="1240336" lvl="1" indent="-761981">
                  <a:buFont typeface="+mj-lt"/>
                  <a:buAutoNum type="romanLcPeriod"/>
                </a:pPr>
                <a:r>
                  <a:rPr lang="en-US" sz="2667" dirty="0"/>
                  <a:t> </a:t>
                </a:r>
                <a14:m>
                  <m:oMath xmlns:m="http://schemas.openxmlformats.org/officeDocument/2006/math">
                    <m:r>
                      <a:rPr lang="en-US" sz="2667" i="1">
                        <a:latin typeface="Cambria Math" panose="02040503050406030204" pitchFamily="18" charset="0"/>
                      </a:rPr>
                      <m:t>𝑁</m:t>
                    </m:r>
                    <m:d>
                      <m:dPr>
                        <m:ctrlPr>
                          <a:rPr lang="en-US" sz="2667" i="1">
                            <a:latin typeface="Cambria Math" panose="02040503050406030204" pitchFamily="18" charset="0"/>
                          </a:rPr>
                        </m:ctrlPr>
                      </m:dPr>
                      <m:e>
                        <m:r>
                          <a:rPr lang="en-US" sz="2667" i="1">
                            <a:latin typeface="Cambria Math" panose="02040503050406030204" pitchFamily="18" charset="0"/>
                          </a:rPr>
                          <m:t>𝑡</m:t>
                        </m:r>
                      </m:e>
                    </m:d>
                  </m:oMath>
                </a14:m>
                <a:r>
                  <a:rPr lang="en-US" sz="2667" dirty="0"/>
                  <a:t> is integer valued.</a:t>
                </a:r>
              </a:p>
              <a:p>
                <a:pPr marL="1240336" lvl="1" indent="-761981">
                  <a:buFont typeface="+mj-lt"/>
                  <a:buAutoNum type="romanLcPeriod"/>
                </a:pPr>
                <a:r>
                  <a:rPr lang="en-US" sz="2667" dirty="0"/>
                  <a:t>If </a:t>
                </a:r>
                <a14:m>
                  <m:oMath xmlns:m="http://schemas.openxmlformats.org/officeDocument/2006/math">
                    <m:r>
                      <a:rPr lang="en-US" sz="2667" i="1">
                        <a:latin typeface="Cambria Math" panose="02040503050406030204" pitchFamily="18" charset="0"/>
                      </a:rPr>
                      <m:t>𝑠</m:t>
                    </m:r>
                    <m:r>
                      <a:rPr lang="en-US" sz="2667" i="1">
                        <a:latin typeface="Cambria Math" panose="02040503050406030204" pitchFamily="18" charset="0"/>
                      </a:rPr>
                      <m:t>&lt;</m:t>
                    </m:r>
                    <m:r>
                      <a:rPr lang="en-US" sz="2667" i="1">
                        <a:latin typeface="Cambria Math" panose="02040503050406030204" pitchFamily="18" charset="0"/>
                      </a:rPr>
                      <m:t>𝑡</m:t>
                    </m:r>
                  </m:oMath>
                </a14:m>
                <a:r>
                  <a:rPr lang="en-US" sz="2667" dirty="0"/>
                  <a:t> then </a:t>
                </a:r>
                <a14:m>
                  <m:oMath xmlns:m="http://schemas.openxmlformats.org/officeDocument/2006/math">
                    <m:r>
                      <a:rPr lang="en-US" sz="2667" i="1">
                        <a:latin typeface="Cambria Math" panose="02040503050406030204" pitchFamily="18" charset="0"/>
                      </a:rPr>
                      <m:t>𝑁</m:t>
                    </m:r>
                    <m:d>
                      <m:dPr>
                        <m:ctrlPr>
                          <a:rPr lang="en-US" sz="2667" i="1">
                            <a:latin typeface="Cambria Math" panose="02040503050406030204" pitchFamily="18" charset="0"/>
                          </a:rPr>
                        </m:ctrlPr>
                      </m:dPr>
                      <m:e>
                        <m:r>
                          <a:rPr lang="en-US" sz="2667" i="1">
                            <a:latin typeface="Cambria Math" panose="02040503050406030204" pitchFamily="18" charset="0"/>
                          </a:rPr>
                          <m:t>𝑠</m:t>
                        </m:r>
                      </m:e>
                    </m:d>
                    <m:r>
                      <a:rPr lang="en-US" sz="2667" i="1">
                        <a:latin typeface="Cambria Math" panose="02040503050406030204" pitchFamily="18" charset="0"/>
                      </a:rPr>
                      <m:t>≤</m:t>
                    </m:r>
                    <m:r>
                      <a:rPr lang="en-US" sz="2667" i="1">
                        <a:latin typeface="Cambria Math" panose="02040503050406030204" pitchFamily="18" charset="0"/>
                      </a:rPr>
                      <m:t>𝑁</m:t>
                    </m:r>
                    <m:d>
                      <m:dPr>
                        <m:ctrlPr>
                          <a:rPr lang="en-US" sz="2667" i="1">
                            <a:latin typeface="Cambria Math" panose="02040503050406030204" pitchFamily="18" charset="0"/>
                          </a:rPr>
                        </m:ctrlPr>
                      </m:dPr>
                      <m:e>
                        <m:r>
                          <a:rPr lang="en-US" sz="2667" i="1">
                            <a:latin typeface="Cambria Math" panose="02040503050406030204" pitchFamily="18" charset="0"/>
                          </a:rPr>
                          <m:t>𝑡</m:t>
                        </m:r>
                      </m:e>
                    </m:d>
                  </m:oMath>
                </a14:m>
                <a:r>
                  <a:rPr lang="en-US" sz="2667" dirty="0"/>
                  <a:t> (counts are increasing)</a:t>
                </a:r>
              </a:p>
              <a:p>
                <a:pPr marL="1240336" lvl="1" indent="-761981">
                  <a:buFont typeface="+mj-lt"/>
                  <a:buAutoNum type="romanLcPeriod"/>
                </a:pPr>
                <a:r>
                  <a:rPr lang="en-US" sz="2667" dirty="0"/>
                  <a:t>For </a:t>
                </a:r>
                <a14:m>
                  <m:oMath xmlns:m="http://schemas.openxmlformats.org/officeDocument/2006/math">
                    <m:r>
                      <a:rPr lang="en-US" sz="2667" i="1">
                        <a:latin typeface="Cambria Math" panose="02040503050406030204" pitchFamily="18" charset="0"/>
                      </a:rPr>
                      <m:t>𝑠</m:t>
                    </m:r>
                    <m:r>
                      <a:rPr lang="en-US" sz="2667" i="1">
                        <a:latin typeface="Cambria Math" panose="02040503050406030204" pitchFamily="18" charset="0"/>
                      </a:rPr>
                      <m:t>&lt;</m:t>
                    </m:r>
                    <m:r>
                      <a:rPr lang="en-US" sz="2667" i="1">
                        <a:latin typeface="Cambria Math" panose="02040503050406030204" pitchFamily="18" charset="0"/>
                      </a:rPr>
                      <m:t>𝑡</m:t>
                    </m:r>
                  </m:oMath>
                </a14:m>
                <a:r>
                  <a:rPr lang="en-US" sz="2667" dirty="0"/>
                  <a:t>, </a:t>
                </a:r>
                <a14:m>
                  <m:oMath xmlns:m="http://schemas.openxmlformats.org/officeDocument/2006/math">
                    <m:r>
                      <a:rPr lang="en-US" sz="2667" i="1">
                        <a:latin typeface="Cambria Math" panose="02040503050406030204" pitchFamily="18" charset="0"/>
                      </a:rPr>
                      <m:t>𝑁</m:t>
                    </m:r>
                    <m:d>
                      <m:dPr>
                        <m:ctrlPr>
                          <a:rPr lang="en-US" sz="2667" i="1">
                            <a:latin typeface="Cambria Math" panose="02040503050406030204" pitchFamily="18" charset="0"/>
                          </a:rPr>
                        </m:ctrlPr>
                      </m:dPr>
                      <m:e>
                        <m:r>
                          <a:rPr lang="en-US" sz="2667" i="1">
                            <a:latin typeface="Cambria Math" panose="02040503050406030204" pitchFamily="18" charset="0"/>
                          </a:rPr>
                          <m:t>𝑡</m:t>
                        </m:r>
                      </m:e>
                    </m:d>
                    <m:r>
                      <a:rPr lang="en-US" sz="2667" i="1">
                        <a:latin typeface="Cambria Math" panose="02040503050406030204" pitchFamily="18" charset="0"/>
                      </a:rPr>
                      <m:t>−</m:t>
                    </m:r>
                    <m:r>
                      <a:rPr lang="en-US" sz="2667" i="1">
                        <a:latin typeface="Cambria Math" panose="02040503050406030204" pitchFamily="18" charset="0"/>
                      </a:rPr>
                      <m:t>𝑁</m:t>
                    </m:r>
                    <m:r>
                      <a:rPr lang="en-US" sz="2667" i="1">
                        <a:latin typeface="Cambria Math" panose="02040503050406030204" pitchFamily="18" charset="0"/>
                      </a:rPr>
                      <m:t>(</m:t>
                    </m:r>
                    <m:r>
                      <a:rPr lang="en-US" sz="2667" i="1">
                        <a:latin typeface="Cambria Math" panose="02040503050406030204" pitchFamily="18" charset="0"/>
                      </a:rPr>
                      <m:t>𝑠</m:t>
                    </m:r>
                    <m:r>
                      <a:rPr lang="en-US" sz="2667" i="1">
                        <a:latin typeface="Cambria Math" panose="02040503050406030204" pitchFamily="18" charset="0"/>
                      </a:rPr>
                      <m:t>)</m:t>
                    </m:r>
                  </m:oMath>
                </a14:m>
                <a:r>
                  <a:rPr lang="en-US" sz="2667" dirty="0"/>
                  <a:t> equals the number of ‘events’ that occur in the interval </a:t>
                </a:r>
                <a14:m>
                  <m:oMath xmlns:m="http://schemas.openxmlformats.org/officeDocument/2006/math">
                    <m:d>
                      <m:dPr>
                        <m:endChr m:val=""/>
                        <m:ctrlPr>
                          <a:rPr lang="en-US" sz="2667" i="1">
                            <a:latin typeface="Cambria Math" panose="02040503050406030204" pitchFamily="18" charset="0"/>
                          </a:rPr>
                        </m:ctrlPr>
                      </m:dPr>
                      <m:e>
                        <m:d>
                          <m:dPr>
                            <m:begChr m:val=""/>
                            <m:endChr m:val="]"/>
                            <m:ctrlPr>
                              <a:rPr lang="en-US" sz="2667" i="1">
                                <a:latin typeface="Cambria Math" panose="02040503050406030204" pitchFamily="18" charset="0"/>
                              </a:rPr>
                            </m:ctrlPr>
                          </m:dPr>
                          <m:e>
                            <m:r>
                              <a:rPr lang="en-US" sz="2667" i="1">
                                <a:latin typeface="Cambria Math" panose="02040503050406030204" pitchFamily="18" charset="0"/>
                              </a:rPr>
                              <m:t>𝑠</m:t>
                            </m:r>
                            <m:r>
                              <a:rPr lang="en-US" sz="2667" i="1">
                                <a:latin typeface="Cambria Math" panose="02040503050406030204" pitchFamily="18" charset="0"/>
                              </a:rPr>
                              <m:t>,</m:t>
                            </m:r>
                            <m:r>
                              <a:rPr lang="en-US" sz="2667" i="1">
                                <a:latin typeface="Cambria Math" panose="02040503050406030204" pitchFamily="18" charset="0"/>
                              </a:rPr>
                              <m:t>𝑡</m:t>
                            </m:r>
                          </m:e>
                        </m:d>
                      </m:e>
                    </m:d>
                  </m:oMath>
                </a14:m>
                <a:endParaRPr lang="en-US" sz="2133" dirty="0"/>
              </a:p>
            </p:txBody>
          </p:sp>
        </mc:Choice>
        <mc:Fallback>
          <p:sp>
            <p:nvSpPr>
              <p:cNvPr id="5" name="TextBox 4">
                <a:extLst>
                  <a:ext uri="{FF2B5EF4-FFF2-40B4-BE49-F238E27FC236}">
                    <a16:creationId xmlns:a16="http://schemas.microsoft.com/office/drawing/2014/main" id="{899D83B0-B7AA-AC1B-A4AA-19CD49065287}"/>
                  </a:ext>
                </a:extLst>
              </p:cNvPr>
              <p:cNvSpPr txBox="1">
                <a:spLocks noRot="1" noChangeAspect="1" noMove="1" noResize="1" noEditPoints="1" noAdjustHandles="1" noChangeArrowheads="1" noChangeShapeType="1" noTextEdit="1"/>
              </p:cNvSpPr>
              <p:nvPr/>
            </p:nvSpPr>
            <p:spPr>
              <a:xfrm>
                <a:off x="480000" y="2453956"/>
                <a:ext cx="11101917" cy="2144498"/>
              </a:xfrm>
              <a:prstGeom prst="rect">
                <a:avLst/>
              </a:prstGeom>
              <a:blipFill>
                <a:blip r:embed="rId4"/>
                <a:stretch>
                  <a:fillRect t="-2959" b="-48521"/>
                </a:stretch>
              </a:blipFill>
            </p:spPr>
            <p:txBody>
              <a:bodyPr/>
              <a:lstStyle/>
              <a:p>
                <a:r>
                  <a:rPr lang="en-NL">
                    <a:noFill/>
                  </a:rPr>
                  <a:t> </a:t>
                </a:r>
              </a:p>
            </p:txBody>
          </p:sp>
        </mc:Fallback>
      </mc:AlternateContent>
      <p:cxnSp>
        <p:nvCxnSpPr>
          <p:cNvPr id="6" name="Straight Connector 5">
            <a:extLst>
              <a:ext uri="{FF2B5EF4-FFF2-40B4-BE49-F238E27FC236}">
                <a16:creationId xmlns:a16="http://schemas.microsoft.com/office/drawing/2014/main" id="{FB8C7613-1FEF-B4AF-C6BF-6C98D868F5AC}"/>
              </a:ext>
            </a:extLst>
          </p:cNvPr>
          <p:cNvCxnSpPr/>
          <p:nvPr/>
        </p:nvCxnSpPr>
        <p:spPr>
          <a:xfrm flipV="1">
            <a:off x="622131" y="5947700"/>
            <a:ext cx="10959787" cy="0"/>
          </a:xfrm>
          <a:prstGeom prst="line">
            <a:avLst/>
          </a:prstGeom>
          <a:effectLst/>
        </p:spPr>
        <p:style>
          <a:lnRef idx="2">
            <a:schemeClr val="accent2"/>
          </a:lnRef>
          <a:fillRef idx="0">
            <a:schemeClr val="accent2"/>
          </a:fillRef>
          <a:effectRef idx="1">
            <a:schemeClr val="accent2"/>
          </a:effectRef>
          <a:fontRef idx="minor">
            <a:schemeClr val="tx1"/>
          </a:fontRef>
        </p:style>
      </p:cxnSp>
      <p:cxnSp>
        <p:nvCxnSpPr>
          <p:cNvPr id="7" name="Straight Connector 6">
            <a:extLst>
              <a:ext uri="{FF2B5EF4-FFF2-40B4-BE49-F238E27FC236}">
                <a16:creationId xmlns:a16="http://schemas.microsoft.com/office/drawing/2014/main" id="{AC0A3E2A-F72A-D6F5-17E8-D35C7E52D64D}"/>
              </a:ext>
            </a:extLst>
          </p:cNvPr>
          <p:cNvCxnSpPr/>
          <p:nvPr/>
        </p:nvCxnSpPr>
        <p:spPr>
          <a:xfrm flipV="1">
            <a:off x="622131" y="5757045"/>
            <a:ext cx="0" cy="381313"/>
          </a:xfrm>
          <a:prstGeom prst="line">
            <a:avLst/>
          </a:prstGeom>
          <a:effectLst/>
        </p:spPr>
        <p:style>
          <a:lnRef idx="2">
            <a:schemeClr val="accent2"/>
          </a:lnRef>
          <a:fillRef idx="0">
            <a:schemeClr val="accent2"/>
          </a:fillRef>
          <a:effectRef idx="1">
            <a:schemeClr val="accent2"/>
          </a:effectRef>
          <a:fontRef idx="minor">
            <a:schemeClr val="tx1"/>
          </a:fontRef>
        </p:style>
      </p:cxnSp>
      <p:cxnSp>
        <p:nvCxnSpPr>
          <p:cNvPr id="8" name="Straight Connector 7">
            <a:extLst>
              <a:ext uri="{FF2B5EF4-FFF2-40B4-BE49-F238E27FC236}">
                <a16:creationId xmlns:a16="http://schemas.microsoft.com/office/drawing/2014/main" id="{2EAF8083-CAFB-9483-336B-F11A0508CF5D}"/>
              </a:ext>
            </a:extLst>
          </p:cNvPr>
          <p:cNvCxnSpPr/>
          <p:nvPr/>
        </p:nvCxnSpPr>
        <p:spPr>
          <a:xfrm flipV="1">
            <a:off x="10701917" y="5757045"/>
            <a:ext cx="0" cy="381313"/>
          </a:xfrm>
          <a:prstGeom prst="line">
            <a:avLst/>
          </a:prstGeom>
          <a:effectLst/>
        </p:spPr>
        <p:style>
          <a:lnRef idx="2">
            <a:schemeClr val="accent2"/>
          </a:lnRef>
          <a:fillRef idx="0">
            <a:schemeClr val="accent2"/>
          </a:fillRef>
          <a:effectRef idx="1">
            <a:schemeClr val="accent2"/>
          </a:effectRef>
          <a:fontRef idx="minor">
            <a:schemeClr val="tx1"/>
          </a:fontRef>
        </p:style>
      </p:cxnSp>
      <p:cxnSp>
        <p:nvCxnSpPr>
          <p:cNvPr id="9" name="Straight Arrow Connector 8">
            <a:extLst>
              <a:ext uri="{FF2B5EF4-FFF2-40B4-BE49-F238E27FC236}">
                <a16:creationId xmlns:a16="http://schemas.microsoft.com/office/drawing/2014/main" id="{A3AF7939-0667-86AA-FB3C-BB62B5EEEFC6}"/>
              </a:ext>
            </a:extLst>
          </p:cNvPr>
          <p:cNvCxnSpPr/>
          <p:nvPr/>
        </p:nvCxnSpPr>
        <p:spPr>
          <a:xfrm>
            <a:off x="2004760" y="5374593"/>
            <a:ext cx="0" cy="571971"/>
          </a:xfrm>
          <a:prstGeom prst="straightConnector1">
            <a:avLst/>
          </a:prstGeom>
          <a:ln w="38100">
            <a:solidFill>
              <a:schemeClr val="accent1"/>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1" name="Straight Arrow Connector 10">
            <a:extLst>
              <a:ext uri="{FF2B5EF4-FFF2-40B4-BE49-F238E27FC236}">
                <a16:creationId xmlns:a16="http://schemas.microsoft.com/office/drawing/2014/main" id="{09571C51-F28B-B50C-6A2B-0F797777772D}"/>
              </a:ext>
            </a:extLst>
          </p:cNvPr>
          <p:cNvCxnSpPr/>
          <p:nvPr/>
        </p:nvCxnSpPr>
        <p:spPr>
          <a:xfrm>
            <a:off x="4425871" y="5374593"/>
            <a:ext cx="0" cy="571971"/>
          </a:xfrm>
          <a:prstGeom prst="straightConnector1">
            <a:avLst/>
          </a:prstGeom>
          <a:ln w="38100">
            <a:solidFill>
              <a:schemeClr val="accent1"/>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8FA5381A-BC17-5BA1-1713-3E28D0EA5222}"/>
              </a:ext>
            </a:extLst>
          </p:cNvPr>
          <p:cNvCxnSpPr/>
          <p:nvPr/>
        </p:nvCxnSpPr>
        <p:spPr>
          <a:xfrm>
            <a:off x="6974407" y="5374593"/>
            <a:ext cx="0" cy="571971"/>
          </a:xfrm>
          <a:prstGeom prst="straightConnector1">
            <a:avLst/>
          </a:prstGeom>
          <a:ln w="38100">
            <a:solidFill>
              <a:schemeClr val="accent1"/>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0F08BE8C-C1F8-2329-6011-DE83B6743B88}"/>
              </a:ext>
            </a:extLst>
          </p:cNvPr>
          <p:cNvCxnSpPr/>
          <p:nvPr/>
        </p:nvCxnSpPr>
        <p:spPr>
          <a:xfrm>
            <a:off x="9385715" y="5374593"/>
            <a:ext cx="0" cy="571971"/>
          </a:xfrm>
          <a:prstGeom prst="straightConnector1">
            <a:avLst/>
          </a:prstGeom>
          <a:ln w="38100">
            <a:solidFill>
              <a:schemeClr val="accent1"/>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17F297D6-07C8-9362-28A0-2EC262B24EE3}"/>
                  </a:ext>
                </a:extLst>
              </p:cNvPr>
              <p:cNvSpPr txBox="1"/>
              <p:nvPr/>
            </p:nvSpPr>
            <p:spPr>
              <a:xfrm>
                <a:off x="10587820" y="5416939"/>
                <a:ext cx="19825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solidFill>
                            <a:schemeClr val="tx2"/>
                          </a:solidFill>
                          <a:latin typeface="Cambria Math" panose="02040503050406030204" pitchFamily="18" charset="0"/>
                        </a:rPr>
                        <m:t>𝑡</m:t>
                      </m:r>
                    </m:oMath>
                  </m:oMathPara>
                </a14:m>
                <a:endParaRPr lang="en-US" sz="2400" dirty="0">
                  <a:solidFill>
                    <a:schemeClr val="tx2"/>
                  </a:solidFill>
                </a:endParaRPr>
              </a:p>
            </p:txBody>
          </p:sp>
        </mc:Choice>
        <mc:Fallback>
          <p:sp>
            <p:nvSpPr>
              <p:cNvPr id="16" name="TextBox 15">
                <a:extLst>
                  <a:ext uri="{FF2B5EF4-FFF2-40B4-BE49-F238E27FC236}">
                    <a16:creationId xmlns:a16="http://schemas.microsoft.com/office/drawing/2014/main" id="{17F297D6-07C8-9362-28A0-2EC262B24EE3}"/>
                  </a:ext>
                </a:extLst>
              </p:cNvPr>
              <p:cNvSpPr txBox="1">
                <a:spLocks noRot="1" noChangeAspect="1" noMove="1" noResize="1" noEditPoints="1" noAdjustHandles="1" noChangeArrowheads="1" noChangeShapeType="1" noTextEdit="1"/>
              </p:cNvSpPr>
              <p:nvPr/>
            </p:nvSpPr>
            <p:spPr>
              <a:xfrm>
                <a:off x="10587820" y="5416939"/>
                <a:ext cx="198259" cy="369332"/>
              </a:xfrm>
              <a:prstGeom prst="rect">
                <a:avLst/>
              </a:prstGeom>
              <a:blipFill>
                <a:blip r:embed="rId5"/>
                <a:stretch>
                  <a:fillRect l="-29412" r="-17647" b="-3333"/>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4889A84B-9549-9449-79E2-373139546B13}"/>
                  </a:ext>
                </a:extLst>
              </p:cNvPr>
              <p:cNvSpPr txBox="1"/>
              <p:nvPr/>
            </p:nvSpPr>
            <p:spPr>
              <a:xfrm>
                <a:off x="480000" y="5416939"/>
                <a:ext cx="23884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solidFill>
                            <a:schemeClr val="tx2"/>
                          </a:solidFill>
                          <a:latin typeface="Cambria Math" panose="02040503050406030204" pitchFamily="18" charset="0"/>
                        </a:rPr>
                        <m:t>0</m:t>
                      </m:r>
                    </m:oMath>
                  </m:oMathPara>
                </a14:m>
                <a:endParaRPr lang="en-US" sz="2400" dirty="0">
                  <a:solidFill>
                    <a:schemeClr val="tx2"/>
                  </a:solidFill>
                </a:endParaRPr>
              </a:p>
            </p:txBody>
          </p:sp>
        </mc:Choice>
        <mc:Fallback>
          <p:sp>
            <p:nvSpPr>
              <p:cNvPr id="17" name="TextBox 16">
                <a:extLst>
                  <a:ext uri="{FF2B5EF4-FFF2-40B4-BE49-F238E27FC236}">
                    <a16:creationId xmlns:a16="http://schemas.microsoft.com/office/drawing/2014/main" id="{4889A84B-9549-9449-79E2-373139546B13}"/>
                  </a:ext>
                </a:extLst>
              </p:cNvPr>
              <p:cNvSpPr txBox="1">
                <a:spLocks noRot="1" noChangeAspect="1" noMove="1" noResize="1" noEditPoints="1" noAdjustHandles="1" noChangeArrowheads="1" noChangeShapeType="1" noTextEdit="1"/>
              </p:cNvSpPr>
              <p:nvPr/>
            </p:nvSpPr>
            <p:spPr>
              <a:xfrm>
                <a:off x="480000" y="5416939"/>
                <a:ext cx="238847" cy="369332"/>
              </a:xfrm>
              <a:prstGeom prst="rect">
                <a:avLst/>
              </a:prstGeom>
              <a:blipFill>
                <a:blip r:embed="rId6"/>
                <a:stretch>
                  <a:fillRect l="-25000" r="-25000" b="-6667"/>
                </a:stretch>
              </a:blipFill>
            </p:spPr>
            <p:txBody>
              <a:bodyPr/>
              <a:lstStyle/>
              <a:p>
                <a:r>
                  <a:rPr lang="en-NL">
                    <a:noFill/>
                  </a:rPr>
                  <a:t> </a:t>
                </a:r>
              </a:p>
            </p:txBody>
          </p:sp>
        </mc:Fallback>
      </mc:AlternateContent>
      <p:sp>
        <p:nvSpPr>
          <p:cNvPr id="18" name="Left Brace 17">
            <a:extLst>
              <a:ext uri="{FF2B5EF4-FFF2-40B4-BE49-F238E27FC236}">
                <a16:creationId xmlns:a16="http://schemas.microsoft.com/office/drawing/2014/main" id="{50BD4E94-5B13-D094-6245-CCE72FB7E4AE}"/>
              </a:ext>
            </a:extLst>
          </p:cNvPr>
          <p:cNvSpPr/>
          <p:nvPr/>
        </p:nvSpPr>
        <p:spPr>
          <a:xfrm rot="5400000" flipV="1">
            <a:off x="5520594" y="196501"/>
            <a:ext cx="274329" cy="10079788"/>
          </a:xfrm>
          <a:prstGeom prst="leftBrace">
            <a:avLst/>
          </a:prstGeom>
          <a:ln>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mc:AlternateContent xmlns:mc="http://schemas.openxmlformats.org/markup-compatibility/2006">
        <mc:Choice xmlns:a14="http://schemas.microsoft.com/office/drawing/2010/main" Requires="a14">
          <p:sp>
            <p:nvSpPr>
              <p:cNvPr id="19" name="Rectangle 18">
                <a:extLst>
                  <a:ext uri="{FF2B5EF4-FFF2-40B4-BE49-F238E27FC236}">
                    <a16:creationId xmlns:a16="http://schemas.microsoft.com/office/drawing/2014/main" id="{C7BED587-82CA-0A1E-5F00-904C698040C4}"/>
                  </a:ext>
                </a:extLst>
              </p:cNvPr>
              <p:cNvSpPr/>
              <p:nvPr/>
            </p:nvSpPr>
            <p:spPr>
              <a:xfrm>
                <a:off x="4626565" y="4629321"/>
                <a:ext cx="87190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𝑁</m:t>
                      </m:r>
                      <m:d>
                        <m:dPr>
                          <m:ctrlPr>
                            <a:rPr lang="en-US" sz="2400" i="1">
                              <a:latin typeface="Cambria Math" panose="02040503050406030204" pitchFamily="18" charset="0"/>
                            </a:rPr>
                          </m:ctrlPr>
                        </m:dPr>
                        <m:e>
                          <m:r>
                            <a:rPr lang="en-US" sz="2400" i="1">
                              <a:latin typeface="Cambria Math" panose="02040503050406030204" pitchFamily="18" charset="0"/>
                            </a:rPr>
                            <m:t>𝑡</m:t>
                          </m:r>
                        </m:e>
                      </m:d>
                    </m:oMath>
                  </m:oMathPara>
                </a14:m>
                <a:endParaRPr lang="en-US" sz="2400" dirty="0"/>
              </a:p>
            </p:txBody>
          </p:sp>
        </mc:Choice>
        <mc:Fallback>
          <p:sp>
            <p:nvSpPr>
              <p:cNvPr id="19" name="Rectangle 18">
                <a:extLst>
                  <a:ext uri="{FF2B5EF4-FFF2-40B4-BE49-F238E27FC236}">
                    <a16:creationId xmlns:a16="http://schemas.microsoft.com/office/drawing/2014/main" id="{C7BED587-82CA-0A1E-5F00-904C698040C4}"/>
                  </a:ext>
                </a:extLst>
              </p:cNvPr>
              <p:cNvSpPr>
                <a:spLocks noRot="1" noChangeAspect="1" noMove="1" noResize="1" noEditPoints="1" noAdjustHandles="1" noChangeArrowheads="1" noChangeShapeType="1" noTextEdit="1"/>
              </p:cNvSpPr>
              <p:nvPr/>
            </p:nvSpPr>
            <p:spPr>
              <a:xfrm>
                <a:off x="4626565" y="4629321"/>
                <a:ext cx="871905" cy="461665"/>
              </a:xfrm>
              <a:prstGeom prst="rect">
                <a:avLst/>
              </a:prstGeom>
              <a:blipFill>
                <a:blip r:embed="rId7"/>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08E24748-37F5-7EBD-B756-8A3D07C04AF8}"/>
                  </a:ext>
                </a:extLst>
              </p:cNvPr>
              <p:cNvSpPr txBox="1"/>
              <p:nvPr/>
            </p:nvSpPr>
            <p:spPr>
              <a:xfrm>
                <a:off x="5494862" y="5953692"/>
                <a:ext cx="118128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nl-NL" sz="2400" b="0" i="1" smtClean="0">
                          <a:solidFill>
                            <a:schemeClr val="tx2"/>
                          </a:solidFill>
                          <a:latin typeface="Cambria Math" panose="02040503050406030204" pitchFamily="18" charset="0"/>
                        </a:rPr>
                        <m:t>10 </m:t>
                      </m:r>
                      <m:r>
                        <a:rPr lang="en-US" sz="2400" b="0" i="1" smtClean="0">
                          <a:solidFill>
                            <a:schemeClr val="tx2"/>
                          </a:solidFill>
                          <a:latin typeface="Cambria Math" panose="02040503050406030204" pitchFamily="18" charset="0"/>
                        </a:rPr>
                        <m:t>𝐷𝑎𝑦𝑠</m:t>
                      </m:r>
                    </m:oMath>
                  </m:oMathPara>
                </a14:m>
                <a:endParaRPr lang="en-US" sz="2400" dirty="0">
                  <a:solidFill>
                    <a:schemeClr val="tx2"/>
                  </a:solidFill>
                </a:endParaRPr>
              </a:p>
            </p:txBody>
          </p:sp>
        </mc:Choice>
        <mc:Fallback>
          <p:sp>
            <p:nvSpPr>
              <p:cNvPr id="20" name="TextBox 19">
                <a:extLst>
                  <a:ext uri="{FF2B5EF4-FFF2-40B4-BE49-F238E27FC236}">
                    <a16:creationId xmlns:a16="http://schemas.microsoft.com/office/drawing/2014/main" id="{08E24748-37F5-7EBD-B756-8A3D07C04AF8}"/>
                  </a:ext>
                </a:extLst>
              </p:cNvPr>
              <p:cNvSpPr txBox="1">
                <a:spLocks noRot="1" noChangeAspect="1" noMove="1" noResize="1" noEditPoints="1" noAdjustHandles="1" noChangeArrowheads="1" noChangeShapeType="1" noTextEdit="1"/>
              </p:cNvSpPr>
              <p:nvPr/>
            </p:nvSpPr>
            <p:spPr>
              <a:xfrm>
                <a:off x="5494862" y="5953692"/>
                <a:ext cx="1181285" cy="369332"/>
              </a:xfrm>
              <a:prstGeom prst="rect">
                <a:avLst/>
              </a:prstGeom>
              <a:blipFill>
                <a:blip r:embed="rId8"/>
                <a:stretch>
                  <a:fillRect l="-5319" t="-3333" r="-7447" b="-40000"/>
                </a:stretch>
              </a:blipFill>
            </p:spPr>
            <p:txBody>
              <a:bodyPr/>
              <a:lstStyle/>
              <a:p>
                <a:r>
                  <a:rPr lang="en-NL">
                    <a:noFill/>
                  </a:rPr>
                  <a:t> </a:t>
                </a:r>
              </a:p>
            </p:txBody>
          </p:sp>
        </mc:Fallback>
      </mc:AlternateContent>
    </p:spTree>
    <p:extLst>
      <p:ext uri="{BB962C8B-B14F-4D97-AF65-F5344CB8AC3E}">
        <p14:creationId xmlns:p14="http://schemas.microsoft.com/office/powerpoint/2010/main" val="33522440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PlaceHolder 1"/>
          <p:cNvSpPr>
            <a:spLocks noGrp="1"/>
          </p:cNvSpPr>
          <p:nvPr>
            <p:ph type="title"/>
          </p:nvPr>
        </p:nvSpPr>
        <p:spPr>
          <a:prstGeom prst="rect">
            <a:avLst/>
          </a:prstGeom>
          <a:noFill/>
          <a:ln w="0">
            <a:noFill/>
          </a:ln>
        </p:spPr>
        <p:txBody>
          <a:bodyPr vert="horz" lIns="0" tIns="0" rIns="0" bIns="0" rtlCol="0" anchor="t" anchorCtr="0">
            <a:noAutofit/>
          </a:bodyPr>
          <a:lstStyle/>
          <a:p>
            <a:pPr>
              <a:lnSpc>
                <a:spcPct val="100000"/>
              </a:lnSpc>
              <a:buNone/>
            </a:pPr>
            <a:r>
              <a:rPr lang="en-US" spc="-1" dirty="0">
                <a:solidFill>
                  <a:srgbClr val="00A2DB"/>
                </a:solidFill>
                <a:latin typeface="Calibri"/>
              </a:rPr>
              <a:t>Poisson Process &amp; Distribution</a:t>
            </a:r>
            <a:endParaRPr lang="nl-NL" b="0" spc="-1" dirty="0">
              <a:solidFill>
                <a:srgbClr val="001C3D"/>
              </a:solidFill>
              <a:latin typeface="Calibri"/>
            </a:endParaRPr>
          </a:p>
        </p:txBody>
      </p:sp>
      <p:grpSp>
        <p:nvGrpSpPr>
          <p:cNvPr id="2" name="Group 1"/>
          <p:cNvGrpSpPr/>
          <p:nvPr/>
        </p:nvGrpSpPr>
        <p:grpSpPr>
          <a:xfrm>
            <a:off x="480000" y="4368119"/>
            <a:ext cx="11101917" cy="2272437"/>
            <a:chOff x="360000" y="3443232"/>
            <a:chExt cx="8326438" cy="1704328"/>
          </a:xfrm>
        </p:grpSpPr>
        <p:cxnSp>
          <p:nvCxnSpPr>
            <p:cNvPr id="43" name="Straight Connector 42"/>
            <p:cNvCxnSpPr/>
            <p:nvPr/>
          </p:nvCxnSpPr>
          <p:spPr>
            <a:xfrm flipV="1">
              <a:off x="466598" y="4460775"/>
              <a:ext cx="8219840" cy="0"/>
            </a:xfrm>
            <a:prstGeom prst="line">
              <a:avLst/>
            </a:prstGeom>
            <a:effectLst/>
          </p:spPr>
          <p:style>
            <a:lnRef idx="2">
              <a:schemeClr val="accent2"/>
            </a:lnRef>
            <a:fillRef idx="0">
              <a:schemeClr val="accent2"/>
            </a:fillRef>
            <a:effectRef idx="1">
              <a:schemeClr val="accent2"/>
            </a:effectRef>
            <a:fontRef idx="minor">
              <a:schemeClr val="tx1"/>
            </a:fontRef>
          </p:style>
        </p:cxnSp>
        <p:cxnSp>
          <p:nvCxnSpPr>
            <p:cNvPr id="44" name="Straight Connector 43"/>
            <p:cNvCxnSpPr/>
            <p:nvPr/>
          </p:nvCxnSpPr>
          <p:spPr>
            <a:xfrm flipV="1">
              <a:off x="466598" y="4317783"/>
              <a:ext cx="0" cy="285985"/>
            </a:xfrm>
            <a:prstGeom prst="line">
              <a:avLst/>
            </a:prstGeom>
            <a:effectLst/>
          </p:spPr>
          <p:style>
            <a:lnRef idx="2">
              <a:schemeClr val="accent2"/>
            </a:lnRef>
            <a:fillRef idx="0">
              <a:schemeClr val="accent2"/>
            </a:fillRef>
            <a:effectRef idx="1">
              <a:schemeClr val="accent2"/>
            </a:effectRef>
            <a:fontRef idx="minor">
              <a:schemeClr val="tx1"/>
            </a:fontRef>
          </p:style>
        </p:cxnSp>
        <p:cxnSp>
          <p:nvCxnSpPr>
            <p:cNvPr id="45" name="Straight Connector 44"/>
            <p:cNvCxnSpPr/>
            <p:nvPr/>
          </p:nvCxnSpPr>
          <p:spPr>
            <a:xfrm flipV="1">
              <a:off x="8026438" y="4317783"/>
              <a:ext cx="0" cy="285985"/>
            </a:xfrm>
            <a:prstGeom prst="line">
              <a:avLst/>
            </a:prstGeom>
            <a:effectLst/>
          </p:spPr>
          <p:style>
            <a:lnRef idx="2">
              <a:schemeClr val="accent2"/>
            </a:lnRef>
            <a:fillRef idx="0">
              <a:schemeClr val="accent2"/>
            </a:fillRef>
            <a:effectRef idx="1">
              <a:schemeClr val="accent2"/>
            </a:effectRef>
            <a:fontRef idx="minor">
              <a:schemeClr val="tx1"/>
            </a:fontRef>
          </p:style>
        </p:cxnSp>
        <p:cxnSp>
          <p:nvCxnSpPr>
            <p:cNvPr id="47" name="Straight Arrow Connector 46"/>
            <p:cNvCxnSpPr/>
            <p:nvPr/>
          </p:nvCxnSpPr>
          <p:spPr>
            <a:xfrm>
              <a:off x="1976520" y="4030945"/>
              <a:ext cx="0" cy="428978"/>
            </a:xfrm>
            <a:prstGeom prst="straightConnector1">
              <a:avLst/>
            </a:prstGeom>
            <a:ln w="38100">
              <a:solidFill>
                <a:schemeClr val="accent1"/>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49" name="Straight Arrow Connector 48"/>
            <p:cNvCxnSpPr/>
            <p:nvPr/>
          </p:nvCxnSpPr>
          <p:spPr>
            <a:xfrm>
              <a:off x="4343718" y="4030945"/>
              <a:ext cx="0" cy="428978"/>
            </a:xfrm>
            <a:prstGeom prst="straightConnector1">
              <a:avLst/>
            </a:prstGeom>
            <a:ln w="38100">
              <a:solidFill>
                <a:schemeClr val="accent1"/>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50" name="Straight Arrow Connector 49"/>
            <p:cNvCxnSpPr/>
            <p:nvPr/>
          </p:nvCxnSpPr>
          <p:spPr>
            <a:xfrm>
              <a:off x="5230805" y="4030945"/>
              <a:ext cx="0" cy="428978"/>
            </a:xfrm>
            <a:prstGeom prst="straightConnector1">
              <a:avLst/>
            </a:prstGeom>
            <a:ln w="38100">
              <a:solidFill>
                <a:schemeClr val="accent1"/>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51" name="Straight Arrow Connector 50"/>
            <p:cNvCxnSpPr/>
            <p:nvPr/>
          </p:nvCxnSpPr>
          <p:spPr>
            <a:xfrm>
              <a:off x="7039286" y="4030945"/>
              <a:ext cx="0" cy="428978"/>
            </a:xfrm>
            <a:prstGeom prst="straightConnector1">
              <a:avLst/>
            </a:prstGeom>
            <a:ln w="38100">
              <a:solidFill>
                <a:schemeClr val="accent1"/>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53" name="TextBox 52"/>
                <p:cNvSpPr txBox="1"/>
                <p:nvPr/>
              </p:nvSpPr>
              <p:spPr>
                <a:xfrm>
                  <a:off x="7940864" y="4062704"/>
                  <a:ext cx="1486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solidFill>
                              <a:schemeClr val="tx2"/>
                            </a:solidFill>
                            <a:latin typeface="Cambria Math" panose="02040503050406030204" pitchFamily="18" charset="0"/>
                          </a:rPr>
                          <m:t>𝑡</m:t>
                        </m:r>
                      </m:oMath>
                    </m:oMathPara>
                  </a14:m>
                  <a:endParaRPr lang="en-US" sz="2400" dirty="0">
                    <a:solidFill>
                      <a:schemeClr val="tx2"/>
                    </a:solidFill>
                  </a:endParaRPr>
                </a:p>
              </p:txBody>
            </p:sp>
          </mc:Choice>
          <mc:Fallback xmlns="">
            <p:sp>
              <p:nvSpPr>
                <p:cNvPr id="53" name="TextBox 52"/>
                <p:cNvSpPr txBox="1">
                  <a:spLocks noRot="1" noChangeAspect="1" noMove="1" noResize="1" noEditPoints="1" noAdjustHandles="1" noChangeArrowheads="1" noChangeShapeType="1" noTextEdit="1"/>
                </p:cNvSpPr>
                <p:nvPr/>
              </p:nvSpPr>
              <p:spPr>
                <a:xfrm>
                  <a:off x="7940864" y="4062704"/>
                  <a:ext cx="148694" cy="276999"/>
                </a:xfrm>
                <a:prstGeom prst="rect">
                  <a:avLst/>
                </a:prstGeom>
                <a:blipFill>
                  <a:blip r:embed="rId2"/>
                  <a:stretch>
                    <a:fillRect l="-29412" r="-17647" b="-32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360000" y="4062704"/>
                  <a:ext cx="17913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solidFill>
                              <a:schemeClr val="tx2"/>
                            </a:solidFill>
                            <a:latin typeface="Cambria Math" panose="02040503050406030204" pitchFamily="18" charset="0"/>
                          </a:rPr>
                          <m:t>0</m:t>
                        </m:r>
                      </m:oMath>
                    </m:oMathPara>
                  </a14:m>
                  <a:endParaRPr lang="en-US" sz="2400" dirty="0">
                    <a:solidFill>
                      <a:schemeClr val="tx2"/>
                    </a:solidFill>
                  </a:endParaRPr>
                </a:p>
              </p:txBody>
            </p:sp>
          </mc:Choice>
          <mc:Fallback xmlns="">
            <p:sp>
              <p:nvSpPr>
                <p:cNvPr id="54" name="TextBox 53"/>
                <p:cNvSpPr txBox="1">
                  <a:spLocks noRot="1" noChangeAspect="1" noMove="1" noResize="1" noEditPoints="1" noAdjustHandles="1" noChangeArrowheads="1" noChangeShapeType="1" noTextEdit="1"/>
                </p:cNvSpPr>
                <p:nvPr/>
              </p:nvSpPr>
              <p:spPr>
                <a:xfrm>
                  <a:off x="360000" y="4062704"/>
                  <a:ext cx="179135" cy="276999"/>
                </a:xfrm>
                <a:prstGeom prst="rect">
                  <a:avLst/>
                </a:prstGeom>
                <a:blipFill>
                  <a:blip r:embed="rId3"/>
                  <a:stretch>
                    <a:fillRect l="-25000" r="-25000" b="-6452"/>
                  </a:stretch>
                </a:blipFill>
              </p:spPr>
              <p:txBody>
                <a:bodyPr/>
                <a:lstStyle/>
                <a:p>
                  <a:r>
                    <a:rPr lang="en-US">
                      <a:noFill/>
                    </a:rPr>
                    <a:t> </a:t>
                  </a:r>
                </a:p>
              </p:txBody>
            </p:sp>
          </mc:Fallback>
        </mc:AlternateContent>
        <p:sp>
          <p:nvSpPr>
            <p:cNvPr id="55" name="Left Brace 54"/>
            <p:cNvSpPr/>
            <p:nvPr/>
          </p:nvSpPr>
          <p:spPr>
            <a:xfrm rot="5400000" flipV="1">
              <a:off x="2966899" y="2468130"/>
              <a:ext cx="205200" cy="2852147"/>
            </a:xfrm>
            <a:prstGeom prst="leftBrace">
              <a:avLst/>
            </a:prstGeom>
            <a:ln>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mc:AlternateContent xmlns:mc="http://schemas.openxmlformats.org/markup-compatibility/2006" xmlns:a14="http://schemas.microsoft.com/office/drawing/2010/main">
          <mc:Choice Requires="a14">
            <p:sp>
              <p:nvSpPr>
                <p:cNvPr id="56" name="Rectangle 55"/>
                <p:cNvSpPr/>
                <p:nvPr/>
              </p:nvSpPr>
              <p:spPr>
                <a:xfrm>
                  <a:off x="2437435" y="3443232"/>
                  <a:ext cx="1216054" cy="3462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𝑁</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1</m:t>
                                </m:r>
                              </m:sub>
                            </m:sSub>
                          </m:e>
                        </m:d>
                      </m:oMath>
                    </m:oMathPara>
                  </a14:m>
                  <a:endParaRPr lang="en-US" sz="2400" dirty="0"/>
                </a:p>
              </p:txBody>
            </p:sp>
          </mc:Choice>
          <mc:Fallback xmlns="">
            <p:sp>
              <p:nvSpPr>
                <p:cNvPr id="56" name="Rectangle 55"/>
                <p:cNvSpPr>
                  <a:spLocks noRot="1" noChangeAspect="1" noMove="1" noResize="1" noEditPoints="1" noAdjustHandles="1" noChangeArrowheads="1" noChangeShapeType="1" noTextEdit="1"/>
                </p:cNvSpPr>
                <p:nvPr/>
              </p:nvSpPr>
              <p:spPr>
                <a:xfrm>
                  <a:off x="2437435" y="3443232"/>
                  <a:ext cx="1216054" cy="346249"/>
                </a:xfrm>
                <a:prstGeom prst="rect">
                  <a:avLst/>
                </a:prstGeom>
                <a:blipFill>
                  <a:blip r:embed="rId4"/>
                  <a:stretch>
                    <a:fillRect b="-2703"/>
                  </a:stretch>
                </a:blipFill>
              </p:spPr>
              <p:txBody>
                <a:bodyPr/>
                <a:lstStyle/>
                <a:p>
                  <a:r>
                    <a:rPr lang="en-US">
                      <a:noFill/>
                    </a:rPr>
                    <a:t> </a:t>
                  </a:r>
                </a:p>
              </p:txBody>
            </p:sp>
          </mc:Fallback>
        </mc:AlternateContent>
        <p:cxnSp>
          <p:nvCxnSpPr>
            <p:cNvPr id="33" name="Straight Connector 32"/>
            <p:cNvCxnSpPr/>
            <p:nvPr/>
          </p:nvCxnSpPr>
          <p:spPr>
            <a:xfrm flipH="1">
              <a:off x="1643424" y="4246838"/>
              <a:ext cx="1" cy="3600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flipH="1">
              <a:off x="4495572" y="4246838"/>
              <a:ext cx="1" cy="3600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flipH="1">
              <a:off x="7304600" y="4246838"/>
              <a:ext cx="1" cy="3600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Rectangle 35"/>
                <p:cNvSpPr/>
                <p:nvPr/>
              </p:nvSpPr>
              <p:spPr>
                <a:xfrm>
                  <a:off x="1423202" y="3884108"/>
                  <a:ext cx="379816" cy="3462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1</m:t>
                            </m:r>
                          </m:sub>
                        </m:sSub>
                      </m:oMath>
                    </m:oMathPara>
                  </a14:m>
                  <a:endParaRPr lang="en-US" sz="2400" dirty="0"/>
                </a:p>
              </p:txBody>
            </p:sp>
          </mc:Choice>
          <mc:Fallback xmlns="">
            <p:sp>
              <p:nvSpPr>
                <p:cNvPr id="36" name="Rectangle 35"/>
                <p:cNvSpPr>
                  <a:spLocks noRot="1" noChangeAspect="1" noMove="1" noResize="1" noEditPoints="1" noAdjustHandles="1" noChangeArrowheads="1" noChangeShapeType="1" noTextEdit="1"/>
                </p:cNvSpPr>
                <p:nvPr/>
              </p:nvSpPr>
              <p:spPr>
                <a:xfrm>
                  <a:off x="1423202" y="3884108"/>
                  <a:ext cx="379816" cy="346249"/>
                </a:xfrm>
                <a:prstGeom prst="rect">
                  <a:avLst/>
                </a:prstGeom>
                <a:blipFill>
                  <a:blip r:embed="rId5"/>
                  <a:stretch>
                    <a:fillRect b="-27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p:cNvSpPr/>
                <p:nvPr/>
              </p:nvSpPr>
              <p:spPr>
                <a:xfrm>
                  <a:off x="4279135" y="3884108"/>
                  <a:ext cx="385154" cy="3462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2</m:t>
                            </m:r>
                          </m:sub>
                        </m:sSub>
                      </m:oMath>
                    </m:oMathPara>
                  </a14:m>
                  <a:endParaRPr lang="en-US" sz="2400" dirty="0"/>
                </a:p>
              </p:txBody>
            </p:sp>
          </mc:Choice>
          <mc:Fallback xmlns="">
            <p:sp>
              <p:nvSpPr>
                <p:cNvPr id="37" name="Rectangle 36"/>
                <p:cNvSpPr>
                  <a:spLocks noRot="1" noChangeAspect="1" noMove="1" noResize="1" noEditPoints="1" noAdjustHandles="1" noChangeArrowheads="1" noChangeShapeType="1" noTextEdit="1"/>
                </p:cNvSpPr>
                <p:nvPr/>
              </p:nvSpPr>
              <p:spPr>
                <a:xfrm>
                  <a:off x="4279135" y="3884108"/>
                  <a:ext cx="385154" cy="346249"/>
                </a:xfrm>
                <a:prstGeom prst="rect">
                  <a:avLst/>
                </a:prstGeom>
                <a:blipFill>
                  <a:blip r:embed="rId6"/>
                  <a:stretch>
                    <a:fillRect b="-27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p:cNvSpPr/>
                <p:nvPr/>
              </p:nvSpPr>
              <p:spPr>
                <a:xfrm>
                  <a:off x="7088163" y="3884108"/>
                  <a:ext cx="385154" cy="3462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3</m:t>
                            </m:r>
                          </m:sub>
                        </m:sSub>
                      </m:oMath>
                    </m:oMathPara>
                  </a14:m>
                  <a:endParaRPr lang="en-US" sz="2400" dirty="0"/>
                </a:p>
              </p:txBody>
            </p:sp>
          </mc:Choice>
          <mc:Fallback xmlns="">
            <p:sp>
              <p:nvSpPr>
                <p:cNvPr id="38" name="Rectangle 37"/>
                <p:cNvSpPr>
                  <a:spLocks noRot="1" noChangeAspect="1" noMove="1" noResize="1" noEditPoints="1" noAdjustHandles="1" noChangeArrowheads="1" noChangeShapeType="1" noTextEdit="1"/>
                </p:cNvSpPr>
                <p:nvPr/>
              </p:nvSpPr>
              <p:spPr>
                <a:xfrm>
                  <a:off x="7088163" y="3884108"/>
                  <a:ext cx="385154" cy="346249"/>
                </a:xfrm>
                <a:prstGeom prst="rect">
                  <a:avLst/>
                </a:prstGeom>
                <a:blipFill>
                  <a:blip r:embed="rId7"/>
                  <a:stretch>
                    <a:fillRect b="-2703"/>
                  </a:stretch>
                </a:blipFill>
              </p:spPr>
              <p:txBody>
                <a:bodyPr/>
                <a:lstStyle/>
                <a:p>
                  <a:r>
                    <a:rPr lang="en-US">
                      <a:noFill/>
                    </a:rPr>
                    <a:t> </a:t>
                  </a:r>
                </a:p>
              </p:txBody>
            </p:sp>
          </mc:Fallback>
        </mc:AlternateContent>
        <p:sp>
          <p:nvSpPr>
            <p:cNvPr id="39" name="Left Brace 38"/>
            <p:cNvSpPr/>
            <p:nvPr/>
          </p:nvSpPr>
          <p:spPr>
            <a:xfrm rot="16200000">
              <a:off x="5797488" y="3382449"/>
              <a:ext cx="205200" cy="2809029"/>
            </a:xfrm>
            <a:prstGeom prst="leftBrace">
              <a:avLst/>
            </a:prstGeom>
            <a:ln>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mc:AlternateContent xmlns:mc="http://schemas.openxmlformats.org/markup-compatibility/2006" xmlns:a14="http://schemas.microsoft.com/office/drawing/2010/main">
          <mc:Choice Requires="a14">
            <p:sp>
              <p:nvSpPr>
                <p:cNvPr id="40" name="Rectangle 39"/>
                <p:cNvSpPr/>
                <p:nvPr/>
              </p:nvSpPr>
              <p:spPr>
                <a:xfrm>
                  <a:off x="5230805" y="4801311"/>
                  <a:ext cx="1221392" cy="3462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𝑁</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3</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2</m:t>
                                </m:r>
                              </m:sub>
                            </m:sSub>
                          </m:e>
                        </m:d>
                      </m:oMath>
                    </m:oMathPara>
                  </a14:m>
                  <a:endParaRPr lang="en-US" sz="2400" dirty="0"/>
                </a:p>
              </p:txBody>
            </p:sp>
          </mc:Choice>
          <mc:Fallback xmlns="">
            <p:sp>
              <p:nvSpPr>
                <p:cNvPr id="40" name="Rectangle 39"/>
                <p:cNvSpPr>
                  <a:spLocks noRot="1" noChangeAspect="1" noMove="1" noResize="1" noEditPoints="1" noAdjustHandles="1" noChangeArrowheads="1" noChangeShapeType="1" noTextEdit="1"/>
                </p:cNvSpPr>
                <p:nvPr/>
              </p:nvSpPr>
              <p:spPr>
                <a:xfrm>
                  <a:off x="5230805" y="4801311"/>
                  <a:ext cx="1221392" cy="346249"/>
                </a:xfrm>
                <a:prstGeom prst="rect">
                  <a:avLst/>
                </a:prstGeom>
                <a:blipFill>
                  <a:blip r:embed="rId8"/>
                  <a:stretch>
                    <a:fillRect b="-270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graphicFrame>
            <p:nvGraphicFramePr>
              <p:cNvPr id="83" name="Content Placeholder 5"/>
              <p:cNvGraphicFramePr>
                <a:graphicFrameLocks/>
              </p:cNvGraphicFramePr>
              <p:nvPr/>
            </p:nvGraphicFramePr>
            <p:xfrm>
              <a:off x="480000" y="1347992"/>
              <a:ext cx="11101917" cy="2169160"/>
            </p:xfrm>
            <a:graphic>
              <a:graphicData uri="http://schemas.openxmlformats.org/drawingml/2006/table">
                <a:tbl>
                  <a:tblPr firstRow="1" bandRow="1">
                    <a:tableStyleId>{5C22544A-7EE6-4342-B048-85BDC9FD1C3A}</a:tableStyleId>
                  </a:tblPr>
                  <a:tblGrid>
                    <a:gridCol w="11101917">
                      <a:extLst>
                        <a:ext uri="{9D8B030D-6E8A-4147-A177-3AD203B41FA5}">
                          <a16:colId xmlns:a16="http://schemas.microsoft.com/office/drawing/2014/main" val="2806566759"/>
                        </a:ext>
                      </a:extLst>
                    </a:gridCol>
                  </a:tblGrid>
                  <a:tr h="690880">
                    <a:tc>
                      <a:txBody>
                        <a:bodyPr/>
                        <a:lstStyle/>
                        <a:p>
                          <a:r>
                            <a:rPr lang="en-US" sz="3700" dirty="0"/>
                            <a:t>Properties of Counting Process</a:t>
                          </a:r>
                        </a:p>
                      </a:txBody>
                      <a:tcPr marL="121920" marR="121920" marT="60960" marB="60960"/>
                    </a:tc>
                    <a:extLst>
                      <a:ext uri="{0D108BD9-81ED-4DB2-BD59-A6C34878D82A}">
                        <a16:rowId xmlns:a16="http://schemas.microsoft.com/office/drawing/2014/main" val="4282699494"/>
                      </a:ext>
                    </a:extLst>
                  </a:tr>
                  <a:tr h="528320">
                    <a:tc>
                      <a:txBody>
                        <a:bodyPr/>
                        <a:lstStyle/>
                        <a:p>
                          <a:r>
                            <a:rPr lang="en-US" sz="2700" dirty="0"/>
                            <a:t>A </a:t>
                          </a:r>
                          <a:r>
                            <a:rPr lang="en-US" sz="2700" b="1" i="1" dirty="0"/>
                            <a:t>counting process</a:t>
                          </a:r>
                          <a:r>
                            <a:rPr lang="en-US" sz="2700" dirty="0"/>
                            <a:t>, </a:t>
                          </a:r>
                          <a14:m>
                            <m:oMath xmlns:m="http://schemas.openxmlformats.org/officeDocument/2006/math">
                              <m:d>
                                <m:dPr>
                                  <m:begChr m:val="{"/>
                                  <m:endChr m:val="}"/>
                                  <m:ctrlPr>
                                    <a:rPr lang="en-US" sz="2700" i="1">
                                      <a:latin typeface="Cambria Math" panose="02040503050406030204" pitchFamily="18" charset="0"/>
                                    </a:rPr>
                                  </m:ctrlPr>
                                </m:dPr>
                                <m:e>
                                  <m:r>
                                    <a:rPr lang="en-US" sz="2700" i="1">
                                      <a:latin typeface="Cambria Math" panose="02040503050406030204" pitchFamily="18" charset="0"/>
                                    </a:rPr>
                                    <m:t>𝑁</m:t>
                                  </m:r>
                                  <m:d>
                                    <m:dPr>
                                      <m:ctrlPr>
                                        <a:rPr lang="en-US" sz="2700" i="1">
                                          <a:latin typeface="Cambria Math" panose="02040503050406030204" pitchFamily="18" charset="0"/>
                                        </a:rPr>
                                      </m:ctrlPr>
                                    </m:dPr>
                                    <m:e>
                                      <m:r>
                                        <a:rPr lang="en-US" sz="2700" i="1">
                                          <a:latin typeface="Cambria Math" panose="02040503050406030204" pitchFamily="18" charset="0"/>
                                        </a:rPr>
                                        <m:t>𝑡</m:t>
                                      </m:r>
                                    </m:e>
                                  </m:d>
                                  <m:r>
                                    <a:rPr lang="en-US" sz="2700" i="1">
                                      <a:latin typeface="Cambria Math" panose="02040503050406030204" pitchFamily="18" charset="0"/>
                                    </a:rPr>
                                    <m:t>, </m:t>
                                  </m:r>
                                  <m:r>
                                    <a:rPr lang="en-US" sz="2700" i="1">
                                      <a:latin typeface="Cambria Math" panose="02040503050406030204" pitchFamily="18" charset="0"/>
                                    </a:rPr>
                                    <m:t>𝑡</m:t>
                                  </m:r>
                                  <m:r>
                                    <a:rPr lang="en-US" sz="2700" i="1">
                                      <a:latin typeface="Cambria Math" panose="02040503050406030204" pitchFamily="18" charset="0"/>
                                    </a:rPr>
                                    <m:t>≥0</m:t>
                                  </m:r>
                                </m:e>
                              </m:d>
                            </m:oMath>
                          </a14:m>
                          <a:r>
                            <a:rPr lang="en-US" sz="2700" dirty="0"/>
                            <a:t>, has</a:t>
                          </a:r>
                        </a:p>
                      </a:txBody>
                      <a:tcPr marL="121920" marR="121920" marT="60960" marB="60960"/>
                    </a:tc>
                    <a:extLst>
                      <a:ext uri="{0D108BD9-81ED-4DB2-BD59-A6C34878D82A}">
                        <a16:rowId xmlns:a16="http://schemas.microsoft.com/office/drawing/2014/main" val="2257841623"/>
                      </a:ext>
                    </a:extLst>
                  </a:tr>
                  <a:tr h="93472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700" b="1" i="1" dirty="0"/>
                            <a:t>independent increments</a:t>
                          </a:r>
                          <a:r>
                            <a:rPr lang="en-US" sz="2700" dirty="0"/>
                            <a:t> if, given </a:t>
                          </a:r>
                          <a14:m>
                            <m:oMath xmlns:m="http://schemas.openxmlformats.org/officeDocument/2006/math">
                              <m:sSub>
                                <m:sSubPr>
                                  <m:ctrlPr>
                                    <a:rPr lang="en-US" sz="2700" i="1">
                                      <a:latin typeface="Cambria Math" panose="02040503050406030204" pitchFamily="18" charset="0"/>
                                    </a:rPr>
                                  </m:ctrlPr>
                                </m:sSubPr>
                                <m:e>
                                  <m:r>
                                    <a:rPr lang="en-US" sz="2700" i="1">
                                      <a:latin typeface="Cambria Math" panose="02040503050406030204" pitchFamily="18" charset="0"/>
                                    </a:rPr>
                                    <m:t>𝑡</m:t>
                                  </m:r>
                                </m:e>
                                <m:sub>
                                  <m:r>
                                    <a:rPr lang="en-US" sz="2700" i="1">
                                      <a:latin typeface="Cambria Math" panose="02040503050406030204" pitchFamily="18" charset="0"/>
                                    </a:rPr>
                                    <m:t>1</m:t>
                                  </m:r>
                                </m:sub>
                              </m:sSub>
                              <m:r>
                                <a:rPr lang="en-US" sz="2700" i="1">
                                  <a:latin typeface="Cambria Math" panose="02040503050406030204" pitchFamily="18" charset="0"/>
                                </a:rPr>
                                <m:t>&lt;</m:t>
                              </m:r>
                              <m:sSub>
                                <m:sSubPr>
                                  <m:ctrlPr>
                                    <a:rPr lang="en-US" sz="2700" i="1">
                                      <a:latin typeface="Cambria Math" panose="02040503050406030204" pitchFamily="18" charset="0"/>
                                    </a:rPr>
                                  </m:ctrlPr>
                                </m:sSubPr>
                                <m:e>
                                  <m:r>
                                    <a:rPr lang="en-US" sz="2700" i="1">
                                      <a:latin typeface="Cambria Math" panose="02040503050406030204" pitchFamily="18" charset="0"/>
                                    </a:rPr>
                                    <m:t>𝑡</m:t>
                                  </m:r>
                                </m:e>
                                <m:sub>
                                  <m:r>
                                    <a:rPr lang="en-US" sz="2700" i="1">
                                      <a:latin typeface="Cambria Math" panose="02040503050406030204" pitchFamily="18" charset="0"/>
                                    </a:rPr>
                                    <m:t>2</m:t>
                                  </m:r>
                                </m:sub>
                              </m:sSub>
                              <m:r>
                                <a:rPr lang="en-US" sz="2700" i="1">
                                  <a:latin typeface="Cambria Math" panose="02040503050406030204" pitchFamily="18" charset="0"/>
                                </a:rPr>
                                <m:t>&lt;</m:t>
                              </m:r>
                              <m:sSub>
                                <m:sSubPr>
                                  <m:ctrlPr>
                                    <a:rPr lang="en-US" sz="2700" i="1">
                                      <a:latin typeface="Cambria Math" panose="02040503050406030204" pitchFamily="18" charset="0"/>
                                    </a:rPr>
                                  </m:ctrlPr>
                                </m:sSubPr>
                                <m:e>
                                  <m:r>
                                    <a:rPr lang="en-US" sz="2700" i="1">
                                      <a:latin typeface="Cambria Math" panose="02040503050406030204" pitchFamily="18" charset="0"/>
                                    </a:rPr>
                                    <m:t>𝑡</m:t>
                                  </m:r>
                                </m:e>
                                <m:sub>
                                  <m:r>
                                    <a:rPr lang="en-US" sz="2700" i="1">
                                      <a:latin typeface="Cambria Math" panose="02040503050406030204" pitchFamily="18" charset="0"/>
                                    </a:rPr>
                                    <m:t>3</m:t>
                                  </m:r>
                                </m:sub>
                              </m:sSub>
                            </m:oMath>
                          </a14:m>
                          <a:r>
                            <a:rPr lang="en-US" sz="2700" dirty="0"/>
                            <a:t>, </a:t>
                          </a:r>
                          <a14:m>
                            <m:oMath xmlns:m="http://schemas.openxmlformats.org/officeDocument/2006/math">
                              <m:r>
                                <a:rPr lang="en-US" sz="2700" i="1">
                                  <a:latin typeface="Cambria Math" panose="02040503050406030204" pitchFamily="18" charset="0"/>
                                </a:rPr>
                                <m:t>𝑁</m:t>
                              </m:r>
                              <m:r>
                                <a:rPr lang="en-US" sz="2700" i="1">
                                  <a:latin typeface="Cambria Math" panose="02040503050406030204" pitchFamily="18" charset="0"/>
                                </a:rPr>
                                <m:t>(</m:t>
                              </m:r>
                              <m:sSub>
                                <m:sSubPr>
                                  <m:ctrlPr>
                                    <a:rPr lang="en-US" sz="2700" i="1">
                                      <a:latin typeface="Cambria Math" panose="02040503050406030204" pitchFamily="18" charset="0"/>
                                    </a:rPr>
                                  </m:ctrlPr>
                                </m:sSubPr>
                                <m:e>
                                  <m:sSub>
                                    <m:sSubPr>
                                      <m:ctrlPr>
                                        <a:rPr lang="en-US" sz="2700" i="1">
                                          <a:latin typeface="Cambria Math" panose="02040503050406030204" pitchFamily="18" charset="0"/>
                                        </a:rPr>
                                      </m:ctrlPr>
                                    </m:sSubPr>
                                    <m:e>
                                      <m:r>
                                        <a:rPr lang="en-US" sz="2700" i="1">
                                          <a:latin typeface="Cambria Math" panose="02040503050406030204" pitchFamily="18" charset="0"/>
                                        </a:rPr>
                                        <m:t>𝑡</m:t>
                                      </m:r>
                                    </m:e>
                                    <m:sub>
                                      <m:r>
                                        <a:rPr lang="en-US" sz="2700" i="1">
                                          <a:latin typeface="Cambria Math" panose="02040503050406030204" pitchFamily="18" charset="0"/>
                                        </a:rPr>
                                        <m:t>2</m:t>
                                      </m:r>
                                    </m:sub>
                                  </m:sSub>
                                  <m:r>
                                    <a:rPr lang="en-US" sz="2700" i="1">
                                      <a:latin typeface="Cambria Math" panose="02040503050406030204" pitchFamily="18" charset="0"/>
                                    </a:rPr>
                                    <m:t>−</m:t>
                                  </m:r>
                                  <m:r>
                                    <a:rPr lang="en-US" sz="2700" i="1">
                                      <a:latin typeface="Cambria Math" panose="02040503050406030204" pitchFamily="18" charset="0"/>
                                    </a:rPr>
                                    <m:t>𝑡</m:t>
                                  </m:r>
                                </m:e>
                                <m:sub>
                                  <m:r>
                                    <a:rPr lang="en-US" sz="2700" i="1">
                                      <a:latin typeface="Cambria Math" panose="02040503050406030204" pitchFamily="18" charset="0"/>
                                    </a:rPr>
                                    <m:t>1</m:t>
                                  </m:r>
                                </m:sub>
                              </m:sSub>
                              <m:r>
                                <a:rPr lang="en-US" sz="2700" i="1">
                                  <a:latin typeface="Cambria Math" panose="02040503050406030204" pitchFamily="18" charset="0"/>
                                </a:rPr>
                                <m:t>)</m:t>
                              </m:r>
                            </m:oMath>
                          </a14:m>
                          <a:r>
                            <a:rPr lang="en-US" sz="2700" dirty="0"/>
                            <a:t> and </a:t>
                          </a:r>
                          <a14:m>
                            <m:oMath xmlns:m="http://schemas.openxmlformats.org/officeDocument/2006/math">
                              <m:r>
                                <a:rPr lang="en-US" sz="2700" i="1">
                                  <a:latin typeface="Cambria Math" panose="02040503050406030204" pitchFamily="18" charset="0"/>
                                </a:rPr>
                                <m:t>𝑁</m:t>
                              </m:r>
                              <m:r>
                                <a:rPr lang="en-US" sz="2700" i="1">
                                  <a:latin typeface="Cambria Math" panose="02040503050406030204" pitchFamily="18" charset="0"/>
                                </a:rPr>
                                <m:t>(</m:t>
                              </m:r>
                              <m:sSub>
                                <m:sSubPr>
                                  <m:ctrlPr>
                                    <a:rPr lang="en-US" sz="2700" i="1">
                                      <a:latin typeface="Cambria Math" panose="02040503050406030204" pitchFamily="18" charset="0"/>
                                    </a:rPr>
                                  </m:ctrlPr>
                                </m:sSubPr>
                                <m:e>
                                  <m:sSub>
                                    <m:sSubPr>
                                      <m:ctrlPr>
                                        <a:rPr lang="en-US" sz="2700" i="1">
                                          <a:latin typeface="Cambria Math" panose="02040503050406030204" pitchFamily="18" charset="0"/>
                                        </a:rPr>
                                      </m:ctrlPr>
                                    </m:sSubPr>
                                    <m:e>
                                      <m:r>
                                        <a:rPr lang="en-US" sz="2700" i="1">
                                          <a:latin typeface="Cambria Math" panose="02040503050406030204" pitchFamily="18" charset="0"/>
                                        </a:rPr>
                                        <m:t>𝑡</m:t>
                                      </m:r>
                                    </m:e>
                                    <m:sub>
                                      <m:r>
                                        <a:rPr lang="en-US" sz="2700" i="1">
                                          <a:latin typeface="Cambria Math" panose="02040503050406030204" pitchFamily="18" charset="0"/>
                                        </a:rPr>
                                        <m:t>3</m:t>
                                      </m:r>
                                    </m:sub>
                                  </m:sSub>
                                  <m:r>
                                    <a:rPr lang="en-US" sz="2700" i="1">
                                      <a:latin typeface="Cambria Math" panose="02040503050406030204" pitchFamily="18" charset="0"/>
                                    </a:rPr>
                                    <m:t>−</m:t>
                                  </m:r>
                                  <m:r>
                                    <a:rPr lang="en-US" sz="2700" i="1">
                                      <a:latin typeface="Cambria Math" panose="02040503050406030204" pitchFamily="18" charset="0"/>
                                    </a:rPr>
                                    <m:t>𝑡</m:t>
                                  </m:r>
                                </m:e>
                                <m:sub>
                                  <m:r>
                                    <a:rPr lang="en-US" sz="2700" i="1">
                                      <a:latin typeface="Cambria Math" panose="02040503050406030204" pitchFamily="18" charset="0"/>
                                    </a:rPr>
                                    <m:t>2</m:t>
                                  </m:r>
                                </m:sub>
                              </m:sSub>
                              <m:r>
                                <a:rPr lang="en-US" sz="2700" i="1">
                                  <a:latin typeface="Cambria Math" panose="02040503050406030204" pitchFamily="18" charset="0"/>
                                </a:rPr>
                                <m:t>)</m:t>
                              </m:r>
                            </m:oMath>
                          </a14:m>
                          <a:r>
                            <a:rPr lang="en-US" sz="2700" dirty="0"/>
                            <a:t> are independent.</a:t>
                          </a:r>
                        </a:p>
                      </a:txBody>
                      <a:tcPr marL="121920" marR="121920" marT="60960" marB="60960"/>
                    </a:tc>
                    <a:extLst>
                      <a:ext uri="{0D108BD9-81ED-4DB2-BD59-A6C34878D82A}">
                        <a16:rowId xmlns:a16="http://schemas.microsoft.com/office/drawing/2014/main" val="1512180322"/>
                      </a:ext>
                    </a:extLst>
                  </a:tr>
                </a:tbl>
              </a:graphicData>
            </a:graphic>
          </p:graphicFrame>
        </mc:Choice>
        <mc:Fallback xmlns="">
          <p:graphicFrame>
            <p:nvGraphicFramePr>
              <p:cNvPr id="83" name="Content Placeholder 5"/>
              <p:cNvGraphicFramePr>
                <a:graphicFrameLocks/>
              </p:cNvGraphicFramePr>
              <p:nvPr/>
            </p:nvGraphicFramePr>
            <p:xfrm>
              <a:off x="480000" y="1347992"/>
              <a:ext cx="11101917" cy="2169160"/>
            </p:xfrm>
            <a:graphic>
              <a:graphicData uri="http://schemas.openxmlformats.org/drawingml/2006/table">
                <a:tbl>
                  <a:tblPr firstRow="1" bandRow="1">
                    <a:tableStyleId>{5C22544A-7EE6-4342-B048-85BDC9FD1C3A}</a:tableStyleId>
                  </a:tblPr>
                  <a:tblGrid>
                    <a:gridCol w="11101917">
                      <a:extLst>
                        <a:ext uri="{9D8B030D-6E8A-4147-A177-3AD203B41FA5}">
                          <a16:colId xmlns:a16="http://schemas.microsoft.com/office/drawing/2014/main" val="2806566759"/>
                        </a:ext>
                      </a:extLst>
                    </a:gridCol>
                  </a:tblGrid>
                  <a:tr h="690880">
                    <a:tc>
                      <a:txBody>
                        <a:bodyPr/>
                        <a:lstStyle/>
                        <a:p>
                          <a:r>
                            <a:rPr lang="en-US" sz="3700" dirty="0"/>
                            <a:t>Properties of Counting Process</a:t>
                          </a:r>
                        </a:p>
                      </a:txBody>
                      <a:tcPr marL="121920" marR="121920" marT="60960" marB="60960"/>
                    </a:tc>
                    <a:extLst>
                      <a:ext uri="{0D108BD9-81ED-4DB2-BD59-A6C34878D82A}">
                        <a16:rowId xmlns:a16="http://schemas.microsoft.com/office/drawing/2014/main" val="4282699494"/>
                      </a:ext>
                    </a:extLst>
                  </a:tr>
                  <a:tr h="533400">
                    <a:tc>
                      <a:txBody>
                        <a:bodyPr/>
                        <a:lstStyle/>
                        <a:p>
                          <a:endParaRPr lang="en-US"/>
                        </a:p>
                      </a:txBody>
                      <a:tcPr marL="121920" marR="121920" marT="60960" marB="60960">
                        <a:blipFill>
                          <a:blip r:embed="rId9"/>
                          <a:stretch>
                            <a:fillRect l="-114" t="-141860" r="-343" b="-200000"/>
                          </a:stretch>
                        </a:blipFill>
                      </a:tcPr>
                    </a:tc>
                    <a:extLst>
                      <a:ext uri="{0D108BD9-81ED-4DB2-BD59-A6C34878D82A}">
                        <a16:rowId xmlns:a16="http://schemas.microsoft.com/office/drawing/2014/main" val="2257841623"/>
                      </a:ext>
                    </a:extLst>
                  </a:tr>
                  <a:tr h="944880">
                    <a:tc>
                      <a:txBody>
                        <a:bodyPr/>
                        <a:lstStyle/>
                        <a:p>
                          <a:endParaRPr lang="en-US"/>
                        </a:p>
                      </a:txBody>
                      <a:tcPr marL="121920" marR="121920" marT="60960" marB="60960">
                        <a:blipFill>
                          <a:blip r:embed="rId9"/>
                          <a:stretch>
                            <a:fillRect l="-114" t="-140541" r="-343" b="-16216"/>
                          </a:stretch>
                        </a:blipFill>
                      </a:tcPr>
                    </a:tc>
                    <a:extLst>
                      <a:ext uri="{0D108BD9-81ED-4DB2-BD59-A6C34878D82A}">
                        <a16:rowId xmlns:a16="http://schemas.microsoft.com/office/drawing/2014/main" val="1512180322"/>
                      </a:ext>
                    </a:extLst>
                  </a:tr>
                </a:tbl>
              </a:graphicData>
            </a:graphic>
          </p:graphicFrame>
        </mc:Fallback>
      </mc:AlternateContent>
    </p:spTree>
    <p:extLst>
      <p:ext uri="{BB962C8B-B14F-4D97-AF65-F5344CB8AC3E}">
        <p14:creationId xmlns:p14="http://schemas.microsoft.com/office/powerpoint/2010/main" val="11205571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PlaceHolder 1"/>
          <p:cNvSpPr>
            <a:spLocks noGrp="1"/>
          </p:cNvSpPr>
          <p:nvPr>
            <p:ph type="title"/>
          </p:nvPr>
        </p:nvSpPr>
        <p:spPr>
          <a:prstGeom prst="rect">
            <a:avLst/>
          </a:prstGeom>
          <a:noFill/>
          <a:ln w="0">
            <a:noFill/>
          </a:ln>
        </p:spPr>
        <p:txBody>
          <a:bodyPr vert="horz" lIns="0" tIns="0" rIns="0" bIns="0" rtlCol="0" anchor="t" anchorCtr="0">
            <a:noAutofit/>
          </a:bodyPr>
          <a:lstStyle/>
          <a:p>
            <a:pPr>
              <a:lnSpc>
                <a:spcPct val="100000"/>
              </a:lnSpc>
              <a:buNone/>
            </a:pPr>
            <a:r>
              <a:rPr lang="en-US" spc="-1" dirty="0">
                <a:solidFill>
                  <a:srgbClr val="00A2DB"/>
                </a:solidFill>
                <a:latin typeface="Calibri"/>
              </a:rPr>
              <a:t>Poisson Process &amp; Distribution</a:t>
            </a:r>
            <a:endParaRPr lang="nl-NL" b="0" spc="-1" dirty="0">
              <a:solidFill>
                <a:srgbClr val="001C3D"/>
              </a:solidFill>
              <a:latin typeface="Calibri"/>
            </a:endParaRPr>
          </a:p>
        </p:txBody>
      </p:sp>
      <mc:AlternateContent xmlns:mc="http://schemas.openxmlformats.org/markup-compatibility/2006" xmlns:a14="http://schemas.microsoft.com/office/drawing/2010/main">
        <mc:Choice Requires="a14">
          <p:graphicFrame>
            <p:nvGraphicFramePr>
              <p:cNvPr id="9" name="Content Placeholder 5"/>
              <p:cNvGraphicFramePr>
                <a:graphicFrameLocks/>
              </p:cNvGraphicFramePr>
              <p:nvPr/>
            </p:nvGraphicFramePr>
            <p:xfrm>
              <a:off x="480000" y="1347992"/>
              <a:ext cx="11101917" cy="3114040"/>
            </p:xfrm>
            <a:graphic>
              <a:graphicData uri="http://schemas.openxmlformats.org/drawingml/2006/table">
                <a:tbl>
                  <a:tblPr firstRow="1" bandRow="1">
                    <a:tableStyleId>{5C22544A-7EE6-4342-B048-85BDC9FD1C3A}</a:tableStyleId>
                  </a:tblPr>
                  <a:tblGrid>
                    <a:gridCol w="11101917">
                      <a:extLst>
                        <a:ext uri="{9D8B030D-6E8A-4147-A177-3AD203B41FA5}">
                          <a16:colId xmlns:a16="http://schemas.microsoft.com/office/drawing/2014/main" val="2806566759"/>
                        </a:ext>
                      </a:extLst>
                    </a:gridCol>
                  </a:tblGrid>
                  <a:tr h="690880">
                    <a:tc>
                      <a:txBody>
                        <a:bodyPr/>
                        <a:lstStyle/>
                        <a:p>
                          <a:r>
                            <a:rPr lang="en-US" sz="3700" dirty="0"/>
                            <a:t>Properties of Counting Process</a:t>
                          </a:r>
                        </a:p>
                      </a:txBody>
                      <a:tcPr marL="121920" marR="121920" marT="60960" marB="60960"/>
                    </a:tc>
                    <a:extLst>
                      <a:ext uri="{0D108BD9-81ED-4DB2-BD59-A6C34878D82A}">
                        <a16:rowId xmlns:a16="http://schemas.microsoft.com/office/drawing/2014/main" val="4282699494"/>
                      </a:ext>
                    </a:extLst>
                  </a:tr>
                  <a:tr h="528320">
                    <a:tc>
                      <a:txBody>
                        <a:bodyPr/>
                        <a:lstStyle/>
                        <a:p>
                          <a:r>
                            <a:rPr lang="en-US" sz="2700" dirty="0"/>
                            <a:t>A </a:t>
                          </a:r>
                          <a:r>
                            <a:rPr lang="en-US" sz="2700" b="1" i="1" dirty="0"/>
                            <a:t>counting process</a:t>
                          </a:r>
                          <a:r>
                            <a:rPr lang="en-US" sz="2700" dirty="0"/>
                            <a:t>, </a:t>
                          </a:r>
                          <a14:m>
                            <m:oMath xmlns:m="http://schemas.openxmlformats.org/officeDocument/2006/math">
                              <m:d>
                                <m:dPr>
                                  <m:begChr m:val="{"/>
                                  <m:endChr m:val="}"/>
                                  <m:ctrlPr>
                                    <a:rPr lang="en-US" sz="2700" i="1">
                                      <a:latin typeface="Cambria Math" panose="02040503050406030204" pitchFamily="18" charset="0"/>
                                    </a:rPr>
                                  </m:ctrlPr>
                                </m:dPr>
                                <m:e>
                                  <m:r>
                                    <a:rPr lang="en-US" sz="2700" i="1">
                                      <a:latin typeface="Cambria Math" panose="02040503050406030204" pitchFamily="18" charset="0"/>
                                    </a:rPr>
                                    <m:t>𝑁</m:t>
                                  </m:r>
                                  <m:d>
                                    <m:dPr>
                                      <m:ctrlPr>
                                        <a:rPr lang="en-US" sz="2700" i="1">
                                          <a:latin typeface="Cambria Math" panose="02040503050406030204" pitchFamily="18" charset="0"/>
                                        </a:rPr>
                                      </m:ctrlPr>
                                    </m:dPr>
                                    <m:e>
                                      <m:r>
                                        <a:rPr lang="en-US" sz="2700" i="1">
                                          <a:latin typeface="Cambria Math" panose="02040503050406030204" pitchFamily="18" charset="0"/>
                                        </a:rPr>
                                        <m:t>𝑡</m:t>
                                      </m:r>
                                    </m:e>
                                  </m:d>
                                  <m:r>
                                    <a:rPr lang="en-US" sz="2700" i="1">
                                      <a:latin typeface="Cambria Math" panose="02040503050406030204" pitchFamily="18" charset="0"/>
                                    </a:rPr>
                                    <m:t>, </m:t>
                                  </m:r>
                                  <m:r>
                                    <a:rPr lang="en-US" sz="2700" i="1">
                                      <a:latin typeface="Cambria Math" panose="02040503050406030204" pitchFamily="18" charset="0"/>
                                    </a:rPr>
                                    <m:t>𝑡</m:t>
                                  </m:r>
                                  <m:r>
                                    <a:rPr lang="en-US" sz="2700" i="1">
                                      <a:latin typeface="Cambria Math" panose="02040503050406030204" pitchFamily="18" charset="0"/>
                                    </a:rPr>
                                    <m:t>≥0</m:t>
                                  </m:r>
                                </m:e>
                              </m:d>
                            </m:oMath>
                          </a14:m>
                          <a:r>
                            <a:rPr lang="en-US" sz="2700" dirty="0"/>
                            <a:t>, has</a:t>
                          </a:r>
                        </a:p>
                      </a:txBody>
                      <a:tcPr marL="121920" marR="121920" marT="60960" marB="60960"/>
                    </a:tc>
                    <a:extLst>
                      <a:ext uri="{0D108BD9-81ED-4DB2-BD59-A6C34878D82A}">
                        <a16:rowId xmlns:a16="http://schemas.microsoft.com/office/drawing/2014/main" val="2257841623"/>
                      </a:ext>
                    </a:extLst>
                  </a:tr>
                  <a:tr h="93472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700" b="1" i="1" dirty="0"/>
                            <a:t>independent increments</a:t>
                          </a:r>
                          <a:r>
                            <a:rPr lang="en-US" sz="2700" dirty="0"/>
                            <a:t> if, given </a:t>
                          </a:r>
                          <a14:m>
                            <m:oMath xmlns:m="http://schemas.openxmlformats.org/officeDocument/2006/math">
                              <m:sSub>
                                <m:sSubPr>
                                  <m:ctrlPr>
                                    <a:rPr lang="en-US" sz="2700" i="1">
                                      <a:latin typeface="Cambria Math" panose="02040503050406030204" pitchFamily="18" charset="0"/>
                                    </a:rPr>
                                  </m:ctrlPr>
                                </m:sSubPr>
                                <m:e>
                                  <m:r>
                                    <a:rPr lang="en-US" sz="2700" i="1">
                                      <a:latin typeface="Cambria Math" panose="02040503050406030204" pitchFamily="18" charset="0"/>
                                    </a:rPr>
                                    <m:t>𝑡</m:t>
                                  </m:r>
                                </m:e>
                                <m:sub>
                                  <m:r>
                                    <a:rPr lang="en-US" sz="2700" i="1">
                                      <a:latin typeface="Cambria Math" panose="02040503050406030204" pitchFamily="18" charset="0"/>
                                    </a:rPr>
                                    <m:t>1</m:t>
                                  </m:r>
                                </m:sub>
                              </m:sSub>
                              <m:r>
                                <a:rPr lang="en-US" sz="2700" i="1">
                                  <a:latin typeface="Cambria Math" panose="02040503050406030204" pitchFamily="18" charset="0"/>
                                </a:rPr>
                                <m:t>&lt;</m:t>
                              </m:r>
                              <m:sSub>
                                <m:sSubPr>
                                  <m:ctrlPr>
                                    <a:rPr lang="en-US" sz="2700" i="1">
                                      <a:latin typeface="Cambria Math" panose="02040503050406030204" pitchFamily="18" charset="0"/>
                                    </a:rPr>
                                  </m:ctrlPr>
                                </m:sSubPr>
                                <m:e>
                                  <m:r>
                                    <a:rPr lang="en-US" sz="2700" i="1">
                                      <a:latin typeface="Cambria Math" panose="02040503050406030204" pitchFamily="18" charset="0"/>
                                    </a:rPr>
                                    <m:t>𝑡</m:t>
                                  </m:r>
                                </m:e>
                                <m:sub>
                                  <m:r>
                                    <a:rPr lang="en-US" sz="2700" i="1">
                                      <a:latin typeface="Cambria Math" panose="02040503050406030204" pitchFamily="18" charset="0"/>
                                    </a:rPr>
                                    <m:t>2</m:t>
                                  </m:r>
                                </m:sub>
                              </m:sSub>
                              <m:r>
                                <a:rPr lang="en-US" sz="2700" i="1">
                                  <a:latin typeface="Cambria Math" panose="02040503050406030204" pitchFamily="18" charset="0"/>
                                </a:rPr>
                                <m:t>&lt;</m:t>
                              </m:r>
                              <m:sSub>
                                <m:sSubPr>
                                  <m:ctrlPr>
                                    <a:rPr lang="en-US" sz="2700" i="1">
                                      <a:latin typeface="Cambria Math" panose="02040503050406030204" pitchFamily="18" charset="0"/>
                                    </a:rPr>
                                  </m:ctrlPr>
                                </m:sSubPr>
                                <m:e>
                                  <m:r>
                                    <a:rPr lang="en-US" sz="2700" i="1">
                                      <a:latin typeface="Cambria Math" panose="02040503050406030204" pitchFamily="18" charset="0"/>
                                    </a:rPr>
                                    <m:t>𝑡</m:t>
                                  </m:r>
                                </m:e>
                                <m:sub>
                                  <m:r>
                                    <a:rPr lang="en-US" sz="2700" i="1">
                                      <a:latin typeface="Cambria Math" panose="02040503050406030204" pitchFamily="18" charset="0"/>
                                    </a:rPr>
                                    <m:t>3</m:t>
                                  </m:r>
                                </m:sub>
                              </m:sSub>
                            </m:oMath>
                          </a14:m>
                          <a:r>
                            <a:rPr lang="en-US" sz="2700" dirty="0"/>
                            <a:t>, </a:t>
                          </a:r>
                          <a14:m>
                            <m:oMath xmlns:m="http://schemas.openxmlformats.org/officeDocument/2006/math">
                              <m:r>
                                <a:rPr lang="en-US" sz="2700" i="1">
                                  <a:latin typeface="Cambria Math" panose="02040503050406030204" pitchFamily="18" charset="0"/>
                                </a:rPr>
                                <m:t>𝑁</m:t>
                              </m:r>
                              <m:r>
                                <a:rPr lang="en-US" sz="2700" i="1">
                                  <a:latin typeface="Cambria Math" panose="02040503050406030204" pitchFamily="18" charset="0"/>
                                </a:rPr>
                                <m:t>(</m:t>
                              </m:r>
                              <m:sSub>
                                <m:sSubPr>
                                  <m:ctrlPr>
                                    <a:rPr lang="en-US" sz="2700" i="1">
                                      <a:latin typeface="Cambria Math" panose="02040503050406030204" pitchFamily="18" charset="0"/>
                                    </a:rPr>
                                  </m:ctrlPr>
                                </m:sSubPr>
                                <m:e>
                                  <m:sSub>
                                    <m:sSubPr>
                                      <m:ctrlPr>
                                        <a:rPr lang="en-US" sz="2700" i="1">
                                          <a:latin typeface="Cambria Math" panose="02040503050406030204" pitchFamily="18" charset="0"/>
                                        </a:rPr>
                                      </m:ctrlPr>
                                    </m:sSubPr>
                                    <m:e>
                                      <m:r>
                                        <a:rPr lang="en-US" sz="2700" i="1">
                                          <a:latin typeface="Cambria Math" panose="02040503050406030204" pitchFamily="18" charset="0"/>
                                        </a:rPr>
                                        <m:t>𝑡</m:t>
                                      </m:r>
                                    </m:e>
                                    <m:sub>
                                      <m:r>
                                        <a:rPr lang="en-US" sz="2700" i="1">
                                          <a:latin typeface="Cambria Math" panose="02040503050406030204" pitchFamily="18" charset="0"/>
                                        </a:rPr>
                                        <m:t>2</m:t>
                                      </m:r>
                                    </m:sub>
                                  </m:sSub>
                                  <m:r>
                                    <a:rPr lang="en-US" sz="2700" i="1">
                                      <a:latin typeface="Cambria Math" panose="02040503050406030204" pitchFamily="18" charset="0"/>
                                    </a:rPr>
                                    <m:t>−</m:t>
                                  </m:r>
                                  <m:r>
                                    <a:rPr lang="en-US" sz="2700" i="1">
                                      <a:latin typeface="Cambria Math" panose="02040503050406030204" pitchFamily="18" charset="0"/>
                                    </a:rPr>
                                    <m:t>𝑡</m:t>
                                  </m:r>
                                </m:e>
                                <m:sub>
                                  <m:r>
                                    <a:rPr lang="en-US" sz="2700" i="1">
                                      <a:latin typeface="Cambria Math" panose="02040503050406030204" pitchFamily="18" charset="0"/>
                                    </a:rPr>
                                    <m:t>1</m:t>
                                  </m:r>
                                </m:sub>
                              </m:sSub>
                              <m:r>
                                <a:rPr lang="en-US" sz="2700" i="1">
                                  <a:latin typeface="Cambria Math" panose="02040503050406030204" pitchFamily="18" charset="0"/>
                                </a:rPr>
                                <m:t>)</m:t>
                              </m:r>
                            </m:oMath>
                          </a14:m>
                          <a:r>
                            <a:rPr lang="en-US" sz="2700" dirty="0"/>
                            <a:t> and </a:t>
                          </a:r>
                          <a14:m>
                            <m:oMath xmlns:m="http://schemas.openxmlformats.org/officeDocument/2006/math">
                              <m:r>
                                <a:rPr lang="en-US" sz="2700" i="1">
                                  <a:latin typeface="Cambria Math" panose="02040503050406030204" pitchFamily="18" charset="0"/>
                                </a:rPr>
                                <m:t>𝑁</m:t>
                              </m:r>
                              <m:r>
                                <a:rPr lang="en-US" sz="2700" i="1">
                                  <a:latin typeface="Cambria Math" panose="02040503050406030204" pitchFamily="18" charset="0"/>
                                </a:rPr>
                                <m:t>(</m:t>
                              </m:r>
                              <m:sSub>
                                <m:sSubPr>
                                  <m:ctrlPr>
                                    <a:rPr lang="en-US" sz="2700" i="1">
                                      <a:latin typeface="Cambria Math" panose="02040503050406030204" pitchFamily="18" charset="0"/>
                                    </a:rPr>
                                  </m:ctrlPr>
                                </m:sSubPr>
                                <m:e>
                                  <m:sSub>
                                    <m:sSubPr>
                                      <m:ctrlPr>
                                        <a:rPr lang="en-US" sz="2700" i="1">
                                          <a:latin typeface="Cambria Math" panose="02040503050406030204" pitchFamily="18" charset="0"/>
                                        </a:rPr>
                                      </m:ctrlPr>
                                    </m:sSubPr>
                                    <m:e>
                                      <m:r>
                                        <a:rPr lang="en-US" sz="2700" i="1">
                                          <a:latin typeface="Cambria Math" panose="02040503050406030204" pitchFamily="18" charset="0"/>
                                        </a:rPr>
                                        <m:t>𝑡</m:t>
                                      </m:r>
                                    </m:e>
                                    <m:sub>
                                      <m:r>
                                        <a:rPr lang="en-US" sz="2700" i="1">
                                          <a:latin typeface="Cambria Math" panose="02040503050406030204" pitchFamily="18" charset="0"/>
                                        </a:rPr>
                                        <m:t>3</m:t>
                                      </m:r>
                                    </m:sub>
                                  </m:sSub>
                                  <m:r>
                                    <a:rPr lang="en-US" sz="2700" i="1">
                                      <a:latin typeface="Cambria Math" panose="02040503050406030204" pitchFamily="18" charset="0"/>
                                    </a:rPr>
                                    <m:t>−</m:t>
                                  </m:r>
                                  <m:r>
                                    <a:rPr lang="en-US" sz="2700" i="1">
                                      <a:latin typeface="Cambria Math" panose="02040503050406030204" pitchFamily="18" charset="0"/>
                                    </a:rPr>
                                    <m:t>𝑡</m:t>
                                  </m:r>
                                </m:e>
                                <m:sub>
                                  <m:r>
                                    <a:rPr lang="en-US" sz="2700" i="1">
                                      <a:latin typeface="Cambria Math" panose="02040503050406030204" pitchFamily="18" charset="0"/>
                                    </a:rPr>
                                    <m:t>2</m:t>
                                  </m:r>
                                </m:sub>
                              </m:sSub>
                              <m:r>
                                <a:rPr lang="en-US" sz="2700" i="1">
                                  <a:latin typeface="Cambria Math" panose="02040503050406030204" pitchFamily="18" charset="0"/>
                                </a:rPr>
                                <m:t>)</m:t>
                              </m:r>
                            </m:oMath>
                          </a14:m>
                          <a:r>
                            <a:rPr lang="en-US" sz="2700" dirty="0"/>
                            <a:t> are independent.</a:t>
                          </a:r>
                        </a:p>
                      </a:txBody>
                      <a:tcPr marL="121920" marR="121920" marT="60960" marB="60960"/>
                    </a:tc>
                    <a:extLst>
                      <a:ext uri="{0D108BD9-81ED-4DB2-BD59-A6C34878D82A}">
                        <a16:rowId xmlns:a16="http://schemas.microsoft.com/office/drawing/2014/main" val="1512180322"/>
                      </a:ext>
                    </a:extLst>
                  </a:tr>
                  <a:tr h="93472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700" b="1" i="1" dirty="0"/>
                            <a:t>stationary increments</a:t>
                          </a:r>
                          <a:r>
                            <a:rPr lang="en-US" sz="2700" dirty="0"/>
                            <a:t> if the distribution of </a:t>
                          </a:r>
                          <a14:m>
                            <m:oMath xmlns:m="http://schemas.openxmlformats.org/officeDocument/2006/math">
                              <m:r>
                                <a:rPr lang="en-US" sz="2700" i="1">
                                  <a:latin typeface="Cambria Math" panose="02040503050406030204" pitchFamily="18" charset="0"/>
                                </a:rPr>
                                <m:t>𝑁</m:t>
                              </m:r>
                              <m:d>
                                <m:dPr>
                                  <m:ctrlPr>
                                    <a:rPr lang="en-US" sz="2700" i="1">
                                      <a:latin typeface="Cambria Math" panose="02040503050406030204" pitchFamily="18" charset="0"/>
                                    </a:rPr>
                                  </m:ctrlPr>
                                </m:dPr>
                                <m:e>
                                  <m:r>
                                    <a:rPr lang="en-US" sz="2700" i="1">
                                      <a:latin typeface="Cambria Math" panose="02040503050406030204" pitchFamily="18" charset="0"/>
                                    </a:rPr>
                                    <m:t>𝑡</m:t>
                                  </m:r>
                                  <m:r>
                                    <a:rPr lang="en-US" sz="2700" i="1">
                                      <a:latin typeface="Cambria Math" panose="02040503050406030204" pitchFamily="18" charset="0"/>
                                    </a:rPr>
                                    <m:t>+</m:t>
                                  </m:r>
                                  <m:r>
                                    <a:rPr lang="en-US" sz="2700" i="1">
                                      <a:latin typeface="Cambria Math" panose="02040503050406030204" pitchFamily="18" charset="0"/>
                                    </a:rPr>
                                    <m:t>𝑠</m:t>
                                  </m:r>
                                </m:e>
                              </m:d>
                              <m:r>
                                <a:rPr lang="en-US" sz="2700" i="1">
                                  <a:latin typeface="Cambria Math" panose="02040503050406030204" pitchFamily="18" charset="0"/>
                                </a:rPr>
                                <m:t>−</m:t>
                              </m:r>
                              <m:r>
                                <a:rPr lang="en-US" sz="2700" i="1">
                                  <a:latin typeface="Cambria Math" panose="02040503050406030204" pitchFamily="18" charset="0"/>
                                </a:rPr>
                                <m:t>𝑁</m:t>
                              </m:r>
                              <m:r>
                                <a:rPr lang="en-US" sz="2700" i="1">
                                  <a:latin typeface="Cambria Math" panose="02040503050406030204" pitchFamily="18" charset="0"/>
                                </a:rPr>
                                <m:t>(</m:t>
                              </m:r>
                              <m:r>
                                <a:rPr lang="en-US" sz="2700" i="1">
                                  <a:latin typeface="Cambria Math" panose="02040503050406030204" pitchFamily="18" charset="0"/>
                                </a:rPr>
                                <m:t>𝑠</m:t>
                              </m:r>
                              <m:r>
                                <a:rPr lang="en-US" sz="2700" i="1">
                                  <a:latin typeface="Cambria Math" panose="02040503050406030204" pitchFamily="18" charset="0"/>
                                </a:rPr>
                                <m:t>)</m:t>
                              </m:r>
                            </m:oMath>
                          </a14:m>
                          <a:r>
                            <a:rPr lang="en-US" sz="2700" dirty="0"/>
                            <a:t> is independent of </a:t>
                          </a:r>
                          <a14:m>
                            <m:oMath xmlns:m="http://schemas.openxmlformats.org/officeDocument/2006/math">
                              <m:r>
                                <a:rPr lang="en-US" sz="2700" i="1">
                                  <a:latin typeface="Cambria Math" panose="02040503050406030204" pitchFamily="18" charset="0"/>
                                </a:rPr>
                                <m:t>𝑠</m:t>
                              </m:r>
                            </m:oMath>
                          </a14:m>
                          <a:r>
                            <a:rPr lang="en-US" sz="2700" dirty="0"/>
                            <a:t>.</a:t>
                          </a:r>
                        </a:p>
                      </a:txBody>
                      <a:tcPr marL="121920" marR="121920" marT="60960" marB="60960"/>
                    </a:tc>
                    <a:extLst>
                      <a:ext uri="{0D108BD9-81ED-4DB2-BD59-A6C34878D82A}">
                        <a16:rowId xmlns:a16="http://schemas.microsoft.com/office/drawing/2014/main" val="3858225408"/>
                      </a:ext>
                    </a:extLst>
                  </a:tr>
                </a:tbl>
              </a:graphicData>
            </a:graphic>
          </p:graphicFrame>
        </mc:Choice>
        <mc:Fallback xmlns="">
          <p:graphicFrame>
            <p:nvGraphicFramePr>
              <p:cNvPr id="9" name="Content Placeholder 5"/>
              <p:cNvGraphicFramePr>
                <a:graphicFrameLocks/>
              </p:cNvGraphicFramePr>
              <p:nvPr/>
            </p:nvGraphicFramePr>
            <p:xfrm>
              <a:off x="480000" y="1347992"/>
              <a:ext cx="11101917" cy="3114040"/>
            </p:xfrm>
            <a:graphic>
              <a:graphicData uri="http://schemas.openxmlformats.org/drawingml/2006/table">
                <a:tbl>
                  <a:tblPr firstRow="1" bandRow="1">
                    <a:tableStyleId>{5C22544A-7EE6-4342-B048-85BDC9FD1C3A}</a:tableStyleId>
                  </a:tblPr>
                  <a:tblGrid>
                    <a:gridCol w="11101917">
                      <a:extLst>
                        <a:ext uri="{9D8B030D-6E8A-4147-A177-3AD203B41FA5}">
                          <a16:colId xmlns:a16="http://schemas.microsoft.com/office/drawing/2014/main" val="2806566759"/>
                        </a:ext>
                      </a:extLst>
                    </a:gridCol>
                  </a:tblGrid>
                  <a:tr h="690880">
                    <a:tc>
                      <a:txBody>
                        <a:bodyPr/>
                        <a:lstStyle/>
                        <a:p>
                          <a:r>
                            <a:rPr lang="en-US" sz="3700" dirty="0"/>
                            <a:t>Properties of Counting Process</a:t>
                          </a:r>
                        </a:p>
                      </a:txBody>
                      <a:tcPr marL="121920" marR="121920" marT="60960" marB="60960"/>
                    </a:tc>
                    <a:extLst>
                      <a:ext uri="{0D108BD9-81ED-4DB2-BD59-A6C34878D82A}">
                        <a16:rowId xmlns:a16="http://schemas.microsoft.com/office/drawing/2014/main" val="4282699494"/>
                      </a:ext>
                    </a:extLst>
                  </a:tr>
                  <a:tr h="533400">
                    <a:tc>
                      <a:txBody>
                        <a:bodyPr/>
                        <a:lstStyle/>
                        <a:p>
                          <a:endParaRPr lang="en-US"/>
                        </a:p>
                      </a:txBody>
                      <a:tcPr marL="121920" marR="121920" marT="60960" marB="60960">
                        <a:blipFill>
                          <a:blip r:embed="rId2"/>
                          <a:stretch>
                            <a:fillRect l="-114" t="-147619" r="-343" b="-380952"/>
                          </a:stretch>
                        </a:blipFill>
                      </a:tcPr>
                    </a:tc>
                    <a:extLst>
                      <a:ext uri="{0D108BD9-81ED-4DB2-BD59-A6C34878D82A}">
                        <a16:rowId xmlns:a16="http://schemas.microsoft.com/office/drawing/2014/main" val="2257841623"/>
                      </a:ext>
                    </a:extLst>
                  </a:tr>
                  <a:tr h="944880">
                    <a:tc>
                      <a:txBody>
                        <a:bodyPr/>
                        <a:lstStyle/>
                        <a:p>
                          <a:endParaRPr lang="en-US"/>
                        </a:p>
                      </a:txBody>
                      <a:tcPr marL="121920" marR="121920" marT="60960" marB="60960">
                        <a:blipFill>
                          <a:blip r:embed="rId2"/>
                          <a:stretch>
                            <a:fillRect l="-114" t="-140541" r="-343" b="-116216"/>
                          </a:stretch>
                        </a:blipFill>
                      </a:tcPr>
                    </a:tc>
                    <a:extLst>
                      <a:ext uri="{0D108BD9-81ED-4DB2-BD59-A6C34878D82A}">
                        <a16:rowId xmlns:a16="http://schemas.microsoft.com/office/drawing/2014/main" val="1512180322"/>
                      </a:ext>
                    </a:extLst>
                  </a:tr>
                  <a:tr h="944880">
                    <a:tc>
                      <a:txBody>
                        <a:bodyPr/>
                        <a:lstStyle/>
                        <a:p>
                          <a:endParaRPr lang="en-US"/>
                        </a:p>
                      </a:txBody>
                      <a:tcPr marL="121920" marR="121920" marT="60960" marB="60960">
                        <a:blipFill>
                          <a:blip r:embed="rId2"/>
                          <a:stretch>
                            <a:fillRect l="-114" t="-237333" r="-343" b="-14667"/>
                          </a:stretch>
                        </a:blipFill>
                      </a:tcPr>
                    </a:tc>
                    <a:extLst>
                      <a:ext uri="{0D108BD9-81ED-4DB2-BD59-A6C34878D82A}">
                        <a16:rowId xmlns:a16="http://schemas.microsoft.com/office/drawing/2014/main" val="3858225408"/>
                      </a:ext>
                    </a:extLst>
                  </a:tr>
                </a:tbl>
              </a:graphicData>
            </a:graphic>
          </p:graphicFrame>
        </mc:Fallback>
      </mc:AlternateContent>
      <p:grpSp>
        <p:nvGrpSpPr>
          <p:cNvPr id="3" name="Group 2"/>
          <p:cNvGrpSpPr/>
          <p:nvPr/>
        </p:nvGrpSpPr>
        <p:grpSpPr>
          <a:xfrm>
            <a:off x="480000" y="4368119"/>
            <a:ext cx="11101917" cy="2315916"/>
            <a:chOff x="360000" y="2951446"/>
            <a:chExt cx="8326438" cy="1736937"/>
          </a:xfrm>
        </p:grpSpPr>
        <p:cxnSp>
          <p:nvCxnSpPr>
            <p:cNvPr id="43" name="Straight Connector 42"/>
            <p:cNvCxnSpPr/>
            <p:nvPr/>
          </p:nvCxnSpPr>
          <p:spPr>
            <a:xfrm flipV="1">
              <a:off x="466598" y="3979233"/>
              <a:ext cx="8219840" cy="0"/>
            </a:xfrm>
            <a:prstGeom prst="line">
              <a:avLst/>
            </a:prstGeom>
            <a:effectLst/>
          </p:spPr>
          <p:style>
            <a:lnRef idx="2">
              <a:schemeClr val="accent2"/>
            </a:lnRef>
            <a:fillRef idx="0">
              <a:schemeClr val="accent2"/>
            </a:fillRef>
            <a:effectRef idx="1">
              <a:schemeClr val="accent2"/>
            </a:effectRef>
            <a:fontRef idx="minor">
              <a:schemeClr val="tx1"/>
            </a:fontRef>
          </p:style>
        </p:cxnSp>
        <p:cxnSp>
          <p:nvCxnSpPr>
            <p:cNvPr id="44" name="Straight Connector 43"/>
            <p:cNvCxnSpPr/>
            <p:nvPr/>
          </p:nvCxnSpPr>
          <p:spPr>
            <a:xfrm flipV="1">
              <a:off x="466598" y="3836241"/>
              <a:ext cx="0" cy="285985"/>
            </a:xfrm>
            <a:prstGeom prst="line">
              <a:avLst/>
            </a:prstGeom>
            <a:effectLst/>
          </p:spPr>
          <p:style>
            <a:lnRef idx="2">
              <a:schemeClr val="accent2"/>
            </a:lnRef>
            <a:fillRef idx="0">
              <a:schemeClr val="accent2"/>
            </a:fillRef>
            <a:effectRef idx="1">
              <a:schemeClr val="accent2"/>
            </a:effectRef>
            <a:fontRef idx="minor">
              <a:schemeClr val="tx1"/>
            </a:fontRef>
          </p:style>
        </p:cxnSp>
        <p:cxnSp>
          <p:nvCxnSpPr>
            <p:cNvPr id="48" name="Straight Arrow Connector 47"/>
            <p:cNvCxnSpPr/>
            <p:nvPr/>
          </p:nvCxnSpPr>
          <p:spPr>
            <a:xfrm>
              <a:off x="3319403" y="3549403"/>
              <a:ext cx="0" cy="428978"/>
            </a:xfrm>
            <a:prstGeom prst="straightConnector1">
              <a:avLst/>
            </a:prstGeom>
            <a:ln w="38100">
              <a:solidFill>
                <a:schemeClr val="accent1"/>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50" name="Straight Arrow Connector 49"/>
            <p:cNvCxnSpPr/>
            <p:nvPr/>
          </p:nvCxnSpPr>
          <p:spPr>
            <a:xfrm>
              <a:off x="5230805" y="3549403"/>
              <a:ext cx="0" cy="428978"/>
            </a:xfrm>
            <a:prstGeom prst="straightConnector1">
              <a:avLst/>
            </a:prstGeom>
            <a:ln w="38100">
              <a:solidFill>
                <a:schemeClr val="accent1"/>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51" name="Straight Arrow Connector 50"/>
            <p:cNvCxnSpPr/>
            <p:nvPr/>
          </p:nvCxnSpPr>
          <p:spPr>
            <a:xfrm>
              <a:off x="7039286" y="3549403"/>
              <a:ext cx="0" cy="428978"/>
            </a:xfrm>
            <a:prstGeom prst="straightConnector1">
              <a:avLst/>
            </a:prstGeom>
            <a:ln w="38100">
              <a:solidFill>
                <a:schemeClr val="accent1"/>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52" name="Straight Arrow Connector 51"/>
            <p:cNvCxnSpPr/>
            <p:nvPr/>
          </p:nvCxnSpPr>
          <p:spPr>
            <a:xfrm>
              <a:off x="7436269" y="3549403"/>
              <a:ext cx="0" cy="428978"/>
            </a:xfrm>
            <a:prstGeom prst="straightConnector1">
              <a:avLst/>
            </a:prstGeom>
            <a:ln w="38100">
              <a:solidFill>
                <a:schemeClr val="accent1"/>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54" name="TextBox 53"/>
                <p:cNvSpPr txBox="1"/>
                <p:nvPr/>
              </p:nvSpPr>
              <p:spPr>
                <a:xfrm>
                  <a:off x="360000" y="3581162"/>
                  <a:ext cx="17913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solidFill>
                              <a:schemeClr val="tx2"/>
                            </a:solidFill>
                            <a:latin typeface="Cambria Math" panose="02040503050406030204" pitchFamily="18" charset="0"/>
                          </a:rPr>
                          <m:t>0</m:t>
                        </m:r>
                      </m:oMath>
                    </m:oMathPara>
                  </a14:m>
                  <a:endParaRPr lang="en-US" sz="2400" dirty="0">
                    <a:solidFill>
                      <a:schemeClr val="tx2"/>
                    </a:solidFill>
                  </a:endParaRPr>
                </a:p>
              </p:txBody>
            </p:sp>
          </mc:Choice>
          <mc:Fallback xmlns="">
            <p:sp>
              <p:nvSpPr>
                <p:cNvPr id="54" name="TextBox 53"/>
                <p:cNvSpPr txBox="1">
                  <a:spLocks noRot="1" noChangeAspect="1" noMove="1" noResize="1" noEditPoints="1" noAdjustHandles="1" noChangeArrowheads="1" noChangeShapeType="1" noTextEdit="1"/>
                </p:cNvSpPr>
                <p:nvPr/>
              </p:nvSpPr>
              <p:spPr>
                <a:xfrm>
                  <a:off x="360000" y="3581162"/>
                  <a:ext cx="179135" cy="276999"/>
                </a:xfrm>
                <a:prstGeom prst="rect">
                  <a:avLst/>
                </a:prstGeom>
                <a:blipFill>
                  <a:blip r:embed="rId3"/>
                  <a:stretch>
                    <a:fillRect l="-25000" r="-25000" b="-6452"/>
                  </a:stretch>
                </a:blipFill>
              </p:spPr>
              <p:txBody>
                <a:bodyPr/>
                <a:lstStyle/>
                <a:p>
                  <a:r>
                    <a:rPr lang="en-US">
                      <a:noFill/>
                    </a:rPr>
                    <a:t> </a:t>
                  </a:r>
                </a:p>
              </p:txBody>
            </p:sp>
          </mc:Fallback>
        </mc:AlternateContent>
        <p:sp>
          <p:nvSpPr>
            <p:cNvPr id="28" name="Left Brace 27"/>
            <p:cNvSpPr/>
            <p:nvPr/>
          </p:nvSpPr>
          <p:spPr>
            <a:xfrm rot="5400000" flipV="1">
              <a:off x="4471794" y="1278007"/>
              <a:ext cx="246936" cy="4130175"/>
            </a:xfrm>
            <a:prstGeom prst="leftBrace">
              <a:avLst/>
            </a:prstGeom>
            <a:ln>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mc:AlternateContent xmlns:mc="http://schemas.openxmlformats.org/markup-compatibility/2006" xmlns:a14="http://schemas.microsoft.com/office/drawing/2010/main">
          <mc:Choice Requires="a14">
            <p:sp>
              <p:nvSpPr>
                <p:cNvPr id="29" name="Rectangle 28"/>
                <p:cNvSpPr/>
                <p:nvPr/>
              </p:nvSpPr>
              <p:spPr>
                <a:xfrm>
                  <a:off x="3857335" y="2951446"/>
                  <a:ext cx="1793183" cy="3462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𝑁</m:t>
                        </m:r>
                        <m:d>
                          <m:dPr>
                            <m:ctrlPr>
                              <a:rPr lang="en-US" sz="2400" i="1">
                                <a:latin typeface="Cambria Math" panose="02040503050406030204" pitchFamily="18" charset="0"/>
                              </a:rPr>
                            </m:ctrlPr>
                          </m:dPr>
                          <m:e>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rPr>
                              <m:t>𝑠</m:t>
                            </m:r>
                          </m:e>
                        </m:d>
                        <m:r>
                          <a:rPr lang="en-US" sz="2400" i="1">
                            <a:latin typeface="Cambria Math" panose="02040503050406030204" pitchFamily="18" charset="0"/>
                          </a:rPr>
                          <m:t>−</m:t>
                        </m:r>
                        <m:r>
                          <a:rPr lang="en-US" sz="2400" i="1">
                            <a:latin typeface="Cambria Math" panose="02040503050406030204" pitchFamily="18" charset="0"/>
                          </a:rPr>
                          <m:t>𝑁</m:t>
                        </m:r>
                        <m:d>
                          <m:dPr>
                            <m:ctrlPr>
                              <a:rPr lang="en-US" sz="2400" i="1">
                                <a:latin typeface="Cambria Math" panose="02040503050406030204" pitchFamily="18" charset="0"/>
                              </a:rPr>
                            </m:ctrlPr>
                          </m:dPr>
                          <m:e>
                            <m:r>
                              <a:rPr lang="en-US" sz="2400" i="1">
                                <a:latin typeface="Cambria Math" panose="02040503050406030204" pitchFamily="18" charset="0"/>
                              </a:rPr>
                              <m:t>𝑠</m:t>
                            </m:r>
                          </m:e>
                        </m:d>
                      </m:oMath>
                    </m:oMathPara>
                  </a14:m>
                  <a:endParaRPr lang="en-US" sz="2400" dirty="0"/>
                </a:p>
              </p:txBody>
            </p:sp>
          </mc:Choice>
          <mc:Fallback xmlns="">
            <p:sp>
              <p:nvSpPr>
                <p:cNvPr id="29" name="Rectangle 28"/>
                <p:cNvSpPr>
                  <a:spLocks noRot="1" noChangeAspect="1" noMove="1" noResize="1" noEditPoints="1" noAdjustHandles="1" noChangeArrowheads="1" noChangeShapeType="1" noTextEdit="1"/>
                </p:cNvSpPr>
                <p:nvPr/>
              </p:nvSpPr>
              <p:spPr>
                <a:xfrm>
                  <a:off x="3857335" y="2951446"/>
                  <a:ext cx="1793183" cy="346249"/>
                </a:xfrm>
                <a:prstGeom prst="rect">
                  <a:avLst/>
                </a:prstGeom>
                <a:blipFill>
                  <a:blip r:embed="rId4"/>
                  <a:stretch>
                    <a:fillRect/>
                  </a:stretch>
                </a:blipFill>
              </p:spPr>
              <p:txBody>
                <a:bodyPr/>
                <a:lstStyle/>
                <a:p>
                  <a:r>
                    <a:rPr lang="en-US">
                      <a:noFill/>
                    </a:rPr>
                    <a:t> </a:t>
                  </a:r>
                </a:p>
              </p:txBody>
            </p:sp>
          </mc:Fallback>
        </mc:AlternateContent>
        <p:sp>
          <p:nvSpPr>
            <p:cNvPr id="30" name="Left Brace 29"/>
            <p:cNvSpPr/>
            <p:nvPr/>
          </p:nvSpPr>
          <p:spPr>
            <a:xfrm rot="16200000">
              <a:off x="5887115" y="2196568"/>
              <a:ext cx="225889" cy="4130175"/>
            </a:xfrm>
            <a:prstGeom prst="leftBrace">
              <a:avLst/>
            </a:prstGeom>
            <a:ln>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mc:AlternateContent xmlns:mc="http://schemas.openxmlformats.org/markup-compatibility/2006" xmlns:a14="http://schemas.microsoft.com/office/drawing/2010/main">
          <mc:Choice Requires="a14">
            <p:sp>
              <p:nvSpPr>
                <p:cNvPr id="31" name="Rectangle 30"/>
                <p:cNvSpPr/>
                <p:nvPr/>
              </p:nvSpPr>
              <p:spPr>
                <a:xfrm>
                  <a:off x="5207566" y="4342134"/>
                  <a:ext cx="1903983" cy="3462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𝑁</m:t>
                        </m:r>
                        <m:d>
                          <m:dPr>
                            <m:ctrlPr>
                              <a:rPr lang="en-US" sz="2400" i="1">
                                <a:latin typeface="Cambria Math" panose="02040503050406030204" pitchFamily="18" charset="0"/>
                              </a:rPr>
                            </m:ctrlPr>
                          </m:dPr>
                          <m:e>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rPr>
                              <m:t>𝑠</m:t>
                            </m:r>
                            <m:r>
                              <a:rPr lang="en-US" sz="2400" i="1">
                                <a:latin typeface="Cambria Math" panose="02040503050406030204" pitchFamily="18" charset="0"/>
                              </a:rPr>
                              <m:t>′</m:t>
                            </m:r>
                          </m:e>
                        </m:d>
                        <m:r>
                          <a:rPr lang="en-US" sz="2400" i="1">
                            <a:latin typeface="Cambria Math" panose="02040503050406030204" pitchFamily="18" charset="0"/>
                          </a:rPr>
                          <m:t>−</m:t>
                        </m:r>
                        <m:r>
                          <a:rPr lang="en-US" sz="2400" i="1">
                            <a:latin typeface="Cambria Math" panose="02040503050406030204" pitchFamily="18" charset="0"/>
                          </a:rPr>
                          <m:t>𝑁</m:t>
                        </m:r>
                        <m:d>
                          <m:dPr>
                            <m:ctrlPr>
                              <a:rPr lang="en-US" sz="2400" i="1">
                                <a:latin typeface="Cambria Math" panose="02040503050406030204" pitchFamily="18" charset="0"/>
                              </a:rPr>
                            </m:ctrlPr>
                          </m:dPr>
                          <m:e>
                            <m:r>
                              <a:rPr lang="en-US" sz="2400" i="1">
                                <a:latin typeface="Cambria Math" panose="02040503050406030204" pitchFamily="18" charset="0"/>
                              </a:rPr>
                              <m:t>𝑠</m:t>
                            </m:r>
                            <m:r>
                              <a:rPr lang="en-US" sz="2400" i="1">
                                <a:latin typeface="Cambria Math" panose="02040503050406030204" pitchFamily="18" charset="0"/>
                              </a:rPr>
                              <m:t>′</m:t>
                            </m:r>
                          </m:e>
                        </m:d>
                      </m:oMath>
                    </m:oMathPara>
                  </a14:m>
                  <a:endParaRPr lang="en-US" sz="2400" dirty="0"/>
                </a:p>
              </p:txBody>
            </p:sp>
          </mc:Choice>
          <mc:Fallback xmlns="">
            <p:sp>
              <p:nvSpPr>
                <p:cNvPr id="31" name="Rectangle 30"/>
                <p:cNvSpPr>
                  <a:spLocks noRot="1" noChangeAspect="1" noMove="1" noResize="1" noEditPoints="1" noAdjustHandles="1" noChangeArrowheads="1" noChangeShapeType="1" noTextEdit="1"/>
                </p:cNvSpPr>
                <p:nvPr/>
              </p:nvSpPr>
              <p:spPr>
                <a:xfrm>
                  <a:off x="5207566" y="4342134"/>
                  <a:ext cx="1903983" cy="346249"/>
                </a:xfrm>
                <a:prstGeom prst="rect">
                  <a:avLst/>
                </a:prstGeom>
                <a:blipFill>
                  <a:blip r:embed="rId5"/>
                  <a:stretch>
                    <a:fillRect/>
                  </a:stretch>
                </a:blipFill>
              </p:spPr>
              <p:txBody>
                <a:bodyPr/>
                <a:lstStyle/>
                <a:p>
                  <a:r>
                    <a:rPr lang="en-US">
                      <a:noFill/>
                    </a:rPr>
                    <a:t> </a:t>
                  </a:r>
                </a:p>
              </p:txBody>
            </p:sp>
          </mc:Fallback>
        </mc:AlternateContent>
        <p:cxnSp>
          <p:nvCxnSpPr>
            <p:cNvPr id="32" name="Straight Connector 31"/>
            <p:cNvCxnSpPr/>
            <p:nvPr/>
          </p:nvCxnSpPr>
          <p:spPr>
            <a:xfrm flipH="1">
              <a:off x="2530173" y="3740582"/>
              <a:ext cx="1" cy="3600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p:nvCxnSpPr>
          <p:spPr>
            <a:xfrm flipH="1">
              <a:off x="6660350" y="3740582"/>
              <a:ext cx="1" cy="3600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7" name="Rectangle 56"/>
                <p:cNvSpPr/>
                <p:nvPr/>
              </p:nvSpPr>
              <p:spPr>
                <a:xfrm>
                  <a:off x="2349112" y="3377852"/>
                  <a:ext cx="301910" cy="3462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𝑠</m:t>
                        </m:r>
                      </m:oMath>
                    </m:oMathPara>
                  </a14:m>
                  <a:endParaRPr lang="en-US" sz="2400" dirty="0"/>
                </a:p>
              </p:txBody>
            </p:sp>
          </mc:Choice>
          <mc:Fallback xmlns="">
            <p:sp>
              <p:nvSpPr>
                <p:cNvPr id="57" name="Rectangle 56"/>
                <p:cNvSpPr>
                  <a:spLocks noRot="1" noChangeAspect="1" noMove="1" noResize="1" noEditPoints="1" noAdjustHandles="1" noChangeArrowheads="1" noChangeShapeType="1" noTextEdit="1"/>
                </p:cNvSpPr>
                <p:nvPr/>
              </p:nvSpPr>
              <p:spPr>
                <a:xfrm>
                  <a:off x="2349112" y="3377852"/>
                  <a:ext cx="301910" cy="34624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Rectangle 57"/>
                <p:cNvSpPr/>
                <p:nvPr/>
              </p:nvSpPr>
              <p:spPr>
                <a:xfrm>
                  <a:off x="6299129" y="3377852"/>
                  <a:ext cx="673454" cy="3462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rPr>
                          <m:t>𝑠</m:t>
                        </m:r>
                      </m:oMath>
                    </m:oMathPara>
                  </a14:m>
                  <a:endParaRPr lang="en-US" sz="2400" dirty="0"/>
                </a:p>
              </p:txBody>
            </p:sp>
          </mc:Choice>
          <mc:Fallback xmlns="">
            <p:sp>
              <p:nvSpPr>
                <p:cNvPr id="58" name="Rectangle 57"/>
                <p:cNvSpPr>
                  <a:spLocks noRot="1" noChangeAspect="1" noMove="1" noResize="1" noEditPoints="1" noAdjustHandles="1" noChangeArrowheads="1" noChangeShapeType="1" noTextEdit="1"/>
                </p:cNvSpPr>
                <p:nvPr/>
              </p:nvSpPr>
              <p:spPr>
                <a:xfrm>
                  <a:off x="6299129" y="3377852"/>
                  <a:ext cx="673454" cy="346249"/>
                </a:xfrm>
                <a:prstGeom prst="rect">
                  <a:avLst/>
                </a:prstGeom>
                <a:blipFill>
                  <a:blip r:embed="rId7"/>
                  <a:stretch>
                    <a:fillRect/>
                  </a:stretch>
                </a:blipFill>
              </p:spPr>
              <p:txBody>
                <a:bodyPr/>
                <a:lstStyle/>
                <a:p>
                  <a:r>
                    <a:rPr lang="en-US">
                      <a:noFill/>
                    </a:rPr>
                    <a:t> </a:t>
                  </a:r>
                </a:p>
              </p:txBody>
            </p:sp>
          </mc:Fallback>
        </mc:AlternateContent>
        <p:cxnSp>
          <p:nvCxnSpPr>
            <p:cNvPr id="59" name="Straight Connector 58"/>
            <p:cNvCxnSpPr/>
            <p:nvPr/>
          </p:nvCxnSpPr>
          <p:spPr>
            <a:xfrm flipH="1">
              <a:off x="3934970" y="3741655"/>
              <a:ext cx="1" cy="3600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0" name="Straight Connector 59"/>
            <p:cNvCxnSpPr/>
            <p:nvPr/>
          </p:nvCxnSpPr>
          <p:spPr>
            <a:xfrm flipH="1">
              <a:off x="8065147" y="3741655"/>
              <a:ext cx="1" cy="3600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1" name="Rectangle 60"/>
                <p:cNvSpPr/>
                <p:nvPr/>
              </p:nvSpPr>
              <p:spPr>
                <a:xfrm>
                  <a:off x="3753909" y="3378925"/>
                  <a:ext cx="357309" cy="3462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𝑠</m:t>
                        </m:r>
                        <m:r>
                          <a:rPr lang="en-US" sz="2400" i="1">
                            <a:latin typeface="Cambria Math" panose="02040503050406030204" pitchFamily="18" charset="0"/>
                          </a:rPr>
                          <m:t>′</m:t>
                        </m:r>
                      </m:oMath>
                    </m:oMathPara>
                  </a14:m>
                  <a:endParaRPr lang="en-US" sz="2400" dirty="0"/>
                </a:p>
              </p:txBody>
            </p:sp>
          </mc:Choice>
          <mc:Fallback xmlns="">
            <p:sp>
              <p:nvSpPr>
                <p:cNvPr id="61" name="Rectangle 60"/>
                <p:cNvSpPr>
                  <a:spLocks noRot="1" noChangeAspect="1" noMove="1" noResize="1" noEditPoints="1" noAdjustHandles="1" noChangeArrowheads="1" noChangeShapeType="1" noTextEdit="1"/>
                </p:cNvSpPr>
                <p:nvPr/>
              </p:nvSpPr>
              <p:spPr>
                <a:xfrm>
                  <a:off x="3753909" y="3378925"/>
                  <a:ext cx="357309" cy="346249"/>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Rectangle 61"/>
                <p:cNvSpPr/>
                <p:nvPr/>
              </p:nvSpPr>
              <p:spPr>
                <a:xfrm>
                  <a:off x="7703926" y="3378925"/>
                  <a:ext cx="728853" cy="3462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rPr>
                          <m:t>𝑠</m:t>
                        </m:r>
                        <m:r>
                          <a:rPr lang="en-US" sz="2400" i="1">
                            <a:latin typeface="Cambria Math" panose="02040503050406030204" pitchFamily="18" charset="0"/>
                          </a:rPr>
                          <m:t>′</m:t>
                        </m:r>
                      </m:oMath>
                    </m:oMathPara>
                  </a14:m>
                  <a:endParaRPr lang="en-US" sz="2400" dirty="0"/>
                </a:p>
              </p:txBody>
            </p:sp>
          </mc:Choice>
          <mc:Fallback xmlns="">
            <p:sp>
              <p:nvSpPr>
                <p:cNvPr id="62" name="Rectangle 61"/>
                <p:cNvSpPr>
                  <a:spLocks noRot="1" noChangeAspect="1" noMove="1" noResize="1" noEditPoints="1" noAdjustHandles="1" noChangeArrowheads="1" noChangeShapeType="1" noTextEdit="1"/>
                </p:cNvSpPr>
                <p:nvPr/>
              </p:nvSpPr>
              <p:spPr>
                <a:xfrm>
                  <a:off x="7703926" y="3378925"/>
                  <a:ext cx="728853" cy="346249"/>
                </a:xfrm>
                <a:prstGeom prst="rect">
                  <a:avLst/>
                </a:prstGeom>
                <a:blipFill>
                  <a:blip r:embed="rId9"/>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4020465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PlaceHolder 1"/>
          <p:cNvSpPr>
            <a:spLocks noGrp="1"/>
          </p:cNvSpPr>
          <p:nvPr>
            <p:ph type="title"/>
          </p:nvPr>
        </p:nvSpPr>
        <p:spPr>
          <a:prstGeom prst="rect">
            <a:avLst/>
          </a:prstGeom>
          <a:noFill/>
          <a:ln w="0">
            <a:noFill/>
          </a:ln>
        </p:spPr>
        <p:txBody>
          <a:bodyPr vert="horz" lIns="0" tIns="0" rIns="0" bIns="0" rtlCol="0" anchor="t" anchorCtr="0">
            <a:noAutofit/>
          </a:bodyPr>
          <a:lstStyle/>
          <a:p>
            <a:pPr>
              <a:lnSpc>
                <a:spcPct val="100000"/>
              </a:lnSpc>
              <a:buNone/>
            </a:pPr>
            <a:r>
              <a:rPr lang="en-US" spc="-1" dirty="0">
                <a:solidFill>
                  <a:srgbClr val="00A2DB"/>
                </a:solidFill>
                <a:latin typeface="Calibri"/>
              </a:rPr>
              <a:t>Poisson Process &amp; Distribution</a:t>
            </a:r>
            <a:endParaRPr lang="nl-NL" b="0" spc="-1" dirty="0">
              <a:solidFill>
                <a:srgbClr val="001C3D"/>
              </a:solidFill>
              <a:latin typeface="Calibri"/>
            </a:endParaRPr>
          </a:p>
        </p:txBody>
      </p:sp>
      <mc:AlternateContent xmlns:mc="http://schemas.openxmlformats.org/markup-compatibility/2006" xmlns:a14="http://schemas.microsoft.com/office/drawing/2010/main">
        <mc:Choice Requires="a14">
          <p:graphicFrame>
            <p:nvGraphicFramePr>
              <p:cNvPr id="21" name="Content Placeholder 5"/>
              <p:cNvGraphicFramePr>
                <a:graphicFrameLocks/>
              </p:cNvGraphicFramePr>
              <p:nvPr/>
            </p:nvGraphicFramePr>
            <p:xfrm>
              <a:off x="480000" y="1347992"/>
              <a:ext cx="11101917" cy="4348480"/>
            </p:xfrm>
            <a:graphic>
              <a:graphicData uri="http://schemas.openxmlformats.org/drawingml/2006/table">
                <a:tbl>
                  <a:tblPr firstRow="1" bandRow="1">
                    <a:tableStyleId>{5C22544A-7EE6-4342-B048-85BDC9FD1C3A}</a:tableStyleId>
                  </a:tblPr>
                  <a:tblGrid>
                    <a:gridCol w="11101917">
                      <a:extLst>
                        <a:ext uri="{9D8B030D-6E8A-4147-A177-3AD203B41FA5}">
                          <a16:colId xmlns:a16="http://schemas.microsoft.com/office/drawing/2014/main" val="2806566759"/>
                        </a:ext>
                      </a:extLst>
                    </a:gridCol>
                  </a:tblGrid>
                  <a:tr h="690880">
                    <a:tc>
                      <a:txBody>
                        <a:bodyPr/>
                        <a:lstStyle/>
                        <a:p>
                          <a:r>
                            <a:rPr lang="en-US" sz="3700" dirty="0"/>
                            <a:t>Poisson Process (denoted by </a:t>
                          </a:r>
                          <a14:m>
                            <m:oMath xmlns:m="http://schemas.openxmlformats.org/officeDocument/2006/math">
                              <m:r>
                                <a:rPr lang="en-US" sz="3700" b="0" i="1" smtClean="0">
                                  <a:latin typeface="Cambria Math" panose="02040503050406030204" pitchFamily="18" charset="0"/>
                                </a:rPr>
                                <m:t>𝑃𝑃</m:t>
                              </m:r>
                              <m:d>
                                <m:dPr>
                                  <m:ctrlPr>
                                    <a:rPr lang="en-US" sz="3700" b="0" i="1" smtClean="0">
                                      <a:latin typeface="Cambria Math" panose="02040503050406030204" pitchFamily="18" charset="0"/>
                                    </a:rPr>
                                  </m:ctrlPr>
                                </m:dPr>
                                <m:e>
                                  <m:r>
                                    <a:rPr lang="en-US" sz="3700" b="0" i="1" smtClean="0">
                                      <a:latin typeface="Cambria Math" panose="02040503050406030204" pitchFamily="18" charset="0"/>
                                    </a:rPr>
                                    <m:t>𝜆</m:t>
                                  </m:r>
                                </m:e>
                              </m:d>
                            </m:oMath>
                          </a14:m>
                          <a:r>
                            <a:rPr lang="en-US" sz="3700" dirty="0"/>
                            <a:t>)</a:t>
                          </a:r>
                        </a:p>
                      </a:txBody>
                      <a:tcPr marL="121920" marR="121920" marT="60960" marB="60960"/>
                    </a:tc>
                    <a:extLst>
                      <a:ext uri="{0D108BD9-81ED-4DB2-BD59-A6C34878D82A}">
                        <a16:rowId xmlns:a16="http://schemas.microsoft.com/office/drawing/2014/main" val="4282699494"/>
                      </a:ext>
                    </a:extLst>
                  </a:tr>
                  <a:tr h="934720">
                    <a:tc>
                      <a:txBody>
                        <a:bodyPr/>
                        <a:lstStyle/>
                        <a:p>
                          <a:r>
                            <a:rPr lang="en-US" sz="2700" dirty="0"/>
                            <a:t>A counting process </a:t>
                          </a:r>
                          <a14:m>
                            <m:oMath xmlns:m="http://schemas.openxmlformats.org/officeDocument/2006/math">
                              <m:d>
                                <m:dPr>
                                  <m:begChr m:val="{"/>
                                  <m:endChr m:val="}"/>
                                  <m:ctrlPr>
                                    <a:rPr lang="en-US" sz="2700" i="1">
                                      <a:latin typeface="Cambria Math" panose="02040503050406030204" pitchFamily="18" charset="0"/>
                                    </a:rPr>
                                  </m:ctrlPr>
                                </m:dPr>
                                <m:e>
                                  <m:r>
                                    <a:rPr lang="en-US" sz="2700" i="1">
                                      <a:latin typeface="Cambria Math" panose="02040503050406030204" pitchFamily="18" charset="0"/>
                                    </a:rPr>
                                    <m:t>𝑁</m:t>
                                  </m:r>
                                  <m:d>
                                    <m:dPr>
                                      <m:ctrlPr>
                                        <a:rPr lang="en-US" sz="2700" i="1">
                                          <a:latin typeface="Cambria Math" panose="02040503050406030204" pitchFamily="18" charset="0"/>
                                        </a:rPr>
                                      </m:ctrlPr>
                                    </m:dPr>
                                    <m:e>
                                      <m:r>
                                        <a:rPr lang="en-US" sz="2700" i="1">
                                          <a:latin typeface="Cambria Math" panose="02040503050406030204" pitchFamily="18" charset="0"/>
                                        </a:rPr>
                                        <m:t>𝑡</m:t>
                                      </m:r>
                                    </m:e>
                                  </m:d>
                                  <m:r>
                                    <a:rPr lang="en-US" sz="2700" i="1">
                                      <a:latin typeface="Cambria Math" panose="02040503050406030204" pitchFamily="18" charset="0"/>
                                    </a:rPr>
                                    <m:t>, </m:t>
                                  </m:r>
                                  <m:r>
                                    <a:rPr lang="en-US" sz="2700" i="1">
                                      <a:latin typeface="Cambria Math" panose="02040503050406030204" pitchFamily="18" charset="0"/>
                                    </a:rPr>
                                    <m:t>𝑡</m:t>
                                  </m:r>
                                  <m:r>
                                    <a:rPr lang="en-US" sz="2700" i="1">
                                      <a:latin typeface="Cambria Math" panose="02040503050406030204" pitchFamily="18" charset="0"/>
                                    </a:rPr>
                                    <m:t>≥0</m:t>
                                  </m:r>
                                </m:e>
                              </m:d>
                            </m:oMath>
                          </a14:m>
                          <a:r>
                            <a:rPr lang="en-US" sz="2700" dirty="0"/>
                            <a:t> is said to be a </a:t>
                          </a:r>
                          <a:r>
                            <a:rPr lang="en-US" sz="2700" b="1" i="1" dirty="0"/>
                            <a:t>Poisson Process</a:t>
                          </a:r>
                          <a:r>
                            <a:rPr lang="en-US" sz="2700" dirty="0"/>
                            <a:t> with rate </a:t>
                          </a:r>
                          <a14:m>
                            <m:oMath xmlns:m="http://schemas.openxmlformats.org/officeDocument/2006/math">
                              <m:r>
                                <a:rPr lang="en-US" sz="2700" i="1">
                                  <a:latin typeface="Cambria Math" panose="02040503050406030204" pitchFamily="18" charset="0"/>
                                </a:rPr>
                                <m:t>𝜆</m:t>
                              </m:r>
                              <m:r>
                                <a:rPr lang="en-US" sz="2700" i="1">
                                  <a:latin typeface="Cambria Math" panose="02040503050406030204" pitchFamily="18" charset="0"/>
                                </a:rPr>
                                <m:t>,</m:t>
                              </m:r>
                              <m:r>
                                <a:rPr lang="en-US" sz="2700" i="1">
                                  <a:latin typeface="Cambria Math" panose="02040503050406030204" pitchFamily="18" charset="0"/>
                                </a:rPr>
                                <m:t>𝜆</m:t>
                              </m:r>
                              <m:r>
                                <a:rPr lang="en-US" sz="2700" i="1">
                                  <a:latin typeface="Cambria Math" panose="02040503050406030204" pitchFamily="18" charset="0"/>
                                </a:rPr>
                                <m:t>&gt;0</m:t>
                              </m:r>
                            </m:oMath>
                          </a14:m>
                          <a:r>
                            <a:rPr lang="en-US" sz="2700" dirty="0"/>
                            <a:t>, if</a:t>
                          </a:r>
                        </a:p>
                      </a:txBody>
                      <a:tcPr marL="121920" marR="121920" marT="60960" marB="60960"/>
                    </a:tc>
                    <a:extLst>
                      <a:ext uri="{0D108BD9-81ED-4DB2-BD59-A6C34878D82A}">
                        <a16:rowId xmlns:a16="http://schemas.microsoft.com/office/drawing/2014/main" val="2257841623"/>
                      </a:ext>
                    </a:extLst>
                  </a:tr>
                  <a:tr h="1747520">
                    <a:tc>
                      <a:txBody>
                        <a:bodyPr/>
                        <a:lstStyle/>
                        <a:p>
                          <a:pPr marL="514350" indent="-514350">
                            <a:buFont typeface="+mj-lt"/>
                            <a:buAutoNum type="romanUcPeriod"/>
                          </a:pPr>
                          <a:r>
                            <a:rPr lang="en-US" sz="2700" dirty="0"/>
                            <a:t> </a:t>
                          </a:r>
                          <a14:m>
                            <m:oMath xmlns:m="http://schemas.openxmlformats.org/officeDocument/2006/math">
                              <m:r>
                                <a:rPr lang="en-US" sz="2700" i="1">
                                  <a:latin typeface="Cambria Math" panose="02040503050406030204" pitchFamily="18" charset="0"/>
                                </a:rPr>
                                <m:t>𝑁</m:t>
                              </m:r>
                              <m:d>
                                <m:dPr>
                                  <m:ctrlPr>
                                    <a:rPr lang="en-US" sz="2700" i="1">
                                      <a:latin typeface="Cambria Math" panose="02040503050406030204" pitchFamily="18" charset="0"/>
                                    </a:rPr>
                                  </m:ctrlPr>
                                </m:dPr>
                                <m:e>
                                  <m:r>
                                    <a:rPr lang="en-US" sz="2700" i="1">
                                      <a:latin typeface="Cambria Math" panose="02040503050406030204" pitchFamily="18" charset="0"/>
                                    </a:rPr>
                                    <m:t>0</m:t>
                                  </m:r>
                                </m:e>
                              </m:d>
                              <m:r>
                                <a:rPr lang="en-US" sz="2700" i="1">
                                  <a:latin typeface="Cambria Math" panose="02040503050406030204" pitchFamily="18" charset="0"/>
                                </a:rPr>
                                <m:t>=0</m:t>
                              </m:r>
                            </m:oMath>
                          </a14:m>
                          <a:r>
                            <a:rPr lang="en-US" sz="2700" dirty="0"/>
                            <a:t>.</a:t>
                          </a:r>
                        </a:p>
                        <a:p>
                          <a:pPr marL="571500" indent="-571500">
                            <a:buFont typeface="+mj-lt"/>
                            <a:buAutoNum type="romanUcPeriod"/>
                          </a:pPr>
                          <a:r>
                            <a:rPr lang="en-US" sz="2700" dirty="0"/>
                            <a:t>The process has </a:t>
                          </a:r>
                          <a:r>
                            <a:rPr lang="en-US" sz="2700" b="1" i="1" dirty="0"/>
                            <a:t>stationary</a:t>
                          </a:r>
                          <a:r>
                            <a:rPr lang="en-US" sz="2700" dirty="0"/>
                            <a:t> and </a:t>
                          </a:r>
                          <a:r>
                            <a:rPr lang="en-US" sz="2700" b="1" i="1" dirty="0"/>
                            <a:t>independent</a:t>
                          </a:r>
                          <a:r>
                            <a:rPr lang="en-US" sz="2700" dirty="0"/>
                            <a:t> </a:t>
                          </a:r>
                          <a:r>
                            <a:rPr lang="en-US" sz="2700" b="1" i="1" dirty="0"/>
                            <a:t>increments</a:t>
                          </a:r>
                          <a:r>
                            <a:rPr lang="en-US" sz="2700" dirty="0"/>
                            <a:t>.</a:t>
                          </a:r>
                        </a:p>
                        <a:p>
                          <a:pPr marL="571500" indent="-571500">
                            <a:buFont typeface="+mj-lt"/>
                            <a:buAutoNum type="romanUcPeriod"/>
                          </a:pPr>
                          <a:r>
                            <a:rPr lang="en-US" sz="2700" dirty="0"/>
                            <a:t>Arrivals occur at separate moments in time, i.e. there are </a:t>
                          </a:r>
                          <a:r>
                            <a:rPr lang="en-US" sz="2700" b="1" i="1" dirty="0"/>
                            <a:t>no simultaneous arrivals</a:t>
                          </a:r>
                          <a:r>
                            <a:rPr lang="en-US" sz="2700" dirty="0"/>
                            <a:t> at any time </a:t>
                          </a:r>
                          <a14:m>
                            <m:oMath xmlns:m="http://schemas.openxmlformats.org/officeDocument/2006/math">
                              <m:r>
                                <a:rPr lang="en-US" sz="2700" i="1">
                                  <a:latin typeface="Cambria Math" panose="02040503050406030204" pitchFamily="18" charset="0"/>
                                </a:rPr>
                                <m:t>𝑡</m:t>
                              </m:r>
                            </m:oMath>
                          </a14:m>
                          <a:r>
                            <a:rPr lang="en-US" sz="2700" dirty="0"/>
                            <a:t>.</a:t>
                          </a:r>
                        </a:p>
                      </a:txBody>
                      <a:tcPr marL="121920" marR="121920" marT="60960" marB="60960"/>
                    </a:tc>
                    <a:extLst>
                      <a:ext uri="{0D108BD9-81ED-4DB2-BD59-A6C34878D82A}">
                        <a16:rowId xmlns:a16="http://schemas.microsoft.com/office/drawing/2014/main" val="35514891"/>
                      </a:ext>
                    </a:extLst>
                  </a:tr>
                  <a:tr h="934720">
                    <a:tc>
                      <a:txBody>
                        <a:bodyPr/>
                        <a:lstStyle/>
                        <a:p>
                          <a:pPr marL="0" marR="0" lvl="0" indent="0" algn="l" defTabSz="457200" rtl="0" eaLnBrk="1" fontAlgn="auto" latinLnBrk="0" hangingPunct="1">
                            <a:lnSpc>
                              <a:spcPct val="100000"/>
                            </a:lnSpc>
                            <a:spcBef>
                              <a:spcPts val="0"/>
                            </a:spcBef>
                            <a:spcAft>
                              <a:spcPts val="0"/>
                            </a:spcAft>
                            <a:buClrTx/>
                            <a:buSzTx/>
                            <a:buFont typeface="+mj-lt"/>
                            <a:buNone/>
                            <a:tabLst/>
                            <a:defRPr/>
                          </a:pPr>
                          <a:r>
                            <a:rPr lang="en-US" sz="2700" dirty="0"/>
                            <a:t>The number of ‘events’ during a Poisson Process is captured by the probability distribution called the </a:t>
                          </a:r>
                          <a:r>
                            <a:rPr lang="en-US" sz="2700" b="1" i="1" dirty="0"/>
                            <a:t>Poisson distribution</a:t>
                          </a:r>
                          <a:r>
                            <a:rPr lang="en-US" sz="2700" dirty="0"/>
                            <a:t>.</a:t>
                          </a:r>
                        </a:p>
                      </a:txBody>
                      <a:tcPr marL="121920" marR="121920" marT="60960" marB="60960"/>
                    </a:tc>
                    <a:extLst>
                      <a:ext uri="{0D108BD9-81ED-4DB2-BD59-A6C34878D82A}">
                        <a16:rowId xmlns:a16="http://schemas.microsoft.com/office/drawing/2014/main" val="1811279731"/>
                      </a:ext>
                    </a:extLst>
                  </a:tr>
                </a:tbl>
              </a:graphicData>
            </a:graphic>
          </p:graphicFrame>
        </mc:Choice>
        <mc:Fallback xmlns="">
          <p:graphicFrame>
            <p:nvGraphicFramePr>
              <p:cNvPr id="21" name="Content Placeholder 5"/>
              <p:cNvGraphicFramePr>
                <a:graphicFrameLocks/>
              </p:cNvGraphicFramePr>
              <p:nvPr/>
            </p:nvGraphicFramePr>
            <p:xfrm>
              <a:off x="480000" y="1347992"/>
              <a:ext cx="11101917" cy="4348480"/>
            </p:xfrm>
            <a:graphic>
              <a:graphicData uri="http://schemas.openxmlformats.org/drawingml/2006/table">
                <a:tbl>
                  <a:tblPr firstRow="1" bandRow="1">
                    <a:tableStyleId>{5C22544A-7EE6-4342-B048-85BDC9FD1C3A}</a:tableStyleId>
                  </a:tblPr>
                  <a:tblGrid>
                    <a:gridCol w="11101917">
                      <a:extLst>
                        <a:ext uri="{9D8B030D-6E8A-4147-A177-3AD203B41FA5}">
                          <a16:colId xmlns:a16="http://schemas.microsoft.com/office/drawing/2014/main" val="2806566759"/>
                        </a:ext>
                      </a:extLst>
                    </a:gridCol>
                  </a:tblGrid>
                  <a:tr h="690880">
                    <a:tc>
                      <a:txBody>
                        <a:bodyPr/>
                        <a:lstStyle/>
                        <a:p>
                          <a:endParaRPr lang="en-US"/>
                        </a:p>
                      </a:txBody>
                      <a:tcPr marL="121920" marR="121920" marT="60960" marB="60960">
                        <a:blipFill>
                          <a:blip r:embed="rId2"/>
                          <a:stretch>
                            <a:fillRect l="-114" t="-12963" r="-343" b="-557407"/>
                          </a:stretch>
                        </a:blipFill>
                      </a:tcPr>
                    </a:tc>
                    <a:extLst>
                      <a:ext uri="{0D108BD9-81ED-4DB2-BD59-A6C34878D82A}">
                        <a16:rowId xmlns:a16="http://schemas.microsoft.com/office/drawing/2014/main" val="4282699494"/>
                      </a:ext>
                    </a:extLst>
                  </a:tr>
                  <a:tr h="944880">
                    <a:tc>
                      <a:txBody>
                        <a:bodyPr/>
                        <a:lstStyle/>
                        <a:p>
                          <a:endParaRPr lang="en-US"/>
                        </a:p>
                      </a:txBody>
                      <a:tcPr marL="121920" marR="121920" marT="60960" marB="60960">
                        <a:blipFill>
                          <a:blip r:embed="rId2"/>
                          <a:stretch>
                            <a:fillRect l="-114" t="-81333" r="-343" b="-301333"/>
                          </a:stretch>
                        </a:blipFill>
                      </a:tcPr>
                    </a:tc>
                    <a:extLst>
                      <a:ext uri="{0D108BD9-81ED-4DB2-BD59-A6C34878D82A}">
                        <a16:rowId xmlns:a16="http://schemas.microsoft.com/office/drawing/2014/main" val="2257841623"/>
                      </a:ext>
                    </a:extLst>
                  </a:tr>
                  <a:tr h="1767840">
                    <a:tc>
                      <a:txBody>
                        <a:bodyPr/>
                        <a:lstStyle/>
                        <a:p>
                          <a:endParaRPr lang="en-US"/>
                        </a:p>
                      </a:txBody>
                      <a:tcPr marL="121920" marR="121920" marT="60960" marB="60960">
                        <a:blipFill>
                          <a:blip r:embed="rId2"/>
                          <a:stretch>
                            <a:fillRect l="-114" t="-97842" r="-343" b="-62590"/>
                          </a:stretch>
                        </a:blipFill>
                      </a:tcPr>
                    </a:tc>
                    <a:extLst>
                      <a:ext uri="{0D108BD9-81ED-4DB2-BD59-A6C34878D82A}">
                        <a16:rowId xmlns:a16="http://schemas.microsoft.com/office/drawing/2014/main" val="35514891"/>
                      </a:ext>
                    </a:extLst>
                  </a:tr>
                  <a:tr h="944880">
                    <a:tc>
                      <a:txBody>
                        <a:bodyPr/>
                        <a:lstStyle/>
                        <a:p>
                          <a:pPr marL="0" marR="0" lvl="0" indent="0" algn="l" defTabSz="457200" rtl="0" eaLnBrk="1" fontAlgn="auto" latinLnBrk="0" hangingPunct="1">
                            <a:lnSpc>
                              <a:spcPct val="100000"/>
                            </a:lnSpc>
                            <a:spcBef>
                              <a:spcPts val="0"/>
                            </a:spcBef>
                            <a:spcAft>
                              <a:spcPts val="0"/>
                            </a:spcAft>
                            <a:buClrTx/>
                            <a:buSzTx/>
                            <a:buFont typeface="+mj-lt"/>
                            <a:buNone/>
                            <a:tabLst/>
                            <a:defRPr/>
                          </a:pPr>
                          <a:r>
                            <a:rPr lang="en-US" sz="2700" dirty="0"/>
                            <a:t>The number of ‘events’ during a Poisson Process is captured by the probability distribution called the </a:t>
                          </a:r>
                          <a:r>
                            <a:rPr lang="en-US" sz="2700" b="1" i="1" dirty="0"/>
                            <a:t>Poisson distribution</a:t>
                          </a:r>
                          <a:r>
                            <a:rPr lang="en-US" sz="2700" dirty="0"/>
                            <a:t>.</a:t>
                          </a:r>
                        </a:p>
                      </a:txBody>
                      <a:tcPr marL="121920" marR="121920" marT="60960" marB="60960"/>
                    </a:tc>
                    <a:extLst>
                      <a:ext uri="{0D108BD9-81ED-4DB2-BD59-A6C34878D82A}">
                        <a16:rowId xmlns:a16="http://schemas.microsoft.com/office/drawing/2014/main" val="1811279731"/>
                      </a:ext>
                    </a:extLst>
                  </a:tr>
                </a:tbl>
              </a:graphicData>
            </a:graphic>
          </p:graphicFrame>
        </mc:Fallback>
      </mc:AlternateContent>
    </p:spTree>
    <p:extLst>
      <p:ext uri="{BB962C8B-B14F-4D97-AF65-F5344CB8AC3E}">
        <p14:creationId xmlns:p14="http://schemas.microsoft.com/office/powerpoint/2010/main" val="33553377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6092" y="1"/>
            <a:ext cx="4525907" cy="1508636"/>
          </a:xfrm>
          <a:prstGeom prst="rect">
            <a:avLst/>
          </a:prstGeom>
        </p:spPr>
      </p:pic>
      <p:sp>
        <p:nvSpPr>
          <p:cNvPr id="266" name="PlaceHolder 1"/>
          <p:cNvSpPr>
            <a:spLocks noGrp="1"/>
          </p:cNvSpPr>
          <p:nvPr>
            <p:ph type="title"/>
          </p:nvPr>
        </p:nvSpPr>
        <p:spPr>
          <a:prstGeom prst="rect">
            <a:avLst/>
          </a:prstGeom>
          <a:noFill/>
          <a:ln w="0">
            <a:noFill/>
          </a:ln>
        </p:spPr>
        <p:txBody>
          <a:bodyPr vert="horz" lIns="0" tIns="0" rIns="0" bIns="0" rtlCol="0" anchor="t" anchorCtr="0">
            <a:noAutofit/>
          </a:bodyPr>
          <a:lstStyle/>
          <a:p>
            <a:r>
              <a:rPr lang="en-US" spc="-1" dirty="0">
                <a:solidFill>
                  <a:srgbClr val="00A2DB"/>
                </a:solidFill>
              </a:rPr>
              <a:t>Poisson Process &amp; Distribution</a:t>
            </a:r>
            <a:endParaRPr lang="nl-NL" b="0" spc="-1" dirty="0">
              <a:solidFill>
                <a:srgbClr val="001C3D"/>
              </a:solidFill>
              <a:latin typeface="Calibri"/>
            </a:endParaRPr>
          </a:p>
        </p:txBody>
      </p:sp>
      <mc:AlternateContent xmlns:mc="http://schemas.openxmlformats.org/markup-compatibility/2006" xmlns:a14="http://schemas.microsoft.com/office/drawing/2010/main">
        <mc:Choice Requires="a14">
          <p:graphicFrame>
            <p:nvGraphicFramePr>
              <p:cNvPr id="9" name="Content Placeholder 5"/>
              <p:cNvGraphicFramePr>
                <a:graphicFrameLocks/>
              </p:cNvGraphicFramePr>
              <p:nvPr/>
            </p:nvGraphicFramePr>
            <p:xfrm>
              <a:off x="480000" y="1347992"/>
              <a:ext cx="11101917" cy="2434273"/>
            </p:xfrm>
            <a:graphic>
              <a:graphicData uri="http://schemas.openxmlformats.org/drawingml/2006/table">
                <a:tbl>
                  <a:tblPr firstRow="1" bandRow="1">
                    <a:tableStyleId>{5C22544A-7EE6-4342-B048-85BDC9FD1C3A}</a:tableStyleId>
                  </a:tblPr>
                  <a:tblGrid>
                    <a:gridCol w="11101917">
                      <a:extLst>
                        <a:ext uri="{9D8B030D-6E8A-4147-A177-3AD203B41FA5}">
                          <a16:colId xmlns:a16="http://schemas.microsoft.com/office/drawing/2014/main" val="2806566759"/>
                        </a:ext>
                      </a:extLst>
                    </a:gridCol>
                  </a:tblGrid>
                  <a:tr h="690880">
                    <a:tc>
                      <a:txBody>
                        <a:bodyPr/>
                        <a:lstStyle/>
                        <a:p>
                          <a:r>
                            <a:rPr lang="en-US" sz="3700" dirty="0"/>
                            <a:t>Poisson Distribution</a:t>
                          </a:r>
                        </a:p>
                      </a:txBody>
                      <a:tcPr marL="121920" marR="121920" marT="60960" marB="60960"/>
                    </a:tc>
                    <a:extLst>
                      <a:ext uri="{0D108BD9-81ED-4DB2-BD59-A6C34878D82A}">
                        <a16:rowId xmlns:a16="http://schemas.microsoft.com/office/drawing/2014/main" val="4282699494"/>
                      </a:ext>
                    </a:extLst>
                  </a:tr>
                  <a:tr h="1723475">
                    <a:tc>
                      <a:txBody>
                        <a:bodyPr/>
                        <a:lstStyle/>
                        <a:p>
                          <a:pPr marL="0" indent="0">
                            <a:buFont typeface="Arial" panose="020B0604020202020204" pitchFamily="34" charset="0"/>
                            <a:buNone/>
                          </a:pPr>
                          <a:r>
                            <a:rPr lang="en-US" sz="2700" dirty="0"/>
                            <a:t>If we have a </a:t>
                          </a:r>
                          <a:r>
                            <a:rPr lang="en-US" sz="2700" b="1" i="1" dirty="0"/>
                            <a:t>Poisson</a:t>
                          </a:r>
                          <a:r>
                            <a:rPr lang="en-US" sz="2700" b="1" i="1" baseline="0" dirty="0"/>
                            <a:t> Process </a:t>
                          </a:r>
                          <a:r>
                            <a:rPr lang="en-US" sz="2700" baseline="0" dirty="0"/>
                            <a:t>with rate </a:t>
                          </a:r>
                          <a14:m>
                            <m:oMath xmlns:m="http://schemas.openxmlformats.org/officeDocument/2006/math">
                              <m:r>
                                <a:rPr lang="en-US" sz="2700" b="0" i="1" smtClean="0">
                                  <a:latin typeface="Cambria Math" panose="02040503050406030204" pitchFamily="18" charset="0"/>
                                </a:rPr>
                                <m:t>𝜆</m:t>
                              </m:r>
                            </m:oMath>
                          </a14:m>
                          <a:r>
                            <a:rPr lang="en-US" sz="2700" baseline="0" dirty="0"/>
                            <a:t> and we define </a:t>
                          </a:r>
                          <a14:m>
                            <m:oMath xmlns:m="http://schemas.openxmlformats.org/officeDocument/2006/math">
                              <m:r>
                                <a:rPr lang="en-US" sz="2700" b="0" i="1" smtClean="0">
                                  <a:latin typeface="Cambria Math" panose="02040503050406030204" pitchFamily="18" charset="0"/>
                                </a:rPr>
                                <m:t>𝑋</m:t>
                              </m:r>
                            </m:oMath>
                          </a14:m>
                          <a:r>
                            <a:rPr lang="en-US" sz="2700" baseline="0" dirty="0"/>
                            <a:t> to be the number of arrivals in the </a:t>
                          </a:r>
                          <a:r>
                            <a:rPr lang="en-US" sz="2700" dirty="0">
                              <a:ea typeface="Cambria Math" panose="02040503050406030204" pitchFamily="18" charset="0"/>
                            </a:rPr>
                            <a:t>interval </a:t>
                          </a:r>
                          <a14:m>
                            <m:oMath xmlns:m="http://schemas.openxmlformats.org/officeDocument/2006/math">
                              <m:d>
                                <m:dPr>
                                  <m:begChr m:val="["/>
                                  <m:ctrlPr>
                                    <a:rPr lang="en-US" sz="2700" i="1" dirty="0" smtClean="0">
                                      <a:latin typeface="Cambria Math" panose="02040503050406030204" pitchFamily="18" charset="0"/>
                                      <a:ea typeface="Cambria Math" panose="02040503050406030204" pitchFamily="18" charset="0"/>
                                    </a:rPr>
                                  </m:ctrlPr>
                                </m:dPr>
                                <m:e>
                                  <m:r>
                                    <a:rPr lang="en-US" sz="2700" i="1" dirty="0" smtClean="0">
                                      <a:latin typeface="Cambria Math" panose="02040503050406030204" pitchFamily="18" charset="0"/>
                                      <a:ea typeface="Cambria Math" panose="02040503050406030204" pitchFamily="18" charset="0"/>
                                    </a:rPr>
                                    <m:t>0,</m:t>
                                  </m:r>
                                  <m:r>
                                    <a:rPr lang="en-US" sz="2700" i="1" dirty="0" smtClean="0">
                                      <a:latin typeface="Cambria Math" panose="02040503050406030204" pitchFamily="18" charset="0"/>
                                      <a:ea typeface="Cambria Math" panose="02040503050406030204" pitchFamily="18" charset="0"/>
                                    </a:rPr>
                                    <m:t>𝑡</m:t>
                                  </m:r>
                                </m:e>
                              </m:d>
                            </m:oMath>
                          </a14:m>
                          <a:r>
                            <a:rPr lang="en-US" sz="2700" dirty="0">
                              <a:ea typeface="Cambria Math" panose="02040503050406030204" pitchFamily="18" charset="0"/>
                            </a:rPr>
                            <a:t>, then </a:t>
                          </a:r>
                          <a14:m>
                            <m:oMath xmlns:m="http://schemas.openxmlformats.org/officeDocument/2006/math">
                              <m:r>
                                <a:rPr lang="en-US" sz="2700" b="0" i="1" smtClean="0">
                                  <a:latin typeface="Cambria Math" panose="02040503050406030204" pitchFamily="18" charset="0"/>
                                </a:rPr>
                                <m:t>𝑋</m:t>
                              </m:r>
                              <m:r>
                                <a:rPr lang="en-US" sz="2700" b="0" i="1" smtClean="0">
                                  <a:latin typeface="Cambria Math" panose="02040503050406030204" pitchFamily="18" charset="0"/>
                                </a:rPr>
                                <m:t>∼</m:t>
                              </m:r>
                              <m:r>
                                <a:rPr lang="en-US" sz="2700" b="0" i="1" smtClean="0">
                                  <a:latin typeface="Cambria Math" panose="02040503050406030204" pitchFamily="18" charset="0"/>
                                </a:rPr>
                                <m:t>𝑃𝑜𝑖</m:t>
                              </m:r>
                              <m:d>
                                <m:dPr>
                                  <m:ctrlPr>
                                    <a:rPr lang="en-US" sz="2700" i="1" smtClean="0">
                                      <a:latin typeface="Cambria Math" panose="02040503050406030204" pitchFamily="18" charset="0"/>
                                    </a:rPr>
                                  </m:ctrlPr>
                                </m:dPr>
                                <m:e>
                                  <m:r>
                                    <a:rPr lang="en-US" sz="2700" b="0" i="1" smtClean="0">
                                      <a:latin typeface="Cambria Math" panose="02040503050406030204" pitchFamily="18" charset="0"/>
                                    </a:rPr>
                                    <m:t>𝜆</m:t>
                                  </m:r>
                                  <m:r>
                                    <a:rPr lang="en-US" sz="2700" b="0" i="1" smtClean="0">
                                      <a:latin typeface="Cambria Math" panose="02040503050406030204" pitchFamily="18" charset="0"/>
                                    </a:rPr>
                                    <m:t>𝑡</m:t>
                                  </m:r>
                                </m:e>
                              </m:d>
                            </m:oMath>
                          </a14:m>
                          <a:r>
                            <a:rPr lang="en-US" sz="2700" dirty="0">
                              <a:ea typeface="Cambria Math" panose="02040503050406030204" pitchFamily="18" charset="0"/>
                            </a:rPr>
                            <a:t> and</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700" b="0" i="1" smtClean="0">
                                    <a:latin typeface="Cambria Math" panose="02040503050406030204" pitchFamily="18" charset="0"/>
                                  </a:rPr>
                                  <m:t>𝑃</m:t>
                                </m:r>
                                <m:d>
                                  <m:dPr>
                                    <m:ctrlPr>
                                      <a:rPr lang="en-US" sz="2700" b="0" i="1" smtClean="0">
                                        <a:latin typeface="Cambria Math" panose="02040503050406030204" pitchFamily="18" charset="0"/>
                                      </a:rPr>
                                    </m:ctrlPr>
                                  </m:dPr>
                                  <m:e>
                                    <m:r>
                                      <a:rPr lang="en-US" sz="2700" b="0" i="1" smtClean="0">
                                        <a:latin typeface="Cambria Math" panose="02040503050406030204" pitchFamily="18" charset="0"/>
                                      </a:rPr>
                                      <m:t>𝑋</m:t>
                                    </m:r>
                                    <m:r>
                                      <a:rPr lang="en-US" sz="2700" b="0" i="1" smtClean="0">
                                        <a:latin typeface="Cambria Math" panose="02040503050406030204" pitchFamily="18" charset="0"/>
                                      </a:rPr>
                                      <m:t>=</m:t>
                                    </m:r>
                                    <m:r>
                                      <a:rPr lang="en-US" sz="2700" b="0" i="1" smtClean="0">
                                        <a:latin typeface="Cambria Math" panose="02040503050406030204" pitchFamily="18" charset="0"/>
                                      </a:rPr>
                                      <m:t>𝑥</m:t>
                                    </m:r>
                                  </m:e>
                                </m:d>
                                <m:r>
                                  <a:rPr lang="en-US" sz="2700" i="1" smtClean="0">
                                    <a:latin typeface="Cambria Math" panose="02040503050406030204" pitchFamily="18" charset="0"/>
                                  </a:rPr>
                                  <m:t>=</m:t>
                                </m:r>
                                <m:sSup>
                                  <m:sSupPr>
                                    <m:ctrlPr>
                                      <a:rPr lang="en-US" sz="2700" b="0" i="1" smtClean="0">
                                        <a:latin typeface="Cambria Math" panose="02040503050406030204" pitchFamily="18" charset="0"/>
                                        <a:ea typeface="Cambria Math" panose="02040503050406030204" pitchFamily="18" charset="0"/>
                                      </a:rPr>
                                    </m:ctrlPr>
                                  </m:sSupPr>
                                  <m:e>
                                    <m:r>
                                      <a:rPr lang="en-US" sz="2700" b="0" i="1" smtClean="0">
                                        <a:latin typeface="Cambria Math" panose="02040503050406030204" pitchFamily="18" charset="0"/>
                                        <a:ea typeface="Cambria Math" panose="02040503050406030204" pitchFamily="18" charset="0"/>
                                      </a:rPr>
                                      <m:t>𝑒</m:t>
                                    </m:r>
                                  </m:e>
                                  <m:sup>
                                    <m:r>
                                      <a:rPr lang="en-US" sz="2700" b="0" i="1" smtClean="0">
                                        <a:latin typeface="Cambria Math" panose="02040503050406030204" pitchFamily="18" charset="0"/>
                                        <a:ea typeface="Cambria Math" panose="02040503050406030204" pitchFamily="18" charset="0"/>
                                      </a:rPr>
                                      <m:t>−</m:t>
                                    </m:r>
                                    <m:r>
                                      <a:rPr lang="en-US" sz="2700" b="0" i="1" smtClean="0">
                                        <a:latin typeface="Cambria Math" panose="02040503050406030204" pitchFamily="18" charset="0"/>
                                        <a:ea typeface="Cambria Math" panose="02040503050406030204" pitchFamily="18" charset="0"/>
                                      </a:rPr>
                                      <m:t>𝜆</m:t>
                                    </m:r>
                                    <m:r>
                                      <a:rPr lang="en-US" sz="2700" b="0" i="1" smtClean="0">
                                        <a:latin typeface="Cambria Math" panose="02040503050406030204" pitchFamily="18" charset="0"/>
                                        <a:ea typeface="Cambria Math" panose="02040503050406030204" pitchFamily="18" charset="0"/>
                                      </a:rPr>
                                      <m:t>𝑡</m:t>
                                    </m:r>
                                  </m:sup>
                                </m:sSup>
                                <m:f>
                                  <m:fPr>
                                    <m:ctrlPr>
                                      <a:rPr lang="en-US" sz="2700" b="0" i="1" smtClean="0">
                                        <a:latin typeface="Cambria Math" panose="02040503050406030204" pitchFamily="18" charset="0"/>
                                        <a:ea typeface="Cambria Math" panose="02040503050406030204" pitchFamily="18" charset="0"/>
                                      </a:rPr>
                                    </m:ctrlPr>
                                  </m:fPr>
                                  <m:num>
                                    <m:sSup>
                                      <m:sSupPr>
                                        <m:ctrlPr>
                                          <a:rPr lang="en-US" sz="2700" b="0" i="1" smtClean="0">
                                            <a:latin typeface="Cambria Math" panose="02040503050406030204" pitchFamily="18" charset="0"/>
                                            <a:ea typeface="Cambria Math" panose="02040503050406030204" pitchFamily="18" charset="0"/>
                                          </a:rPr>
                                        </m:ctrlPr>
                                      </m:sSupPr>
                                      <m:e>
                                        <m:d>
                                          <m:dPr>
                                            <m:ctrlPr>
                                              <a:rPr lang="en-US" sz="2700" b="0" i="1" smtClean="0">
                                                <a:latin typeface="Cambria Math" panose="02040503050406030204" pitchFamily="18" charset="0"/>
                                                <a:ea typeface="Cambria Math" panose="02040503050406030204" pitchFamily="18" charset="0"/>
                                              </a:rPr>
                                            </m:ctrlPr>
                                          </m:dPr>
                                          <m:e>
                                            <m:r>
                                              <a:rPr lang="en-US" sz="2700" b="0" i="1" smtClean="0">
                                                <a:latin typeface="Cambria Math" panose="02040503050406030204" pitchFamily="18" charset="0"/>
                                                <a:ea typeface="Cambria Math" panose="02040503050406030204" pitchFamily="18" charset="0"/>
                                              </a:rPr>
                                              <m:t>𝜆</m:t>
                                            </m:r>
                                            <m:r>
                                              <a:rPr lang="en-US" sz="2700" b="0" i="1" smtClean="0">
                                                <a:latin typeface="Cambria Math" panose="02040503050406030204" pitchFamily="18" charset="0"/>
                                                <a:ea typeface="Cambria Math" panose="02040503050406030204" pitchFamily="18" charset="0"/>
                                              </a:rPr>
                                              <m:t>𝑡</m:t>
                                            </m:r>
                                          </m:e>
                                        </m:d>
                                      </m:e>
                                      <m:sup>
                                        <m:r>
                                          <a:rPr lang="en-US" sz="2700" b="0" i="1" smtClean="0">
                                            <a:latin typeface="Cambria Math" panose="02040503050406030204" pitchFamily="18" charset="0"/>
                                            <a:ea typeface="Cambria Math" panose="02040503050406030204" pitchFamily="18" charset="0"/>
                                          </a:rPr>
                                          <m:t>𝑥</m:t>
                                        </m:r>
                                      </m:sup>
                                    </m:sSup>
                                  </m:num>
                                  <m:den>
                                    <m:r>
                                      <a:rPr lang="en-US" sz="2700" b="0" i="1" smtClean="0">
                                        <a:latin typeface="Cambria Math" panose="02040503050406030204" pitchFamily="18" charset="0"/>
                                        <a:ea typeface="Cambria Math" panose="02040503050406030204" pitchFamily="18" charset="0"/>
                                      </a:rPr>
                                      <m:t>𝑥</m:t>
                                    </m:r>
                                    <m:r>
                                      <a:rPr lang="en-US" sz="2700" b="0" i="1" smtClean="0">
                                        <a:latin typeface="Cambria Math" panose="02040503050406030204" pitchFamily="18" charset="0"/>
                                        <a:ea typeface="Cambria Math" panose="02040503050406030204" pitchFamily="18" charset="0"/>
                                      </a:rPr>
                                      <m:t>!</m:t>
                                    </m:r>
                                  </m:den>
                                </m:f>
                                <m:r>
                                  <a:rPr lang="en-US" sz="2700" b="0" i="1" smtClean="0">
                                    <a:latin typeface="Cambria Math" panose="02040503050406030204" pitchFamily="18" charset="0"/>
                                  </a:rPr>
                                  <m:t>,  </m:t>
                                </m:r>
                                <m:r>
                                  <a:rPr lang="en-US" sz="2700" b="0" i="1" smtClean="0">
                                    <a:latin typeface="Cambria Math" panose="02040503050406030204" pitchFamily="18" charset="0"/>
                                  </a:rPr>
                                  <m:t>𝑥</m:t>
                                </m:r>
                                <m:r>
                                  <a:rPr lang="en-US" sz="2700" b="0" i="1" smtClean="0">
                                    <a:latin typeface="Cambria Math" panose="02040503050406030204" pitchFamily="18" charset="0"/>
                                  </a:rPr>
                                  <m:t>∈</m:t>
                                </m:r>
                                <m:r>
                                  <a:rPr lang="en-US" sz="2700" b="0" i="1" smtClean="0">
                                    <a:latin typeface="Cambria Math" panose="02040503050406030204" pitchFamily="18" charset="0"/>
                                    <a:ea typeface="Cambria Math" panose="02040503050406030204" pitchFamily="18" charset="0"/>
                                  </a:rPr>
                                  <m:t>ℕ</m:t>
                                </m:r>
                              </m:oMath>
                            </m:oMathPara>
                          </a14:m>
                          <a:endParaRPr lang="en-US" sz="2700" b="0" i="0" baseline="0" dirty="0"/>
                        </a:p>
                      </a:txBody>
                      <a:tcPr marL="121920" marR="121920" marT="60960" marB="60960"/>
                    </a:tc>
                    <a:extLst>
                      <a:ext uri="{0D108BD9-81ED-4DB2-BD59-A6C34878D82A}">
                        <a16:rowId xmlns:a16="http://schemas.microsoft.com/office/drawing/2014/main" val="2257841623"/>
                      </a:ext>
                    </a:extLst>
                  </a:tr>
                </a:tbl>
              </a:graphicData>
            </a:graphic>
          </p:graphicFrame>
        </mc:Choice>
        <mc:Fallback xmlns="">
          <p:graphicFrame>
            <p:nvGraphicFramePr>
              <p:cNvPr id="9" name="Content Placeholder 5"/>
              <p:cNvGraphicFramePr>
                <a:graphicFrameLocks/>
              </p:cNvGraphicFramePr>
              <p:nvPr/>
            </p:nvGraphicFramePr>
            <p:xfrm>
              <a:off x="480000" y="1347992"/>
              <a:ext cx="11101917" cy="2434273"/>
            </p:xfrm>
            <a:graphic>
              <a:graphicData uri="http://schemas.openxmlformats.org/drawingml/2006/table">
                <a:tbl>
                  <a:tblPr firstRow="1" bandRow="1">
                    <a:tableStyleId>{5C22544A-7EE6-4342-B048-85BDC9FD1C3A}</a:tableStyleId>
                  </a:tblPr>
                  <a:tblGrid>
                    <a:gridCol w="11101917">
                      <a:extLst>
                        <a:ext uri="{9D8B030D-6E8A-4147-A177-3AD203B41FA5}">
                          <a16:colId xmlns:a16="http://schemas.microsoft.com/office/drawing/2014/main" val="2806566759"/>
                        </a:ext>
                      </a:extLst>
                    </a:gridCol>
                  </a:tblGrid>
                  <a:tr h="690880">
                    <a:tc>
                      <a:txBody>
                        <a:bodyPr/>
                        <a:lstStyle/>
                        <a:p>
                          <a:r>
                            <a:rPr lang="en-US" sz="3700" dirty="0"/>
                            <a:t>Poisson Distribution</a:t>
                          </a:r>
                        </a:p>
                      </a:txBody>
                      <a:tcPr marL="121920" marR="121920" marT="60960" marB="60960"/>
                    </a:tc>
                    <a:extLst>
                      <a:ext uri="{0D108BD9-81ED-4DB2-BD59-A6C34878D82A}">
                        <a16:rowId xmlns:a16="http://schemas.microsoft.com/office/drawing/2014/main" val="4282699494"/>
                      </a:ext>
                    </a:extLst>
                  </a:tr>
                  <a:tr h="1743393">
                    <a:tc>
                      <a:txBody>
                        <a:bodyPr/>
                        <a:lstStyle/>
                        <a:p>
                          <a:endParaRPr lang="en-US"/>
                        </a:p>
                      </a:txBody>
                      <a:tcPr marL="121920" marR="121920" marT="60960" marB="60960">
                        <a:blipFill>
                          <a:blip r:embed="rId3"/>
                          <a:stretch>
                            <a:fillRect l="-114" t="-44203" r="-343" b="-2899"/>
                          </a:stretch>
                        </a:blipFill>
                      </a:tcPr>
                    </a:tc>
                    <a:extLst>
                      <a:ext uri="{0D108BD9-81ED-4DB2-BD59-A6C34878D82A}">
                        <a16:rowId xmlns:a16="http://schemas.microsoft.com/office/drawing/2014/main" val="2257841623"/>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0" name="Content Placeholder 3"/>
              <p:cNvGraphicFramePr>
                <a:graphicFrameLocks/>
              </p:cNvGraphicFramePr>
              <p:nvPr/>
            </p:nvGraphicFramePr>
            <p:xfrm>
              <a:off x="480001" y="3940079"/>
              <a:ext cx="11101916" cy="1224280"/>
            </p:xfrm>
            <a:graphic>
              <a:graphicData uri="http://schemas.openxmlformats.org/drawingml/2006/table">
                <a:tbl>
                  <a:tblPr firstRow="1" bandRow="1">
                    <a:tableStyleId>{21E4AEA4-8DFA-4A89-87EB-49C32662AFE0}</a:tableStyleId>
                  </a:tblPr>
                  <a:tblGrid>
                    <a:gridCol w="11101916">
                      <a:extLst>
                        <a:ext uri="{9D8B030D-6E8A-4147-A177-3AD203B41FA5}">
                          <a16:colId xmlns:a16="http://schemas.microsoft.com/office/drawing/2014/main" val="3077495686"/>
                        </a:ext>
                      </a:extLst>
                    </a:gridCol>
                  </a:tblGrid>
                  <a:tr h="690880">
                    <a:tc>
                      <a:txBody>
                        <a:bodyPr/>
                        <a:lstStyle/>
                        <a:p>
                          <a:r>
                            <a:rPr lang="en-US" sz="3700" dirty="0"/>
                            <a:t>Descriptive statistics:</a:t>
                          </a:r>
                          <a:r>
                            <a:rPr lang="en-US" sz="3700" baseline="0" dirty="0"/>
                            <a:t> </a:t>
                          </a:r>
                          <a14:m>
                            <m:oMath xmlns:m="http://schemas.openxmlformats.org/officeDocument/2006/math">
                              <m:r>
                                <a:rPr lang="en-US" sz="3700" b="0" i="1" smtClean="0">
                                  <a:latin typeface="Cambria Math" panose="02040503050406030204" pitchFamily="18" charset="0"/>
                                </a:rPr>
                                <m:t>𝑋</m:t>
                              </m:r>
                              <m:r>
                                <a:rPr lang="en-US" sz="3700" b="0" i="1" smtClean="0">
                                  <a:latin typeface="Cambria Math" panose="02040503050406030204" pitchFamily="18" charset="0"/>
                                </a:rPr>
                                <m:t>∼</m:t>
                              </m:r>
                              <m:r>
                                <a:rPr lang="en-US" sz="3700" b="0" i="1" smtClean="0">
                                  <a:latin typeface="Cambria Math" panose="02040503050406030204" pitchFamily="18" charset="0"/>
                                </a:rPr>
                                <m:t>𝑃𝑜𝑖</m:t>
                              </m:r>
                              <m:d>
                                <m:dPr>
                                  <m:ctrlPr>
                                    <a:rPr lang="en-US" sz="3700" i="1" smtClean="0">
                                      <a:latin typeface="Cambria Math" panose="02040503050406030204" pitchFamily="18" charset="0"/>
                                    </a:rPr>
                                  </m:ctrlPr>
                                </m:dPr>
                                <m:e>
                                  <m:r>
                                    <a:rPr lang="en-US" sz="3700" b="0" i="1" smtClean="0">
                                      <a:latin typeface="Cambria Math" panose="02040503050406030204" pitchFamily="18" charset="0"/>
                                    </a:rPr>
                                    <m:t>𝜆</m:t>
                                  </m:r>
                                  <m:r>
                                    <a:rPr lang="en-US" sz="3700" b="0" i="1" smtClean="0">
                                      <a:latin typeface="Cambria Math" panose="02040503050406030204" pitchFamily="18" charset="0"/>
                                    </a:rPr>
                                    <m:t>𝑡</m:t>
                                  </m:r>
                                </m:e>
                              </m:d>
                            </m:oMath>
                          </a14:m>
                          <a:endParaRPr lang="en-US" sz="3700" dirty="0"/>
                        </a:p>
                      </a:txBody>
                      <a:tcPr marL="121920" marR="121920" marT="60960" marB="60960"/>
                    </a:tc>
                    <a:extLst>
                      <a:ext uri="{0D108BD9-81ED-4DB2-BD59-A6C34878D82A}">
                        <a16:rowId xmlns:a16="http://schemas.microsoft.com/office/drawing/2014/main" val="1209543202"/>
                      </a:ext>
                    </a:extLst>
                  </a:tr>
                  <a:tr h="528320">
                    <a:tc>
                      <a:txBody>
                        <a:bodyPr/>
                        <a:lstStyle/>
                        <a:p>
                          <a:pPr/>
                          <a14:m>
                            <m:oMathPara xmlns:m="http://schemas.openxmlformats.org/officeDocument/2006/math">
                              <m:oMathParaPr>
                                <m:jc m:val="centerGroup"/>
                              </m:oMathParaPr>
                              <m:oMath xmlns:m="http://schemas.openxmlformats.org/officeDocument/2006/math">
                                <m:r>
                                  <a:rPr lang="en-US" sz="2700" smtClean="0">
                                    <a:latin typeface="Cambria Math" panose="02040503050406030204" pitchFamily="18" charset="0"/>
                                  </a:rPr>
                                  <m:t>𝐸</m:t>
                                </m:r>
                                <m:d>
                                  <m:dPr>
                                    <m:begChr m:val="["/>
                                    <m:endChr m:val="]"/>
                                    <m:ctrlPr>
                                      <a:rPr lang="en-US" sz="2700" i="1" smtClean="0">
                                        <a:latin typeface="Cambria Math" panose="02040503050406030204" pitchFamily="18" charset="0"/>
                                      </a:rPr>
                                    </m:ctrlPr>
                                  </m:dPr>
                                  <m:e>
                                    <m:r>
                                      <a:rPr lang="en-US" sz="2700" smtClean="0">
                                        <a:latin typeface="Cambria Math" panose="02040503050406030204" pitchFamily="18" charset="0"/>
                                      </a:rPr>
                                      <m:t>𝑋</m:t>
                                    </m:r>
                                  </m:e>
                                </m:d>
                                <m:r>
                                  <a:rPr lang="en-US" sz="2700" smtClean="0">
                                    <a:latin typeface="Cambria Math" panose="02040503050406030204" pitchFamily="18" charset="0"/>
                                  </a:rPr>
                                  <m:t>=</m:t>
                                </m:r>
                                <m:r>
                                  <a:rPr lang="en-US" sz="2700" b="0" i="1" smtClean="0">
                                    <a:latin typeface="Cambria Math" panose="02040503050406030204" pitchFamily="18" charset="0"/>
                                  </a:rPr>
                                  <m:t>𝜆</m:t>
                                </m:r>
                                <m:r>
                                  <a:rPr lang="en-US" sz="2700" b="0" i="1" smtClean="0">
                                    <a:latin typeface="Cambria Math" panose="02040503050406030204" pitchFamily="18" charset="0"/>
                                  </a:rPr>
                                  <m:t>𝑡</m:t>
                                </m:r>
                                <m:r>
                                  <a:rPr lang="en-US" sz="2700" b="0" i="0" smtClean="0">
                                    <a:latin typeface="Cambria Math" panose="02040503050406030204" pitchFamily="18" charset="0"/>
                                  </a:rPr>
                                  <m:t>, </m:t>
                                </m:r>
                                <m:r>
                                  <a:rPr lang="en-US" sz="2700" b="0" i="1" smtClean="0">
                                    <a:latin typeface="Cambria Math" panose="02040503050406030204" pitchFamily="18" charset="0"/>
                                  </a:rPr>
                                  <m:t>𝑉</m:t>
                                </m:r>
                                <m:r>
                                  <a:rPr lang="en-US" sz="2700" smtClean="0">
                                    <a:latin typeface="Cambria Math" panose="02040503050406030204" pitchFamily="18" charset="0"/>
                                  </a:rPr>
                                  <m:t>𝑎𝑟</m:t>
                                </m:r>
                                <m:d>
                                  <m:dPr>
                                    <m:ctrlPr>
                                      <a:rPr lang="en-US" sz="2700" i="1" smtClean="0">
                                        <a:latin typeface="Cambria Math" panose="02040503050406030204" pitchFamily="18" charset="0"/>
                                      </a:rPr>
                                    </m:ctrlPr>
                                  </m:dPr>
                                  <m:e>
                                    <m:r>
                                      <a:rPr lang="en-US" sz="2700" smtClean="0">
                                        <a:latin typeface="Cambria Math" panose="02040503050406030204" pitchFamily="18" charset="0"/>
                                      </a:rPr>
                                      <m:t>𝑋</m:t>
                                    </m:r>
                                  </m:e>
                                </m:d>
                                <m:r>
                                  <a:rPr lang="en-US" sz="2700" smtClean="0">
                                    <a:latin typeface="Cambria Math" panose="02040503050406030204" pitchFamily="18" charset="0"/>
                                  </a:rPr>
                                  <m:t>=</m:t>
                                </m:r>
                                <m:r>
                                  <a:rPr lang="en-US" sz="2700" b="0" i="1" smtClean="0">
                                    <a:latin typeface="Cambria Math" panose="02040503050406030204" pitchFamily="18" charset="0"/>
                                  </a:rPr>
                                  <m:t>𝜆</m:t>
                                </m:r>
                                <m:r>
                                  <a:rPr lang="en-US" sz="2700" b="0" i="1" smtClean="0">
                                    <a:latin typeface="Cambria Math" panose="02040503050406030204" pitchFamily="18" charset="0"/>
                                  </a:rPr>
                                  <m:t>𝑡</m:t>
                                </m:r>
                              </m:oMath>
                            </m:oMathPara>
                          </a14:m>
                          <a:endParaRPr lang="en-US" sz="2700" dirty="0"/>
                        </a:p>
                      </a:txBody>
                      <a:tcPr marL="121920" marR="121920" marT="60960" marB="60960"/>
                    </a:tc>
                    <a:extLst>
                      <a:ext uri="{0D108BD9-81ED-4DB2-BD59-A6C34878D82A}">
                        <a16:rowId xmlns:a16="http://schemas.microsoft.com/office/drawing/2014/main" val="184729316"/>
                      </a:ext>
                    </a:extLst>
                  </a:tr>
                </a:tbl>
              </a:graphicData>
            </a:graphic>
          </p:graphicFrame>
        </mc:Choice>
        <mc:Fallback>
          <p:graphicFrame>
            <p:nvGraphicFramePr>
              <p:cNvPr id="10" name="Content Placeholder 3"/>
              <p:cNvGraphicFramePr>
                <a:graphicFrameLocks/>
              </p:cNvGraphicFramePr>
              <p:nvPr/>
            </p:nvGraphicFramePr>
            <p:xfrm>
              <a:off x="480001" y="3940079"/>
              <a:ext cx="11101916" cy="1224280"/>
            </p:xfrm>
            <a:graphic>
              <a:graphicData uri="http://schemas.openxmlformats.org/drawingml/2006/table">
                <a:tbl>
                  <a:tblPr firstRow="1" bandRow="1">
                    <a:tableStyleId>{21E4AEA4-8DFA-4A89-87EB-49C32662AFE0}</a:tableStyleId>
                  </a:tblPr>
                  <a:tblGrid>
                    <a:gridCol w="11101916">
                      <a:extLst>
                        <a:ext uri="{9D8B030D-6E8A-4147-A177-3AD203B41FA5}">
                          <a16:colId xmlns:a16="http://schemas.microsoft.com/office/drawing/2014/main" val="3077495686"/>
                        </a:ext>
                      </a:extLst>
                    </a:gridCol>
                  </a:tblGrid>
                  <a:tr h="690880">
                    <a:tc>
                      <a:txBody>
                        <a:bodyPr/>
                        <a:lstStyle/>
                        <a:p>
                          <a:endParaRPr lang="en-NL"/>
                        </a:p>
                      </a:txBody>
                      <a:tcPr marL="121920" marR="121920" marT="60960" marB="60960">
                        <a:blipFill>
                          <a:blip r:embed="rId4"/>
                          <a:stretch>
                            <a:fillRect l="-114" t="-12727" r="-343" b="-80000"/>
                          </a:stretch>
                        </a:blipFill>
                      </a:tcPr>
                    </a:tc>
                    <a:extLst>
                      <a:ext uri="{0D108BD9-81ED-4DB2-BD59-A6C34878D82A}">
                        <a16:rowId xmlns:a16="http://schemas.microsoft.com/office/drawing/2014/main" val="1209543202"/>
                      </a:ext>
                    </a:extLst>
                  </a:tr>
                  <a:tr h="533400">
                    <a:tc>
                      <a:txBody>
                        <a:bodyPr/>
                        <a:lstStyle/>
                        <a:p>
                          <a:endParaRPr lang="en-NL"/>
                        </a:p>
                      </a:txBody>
                      <a:tcPr marL="121920" marR="121920" marT="60960" marB="60960">
                        <a:blipFill>
                          <a:blip r:embed="rId4"/>
                          <a:stretch>
                            <a:fillRect l="-114" t="-147619" r="-343" b="-4762"/>
                          </a:stretch>
                        </a:blipFill>
                      </a:tcPr>
                    </a:tc>
                    <a:extLst>
                      <a:ext uri="{0D108BD9-81ED-4DB2-BD59-A6C34878D82A}">
                        <a16:rowId xmlns:a16="http://schemas.microsoft.com/office/drawing/2014/main" val="184729316"/>
                      </a:ext>
                    </a:extLst>
                  </a:tr>
                </a:tbl>
              </a:graphicData>
            </a:graphic>
          </p:graphicFrame>
        </mc:Fallback>
      </mc:AlternateContent>
    </p:spTree>
    <p:extLst>
      <p:ext uri="{BB962C8B-B14F-4D97-AF65-F5344CB8AC3E}">
        <p14:creationId xmlns:p14="http://schemas.microsoft.com/office/powerpoint/2010/main" val="1247871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23C92-5BDA-907B-E5E0-2E8F5963432C}"/>
              </a:ext>
            </a:extLst>
          </p:cNvPr>
          <p:cNvSpPr>
            <a:spLocks noGrp="1"/>
          </p:cNvSpPr>
          <p:nvPr>
            <p:ph type="title"/>
          </p:nvPr>
        </p:nvSpPr>
        <p:spPr/>
        <p:txBody>
          <a:bodyPr>
            <a:normAutofit/>
          </a:bodyPr>
          <a:lstStyle/>
          <a:p>
            <a:r>
              <a:rPr lang="en-NL" dirty="0"/>
              <a:t>We use </a:t>
            </a:r>
            <a:r>
              <a:rPr lang="en-NL" dirty="0">
                <a:solidFill>
                  <a:schemeClr val="accent1"/>
                </a:solidFill>
              </a:rPr>
              <a:t>t</a:t>
            </a:r>
            <a:r>
              <a:rPr lang="en-NL" dirty="0"/>
              <a:t> so time can change! </a:t>
            </a:r>
            <a:r>
              <a:rPr lang="en-NL" sz="3600" i="1" u="sng" dirty="0"/>
              <a:t>(Mind the definition)</a:t>
            </a:r>
            <a:endParaRPr lang="en-NL" i="1" u="sng" dirty="0"/>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1CD1025E-0671-1378-C659-CDFE5D5741C8}"/>
                  </a:ext>
                </a:extLst>
              </p:cNvPr>
              <p:cNvSpPr txBox="1"/>
              <p:nvPr/>
            </p:nvSpPr>
            <p:spPr>
              <a:xfrm>
                <a:off x="908264" y="1718733"/>
                <a:ext cx="4612860" cy="1285032"/>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GB" sz="3200" i="1" smtClean="0"/>
                        <m:t>𝑃</m:t>
                      </m:r>
                      <m:d>
                        <m:dPr>
                          <m:ctrlPr>
                            <a:rPr lang="en-GB" sz="3200" i="1" smtClean="0">
                              <a:latin typeface="Cambria Math" panose="02040503050406030204" pitchFamily="18" charset="0"/>
                            </a:rPr>
                          </m:ctrlPr>
                        </m:dPr>
                        <m:e>
                          <m:r>
                            <a:rPr lang="en-GB" sz="3200" i="1" smtClean="0"/>
                            <m:t>𝑋</m:t>
                          </m:r>
                          <m:r>
                            <a:rPr lang="en-GB" sz="3200" i="1" smtClean="0"/>
                            <m:t>=</m:t>
                          </m:r>
                          <m:r>
                            <a:rPr lang="en-GB" sz="3200" i="1" smtClean="0"/>
                            <m:t>𝑥</m:t>
                          </m:r>
                        </m:e>
                      </m:d>
                      <m:r>
                        <a:rPr lang="en-GB" sz="3200" i="1" smtClean="0"/>
                        <m:t>=</m:t>
                      </m:r>
                      <m:f>
                        <m:fPr>
                          <m:ctrlPr>
                            <a:rPr lang="en-GB" sz="3200" i="1" smtClean="0">
                              <a:latin typeface="Cambria Math" panose="02040503050406030204" pitchFamily="18" charset="0"/>
                            </a:rPr>
                          </m:ctrlPr>
                        </m:fPr>
                        <m:num>
                          <m:sSup>
                            <m:sSupPr>
                              <m:ctrlPr>
                                <a:rPr lang="en-GB" sz="3200" i="1" smtClean="0">
                                  <a:latin typeface="Cambria Math" panose="02040503050406030204" pitchFamily="18" charset="0"/>
                                </a:rPr>
                              </m:ctrlPr>
                            </m:sSupPr>
                            <m:e>
                              <m:r>
                                <a:rPr lang="en-GB" sz="3200" i="1" smtClean="0"/>
                                <m:t>𝜆</m:t>
                              </m:r>
                            </m:e>
                            <m:sup>
                              <m:r>
                                <a:rPr lang="en-GB" sz="3200" i="1" smtClean="0"/>
                                <m:t>𝑥</m:t>
                              </m:r>
                            </m:sup>
                          </m:sSup>
                          <m:sSup>
                            <m:sSupPr>
                              <m:ctrlPr>
                                <a:rPr lang="en-GB" sz="3200" i="1" smtClean="0">
                                  <a:latin typeface="Cambria Math" panose="02040503050406030204" pitchFamily="18" charset="0"/>
                                </a:rPr>
                              </m:ctrlPr>
                            </m:sSupPr>
                            <m:e>
                              <m:r>
                                <a:rPr lang="en-GB" sz="3200" i="1" smtClean="0"/>
                                <m:t>𝑒</m:t>
                              </m:r>
                            </m:e>
                            <m:sup>
                              <m:r>
                                <a:rPr lang="en-GB" sz="3200" i="1" smtClean="0"/>
                                <m:t>−</m:t>
                              </m:r>
                              <m:r>
                                <a:rPr lang="en-GB" sz="3200" i="1" smtClean="0"/>
                                <m:t>𝜆</m:t>
                              </m:r>
                            </m:sup>
                          </m:sSup>
                        </m:num>
                        <m:den>
                          <m:r>
                            <a:rPr lang="en-GB" sz="3200" i="1" smtClean="0"/>
                            <m:t>𝑥</m:t>
                          </m:r>
                          <m:r>
                            <a:rPr lang="en-GB" sz="3200" i="1" smtClean="0"/>
                            <m:t>!</m:t>
                          </m:r>
                        </m:den>
                      </m:f>
                    </m:oMath>
                  </m:oMathPara>
                </a14:m>
                <a:endParaRPr lang="en-GB" sz="3200" dirty="0"/>
              </a:p>
              <a:p>
                <a:endParaRPr lang="en-NL" dirty="0"/>
              </a:p>
            </p:txBody>
          </p:sp>
        </mc:Choice>
        <mc:Fallback>
          <p:sp>
            <p:nvSpPr>
              <p:cNvPr id="4" name="TextBox 3">
                <a:extLst>
                  <a:ext uri="{FF2B5EF4-FFF2-40B4-BE49-F238E27FC236}">
                    <a16:creationId xmlns:a16="http://schemas.microsoft.com/office/drawing/2014/main" id="{1CD1025E-0671-1378-C659-CDFE5D5741C8}"/>
                  </a:ext>
                </a:extLst>
              </p:cNvPr>
              <p:cNvSpPr txBox="1">
                <a:spLocks noRot="1" noChangeAspect="1" noMove="1" noResize="1" noEditPoints="1" noAdjustHandles="1" noChangeArrowheads="1" noChangeShapeType="1" noTextEdit="1"/>
              </p:cNvSpPr>
              <p:nvPr/>
            </p:nvSpPr>
            <p:spPr>
              <a:xfrm>
                <a:off x="908264" y="1718733"/>
                <a:ext cx="4612860" cy="1285032"/>
              </a:xfrm>
              <a:prstGeom prst="rect">
                <a:avLst/>
              </a:prstGeom>
              <a:blipFill>
                <a:blip r:embed="rId3"/>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E15544C-60C4-966A-7226-B6D09536962D}"/>
                  </a:ext>
                </a:extLst>
              </p:cNvPr>
              <p:cNvSpPr txBox="1"/>
              <p:nvPr/>
            </p:nvSpPr>
            <p:spPr>
              <a:xfrm>
                <a:off x="6261904" y="1718733"/>
                <a:ext cx="4803494" cy="1285032"/>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GB" sz="3200" i="1" smtClean="0"/>
                        <m:t>𝑃</m:t>
                      </m:r>
                      <m:d>
                        <m:dPr>
                          <m:ctrlPr>
                            <a:rPr lang="en-GB" sz="3200" i="1">
                              <a:latin typeface="Cambria Math" panose="02040503050406030204" pitchFamily="18" charset="0"/>
                            </a:rPr>
                          </m:ctrlPr>
                        </m:dPr>
                        <m:e>
                          <m:r>
                            <a:rPr lang="en-GB" sz="3200" i="1"/>
                            <m:t>𝑋</m:t>
                          </m:r>
                          <m:r>
                            <a:rPr lang="en-GB" sz="3200" i="1"/>
                            <m:t>=</m:t>
                          </m:r>
                          <m:r>
                            <a:rPr lang="en-GB" sz="3200" i="1"/>
                            <m:t>𝑥</m:t>
                          </m:r>
                        </m:e>
                      </m:d>
                      <m:r>
                        <a:rPr lang="en-GB" sz="3200" i="1"/>
                        <m:t>=</m:t>
                      </m:r>
                      <m:f>
                        <m:fPr>
                          <m:ctrlPr>
                            <a:rPr lang="en-GB" sz="3200" i="1">
                              <a:latin typeface="Cambria Math" panose="02040503050406030204" pitchFamily="18" charset="0"/>
                            </a:rPr>
                          </m:ctrlPr>
                        </m:fPr>
                        <m:num>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m:t>𝜆</m:t>
                                  </m:r>
                                  <m:r>
                                    <a:rPr lang="en-GB" sz="3200" i="1"/>
                                    <m:t>𝑡</m:t>
                                  </m:r>
                                </m:e>
                              </m:d>
                            </m:e>
                            <m:sup>
                              <m:r>
                                <a:rPr lang="en-GB" sz="3200" i="1"/>
                                <m:t>𝑥</m:t>
                              </m:r>
                            </m:sup>
                          </m:sSup>
                          <m:sSup>
                            <m:sSupPr>
                              <m:ctrlPr>
                                <a:rPr lang="en-GB" sz="3200" i="1">
                                  <a:latin typeface="Cambria Math" panose="02040503050406030204" pitchFamily="18" charset="0"/>
                                </a:rPr>
                              </m:ctrlPr>
                            </m:sSupPr>
                            <m:e>
                              <m:r>
                                <a:rPr lang="en-GB" sz="3200" i="1"/>
                                <m:t>𝑒</m:t>
                              </m:r>
                            </m:e>
                            <m:sup>
                              <m:r>
                                <a:rPr lang="en-GB" sz="3200" i="1"/>
                                <m:t>−</m:t>
                              </m:r>
                              <m:r>
                                <a:rPr lang="en-GB" sz="3200" i="1"/>
                                <m:t>𝜆</m:t>
                              </m:r>
                              <m:r>
                                <a:rPr lang="en-GB" sz="3200" i="1"/>
                                <m:t>𝑡</m:t>
                              </m:r>
                            </m:sup>
                          </m:sSup>
                        </m:num>
                        <m:den>
                          <m:r>
                            <a:rPr lang="en-GB" sz="3200" i="1"/>
                            <m:t>𝑥</m:t>
                          </m:r>
                          <m:r>
                            <a:rPr lang="en-GB" sz="3200" i="1"/>
                            <m:t>!</m:t>
                          </m:r>
                        </m:den>
                      </m:f>
                    </m:oMath>
                  </m:oMathPara>
                </a14:m>
                <a:endParaRPr lang="en-GB" dirty="0"/>
              </a:p>
              <a:p>
                <a:endParaRPr lang="en-NL" dirty="0"/>
              </a:p>
            </p:txBody>
          </p:sp>
        </mc:Choice>
        <mc:Fallback>
          <p:sp>
            <p:nvSpPr>
              <p:cNvPr id="6" name="TextBox 5">
                <a:extLst>
                  <a:ext uri="{FF2B5EF4-FFF2-40B4-BE49-F238E27FC236}">
                    <a16:creationId xmlns:a16="http://schemas.microsoft.com/office/drawing/2014/main" id="{FE15544C-60C4-966A-7226-B6D09536962D}"/>
                  </a:ext>
                </a:extLst>
              </p:cNvPr>
              <p:cNvSpPr txBox="1">
                <a:spLocks noRot="1" noChangeAspect="1" noMove="1" noResize="1" noEditPoints="1" noAdjustHandles="1" noChangeArrowheads="1" noChangeShapeType="1" noTextEdit="1"/>
              </p:cNvSpPr>
              <p:nvPr/>
            </p:nvSpPr>
            <p:spPr>
              <a:xfrm>
                <a:off x="6261904" y="1718733"/>
                <a:ext cx="4803494" cy="1285032"/>
              </a:xfrm>
              <a:prstGeom prst="rect">
                <a:avLst/>
              </a:prstGeom>
              <a:blipFill>
                <a:blip r:embed="rId4"/>
                <a:stretch>
                  <a:fillRect/>
                </a:stretch>
              </a:blipFill>
            </p:spPr>
            <p:txBody>
              <a:bodyPr/>
              <a:lstStyle/>
              <a:p>
                <a:r>
                  <a:rPr lang="en-NL">
                    <a:noFill/>
                  </a:rPr>
                  <a:t> </a:t>
                </a:r>
              </a:p>
            </p:txBody>
          </p:sp>
        </mc:Fallback>
      </mc:AlternateContent>
      <p:cxnSp>
        <p:nvCxnSpPr>
          <p:cNvPr id="8" name="Straight Connector 7">
            <a:extLst>
              <a:ext uri="{FF2B5EF4-FFF2-40B4-BE49-F238E27FC236}">
                <a16:creationId xmlns:a16="http://schemas.microsoft.com/office/drawing/2014/main" id="{60DF2A07-B80D-EB1F-C7BD-4B77456AE63D}"/>
              </a:ext>
            </a:extLst>
          </p:cNvPr>
          <p:cNvCxnSpPr/>
          <p:nvPr/>
        </p:nvCxnSpPr>
        <p:spPr>
          <a:xfrm>
            <a:off x="6031200" y="1446835"/>
            <a:ext cx="0" cy="4190036"/>
          </a:xfrm>
          <a:prstGeom prst="line">
            <a:avLst/>
          </a:prstGeom>
        </p:spPr>
        <p:style>
          <a:lnRef idx="2">
            <a:schemeClr val="accent1"/>
          </a:lnRef>
          <a:fillRef idx="0">
            <a:schemeClr val="accent1"/>
          </a:fillRef>
          <a:effectRef idx="1">
            <a:schemeClr val="accent1"/>
          </a:effectRef>
          <a:fontRef idx="minor">
            <a:schemeClr val="tx1"/>
          </a:fontRef>
        </p:style>
      </p:cxnSp>
      <p:sp>
        <p:nvSpPr>
          <p:cNvPr id="15" name="Rounded Rectangle 14">
            <a:extLst>
              <a:ext uri="{FF2B5EF4-FFF2-40B4-BE49-F238E27FC236}">
                <a16:creationId xmlns:a16="http://schemas.microsoft.com/office/drawing/2014/main" id="{E6F4C978-2328-B6EF-4DDC-EC749D581A49}"/>
              </a:ext>
            </a:extLst>
          </p:cNvPr>
          <p:cNvSpPr/>
          <p:nvPr/>
        </p:nvSpPr>
        <p:spPr>
          <a:xfrm>
            <a:off x="2164466" y="5478011"/>
            <a:ext cx="2164466" cy="633176"/>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D60F0E13-309C-2E09-B6FF-70DD72C84864}"/>
                  </a:ext>
                </a:extLst>
              </p:cNvPr>
              <p:cNvSpPr txBox="1"/>
              <p:nvPr/>
            </p:nvSpPr>
            <p:spPr>
              <a:xfrm>
                <a:off x="2248807" y="3552238"/>
                <a:ext cx="1802330" cy="52322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GB" sz="2800" i="1">
                          <a:latin typeface="Cambria Math" panose="02040503050406030204" pitchFamily="18" charset="0"/>
                        </a:rPr>
                        <m:t>𝜆</m:t>
                      </m:r>
                      <m:r>
                        <a:rPr lang="nl-NL" sz="2800" b="0" i="1" smtClean="0">
                          <a:latin typeface="Cambria Math" panose="02040503050406030204" pitchFamily="18" charset="0"/>
                        </a:rPr>
                        <m:t> = 4</m:t>
                      </m:r>
                    </m:oMath>
                  </m:oMathPara>
                </a14:m>
                <a:endParaRPr lang="en-NL" sz="2800" dirty="0"/>
              </a:p>
            </p:txBody>
          </p:sp>
        </mc:Choice>
        <mc:Fallback>
          <p:sp>
            <p:nvSpPr>
              <p:cNvPr id="11" name="TextBox 10">
                <a:extLst>
                  <a:ext uri="{FF2B5EF4-FFF2-40B4-BE49-F238E27FC236}">
                    <a16:creationId xmlns:a16="http://schemas.microsoft.com/office/drawing/2014/main" id="{D60F0E13-309C-2E09-B6FF-70DD72C84864}"/>
                  </a:ext>
                </a:extLst>
              </p:cNvPr>
              <p:cNvSpPr txBox="1">
                <a:spLocks noRot="1" noChangeAspect="1" noMove="1" noResize="1" noEditPoints="1" noAdjustHandles="1" noChangeArrowheads="1" noChangeShapeType="1" noTextEdit="1"/>
              </p:cNvSpPr>
              <p:nvPr/>
            </p:nvSpPr>
            <p:spPr>
              <a:xfrm>
                <a:off x="2248807" y="3552238"/>
                <a:ext cx="1802330" cy="523220"/>
              </a:xfrm>
              <a:prstGeom prst="rect">
                <a:avLst/>
              </a:prstGeom>
              <a:blipFill>
                <a:blip r:embed="rId5"/>
                <a:stretch>
                  <a:fillRect b="-18605"/>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A81BF846-B983-7F17-3C0B-BAB5A801C08A}"/>
                  </a:ext>
                </a:extLst>
              </p:cNvPr>
              <p:cNvSpPr txBox="1"/>
              <p:nvPr/>
            </p:nvSpPr>
            <p:spPr>
              <a:xfrm>
                <a:off x="424684" y="4272392"/>
                <a:ext cx="5837220" cy="1138773"/>
              </a:xfrm>
              <a:prstGeom prst="rect">
                <a:avLst/>
              </a:prstGeom>
              <a:noFill/>
            </p:spPr>
            <p:txBody>
              <a:bodyPr wrap="square" rtlCol="0">
                <a:spAutoFit/>
              </a:bodyPr>
              <a:lstStyle/>
              <a:p>
                <a:r>
                  <a:rPr lang="en-NL" sz="2400" b="1" dirty="0">
                    <a:solidFill>
                      <a:schemeClr val="accent1"/>
                    </a:solidFill>
                  </a:rPr>
                  <a:t>Expected number of events in the </a:t>
                </a:r>
                <a:r>
                  <a:rPr lang="en-NL" sz="2400" b="1" u="sng" dirty="0">
                    <a:solidFill>
                      <a:schemeClr val="accent1"/>
                    </a:solidFill>
                  </a:rPr>
                  <a:t>fixed</a:t>
                </a:r>
                <a:r>
                  <a:rPr lang="en-NL" sz="2400" b="1" dirty="0">
                    <a:solidFill>
                      <a:schemeClr val="accent1"/>
                    </a:solidFill>
                  </a:rPr>
                  <a:t> interval (e.g. 10 days)</a:t>
                </a:r>
                <a:endParaRPr lang="en-NL" sz="2400" dirty="0"/>
              </a:p>
              <a:p>
                <a:r>
                  <a:rPr lang="en-NL" sz="2000" i="1" dirty="0"/>
                  <a:t>This is a matter of the definition of </a:t>
                </a:r>
                <a14:m>
                  <m:oMath xmlns:m="http://schemas.openxmlformats.org/officeDocument/2006/math">
                    <m:r>
                      <a:rPr lang="nl-NL" sz="2000" b="0" i="1" smtClean="0">
                        <a:latin typeface="Cambria Math" panose="02040503050406030204" pitchFamily="18" charset="0"/>
                      </a:rPr>
                      <m:t>𝑜𝑢𝑟</m:t>
                    </m:r>
                    <m:r>
                      <a:rPr lang="nl-NL" sz="2000" b="0" i="1" smtClean="0">
                        <a:latin typeface="Cambria Math" panose="02040503050406030204" pitchFamily="18" charset="0"/>
                      </a:rPr>
                      <m:t> </m:t>
                    </m:r>
                    <m:r>
                      <a:rPr lang="nl-NL" sz="2000" b="0" i="1" smtClean="0">
                        <a:latin typeface="Cambria Math" panose="02040503050406030204" pitchFamily="18" charset="0"/>
                      </a:rPr>
                      <m:t>𝑝𝑎𝑟𝑒𝑚𝑒𝑡𝑒𝑟</m:t>
                    </m:r>
                    <m:r>
                      <a:rPr lang="nl-NL" sz="2000" b="0" i="1" smtClean="0">
                        <a:latin typeface="Cambria Math" panose="02040503050406030204" pitchFamily="18" charset="0"/>
                      </a:rPr>
                      <m:t> </m:t>
                    </m:r>
                    <m:r>
                      <a:rPr lang="en-GB" sz="2000" i="1">
                        <a:latin typeface="Cambria Math" panose="02040503050406030204" pitchFamily="18" charset="0"/>
                      </a:rPr>
                      <m:t>𝜆</m:t>
                    </m:r>
                  </m:oMath>
                </a14:m>
                <a:r>
                  <a:rPr lang="en-NL" sz="2000" i="1" dirty="0"/>
                  <a:t> </a:t>
                </a:r>
              </a:p>
            </p:txBody>
          </p:sp>
        </mc:Choice>
        <mc:Fallback>
          <p:sp>
            <p:nvSpPr>
              <p:cNvPr id="12" name="TextBox 11">
                <a:extLst>
                  <a:ext uri="{FF2B5EF4-FFF2-40B4-BE49-F238E27FC236}">
                    <a16:creationId xmlns:a16="http://schemas.microsoft.com/office/drawing/2014/main" id="{A81BF846-B983-7F17-3C0B-BAB5A801C08A}"/>
                  </a:ext>
                </a:extLst>
              </p:cNvPr>
              <p:cNvSpPr txBox="1">
                <a:spLocks noRot="1" noChangeAspect="1" noMove="1" noResize="1" noEditPoints="1" noAdjustHandles="1" noChangeArrowheads="1" noChangeShapeType="1" noTextEdit="1"/>
              </p:cNvSpPr>
              <p:nvPr/>
            </p:nvSpPr>
            <p:spPr>
              <a:xfrm>
                <a:off x="424684" y="4272392"/>
                <a:ext cx="5837220" cy="1138773"/>
              </a:xfrm>
              <a:prstGeom prst="rect">
                <a:avLst/>
              </a:prstGeom>
              <a:blipFill>
                <a:blip r:embed="rId6"/>
                <a:stretch>
                  <a:fillRect l="-1739" t="-4396" b="-7692"/>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DA168384-C07B-B570-4832-C5005131B422}"/>
                  </a:ext>
                </a:extLst>
              </p:cNvPr>
              <p:cNvSpPr txBox="1"/>
              <p:nvPr/>
            </p:nvSpPr>
            <p:spPr>
              <a:xfrm>
                <a:off x="2281490" y="5483299"/>
                <a:ext cx="1866408" cy="58477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3200" b="1" i="1">
                          <a:latin typeface="Cambria Math" panose="02040503050406030204" pitchFamily="18" charset="0"/>
                        </a:rPr>
                        <m:t>𝐄</m:t>
                      </m:r>
                      <m:d>
                        <m:dPr>
                          <m:begChr m:val="["/>
                          <m:endChr m:val="]"/>
                          <m:ctrlPr>
                            <a:rPr lang="en-US" sz="3200" b="1" i="1">
                              <a:latin typeface="Cambria Math" panose="02040503050406030204" pitchFamily="18" charset="0"/>
                            </a:rPr>
                          </m:ctrlPr>
                        </m:dPr>
                        <m:e>
                          <m:r>
                            <a:rPr lang="en-US" sz="3200" b="1" i="1">
                              <a:latin typeface="Cambria Math" panose="02040503050406030204" pitchFamily="18" charset="0"/>
                            </a:rPr>
                            <m:t>𝑿</m:t>
                          </m:r>
                        </m:e>
                      </m:d>
                      <m:r>
                        <a:rPr lang="en-US" sz="3200" b="1">
                          <a:latin typeface="Cambria Math" panose="02040503050406030204" pitchFamily="18" charset="0"/>
                        </a:rPr>
                        <m:t>=</m:t>
                      </m:r>
                      <m:r>
                        <a:rPr lang="en-US" sz="3200" b="1" i="1">
                          <a:latin typeface="Cambria Math" panose="02040503050406030204" pitchFamily="18" charset="0"/>
                        </a:rPr>
                        <m:t>𝝀</m:t>
                      </m:r>
                    </m:oMath>
                  </m:oMathPara>
                </a14:m>
                <a:endParaRPr lang="en-NL" sz="3200" b="1" dirty="0"/>
              </a:p>
            </p:txBody>
          </p:sp>
        </mc:Choice>
        <mc:Fallback>
          <p:sp>
            <p:nvSpPr>
              <p:cNvPr id="13" name="TextBox 12">
                <a:extLst>
                  <a:ext uri="{FF2B5EF4-FFF2-40B4-BE49-F238E27FC236}">
                    <a16:creationId xmlns:a16="http://schemas.microsoft.com/office/drawing/2014/main" id="{DA168384-C07B-B570-4832-C5005131B422}"/>
                  </a:ext>
                </a:extLst>
              </p:cNvPr>
              <p:cNvSpPr txBox="1">
                <a:spLocks noRot="1" noChangeAspect="1" noMove="1" noResize="1" noEditPoints="1" noAdjustHandles="1" noChangeArrowheads="1" noChangeShapeType="1" noTextEdit="1"/>
              </p:cNvSpPr>
              <p:nvPr/>
            </p:nvSpPr>
            <p:spPr>
              <a:xfrm>
                <a:off x="2281490" y="5483299"/>
                <a:ext cx="1866408" cy="584775"/>
              </a:xfrm>
              <a:prstGeom prst="rect">
                <a:avLst/>
              </a:prstGeom>
              <a:blipFill>
                <a:blip r:embed="rId7"/>
                <a:stretch>
                  <a:fillRect/>
                </a:stretch>
              </a:blipFill>
            </p:spPr>
            <p:txBody>
              <a:bodyPr/>
              <a:lstStyle/>
              <a:p>
                <a:r>
                  <a:rPr lang="en-NL">
                    <a:noFill/>
                  </a:rPr>
                  <a:t> </a:t>
                </a:r>
              </a:p>
            </p:txBody>
          </p:sp>
        </mc:Fallback>
      </mc:AlternateContent>
      <p:sp>
        <p:nvSpPr>
          <p:cNvPr id="16" name="Rounded Rectangle 15">
            <a:extLst>
              <a:ext uri="{FF2B5EF4-FFF2-40B4-BE49-F238E27FC236}">
                <a16:creationId xmlns:a16="http://schemas.microsoft.com/office/drawing/2014/main" id="{B4014A71-2085-931A-274B-FAFC61CC5EDD}"/>
              </a:ext>
            </a:extLst>
          </p:cNvPr>
          <p:cNvSpPr/>
          <p:nvPr/>
        </p:nvSpPr>
        <p:spPr>
          <a:xfrm>
            <a:off x="8011264" y="5478011"/>
            <a:ext cx="2164466" cy="633176"/>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6B3AF577-5186-6AAE-94A5-94229433994D}"/>
                  </a:ext>
                </a:extLst>
              </p:cNvPr>
              <p:cNvSpPr txBox="1"/>
              <p:nvPr/>
            </p:nvSpPr>
            <p:spPr>
              <a:xfrm>
                <a:off x="8128288" y="5483299"/>
                <a:ext cx="1996893" cy="58477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3200" b="1" i="1">
                          <a:latin typeface="Cambria Math" panose="02040503050406030204" pitchFamily="18" charset="0"/>
                        </a:rPr>
                        <m:t>𝐄</m:t>
                      </m:r>
                      <m:d>
                        <m:dPr>
                          <m:begChr m:val="["/>
                          <m:endChr m:val="]"/>
                          <m:ctrlPr>
                            <a:rPr lang="en-US" sz="3200" b="1" i="1">
                              <a:latin typeface="Cambria Math" panose="02040503050406030204" pitchFamily="18" charset="0"/>
                            </a:rPr>
                          </m:ctrlPr>
                        </m:dPr>
                        <m:e>
                          <m:r>
                            <a:rPr lang="en-US" sz="3200" b="1" i="1">
                              <a:latin typeface="Cambria Math" panose="02040503050406030204" pitchFamily="18" charset="0"/>
                            </a:rPr>
                            <m:t>𝑿</m:t>
                          </m:r>
                        </m:e>
                      </m:d>
                      <m:r>
                        <a:rPr lang="en-US" sz="3200" b="1">
                          <a:latin typeface="Cambria Math" panose="02040503050406030204" pitchFamily="18" charset="0"/>
                        </a:rPr>
                        <m:t>=</m:t>
                      </m:r>
                      <m:r>
                        <a:rPr lang="en-US" sz="3200" b="1" i="1">
                          <a:latin typeface="Cambria Math" panose="02040503050406030204" pitchFamily="18" charset="0"/>
                        </a:rPr>
                        <m:t>𝝀</m:t>
                      </m:r>
                      <m:r>
                        <m:rPr>
                          <m:sty m:val="p"/>
                        </m:rPr>
                        <a:rPr lang="nl-NL" sz="3200" b="1" i="1" smtClean="0">
                          <a:latin typeface="Cambria Math" panose="02040503050406030204" pitchFamily="18" charset="0"/>
                        </a:rPr>
                        <m:t>t</m:t>
                      </m:r>
                    </m:oMath>
                  </m:oMathPara>
                </a14:m>
                <a:endParaRPr lang="en-NL" sz="3200" b="1" dirty="0"/>
              </a:p>
            </p:txBody>
          </p:sp>
        </mc:Choice>
        <mc:Fallback>
          <p:sp>
            <p:nvSpPr>
              <p:cNvPr id="17" name="TextBox 16">
                <a:extLst>
                  <a:ext uri="{FF2B5EF4-FFF2-40B4-BE49-F238E27FC236}">
                    <a16:creationId xmlns:a16="http://schemas.microsoft.com/office/drawing/2014/main" id="{6B3AF577-5186-6AAE-94A5-94229433994D}"/>
                  </a:ext>
                </a:extLst>
              </p:cNvPr>
              <p:cNvSpPr txBox="1">
                <a:spLocks noRot="1" noChangeAspect="1" noMove="1" noResize="1" noEditPoints="1" noAdjustHandles="1" noChangeArrowheads="1" noChangeShapeType="1" noTextEdit="1"/>
              </p:cNvSpPr>
              <p:nvPr/>
            </p:nvSpPr>
            <p:spPr>
              <a:xfrm>
                <a:off x="8128288" y="5483299"/>
                <a:ext cx="1996893" cy="584775"/>
              </a:xfrm>
              <a:prstGeom prst="rect">
                <a:avLst/>
              </a:prstGeom>
              <a:blipFill>
                <a:blip r:embed="rId8"/>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F6B7F593-2679-9B22-0B1F-BE48AC82EC35}"/>
                  </a:ext>
                </a:extLst>
              </p:cNvPr>
              <p:cNvSpPr txBox="1"/>
              <p:nvPr/>
            </p:nvSpPr>
            <p:spPr>
              <a:xfrm>
                <a:off x="8011264" y="3592626"/>
                <a:ext cx="1802330" cy="52322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GB" sz="2800" i="1">
                          <a:latin typeface="Cambria Math" panose="02040503050406030204" pitchFamily="18" charset="0"/>
                        </a:rPr>
                        <m:t>𝜆</m:t>
                      </m:r>
                      <m:r>
                        <a:rPr lang="nl-NL" sz="2800" b="0" i="1" smtClean="0">
                          <a:latin typeface="Cambria Math" panose="02040503050406030204" pitchFamily="18" charset="0"/>
                        </a:rPr>
                        <m:t> = 0.4</m:t>
                      </m:r>
                    </m:oMath>
                  </m:oMathPara>
                </a14:m>
                <a:endParaRPr lang="en-NL" sz="2800" dirty="0"/>
              </a:p>
            </p:txBody>
          </p:sp>
        </mc:Choice>
        <mc:Fallback>
          <p:sp>
            <p:nvSpPr>
              <p:cNvPr id="18" name="TextBox 17">
                <a:extLst>
                  <a:ext uri="{FF2B5EF4-FFF2-40B4-BE49-F238E27FC236}">
                    <a16:creationId xmlns:a16="http://schemas.microsoft.com/office/drawing/2014/main" id="{F6B7F593-2679-9B22-0B1F-BE48AC82EC35}"/>
                  </a:ext>
                </a:extLst>
              </p:cNvPr>
              <p:cNvSpPr txBox="1">
                <a:spLocks noRot="1" noChangeAspect="1" noMove="1" noResize="1" noEditPoints="1" noAdjustHandles="1" noChangeArrowheads="1" noChangeShapeType="1" noTextEdit="1"/>
              </p:cNvSpPr>
              <p:nvPr/>
            </p:nvSpPr>
            <p:spPr>
              <a:xfrm>
                <a:off x="8011264" y="3592626"/>
                <a:ext cx="1802330" cy="523220"/>
              </a:xfrm>
              <a:prstGeom prst="rect">
                <a:avLst/>
              </a:prstGeom>
              <a:blipFill>
                <a:blip r:embed="rId9"/>
                <a:stretch>
                  <a:fillRect b="-23810"/>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B0B0F8B6-821E-45D9-EC8A-3654FF389111}"/>
                  </a:ext>
                </a:extLst>
              </p:cNvPr>
              <p:cNvSpPr txBox="1"/>
              <p:nvPr/>
            </p:nvSpPr>
            <p:spPr>
              <a:xfrm>
                <a:off x="6354780" y="4272392"/>
                <a:ext cx="5837220" cy="769441"/>
              </a:xfrm>
              <a:prstGeom prst="rect">
                <a:avLst/>
              </a:prstGeom>
              <a:noFill/>
            </p:spPr>
            <p:txBody>
              <a:bodyPr wrap="square" rtlCol="0">
                <a:spAutoFit/>
              </a:bodyPr>
              <a:lstStyle/>
              <a:p>
                <a14:m>
                  <m:oMath xmlns:m="http://schemas.openxmlformats.org/officeDocument/2006/math">
                    <m:r>
                      <a:rPr lang="en-GB" sz="2400" b="1">
                        <a:solidFill>
                          <a:schemeClr val="accent1"/>
                        </a:solidFill>
                      </a:rPr>
                      <m:t>𝜆</m:t>
                    </m:r>
                  </m:oMath>
                </a14:m>
                <a:r>
                  <a:rPr lang="en-NL" sz="2400" b="1" dirty="0">
                    <a:solidFill>
                      <a:schemeClr val="accent1"/>
                    </a:solidFill>
                  </a:rPr>
                  <a:t> is the rate (e.g. per day), t is the time</a:t>
                </a:r>
              </a:p>
              <a:p>
                <a:r>
                  <a:rPr lang="en-NL" sz="2000" i="1" dirty="0"/>
                  <a:t>This is a matter of the definition of </a:t>
                </a:r>
                <a14:m>
                  <m:oMath xmlns:m="http://schemas.openxmlformats.org/officeDocument/2006/math">
                    <m:r>
                      <a:rPr lang="nl-NL" sz="2000" b="0" i="1" smtClean="0">
                        <a:latin typeface="Cambria Math" panose="02040503050406030204" pitchFamily="18" charset="0"/>
                      </a:rPr>
                      <m:t>𝑜𝑢𝑟</m:t>
                    </m:r>
                    <m:r>
                      <a:rPr lang="nl-NL" sz="2000" b="0" i="1" smtClean="0">
                        <a:latin typeface="Cambria Math" panose="02040503050406030204" pitchFamily="18" charset="0"/>
                      </a:rPr>
                      <m:t> </m:t>
                    </m:r>
                    <m:r>
                      <a:rPr lang="nl-NL" sz="2000" b="0" i="1" smtClean="0">
                        <a:latin typeface="Cambria Math" panose="02040503050406030204" pitchFamily="18" charset="0"/>
                      </a:rPr>
                      <m:t>𝑝𝑎𝑟𝑒𝑚𝑒𝑡𝑒𝑟</m:t>
                    </m:r>
                    <m:r>
                      <a:rPr lang="nl-NL" sz="2000" b="0" i="1" smtClean="0">
                        <a:latin typeface="Cambria Math" panose="02040503050406030204" pitchFamily="18" charset="0"/>
                      </a:rPr>
                      <m:t> </m:t>
                    </m:r>
                    <m:r>
                      <a:rPr lang="en-GB" sz="2000" i="1">
                        <a:latin typeface="Cambria Math" panose="02040503050406030204" pitchFamily="18" charset="0"/>
                      </a:rPr>
                      <m:t>𝜆</m:t>
                    </m:r>
                  </m:oMath>
                </a14:m>
                <a:r>
                  <a:rPr lang="en-NL" sz="2000" i="1" dirty="0"/>
                  <a:t> </a:t>
                </a:r>
              </a:p>
            </p:txBody>
          </p:sp>
        </mc:Choice>
        <mc:Fallback>
          <p:sp>
            <p:nvSpPr>
              <p:cNvPr id="19" name="TextBox 18">
                <a:extLst>
                  <a:ext uri="{FF2B5EF4-FFF2-40B4-BE49-F238E27FC236}">
                    <a16:creationId xmlns:a16="http://schemas.microsoft.com/office/drawing/2014/main" id="{B0B0F8B6-821E-45D9-EC8A-3654FF389111}"/>
                  </a:ext>
                </a:extLst>
              </p:cNvPr>
              <p:cNvSpPr txBox="1">
                <a:spLocks noRot="1" noChangeAspect="1" noMove="1" noResize="1" noEditPoints="1" noAdjustHandles="1" noChangeArrowheads="1" noChangeShapeType="1" noTextEdit="1"/>
              </p:cNvSpPr>
              <p:nvPr/>
            </p:nvSpPr>
            <p:spPr>
              <a:xfrm>
                <a:off x="6354780" y="4272392"/>
                <a:ext cx="5837220" cy="769441"/>
              </a:xfrm>
              <a:prstGeom prst="rect">
                <a:avLst/>
              </a:prstGeom>
              <a:blipFill>
                <a:blip r:embed="rId10"/>
                <a:stretch>
                  <a:fillRect l="-1085" t="-4918" b="-14754"/>
                </a:stretch>
              </a:blipFill>
            </p:spPr>
            <p:txBody>
              <a:bodyPr/>
              <a:lstStyle/>
              <a:p>
                <a:r>
                  <a:rPr lang="en-NL">
                    <a:noFill/>
                  </a:rPr>
                  <a:t> </a:t>
                </a:r>
              </a:p>
            </p:txBody>
          </p:sp>
        </mc:Fallback>
      </mc:AlternateContent>
    </p:spTree>
    <p:extLst>
      <p:ext uri="{BB962C8B-B14F-4D97-AF65-F5344CB8AC3E}">
        <p14:creationId xmlns:p14="http://schemas.microsoft.com/office/powerpoint/2010/main" val="10330006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59409-42B4-1462-FCAD-7340AD56E2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DA7F27-638D-0E0F-063B-C22E49B2422C}"/>
              </a:ext>
            </a:extLst>
          </p:cNvPr>
          <p:cNvSpPr>
            <a:spLocks noGrp="1"/>
          </p:cNvSpPr>
          <p:nvPr>
            <p:ph type="title"/>
          </p:nvPr>
        </p:nvSpPr>
        <p:spPr/>
        <p:txBody>
          <a:bodyPr>
            <a:normAutofit/>
          </a:bodyPr>
          <a:lstStyle/>
          <a:p>
            <a:r>
              <a:rPr lang="en-NL" dirty="0"/>
              <a:t>We use </a:t>
            </a:r>
            <a:r>
              <a:rPr lang="en-NL" dirty="0">
                <a:solidFill>
                  <a:schemeClr val="accent1"/>
                </a:solidFill>
              </a:rPr>
              <a:t>t</a:t>
            </a:r>
            <a:r>
              <a:rPr lang="en-NL" dirty="0"/>
              <a:t> so time can change! </a:t>
            </a:r>
            <a:r>
              <a:rPr lang="en-NL" sz="3600" i="1" u="sng" dirty="0"/>
              <a:t>(Mind the definition)</a:t>
            </a:r>
            <a:endParaRPr lang="en-NL" i="1" u="sng" dirty="0"/>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BBCE15E4-68BE-EB23-FC11-94C7C76DC646}"/>
                  </a:ext>
                </a:extLst>
              </p:cNvPr>
              <p:cNvSpPr txBox="1"/>
              <p:nvPr/>
            </p:nvSpPr>
            <p:spPr>
              <a:xfrm>
                <a:off x="908264" y="1718733"/>
                <a:ext cx="4612860" cy="12850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3200" i="1" smtClean="0">
                          <a:latin typeface="Cambria Math" panose="02040503050406030204" pitchFamily="18" charset="0"/>
                        </a:rPr>
                        <m:t>𝑃</m:t>
                      </m:r>
                      <m:d>
                        <m:dPr>
                          <m:ctrlPr>
                            <a:rPr lang="en-GB" sz="3200" i="1" smtClean="0">
                              <a:latin typeface="Cambria Math" panose="02040503050406030204" pitchFamily="18" charset="0"/>
                            </a:rPr>
                          </m:ctrlPr>
                        </m:dPr>
                        <m:e>
                          <m:r>
                            <a:rPr lang="en-GB" sz="3200" i="1" smtClean="0">
                              <a:latin typeface="Cambria Math" panose="02040503050406030204" pitchFamily="18" charset="0"/>
                            </a:rPr>
                            <m:t>𝑋</m:t>
                          </m:r>
                          <m:r>
                            <a:rPr lang="en-GB" sz="3200" i="1" smtClean="0">
                              <a:latin typeface="Cambria Math" panose="02040503050406030204" pitchFamily="18" charset="0"/>
                            </a:rPr>
                            <m:t>=</m:t>
                          </m:r>
                          <m:r>
                            <a:rPr lang="en-GB" sz="3200" i="1" smtClean="0">
                              <a:latin typeface="Cambria Math" panose="02040503050406030204" pitchFamily="18" charset="0"/>
                            </a:rPr>
                            <m:t>𝑥</m:t>
                          </m:r>
                        </m:e>
                      </m:d>
                      <m:r>
                        <a:rPr lang="en-GB" sz="3200" i="1" smtClean="0">
                          <a:latin typeface="Cambria Math" panose="02040503050406030204" pitchFamily="18" charset="0"/>
                        </a:rPr>
                        <m:t>=</m:t>
                      </m:r>
                      <m:f>
                        <m:fPr>
                          <m:ctrlPr>
                            <a:rPr lang="en-GB" sz="3200" i="1" smtClean="0">
                              <a:latin typeface="Cambria Math" panose="02040503050406030204" pitchFamily="18" charset="0"/>
                            </a:rPr>
                          </m:ctrlPr>
                        </m:fPr>
                        <m:num>
                          <m:sSup>
                            <m:sSupPr>
                              <m:ctrlPr>
                                <a:rPr lang="en-GB" sz="3200" i="1" smtClean="0">
                                  <a:latin typeface="Cambria Math" panose="02040503050406030204" pitchFamily="18" charset="0"/>
                                </a:rPr>
                              </m:ctrlPr>
                            </m:sSupPr>
                            <m:e>
                              <m:r>
                                <a:rPr lang="en-GB" sz="3200" i="1" smtClean="0">
                                  <a:latin typeface="Cambria Math" panose="02040503050406030204" pitchFamily="18" charset="0"/>
                                </a:rPr>
                                <m:t>𝜆</m:t>
                              </m:r>
                            </m:e>
                            <m:sup>
                              <m:r>
                                <a:rPr lang="en-GB" sz="3200" i="1" smtClean="0">
                                  <a:latin typeface="Cambria Math" panose="02040503050406030204" pitchFamily="18" charset="0"/>
                                </a:rPr>
                                <m:t>𝑥</m:t>
                              </m:r>
                            </m:sup>
                          </m:sSup>
                          <m:sSup>
                            <m:sSupPr>
                              <m:ctrlPr>
                                <a:rPr lang="en-GB" sz="3200" i="1" smtClean="0">
                                  <a:latin typeface="Cambria Math" panose="02040503050406030204" pitchFamily="18" charset="0"/>
                                </a:rPr>
                              </m:ctrlPr>
                            </m:sSupPr>
                            <m:e>
                              <m:r>
                                <a:rPr lang="en-GB" sz="3200" i="1" smtClean="0">
                                  <a:latin typeface="Cambria Math" panose="02040503050406030204" pitchFamily="18" charset="0"/>
                                </a:rPr>
                                <m:t>𝑒</m:t>
                              </m:r>
                            </m:e>
                            <m:sup>
                              <m:r>
                                <a:rPr lang="en-GB" sz="3200" i="1" smtClean="0">
                                  <a:latin typeface="Cambria Math" panose="02040503050406030204" pitchFamily="18" charset="0"/>
                                </a:rPr>
                                <m:t>−</m:t>
                              </m:r>
                              <m:r>
                                <a:rPr lang="en-GB" sz="3200" i="1" smtClean="0">
                                  <a:latin typeface="Cambria Math" panose="02040503050406030204" pitchFamily="18" charset="0"/>
                                </a:rPr>
                                <m:t>𝜆</m:t>
                              </m:r>
                            </m:sup>
                          </m:sSup>
                        </m:num>
                        <m:den>
                          <m:r>
                            <a:rPr lang="en-GB" sz="3200" i="1" smtClean="0">
                              <a:latin typeface="Cambria Math" panose="02040503050406030204" pitchFamily="18" charset="0"/>
                            </a:rPr>
                            <m:t>𝑥</m:t>
                          </m:r>
                          <m:r>
                            <a:rPr lang="en-GB" sz="3200" i="1" smtClean="0">
                              <a:latin typeface="Cambria Math" panose="02040503050406030204" pitchFamily="18" charset="0"/>
                            </a:rPr>
                            <m:t>!</m:t>
                          </m:r>
                        </m:den>
                      </m:f>
                    </m:oMath>
                  </m:oMathPara>
                </a14:m>
                <a:endParaRPr lang="en-GB" sz="3200" dirty="0"/>
              </a:p>
              <a:p>
                <a:endParaRPr lang="en-NL" dirty="0"/>
              </a:p>
            </p:txBody>
          </p:sp>
        </mc:Choice>
        <mc:Fallback>
          <p:sp>
            <p:nvSpPr>
              <p:cNvPr id="4" name="TextBox 3">
                <a:extLst>
                  <a:ext uri="{FF2B5EF4-FFF2-40B4-BE49-F238E27FC236}">
                    <a16:creationId xmlns:a16="http://schemas.microsoft.com/office/drawing/2014/main" id="{BBCE15E4-68BE-EB23-FC11-94C7C76DC646}"/>
                  </a:ext>
                </a:extLst>
              </p:cNvPr>
              <p:cNvSpPr txBox="1">
                <a:spLocks noRot="1" noChangeAspect="1" noMove="1" noResize="1" noEditPoints="1" noAdjustHandles="1" noChangeArrowheads="1" noChangeShapeType="1" noTextEdit="1"/>
              </p:cNvSpPr>
              <p:nvPr/>
            </p:nvSpPr>
            <p:spPr>
              <a:xfrm>
                <a:off x="908264" y="1718733"/>
                <a:ext cx="4612860" cy="1285032"/>
              </a:xfrm>
              <a:prstGeom prst="rect">
                <a:avLst/>
              </a:prstGeom>
              <a:blipFill>
                <a:blip r:embed="rId3"/>
                <a:stretch>
                  <a:fillRect t="-980"/>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B6E25B4D-0396-A8A6-2731-C1185089EFC9}"/>
                  </a:ext>
                </a:extLst>
              </p:cNvPr>
              <p:cNvSpPr txBox="1"/>
              <p:nvPr/>
            </p:nvSpPr>
            <p:spPr>
              <a:xfrm>
                <a:off x="6261904" y="1718733"/>
                <a:ext cx="4803494" cy="12850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3200" i="1" smtClean="0">
                          <a:latin typeface="Cambria Math" panose="02040503050406030204" pitchFamily="18" charset="0"/>
                        </a:rPr>
                        <m:t>𝑃</m:t>
                      </m:r>
                      <m:d>
                        <m:dPr>
                          <m:ctrlPr>
                            <a:rPr lang="en-GB" sz="3200" i="1">
                              <a:latin typeface="Cambria Math" panose="02040503050406030204" pitchFamily="18" charset="0"/>
                            </a:rPr>
                          </m:ctrlPr>
                        </m:dPr>
                        <m:e>
                          <m:r>
                            <a:rPr lang="en-GB" sz="3200" i="1">
                              <a:latin typeface="Cambria Math" panose="02040503050406030204" pitchFamily="18" charset="0"/>
                            </a:rPr>
                            <m:t>𝑋</m:t>
                          </m:r>
                          <m:r>
                            <a:rPr lang="en-GB" sz="3200" i="1">
                              <a:latin typeface="Cambria Math" panose="02040503050406030204" pitchFamily="18" charset="0"/>
                            </a:rPr>
                            <m:t>=</m:t>
                          </m:r>
                          <m:r>
                            <a:rPr lang="en-GB" sz="3200" i="1">
                              <a:latin typeface="Cambria Math" panose="02040503050406030204" pitchFamily="18" charset="0"/>
                            </a:rPr>
                            <m:t>𝑥</m:t>
                          </m:r>
                        </m:e>
                      </m:d>
                      <m:r>
                        <a:rPr lang="en-GB" sz="3200" i="1">
                          <a:latin typeface="Cambria Math" panose="02040503050406030204" pitchFamily="18" charset="0"/>
                        </a:rPr>
                        <m:t>=</m:t>
                      </m:r>
                      <m:f>
                        <m:fPr>
                          <m:ctrlPr>
                            <a:rPr lang="en-GB" sz="3200" i="1">
                              <a:latin typeface="Cambria Math" panose="02040503050406030204" pitchFamily="18" charset="0"/>
                            </a:rPr>
                          </m:ctrlPr>
                        </m:fPr>
                        <m:num>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𝜆</m:t>
                                  </m:r>
                                  <m:r>
                                    <a:rPr lang="en-GB" sz="3200" i="1">
                                      <a:latin typeface="Cambria Math" panose="02040503050406030204" pitchFamily="18" charset="0"/>
                                    </a:rPr>
                                    <m:t>𝑡</m:t>
                                  </m:r>
                                </m:e>
                              </m:d>
                            </m:e>
                            <m:sup>
                              <m:r>
                                <a:rPr lang="en-GB" sz="3200" i="1">
                                  <a:latin typeface="Cambria Math" panose="02040503050406030204" pitchFamily="18" charset="0"/>
                                </a:rPr>
                                <m:t>𝑥</m:t>
                              </m:r>
                            </m:sup>
                          </m:sSup>
                          <m:sSup>
                            <m:sSupPr>
                              <m:ctrlPr>
                                <a:rPr lang="en-GB" sz="3200" i="1">
                                  <a:latin typeface="Cambria Math" panose="02040503050406030204" pitchFamily="18" charset="0"/>
                                </a:rPr>
                              </m:ctrlPr>
                            </m:sSupPr>
                            <m:e>
                              <m:r>
                                <a:rPr lang="en-GB" sz="3200" i="1">
                                  <a:latin typeface="Cambria Math" panose="02040503050406030204" pitchFamily="18" charset="0"/>
                                </a:rPr>
                                <m:t>𝑒</m:t>
                              </m:r>
                            </m:e>
                            <m:sup>
                              <m:r>
                                <a:rPr lang="en-GB" sz="3200" i="1">
                                  <a:latin typeface="Cambria Math" panose="02040503050406030204" pitchFamily="18" charset="0"/>
                                </a:rPr>
                                <m:t>−</m:t>
                              </m:r>
                              <m:r>
                                <a:rPr lang="en-GB" sz="3200" i="1">
                                  <a:latin typeface="Cambria Math" panose="02040503050406030204" pitchFamily="18" charset="0"/>
                                </a:rPr>
                                <m:t>𝜆</m:t>
                              </m:r>
                              <m:r>
                                <a:rPr lang="en-GB" sz="3200" i="1">
                                  <a:latin typeface="Cambria Math" panose="02040503050406030204" pitchFamily="18" charset="0"/>
                                </a:rPr>
                                <m:t>𝑡</m:t>
                              </m:r>
                            </m:sup>
                          </m:sSup>
                        </m:num>
                        <m:den>
                          <m:r>
                            <a:rPr lang="en-GB" sz="3200" i="1">
                              <a:latin typeface="Cambria Math" panose="02040503050406030204" pitchFamily="18" charset="0"/>
                            </a:rPr>
                            <m:t>𝑥</m:t>
                          </m:r>
                          <m:r>
                            <a:rPr lang="en-GB" sz="3200" i="1">
                              <a:latin typeface="Cambria Math" panose="02040503050406030204" pitchFamily="18" charset="0"/>
                            </a:rPr>
                            <m:t>!</m:t>
                          </m:r>
                        </m:den>
                      </m:f>
                    </m:oMath>
                  </m:oMathPara>
                </a14:m>
                <a:endParaRPr lang="en-GB" dirty="0"/>
              </a:p>
              <a:p>
                <a:endParaRPr lang="en-NL" dirty="0"/>
              </a:p>
            </p:txBody>
          </p:sp>
        </mc:Choice>
        <mc:Fallback>
          <p:sp>
            <p:nvSpPr>
              <p:cNvPr id="6" name="TextBox 5">
                <a:extLst>
                  <a:ext uri="{FF2B5EF4-FFF2-40B4-BE49-F238E27FC236}">
                    <a16:creationId xmlns:a16="http://schemas.microsoft.com/office/drawing/2014/main" id="{B6E25B4D-0396-A8A6-2731-C1185089EFC9}"/>
                  </a:ext>
                </a:extLst>
              </p:cNvPr>
              <p:cNvSpPr txBox="1">
                <a:spLocks noRot="1" noChangeAspect="1" noMove="1" noResize="1" noEditPoints="1" noAdjustHandles="1" noChangeArrowheads="1" noChangeShapeType="1" noTextEdit="1"/>
              </p:cNvSpPr>
              <p:nvPr/>
            </p:nvSpPr>
            <p:spPr>
              <a:xfrm>
                <a:off x="6261904" y="1718733"/>
                <a:ext cx="4803494" cy="1285032"/>
              </a:xfrm>
              <a:prstGeom prst="rect">
                <a:avLst/>
              </a:prstGeom>
              <a:blipFill>
                <a:blip r:embed="rId4"/>
                <a:stretch>
                  <a:fillRect t="-980"/>
                </a:stretch>
              </a:blipFill>
            </p:spPr>
            <p:txBody>
              <a:bodyPr/>
              <a:lstStyle/>
              <a:p>
                <a:r>
                  <a:rPr lang="en-NL">
                    <a:noFill/>
                  </a:rPr>
                  <a:t> </a:t>
                </a:r>
              </a:p>
            </p:txBody>
          </p:sp>
        </mc:Fallback>
      </mc:AlternateContent>
      <p:cxnSp>
        <p:nvCxnSpPr>
          <p:cNvPr id="8" name="Straight Connector 7">
            <a:extLst>
              <a:ext uri="{FF2B5EF4-FFF2-40B4-BE49-F238E27FC236}">
                <a16:creationId xmlns:a16="http://schemas.microsoft.com/office/drawing/2014/main" id="{620E5CD5-A13F-F8A3-0213-0C2ECB088228}"/>
              </a:ext>
            </a:extLst>
          </p:cNvPr>
          <p:cNvCxnSpPr/>
          <p:nvPr/>
        </p:nvCxnSpPr>
        <p:spPr>
          <a:xfrm>
            <a:off x="6031200" y="1446835"/>
            <a:ext cx="0" cy="4190036"/>
          </a:xfrm>
          <a:prstGeom prst="line">
            <a:avLst/>
          </a:prstGeom>
        </p:spPr>
        <p:style>
          <a:lnRef idx="2">
            <a:schemeClr val="accent1"/>
          </a:lnRef>
          <a:fillRef idx="0">
            <a:schemeClr val="accent1"/>
          </a:fillRef>
          <a:effectRef idx="1">
            <a:schemeClr val="accent1"/>
          </a:effectRef>
          <a:fontRef idx="minor">
            <a:schemeClr val="tx1"/>
          </a:fontRef>
        </p:style>
      </p:cxnSp>
      <p:sp>
        <p:nvSpPr>
          <p:cNvPr id="15" name="Rounded Rectangle 14">
            <a:extLst>
              <a:ext uri="{FF2B5EF4-FFF2-40B4-BE49-F238E27FC236}">
                <a16:creationId xmlns:a16="http://schemas.microsoft.com/office/drawing/2014/main" id="{31FDA53E-C42E-BB2F-37E8-63123394502B}"/>
              </a:ext>
            </a:extLst>
          </p:cNvPr>
          <p:cNvSpPr/>
          <p:nvPr/>
        </p:nvSpPr>
        <p:spPr>
          <a:xfrm>
            <a:off x="2164466" y="5478011"/>
            <a:ext cx="2164466" cy="633176"/>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A7AFC158-83B4-A237-FABA-A80D3F2B68EF}"/>
                  </a:ext>
                </a:extLst>
              </p:cNvPr>
              <p:cNvSpPr txBox="1"/>
              <p:nvPr/>
            </p:nvSpPr>
            <p:spPr>
              <a:xfrm>
                <a:off x="2248807" y="3552238"/>
                <a:ext cx="180233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i="1">
                          <a:latin typeface="Cambria Math" panose="02040503050406030204" pitchFamily="18" charset="0"/>
                        </a:rPr>
                        <m:t>𝜆</m:t>
                      </m:r>
                      <m:r>
                        <a:rPr lang="nl-NL" sz="2800" b="0" i="1" smtClean="0">
                          <a:latin typeface="Cambria Math" panose="02040503050406030204" pitchFamily="18" charset="0"/>
                        </a:rPr>
                        <m:t> = 4</m:t>
                      </m:r>
                    </m:oMath>
                  </m:oMathPara>
                </a14:m>
                <a:endParaRPr lang="en-NL" sz="2800" dirty="0"/>
              </a:p>
            </p:txBody>
          </p:sp>
        </mc:Choice>
        <mc:Fallback>
          <p:sp>
            <p:nvSpPr>
              <p:cNvPr id="11" name="TextBox 10">
                <a:extLst>
                  <a:ext uri="{FF2B5EF4-FFF2-40B4-BE49-F238E27FC236}">
                    <a16:creationId xmlns:a16="http://schemas.microsoft.com/office/drawing/2014/main" id="{A7AFC158-83B4-A237-FABA-A80D3F2B68EF}"/>
                  </a:ext>
                </a:extLst>
              </p:cNvPr>
              <p:cNvSpPr txBox="1">
                <a:spLocks noRot="1" noChangeAspect="1" noMove="1" noResize="1" noEditPoints="1" noAdjustHandles="1" noChangeArrowheads="1" noChangeShapeType="1" noTextEdit="1"/>
              </p:cNvSpPr>
              <p:nvPr/>
            </p:nvSpPr>
            <p:spPr>
              <a:xfrm>
                <a:off x="2248807" y="3552238"/>
                <a:ext cx="1802330" cy="523220"/>
              </a:xfrm>
              <a:prstGeom prst="rect">
                <a:avLst/>
              </a:prstGeom>
              <a:blipFill>
                <a:blip r:embed="rId5"/>
                <a:stretch>
                  <a:fillRect b="-18605"/>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375EFD90-CC63-732C-23F0-0B2506805A0E}"/>
                  </a:ext>
                </a:extLst>
              </p:cNvPr>
              <p:cNvSpPr txBox="1"/>
              <p:nvPr/>
            </p:nvSpPr>
            <p:spPr>
              <a:xfrm>
                <a:off x="424684" y="4272392"/>
                <a:ext cx="5837220" cy="1138773"/>
              </a:xfrm>
              <a:prstGeom prst="rect">
                <a:avLst/>
              </a:prstGeom>
              <a:noFill/>
            </p:spPr>
            <p:txBody>
              <a:bodyPr wrap="square" rtlCol="0">
                <a:spAutoFit/>
              </a:bodyPr>
              <a:lstStyle/>
              <a:p>
                <a:r>
                  <a:rPr lang="en-NL" sz="2400" b="1" dirty="0">
                    <a:solidFill>
                      <a:schemeClr val="accent1"/>
                    </a:solidFill>
                  </a:rPr>
                  <a:t>Expected number of events in the </a:t>
                </a:r>
                <a:r>
                  <a:rPr lang="en-NL" sz="2400" b="1" u="sng" dirty="0">
                    <a:solidFill>
                      <a:schemeClr val="accent1"/>
                    </a:solidFill>
                  </a:rPr>
                  <a:t>fixed</a:t>
                </a:r>
                <a:r>
                  <a:rPr lang="en-NL" sz="2400" b="1" dirty="0">
                    <a:solidFill>
                      <a:schemeClr val="accent1"/>
                    </a:solidFill>
                  </a:rPr>
                  <a:t> interval (e.g. 10 days)</a:t>
                </a:r>
                <a:endParaRPr lang="en-NL" sz="2400" dirty="0"/>
              </a:p>
              <a:p>
                <a:r>
                  <a:rPr lang="en-NL" sz="2000" i="1" dirty="0"/>
                  <a:t>This is a matter of the definition of </a:t>
                </a:r>
                <a14:m>
                  <m:oMath xmlns:m="http://schemas.openxmlformats.org/officeDocument/2006/math">
                    <m:r>
                      <a:rPr lang="nl-NL" sz="2000" b="0" i="1" smtClean="0">
                        <a:latin typeface="Cambria Math" panose="02040503050406030204" pitchFamily="18" charset="0"/>
                      </a:rPr>
                      <m:t>𝑜𝑢𝑟</m:t>
                    </m:r>
                    <m:r>
                      <a:rPr lang="nl-NL" sz="2000" b="0" i="1" smtClean="0">
                        <a:latin typeface="Cambria Math" panose="02040503050406030204" pitchFamily="18" charset="0"/>
                      </a:rPr>
                      <m:t> </m:t>
                    </m:r>
                    <m:r>
                      <a:rPr lang="nl-NL" sz="2000" b="0" i="1" smtClean="0">
                        <a:latin typeface="Cambria Math" panose="02040503050406030204" pitchFamily="18" charset="0"/>
                      </a:rPr>
                      <m:t>𝑝𝑎𝑟</m:t>
                    </m:r>
                    <m:r>
                      <m:rPr>
                        <m:sty m:val="p"/>
                      </m:rPr>
                      <a:rPr lang="nl-NL" sz="2000" b="0" i="1" smtClean="0">
                        <a:latin typeface="Cambria Math" panose="02040503050406030204" pitchFamily="18" charset="0"/>
                      </a:rPr>
                      <m:t>a</m:t>
                    </m:r>
                    <m:r>
                      <a:rPr lang="nl-NL" sz="2000" b="0" i="1" smtClean="0">
                        <a:latin typeface="Cambria Math" panose="02040503050406030204" pitchFamily="18" charset="0"/>
                      </a:rPr>
                      <m:t>𝑚𝑒𝑡𝑒𝑟</m:t>
                    </m:r>
                    <m:r>
                      <a:rPr lang="nl-NL" sz="2000" b="0" i="1" smtClean="0">
                        <a:latin typeface="Cambria Math" panose="02040503050406030204" pitchFamily="18" charset="0"/>
                      </a:rPr>
                      <m:t> </m:t>
                    </m:r>
                    <m:r>
                      <a:rPr lang="en-GB" sz="2000" i="1">
                        <a:latin typeface="Cambria Math" panose="02040503050406030204" pitchFamily="18" charset="0"/>
                      </a:rPr>
                      <m:t>𝜆</m:t>
                    </m:r>
                  </m:oMath>
                </a14:m>
                <a:r>
                  <a:rPr lang="en-NL" sz="2000" i="1" dirty="0"/>
                  <a:t> </a:t>
                </a:r>
              </a:p>
            </p:txBody>
          </p:sp>
        </mc:Choice>
        <mc:Fallback>
          <p:sp>
            <p:nvSpPr>
              <p:cNvPr id="12" name="TextBox 11">
                <a:extLst>
                  <a:ext uri="{FF2B5EF4-FFF2-40B4-BE49-F238E27FC236}">
                    <a16:creationId xmlns:a16="http://schemas.microsoft.com/office/drawing/2014/main" id="{375EFD90-CC63-732C-23F0-0B2506805A0E}"/>
                  </a:ext>
                </a:extLst>
              </p:cNvPr>
              <p:cNvSpPr txBox="1">
                <a:spLocks noRot="1" noChangeAspect="1" noMove="1" noResize="1" noEditPoints="1" noAdjustHandles="1" noChangeArrowheads="1" noChangeShapeType="1" noTextEdit="1"/>
              </p:cNvSpPr>
              <p:nvPr/>
            </p:nvSpPr>
            <p:spPr>
              <a:xfrm>
                <a:off x="424684" y="4272392"/>
                <a:ext cx="5837220" cy="1138773"/>
              </a:xfrm>
              <a:prstGeom prst="rect">
                <a:avLst/>
              </a:prstGeom>
              <a:blipFill>
                <a:blip r:embed="rId6"/>
                <a:stretch>
                  <a:fillRect l="-1739" t="-4396" b="-7692"/>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457B02DF-BE02-DE5D-EF75-40414DC7F176}"/>
                  </a:ext>
                </a:extLst>
              </p:cNvPr>
              <p:cNvSpPr txBox="1"/>
              <p:nvPr/>
            </p:nvSpPr>
            <p:spPr>
              <a:xfrm>
                <a:off x="2281490" y="5483299"/>
                <a:ext cx="1866408"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1" i="1">
                          <a:latin typeface="Cambria Math" panose="02040503050406030204" pitchFamily="18" charset="0"/>
                        </a:rPr>
                        <m:t>𝐄</m:t>
                      </m:r>
                      <m:d>
                        <m:dPr>
                          <m:begChr m:val="["/>
                          <m:endChr m:val="]"/>
                          <m:ctrlPr>
                            <a:rPr lang="en-US" sz="3200" b="1" i="1">
                              <a:latin typeface="Cambria Math" panose="02040503050406030204" pitchFamily="18" charset="0"/>
                            </a:rPr>
                          </m:ctrlPr>
                        </m:dPr>
                        <m:e>
                          <m:r>
                            <a:rPr lang="en-US" sz="3200" b="1" i="1">
                              <a:latin typeface="Cambria Math" panose="02040503050406030204" pitchFamily="18" charset="0"/>
                            </a:rPr>
                            <m:t>𝑿</m:t>
                          </m:r>
                        </m:e>
                      </m:d>
                      <m:r>
                        <a:rPr lang="en-US" sz="3200" b="1">
                          <a:latin typeface="Cambria Math" panose="02040503050406030204" pitchFamily="18" charset="0"/>
                        </a:rPr>
                        <m:t>=</m:t>
                      </m:r>
                      <m:r>
                        <a:rPr lang="en-US" sz="3200" b="1" i="1">
                          <a:latin typeface="Cambria Math" panose="02040503050406030204" pitchFamily="18" charset="0"/>
                        </a:rPr>
                        <m:t>𝝀</m:t>
                      </m:r>
                    </m:oMath>
                  </m:oMathPara>
                </a14:m>
                <a:endParaRPr lang="en-NL" sz="3200" b="1" dirty="0"/>
              </a:p>
            </p:txBody>
          </p:sp>
        </mc:Choice>
        <mc:Fallback>
          <p:sp>
            <p:nvSpPr>
              <p:cNvPr id="13" name="TextBox 12">
                <a:extLst>
                  <a:ext uri="{FF2B5EF4-FFF2-40B4-BE49-F238E27FC236}">
                    <a16:creationId xmlns:a16="http://schemas.microsoft.com/office/drawing/2014/main" id="{457B02DF-BE02-DE5D-EF75-40414DC7F176}"/>
                  </a:ext>
                </a:extLst>
              </p:cNvPr>
              <p:cNvSpPr txBox="1">
                <a:spLocks noRot="1" noChangeAspect="1" noMove="1" noResize="1" noEditPoints="1" noAdjustHandles="1" noChangeArrowheads="1" noChangeShapeType="1" noTextEdit="1"/>
              </p:cNvSpPr>
              <p:nvPr/>
            </p:nvSpPr>
            <p:spPr>
              <a:xfrm>
                <a:off x="2281490" y="5483299"/>
                <a:ext cx="1866408" cy="584775"/>
              </a:xfrm>
              <a:prstGeom prst="rect">
                <a:avLst/>
              </a:prstGeom>
              <a:blipFill>
                <a:blip r:embed="rId7"/>
                <a:stretch>
                  <a:fillRect/>
                </a:stretch>
              </a:blipFill>
            </p:spPr>
            <p:txBody>
              <a:bodyPr/>
              <a:lstStyle/>
              <a:p>
                <a:r>
                  <a:rPr lang="en-NL">
                    <a:noFill/>
                  </a:rPr>
                  <a:t> </a:t>
                </a:r>
              </a:p>
            </p:txBody>
          </p:sp>
        </mc:Fallback>
      </mc:AlternateContent>
      <p:sp>
        <p:nvSpPr>
          <p:cNvPr id="16" name="Rounded Rectangle 15">
            <a:extLst>
              <a:ext uri="{FF2B5EF4-FFF2-40B4-BE49-F238E27FC236}">
                <a16:creationId xmlns:a16="http://schemas.microsoft.com/office/drawing/2014/main" id="{DF7566B6-8D50-FBBE-6655-E7B29CE5B903}"/>
              </a:ext>
            </a:extLst>
          </p:cNvPr>
          <p:cNvSpPr/>
          <p:nvPr/>
        </p:nvSpPr>
        <p:spPr>
          <a:xfrm>
            <a:off x="8011264" y="5478011"/>
            <a:ext cx="2164466" cy="633176"/>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82E4D9EA-FE31-36FD-30EF-FBC1EA0682F0}"/>
                  </a:ext>
                </a:extLst>
              </p:cNvPr>
              <p:cNvSpPr txBox="1"/>
              <p:nvPr/>
            </p:nvSpPr>
            <p:spPr>
              <a:xfrm>
                <a:off x="8128288" y="5483299"/>
                <a:ext cx="1996893"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1" i="1">
                          <a:latin typeface="Cambria Math" panose="02040503050406030204" pitchFamily="18" charset="0"/>
                        </a:rPr>
                        <m:t>𝐄</m:t>
                      </m:r>
                      <m:d>
                        <m:dPr>
                          <m:begChr m:val="["/>
                          <m:endChr m:val="]"/>
                          <m:ctrlPr>
                            <a:rPr lang="en-US" sz="3200" b="1" i="1">
                              <a:latin typeface="Cambria Math" panose="02040503050406030204" pitchFamily="18" charset="0"/>
                            </a:rPr>
                          </m:ctrlPr>
                        </m:dPr>
                        <m:e>
                          <m:r>
                            <a:rPr lang="en-US" sz="3200" b="1" i="1">
                              <a:latin typeface="Cambria Math" panose="02040503050406030204" pitchFamily="18" charset="0"/>
                            </a:rPr>
                            <m:t>𝑿</m:t>
                          </m:r>
                        </m:e>
                      </m:d>
                      <m:r>
                        <a:rPr lang="en-US" sz="3200" b="1">
                          <a:latin typeface="Cambria Math" panose="02040503050406030204" pitchFamily="18" charset="0"/>
                        </a:rPr>
                        <m:t>=</m:t>
                      </m:r>
                      <m:r>
                        <a:rPr lang="en-US" sz="3200" b="1" i="1">
                          <a:latin typeface="Cambria Math" panose="02040503050406030204" pitchFamily="18" charset="0"/>
                        </a:rPr>
                        <m:t>𝝀</m:t>
                      </m:r>
                      <m:r>
                        <m:rPr>
                          <m:sty m:val="p"/>
                        </m:rPr>
                        <a:rPr lang="nl-NL" sz="3200" b="1" i="1" smtClean="0">
                          <a:latin typeface="Cambria Math" panose="02040503050406030204" pitchFamily="18" charset="0"/>
                        </a:rPr>
                        <m:t>t</m:t>
                      </m:r>
                    </m:oMath>
                  </m:oMathPara>
                </a14:m>
                <a:endParaRPr lang="en-NL" sz="3200" b="1" dirty="0"/>
              </a:p>
            </p:txBody>
          </p:sp>
        </mc:Choice>
        <mc:Fallback>
          <p:sp>
            <p:nvSpPr>
              <p:cNvPr id="17" name="TextBox 16">
                <a:extLst>
                  <a:ext uri="{FF2B5EF4-FFF2-40B4-BE49-F238E27FC236}">
                    <a16:creationId xmlns:a16="http://schemas.microsoft.com/office/drawing/2014/main" id="{82E4D9EA-FE31-36FD-30EF-FBC1EA0682F0}"/>
                  </a:ext>
                </a:extLst>
              </p:cNvPr>
              <p:cNvSpPr txBox="1">
                <a:spLocks noRot="1" noChangeAspect="1" noMove="1" noResize="1" noEditPoints="1" noAdjustHandles="1" noChangeArrowheads="1" noChangeShapeType="1" noTextEdit="1"/>
              </p:cNvSpPr>
              <p:nvPr/>
            </p:nvSpPr>
            <p:spPr>
              <a:xfrm>
                <a:off x="8128288" y="5483299"/>
                <a:ext cx="1996893" cy="584775"/>
              </a:xfrm>
              <a:prstGeom prst="rect">
                <a:avLst/>
              </a:prstGeom>
              <a:blipFill>
                <a:blip r:embed="rId8"/>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FE07CAAD-1291-A896-8CDF-D807FB10E9EC}"/>
                  </a:ext>
                </a:extLst>
              </p:cNvPr>
              <p:cNvSpPr txBox="1"/>
              <p:nvPr/>
            </p:nvSpPr>
            <p:spPr>
              <a:xfrm>
                <a:off x="8011264" y="3592626"/>
                <a:ext cx="180233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i="1">
                          <a:latin typeface="Cambria Math" panose="02040503050406030204" pitchFamily="18" charset="0"/>
                        </a:rPr>
                        <m:t>𝜆</m:t>
                      </m:r>
                      <m:r>
                        <a:rPr lang="nl-NL" sz="2800" b="0" i="1" smtClean="0">
                          <a:latin typeface="Cambria Math" panose="02040503050406030204" pitchFamily="18" charset="0"/>
                        </a:rPr>
                        <m:t> = 0.4</m:t>
                      </m:r>
                    </m:oMath>
                  </m:oMathPara>
                </a14:m>
                <a:endParaRPr lang="en-NL" sz="2800" dirty="0"/>
              </a:p>
            </p:txBody>
          </p:sp>
        </mc:Choice>
        <mc:Fallback>
          <p:sp>
            <p:nvSpPr>
              <p:cNvPr id="18" name="TextBox 17">
                <a:extLst>
                  <a:ext uri="{FF2B5EF4-FFF2-40B4-BE49-F238E27FC236}">
                    <a16:creationId xmlns:a16="http://schemas.microsoft.com/office/drawing/2014/main" id="{FE07CAAD-1291-A896-8CDF-D807FB10E9EC}"/>
                  </a:ext>
                </a:extLst>
              </p:cNvPr>
              <p:cNvSpPr txBox="1">
                <a:spLocks noRot="1" noChangeAspect="1" noMove="1" noResize="1" noEditPoints="1" noAdjustHandles="1" noChangeArrowheads="1" noChangeShapeType="1" noTextEdit="1"/>
              </p:cNvSpPr>
              <p:nvPr/>
            </p:nvSpPr>
            <p:spPr>
              <a:xfrm>
                <a:off x="8011264" y="3592626"/>
                <a:ext cx="1802330" cy="523220"/>
              </a:xfrm>
              <a:prstGeom prst="rect">
                <a:avLst/>
              </a:prstGeom>
              <a:blipFill>
                <a:blip r:embed="rId9"/>
                <a:stretch>
                  <a:fillRect b="-23810"/>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029BAE5F-79AD-4E67-902A-E27CD2D9BA7A}"/>
                  </a:ext>
                </a:extLst>
              </p:cNvPr>
              <p:cNvSpPr txBox="1"/>
              <p:nvPr/>
            </p:nvSpPr>
            <p:spPr>
              <a:xfrm>
                <a:off x="6354780" y="4272392"/>
                <a:ext cx="5837220" cy="769441"/>
              </a:xfrm>
              <a:prstGeom prst="rect">
                <a:avLst/>
              </a:prstGeom>
              <a:noFill/>
            </p:spPr>
            <p:txBody>
              <a:bodyPr wrap="square" rtlCol="0">
                <a:spAutoFit/>
              </a:bodyPr>
              <a:lstStyle/>
              <a:p>
                <a14:m>
                  <m:oMath xmlns:m="http://schemas.openxmlformats.org/officeDocument/2006/math">
                    <m:r>
                      <a:rPr lang="en-GB" sz="2400" b="1">
                        <a:solidFill>
                          <a:schemeClr val="accent1"/>
                        </a:solidFill>
                        <a:latin typeface="Cambria Math" panose="02040503050406030204" pitchFamily="18" charset="0"/>
                      </a:rPr>
                      <m:t>𝜆</m:t>
                    </m:r>
                  </m:oMath>
                </a14:m>
                <a:r>
                  <a:rPr lang="en-NL" sz="2400" b="1" dirty="0">
                    <a:solidFill>
                      <a:schemeClr val="accent1"/>
                    </a:solidFill>
                  </a:rPr>
                  <a:t> is the rate (e.g. per day), t is the time</a:t>
                </a:r>
              </a:p>
              <a:p>
                <a:r>
                  <a:rPr lang="en-NL" sz="2000" i="1" dirty="0"/>
                  <a:t>This is a matter of the definition of </a:t>
                </a:r>
                <a14:m>
                  <m:oMath xmlns:m="http://schemas.openxmlformats.org/officeDocument/2006/math">
                    <m:r>
                      <a:rPr lang="nl-NL" sz="2000" b="0" i="1" smtClean="0">
                        <a:latin typeface="Cambria Math" panose="02040503050406030204" pitchFamily="18" charset="0"/>
                      </a:rPr>
                      <m:t>𝑜𝑢𝑟</m:t>
                    </m:r>
                    <m:r>
                      <a:rPr lang="nl-NL" sz="2000" b="0" i="1" smtClean="0">
                        <a:latin typeface="Cambria Math" panose="02040503050406030204" pitchFamily="18" charset="0"/>
                      </a:rPr>
                      <m:t> </m:t>
                    </m:r>
                    <m:r>
                      <a:rPr lang="nl-NL" sz="2000" b="0" i="1" smtClean="0">
                        <a:latin typeface="Cambria Math" panose="02040503050406030204" pitchFamily="18" charset="0"/>
                      </a:rPr>
                      <m:t>𝑝𝑎𝑟</m:t>
                    </m:r>
                    <m:r>
                      <m:rPr>
                        <m:sty m:val="p"/>
                      </m:rPr>
                      <a:rPr lang="nl-NL" sz="2000" b="0" i="1" smtClean="0">
                        <a:latin typeface="Cambria Math" panose="02040503050406030204" pitchFamily="18" charset="0"/>
                      </a:rPr>
                      <m:t>a</m:t>
                    </m:r>
                    <m:r>
                      <a:rPr lang="nl-NL" sz="2000" b="0" i="1" smtClean="0">
                        <a:latin typeface="Cambria Math" panose="02040503050406030204" pitchFamily="18" charset="0"/>
                      </a:rPr>
                      <m:t>𝑚𝑒𝑡𝑒𝑟</m:t>
                    </m:r>
                    <m:r>
                      <a:rPr lang="nl-NL" sz="2000" b="0" i="1" smtClean="0">
                        <a:latin typeface="Cambria Math" panose="02040503050406030204" pitchFamily="18" charset="0"/>
                      </a:rPr>
                      <m:t> </m:t>
                    </m:r>
                    <m:r>
                      <a:rPr lang="en-GB" sz="2000" i="1">
                        <a:latin typeface="Cambria Math" panose="02040503050406030204" pitchFamily="18" charset="0"/>
                      </a:rPr>
                      <m:t>𝜆</m:t>
                    </m:r>
                  </m:oMath>
                </a14:m>
                <a:r>
                  <a:rPr lang="en-NL" sz="2000" i="1" dirty="0"/>
                  <a:t> </a:t>
                </a:r>
              </a:p>
            </p:txBody>
          </p:sp>
        </mc:Choice>
        <mc:Fallback>
          <p:sp>
            <p:nvSpPr>
              <p:cNvPr id="19" name="TextBox 18">
                <a:extLst>
                  <a:ext uri="{FF2B5EF4-FFF2-40B4-BE49-F238E27FC236}">
                    <a16:creationId xmlns:a16="http://schemas.microsoft.com/office/drawing/2014/main" id="{029BAE5F-79AD-4E67-902A-E27CD2D9BA7A}"/>
                  </a:ext>
                </a:extLst>
              </p:cNvPr>
              <p:cNvSpPr txBox="1">
                <a:spLocks noRot="1" noChangeAspect="1" noMove="1" noResize="1" noEditPoints="1" noAdjustHandles="1" noChangeArrowheads="1" noChangeShapeType="1" noTextEdit="1"/>
              </p:cNvSpPr>
              <p:nvPr/>
            </p:nvSpPr>
            <p:spPr>
              <a:xfrm>
                <a:off x="6354780" y="4272392"/>
                <a:ext cx="5837220" cy="769441"/>
              </a:xfrm>
              <a:prstGeom prst="rect">
                <a:avLst/>
              </a:prstGeom>
              <a:blipFill>
                <a:blip r:embed="rId10"/>
                <a:stretch>
                  <a:fillRect l="-1085" t="-4918" b="-14754"/>
                </a:stretch>
              </a:blipFill>
            </p:spPr>
            <p:txBody>
              <a:bodyPr/>
              <a:lstStyle/>
              <a:p>
                <a:r>
                  <a:rPr lang="en-NL">
                    <a:noFill/>
                  </a:rPr>
                  <a:t> </a:t>
                </a:r>
              </a:p>
            </p:txBody>
          </p:sp>
        </mc:Fallback>
      </mc:AlternateContent>
      <p:sp>
        <p:nvSpPr>
          <p:cNvPr id="3" name="Rounded Rectangle 2">
            <a:extLst>
              <a:ext uri="{FF2B5EF4-FFF2-40B4-BE49-F238E27FC236}">
                <a16:creationId xmlns:a16="http://schemas.microsoft.com/office/drawing/2014/main" id="{DEB690CD-D439-35B8-B661-D49CD36F4914}"/>
              </a:ext>
            </a:extLst>
          </p:cNvPr>
          <p:cNvSpPr/>
          <p:nvPr/>
        </p:nvSpPr>
        <p:spPr>
          <a:xfrm>
            <a:off x="3715473" y="1718733"/>
            <a:ext cx="231494" cy="526756"/>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5" name="Rounded Rectangle 4">
            <a:extLst>
              <a:ext uri="{FF2B5EF4-FFF2-40B4-BE49-F238E27FC236}">
                <a16:creationId xmlns:a16="http://schemas.microsoft.com/office/drawing/2014/main" id="{E8D7036F-2D86-0862-C082-F85FC6F393BE}"/>
              </a:ext>
            </a:extLst>
          </p:cNvPr>
          <p:cNvSpPr/>
          <p:nvPr/>
        </p:nvSpPr>
        <p:spPr>
          <a:xfrm>
            <a:off x="4595146" y="1541195"/>
            <a:ext cx="231494" cy="526756"/>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7" name="Rounded Rectangle 6">
            <a:extLst>
              <a:ext uri="{FF2B5EF4-FFF2-40B4-BE49-F238E27FC236}">
                <a16:creationId xmlns:a16="http://schemas.microsoft.com/office/drawing/2014/main" id="{45A35DE5-DA5B-B914-D263-4138221E876D}"/>
              </a:ext>
            </a:extLst>
          </p:cNvPr>
          <p:cNvSpPr/>
          <p:nvPr/>
        </p:nvSpPr>
        <p:spPr>
          <a:xfrm>
            <a:off x="8796681" y="1695583"/>
            <a:ext cx="756789" cy="549905"/>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9" name="Rounded Rectangle 8">
            <a:extLst>
              <a:ext uri="{FF2B5EF4-FFF2-40B4-BE49-F238E27FC236}">
                <a16:creationId xmlns:a16="http://schemas.microsoft.com/office/drawing/2014/main" id="{CF644C95-059D-84A1-E5F2-B140A3EE82E2}"/>
              </a:ext>
            </a:extLst>
          </p:cNvPr>
          <p:cNvSpPr/>
          <p:nvPr/>
        </p:nvSpPr>
        <p:spPr>
          <a:xfrm>
            <a:off x="10201661" y="1541195"/>
            <a:ext cx="481759" cy="526756"/>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23" name="Curved Right Arrow 22">
            <a:extLst>
              <a:ext uri="{FF2B5EF4-FFF2-40B4-BE49-F238E27FC236}">
                <a16:creationId xmlns:a16="http://schemas.microsoft.com/office/drawing/2014/main" id="{A88736BD-7556-B35E-9CB1-C780DC9126FD}"/>
              </a:ext>
            </a:extLst>
          </p:cNvPr>
          <p:cNvSpPr/>
          <p:nvPr/>
        </p:nvSpPr>
        <p:spPr>
          <a:xfrm rot="16200000" flipH="1">
            <a:off x="7347695" y="-1525725"/>
            <a:ext cx="358800" cy="5632405"/>
          </a:xfrm>
          <a:prstGeom prst="curv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solidFill>
                <a:schemeClr val="tx1"/>
              </a:solidFill>
            </a:endParaRPr>
          </a:p>
        </p:txBody>
      </p:sp>
      <p:sp>
        <p:nvSpPr>
          <p:cNvPr id="24" name="Curved Right Arrow 23">
            <a:extLst>
              <a:ext uri="{FF2B5EF4-FFF2-40B4-BE49-F238E27FC236}">
                <a16:creationId xmlns:a16="http://schemas.microsoft.com/office/drawing/2014/main" id="{F1F958E7-0F93-D2C2-514D-5DD98FB8237B}"/>
              </a:ext>
            </a:extLst>
          </p:cNvPr>
          <p:cNvSpPr/>
          <p:nvPr/>
        </p:nvSpPr>
        <p:spPr>
          <a:xfrm rot="5400000" flipH="1" flipV="1">
            <a:off x="6308211" y="-167852"/>
            <a:ext cx="358801" cy="5312783"/>
          </a:xfrm>
          <a:prstGeom prst="curv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solidFill>
                <a:schemeClr val="tx1"/>
              </a:solidFill>
            </a:endParaRPr>
          </a:p>
        </p:txBody>
      </p:sp>
    </p:spTree>
    <p:extLst>
      <p:ext uri="{BB962C8B-B14F-4D97-AF65-F5344CB8AC3E}">
        <p14:creationId xmlns:p14="http://schemas.microsoft.com/office/powerpoint/2010/main" val="42116757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E772A-D53F-BE04-B3CE-A2A4A6F859FC}"/>
              </a:ext>
            </a:extLst>
          </p:cNvPr>
          <p:cNvSpPr>
            <a:spLocks noGrp="1"/>
          </p:cNvSpPr>
          <p:nvPr>
            <p:ph type="title"/>
          </p:nvPr>
        </p:nvSpPr>
        <p:spPr/>
        <p:txBody>
          <a:bodyPr/>
          <a:lstStyle/>
          <a:p>
            <a:r>
              <a:rPr lang="en-NL" dirty="0">
                <a:solidFill>
                  <a:schemeClr val="accent1"/>
                </a:solidFill>
              </a:rPr>
              <a:t>Poisson: </a:t>
            </a:r>
            <a:r>
              <a:rPr lang="en-NL" dirty="0">
                <a:solidFill>
                  <a:schemeClr val="accent2"/>
                </a:solidFill>
              </a:rPr>
              <a:t>quick overview</a:t>
            </a:r>
          </a:p>
        </p:txBody>
      </p:sp>
      <p:sp>
        <p:nvSpPr>
          <p:cNvPr id="3" name="Content Placeholder 2">
            <a:extLst>
              <a:ext uri="{FF2B5EF4-FFF2-40B4-BE49-F238E27FC236}">
                <a16:creationId xmlns:a16="http://schemas.microsoft.com/office/drawing/2014/main" id="{E49A75A3-FB5B-F3CD-8A89-03D86C7CEF5E}"/>
              </a:ext>
            </a:extLst>
          </p:cNvPr>
          <p:cNvSpPr>
            <a:spLocks noGrp="1"/>
          </p:cNvSpPr>
          <p:nvPr>
            <p:ph idx="1"/>
          </p:nvPr>
        </p:nvSpPr>
        <p:spPr>
          <a:xfrm>
            <a:off x="480001" y="1377025"/>
            <a:ext cx="11102399" cy="4445149"/>
          </a:xfrm>
        </p:spPr>
        <p:txBody>
          <a:bodyPr/>
          <a:lstStyle/>
          <a:p>
            <a:endParaRPr lang="en-NL" dirty="0"/>
          </a:p>
          <a:p>
            <a:endParaRPr lang="en-NL" dirty="0"/>
          </a:p>
          <a:p>
            <a:endParaRPr lang="en-NL" dirty="0"/>
          </a:p>
          <a:p>
            <a:endParaRPr lang="en-NL" sz="3600" dirty="0"/>
          </a:p>
          <a:p>
            <a:r>
              <a:rPr lang="en-NL" sz="3600" dirty="0"/>
              <a:t>We are still using </a:t>
            </a:r>
            <a:r>
              <a:rPr lang="en-NL" sz="3600" b="1" dirty="0"/>
              <a:t>discrete</a:t>
            </a:r>
            <a:r>
              <a:rPr lang="en-NL" sz="3600" dirty="0"/>
              <a:t> RV’s</a:t>
            </a:r>
          </a:p>
          <a:p>
            <a:r>
              <a:rPr lang="en-NL" sz="3600" dirty="0"/>
              <a:t>Events are </a:t>
            </a:r>
            <a:r>
              <a:rPr lang="en-NL" sz="3600" b="1" dirty="0"/>
              <a:t>independent</a:t>
            </a:r>
          </a:p>
          <a:p>
            <a:r>
              <a:rPr lang="en-NL" sz="3600" dirty="0"/>
              <a:t>Evants happen at a </a:t>
            </a:r>
            <a:r>
              <a:rPr lang="en-NL" sz="3600" b="1" dirty="0"/>
              <a:t>constant</a:t>
            </a:r>
            <a:r>
              <a:rPr lang="en-NL" sz="3600" dirty="0"/>
              <a:t> average rate</a:t>
            </a:r>
          </a:p>
        </p:txBody>
      </p:sp>
      <mc:AlternateContent xmlns:mc="http://schemas.openxmlformats.org/markup-compatibility/2006">
        <mc:Choice xmlns:a14="http://schemas.microsoft.com/office/drawing/2010/main" Requires="a14">
          <p:graphicFrame>
            <p:nvGraphicFramePr>
              <p:cNvPr id="5" name="Content Placeholder 5">
                <a:extLst>
                  <a:ext uri="{FF2B5EF4-FFF2-40B4-BE49-F238E27FC236}">
                    <a16:creationId xmlns:a16="http://schemas.microsoft.com/office/drawing/2014/main" id="{D7002C42-A39B-9FE4-F40A-3A240DFA4A6C}"/>
                  </a:ext>
                </a:extLst>
              </p:cNvPr>
              <p:cNvGraphicFramePr>
                <a:graphicFrameLocks/>
              </p:cNvGraphicFramePr>
              <p:nvPr>
                <p:extLst>
                  <p:ext uri="{D42A27DB-BD31-4B8C-83A1-F6EECF244321}">
                    <p14:modId xmlns:p14="http://schemas.microsoft.com/office/powerpoint/2010/main" val="3812005430"/>
                  </p:ext>
                </p:extLst>
              </p:nvPr>
            </p:nvGraphicFramePr>
            <p:xfrm>
              <a:off x="480000" y="1347992"/>
              <a:ext cx="11101917" cy="2078673"/>
            </p:xfrm>
            <a:graphic>
              <a:graphicData uri="http://schemas.openxmlformats.org/drawingml/2006/table">
                <a:tbl>
                  <a:tblPr firstRow="1" bandRow="1">
                    <a:tableStyleId>{5C22544A-7EE6-4342-B048-85BDC9FD1C3A}</a:tableStyleId>
                  </a:tblPr>
                  <a:tblGrid>
                    <a:gridCol w="11101917">
                      <a:extLst>
                        <a:ext uri="{9D8B030D-6E8A-4147-A177-3AD203B41FA5}">
                          <a16:colId xmlns:a16="http://schemas.microsoft.com/office/drawing/2014/main" val="2806566759"/>
                        </a:ext>
                      </a:extLst>
                    </a:gridCol>
                  </a:tblGrid>
                  <a:tr h="444483">
                    <a:tc>
                      <a:txBody>
                        <a:bodyPr/>
                        <a:lstStyle/>
                        <a:p>
                          <a:r>
                            <a:rPr lang="en-US" sz="2400" dirty="0"/>
                            <a:t>Poisson Distribution</a:t>
                          </a:r>
                        </a:p>
                      </a:txBody>
                      <a:tcPr marL="121920" marR="121920" marT="60960" marB="60960"/>
                    </a:tc>
                    <a:extLst>
                      <a:ext uri="{0D108BD9-81ED-4DB2-BD59-A6C34878D82A}">
                        <a16:rowId xmlns:a16="http://schemas.microsoft.com/office/drawing/2014/main" val="4282699494"/>
                      </a:ext>
                    </a:extLst>
                  </a:tr>
                  <a:tr h="1570814">
                    <a:tc>
                      <a:txBody>
                        <a:bodyPr/>
                        <a:lstStyle/>
                        <a:p>
                          <a:pPr marL="0" indent="0">
                            <a:buFont typeface="Arial" panose="020B0604020202020204" pitchFamily="34" charset="0"/>
                            <a:buNone/>
                          </a:pPr>
                          <a:r>
                            <a:rPr lang="en-US" sz="2000" dirty="0"/>
                            <a:t>If we have a </a:t>
                          </a:r>
                          <a:r>
                            <a:rPr lang="en-US" sz="2000" b="1" i="1" dirty="0"/>
                            <a:t>Poisson</a:t>
                          </a:r>
                          <a:r>
                            <a:rPr lang="en-US" sz="2000" b="1" i="1" baseline="0" dirty="0"/>
                            <a:t> Process </a:t>
                          </a:r>
                          <a:r>
                            <a:rPr lang="en-US" sz="2000" baseline="0" dirty="0"/>
                            <a:t>with </a:t>
                          </a:r>
                          <a:r>
                            <a:rPr lang="en-US" sz="2400" b="1" baseline="0" dirty="0"/>
                            <a:t>rate </a:t>
                          </a:r>
                          <a14:m>
                            <m:oMath xmlns:m="http://schemas.openxmlformats.org/officeDocument/2006/math">
                              <m:r>
                                <a:rPr lang="en-US" sz="2400" b="1" i="1" smtClean="0">
                                  <a:latin typeface="Cambria Math" panose="02040503050406030204" pitchFamily="18" charset="0"/>
                                </a:rPr>
                                <m:t>𝝀</m:t>
                              </m:r>
                            </m:oMath>
                          </a14:m>
                          <a:r>
                            <a:rPr lang="en-US" sz="2400" b="1" baseline="0" dirty="0"/>
                            <a:t> </a:t>
                          </a:r>
                          <a:r>
                            <a:rPr lang="en-US" sz="2000" baseline="0" dirty="0"/>
                            <a:t>and we define </a:t>
                          </a:r>
                          <a14:m>
                            <m:oMath xmlns:m="http://schemas.openxmlformats.org/officeDocument/2006/math">
                              <m:r>
                                <a:rPr lang="en-US" sz="2000" b="0" i="1" smtClean="0">
                                  <a:latin typeface="Cambria Math" panose="02040503050406030204" pitchFamily="18" charset="0"/>
                                </a:rPr>
                                <m:t>𝑋</m:t>
                              </m:r>
                            </m:oMath>
                          </a14:m>
                          <a:r>
                            <a:rPr lang="en-US" sz="2000" baseline="0" dirty="0"/>
                            <a:t> to be the number of arrivals in the </a:t>
                          </a:r>
                          <a:r>
                            <a:rPr lang="en-US" sz="2000" dirty="0">
                              <a:ea typeface="Cambria Math" panose="02040503050406030204" pitchFamily="18" charset="0"/>
                            </a:rPr>
                            <a:t>interval </a:t>
                          </a:r>
                          <a14:m>
                            <m:oMath xmlns:m="http://schemas.openxmlformats.org/officeDocument/2006/math">
                              <m:d>
                                <m:dPr>
                                  <m:begChr m:val="["/>
                                  <m:ctrlPr>
                                    <a:rPr lang="en-US" sz="2000" i="1" dirty="0" smtClean="0">
                                      <a:latin typeface="Cambria Math" panose="02040503050406030204" pitchFamily="18" charset="0"/>
                                      <a:ea typeface="Cambria Math" panose="02040503050406030204" pitchFamily="18" charset="0"/>
                                    </a:rPr>
                                  </m:ctrlPr>
                                </m:dPr>
                                <m:e>
                                  <m:r>
                                    <a:rPr lang="en-US" sz="2000" i="1" dirty="0" smtClean="0">
                                      <a:latin typeface="Cambria Math" panose="02040503050406030204" pitchFamily="18" charset="0"/>
                                      <a:ea typeface="Cambria Math" panose="02040503050406030204" pitchFamily="18" charset="0"/>
                                    </a:rPr>
                                    <m:t>0,</m:t>
                                  </m:r>
                                  <m:r>
                                    <a:rPr lang="en-US" sz="2000" i="1" dirty="0" smtClean="0">
                                      <a:latin typeface="Cambria Math" panose="02040503050406030204" pitchFamily="18" charset="0"/>
                                      <a:ea typeface="Cambria Math" panose="02040503050406030204" pitchFamily="18" charset="0"/>
                                    </a:rPr>
                                    <m:t>𝑡</m:t>
                                  </m:r>
                                </m:e>
                              </m:d>
                            </m:oMath>
                          </a14:m>
                          <a:r>
                            <a:rPr lang="en-US" sz="2000" dirty="0">
                              <a:ea typeface="Cambria Math" panose="02040503050406030204" pitchFamily="18" charset="0"/>
                            </a:rPr>
                            <a:t>, then </a:t>
                          </a:r>
                          <a14:m>
                            <m:oMath xmlns:m="http://schemas.openxmlformats.org/officeDocument/2006/math">
                              <m:r>
                                <a:rPr lang="en-US" sz="2000" b="0" i="1" smtClean="0">
                                  <a:latin typeface="Cambria Math" panose="02040503050406030204" pitchFamily="18" charset="0"/>
                                </a:rPr>
                                <m:t>𝑋</m:t>
                              </m:r>
                              <m:r>
                                <a:rPr lang="en-US" sz="2000" b="0" i="1" smtClean="0">
                                  <a:latin typeface="Cambria Math" panose="02040503050406030204" pitchFamily="18" charset="0"/>
                                </a:rPr>
                                <m:t>∼</m:t>
                              </m:r>
                              <m:r>
                                <a:rPr lang="en-US" sz="2000" b="0" i="1" smtClean="0">
                                  <a:latin typeface="Cambria Math" panose="02040503050406030204" pitchFamily="18" charset="0"/>
                                </a:rPr>
                                <m:t>𝑃𝑜𝑖</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𝜆</m:t>
                                  </m:r>
                                  <m:r>
                                    <a:rPr lang="en-US" sz="2000" b="0" i="1" smtClean="0">
                                      <a:latin typeface="Cambria Math" panose="02040503050406030204" pitchFamily="18" charset="0"/>
                                    </a:rPr>
                                    <m:t>𝑡</m:t>
                                  </m:r>
                                </m:e>
                              </m:d>
                            </m:oMath>
                          </a14:m>
                          <a:r>
                            <a:rPr lang="en-US" sz="2000" dirty="0">
                              <a:ea typeface="Cambria Math" panose="02040503050406030204" pitchFamily="18" charset="0"/>
                            </a:rPr>
                            <a:t> and</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700" b="0" i="1" smtClean="0">
                                    <a:latin typeface="Cambria Math" panose="02040503050406030204" pitchFamily="18" charset="0"/>
                                  </a:rPr>
                                  <m:t>𝑃</m:t>
                                </m:r>
                                <m:d>
                                  <m:dPr>
                                    <m:ctrlPr>
                                      <a:rPr lang="en-US" sz="2700" b="0" i="1" smtClean="0">
                                        <a:latin typeface="Cambria Math" panose="02040503050406030204" pitchFamily="18" charset="0"/>
                                      </a:rPr>
                                    </m:ctrlPr>
                                  </m:dPr>
                                  <m:e>
                                    <m:r>
                                      <a:rPr lang="en-US" sz="2700" b="0" i="1" smtClean="0">
                                        <a:latin typeface="Cambria Math" panose="02040503050406030204" pitchFamily="18" charset="0"/>
                                      </a:rPr>
                                      <m:t>𝑋</m:t>
                                    </m:r>
                                    <m:r>
                                      <a:rPr lang="en-US" sz="2700" b="0" i="1" smtClean="0">
                                        <a:latin typeface="Cambria Math" panose="02040503050406030204" pitchFamily="18" charset="0"/>
                                      </a:rPr>
                                      <m:t>=</m:t>
                                    </m:r>
                                    <m:r>
                                      <a:rPr lang="en-US" sz="2700" b="0" i="1" smtClean="0">
                                        <a:latin typeface="Cambria Math" panose="02040503050406030204" pitchFamily="18" charset="0"/>
                                      </a:rPr>
                                      <m:t>𝑥</m:t>
                                    </m:r>
                                  </m:e>
                                </m:d>
                                <m:r>
                                  <a:rPr lang="en-US" sz="2700" i="1" smtClean="0">
                                    <a:latin typeface="Cambria Math" panose="02040503050406030204" pitchFamily="18" charset="0"/>
                                  </a:rPr>
                                  <m:t>=</m:t>
                                </m:r>
                                <m:sSup>
                                  <m:sSupPr>
                                    <m:ctrlPr>
                                      <a:rPr lang="en-US" sz="2700" b="0" i="1" smtClean="0">
                                        <a:latin typeface="Cambria Math" panose="02040503050406030204" pitchFamily="18" charset="0"/>
                                        <a:ea typeface="Cambria Math" panose="02040503050406030204" pitchFamily="18" charset="0"/>
                                      </a:rPr>
                                    </m:ctrlPr>
                                  </m:sSupPr>
                                  <m:e>
                                    <m:r>
                                      <a:rPr lang="en-US" sz="2700" b="0" i="1" smtClean="0">
                                        <a:latin typeface="Cambria Math" panose="02040503050406030204" pitchFamily="18" charset="0"/>
                                        <a:ea typeface="Cambria Math" panose="02040503050406030204" pitchFamily="18" charset="0"/>
                                      </a:rPr>
                                      <m:t>𝑒</m:t>
                                    </m:r>
                                  </m:e>
                                  <m:sup>
                                    <m:r>
                                      <a:rPr lang="en-US" sz="2700" b="0" i="1" smtClean="0">
                                        <a:latin typeface="Cambria Math" panose="02040503050406030204" pitchFamily="18" charset="0"/>
                                        <a:ea typeface="Cambria Math" panose="02040503050406030204" pitchFamily="18" charset="0"/>
                                      </a:rPr>
                                      <m:t>−</m:t>
                                    </m:r>
                                    <m:r>
                                      <a:rPr lang="en-US" sz="2700" b="0" i="1" smtClean="0">
                                        <a:latin typeface="Cambria Math" panose="02040503050406030204" pitchFamily="18" charset="0"/>
                                        <a:ea typeface="Cambria Math" panose="02040503050406030204" pitchFamily="18" charset="0"/>
                                      </a:rPr>
                                      <m:t>𝜆</m:t>
                                    </m:r>
                                    <m:r>
                                      <a:rPr lang="en-US" sz="2700" b="0" i="1" smtClean="0">
                                        <a:latin typeface="Cambria Math" panose="02040503050406030204" pitchFamily="18" charset="0"/>
                                        <a:ea typeface="Cambria Math" panose="02040503050406030204" pitchFamily="18" charset="0"/>
                                      </a:rPr>
                                      <m:t>𝑡</m:t>
                                    </m:r>
                                  </m:sup>
                                </m:sSup>
                                <m:f>
                                  <m:fPr>
                                    <m:ctrlPr>
                                      <a:rPr lang="en-US" sz="2700" b="0" i="1" smtClean="0">
                                        <a:latin typeface="Cambria Math" panose="02040503050406030204" pitchFamily="18" charset="0"/>
                                        <a:ea typeface="Cambria Math" panose="02040503050406030204" pitchFamily="18" charset="0"/>
                                      </a:rPr>
                                    </m:ctrlPr>
                                  </m:fPr>
                                  <m:num>
                                    <m:sSup>
                                      <m:sSupPr>
                                        <m:ctrlPr>
                                          <a:rPr lang="en-US" sz="2700" b="0" i="1" smtClean="0">
                                            <a:latin typeface="Cambria Math" panose="02040503050406030204" pitchFamily="18" charset="0"/>
                                            <a:ea typeface="Cambria Math" panose="02040503050406030204" pitchFamily="18" charset="0"/>
                                          </a:rPr>
                                        </m:ctrlPr>
                                      </m:sSupPr>
                                      <m:e>
                                        <m:d>
                                          <m:dPr>
                                            <m:ctrlPr>
                                              <a:rPr lang="en-US" sz="2700" b="0" i="1" smtClean="0">
                                                <a:latin typeface="Cambria Math" panose="02040503050406030204" pitchFamily="18" charset="0"/>
                                                <a:ea typeface="Cambria Math" panose="02040503050406030204" pitchFamily="18" charset="0"/>
                                              </a:rPr>
                                            </m:ctrlPr>
                                          </m:dPr>
                                          <m:e>
                                            <m:r>
                                              <a:rPr lang="en-US" sz="2700" b="0" i="1" smtClean="0">
                                                <a:latin typeface="Cambria Math" panose="02040503050406030204" pitchFamily="18" charset="0"/>
                                                <a:ea typeface="Cambria Math" panose="02040503050406030204" pitchFamily="18" charset="0"/>
                                              </a:rPr>
                                              <m:t>𝜆</m:t>
                                            </m:r>
                                            <m:r>
                                              <a:rPr lang="en-US" sz="2700" b="0" i="1" smtClean="0">
                                                <a:latin typeface="Cambria Math" panose="02040503050406030204" pitchFamily="18" charset="0"/>
                                                <a:ea typeface="Cambria Math" panose="02040503050406030204" pitchFamily="18" charset="0"/>
                                              </a:rPr>
                                              <m:t>𝑡</m:t>
                                            </m:r>
                                          </m:e>
                                        </m:d>
                                      </m:e>
                                      <m:sup>
                                        <m:r>
                                          <a:rPr lang="en-US" sz="2700" b="0" i="1" smtClean="0">
                                            <a:latin typeface="Cambria Math" panose="02040503050406030204" pitchFamily="18" charset="0"/>
                                            <a:ea typeface="Cambria Math" panose="02040503050406030204" pitchFamily="18" charset="0"/>
                                          </a:rPr>
                                          <m:t>𝑥</m:t>
                                        </m:r>
                                      </m:sup>
                                    </m:sSup>
                                  </m:num>
                                  <m:den>
                                    <m:r>
                                      <a:rPr lang="en-US" sz="2700" b="0" i="1" smtClean="0">
                                        <a:latin typeface="Cambria Math" panose="02040503050406030204" pitchFamily="18" charset="0"/>
                                        <a:ea typeface="Cambria Math" panose="02040503050406030204" pitchFamily="18" charset="0"/>
                                      </a:rPr>
                                      <m:t>𝑥</m:t>
                                    </m:r>
                                    <m:r>
                                      <a:rPr lang="en-US" sz="2700" b="0" i="1" smtClean="0">
                                        <a:latin typeface="Cambria Math" panose="02040503050406030204" pitchFamily="18" charset="0"/>
                                        <a:ea typeface="Cambria Math" panose="02040503050406030204" pitchFamily="18" charset="0"/>
                                      </a:rPr>
                                      <m:t>!</m:t>
                                    </m:r>
                                  </m:den>
                                </m:f>
                                <m:r>
                                  <a:rPr lang="en-US" sz="2700" b="0" i="1" smtClean="0">
                                    <a:latin typeface="Cambria Math" panose="02040503050406030204" pitchFamily="18" charset="0"/>
                                  </a:rPr>
                                  <m:t>,  </m:t>
                                </m:r>
                                <m:r>
                                  <a:rPr lang="en-US" sz="2700" b="0" i="1" smtClean="0">
                                    <a:latin typeface="Cambria Math" panose="02040503050406030204" pitchFamily="18" charset="0"/>
                                  </a:rPr>
                                  <m:t>𝑥</m:t>
                                </m:r>
                                <m:r>
                                  <a:rPr lang="en-US" sz="2700" b="0" i="1" smtClean="0">
                                    <a:latin typeface="Cambria Math" panose="02040503050406030204" pitchFamily="18" charset="0"/>
                                  </a:rPr>
                                  <m:t>∈</m:t>
                                </m:r>
                                <m:r>
                                  <a:rPr lang="en-US" sz="2700" b="0" i="1" smtClean="0">
                                    <a:latin typeface="Cambria Math" panose="02040503050406030204" pitchFamily="18" charset="0"/>
                                    <a:ea typeface="Cambria Math" panose="02040503050406030204" pitchFamily="18" charset="0"/>
                                  </a:rPr>
                                  <m:t>ℕ</m:t>
                                </m:r>
                              </m:oMath>
                            </m:oMathPara>
                          </a14:m>
                          <a:endParaRPr lang="en-US" sz="2700" b="0" i="0" baseline="0" dirty="0"/>
                        </a:p>
                      </a:txBody>
                      <a:tcPr marL="121920" marR="121920" marT="60960" marB="60960"/>
                    </a:tc>
                    <a:extLst>
                      <a:ext uri="{0D108BD9-81ED-4DB2-BD59-A6C34878D82A}">
                        <a16:rowId xmlns:a16="http://schemas.microsoft.com/office/drawing/2014/main" val="2257841623"/>
                      </a:ext>
                    </a:extLst>
                  </a:tr>
                </a:tbl>
              </a:graphicData>
            </a:graphic>
          </p:graphicFrame>
        </mc:Choice>
        <mc:Fallback>
          <p:graphicFrame>
            <p:nvGraphicFramePr>
              <p:cNvPr id="5" name="Content Placeholder 5">
                <a:extLst>
                  <a:ext uri="{FF2B5EF4-FFF2-40B4-BE49-F238E27FC236}">
                    <a16:creationId xmlns:a16="http://schemas.microsoft.com/office/drawing/2014/main" id="{D7002C42-A39B-9FE4-F40A-3A240DFA4A6C}"/>
                  </a:ext>
                </a:extLst>
              </p:cNvPr>
              <p:cNvGraphicFramePr>
                <a:graphicFrameLocks/>
              </p:cNvGraphicFramePr>
              <p:nvPr>
                <p:extLst>
                  <p:ext uri="{D42A27DB-BD31-4B8C-83A1-F6EECF244321}">
                    <p14:modId xmlns:p14="http://schemas.microsoft.com/office/powerpoint/2010/main" val="3812005430"/>
                  </p:ext>
                </p:extLst>
              </p:nvPr>
            </p:nvGraphicFramePr>
            <p:xfrm>
              <a:off x="480000" y="1347992"/>
              <a:ext cx="11101917" cy="2078673"/>
            </p:xfrm>
            <a:graphic>
              <a:graphicData uri="http://schemas.openxmlformats.org/drawingml/2006/table">
                <a:tbl>
                  <a:tblPr firstRow="1" bandRow="1">
                    <a:tableStyleId>{5C22544A-7EE6-4342-B048-85BDC9FD1C3A}</a:tableStyleId>
                  </a:tblPr>
                  <a:tblGrid>
                    <a:gridCol w="11101917">
                      <a:extLst>
                        <a:ext uri="{9D8B030D-6E8A-4147-A177-3AD203B41FA5}">
                          <a16:colId xmlns:a16="http://schemas.microsoft.com/office/drawing/2014/main" val="2806566759"/>
                        </a:ext>
                      </a:extLst>
                    </a:gridCol>
                  </a:tblGrid>
                  <a:tr h="487680">
                    <a:tc>
                      <a:txBody>
                        <a:bodyPr/>
                        <a:lstStyle/>
                        <a:p>
                          <a:r>
                            <a:rPr lang="en-US" sz="2400" dirty="0"/>
                            <a:t>Poisson Distribution</a:t>
                          </a:r>
                        </a:p>
                      </a:txBody>
                      <a:tcPr marL="121920" marR="121920" marT="60960" marB="60960"/>
                    </a:tc>
                    <a:extLst>
                      <a:ext uri="{0D108BD9-81ED-4DB2-BD59-A6C34878D82A}">
                        <a16:rowId xmlns:a16="http://schemas.microsoft.com/office/drawing/2014/main" val="4282699494"/>
                      </a:ext>
                    </a:extLst>
                  </a:tr>
                  <a:tr h="1590993">
                    <a:tc>
                      <a:txBody>
                        <a:bodyPr/>
                        <a:lstStyle/>
                        <a:p>
                          <a:endParaRPr lang="en-NL"/>
                        </a:p>
                      </a:txBody>
                      <a:tcPr marL="121920" marR="121920" marT="60960" marB="60960">
                        <a:blipFill>
                          <a:blip r:embed="rId2"/>
                          <a:stretch>
                            <a:fillRect l="-114" t="-32540" r="-343" b="-3175"/>
                          </a:stretch>
                        </a:blipFill>
                      </a:tcPr>
                    </a:tc>
                    <a:extLst>
                      <a:ext uri="{0D108BD9-81ED-4DB2-BD59-A6C34878D82A}">
                        <a16:rowId xmlns:a16="http://schemas.microsoft.com/office/drawing/2014/main" val="2257841623"/>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6" name="Content Placeholder 3">
                <a:extLst>
                  <a:ext uri="{FF2B5EF4-FFF2-40B4-BE49-F238E27FC236}">
                    <a16:creationId xmlns:a16="http://schemas.microsoft.com/office/drawing/2014/main" id="{26C8985D-0F73-5190-8A2E-A13E0E286E46}"/>
                  </a:ext>
                </a:extLst>
              </p:cNvPr>
              <p:cNvGraphicFramePr>
                <a:graphicFrameLocks/>
              </p:cNvGraphicFramePr>
              <p:nvPr>
                <p:extLst>
                  <p:ext uri="{D42A27DB-BD31-4B8C-83A1-F6EECF244321}">
                    <p14:modId xmlns:p14="http://schemas.microsoft.com/office/powerpoint/2010/main" val="1627363817"/>
                  </p:ext>
                </p:extLst>
              </p:nvPr>
            </p:nvGraphicFramePr>
            <p:xfrm>
              <a:off x="480000" y="3406486"/>
              <a:ext cx="11101916" cy="487680"/>
            </p:xfrm>
            <a:graphic>
              <a:graphicData uri="http://schemas.openxmlformats.org/drawingml/2006/table">
                <a:tbl>
                  <a:tblPr firstRow="1" bandRow="1">
                    <a:tableStyleId>{21E4AEA4-8DFA-4A89-87EB-49C32662AFE0}</a:tableStyleId>
                  </a:tblPr>
                  <a:tblGrid>
                    <a:gridCol w="11101916">
                      <a:extLst>
                        <a:ext uri="{9D8B030D-6E8A-4147-A177-3AD203B41FA5}">
                          <a16:colId xmlns:a16="http://schemas.microsoft.com/office/drawing/2014/main" val="3077495686"/>
                        </a:ext>
                      </a:extLst>
                    </a:gridCol>
                  </a:tblGrid>
                  <a:tr h="486021">
                    <a:tc>
                      <a:txBody>
                        <a:bodyPr/>
                        <a:lstStyle/>
                        <a:p>
                          <a:pPr/>
                          <a14:m>
                            <m:oMathPara xmlns:m="http://schemas.openxmlformats.org/officeDocument/2006/math">
                              <m:oMathParaPr>
                                <m:jc m:val="centerGroup"/>
                              </m:oMathParaPr>
                              <m:oMath xmlns:m="http://schemas.openxmlformats.org/officeDocument/2006/math">
                                <m:r>
                                  <a:rPr lang="en-US" sz="2400" smtClean="0">
                                    <a:latin typeface="Cambria Math" panose="02040503050406030204" pitchFamily="18" charset="0"/>
                                  </a:rPr>
                                  <m:t>𝐸</m:t>
                                </m:r>
                                <m:d>
                                  <m:dPr>
                                    <m:begChr m:val="["/>
                                    <m:endChr m:val="]"/>
                                    <m:ctrlPr>
                                      <a:rPr lang="en-US" sz="2400" i="1" smtClean="0">
                                        <a:latin typeface="Cambria Math" panose="02040503050406030204" pitchFamily="18" charset="0"/>
                                      </a:rPr>
                                    </m:ctrlPr>
                                  </m:dPr>
                                  <m:e>
                                    <m:r>
                                      <a:rPr lang="en-US" sz="2400" smtClean="0">
                                        <a:latin typeface="Cambria Math" panose="02040503050406030204" pitchFamily="18" charset="0"/>
                                      </a:rPr>
                                      <m:t>𝑋</m:t>
                                    </m:r>
                                  </m:e>
                                </m:d>
                                <m:r>
                                  <a:rPr lang="en-US" sz="2400" smtClean="0">
                                    <a:latin typeface="Cambria Math" panose="02040503050406030204" pitchFamily="18" charset="0"/>
                                  </a:rPr>
                                  <m:t>=</m:t>
                                </m:r>
                                <m:r>
                                  <a:rPr lang="en-US" sz="2400" b="0" i="1" smtClean="0">
                                    <a:latin typeface="Cambria Math" panose="02040503050406030204" pitchFamily="18" charset="0"/>
                                  </a:rPr>
                                  <m:t>𝜆</m:t>
                                </m:r>
                                <m:r>
                                  <a:rPr lang="en-US" sz="2400" b="0" i="1" smtClean="0">
                                    <a:latin typeface="Cambria Math" panose="02040503050406030204" pitchFamily="18" charset="0"/>
                                  </a:rPr>
                                  <m:t>𝑡</m:t>
                                </m:r>
                                <m:r>
                                  <a:rPr lang="en-US" sz="2400" b="0" i="0" smtClean="0">
                                    <a:latin typeface="Cambria Math" panose="02040503050406030204" pitchFamily="18" charset="0"/>
                                  </a:rPr>
                                  <m:t>, </m:t>
                                </m:r>
                                <m:r>
                                  <a:rPr lang="en-US" sz="2400" b="0" i="1" smtClean="0">
                                    <a:latin typeface="Cambria Math" panose="02040503050406030204" pitchFamily="18" charset="0"/>
                                  </a:rPr>
                                  <m:t>𝑉</m:t>
                                </m:r>
                                <m:r>
                                  <a:rPr lang="en-US" sz="2400" smtClean="0">
                                    <a:latin typeface="Cambria Math" panose="02040503050406030204" pitchFamily="18" charset="0"/>
                                  </a:rPr>
                                  <m:t>𝑎𝑟</m:t>
                                </m:r>
                                <m:d>
                                  <m:dPr>
                                    <m:ctrlPr>
                                      <a:rPr lang="en-US" sz="2400" i="1" smtClean="0">
                                        <a:latin typeface="Cambria Math" panose="02040503050406030204" pitchFamily="18" charset="0"/>
                                      </a:rPr>
                                    </m:ctrlPr>
                                  </m:dPr>
                                  <m:e>
                                    <m:r>
                                      <a:rPr lang="en-US" sz="2400" smtClean="0">
                                        <a:latin typeface="Cambria Math" panose="02040503050406030204" pitchFamily="18" charset="0"/>
                                      </a:rPr>
                                      <m:t>𝑋</m:t>
                                    </m:r>
                                  </m:e>
                                </m:d>
                                <m:r>
                                  <a:rPr lang="en-US" sz="2400" smtClean="0">
                                    <a:latin typeface="Cambria Math" panose="02040503050406030204" pitchFamily="18" charset="0"/>
                                  </a:rPr>
                                  <m:t>=</m:t>
                                </m:r>
                                <m:r>
                                  <a:rPr lang="en-US" sz="2400" b="0" i="1" smtClean="0">
                                    <a:latin typeface="Cambria Math" panose="02040503050406030204" pitchFamily="18" charset="0"/>
                                  </a:rPr>
                                  <m:t>𝜆</m:t>
                                </m:r>
                                <m:r>
                                  <a:rPr lang="en-US" sz="2400" b="0" i="1" smtClean="0">
                                    <a:latin typeface="Cambria Math" panose="02040503050406030204" pitchFamily="18" charset="0"/>
                                  </a:rPr>
                                  <m:t>𝑡</m:t>
                                </m:r>
                              </m:oMath>
                            </m:oMathPara>
                          </a14:m>
                          <a:endParaRPr lang="en-US" sz="2400" dirty="0"/>
                        </a:p>
                      </a:txBody>
                      <a:tcPr marL="121920" marR="121920" marT="60960" marB="60960"/>
                    </a:tc>
                    <a:extLst>
                      <a:ext uri="{0D108BD9-81ED-4DB2-BD59-A6C34878D82A}">
                        <a16:rowId xmlns:a16="http://schemas.microsoft.com/office/drawing/2014/main" val="184729316"/>
                      </a:ext>
                    </a:extLst>
                  </a:tr>
                </a:tbl>
              </a:graphicData>
            </a:graphic>
          </p:graphicFrame>
        </mc:Choice>
        <mc:Fallback>
          <p:graphicFrame>
            <p:nvGraphicFramePr>
              <p:cNvPr id="6" name="Content Placeholder 3">
                <a:extLst>
                  <a:ext uri="{FF2B5EF4-FFF2-40B4-BE49-F238E27FC236}">
                    <a16:creationId xmlns:a16="http://schemas.microsoft.com/office/drawing/2014/main" id="{26C8985D-0F73-5190-8A2E-A13E0E286E46}"/>
                  </a:ext>
                </a:extLst>
              </p:cNvPr>
              <p:cNvGraphicFramePr>
                <a:graphicFrameLocks/>
              </p:cNvGraphicFramePr>
              <p:nvPr>
                <p:extLst>
                  <p:ext uri="{D42A27DB-BD31-4B8C-83A1-F6EECF244321}">
                    <p14:modId xmlns:p14="http://schemas.microsoft.com/office/powerpoint/2010/main" val="1627363817"/>
                  </p:ext>
                </p:extLst>
              </p:nvPr>
            </p:nvGraphicFramePr>
            <p:xfrm>
              <a:off x="480000" y="3406486"/>
              <a:ext cx="11101916" cy="487680"/>
            </p:xfrm>
            <a:graphic>
              <a:graphicData uri="http://schemas.openxmlformats.org/drawingml/2006/table">
                <a:tbl>
                  <a:tblPr firstRow="1" bandRow="1">
                    <a:tableStyleId>{21E4AEA4-8DFA-4A89-87EB-49C32662AFE0}</a:tableStyleId>
                  </a:tblPr>
                  <a:tblGrid>
                    <a:gridCol w="11101916">
                      <a:extLst>
                        <a:ext uri="{9D8B030D-6E8A-4147-A177-3AD203B41FA5}">
                          <a16:colId xmlns:a16="http://schemas.microsoft.com/office/drawing/2014/main" val="3077495686"/>
                        </a:ext>
                      </a:extLst>
                    </a:gridCol>
                  </a:tblGrid>
                  <a:tr h="487680">
                    <a:tc>
                      <a:txBody>
                        <a:bodyPr/>
                        <a:lstStyle/>
                        <a:p>
                          <a:endParaRPr lang="en-NL"/>
                        </a:p>
                      </a:txBody>
                      <a:tcPr marL="121920" marR="121920" marT="60960" marB="60960">
                        <a:blipFill>
                          <a:blip r:embed="rId3"/>
                          <a:stretch>
                            <a:fillRect l="-114" t="-2564" r="-343" b="-5128"/>
                          </a:stretch>
                        </a:blipFill>
                      </a:tcPr>
                    </a:tc>
                    <a:extLst>
                      <a:ext uri="{0D108BD9-81ED-4DB2-BD59-A6C34878D82A}">
                        <a16:rowId xmlns:a16="http://schemas.microsoft.com/office/drawing/2014/main" val="184729316"/>
                      </a:ext>
                    </a:extLst>
                  </a:tr>
                </a:tbl>
              </a:graphicData>
            </a:graphic>
          </p:graphicFrame>
        </mc:Fallback>
      </mc:AlternateContent>
    </p:spTree>
    <p:extLst>
      <p:ext uri="{BB962C8B-B14F-4D97-AF65-F5344CB8AC3E}">
        <p14:creationId xmlns:p14="http://schemas.microsoft.com/office/powerpoint/2010/main" val="480420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A0386-E60B-DFE7-4212-B31C2B6C24AA}"/>
              </a:ext>
            </a:extLst>
          </p:cNvPr>
          <p:cNvSpPr>
            <a:spLocks noGrp="1"/>
          </p:cNvSpPr>
          <p:nvPr>
            <p:ph type="title"/>
          </p:nvPr>
        </p:nvSpPr>
        <p:spPr/>
        <p:txBody>
          <a:bodyPr/>
          <a:lstStyle/>
          <a:p>
            <a:r>
              <a:rPr lang="en-NL" dirty="0">
                <a:solidFill>
                  <a:schemeClr val="accent1"/>
                </a:solidFill>
              </a:rPr>
              <a:t>Poisson</a:t>
            </a:r>
            <a:r>
              <a:rPr lang="en-NL" dirty="0"/>
              <a:t>: 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47B065C-65D5-D669-87F0-E933D263C31E}"/>
                  </a:ext>
                </a:extLst>
              </p:cNvPr>
              <p:cNvSpPr>
                <a:spLocks noGrp="1"/>
              </p:cNvSpPr>
              <p:nvPr>
                <p:ph idx="1"/>
              </p:nvPr>
            </p:nvSpPr>
            <p:spPr/>
            <p:txBody>
              <a:bodyPr/>
              <a:lstStyle/>
              <a:p>
                <a:r>
                  <a:rPr lang="en-NL" dirty="0"/>
                  <a:t>For the sake of this example, we convert 4 crashes in 10 days to a rate </a:t>
                </a:r>
                <a14:m>
                  <m:oMath xmlns:m="http://schemas.openxmlformats.org/officeDocument/2006/math">
                    <m:r>
                      <a:rPr lang="en-US" sz="4400" b="1" i="1" smtClean="0">
                        <a:solidFill>
                          <a:schemeClr val="accent1"/>
                        </a:solidFill>
                        <a:latin typeface="Cambria Math" panose="02040503050406030204" pitchFamily="18" charset="0"/>
                      </a:rPr>
                      <m:t>𝝀</m:t>
                    </m:r>
                    <m:r>
                      <a:rPr lang="nl-NL" sz="4400" b="1" i="1" smtClean="0">
                        <a:solidFill>
                          <a:schemeClr val="accent1"/>
                        </a:solidFill>
                        <a:latin typeface="Cambria Math" panose="02040503050406030204" pitchFamily="18" charset="0"/>
                      </a:rPr>
                      <m:t>=</m:t>
                    </m:r>
                    <m:r>
                      <a:rPr lang="nl-NL" sz="4400" b="1" i="1" smtClean="0">
                        <a:solidFill>
                          <a:schemeClr val="accent1"/>
                        </a:solidFill>
                        <a:latin typeface="Cambria Math" panose="02040503050406030204" pitchFamily="18" charset="0"/>
                      </a:rPr>
                      <m:t>𝟎</m:t>
                    </m:r>
                    <m:r>
                      <a:rPr lang="nl-NL" sz="4400" b="1" i="1" smtClean="0">
                        <a:solidFill>
                          <a:schemeClr val="accent1"/>
                        </a:solidFill>
                        <a:latin typeface="Cambria Math" panose="02040503050406030204" pitchFamily="18" charset="0"/>
                      </a:rPr>
                      <m:t>.</m:t>
                    </m:r>
                    <m:r>
                      <a:rPr lang="nl-NL" sz="4400" b="1" i="1" smtClean="0">
                        <a:solidFill>
                          <a:schemeClr val="accent1"/>
                        </a:solidFill>
                        <a:latin typeface="Cambria Math" panose="02040503050406030204" pitchFamily="18" charset="0"/>
                      </a:rPr>
                      <m:t>𝟒</m:t>
                    </m:r>
                    <m:r>
                      <a:rPr lang="nl-NL" sz="4400" b="0" i="1" smtClean="0">
                        <a:solidFill>
                          <a:schemeClr val="accent1"/>
                        </a:solidFill>
                        <a:latin typeface="Cambria Math" panose="02040503050406030204" pitchFamily="18" charset="0"/>
                      </a:rPr>
                      <m:t> </m:t>
                    </m:r>
                  </m:oMath>
                </a14:m>
                <a:r>
                  <a:rPr lang="en-NL" dirty="0"/>
                  <a:t>(per day).</a:t>
                </a:r>
              </a:p>
            </p:txBody>
          </p:sp>
        </mc:Choice>
        <mc:Fallback>
          <p:sp>
            <p:nvSpPr>
              <p:cNvPr id="3" name="Content Placeholder 2">
                <a:extLst>
                  <a:ext uri="{FF2B5EF4-FFF2-40B4-BE49-F238E27FC236}">
                    <a16:creationId xmlns:a16="http://schemas.microsoft.com/office/drawing/2014/main" id="{147B065C-65D5-D669-87F0-E933D263C31E}"/>
                  </a:ext>
                </a:extLst>
              </p:cNvPr>
              <p:cNvSpPr>
                <a:spLocks noGrp="1" noRot="1" noChangeAspect="1" noMove="1" noResize="1" noEditPoints="1" noAdjustHandles="1" noChangeArrowheads="1" noChangeShapeType="1" noTextEdit="1"/>
              </p:cNvSpPr>
              <p:nvPr>
                <p:ph idx="1"/>
              </p:nvPr>
            </p:nvSpPr>
            <p:spPr>
              <a:blipFill>
                <a:blip r:embed="rId3"/>
                <a:stretch>
                  <a:fillRect l="-2740" t="-3704"/>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graphicFrame>
            <p:nvGraphicFramePr>
              <p:cNvPr id="4" name="Content Placeholder 3">
                <a:extLst>
                  <a:ext uri="{FF2B5EF4-FFF2-40B4-BE49-F238E27FC236}">
                    <a16:creationId xmlns:a16="http://schemas.microsoft.com/office/drawing/2014/main" id="{FB15DDE5-365A-9722-CDF7-879AF4951D8A}"/>
                  </a:ext>
                </a:extLst>
              </p:cNvPr>
              <p:cNvGraphicFramePr>
                <a:graphicFrameLocks/>
              </p:cNvGraphicFramePr>
              <p:nvPr>
                <p:extLst>
                  <p:ext uri="{D42A27DB-BD31-4B8C-83A1-F6EECF244321}">
                    <p14:modId xmlns:p14="http://schemas.microsoft.com/office/powerpoint/2010/main" val="4179218734"/>
                  </p:ext>
                </p:extLst>
              </p:nvPr>
            </p:nvGraphicFramePr>
            <p:xfrm>
              <a:off x="545042" y="3518574"/>
              <a:ext cx="11101916" cy="1224280"/>
            </p:xfrm>
            <a:graphic>
              <a:graphicData uri="http://schemas.openxmlformats.org/drawingml/2006/table">
                <a:tbl>
                  <a:tblPr firstRow="1" bandRow="1">
                    <a:tableStyleId>{21E4AEA4-8DFA-4A89-87EB-49C32662AFE0}</a:tableStyleId>
                  </a:tblPr>
                  <a:tblGrid>
                    <a:gridCol w="11101916">
                      <a:extLst>
                        <a:ext uri="{9D8B030D-6E8A-4147-A177-3AD203B41FA5}">
                          <a16:colId xmlns:a16="http://schemas.microsoft.com/office/drawing/2014/main" val="3077495686"/>
                        </a:ext>
                      </a:extLst>
                    </a:gridCol>
                  </a:tblGrid>
                  <a:tr h="690880">
                    <a:tc>
                      <a:txBody>
                        <a:bodyPr/>
                        <a:lstStyle/>
                        <a:p>
                          <a:r>
                            <a:rPr lang="en-US" sz="3700" dirty="0"/>
                            <a:t>Descriptive statistics:</a:t>
                          </a:r>
                          <a:r>
                            <a:rPr lang="en-US" sz="3700" baseline="0" dirty="0"/>
                            <a:t> </a:t>
                          </a:r>
                          <a14:m>
                            <m:oMath xmlns:m="http://schemas.openxmlformats.org/officeDocument/2006/math">
                              <m:r>
                                <a:rPr lang="en-US" sz="3700" b="0" i="1" smtClean="0">
                                  <a:latin typeface="Cambria Math" panose="02040503050406030204" pitchFamily="18" charset="0"/>
                                </a:rPr>
                                <m:t>𝑋</m:t>
                              </m:r>
                              <m:r>
                                <a:rPr lang="en-US" sz="3700" b="0" i="1" smtClean="0">
                                  <a:latin typeface="Cambria Math" panose="02040503050406030204" pitchFamily="18" charset="0"/>
                                </a:rPr>
                                <m:t>∼</m:t>
                              </m:r>
                              <m:r>
                                <a:rPr lang="en-US" sz="3700" b="0" i="1" smtClean="0">
                                  <a:latin typeface="Cambria Math" panose="02040503050406030204" pitchFamily="18" charset="0"/>
                                </a:rPr>
                                <m:t>𝑃𝑜𝑖</m:t>
                              </m:r>
                              <m:d>
                                <m:dPr>
                                  <m:ctrlPr>
                                    <a:rPr lang="en-US" sz="3700" i="1" smtClean="0">
                                      <a:latin typeface="Cambria Math" panose="02040503050406030204" pitchFamily="18" charset="0"/>
                                    </a:rPr>
                                  </m:ctrlPr>
                                </m:dPr>
                                <m:e>
                                  <m:r>
                                    <a:rPr lang="en-US" sz="3700" b="0" i="1" smtClean="0">
                                      <a:latin typeface="Cambria Math" panose="02040503050406030204" pitchFamily="18" charset="0"/>
                                    </a:rPr>
                                    <m:t>𝜆</m:t>
                                  </m:r>
                                  <m:r>
                                    <a:rPr lang="en-US" sz="3700" b="0" i="1" smtClean="0">
                                      <a:latin typeface="Cambria Math" panose="02040503050406030204" pitchFamily="18" charset="0"/>
                                    </a:rPr>
                                    <m:t>𝑡</m:t>
                                  </m:r>
                                </m:e>
                              </m:d>
                            </m:oMath>
                          </a14:m>
                          <a:endParaRPr lang="en-US" sz="3700" dirty="0"/>
                        </a:p>
                      </a:txBody>
                      <a:tcPr marL="121920" marR="121920" marT="60960" marB="60960"/>
                    </a:tc>
                    <a:extLst>
                      <a:ext uri="{0D108BD9-81ED-4DB2-BD59-A6C34878D82A}">
                        <a16:rowId xmlns:a16="http://schemas.microsoft.com/office/drawing/2014/main" val="1209543202"/>
                      </a:ext>
                    </a:extLst>
                  </a:tr>
                  <a:tr h="528320">
                    <a:tc>
                      <a:txBody>
                        <a:bodyPr/>
                        <a:lstStyle/>
                        <a:p>
                          <a:pPr/>
                          <a14:m>
                            <m:oMathPara xmlns:m="http://schemas.openxmlformats.org/officeDocument/2006/math">
                              <m:oMathParaPr>
                                <m:jc m:val="centerGroup"/>
                              </m:oMathParaPr>
                              <m:oMath xmlns:m="http://schemas.openxmlformats.org/officeDocument/2006/math">
                                <m:r>
                                  <a:rPr lang="en-US" sz="2700" smtClean="0">
                                    <a:latin typeface="Cambria Math" panose="02040503050406030204" pitchFamily="18" charset="0"/>
                                  </a:rPr>
                                  <m:t>𝐸</m:t>
                                </m:r>
                                <m:d>
                                  <m:dPr>
                                    <m:begChr m:val="["/>
                                    <m:endChr m:val="]"/>
                                    <m:ctrlPr>
                                      <a:rPr lang="en-US" sz="2700" i="1" smtClean="0">
                                        <a:latin typeface="Cambria Math" panose="02040503050406030204" pitchFamily="18" charset="0"/>
                                      </a:rPr>
                                    </m:ctrlPr>
                                  </m:dPr>
                                  <m:e>
                                    <m:r>
                                      <a:rPr lang="en-US" sz="2700" smtClean="0">
                                        <a:latin typeface="Cambria Math" panose="02040503050406030204" pitchFamily="18" charset="0"/>
                                      </a:rPr>
                                      <m:t>𝑋</m:t>
                                    </m:r>
                                  </m:e>
                                </m:d>
                                <m:r>
                                  <a:rPr lang="en-US" sz="2700" smtClean="0">
                                    <a:latin typeface="Cambria Math" panose="02040503050406030204" pitchFamily="18" charset="0"/>
                                  </a:rPr>
                                  <m:t>=</m:t>
                                </m:r>
                                <m:r>
                                  <a:rPr lang="en-US" sz="2700" b="0" i="1" smtClean="0">
                                    <a:latin typeface="Cambria Math" panose="02040503050406030204" pitchFamily="18" charset="0"/>
                                  </a:rPr>
                                  <m:t>𝜆</m:t>
                                </m:r>
                                <m:r>
                                  <a:rPr lang="en-US" sz="2700" b="0" i="1" smtClean="0">
                                    <a:latin typeface="Cambria Math" panose="02040503050406030204" pitchFamily="18" charset="0"/>
                                  </a:rPr>
                                  <m:t>𝑡</m:t>
                                </m:r>
                                <m:r>
                                  <a:rPr lang="en-US" sz="2700" b="0" i="0" smtClean="0">
                                    <a:latin typeface="Cambria Math" panose="02040503050406030204" pitchFamily="18" charset="0"/>
                                  </a:rPr>
                                  <m:t>, </m:t>
                                </m:r>
                                <m:r>
                                  <a:rPr lang="en-US" sz="2700" b="0" i="1" smtClean="0">
                                    <a:latin typeface="Cambria Math" panose="02040503050406030204" pitchFamily="18" charset="0"/>
                                  </a:rPr>
                                  <m:t>𝑉</m:t>
                                </m:r>
                                <m:r>
                                  <a:rPr lang="en-US" sz="2700" smtClean="0">
                                    <a:latin typeface="Cambria Math" panose="02040503050406030204" pitchFamily="18" charset="0"/>
                                  </a:rPr>
                                  <m:t>𝑎𝑟</m:t>
                                </m:r>
                                <m:d>
                                  <m:dPr>
                                    <m:ctrlPr>
                                      <a:rPr lang="en-US" sz="2700" i="1" smtClean="0">
                                        <a:latin typeface="Cambria Math" panose="02040503050406030204" pitchFamily="18" charset="0"/>
                                      </a:rPr>
                                    </m:ctrlPr>
                                  </m:dPr>
                                  <m:e>
                                    <m:r>
                                      <a:rPr lang="en-US" sz="2700" smtClean="0">
                                        <a:latin typeface="Cambria Math" panose="02040503050406030204" pitchFamily="18" charset="0"/>
                                      </a:rPr>
                                      <m:t>𝑋</m:t>
                                    </m:r>
                                  </m:e>
                                </m:d>
                                <m:r>
                                  <a:rPr lang="en-US" sz="2700" smtClean="0">
                                    <a:latin typeface="Cambria Math" panose="02040503050406030204" pitchFamily="18" charset="0"/>
                                  </a:rPr>
                                  <m:t>=</m:t>
                                </m:r>
                                <m:r>
                                  <a:rPr lang="en-US" sz="2700" b="0" i="1" smtClean="0">
                                    <a:latin typeface="Cambria Math" panose="02040503050406030204" pitchFamily="18" charset="0"/>
                                  </a:rPr>
                                  <m:t>𝜆</m:t>
                                </m:r>
                                <m:r>
                                  <a:rPr lang="en-US" sz="2700" b="0" i="1" smtClean="0">
                                    <a:latin typeface="Cambria Math" panose="02040503050406030204" pitchFamily="18" charset="0"/>
                                  </a:rPr>
                                  <m:t>𝑡</m:t>
                                </m:r>
                              </m:oMath>
                            </m:oMathPara>
                          </a14:m>
                          <a:endParaRPr lang="en-US" sz="2700" dirty="0"/>
                        </a:p>
                      </a:txBody>
                      <a:tcPr marL="121920" marR="121920" marT="60960" marB="60960"/>
                    </a:tc>
                    <a:extLst>
                      <a:ext uri="{0D108BD9-81ED-4DB2-BD59-A6C34878D82A}">
                        <a16:rowId xmlns:a16="http://schemas.microsoft.com/office/drawing/2014/main" val="184729316"/>
                      </a:ext>
                    </a:extLst>
                  </a:tr>
                </a:tbl>
              </a:graphicData>
            </a:graphic>
          </p:graphicFrame>
        </mc:Choice>
        <mc:Fallback>
          <p:graphicFrame>
            <p:nvGraphicFramePr>
              <p:cNvPr id="4" name="Content Placeholder 3">
                <a:extLst>
                  <a:ext uri="{FF2B5EF4-FFF2-40B4-BE49-F238E27FC236}">
                    <a16:creationId xmlns:a16="http://schemas.microsoft.com/office/drawing/2014/main" id="{FB15DDE5-365A-9722-CDF7-879AF4951D8A}"/>
                  </a:ext>
                </a:extLst>
              </p:cNvPr>
              <p:cNvGraphicFramePr>
                <a:graphicFrameLocks/>
              </p:cNvGraphicFramePr>
              <p:nvPr>
                <p:extLst>
                  <p:ext uri="{D42A27DB-BD31-4B8C-83A1-F6EECF244321}">
                    <p14:modId xmlns:p14="http://schemas.microsoft.com/office/powerpoint/2010/main" val="4179218734"/>
                  </p:ext>
                </p:extLst>
              </p:nvPr>
            </p:nvGraphicFramePr>
            <p:xfrm>
              <a:off x="545042" y="3518574"/>
              <a:ext cx="11101916" cy="1224280"/>
            </p:xfrm>
            <a:graphic>
              <a:graphicData uri="http://schemas.openxmlformats.org/drawingml/2006/table">
                <a:tbl>
                  <a:tblPr firstRow="1" bandRow="1">
                    <a:tableStyleId>{21E4AEA4-8DFA-4A89-87EB-49C32662AFE0}</a:tableStyleId>
                  </a:tblPr>
                  <a:tblGrid>
                    <a:gridCol w="11101916">
                      <a:extLst>
                        <a:ext uri="{9D8B030D-6E8A-4147-A177-3AD203B41FA5}">
                          <a16:colId xmlns:a16="http://schemas.microsoft.com/office/drawing/2014/main" val="3077495686"/>
                        </a:ext>
                      </a:extLst>
                    </a:gridCol>
                  </a:tblGrid>
                  <a:tr h="690880">
                    <a:tc>
                      <a:txBody>
                        <a:bodyPr/>
                        <a:lstStyle/>
                        <a:p>
                          <a:endParaRPr lang="en-NL"/>
                        </a:p>
                      </a:txBody>
                      <a:tcPr marL="121920" marR="121920" marT="60960" marB="60960">
                        <a:blipFill>
                          <a:blip r:embed="rId4"/>
                          <a:stretch>
                            <a:fillRect t="-12727" r="-228" b="-78182"/>
                          </a:stretch>
                        </a:blipFill>
                      </a:tcPr>
                    </a:tc>
                    <a:extLst>
                      <a:ext uri="{0D108BD9-81ED-4DB2-BD59-A6C34878D82A}">
                        <a16:rowId xmlns:a16="http://schemas.microsoft.com/office/drawing/2014/main" val="1209543202"/>
                      </a:ext>
                    </a:extLst>
                  </a:tr>
                  <a:tr h="533400">
                    <a:tc>
                      <a:txBody>
                        <a:bodyPr/>
                        <a:lstStyle/>
                        <a:p>
                          <a:endParaRPr lang="en-NL"/>
                        </a:p>
                      </a:txBody>
                      <a:tcPr marL="121920" marR="121920" marT="60960" marB="60960">
                        <a:blipFill>
                          <a:blip r:embed="rId4"/>
                          <a:stretch>
                            <a:fillRect t="-147619" r="-228" b="-2381"/>
                          </a:stretch>
                        </a:blipFill>
                      </a:tcPr>
                    </a:tc>
                    <a:extLst>
                      <a:ext uri="{0D108BD9-81ED-4DB2-BD59-A6C34878D82A}">
                        <a16:rowId xmlns:a16="http://schemas.microsoft.com/office/drawing/2014/main" val="184729316"/>
                      </a:ext>
                    </a:extLst>
                  </a:tr>
                </a:tbl>
              </a:graphicData>
            </a:graphic>
          </p:graphicFrame>
        </mc:Fallback>
      </mc:AlternateContent>
    </p:spTree>
    <p:extLst>
      <p:ext uri="{BB962C8B-B14F-4D97-AF65-F5344CB8AC3E}">
        <p14:creationId xmlns:p14="http://schemas.microsoft.com/office/powerpoint/2010/main" val="261275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707BB-38DE-2022-525A-C420FF39A4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DC3BBC-F05C-A6FE-D793-989FD915A213}"/>
              </a:ext>
            </a:extLst>
          </p:cNvPr>
          <p:cNvSpPr>
            <a:spLocks noGrp="1"/>
          </p:cNvSpPr>
          <p:nvPr>
            <p:ph type="title"/>
          </p:nvPr>
        </p:nvSpPr>
        <p:spPr/>
        <p:txBody>
          <a:bodyPr/>
          <a:lstStyle/>
          <a:p>
            <a:r>
              <a:rPr lang="en-NL" dirty="0">
                <a:solidFill>
                  <a:schemeClr val="accent1"/>
                </a:solidFill>
              </a:rPr>
              <a:t>Poisson</a:t>
            </a:r>
            <a:r>
              <a:rPr lang="en-NL" dirty="0"/>
              <a:t>: 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385705E-AF92-C5D0-2F89-65C15233A2F5}"/>
                  </a:ext>
                </a:extLst>
              </p:cNvPr>
              <p:cNvSpPr>
                <a:spLocks noGrp="1"/>
              </p:cNvSpPr>
              <p:nvPr>
                <p:ph idx="1"/>
              </p:nvPr>
            </p:nvSpPr>
            <p:spPr/>
            <p:txBody>
              <a:bodyPr/>
              <a:lstStyle/>
              <a:p>
                <a:r>
                  <a:rPr lang="en-NL" dirty="0"/>
                  <a:t>For the sake of this example, we convert 4 crashes in 10 days to a rate </a:t>
                </a:r>
                <a14:m>
                  <m:oMath xmlns:m="http://schemas.openxmlformats.org/officeDocument/2006/math">
                    <m:r>
                      <a:rPr lang="en-US" sz="4400" b="1" i="1">
                        <a:solidFill>
                          <a:schemeClr val="accent1"/>
                        </a:solidFill>
                        <a:latin typeface="Cambria Math" panose="02040503050406030204" pitchFamily="18" charset="0"/>
                      </a:rPr>
                      <m:t>𝝀</m:t>
                    </m:r>
                    <m:r>
                      <a:rPr lang="nl-NL" sz="4400" b="1" i="1">
                        <a:solidFill>
                          <a:schemeClr val="accent1"/>
                        </a:solidFill>
                        <a:latin typeface="Cambria Math" panose="02040503050406030204" pitchFamily="18" charset="0"/>
                      </a:rPr>
                      <m:t>=</m:t>
                    </m:r>
                    <m:r>
                      <a:rPr lang="nl-NL" sz="4400" b="1" i="1">
                        <a:solidFill>
                          <a:schemeClr val="accent1"/>
                        </a:solidFill>
                        <a:latin typeface="Cambria Math" panose="02040503050406030204" pitchFamily="18" charset="0"/>
                      </a:rPr>
                      <m:t>𝟎</m:t>
                    </m:r>
                    <m:r>
                      <a:rPr lang="nl-NL" sz="4400" b="1" i="1">
                        <a:solidFill>
                          <a:schemeClr val="accent1"/>
                        </a:solidFill>
                        <a:latin typeface="Cambria Math" panose="02040503050406030204" pitchFamily="18" charset="0"/>
                      </a:rPr>
                      <m:t>.</m:t>
                    </m:r>
                    <m:r>
                      <a:rPr lang="nl-NL" sz="4400" b="1" i="1">
                        <a:solidFill>
                          <a:schemeClr val="accent1"/>
                        </a:solidFill>
                        <a:latin typeface="Cambria Math" panose="02040503050406030204" pitchFamily="18" charset="0"/>
                      </a:rPr>
                      <m:t>𝟒</m:t>
                    </m:r>
                    <m:r>
                      <a:rPr lang="nl-NL" sz="4400" i="1">
                        <a:solidFill>
                          <a:schemeClr val="accent1"/>
                        </a:solidFill>
                        <a:latin typeface="Cambria Math" panose="02040503050406030204" pitchFamily="18" charset="0"/>
                      </a:rPr>
                      <m:t> </m:t>
                    </m:r>
                  </m:oMath>
                </a14:m>
                <a:r>
                  <a:rPr lang="en-NL" dirty="0"/>
                  <a:t>(per day).</a:t>
                </a:r>
              </a:p>
              <a:p>
                <a:endParaRPr lang="en-NL" dirty="0"/>
              </a:p>
              <a:p>
                <a:pPr marL="0" indent="0">
                  <a:buNone/>
                </a:pPr>
                <a:endParaRPr lang="en-NL" dirty="0"/>
              </a:p>
              <a:p>
                <a:pPr marL="0" indent="0">
                  <a:buNone/>
                </a:pPr>
                <a:endParaRPr lang="en-NL" dirty="0"/>
              </a:p>
            </p:txBody>
          </p:sp>
        </mc:Choice>
        <mc:Fallback>
          <p:sp>
            <p:nvSpPr>
              <p:cNvPr id="3" name="Content Placeholder 2">
                <a:extLst>
                  <a:ext uri="{FF2B5EF4-FFF2-40B4-BE49-F238E27FC236}">
                    <a16:creationId xmlns:a16="http://schemas.microsoft.com/office/drawing/2014/main" id="{B385705E-AF92-C5D0-2F89-65C15233A2F5}"/>
                  </a:ext>
                </a:extLst>
              </p:cNvPr>
              <p:cNvSpPr>
                <a:spLocks noGrp="1" noRot="1" noChangeAspect="1" noMove="1" noResize="1" noEditPoints="1" noAdjustHandles="1" noChangeArrowheads="1" noChangeShapeType="1" noTextEdit="1"/>
              </p:cNvSpPr>
              <p:nvPr>
                <p:ph idx="1"/>
              </p:nvPr>
            </p:nvSpPr>
            <p:spPr>
              <a:blipFill>
                <a:blip r:embed="rId2"/>
                <a:stretch>
                  <a:fillRect l="-2740" t="-3704"/>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graphicFrame>
            <p:nvGraphicFramePr>
              <p:cNvPr id="4" name="Content Placeholder 3">
                <a:extLst>
                  <a:ext uri="{FF2B5EF4-FFF2-40B4-BE49-F238E27FC236}">
                    <a16:creationId xmlns:a16="http://schemas.microsoft.com/office/drawing/2014/main" id="{80610821-98BC-BB59-D7BC-3F9E1B5667C3}"/>
                  </a:ext>
                </a:extLst>
              </p:cNvPr>
              <p:cNvGraphicFramePr>
                <a:graphicFrameLocks/>
              </p:cNvGraphicFramePr>
              <p:nvPr/>
            </p:nvGraphicFramePr>
            <p:xfrm>
              <a:off x="545042" y="3518574"/>
              <a:ext cx="11101916" cy="1224280"/>
            </p:xfrm>
            <a:graphic>
              <a:graphicData uri="http://schemas.openxmlformats.org/drawingml/2006/table">
                <a:tbl>
                  <a:tblPr firstRow="1" bandRow="1">
                    <a:tableStyleId>{21E4AEA4-8DFA-4A89-87EB-49C32662AFE0}</a:tableStyleId>
                  </a:tblPr>
                  <a:tblGrid>
                    <a:gridCol w="11101916">
                      <a:extLst>
                        <a:ext uri="{9D8B030D-6E8A-4147-A177-3AD203B41FA5}">
                          <a16:colId xmlns:a16="http://schemas.microsoft.com/office/drawing/2014/main" val="3077495686"/>
                        </a:ext>
                      </a:extLst>
                    </a:gridCol>
                  </a:tblGrid>
                  <a:tr h="690880">
                    <a:tc>
                      <a:txBody>
                        <a:bodyPr/>
                        <a:lstStyle/>
                        <a:p>
                          <a:r>
                            <a:rPr lang="en-US" sz="3700" dirty="0"/>
                            <a:t>Descriptive statistics:</a:t>
                          </a:r>
                          <a:r>
                            <a:rPr lang="en-US" sz="3700" baseline="0" dirty="0"/>
                            <a:t> </a:t>
                          </a:r>
                          <a14:m>
                            <m:oMath xmlns:m="http://schemas.openxmlformats.org/officeDocument/2006/math">
                              <m:r>
                                <a:rPr lang="en-US" sz="3700" b="0" i="1" smtClean="0">
                                  <a:latin typeface="Cambria Math" panose="02040503050406030204" pitchFamily="18" charset="0"/>
                                </a:rPr>
                                <m:t>𝑋</m:t>
                              </m:r>
                              <m:r>
                                <a:rPr lang="en-US" sz="3700" b="0" i="1" smtClean="0">
                                  <a:latin typeface="Cambria Math" panose="02040503050406030204" pitchFamily="18" charset="0"/>
                                </a:rPr>
                                <m:t>∼</m:t>
                              </m:r>
                              <m:r>
                                <a:rPr lang="en-US" sz="3700" b="0" i="1" smtClean="0">
                                  <a:latin typeface="Cambria Math" panose="02040503050406030204" pitchFamily="18" charset="0"/>
                                </a:rPr>
                                <m:t>𝑃𝑜𝑖</m:t>
                              </m:r>
                              <m:d>
                                <m:dPr>
                                  <m:ctrlPr>
                                    <a:rPr lang="en-US" sz="3700" i="1" smtClean="0">
                                      <a:latin typeface="Cambria Math" panose="02040503050406030204" pitchFamily="18" charset="0"/>
                                    </a:rPr>
                                  </m:ctrlPr>
                                </m:dPr>
                                <m:e>
                                  <m:r>
                                    <a:rPr lang="en-US" sz="3700" b="0" i="1" smtClean="0">
                                      <a:latin typeface="Cambria Math" panose="02040503050406030204" pitchFamily="18" charset="0"/>
                                    </a:rPr>
                                    <m:t>𝜆</m:t>
                                  </m:r>
                                  <m:r>
                                    <a:rPr lang="en-US" sz="3700" b="0" i="1" smtClean="0">
                                      <a:latin typeface="Cambria Math" panose="02040503050406030204" pitchFamily="18" charset="0"/>
                                    </a:rPr>
                                    <m:t>𝑡</m:t>
                                  </m:r>
                                </m:e>
                              </m:d>
                            </m:oMath>
                          </a14:m>
                          <a:endParaRPr lang="en-US" sz="3700" dirty="0"/>
                        </a:p>
                      </a:txBody>
                      <a:tcPr marL="121920" marR="121920" marT="60960" marB="60960"/>
                    </a:tc>
                    <a:extLst>
                      <a:ext uri="{0D108BD9-81ED-4DB2-BD59-A6C34878D82A}">
                        <a16:rowId xmlns:a16="http://schemas.microsoft.com/office/drawing/2014/main" val="1209543202"/>
                      </a:ext>
                    </a:extLst>
                  </a:tr>
                  <a:tr h="528320">
                    <a:tc>
                      <a:txBody>
                        <a:bodyPr/>
                        <a:lstStyle/>
                        <a:p>
                          <a:pPr/>
                          <a14:m>
                            <m:oMathPara xmlns:m="http://schemas.openxmlformats.org/officeDocument/2006/math">
                              <m:oMathParaPr>
                                <m:jc m:val="centerGroup"/>
                              </m:oMathParaPr>
                              <m:oMath xmlns:m="http://schemas.openxmlformats.org/officeDocument/2006/math">
                                <m:r>
                                  <a:rPr lang="en-US" sz="2700" smtClean="0">
                                    <a:latin typeface="Cambria Math" panose="02040503050406030204" pitchFamily="18" charset="0"/>
                                  </a:rPr>
                                  <m:t>𝐸</m:t>
                                </m:r>
                                <m:d>
                                  <m:dPr>
                                    <m:begChr m:val="["/>
                                    <m:endChr m:val="]"/>
                                    <m:ctrlPr>
                                      <a:rPr lang="en-US" sz="2700" i="1" smtClean="0">
                                        <a:latin typeface="Cambria Math" panose="02040503050406030204" pitchFamily="18" charset="0"/>
                                      </a:rPr>
                                    </m:ctrlPr>
                                  </m:dPr>
                                  <m:e>
                                    <m:r>
                                      <a:rPr lang="en-US" sz="2700" smtClean="0">
                                        <a:latin typeface="Cambria Math" panose="02040503050406030204" pitchFamily="18" charset="0"/>
                                      </a:rPr>
                                      <m:t>𝑋</m:t>
                                    </m:r>
                                  </m:e>
                                </m:d>
                                <m:r>
                                  <a:rPr lang="en-US" sz="2700" smtClean="0">
                                    <a:latin typeface="Cambria Math" panose="02040503050406030204" pitchFamily="18" charset="0"/>
                                  </a:rPr>
                                  <m:t>=</m:t>
                                </m:r>
                                <m:r>
                                  <a:rPr lang="en-US" sz="2700" b="0" i="1" smtClean="0">
                                    <a:latin typeface="Cambria Math" panose="02040503050406030204" pitchFamily="18" charset="0"/>
                                  </a:rPr>
                                  <m:t>𝜆</m:t>
                                </m:r>
                                <m:r>
                                  <a:rPr lang="en-US" sz="2700" b="0" i="1" smtClean="0">
                                    <a:latin typeface="Cambria Math" panose="02040503050406030204" pitchFamily="18" charset="0"/>
                                  </a:rPr>
                                  <m:t>𝑡</m:t>
                                </m:r>
                                <m:r>
                                  <a:rPr lang="en-US" sz="2700" b="0" i="0" smtClean="0">
                                    <a:latin typeface="Cambria Math" panose="02040503050406030204" pitchFamily="18" charset="0"/>
                                  </a:rPr>
                                  <m:t>, </m:t>
                                </m:r>
                                <m:r>
                                  <a:rPr lang="en-US" sz="2700" b="0" i="1" smtClean="0">
                                    <a:latin typeface="Cambria Math" panose="02040503050406030204" pitchFamily="18" charset="0"/>
                                  </a:rPr>
                                  <m:t>𝑉</m:t>
                                </m:r>
                                <m:r>
                                  <a:rPr lang="en-US" sz="2700" smtClean="0">
                                    <a:latin typeface="Cambria Math" panose="02040503050406030204" pitchFamily="18" charset="0"/>
                                  </a:rPr>
                                  <m:t>𝑎𝑟</m:t>
                                </m:r>
                                <m:d>
                                  <m:dPr>
                                    <m:ctrlPr>
                                      <a:rPr lang="en-US" sz="2700" i="1" smtClean="0">
                                        <a:latin typeface="Cambria Math" panose="02040503050406030204" pitchFamily="18" charset="0"/>
                                      </a:rPr>
                                    </m:ctrlPr>
                                  </m:dPr>
                                  <m:e>
                                    <m:r>
                                      <a:rPr lang="en-US" sz="2700" smtClean="0">
                                        <a:latin typeface="Cambria Math" panose="02040503050406030204" pitchFamily="18" charset="0"/>
                                      </a:rPr>
                                      <m:t>𝑋</m:t>
                                    </m:r>
                                  </m:e>
                                </m:d>
                                <m:r>
                                  <a:rPr lang="en-US" sz="2700" smtClean="0">
                                    <a:latin typeface="Cambria Math" panose="02040503050406030204" pitchFamily="18" charset="0"/>
                                  </a:rPr>
                                  <m:t>=</m:t>
                                </m:r>
                                <m:r>
                                  <a:rPr lang="en-US" sz="2700" b="0" i="1" smtClean="0">
                                    <a:latin typeface="Cambria Math" panose="02040503050406030204" pitchFamily="18" charset="0"/>
                                  </a:rPr>
                                  <m:t>𝜆</m:t>
                                </m:r>
                                <m:r>
                                  <a:rPr lang="en-US" sz="2700" b="0" i="1" smtClean="0">
                                    <a:latin typeface="Cambria Math" panose="02040503050406030204" pitchFamily="18" charset="0"/>
                                  </a:rPr>
                                  <m:t>𝑡</m:t>
                                </m:r>
                              </m:oMath>
                            </m:oMathPara>
                          </a14:m>
                          <a:endParaRPr lang="en-US" sz="2700" dirty="0"/>
                        </a:p>
                      </a:txBody>
                      <a:tcPr marL="121920" marR="121920" marT="60960" marB="60960"/>
                    </a:tc>
                    <a:extLst>
                      <a:ext uri="{0D108BD9-81ED-4DB2-BD59-A6C34878D82A}">
                        <a16:rowId xmlns:a16="http://schemas.microsoft.com/office/drawing/2014/main" val="184729316"/>
                      </a:ext>
                    </a:extLst>
                  </a:tr>
                </a:tbl>
              </a:graphicData>
            </a:graphic>
          </p:graphicFrame>
        </mc:Choice>
        <mc:Fallback>
          <p:graphicFrame>
            <p:nvGraphicFramePr>
              <p:cNvPr id="4" name="Content Placeholder 3">
                <a:extLst>
                  <a:ext uri="{FF2B5EF4-FFF2-40B4-BE49-F238E27FC236}">
                    <a16:creationId xmlns:a16="http://schemas.microsoft.com/office/drawing/2014/main" id="{80610821-98BC-BB59-D7BC-3F9E1B5667C3}"/>
                  </a:ext>
                </a:extLst>
              </p:cNvPr>
              <p:cNvGraphicFramePr>
                <a:graphicFrameLocks/>
              </p:cNvGraphicFramePr>
              <p:nvPr/>
            </p:nvGraphicFramePr>
            <p:xfrm>
              <a:off x="545042" y="3518574"/>
              <a:ext cx="11101916" cy="1224280"/>
            </p:xfrm>
            <a:graphic>
              <a:graphicData uri="http://schemas.openxmlformats.org/drawingml/2006/table">
                <a:tbl>
                  <a:tblPr firstRow="1" bandRow="1">
                    <a:tableStyleId>{21E4AEA4-8DFA-4A89-87EB-49C32662AFE0}</a:tableStyleId>
                  </a:tblPr>
                  <a:tblGrid>
                    <a:gridCol w="11101916">
                      <a:extLst>
                        <a:ext uri="{9D8B030D-6E8A-4147-A177-3AD203B41FA5}">
                          <a16:colId xmlns:a16="http://schemas.microsoft.com/office/drawing/2014/main" val="3077495686"/>
                        </a:ext>
                      </a:extLst>
                    </a:gridCol>
                  </a:tblGrid>
                  <a:tr h="690880">
                    <a:tc>
                      <a:txBody>
                        <a:bodyPr/>
                        <a:lstStyle/>
                        <a:p>
                          <a:endParaRPr lang="en-NL"/>
                        </a:p>
                      </a:txBody>
                      <a:tcPr marL="121920" marR="121920" marT="60960" marB="60960">
                        <a:blipFill>
                          <a:blip r:embed="rId3"/>
                          <a:stretch>
                            <a:fillRect t="-12727" r="-228" b="-78182"/>
                          </a:stretch>
                        </a:blipFill>
                      </a:tcPr>
                    </a:tc>
                    <a:extLst>
                      <a:ext uri="{0D108BD9-81ED-4DB2-BD59-A6C34878D82A}">
                        <a16:rowId xmlns:a16="http://schemas.microsoft.com/office/drawing/2014/main" val="1209543202"/>
                      </a:ext>
                    </a:extLst>
                  </a:tr>
                  <a:tr h="533400">
                    <a:tc>
                      <a:txBody>
                        <a:bodyPr/>
                        <a:lstStyle/>
                        <a:p>
                          <a:endParaRPr lang="en-NL"/>
                        </a:p>
                      </a:txBody>
                      <a:tcPr marL="121920" marR="121920" marT="60960" marB="60960">
                        <a:blipFill>
                          <a:blip r:embed="rId3"/>
                          <a:stretch>
                            <a:fillRect t="-147619" r="-228" b="-2381"/>
                          </a:stretch>
                        </a:blipFill>
                      </a:tcPr>
                    </a:tc>
                    <a:extLst>
                      <a:ext uri="{0D108BD9-81ED-4DB2-BD59-A6C34878D82A}">
                        <a16:rowId xmlns:a16="http://schemas.microsoft.com/office/drawing/2014/main" val="184729316"/>
                      </a:ext>
                    </a:extLst>
                  </a:tr>
                </a:tbl>
              </a:graphicData>
            </a:graphic>
          </p:graphicFrame>
        </mc:Fallback>
      </mc:AlternateContent>
      <p:sp>
        <p:nvSpPr>
          <p:cNvPr id="6" name="TextBox 5">
            <a:extLst>
              <a:ext uri="{FF2B5EF4-FFF2-40B4-BE49-F238E27FC236}">
                <a16:creationId xmlns:a16="http://schemas.microsoft.com/office/drawing/2014/main" id="{76463DE1-EBB5-DF58-A525-A142232D86A0}"/>
              </a:ext>
            </a:extLst>
          </p:cNvPr>
          <p:cNvSpPr txBox="1"/>
          <p:nvPr/>
        </p:nvSpPr>
        <p:spPr>
          <a:xfrm>
            <a:off x="793367" y="4789671"/>
            <a:ext cx="5642891" cy="1200329"/>
          </a:xfrm>
          <a:prstGeom prst="rect">
            <a:avLst/>
          </a:prstGeom>
          <a:noFill/>
        </p:spPr>
        <p:txBody>
          <a:bodyPr wrap="none" rtlCol="0">
            <a:spAutoFit/>
          </a:bodyPr>
          <a:lstStyle/>
          <a:p>
            <a:r>
              <a:rPr lang="en-GB" sz="3600" dirty="0"/>
              <a:t>t</a:t>
            </a:r>
            <a:r>
              <a:rPr lang="en-NL" sz="3600" dirty="0"/>
              <a:t> = 10 -&gt; E[X] = 0.40 * 10 = 4</a:t>
            </a:r>
          </a:p>
          <a:p>
            <a:r>
              <a:rPr lang="en-GB" sz="3600" dirty="0"/>
              <a:t>t = 25 -&gt; E[X] = 0.40 * 25 = 10</a:t>
            </a:r>
            <a:endParaRPr lang="en-NL" sz="3600" dirty="0"/>
          </a:p>
        </p:txBody>
      </p:sp>
    </p:spTree>
    <p:extLst>
      <p:ext uri="{BB962C8B-B14F-4D97-AF65-F5344CB8AC3E}">
        <p14:creationId xmlns:p14="http://schemas.microsoft.com/office/powerpoint/2010/main" val="14942131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DD074928-DCF2-A0CE-3EFE-E9772DBFAA51}"/>
              </a:ext>
            </a:extLst>
          </p:cNvPr>
          <p:cNvSpPr/>
          <p:nvPr/>
        </p:nvSpPr>
        <p:spPr>
          <a:xfrm>
            <a:off x="3903562" y="2884841"/>
            <a:ext cx="4791919" cy="2326511"/>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
        <p:nvSpPr>
          <p:cNvPr id="6" name="Rounded Rectangle 5">
            <a:extLst>
              <a:ext uri="{FF2B5EF4-FFF2-40B4-BE49-F238E27FC236}">
                <a16:creationId xmlns:a16="http://schemas.microsoft.com/office/drawing/2014/main" id="{1065F442-A76D-5E26-9779-3EA9C6CD14FB}"/>
              </a:ext>
            </a:extLst>
          </p:cNvPr>
          <p:cNvSpPr/>
          <p:nvPr/>
        </p:nvSpPr>
        <p:spPr>
          <a:xfrm>
            <a:off x="7500395" y="254643"/>
            <a:ext cx="3912243" cy="1041357"/>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
        <p:nvSpPr>
          <p:cNvPr id="2" name="Title 1">
            <a:extLst>
              <a:ext uri="{FF2B5EF4-FFF2-40B4-BE49-F238E27FC236}">
                <a16:creationId xmlns:a16="http://schemas.microsoft.com/office/drawing/2014/main" id="{8A8F46C8-BEC4-F519-FBBF-C8B2F4890FEB}"/>
              </a:ext>
            </a:extLst>
          </p:cNvPr>
          <p:cNvSpPr>
            <a:spLocks noGrp="1"/>
          </p:cNvSpPr>
          <p:nvPr>
            <p:ph type="title"/>
          </p:nvPr>
        </p:nvSpPr>
        <p:spPr/>
        <p:txBody>
          <a:bodyPr/>
          <a:lstStyle/>
          <a:p>
            <a:r>
              <a:rPr lang="en-NL" dirty="0">
                <a:solidFill>
                  <a:schemeClr val="accent1"/>
                </a:solidFill>
              </a:rPr>
              <a:t>Poisson</a:t>
            </a:r>
            <a:r>
              <a:rPr lang="en-NL" dirty="0"/>
              <a:t>: example</a:t>
            </a:r>
          </a:p>
        </p:txBody>
      </p:sp>
      <p:sp>
        <p:nvSpPr>
          <p:cNvPr id="3" name="Content Placeholder 2">
            <a:extLst>
              <a:ext uri="{FF2B5EF4-FFF2-40B4-BE49-F238E27FC236}">
                <a16:creationId xmlns:a16="http://schemas.microsoft.com/office/drawing/2014/main" id="{3D6DE49E-EB1D-34BE-314D-458115B9C390}"/>
              </a:ext>
            </a:extLst>
          </p:cNvPr>
          <p:cNvSpPr>
            <a:spLocks noGrp="1"/>
          </p:cNvSpPr>
          <p:nvPr>
            <p:ph idx="1"/>
          </p:nvPr>
        </p:nvSpPr>
        <p:spPr/>
        <p:txBody>
          <a:bodyPr/>
          <a:lstStyle/>
          <a:p>
            <a:r>
              <a:rPr lang="en-NL" dirty="0"/>
              <a:t>What is the </a:t>
            </a:r>
            <a:r>
              <a:rPr lang="en-NL" b="1" dirty="0"/>
              <a:t>probability</a:t>
            </a:r>
            <a:r>
              <a:rPr lang="en-NL" dirty="0"/>
              <a:t> of my laptop crashing </a:t>
            </a:r>
            <a:r>
              <a:rPr lang="en-NL" b="1" dirty="0"/>
              <a:t>twice</a:t>
            </a:r>
            <a:r>
              <a:rPr lang="en-NL" dirty="0"/>
              <a:t> tomorrow?</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48541E9E-D759-224C-3F21-D88F20056D55}"/>
                  </a:ext>
                </a:extLst>
              </p:cNvPr>
              <p:cNvSpPr txBox="1"/>
              <p:nvPr/>
            </p:nvSpPr>
            <p:spPr>
              <a:xfrm>
                <a:off x="6299522" y="241671"/>
                <a:ext cx="6094070" cy="9284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𝑃</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𝑋</m:t>
                          </m:r>
                          <m:r>
                            <a:rPr lang="en-US" sz="2800" b="0" i="1" smtClean="0">
                              <a:latin typeface="Cambria Math" panose="02040503050406030204" pitchFamily="18" charset="0"/>
                            </a:rPr>
                            <m:t>=</m:t>
                          </m:r>
                          <m:r>
                            <a:rPr lang="en-US" sz="2800" b="0" i="1" smtClean="0">
                              <a:latin typeface="Cambria Math" panose="02040503050406030204" pitchFamily="18" charset="0"/>
                            </a:rPr>
                            <m:t>𝑥</m:t>
                          </m:r>
                        </m:e>
                      </m:d>
                      <m:r>
                        <a:rPr lang="en-US" sz="2800" i="1" smtClean="0">
                          <a:latin typeface="Cambria Math" panose="02040503050406030204" pitchFamily="18" charset="0"/>
                        </a:rPr>
                        <m:t>=</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𝑒</m:t>
                          </m:r>
                        </m:e>
                        <m:sup>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𝜆</m:t>
                          </m:r>
                          <m:r>
                            <a:rPr lang="en-US" sz="2800" b="0" i="1" smtClean="0">
                              <a:latin typeface="Cambria Math" panose="02040503050406030204" pitchFamily="18" charset="0"/>
                              <a:ea typeface="Cambria Math" panose="02040503050406030204" pitchFamily="18" charset="0"/>
                            </a:rPr>
                            <m:t>𝑡</m:t>
                          </m:r>
                        </m:sup>
                      </m:sSup>
                      <m:f>
                        <m:fPr>
                          <m:ctrlPr>
                            <a:rPr lang="en-US" sz="2800" b="0" i="1" smtClean="0">
                              <a:latin typeface="Cambria Math" panose="02040503050406030204" pitchFamily="18" charset="0"/>
                              <a:ea typeface="Cambria Math" panose="02040503050406030204" pitchFamily="18" charset="0"/>
                            </a:rPr>
                          </m:ctrlPr>
                        </m:fPr>
                        <m:num>
                          <m:sSup>
                            <m:sSupPr>
                              <m:ctrlPr>
                                <a:rPr lang="en-US" sz="2800" b="0" i="1" smtClean="0">
                                  <a:latin typeface="Cambria Math" panose="02040503050406030204" pitchFamily="18" charset="0"/>
                                  <a:ea typeface="Cambria Math" panose="02040503050406030204" pitchFamily="18" charset="0"/>
                                </a:rPr>
                              </m:ctrlPr>
                            </m:sSupPr>
                            <m:e>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𝜆</m:t>
                                  </m:r>
                                  <m:r>
                                    <a:rPr lang="en-US" sz="2800" b="0" i="1" smtClean="0">
                                      <a:latin typeface="Cambria Math" panose="02040503050406030204" pitchFamily="18" charset="0"/>
                                      <a:ea typeface="Cambria Math" panose="02040503050406030204" pitchFamily="18" charset="0"/>
                                    </a:rPr>
                                    <m:t>𝑡</m:t>
                                  </m:r>
                                </m:e>
                              </m:d>
                            </m:e>
                            <m:sup>
                              <m:r>
                                <a:rPr lang="en-US" sz="2800" b="0" i="1" smtClean="0">
                                  <a:latin typeface="Cambria Math" panose="02040503050406030204" pitchFamily="18" charset="0"/>
                                  <a:ea typeface="Cambria Math" panose="02040503050406030204" pitchFamily="18" charset="0"/>
                                </a:rPr>
                                <m:t>𝑥</m:t>
                              </m:r>
                            </m:sup>
                          </m:sSup>
                        </m:num>
                        <m:den>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den>
                      </m:f>
                    </m:oMath>
                  </m:oMathPara>
                </a14:m>
                <a:endParaRPr lang="en-NL" sz="2800" dirty="0"/>
              </a:p>
            </p:txBody>
          </p:sp>
        </mc:Choice>
        <mc:Fallback>
          <p:sp>
            <p:nvSpPr>
              <p:cNvPr id="5" name="TextBox 4">
                <a:extLst>
                  <a:ext uri="{FF2B5EF4-FFF2-40B4-BE49-F238E27FC236}">
                    <a16:creationId xmlns:a16="http://schemas.microsoft.com/office/drawing/2014/main" id="{48541E9E-D759-224C-3F21-D88F20056D55}"/>
                  </a:ext>
                </a:extLst>
              </p:cNvPr>
              <p:cNvSpPr txBox="1">
                <a:spLocks noRot="1" noChangeAspect="1" noMove="1" noResize="1" noEditPoints="1" noAdjustHandles="1" noChangeArrowheads="1" noChangeShapeType="1" noTextEdit="1"/>
              </p:cNvSpPr>
              <p:nvPr/>
            </p:nvSpPr>
            <p:spPr>
              <a:xfrm>
                <a:off x="6299522" y="241671"/>
                <a:ext cx="6094070" cy="928459"/>
              </a:xfrm>
              <a:prstGeom prst="rect">
                <a:avLst/>
              </a:prstGeom>
              <a:blipFill>
                <a:blip r:embed="rId2"/>
                <a:stretch>
                  <a:fillRect b="-5405"/>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B9CEBACA-4EE9-45B2-A55D-A948B38B68E8}"/>
                  </a:ext>
                </a:extLst>
              </p:cNvPr>
              <p:cNvSpPr txBox="1"/>
              <p:nvPr/>
            </p:nvSpPr>
            <p:spPr>
              <a:xfrm>
                <a:off x="5722340" y="2986268"/>
                <a:ext cx="763351" cy="2123658"/>
              </a:xfrm>
              <a:prstGeom prst="rect">
                <a:avLst/>
              </a:prstGeom>
              <a:noFill/>
            </p:spPr>
            <p:txBody>
              <a:bodyPr wrap="none" rtlCol="0">
                <a:spAutoFit/>
              </a:bodyPr>
              <a:lstStyle/>
              <a:p>
                <a:r>
                  <a:rPr lang="en-GB" sz="4400" b="1" dirty="0"/>
                  <a:t>t</a:t>
                </a:r>
                <a:r>
                  <a:rPr lang="en-NL" sz="4400" b="1" dirty="0"/>
                  <a:t>?</a:t>
                </a:r>
              </a:p>
              <a:p>
                <a14:m>
                  <m:oMath xmlns:m="http://schemas.openxmlformats.org/officeDocument/2006/math">
                    <m:r>
                      <a:rPr lang="en-US" sz="4400" b="1" i="1" smtClean="0">
                        <a:latin typeface="Cambria Math" panose="02040503050406030204" pitchFamily="18" charset="0"/>
                        <a:ea typeface="Cambria Math" panose="02040503050406030204" pitchFamily="18" charset="0"/>
                      </a:rPr>
                      <m:t>𝝀</m:t>
                    </m:r>
                  </m:oMath>
                </a14:m>
                <a:r>
                  <a:rPr lang="en-NL" sz="4400" b="1" dirty="0"/>
                  <a:t>?</a:t>
                </a:r>
              </a:p>
              <a:p>
                <a:r>
                  <a:rPr lang="en-GB" sz="4400" b="1" dirty="0"/>
                  <a:t>x?</a:t>
                </a:r>
                <a:endParaRPr lang="en-NL" sz="4400" b="1" dirty="0"/>
              </a:p>
            </p:txBody>
          </p:sp>
        </mc:Choice>
        <mc:Fallback>
          <p:sp>
            <p:nvSpPr>
              <p:cNvPr id="7" name="TextBox 6">
                <a:extLst>
                  <a:ext uri="{FF2B5EF4-FFF2-40B4-BE49-F238E27FC236}">
                    <a16:creationId xmlns:a16="http://schemas.microsoft.com/office/drawing/2014/main" id="{B9CEBACA-4EE9-45B2-A55D-A948B38B68E8}"/>
                  </a:ext>
                </a:extLst>
              </p:cNvPr>
              <p:cNvSpPr txBox="1">
                <a:spLocks noRot="1" noChangeAspect="1" noMove="1" noResize="1" noEditPoints="1" noAdjustHandles="1" noChangeArrowheads="1" noChangeShapeType="1" noTextEdit="1"/>
              </p:cNvSpPr>
              <p:nvPr/>
            </p:nvSpPr>
            <p:spPr>
              <a:xfrm>
                <a:off x="5722340" y="2986268"/>
                <a:ext cx="763351" cy="2123658"/>
              </a:xfrm>
              <a:prstGeom prst="rect">
                <a:avLst/>
              </a:prstGeom>
              <a:blipFill>
                <a:blip r:embed="rId3"/>
                <a:stretch>
                  <a:fillRect l="-31148" t="-5952" r="-31148" b="-13095"/>
                </a:stretch>
              </a:blipFill>
            </p:spPr>
            <p:txBody>
              <a:bodyPr/>
              <a:lstStyle/>
              <a:p>
                <a:r>
                  <a:rPr lang="en-NL">
                    <a:noFill/>
                  </a:rPr>
                  <a:t> </a:t>
                </a:r>
              </a:p>
            </p:txBody>
          </p:sp>
        </mc:Fallback>
      </mc:AlternateContent>
    </p:spTree>
    <p:extLst>
      <p:ext uri="{BB962C8B-B14F-4D97-AF65-F5344CB8AC3E}">
        <p14:creationId xmlns:p14="http://schemas.microsoft.com/office/powerpoint/2010/main" val="9427945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00CC2-7DCB-771A-DABF-8118A1247DF8}"/>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0CFAD25F-6B92-0DF6-65A3-BDAFCADFACF1}"/>
              </a:ext>
            </a:extLst>
          </p:cNvPr>
          <p:cNvSpPr/>
          <p:nvPr/>
        </p:nvSpPr>
        <p:spPr>
          <a:xfrm>
            <a:off x="3903562" y="2884841"/>
            <a:ext cx="4791919" cy="2326511"/>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
        <p:nvSpPr>
          <p:cNvPr id="6" name="Rounded Rectangle 5">
            <a:extLst>
              <a:ext uri="{FF2B5EF4-FFF2-40B4-BE49-F238E27FC236}">
                <a16:creationId xmlns:a16="http://schemas.microsoft.com/office/drawing/2014/main" id="{434CF5D2-5A39-91CF-CD59-D1A296965244}"/>
              </a:ext>
            </a:extLst>
          </p:cNvPr>
          <p:cNvSpPr/>
          <p:nvPr/>
        </p:nvSpPr>
        <p:spPr>
          <a:xfrm>
            <a:off x="7500395" y="254643"/>
            <a:ext cx="3912243" cy="1041357"/>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
        <p:nvSpPr>
          <p:cNvPr id="2" name="Title 1">
            <a:extLst>
              <a:ext uri="{FF2B5EF4-FFF2-40B4-BE49-F238E27FC236}">
                <a16:creationId xmlns:a16="http://schemas.microsoft.com/office/drawing/2014/main" id="{A248AFE1-523C-0D92-F105-181003DABD82}"/>
              </a:ext>
            </a:extLst>
          </p:cNvPr>
          <p:cNvSpPr>
            <a:spLocks noGrp="1"/>
          </p:cNvSpPr>
          <p:nvPr>
            <p:ph type="title"/>
          </p:nvPr>
        </p:nvSpPr>
        <p:spPr/>
        <p:txBody>
          <a:bodyPr/>
          <a:lstStyle/>
          <a:p>
            <a:r>
              <a:rPr lang="en-NL" dirty="0">
                <a:solidFill>
                  <a:schemeClr val="accent1"/>
                </a:solidFill>
              </a:rPr>
              <a:t>Poisson</a:t>
            </a:r>
            <a:r>
              <a:rPr lang="en-NL" dirty="0"/>
              <a:t>: example</a:t>
            </a:r>
          </a:p>
        </p:txBody>
      </p:sp>
      <p:sp>
        <p:nvSpPr>
          <p:cNvPr id="3" name="Content Placeholder 2">
            <a:extLst>
              <a:ext uri="{FF2B5EF4-FFF2-40B4-BE49-F238E27FC236}">
                <a16:creationId xmlns:a16="http://schemas.microsoft.com/office/drawing/2014/main" id="{C793EE66-4FE7-007B-A931-2D6154C904DD}"/>
              </a:ext>
            </a:extLst>
          </p:cNvPr>
          <p:cNvSpPr>
            <a:spLocks noGrp="1"/>
          </p:cNvSpPr>
          <p:nvPr>
            <p:ph idx="1"/>
          </p:nvPr>
        </p:nvSpPr>
        <p:spPr/>
        <p:txBody>
          <a:bodyPr/>
          <a:lstStyle/>
          <a:p>
            <a:r>
              <a:rPr lang="en-NL" dirty="0"/>
              <a:t>What is the </a:t>
            </a:r>
            <a:r>
              <a:rPr lang="en-NL" b="1" dirty="0"/>
              <a:t>probability</a:t>
            </a:r>
            <a:r>
              <a:rPr lang="en-NL" dirty="0"/>
              <a:t> of my laptop crashing </a:t>
            </a:r>
            <a:r>
              <a:rPr lang="en-NL" b="1" dirty="0"/>
              <a:t>twice</a:t>
            </a:r>
            <a:r>
              <a:rPr lang="en-NL" dirty="0"/>
              <a:t> tomorrow?</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79176B8E-0DF0-7068-FE37-C5184427AA51}"/>
                  </a:ext>
                </a:extLst>
              </p:cNvPr>
              <p:cNvSpPr txBox="1"/>
              <p:nvPr/>
            </p:nvSpPr>
            <p:spPr>
              <a:xfrm>
                <a:off x="6299522" y="241671"/>
                <a:ext cx="6094070" cy="9284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𝑃</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𝑋</m:t>
                          </m:r>
                          <m:r>
                            <a:rPr lang="en-US" sz="2800" b="0" i="1" smtClean="0">
                              <a:latin typeface="Cambria Math" panose="02040503050406030204" pitchFamily="18" charset="0"/>
                            </a:rPr>
                            <m:t>=</m:t>
                          </m:r>
                          <m:r>
                            <a:rPr lang="en-US" sz="2800" b="0" i="1" smtClean="0">
                              <a:latin typeface="Cambria Math" panose="02040503050406030204" pitchFamily="18" charset="0"/>
                            </a:rPr>
                            <m:t>𝑥</m:t>
                          </m:r>
                        </m:e>
                      </m:d>
                      <m:r>
                        <a:rPr lang="en-US" sz="2800" i="1" smtClean="0">
                          <a:latin typeface="Cambria Math" panose="02040503050406030204" pitchFamily="18" charset="0"/>
                        </a:rPr>
                        <m:t>=</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𝑒</m:t>
                          </m:r>
                        </m:e>
                        <m:sup>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𝜆</m:t>
                          </m:r>
                          <m:r>
                            <a:rPr lang="en-US" sz="2800" b="0" i="1" smtClean="0">
                              <a:latin typeface="Cambria Math" panose="02040503050406030204" pitchFamily="18" charset="0"/>
                              <a:ea typeface="Cambria Math" panose="02040503050406030204" pitchFamily="18" charset="0"/>
                            </a:rPr>
                            <m:t>𝑡</m:t>
                          </m:r>
                        </m:sup>
                      </m:sSup>
                      <m:f>
                        <m:fPr>
                          <m:ctrlPr>
                            <a:rPr lang="en-US" sz="2800" b="0" i="1" smtClean="0">
                              <a:latin typeface="Cambria Math" panose="02040503050406030204" pitchFamily="18" charset="0"/>
                              <a:ea typeface="Cambria Math" panose="02040503050406030204" pitchFamily="18" charset="0"/>
                            </a:rPr>
                          </m:ctrlPr>
                        </m:fPr>
                        <m:num>
                          <m:sSup>
                            <m:sSupPr>
                              <m:ctrlPr>
                                <a:rPr lang="en-US" sz="2800" b="0" i="1" smtClean="0">
                                  <a:latin typeface="Cambria Math" panose="02040503050406030204" pitchFamily="18" charset="0"/>
                                  <a:ea typeface="Cambria Math" panose="02040503050406030204" pitchFamily="18" charset="0"/>
                                </a:rPr>
                              </m:ctrlPr>
                            </m:sSupPr>
                            <m:e>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𝜆</m:t>
                                  </m:r>
                                  <m:r>
                                    <a:rPr lang="en-US" sz="2800" b="0" i="1" smtClean="0">
                                      <a:latin typeface="Cambria Math" panose="02040503050406030204" pitchFamily="18" charset="0"/>
                                      <a:ea typeface="Cambria Math" panose="02040503050406030204" pitchFamily="18" charset="0"/>
                                    </a:rPr>
                                    <m:t>𝑡</m:t>
                                  </m:r>
                                </m:e>
                              </m:d>
                            </m:e>
                            <m:sup>
                              <m:r>
                                <a:rPr lang="en-US" sz="2800" b="0" i="1" smtClean="0">
                                  <a:latin typeface="Cambria Math" panose="02040503050406030204" pitchFamily="18" charset="0"/>
                                  <a:ea typeface="Cambria Math" panose="02040503050406030204" pitchFamily="18" charset="0"/>
                                </a:rPr>
                                <m:t>𝑥</m:t>
                              </m:r>
                            </m:sup>
                          </m:sSup>
                        </m:num>
                        <m:den>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den>
                      </m:f>
                    </m:oMath>
                  </m:oMathPara>
                </a14:m>
                <a:endParaRPr lang="en-NL" sz="2800" dirty="0"/>
              </a:p>
            </p:txBody>
          </p:sp>
        </mc:Choice>
        <mc:Fallback>
          <p:sp>
            <p:nvSpPr>
              <p:cNvPr id="5" name="TextBox 4">
                <a:extLst>
                  <a:ext uri="{FF2B5EF4-FFF2-40B4-BE49-F238E27FC236}">
                    <a16:creationId xmlns:a16="http://schemas.microsoft.com/office/drawing/2014/main" id="{79176B8E-0DF0-7068-FE37-C5184427AA51}"/>
                  </a:ext>
                </a:extLst>
              </p:cNvPr>
              <p:cNvSpPr txBox="1">
                <a:spLocks noRot="1" noChangeAspect="1" noMove="1" noResize="1" noEditPoints="1" noAdjustHandles="1" noChangeArrowheads="1" noChangeShapeType="1" noTextEdit="1"/>
              </p:cNvSpPr>
              <p:nvPr/>
            </p:nvSpPr>
            <p:spPr>
              <a:xfrm>
                <a:off x="6299522" y="241671"/>
                <a:ext cx="6094070" cy="928459"/>
              </a:xfrm>
              <a:prstGeom prst="rect">
                <a:avLst/>
              </a:prstGeom>
              <a:blipFill>
                <a:blip r:embed="rId2"/>
                <a:stretch>
                  <a:fillRect b="-5405"/>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77862607-0308-FD7B-0621-C0D43228D2B3}"/>
                  </a:ext>
                </a:extLst>
              </p:cNvPr>
              <p:cNvSpPr txBox="1"/>
              <p:nvPr/>
            </p:nvSpPr>
            <p:spPr>
              <a:xfrm>
                <a:off x="5722340" y="2986268"/>
                <a:ext cx="1503938" cy="2123658"/>
              </a:xfrm>
              <a:prstGeom prst="rect">
                <a:avLst/>
              </a:prstGeom>
              <a:noFill/>
            </p:spPr>
            <p:txBody>
              <a:bodyPr wrap="none" rtlCol="0">
                <a:spAutoFit/>
              </a:bodyPr>
              <a:lstStyle/>
              <a:p>
                <a:r>
                  <a:rPr lang="en-GB" sz="4400" b="1" dirty="0"/>
                  <a:t>t</a:t>
                </a:r>
                <a:r>
                  <a:rPr lang="en-NL" sz="4400" b="1" dirty="0"/>
                  <a:t>= 1</a:t>
                </a:r>
              </a:p>
              <a:p>
                <a14:m>
                  <m:oMath xmlns:m="http://schemas.openxmlformats.org/officeDocument/2006/math">
                    <m:r>
                      <a:rPr lang="en-US" sz="4400" b="1" i="1" smtClean="0">
                        <a:latin typeface="Cambria Math" panose="02040503050406030204" pitchFamily="18" charset="0"/>
                        <a:ea typeface="Cambria Math" panose="02040503050406030204" pitchFamily="18" charset="0"/>
                      </a:rPr>
                      <m:t>𝝀</m:t>
                    </m:r>
                  </m:oMath>
                </a14:m>
                <a:r>
                  <a:rPr lang="en-NL" sz="4400" b="1" dirty="0"/>
                  <a:t>=0.4</a:t>
                </a:r>
              </a:p>
              <a:p>
                <a:r>
                  <a:rPr lang="en-GB" sz="4400" b="1" dirty="0"/>
                  <a:t>x= 2</a:t>
                </a:r>
                <a:endParaRPr lang="en-NL" sz="4400" b="1" dirty="0"/>
              </a:p>
            </p:txBody>
          </p:sp>
        </mc:Choice>
        <mc:Fallback>
          <p:sp>
            <p:nvSpPr>
              <p:cNvPr id="7" name="TextBox 6">
                <a:extLst>
                  <a:ext uri="{FF2B5EF4-FFF2-40B4-BE49-F238E27FC236}">
                    <a16:creationId xmlns:a16="http://schemas.microsoft.com/office/drawing/2014/main" id="{77862607-0308-FD7B-0621-C0D43228D2B3}"/>
                  </a:ext>
                </a:extLst>
              </p:cNvPr>
              <p:cNvSpPr txBox="1">
                <a:spLocks noRot="1" noChangeAspect="1" noMove="1" noResize="1" noEditPoints="1" noAdjustHandles="1" noChangeArrowheads="1" noChangeShapeType="1" noTextEdit="1"/>
              </p:cNvSpPr>
              <p:nvPr/>
            </p:nvSpPr>
            <p:spPr>
              <a:xfrm>
                <a:off x="5722340" y="2986268"/>
                <a:ext cx="1503938" cy="2123658"/>
              </a:xfrm>
              <a:prstGeom prst="rect">
                <a:avLst/>
              </a:prstGeom>
              <a:blipFill>
                <a:blip r:embed="rId3"/>
                <a:stretch>
                  <a:fillRect l="-15966" t="-5952" r="-15966" b="-13095"/>
                </a:stretch>
              </a:blipFill>
            </p:spPr>
            <p:txBody>
              <a:bodyPr/>
              <a:lstStyle/>
              <a:p>
                <a:r>
                  <a:rPr lang="en-NL">
                    <a:noFill/>
                  </a:rPr>
                  <a:t> </a:t>
                </a:r>
              </a:p>
            </p:txBody>
          </p:sp>
        </mc:Fallback>
      </mc:AlternateContent>
      <p:sp>
        <p:nvSpPr>
          <p:cNvPr id="4" name="TextBox 3">
            <a:extLst>
              <a:ext uri="{FF2B5EF4-FFF2-40B4-BE49-F238E27FC236}">
                <a16:creationId xmlns:a16="http://schemas.microsoft.com/office/drawing/2014/main" id="{CF6E7DDD-0DD5-45FD-DB26-FD827E2AF772}"/>
              </a:ext>
            </a:extLst>
          </p:cNvPr>
          <p:cNvSpPr txBox="1"/>
          <p:nvPr/>
        </p:nvSpPr>
        <p:spPr>
          <a:xfrm>
            <a:off x="7403457" y="3130964"/>
            <a:ext cx="3886199" cy="523220"/>
          </a:xfrm>
          <a:prstGeom prst="rect">
            <a:avLst/>
          </a:prstGeom>
          <a:noFill/>
        </p:spPr>
        <p:txBody>
          <a:bodyPr wrap="square" rtlCol="0">
            <a:spAutoFit/>
          </a:bodyPr>
          <a:lstStyle/>
          <a:p>
            <a:r>
              <a:rPr lang="en-NL" sz="2800" b="1" dirty="0">
                <a:solidFill>
                  <a:schemeClr val="accent1"/>
                </a:solidFill>
              </a:rPr>
              <a:t>Tomorrow is one day</a:t>
            </a:r>
          </a:p>
        </p:txBody>
      </p:sp>
      <p:sp>
        <p:nvSpPr>
          <p:cNvPr id="9" name="TextBox 8">
            <a:extLst>
              <a:ext uri="{FF2B5EF4-FFF2-40B4-BE49-F238E27FC236}">
                <a16:creationId xmlns:a16="http://schemas.microsoft.com/office/drawing/2014/main" id="{AF887DA4-D63D-7D66-968A-E3E46ECEF02D}"/>
              </a:ext>
            </a:extLst>
          </p:cNvPr>
          <p:cNvSpPr txBox="1"/>
          <p:nvPr/>
        </p:nvSpPr>
        <p:spPr>
          <a:xfrm>
            <a:off x="7403456" y="3786486"/>
            <a:ext cx="3886199" cy="523220"/>
          </a:xfrm>
          <a:prstGeom prst="rect">
            <a:avLst/>
          </a:prstGeom>
          <a:noFill/>
        </p:spPr>
        <p:txBody>
          <a:bodyPr wrap="square" rtlCol="0">
            <a:spAutoFit/>
          </a:bodyPr>
          <a:lstStyle/>
          <a:p>
            <a:r>
              <a:rPr lang="en-NL" sz="2800" b="1" dirty="0">
                <a:solidFill>
                  <a:schemeClr val="accent1"/>
                </a:solidFill>
              </a:rPr>
              <a:t>Our rate is constant</a:t>
            </a:r>
          </a:p>
        </p:txBody>
      </p:sp>
      <p:sp>
        <p:nvSpPr>
          <p:cNvPr id="10" name="TextBox 9">
            <a:extLst>
              <a:ext uri="{FF2B5EF4-FFF2-40B4-BE49-F238E27FC236}">
                <a16:creationId xmlns:a16="http://schemas.microsoft.com/office/drawing/2014/main" id="{D70E1B25-56F2-1E57-663A-79815ED3D1B3}"/>
              </a:ext>
            </a:extLst>
          </p:cNvPr>
          <p:cNvSpPr txBox="1"/>
          <p:nvPr/>
        </p:nvSpPr>
        <p:spPr>
          <a:xfrm>
            <a:off x="7403456" y="4435446"/>
            <a:ext cx="3886199" cy="523220"/>
          </a:xfrm>
          <a:prstGeom prst="rect">
            <a:avLst/>
          </a:prstGeom>
          <a:noFill/>
        </p:spPr>
        <p:txBody>
          <a:bodyPr wrap="square" rtlCol="0">
            <a:spAutoFit/>
          </a:bodyPr>
          <a:lstStyle/>
          <a:p>
            <a:r>
              <a:rPr lang="en-GB" sz="2800" b="1" dirty="0">
                <a:solidFill>
                  <a:schemeClr val="accent1"/>
                </a:solidFill>
              </a:rPr>
              <a:t>L</a:t>
            </a:r>
            <a:r>
              <a:rPr lang="en-NL" sz="2800" b="1" dirty="0">
                <a:solidFill>
                  <a:schemeClr val="accent1"/>
                </a:solidFill>
              </a:rPr>
              <a:t>aptop crashing twice</a:t>
            </a:r>
          </a:p>
        </p:txBody>
      </p:sp>
    </p:spTree>
    <p:extLst>
      <p:ext uri="{BB962C8B-B14F-4D97-AF65-F5344CB8AC3E}">
        <p14:creationId xmlns:p14="http://schemas.microsoft.com/office/powerpoint/2010/main" val="33941736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CCDF5-EAA8-1EF3-BCB8-48811864562D}"/>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D06D8262-1C1F-9910-713B-8F4B6A5CF605}"/>
              </a:ext>
            </a:extLst>
          </p:cNvPr>
          <p:cNvSpPr/>
          <p:nvPr/>
        </p:nvSpPr>
        <p:spPr>
          <a:xfrm>
            <a:off x="1692798" y="2974693"/>
            <a:ext cx="9083232" cy="2673753"/>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
        <p:nvSpPr>
          <p:cNvPr id="6" name="Rounded Rectangle 5">
            <a:extLst>
              <a:ext uri="{FF2B5EF4-FFF2-40B4-BE49-F238E27FC236}">
                <a16:creationId xmlns:a16="http://schemas.microsoft.com/office/drawing/2014/main" id="{663B97C2-3094-AEDE-34AA-2A4D669D9813}"/>
              </a:ext>
            </a:extLst>
          </p:cNvPr>
          <p:cNvSpPr/>
          <p:nvPr/>
        </p:nvSpPr>
        <p:spPr>
          <a:xfrm>
            <a:off x="7500395" y="254643"/>
            <a:ext cx="3912243" cy="1041357"/>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
        <p:nvSpPr>
          <p:cNvPr id="2" name="Title 1">
            <a:extLst>
              <a:ext uri="{FF2B5EF4-FFF2-40B4-BE49-F238E27FC236}">
                <a16:creationId xmlns:a16="http://schemas.microsoft.com/office/drawing/2014/main" id="{65E110F3-EA8A-C6EC-52E2-72159ADD03EB}"/>
              </a:ext>
            </a:extLst>
          </p:cNvPr>
          <p:cNvSpPr>
            <a:spLocks noGrp="1"/>
          </p:cNvSpPr>
          <p:nvPr>
            <p:ph type="title"/>
          </p:nvPr>
        </p:nvSpPr>
        <p:spPr/>
        <p:txBody>
          <a:bodyPr/>
          <a:lstStyle/>
          <a:p>
            <a:r>
              <a:rPr lang="en-NL" dirty="0">
                <a:solidFill>
                  <a:schemeClr val="accent1"/>
                </a:solidFill>
              </a:rPr>
              <a:t>Poisson</a:t>
            </a:r>
            <a:r>
              <a:rPr lang="en-NL" dirty="0"/>
              <a:t>: example</a:t>
            </a:r>
          </a:p>
        </p:txBody>
      </p:sp>
      <p:sp>
        <p:nvSpPr>
          <p:cNvPr id="3" name="Content Placeholder 2">
            <a:extLst>
              <a:ext uri="{FF2B5EF4-FFF2-40B4-BE49-F238E27FC236}">
                <a16:creationId xmlns:a16="http://schemas.microsoft.com/office/drawing/2014/main" id="{800AC94E-0B55-0155-F052-CFD35922F199}"/>
              </a:ext>
            </a:extLst>
          </p:cNvPr>
          <p:cNvSpPr>
            <a:spLocks noGrp="1"/>
          </p:cNvSpPr>
          <p:nvPr>
            <p:ph idx="1"/>
          </p:nvPr>
        </p:nvSpPr>
        <p:spPr/>
        <p:txBody>
          <a:bodyPr/>
          <a:lstStyle/>
          <a:p>
            <a:r>
              <a:rPr lang="en-NL" dirty="0"/>
              <a:t>What is the </a:t>
            </a:r>
            <a:r>
              <a:rPr lang="en-NL" b="1" dirty="0"/>
              <a:t>probability</a:t>
            </a:r>
            <a:r>
              <a:rPr lang="en-NL" dirty="0"/>
              <a:t> of my laptop crashing </a:t>
            </a:r>
            <a:r>
              <a:rPr lang="en-NL" b="1" dirty="0"/>
              <a:t>twice</a:t>
            </a:r>
            <a:r>
              <a:rPr lang="en-NL" dirty="0"/>
              <a:t> tomorrow?</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6F3B9233-3529-BBF6-5F26-12A2B330DBA9}"/>
                  </a:ext>
                </a:extLst>
              </p:cNvPr>
              <p:cNvSpPr txBox="1"/>
              <p:nvPr/>
            </p:nvSpPr>
            <p:spPr>
              <a:xfrm>
                <a:off x="6299522" y="241671"/>
                <a:ext cx="6094070" cy="9284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𝑃</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𝑋</m:t>
                          </m:r>
                          <m:r>
                            <a:rPr lang="en-US" sz="2800" b="0" i="1" smtClean="0">
                              <a:latin typeface="Cambria Math" panose="02040503050406030204" pitchFamily="18" charset="0"/>
                            </a:rPr>
                            <m:t>=</m:t>
                          </m:r>
                          <m:r>
                            <a:rPr lang="en-US" sz="2800" b="0" i="1" smtClean="0">
                              <a:latin typeface="Cambria Math" panose="02040503050406030204" pitchFamily="18" charset="0"/>
                            </a:rPr>
                            <m:t>𝑥</m:t>
                          </m:r>
                        </m:e>
                      </m:d>
                      <m:r>
                        <a:rPr lang="en-US" sz="2800" i="1" smtClean="0">
                          <a:latin typeface="Cambria Math" panose="02040503050406030204" pitchFamily="18" charset="0"/>
                        </a:rPr>
                        <m:t>=</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𝑒</m:t>
                          </m:r>
                        </m:e>
                        <m:sup>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𝜆</m:t>
                          </m:r>
                          <m:r>
                            <a:rPr lang="en-US" sz="2800" b="0" i="1" smtClean="0">
                              <a:latin typeface="Cambria Math" panose="02040503050406030204" pitchFamily="18" charset="0"/>
                              <a:ea typeface="Cambria Math" panose="02040503050406030204" pitchFamily="18" charset="0"/>
                            </a:rPr>
                            <m:t>𝑡</m:t>
                          </m:r>
                        </m:sup>
                      </m:sSup>
                      <m:f>
                        <m:fPr>
                          <m:ctrlPr>
                            <a:rPr lang="en-US" sz="2800" b="0" i="1" smtClean="0">
                              <a:latin typeface="Cambria Math" panose="02040503050406030204" pitchFamily="18" charset="0"/>
                              <a:ea typeface="Cambria Math" panose="02040503050406030204" pitchFamily="18" charset="0"/>
                            </a:rPr>
                          </m:ctrlPr>
                        </m:fPr>
                        <m:num>
                          <m:sSup>
                            <m:sSupPr>
                              <m:ctrlPr>
                                <a:rPr lang="en-US" sz="2800" b="0" i="1" smtClean="0">
                                  <a:latin typeface="Cambria Math" panose="02040503050406030204" pitchFamily="18" charset="0"/>
                                  <a:ea typeface="Cambria Math" panose="02040503050406030204" pitchFamily="18" charset="0"/>
                                </a:rPr>
                              </m:ctrlPr>
                            </m:sSupPr>
                            <m:e>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𝜆</m:t>
                                  </m:r>
                                  <m:r>
                                    <a:rPr lang="en-US" sz="2800" b="0" i="1" smtClean="0">
                                      <a:latin typeface="Cambria Math" panose="02040503050406030204" pitchFamily="18" charset="0"/>
                                      <a:ea typeface="Cambria Math" panose="02040503050406030204" pitchFamily="18" charset="0"/>
                                    </a:rPr>
                                    <m:t>𝑡</m:t>
                                  </m:r>
                                </m:e>
                              </m:d>
                            </m:e>
                            <m:sup>
                              <m:r>
                                <a:rPr lang="en-US" sz="2800" b="0" i="1" smtClean="0">
                                  <a:latin typeface="Cambria Math" panose="02040503050406030204" pitchFamily="18" charset="0"/>
                                  <a:ea typeface="Cambria Math" panose="02040503050406030204" pitchFamily="18" charset="0"/>
                                </a:rPr>
                                <m:t>𝑥</m:t>
                              </m:r>
                            </m:sup>
                          </m:sSup>
                        </m:num>
                        <m:den>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den>
                      </m:f>
                    </m:oMath>
                  </m:oMathPara>
                </a14:m>
                <a:endParaRPr lang="en-NL" sz="2800" dirty="0"/>
              </a:p>
            </p:txBody>
          </p:sp>
        </mc:Choice>
        <mc:Fallback>
          <p:sp>
            <p:nvSpPr>
              <p:cNvPr id="5" name="TextBox 4">
                <a:extLst>
                  <a:ext uri="{FF2B5EF4-FFF2-40B4-BE49-F238E27FC236}">
                    <a16:creationId xmlns:a16="http://schemas.microsoft.com/office/drawing/2014/main" id="{6F3B9233-3529-BBF6-5F26-12A2B330DBA9}"/>
                  </a:ext>
                </a:extLst>
              </p:cNvPr>
              <p:cNvSpPr txBox="1">
                <a:spLocks noRot="1" noChangeAspect="1" noMove="1" noResize="1" noEditPoints="1" noAdjustHandles="1" noChangeArrowheads="1" noChangeShapeType="1" noTextEdit="1"/>
              </p:cNvSpPr>
              <p:nvPr/>
            </p:nvSpPr>
            <p:spPr>
              <a:xfrm>
                <a:off x="6299522" y="241671"/>
                <a:ext cx="6094070" cy="928459"/>
              </a:xfrm>
              <a:prstGeom prst="rect">
                <a:avLst/>
              </a:prstGeom>
              <a:blipFill>
                <a:blip r:embed="rId3"/>
                <a:stretch>
                  <a:fillRect b="-5405"/>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4132DFCD-6D0E-B786-6061-08409CCB0EC9}"/>
                  </a:ext>
                </a:extLst>
              </p:cNvPr>
              <p:cNvSpPr txBox="1"/>
              <p:nvPr/>
            </p:nvSpPr>
            <p:spPr>
              <a:xfrm>
                <a:off x="4131134" y="3223939"/>
                <a:ext cx="4222181" cy="115615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GB" sz="2800" i="1" smtClean="0"/>
                        <m:t>𝑃</m:t>
                      </m:r>
                      <m:d>
                        <m:dPr>
                          <m:ctrlPr>
                            <a:rPr lang="en-GB" sz="2800" i="1" smtClean="0">
                              <a:latin typeface="Cambria Math" panose="02040503050406030204" pitchFamily="18" charset="0"/>
                            </a:rPr>
                          </m:ctrlPr>
                        </m:dPr>
                        <m:e>
                          <m:r>
                            <a:rPr lang="en-GB" sz="2800" i="1" smtClean="0"/>
                            <m:t>𝑋</m:t>
                          </m:r>
                          <m:r>
                            <a:rPr lang="en-GB" sz="2800" i="1" smtClean="0"/>
                            <m:t>=2</m:t>
                          </m:r>
                        </m:e>
                      </m:d>
                      <m:r>
                        <a:rPr lang="en-GB" sz="2800" i="1" smtClean="0"/>
                        <m:t>=</m:t>
                      </m:r>
                      <m:f>
                        <m:fPr>
                          <m:ctrlPr>
                            <a:rPr lang="en-GB" sz="2800" i="1" smtClean="0">
                              <a:latin typeface="Cambria Math" panose="02040503050406030204" pitchFamily="18" charset="0"/>
                            </a:rPr>
                          </m:ctrlPr>
                        </m:fPr>
                        <m:num>
                          <m:sSup>
                            <m:sSupPr>
                              <m:ctrlPr>
                                <a:rPr lang="en-GB" sz="2800" i="1" smtClean="0">
                                  <a:latin typeface="Cambria Math" panose="02040503050406030204" pitchFamily="18" charset="0"/>
                                </a:rPr>
                              </m:ctrlPr>
                            </m:sSupPr>
                            <m:e>
                              <m:r>
                                <a:rPr lang="en-GB" sz="2800" i="1" smtClean="0"/>
                                <m:t>𝑒</m:t>
                              </m:r>
                            </m:e>
                            <m:sup>
                              <m:r>
                                <a:rPr lang="en-GB" sz="2800" i="1" smtClean="0"/>
                                <m:t>−0.4</m:t>
                              </m:r>
                            </m:sup>
                          </m:sSup>
                          <m:r>
                            <a:rPr lang="en-GB" sz="2800" i="1" smtClean="0"/>
                            <m:t>⋅</m:t>
                          </m:r>
                          <m:sSup>
                            <m:sSupPr>
                              <m:ctrlPr>
                                <a:rPr lang="en-GB" sz="2800" i="1" smtClean="0">
                                  <a:latin typeface="Cambria Math" panose="02040503050406030204" pitchFamily="18" charset="0"/>
                                </a:rPr>
                              </m:ctrlPr>
                            </m:sSupPr>
                            <m:e>
                              <m:d>
                                <m:dPr>
                                  <m:ctrlPr>
                                    <a:rPr lang="en-GB" sz="2800" i="1" smtClean="0">
                                      <a:latin typeface="Cambria Math" panose="02040503050406030204" pitchFamily="18" charset="0"/>
                                    </a:rPr>
                                  </m:ctrlPr>
                                </m:dPr>
                                <m:e>
                                  <m:r>
                                    <a:rPr lang="en-GB" sz="2800" i="1" smtClean="0"/>
                                    <m:t>0.4</m:t>
                                  </m:r>
                                </m:e>
                              </m:d>
                            </m:e>
                            <m:sup>
                              <m:r>
                                <a:rPr lang="en-GB" sz="2800" i="1" smtClean="0"/>
                                <m:t>2</m:t>
                              </m:r>
                            </m:sup>
                          </m:sSup>
                        </m:num>
                        <m:den>
                          <m:r>
                            <a:rPr lang="en-GB" sz="2800" i="1" smtClean="0"/>
                            <m:t>2!</m:t>
                          </m:r>
                        </m:den>
                      </m:f>
                    </m:oMath>
                  </m:oMathPara>
                </a14:m>
                <a:endParaRPr lang="en-GB" dirty="0"/>
              </a:p>
              <a:p>
                <a:endParaRPr lang="en-NL" dirty="0"/>
              </a:p>
            </p:txBody>
          </p:sp>
        </mc:Choice>
        <mc:Fallback>
          <p:sp>
            <p:nvSpPr>
              <p:cNvPr id="11" name="TextBox 10">
                <a:extLst>
                  <a:ext uri="{FF2B5EF4-FFF2-40B4-BE49-F238E27FC236}">
                    <a16:creationId xmlns:a16="http://schemas.microsoft.com/office/drawing/2014/main" id="{4132DFCD-6D0E-B786-6061-08409CCB0EC9}"/>
                  </a:ext>
                </a:extLst>
              </p:cNvPr>
              <p:cNvSpPr txBox="1">
                <a:spLocks noRot="1" noChangeAspect="1" noMove="1" noResize="1" noEditPoints="1" noAdjustHandles="1" noChangeArrowheads="1" noChangeShapeType="1" noTextEdit="1"/>
              </p:cNvSpPr>
              <p:nvPr/>
            </p:nvSpPr>
            <p:spPr>
              <a:xfrm>
                <a:off x="4131134" y="3223939"/>
                <a:ext cx="4222181" cy="1156150"/>
              </a:xfrm>
              <a:prstGeom prst="rect">
                <a:avLst/>
              </a:prstGeom>
              <a:blipFill>
                <a:blip r:embed="rId4"/>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B34EA873-55F0-41D3-3560-D627B1BDA8DE}"/>
                  </a:ext>
                </a:extLst>
              </p:cNvPr>
              <p:cNvSpPr txBox="1"/>
              <p:nvPr/>
            </p:nvSpPr>
            <p:spPr>
              <a:xfrm>
                <a:off x="1845491" y="2473525"/>
                <a:ext cx="5990569" cy="584775"/>
              </a:xfrm>
              <a:prstGeom prst="rect">
                <a:avLst/>
              </a:prstGeom>
              <a:noFill/>
            </p:spPr>
            <p:txBody>
              <a:bodyPr wrap="square" rtlCol="0">
                <a:spAutoFit/>
              </a:bodyPr>
              <a:lstStyle/>
              <a:p>
                <a:r>
                  <a:rPr lang="en-GB" sz="3200" i="1" dirty="0"/>
                  <a:t>t</a:t>
                </a:r>
                <a:r>
                  <a:rPr lang="en-NL" sz="3200" i="1" dirty="0"/>
                  <a:t>= 1, </a:t>
                </a:r>
                <a14:m>
                  <m:oMath xmlns:m="http://schemas.openxmlformats.org/officeDocument/2006/math">
                    <m:r>
                      <a:rPr lang="en-US" sz="3200" b="0" i="1" smtClean="0">
                        <a:latin typeface="Cambria Math" panose="02040503050406030204" pitchFamily="18" charset="0"/>
                        <a:ea typeface="Cambria Math" panose="02040503050406030204" pitchFamily="18" charset="0"/>
                      </a:rPr>
                      <m:t>𝜆</m:t>
                    </m:r>
                  </m:oMath>
                </a14:m>
                <a:r>
                  <a:rPr lang="en-NL" sz="3200" i="1" dirty="0"/>
                  <a:t>=0.4, </a:t>
                </a:r>
                <a:r>
                  <a:rPr lang="en-GB" sz="3200" i="1" dirty="0"/>
                  <a:t>x= 2, </a:t>
                </a:r>
                <a14:m>
                  <m:oMath xmlns:m="http://schemas.openxmlformats.org/officeDocument/2006/math">
                    <m:r>
                      <a:rPr lang="en-US" sz="3200" i="1">
                        <a:latin typeface="Cambria Math" panose="02040503050406030204" pitchFamily="18" charset="0"/>
                        <a:ea typeface="Cambria Math" panose="02040503050406030204" pitchFamily="18" charset="0"/>
                      </a:rPr>
                      <m:t>𝜆</m:t>
                    </m:r>
                  </m:oMath>
                </a14:m>
                <a:r>
                  <a:rPr lang="en-GB" sz="3200" i="1" dirty="0"/>
                  <a:t>t = 0.4 * 1 = 0.4 </a:t>
                </a:r>
                <a:endParaRPr lang="en-NL" sz="3200" i="1" dirty="0"/>
              </a:p>
            </p:txBody>
          </p:sp>
        </mc:Choice>
        <mc:Fallback>
          <p:sp>
            <p:nvSpPr>
              <p:cNvPr id="12" name="TextBox 11">
                <a:extLst>
                  <a:ext uri="{FF2B5EF4-FFF2-40B4-BE49-F238E27FC236}">
                    <a16:creationId xmlns:a16="http://schemas.microsoft.com/office/drawing/2014/main" id="{B34EA873-55F0-41D3-3560-D627B1BDA8DE}"/>
                  </a:ext>
                </a:extLst>
              </p:cNvPr>
              <p:cNvSpPr txBox="1">
                <a:spLocks noRot="1" noChangeAspect="1" noMove="1" noResize="1" noEditPoints="1" noAdjustHandles="1" noChangeArrowheads="1" noChangeShapeType="1" noTextEdit="1"/>
              </p:cNvSpPr>
              <p:nvPr/>
            </p:nvSpPr>
            <p:spPr>
              <a:xfrm>
                <a:off x="1845491" y="2473525"/>
                <a:ext cx="5990569" cy="584775"/>
              </a:xfrm>
              <a:prstGeom prst="rect">
                <a:avLst/>
              </a:prstGeom>
              <a:blipFill>
                <a:blip r:embed="rId5"/>
                <a:stretch>
                  <a:fillRect l="-2542" t="-12766" r="-636" b="-31915"/>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8ED5F998-9545-050B-6336-E21B89ED4258}"/>
                  </a:ext>
                </a:extLst>
              </p:cNvPr>
              <p:cNvSpPr txBox="1"/>
              <p:nvPr/>
            </p:nvSpPr>
            <p:spPr>
              <a:xfrm>
                <a:off x="1692798" y="4278088"/>
                <a:ext cx="8947386" cy="108363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GB" sz="2800" i="1" smtClean="0"/>
                        <m:t>𝑃</m:t>
                      </m:r>
                      <m:d>
                        <m:dPr>
                          <m:ctrlPr>
                            <a:rPr lang="en-GB" sz="2800" i="1">
                              <a:latin typeface="Cambria Math" panose="02040503050406030204" pitchFamily="18" charset="0"/>
                            </a:rPr>
                          </m:ctrlPr>
                        </m:dPr>
                        <m:e>
                          <m:r>
                            <a:rPr lang="en-GB" sz="2800" i="1"/>
                            <m:t>𝑋</m:t>
                          </m:r>
                          <m:r>
                            <a:rPr lang="en-GB" sz="2800" i="1"/>
                            <m:t>=2</m:t>
                          </m:r>
                        </m:e>
                      </m:d>
                      <m:r>
                        <a:rPr lang="en-GB" sz="2800" i="1"/>
                        <m:t>=</m:t>
                      </m:r>
                      <m:f>
                        <m:fPr>
                          <m:ctrlPr>
                            <a:rPr lang="en-GB" sz="2800" i="1">
                              <a:latin typeface="Cambria Math" panose="02040503050406030204" pitchFamily="18" charset="0"/>
                            </a:rPr>
                          </m:ctrlPr>
                        </m:fPr>
                        <m:num>
                          <m:r>
                            <a:rPr lang="en-GB" sz="2800" i="1"/>
                            <m:t>0.6703⋅0.16</m:t>
                          </m:r>
                        </m:num>
                        <m:den>
                          <m:r>
                            <a:rPr lang="en-GB" sz="2800" i="1"/>
                            <m:t>2</m:t>
                          </m:r>
                        </m:den>
                      </m:f>
                      <m:r>
                        <a:rPr lang="en-GB" sz="2800" i="1"/>
                        <m:t>=</m:t>
                      </m:r>
                      <m:f>
                        <m:fPr>
                          <m:ctrlPr>
                            <a:rPr lang="en-GB" sz="2800" i="1">
                              <a:latin typeface="Cambria Math" panose="02040503050406030204" pitchFamily="18" charset="0"/>
                            </a:rPr>
                          </m:ctrlPr>
                        </m:fPr>
                        <m:num>
                          <m:r>
                            <a:rPr lang="en-GB" sz="2800" i="1"/>
                            <m:t>0.1072</m:t>
                          </m:r>
                        </m:num>
                        <m:den>
                          <m:r>
                            <a:rPr lang="en-GB" sz="2800" i="1"/>
                            <m:t>2</m:t>
                          </m:r>
                        </m:den>
                      </m:f>
                      <m:r>
                        <a:rPr lang="en-GB" sz="2800" i="1"/>
                        <m:t>=</m:t>
                      </m:r>
                      <m:r>
                        <a:rPr lang="en-GB" sz="2800" i="1"/>
                        <m:t>𝟎</m:t>
                      </m:r>
                      <m:r>
                        <a:rPr lang="en-GB" sz="2800" i="1"/>
                        <m:t>.</m:t>
                      </m:r>
                      <m:r>
                        <a:rPr lang="en-GB" sz="2800" i="1"/>
                        <m:t>𝟎𝟓𝟑𝟔</m:t>
                      </m:r>
                      <m:r>
                        <m:rPr>
                          <m:nor/>
                        </m:rPr>
                        <a:rPr lang="en-GB" sz="2800" i="0"/>
                        <m:t> (</m:t>
                      </m:r>
                      <m:r>
                        <m:rPr>
                          <m:nor/>
                        </m:rPr>
                        <a:rPr lang="en-GB" sz="2800" i="0"/>
                        <m:t>𝐨𝐫</m:t>
                      </m:r>
                      <m:r>
                        <m:rPr>
                          <m:nor/>
                        </m:rPr>
                        <a:rPr lang="en-GB" sz="2800" i="0"/>
                        <m:t> </m:t>
                      </m:r>
                      <m:r>
                        <m:rPr>
                          <m:nor/>
                        </m:rPr>
                        <a:rPr lang="en-GB" sz="2800" i="0"/>
                        <m:t>𝟓</m:t>
                      </m:r>
                      <m:r>
                        <m:rPr>
                          <m:nor/>
                        </m:rPr>
                        <a:rPr lang="en-GB" sz="2800" i="0"/>
                        <m:t>.</m:t>
                      </m:r>
                      <m:r>
                        <m:rPr>
                          <m:nor/>
                        </m:rPr>
                        <a:rPr lang="en-GB" sz="2800" i="0"/>
                        <m:t>𝟑𝟔</m:t>
                      </m:r>
                      <m:r>
                        <m:rPr>
                          <m:nor/>
                        </m:rPr>
                        <a:rPr lang="en-GB" sz="2800" i="0"/>
                        <m:t>%)</m:t>
                      </m:r>
                    </m:oMath>
                  </m:oMathPara>
                </a14:m>
                <a:endParaRPr lang="en-GB" sz="2800" dirty="0"/>
              </a:p>
              <a:p>
                <a:endParaRPr lang="en-NL" dirty="0"/>
              </a:p>
            </p:txBody>
          </p:sp>
        </mc:Choice>
        <mc:Fallback>
          <p:sp>
            <p:nvSpPr>
              <p:cNvPr id="13" name="TextBox 12">
                <a:extLst>
                  <a:ext uri="{FF2B5EF4-FFF2-40B4-BE49-F238E27FC236}">
                    <a16:creationId xmlns:a16="http://schemas.microsoft.com/office/drawing/2014/main" id="{8ED5F998-9545-050B-6336-E21B89ED4258}"/>
                  </a:ext>
                </a:extLst>
              </p:cNvPr>
              <p:cNvSpPr txBox="1">
                <a:spLocks noRot="1" noChangeAspect="1" noMove="1" noResize="1" noEditPoints="1" noAdjustHandles="1" noChangeArrowheads="1" noChangeShapeType="1" noTextEdit="1"/>
              </p:cNvSpPr>
              <p:nvPr/>
            </p:nvSpPr>
            <p:spPr>
              <a:xfrm>
                <a:off x="1692798" y="4278088"/>
                <a:ext cx="8947386" cy="1083630"/>
              </a:xfrm>
              <a:prstGeom prst="rect">
                <a:avLst/>
              </a:prstGeom>
              <a:blipFill>
                <a:blip r:embed="rId6"/>
                <a:stretch>
                  <a:fillRect l="-426" t="-1149" r="-851"/>
                </a:stretch>
              </a:blipFill>
            </p:spPr>
            <p:txBody>
              <a:bodyPr/>
              <a:lstStyle/>
              <a:p>
                <a:r>
                  <a:rPr lang="en-NL">
                    <a:noFill/>
                  </a:rPr>
                  <a:t> </a:t>
                </a:r>
              </a:p>
            </p:txBody>
          </p:sp>
        </mc:Fallback>
      </mc:AlternateContent>
    </p:spTree>
    <p:extLst>
      <p:ext uri="{BB962C8B-B14F-4D97-AF65-F5344CB8AC3E}">
        <p14:creationId xmlns:p14="http://schemas.microsoft.com/office/powerpoint/2010/main" val="21751446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descr="A group of graphs and diagrams&#10;&#10;AI-generated content may be incorrect.">
            <a:extLst>
              <a:ext uri="{FF2B5EF4-FFF2-40B4-BE49-F238E27FC236}">
                <a16:creationId xmlns:a16="http://schemas.microsoft.com/office/drawing/2014/main" id="{91664BAE-F1F9-E14B-7821-88C526B7A484}"/>
              </a:ext>
            </a:extLst>
          </p:cNvPr>
          <p:cNvPicPr>
            <a:picLocks noGrp="1" noChangeAspect="1"/>
          </p:cNvPicPr>
          <p:nvPr>
            <p:ph idx="1"/>
          </p:nvPr>
        </p:nvPicPr>
        <p:blipFill>
          <a:blip r:embed="rId3"/>
          <a:stretch>
            <a:fillRect/>
          </a:stretch>
        </p:blipFill>
        <p:spPr>
          <a:xfrm>
            <a:off x="1538471" y="159156"/>
            <a:ext cx="8705124" cy="6224162"/>
          </a:xfrm>
          <a:noFill/>
        </p:spPr>
      </p:pic>
      <p:sp>
        <p:nvSpPr>
          <p:cNvPr id="12" name="TextBox 11">
            <a:extLst>
              <a:ext uri="{FF2B5EF4-FFF2-40B4-BE49-F238E27FC236}">
                <a16:creationId xmlns:a16="http://schemas.microsoft.com/office/drawing/2014/main" id="{0E45E75D-A6B6-6B2D-BDF1-E055A0763EDA}"/>
              </a:ext>
            </a:extLst>
          </p:cNvPr>
          <p:cNvSpPr txBox="1"/>
          <p:nvPr/>
        </p:nvSpPr>
        <p:spPr>
          <a:xfrm>
            <a:off x="243068" y="1793909"/>
            <a:ext cx="1295403" cy="1477328"/>
          </a:xfrm>
          <a:prstGeom prst="rect">
            <a:avLst/>
          </a:prstGeom>
          <a:noFill/>
        </p:spPr>
        <p:txBody>
          <a:bodyPr wrap="square" rtlCol="0">
            <a:spAutoFit/>
          </a:bodyPr>
          <a:lstStyle/>
          <a:p>
            <a:r>
              <a:rPr lang="en-NL" dirty="0"/>
              <a:t>This is where we were on the last slide!</a:t>
            </a:r>
          </a:p>
        </p:txBody>
      </p:sp>
      <p:cxnSp>
        <p:nvCxnSpPr>
          <p:cNvPr id="14" name="Straight Arrow Connector 13">
            <a:extLst>
              <a:ext uri="{FF2B5EF4-FFF2-40B4-BE49-F238E27FC236}">
                <a16:creationId xmlns:a16="http://schemas.microsoft.com/office/drawing/2014/main" id="{40FA8465-5C34-EB2C-8205-1B57F631C87D}"/>
              </a:ext>
            </a:extLst>
          </p:cNvPr>
          <p:cNvCxnSpPr>
            <a:cxnSpLocks/>
          </p:cNvCxnSpPr>
          <p:nvPr/>
        </p:nvCxnSpPr>
        <p:spPr>
          <a:xfrm>
            <a:off x="1157468" y="2532573"/>
            <a:ext cx="1562583" cy="3147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80410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9FC83-C608-DBE7-B334-43F4B43DD2D3}"/>
            </a:ext>
          </a:extLst>
        </p:cNvPr>
        <p:cNvGrpSpPr/>
        <p:nvPr/>
      </p:nvGrpSpPr>
      <p:grpSpPr>
        <a:xfrm>
          <a:off x="0" y="0"/>
          <a:ext cx="0" cy="0"/>
          <a:chOff x="0" y="0"/>
          <a:chExt cx="0" cy="0"/>
        </a:xfrm>
      </p:grpSpPr>
      <p:pic>
        <p:nvPicPr>
          <p:cNvPr id="11" name="Content Placeholder 10" descr="A group of graphs and diagrams&#10;&#10;AI-generated content may be incorrect.">
            <a:extLst>
              <a:ext uri="{FF2B5EF4-FFF2-40B4-BE49-F238E27FC236}">
                <a16:creationId xmlns:a16="http://schemas.microsoft.com/office/drawing/2014/main" id="{EB23C2F0-7C54-AECB-B5E5-CC4B193C701D}"/>
              </a:ext>
            </a:extLst>
          </p:cNvPr>
          <p:cNvPicPr>
            <a:picLocks noGrp="1" noChangeAspect="1"/>
          </p:cNvPicPr>
          <p:nvPr>
            <p:ph idx="1"/>
          </p:nvPr>
        </p:nvPicPr>
        <p:blipFill>
          <a:blip r:embed="rId3"/>
          <a:stretch>
            <a:fillRect/>
          </a:stretch>
        </p:blipFill>
        <p:spPr>
          <a:xfrm>
            <a:off x="1538471" y="159156"/>
            <a:ext cx="8705124" cy="6224162"/>
          </a:xfrm>
          <a:noFill/>
        </p:spPr>
      </p:pic>
      <p:sp>
        <p:nvSpPr>
          <p:cNvPr id="2" name="TextBox 1">
            <a:extLst>
              <a:ext uri="{FF2B5EF4-FFF2-40B4-BE49-F238E27FC236}">
                <a16:creationId xmlns:a16="http://schemas.microsoft.com/office/drawing/2014/main" id="{637554DE-43FA-9116-4BD4-0742F79F34B1}"/>
              </a:ext>
            </a:extLst>
          </p:cNvPr>
          <p:cNvSpPr txBox="1"/>
          <p:nvPr/>
        </p:nvSpPr>
        <p:spPr>
          <a:xfrm>
            <a:off x="150471" y="3611301"/>
            <a:ext cx="2164465" cy="1203767"/>
          </a:xfrm>
          <a:prstGeom prst="rect">
            <a:avLst/>
          </a:prstGeom>
          <a:noFill/>
        </p:spPr>
        <p:txBody>
          <a:bodyPr wrap="square" rtlCol="0">
            <a:spAutoFit/>
          </a:bodyPr>
          <a:lstStyle/>
          <a:p>
            <a:r>
              <a:rPr lang="en-NL" sz="2400" b="1" dirty="0"/>
              <a:t>Symmetry starts to appear</a:t>
            </a:r>
          </a:p>
        </p:txBody>
      </p:sp>
      <p:cxnSp>
        <p:nvCxnSpPr>
          <p:cNvPr id="4" name="Straight Arrow Connector 3">
            <a:extLst>
              <a:ext uri="{FF2B5EF4-FFF2-40B4-BE49-F238E27FC236}">
                <a16:creationId xmlns:a16="http://schemas.microsoft.com/office/drawing/2014/main" id="{C62927B9-873D-A04C-D97F-63FEEEDDEB38}"/>
              </a:ext>
            </a:extLst>
          </p:cNvPr>
          <p:cNvCxnSpPr/>
          <p:nvPr/>
        </p:nvCxnSpPr>
        <p:spPr>
          <a:xfrm>
            <a:off x="1538471" y="4213185"/>
            <a:ext cx="189921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B8A28BC7-6850-0AD2-91E6-0A85542A2B7D}"/>
              </a:ext>
            </a:extLst>
          </p:cNvPr>
          <p:cNvSpPr txBox="1"/>
          <p:nvPr/>
        </p:nvSpPr>
        <p:spPr>
          <a:xfrm>
            <a:off x="10162572" y="474682"/>
            <a:ext cx="2084202" cy="1938992"/>
          </a:xfrm>
          <a:prstGeom prst="rect">
            <a:avLst/>
          </a:prstGeom>
          <a:noFill/>
        </p:spPr>
        <p:txBody>
          <a:bodyPr wrap="square" rtlCol="0">
            <a:spAutoFit/>
          </a:bodyPr>
          <a:lstStyle/>
          <a:p>
            <a:r>
              <a:rPr lang="en-NL" sz="2400" b="1" dirty="0"/>
              <a:t>As our time window expands, a bell shape starts to form</a:t>
            </a:r>
          </a:p>
        </p:txBody>
      </p:sp>
      <p:cxnSp>
        <p:nvCxnSpPr>
          <p:cNvPr id="7" name="Straight Arrow Connector 6">
            <a:extLst>
              <a:ext uri="{FF2B5EF4-FFF2-40B4-BE49-F238E27FC236}">
                <a16:creationId xmlns:a16="http://schemas.microsoft.com/office/drawing/2014/main" id="{4CCD2B27-B778-972F-DBC2-789C91E282AF}"/>
              </a:ext>
            </a:extLst>
          </p:cNvPr>
          <p:cNvCxnSpPr>
            <a:cxnSpLocks/>
          </p:cNvCxnSpPr>
          <p:nvPr/>
        </p:nvCxnSpPr>
        <p:spPr>
          <a:xfrm flipH="1">
            <a:off x="8241175" y="1444178"/>
            <a:ext cx="1921397" cy="1647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3C32B1A-EE85-FC78-4734-CDDA8E7B763D}"/>
              </a:ext>
            </a:extLst>
          </p:cNvPr>
          <p:cNvSpPr txBox="1"/>
          <p:nvPr/>
        </p:nvSpPr>
        <p:spPr>
          <a:xfrm>
            <a:off x="8943239" y="4539282"/>
            <a:ext cx="1300356" cy="523220"/>
          </a:xfrm>
          <a:prstGeom prst="rect">
            <a:avLst/>
          </a:prstGeom>
          <a:noFill/>
        </p:spPr>
        <p:txBody>
          <a:bodyPr wrap="none" rtlCol="0">
            <a:spAutoFit/>
          </a:bodyPr>
          <a:lstStyle/>
          <a:p>
            <a:r>
              <a:rPr lang="en-NL" sz="2800" b="1" dirty="0"/>
              <a:t>Normal</a:t>
            </a:r>
          </a:p>
        </p:txBody>
      </p:sp>
    </p:spTree>
    <p:extLst>
      <p:ext uri="{BB962C8B-B14F-4D97-AF65-F5344CB8AC3E}">
        <p14:creationId xmlns:p14="http://schemas.microsoft.com/office/powerpoint/2010/main" val="18495147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A316A-BC11-84B0-DE34-A430E8D118CC}"/>
            </a:ext>
          </a:extLst>
        </p:cNvPr>
        <p:cNvGrpSpPr/>
        <p:nvPr/>
      </p:nvGrpSpPr>
      <p:grpSpPr>
        <a:xfrm>
          <a:off x="0" y="0"/>
          <a:ext cx="0" cy="0"/>
          <a:chOff x="0" y="0"/>
          <a:chExt cx="0" cy="0"/>
        </a:xfrm>
      </p:grpSpPr>
      <p:pic>
        <p:nvPicPr>
          <p:cNvPr id="11" name="Content Placeholder 10" descr="A group of graphs and diagrams&#10;&#10;AI-generated content may be incorrect.">
            <a:extLst>
              <a:ext uri="{FF2B5EF4-FFF2-40B4-BE49-F238E27FC236}">
                <a16:creationId xmlns:a16="http://schemas.microsoft.com/office/drawing/2014/main" id="{1EDDA92B-E732-13AC-AE26-4EC41E35D189}"/>
              </a:ext>
            </a:extLst>
          </p:cNvPr>
          <p:cNvPicPr>
            <a:picLocks noGrp="1" noChangeAspect="1"/>
          </p:cNvPicPr>
          <p:nvPr>
            <p:ph idx="1"/>
          </p:nvPr>
        </p:nvPicPr>
        <p:blipFill>
          <a:blip r:embed="rId3"/>
          <a:stretch>
            <a:fillRect/>
          </a:stretch>
        </p:blipFill>
        <p:spPr>
          <a:xfrm>
            <a:off x="1538471" y="159156"/>
            <a:ext cx="8705124" cy="6224162"/>
          </a:xfrm>
          <a:noFill/>
        </p:spPr>
      </p:pic>
      <p:sp>
        <p:nvSpPr>
          <p:cNvPr id="9" name="TextBox 8">
            <a:extLst>
              <a:ext uri="{FF2B5EF4-FFF2-40B4-BE49-F238E27FC236}">
                <a16:creationId xmlns:a16="http://schemas.microsoft.com/office/drawing/2014/main" id="{5ECB1AE0-5E54-5183-CEFE-AE7F43282ABB}"/>
              </a:ext>
            </a:extLst>
          </p:cNvPr>
          <p:cNvSpPr txBox="1"/>
          <p:nvPr/>
        </p:nvSpPr>
        <p:spPr>
          <a:xfrm>
            <a:off x="8943239" y="4539282"/>
            <a:ext cx="1300356" cy="523220"/>
          </a:xfrm>
          <a:prstGeom prst="rect">
            <a:avLst/>
          </a:prstGeom>
          <a:noFill/>
        </p:spPr>
        <p:txBody>
          <a:bodyPr wrap="none" rtlCol="0">
            <a:spAutoFit/>
          </a:bodyPr>
          <a:lstStyle/>
          <a:p>
            <a:r>
              <a:rPr lang="en-NL" sz="2800" b="1" dirty="0"/>
              <a:t>Normal</a:t>
            </a:r>
          </a:p>
        </p:txBody>
      </p:sp>
      <p:sp>
        <p:nvSpPr>
          <p:cNvPr id="3" name="TextBox 2">
            <a:extLst>
              <a:ext uri="{FF2B5EF4-FFF2-40B4-BE49-F238E27FC236}">
                <a16:creationId xmlns:a16="http://schemas.microsoft.com/office/drawing/2014/main" id="{7898BE6D-A163-2A70-515E-DC989F207F29}"/>
              </a:ext>
            </a:extLst>
          </p:cNvPr>
          <p:cNvSpPr txBox="1"/>
          <p:nvPr/>
        </p:nvSpPr>
        <p:spPr>
          <a:xfrm rot="20766094">
            <a:off x="516332" y="2717241"/>
            <a:ext cx="11159337" cy="1107996"/>
          </a:xfrm>
          <a:prstGeom prst="rect">
            <a:avLst/>
          </a:prstGeom>
          <a:noFill/>
        </p:spPr>
        <p:txBody>
          <a:bodyPr wrap="none" rtlCol="0">
            <a:spAutoFit/>
          </a:bodyPr>
          <a:lstStyle/>
          <a:p>
            <a:r>
              <a:rPr lang="en-NL" sz="6600" b="1" dirty="0">
                <a:solidFill>
                  <a:schemeClr val="accent1"/>
                </a:solidFill>
              </a:rPr>
              <a:t>We see why this happens later!</a:t>
            </a:r>
          </a:p>
        </p:txBody>
      </p:sp>
    </p:spTree>
    <p:extLst>
      <p:ext uri="{BB962C8B-B14F-4D97-AF65-F5344CB8AC3E}">
        <p14:creationId xmlns:p14="http://schemas.microsoft.com/office/powerpoint/2010/main" val="27424431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3558" y="1"/>
            <a:ext cx="5528441" cy="1842814"/>
          </a:xfrm>
          <a:prstGeom prst="rect">
            <a:avLst/>
          </a:prstGeom>
        </p:spPr>
      </p:pic>
      <p:sp>
        <p:nvSpPr>
          <p:cNvPr id="266" name="PlaceHolder 1"/>
          <p:cNvSpPr>
            <a:spLocks noGrp="1"/>
          </p:cNvSpPr>
          <p:nvPr>
            <p:ph type="title"/>
          </p:nvPr>
        </p:nvSpPr>
        <p:spPr>
          <a:prstGeom prst="rect">
            <a:avLst/>
          </a:prstGeom>
          <a:noFill/>
          <a:ln w="0">
            <a:noFill/>
          </a:ln>
        </p:spPr>
        <p:txBody>
          <a:bodyPr vert="horz" lIns="0" tIns="0" rIns="0" bIns="0" rtlCol="0" anchor="t" anchorCtr="0">
            <a:noAutofit/>
          </a:bodyPr>
          <a:lstStyle/>
          <a:p>
            <a:r>
              <a:rPr lang="en-US" dirty="0"/>
              <a:t>Normal</a:t>
            </a:r>
            <a:r>
              <a:rPr lang="en-US" spc="-1" dirty="0">
                <a:solidFill>
                  <a:srgbClr val="00A2DB"/>
                </a:solidFill>
                <a:latin typeface="Calibri"/>
              </a:rPr>
              <a:t> distribution</a:t>
            </a:r>
            <a:endParaRPr lang="nl-NL" b="0" spc="-1" dirty="0">
              <a:solidFill>
                <a:srgbClr val="001C3D"/>
              </a:solidFill>
              <a:latin typeface="Calibri"/>
            </a:endParaRPr>
          </a:p>
        </p:txBody>
      </p:sp>
      <mc:AlternateContent xmlns:mc="http://schemas.openxmlformats.org/markup-compatibility/2006" xmlns:a14="http://schemas.microsoft.com/office/drawing/2010/main">
        <mc:Choice Requires="a14">
          <p:graphicFrame>
            <p:nvGraphicFramePr>
              <p:cNvPr id="9" name="Content Placeholder 5"/>
              <p:cNvGraphicFramePr>
                <a:graphicFrameLocks/>
              </p:cNvGraphicFramePr>
              <p:nvPr/>
            </p:nvGraphicFramePr>
            <p:xfrm>
              <a:off x="480000" y="1347992"/>
              <a:ext cx="11101917" cy="2516188"/>
            </p:xfrm>
            <a:graphic>
              <a:graphicData uri="http://schemas.openxmlformats.org/drawingml/2006/table">
                <a:tbl>
                  <a:tblPr firstRow="1" bandRow="1">
                    <a:tableStyleId>{5C22544A-7EE6-4342-B048-85BDC9FD1C3A}</a:tableStyleId>
                  </a:tblPr>
                  <a:tblGrid>
                    <a:gridCol w="11101917">
                      <a:extLst>
                        <a:ext uri="{9D8B030D-6E8A-4147-A177-3AD203B41FA5}">
                          <a16:colId xmlns:a16="http://schemas.microsoft.com/office/drawing/2014/main" val="2806566759"/>
                        </a:ext>
                      </a:extLst>
                    </a:gridCol>
                  </a:tblGrid>
                  <a:tr h="690880">
                    <a:tc>
                      <a:txBody>
                        <a:bodyPr/>
                        <a:lstStyle/>
                        <a:p>
                          <a:r>
                            <a:rPr lang="en-US" sz="3700" dirty="0"/>
                            <a:t>Normal Distribution</a:t>
                          </a:r>
                        </a:p>
                      </a:txBody>
                      <a:tcPr marL="121920" marR="121920" marT="60960" marB="60960"/>
                    </a:tc>
                    <a:extLst>
                      <a:ext uri="{0D108BD9-81ED-4DB2-BD59-A6C34878D82A}">
                        <a16:rowId xmlns:a16="http://schemas.microsoft.com/office/drawing/2014/main" val="4282699494"/>
                      </a:ext>
                    </a:extLst>
                  </a:tr>
                  <a:tr h="1804163">
                    <a:tc>
                      <a:txBody>
                        <a:bodyPr/>
                        <a:lstStyle/>
                        <a:p>
                          <a:pPr marL="0" indent="0">
                            <a:buFont typeface="Arial" panose="020B0604020202020204" pitchFamily="34" charset="0"/>
                            <a:buNone/>
                          </a:pPr>
                          <a:r>
                            <a:rPr lang="en-US" sz="2700" dirty="0"/>
                            <a:t>An RV</a:t>
                          </a:r>
                          <a:r>
                            <a:rPr lang="en-US" sz="2700" baseline="0" dirty="0"/>
                            <a:t> </a:t>
                          </a:r>
                          <a14:m>
                            <m:oMath xmlns:m="http://schemas.openxmlformats.org/officeDocument/2006/math">
                              <m:r>
                                <a:rPr lang="en-US" sz="2700" i="1" baseline="0" dirty="0" smtClean="0">
                                  <a:latin typeface="Cambria Math" panose="02040503050406030204" pitchFamily="18" charset="0"/>
                                </a:rPr>
                                <m:t>𝑋</m:t>
                              </m:r>
                            </m:oMath>
                          </a14:m>
                          <a:r>
                            <a:rPr lang="en-US" sz="2700" baseline="0" dirty="0"/>
                            <a:t> has a normal distribution with parameters </a:t>
                          </a:r>
                          <a14:m>
                            <m:oMath xmlns:m="http://schemas.openxmlformats.org/officeDocument/2006/math">
                              <m:r>
                                <a:rPr lang="en-US" sz="2700" b="0" i="1" baseline="0" dirty="0" smtClean="0">
                                  <a:latin typeface="Cambria Math" panose="02040503050406030204" pitchFamily="18" charset="0"/>
                                </a:rPr>
                                <m:t>𝜇</m:t>
                              </m:r>
                            </m:oMath>
                          </a14:m>
                          <a:r>
                            <a:rPr lang="en-US" sz="2700" baseline="0" dirty="0"/>
                            <a:t> and </a:t>
                          </a:r>
                          <a14:m>
                            <m:oMath xmlns:m="http://schemas.openxmlformats.org/officeDocument/2006/math">
                              <m:r>
                                <a:rPr lang="en-US" sz="2700" b="0" i="1" baseline="0" dirty="0" smtClean="0">
                                  <a:latin typeface="Cambria Math" panose="02040503050406030204" pitchFamily="18" charset="0"/>
                                </a:rPr>
                                <m:t>𝜎</m:t>
                              </m:r>
                            </m:oMath>
                          </a14:m>
                          <a:r>
                            <a:rPr lang="en-US" sz="2700" baseline="0" dirty="0"/>
                            <a:t>, </a:t>
                          </a:r>
                          <a14:m>
                            <m:oMath xmlns:m="http://schemas.openxmlformats.org/officeDocument/2006/math">
                              <m:r>
                                <a:rPr lang="en-US" sz="2700" i="1" baseline="0" dirty="0" smtClean="0">
                                  <a:latin typeface="Cambria Math" panose="02040503050406030204" pitchFamily="18" charset="0"/>
                                </a:rPr>
                                <m:t>𝑋</m:t>
                              </m:r>
                              <m:r>
                                <a:rPr lang="en-US" sz="2700" i="1" baseline="0" dirty="0" smtClean="0">
                                  <a:latin typeface="Cambria Math" panose="02040503050406030204" pitchFamily="18" charset="0"/>
                                </a:rPr>
                                <m:t>∼</m:t>
                              </m:r>
                              <m:r>
                                <a:rPr lang="en-US" sz="2700" b="0" i="1" baseline="0" dirty="0" smtClean="0">
                                  <a:latin typeface="Cambria Math" panose="02040503050406030204" pitchFamily="18" charset="0"/>
                                </a:rPr>
                                <m:t>𝑁</m:t>
                              </m:r>
                              <m:r>
                                <a:rPr lang="en-US" sz="2700" i="1" baseline="0" dirty="0" smtClean="0">
                                  <a:latin typeface="Cambria Math" panose="02040503050406030204" pitchFamily="18" charset="0"/>
                                </a:rPr>
                                <m:t>(</m:t>
                              </m:r>
                              <m:r>
                                <a:rPr lang="en-US" sz="2700" b="0" i="1" baseline="0" dirty="0" smtClean="0">
                                  <a:latin typeface="Cambria Math" panose="02040503050406030204" pitchFamily="18" charset="0"/>
                                </a:rPr>
                                <m:t>𝜇</m:t>
                              </m:r>
                              <m:r>
                                <a:rPr lang="en-US" sz="2700" b="0" i="1" baseline="0" dirty="0" smtClean="0">
                                  <a:latin typeface="Cambria Math" panose="02040503050406030204" pitchFamily="18" charset="0"/>
                                </a:rPr>
                                <m:t>,</m:t>
                              </m:r>
                              <m:r>
                                <a:rPr lang="en-US" sz="2700" b="0" i="1" baseline="0" dirty="0" smtClean="0">
                                  <a:latin typeface="Cambria Math" panose="02040503050406030204" pitchFamily="18" charset="0"/>
                                </a:rPr>
                                <m:t>𝜎</m:t>
                              </m:r>
                              <m:r>
                                <a:rPr lang="en-US" sz="2700" i="1" baseline="0" dirty="0" smtClean="0">
                                  <a:latin typeface="Cambria Math" panose="02040503050406030204" pitchFamily="18" charset="0"/>
                                </a:rPr>
                                <m:t>)</m:t>
                              </m:r>
                            </m:oMath>
                          </a14:m>
                          <a:r>
                            <a:rPr lang="en-US" sz="2700" baseline="0" dirty="0"/>
                            <a:t> if the density is given by</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700" b="0" i="1" smtClean="0">
                                    <a:latin typeface="Cambria Math" panose="02040503050406030204" pitchFamily="18" charset="0"/>
                                  </a:rPr>
                                  <m:t>𝑓</m:t>
                                </m:r>
                                <m:d>
                                  <m:dPr>
                                    <m:ctrlPr>
                                      <a:rPr lang="en-US" sz="2700" i="1" smtClean="0">
                                        <a:latin typeface="Cambria Math" panose="02040503050406030204" pitchFamily="18" charset="0"/>
                                      </a:rPr>
                                    </m:ctrlPr>
                                  </m:dPr>
                                  <m:e>
                                    <m:r>
                                      <a:rPr lang="en-US" sz="2700" smtClean="0">
                                        <a:latin typeface="Cambria Math" panose="02040503050406030204" pitchFamily="18" charset="0"/>
                                      </a:rPr>
                                      <m:t>𝑥</m:t>
                                    </m:r>
                                  </m:e>
                                </m:d>
                                <m:r>
                                  <a:rPr lang="en-US" sz="2700" i="1" smtClean="0">
                                    <a:latin typeface="Cambria Math" panose="02040503050406030204" pitchFamily="18" charset="0"/>
                                  </a:rPr>
                                  <m:t>=</m:t>
                                </m:r>
                                <m:f>
                                  <m:fPr>
                                    <m:ctrlPr>
                                      <a:rPr lang="en-US" sz="2700" b="0" i="1" smtClean="0">
                                        <a:latin typeface="Cambria Math" panose="02040503050406030204" pitchFamily="18" charset="0"/>
                                      </a:rPr>
                                    </m:ctrlPr>
                                  </m:fPr>
                                  <m:num>
                                    <m:r>
                                      <a:rPr lang="en-US" sz="2700" b="0" i="1" smtClean="0">
                                        <a:latin typeface="Cambria Math" panose="02040503050406030204" pitchFamily="18" charset="0"/>
                                      </a:rPr>
                                      <m:t>1</m:t>
                                    </m:r>
                                  </m:num>
                                  <m:den>
                                    <m:r>
                                      <a:rPr lang="en-US" sz="2700" b="0" i="1" smtClean="0">
                                        <a:latin typeface="Cambria Math" panose="02040503050406030204" pitchFamily="18" charset="0"/>
                                      </a:rPr>
                                      <m:t>𝜎</m:t>
                                    </m:r>
                                    <m:rad>
                                      <m:radPr>
                                        <m:degHide m:val="on"/>
                                        <m:ctrlPr>
                                          <a:rPr lang="en-US" sz="2700" b="0" i="1" smtClean="0">
                                            <a:latin typeface="Cambria Math" panose="02040503050406030204" pitchFamily="18" charset="0"/>
                                          </a:rPr>
                                        </m:ctrlPr>
                                      </m:radPr>
                                      <m:deg/>
                                      <m:e>
                                        <m:r>
                                          <a:rPr lang="en-US" sz="2700" b="0" i="1" smtClean="0">
                                            <a:latin typeface="Cambria Math" panose="02040503050406030204" pitchFamily="18" charset="0"/>
                                          </a:rPr>
                                          <m:t>2</m:t>
                                        </m:r>
                                        <m:r>
                                          <a:rPr lang="en-US" sz="2700" b="0" i="1" smtClean="0">
                                            <a:latin typeface="Cambria Math" panose="02040503050406030204" pitchFamily="18" charset="0"/>
                                          </a:rPr>
                                          <m:t>𝜋</m:t>
                                        </m:r>
                                      </m:e>
                                    </m:rad>
                                  </m:den>
                                </m:f>
                                <m:sSup>
                                  <m:sSupPr>
                                    <m:ctrlPr>
                                      <a:rPr lang="en-US" sz="2700" b="0" i="1" smtClean="0">
                                        <a:latin typeface="Cambria Math" panose="02040503050406030204" pitchFamily="18" charset="0"/>
                                      </a:rPr>
                                    </m:ctrlPr>
                                  </m:sSupPr>
                                  <m:e>
                                    <m:r>
                                      <a:rPr lang="en-US" sz="2700" b="0" i="1" smtClean="0">
                                        <a:latin typeface="Cambria Math" panose="02040503050406030204" pitchFamily="18" charset="0"/>
                                      </a:rPr>
                                      <m:t>𝑒</m:t>
                                    </m:r>
                                  </m:e>
                                  <m:sup>
                                    <m:r>
                                      <a:rPr lang="en-US" sz="2700" b="0" i="1" smtClean="0">
                                        <a:latin typeface="Cambria Math" panose="02040503050406030204" pitchFamily="18" charset="0"/>
                                      </a:rPr>
                                      <m:t>−</m:t>
                                    </m:r>
                                    <m:f>
                                      <m:fPr>
                                        <m:ctrlPr>
                                          <a:rPr lang="en-US" sz="2700" b="0" i="1" smtClean="0">
                                            <a:latin typeface="Cambria Math" panose="02040503050406030204" pitchFamily="18" charset="0"/>
                                          </a:rPr>
                                        </m:ctrlPr>
                                      </m:fPr>
                                      <m:num>
                                        <m:r>
                                          <a:rPr lang="en-US" sz="2700" b="0" i="1" smtClean="0">
                                            <a:latin typeface="Cambria Math" panose="02040503050406030204" pitchFamily="18" charset="0"/>
                                          </a:rPr>
                                          <m:t>1</m:t>
                                        </m:r>
                                      </m:num>
                                      <m:den>
                                        <m:r>
                                          <a:rPr lang="en-US" sz="2700" b="0" i="1" smtClean="0">
                                            <a:latin typeface="Cambria Math" panose="02040503050406030204" pitchFamily="18" charset="0"/>
                                          </a:rPr>
                                          <m:t>2</m:t>
                                        </m:r>
                                      </m:den>
                                    </m:f>
                                    <m:sSup>
                                      <m:sSupPr>
                                        <m:ctrlPr>
                                          <a:rPr lang="en-US" sz="2700" b="0" i="1" smtClean="0">
                                            <a:latin typeface="Cambria Math" panose="02040503050406030204" pitchFamily="18" charset="0"/>
                                          </a:rPr>
                                        </m:ctrlPr>
                                      </m:sSupPr>
                                      <m:e>
                                        <m:d>
                                          <m:dPr>
                                            <m:ctrlPr>
                                              <a:rPr lang="en-US" sz="2700" b="0" i="1" smtClean="0">
                                                <a:latin typeface="Cambria Math" panose="02040503050406030204" pitchFamily="18" charset="0"/>
                                              </a:rPr>
                                            </m:ctrlPr>
                                          </m:dPr>
                                          <m:e>
                                            <m:f>
                                              <m:fPr>
                                                <m:ctrlPr>
                                                  <a:rPr lang="en-US" sz="2700" b="0" i="1" smtClean="0">
                                                    <a:latin typeface="Cambria Math" panose="02040503050406030204" pitchFamily="18" charset="0"/>
                                                  </a:rPr>
                                                </m:ctrlPr>
                                              </m:fPr>
                                              <m:num>
                                                <m:r>
                                                  <a:rPr lang="en-US" sz="2700" b="0" i="1" smtClean="0">
                                                    <a:latin typeface="Cambria Math" panose="02040503050406030204" pitchFamily="18" charset="0"/>
                                                  </a:rPr>
                                                  <m:t>𝑥</m:t>
                                                </m:r>
                                                <m:r>
                                                  <a:rPr lang="en-US" sz="2700" b="0" i="1" smtClean="0">
                                                    <a:latin typeface="Cambria Math" panose="02040503050406030204" pitchFamily="18" charset="0"/>
                                                  </a:rPr>
                                                  <m:t>−</m:t>
                                                </m:r>
                                                <m:r>
                                                  <a:rPr lang="en-US" sz="2700" b="0" i="1" smtClean="0">
                                                    <a:latin typeface="Cambria Math" panose="02040503050406030204" pitchFamily="18" charset="0"/>
                                                  </a:rPr>
                                                  <m:t>𝜇</m:t>
                                                </m:r>
                                              </m:num>
                                              <m:den>
                                                <m:r>
                                                  <a:rPr lang="en-US" sz="2700" b="0" i="1" smtClean="0">
                                                    <a:latin typeface="Cambria Math" panose="02040503050406030204" pitchFamily="18" charset="0"/>
                                                  </a:rPr>
                                                  <m:t>𝜎</m:t>
                                                </m:r>
                                              </m:den>
                                            </m:f>
                                          </m:e>
                                        </m:d>
                                      </m:e>
                                      <m:sup>
                                        <m:r>
                                          <a:rPr lang="en-US" sz="2700" b="0" i="1" smtClean="0">
                                            <a:latin typeface="Cambria Math" panose="02040503050406030204" pitchFamily="18" charset="0"/>
                                          </a:rPr>
                                          <m:t>2</m:t>
                                        </m:r>
                                      </m:sup>
                                    </m:sSup>
                                  </m:sup>
                                </m:sSup>
                                <m:r>
                                  <a:rPr lang="en-US" sz="2700" b="0" i="1" smtClean="0">
                                    <a:latin typeface="Cambria Math" panose="02040503050406030204" pitchFamily="18" charset="0"/>
                                  </a:rPr>
                                  <m:t>, </m:t>
                                </m:r>
                                <m:r>
                                  <m:rPr>
                                    <m:sty m:val="p"/>
                                  </m:rPr>
                                  <a:rPr lang="en-US" sz="2700" b="0" i="0" smtClean="0">
                                    <a:latin typeface="Cambria Math" panose="02040503050406030204" pitchFamily="18" charset="0"/>
                                  </a:rPr>
                                  <m:t>if</m:t>
                                </m:r>
                                <m:r>
                                  <a:rPr lang="en-US" sz="2700" b="0" i="0" smtClean="0">
                                    <a:latin typeface="Cambria Math" panose="02040503050406030204" pitchFamily="18" charset="0"/>
                                  </a:rPr>
                                  <m:t> </m:t>
                                </m:r>
                                <m:r>
                                  <a:rPr lang="en-US" sz="2700" b="0" i="1" smtClean="0">
                                    <a:latin typeface="Cambria Math" panose="02040503050406030204" pitchFamily="18" charset="0"/>
                                  </a:rPr>
                                  <m:t>𝑥</m:t>
                                </m:r>
                                <m:r>
                                  <a:rPr lang="en-US" sz="2700" b="0" i="1" smtClean="0">
                                    <a:latin typeface="Cambria Math" panose="02040503050406030204" pitchFamily="18" charset="0"/>
                                  </a:rPr>
                                  <m:t>∈</m:t>
                                </m:r>
                                <m:r>
                                  <a:rPr lang="en-US" sz="2700" b="0" i="1" smtClean="0">
                                    <a:latin typeface="Cambria Math" panose="02040503050406030204" pitchFamily="18" charset="0"/>
                                    <a:ea typeface="Cambria Math" panose="02040503050406030204" pitchFamily="18" charset="0"/>
                                  </a:rPr>
                                  <m:t>ℝ</m:t>
                                </m:r>
                              </m:oMath>
                            </m:oMathPara>
                          </a14:m>
                          <a:endParaRPr lang="en-US" sz="2700" b="0" i="1" dirty="0">
                            <a:latin typeface="Cambria Math" panose="02040503050406030204" pitchFamily="18" charset="0"/>
                            <a:ea typeface="Cambria Math" panose="02040503050406030204" pitchFamily="18" charset="0"/>
                          </a:endParaRPr>
                        </a:p>
                      </a:txBody>
                      <a:tcPr marL="121920" marR="121920" marT="60960" marB="60960"/>
                    </a:tc>
                    <a:extLst>
                      <a:ext uri="{0D108BD9-81ED-4DB2-BD59-A6C34878D82A}">
                        <a16:rowId xmlns:a16="http://schemas.microsoft.com/office/drawing/2014/main" val="2257841623"/>
                      </a:ext>
                    </a:extLst>
                  </a:tr>
                </a:tbl>
              </a:graphicData>
            </a:graphic>
          </p:graphicFrame>
        </mc:Choice>
        <mc:Fallback xmlns="">
          <p:graphicFrame>
            <p:nvGraphicFramePr>
              <p:cNvPr id="9" name="Content Placeholder 5"/>
              <p:cNvGraphicFramePr>
                <a:graphicFrameLocks/>
              </p:cNvGraphicFramePr>
              <p:nvPr/>
            </p:nvGraphicFramePr>
            <p:xfrm>
              <a:off x="480000" y="1347992"/>
              <a:ext cx="11101917" cy="2516188"/>
            </p:xfrm>
            <a:graphic>
              <a:graphicData uri="http://schemas.openxmlformats.org/drawingml/2006/table">
                <a:tbl>
                  <a:tblPr firstRow="1" bandRow="1">
                    <a:tableStyleId>{5C22544A-7EE6-4342-B048-85BDC9FD1C3A}</a:tableStyleId>
                  </a:tblPr>
                  <a:tblGrid>
                    <a:gridCol w="11101917">
                      <a:extLst>
                        <a:ext uri="{9D8B030D-6E8A-4147-A177-3AD203B41FA5}">
                          <a16:colId xmlns:a16="http://schemas.microsoft.com/office/drawing/2014/main" val="2806566759"/>
                        </a:ext>
                      </a:extLst>
                    </a:gridCol>
                  </a:tblGrid>
                  <a:tr h="690880">
                    <a:tc>
                      <a:txBody>
                        <a:bodyPr/>
                        <a:lstStyle/>
                        <a:p>
                          <a:r>
                            <a:rPr lang="en-US" sz="3700" dirty="0"/>
                            <a:t>Normal Distribution</a:t>
                          </a:r>
                        </a:p>
                      </a:txBody>
                      <a:tcPr marL="121920" marR="121920" marT="60960" marB="60960"/>
                    </a:tc>
                    <a:extLst>
                      <a:ext uri="{0D108BD9-81ED-4DB2-BD59-A6C34878D82A}">
                        <a16:rowId xmlns:a16="http://schemas.microsoft.com/office/drawing/2014/main" val="4282699494"/>
                      </a:ext>
                    </a:extLst>
                  </a:tr>
                  <a:tr h="1825308">
                    <a:tc>
                      <a:txBody>
                        <a:bodyPr/>
                        <a:lstStyle/>
                        <a:p>
                          <a:endParaRPr lang="en-US"/>
                        </a:p>
                      </a:txBody>
                      <a:tcPr marL="121920" marR="121920" marT="60960" marB="60960">
                        <a:blipFill>
                          <a:blip r:embed="rId4"/>
                          <a:stretch>
                            <a:fillRect l="-114" t="-43056" r="-343" b="-1389"/>
                          </a:stretch>
                        </a:blipFill>
                      </a:tcPr>
                    </a:tc>
                    <a:extLst>
                      <a:ext uri="{0D108BD9-81ED-4DB2-BD59-A6C34878D82A}">
                        <a16:rowId xmlns:a16="http://schemas.microsoft.com/office/drawing/2014/main" val="225784162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Content Placeholder 3"/>
              <p:cNvGraphicFramePr>
                <a:graphicFrameLocks/>
              </p:cNvGraphicFramePr>
              <p:nvPr/>
            </p:nvGraphicFramePr>
            <p:xfrm>
              <a:off x="480002" y="4020767"/>
              <a:ext cx="11101916" cy="2047240"/>
            </p:xfrm>
            <a:graphic>
              <a:graphicData uri="http://schemas.openxmlformats.org/drawingml/2006/table">
                <a:tbl>
                  <a:tblPr firstRow="1" bandRow="1">
                    <a:tableStyleId>{21E4AEA4-8DFA-4A89-87EB-49C32662AFE0}</a:tableStyleId>
                  </a:tblPr>
                  <a:tblGrid>
                    <a:gridCol w="11101916">
                      <a:extLst>
                        <a:ext uri="{9D8B030D-6E8A-4147-A177-3AD203B41FA5}">
                          <a16:colId xmlns:a16="http://schemas.microsoft.com/office/drawing/2014/main" val="3077495686"/>
                        </a:ext>
                      </a:extLst>
                    </a:gridCol>
                  </a:tblGrid>
                  <a:tr h="690880">
                    <a:tc>
                      <a:txBody>
                        <a:bodyPr/>
                        <a:lstStyle/>
                        <a:p>
                          <a:r>
                            <a:rPr lang="en-US" sz="3700" dirty="0"/>
                            <a:t>Descriptive statistics:</a:t>
                          </a:r>
                          <a:r>
                            <a:rPr lang="en-US" sz="3700" baseline="0" dirty="0"/>
                            <a:t> </a:t>
                          </a:r>
                          <a14:m>
                            <m:oMath xmlns:m="http://schemas.openxmlformats.org/officeDocument/2006/math">
                              <m:r>
                                <a:rPr lang="en-US" sz="3700" b="0" i="1" smtClean="0">
                                  <a:latin typeface="Cambria Math" panose="02040503050406030204" pitchFamily="18" charset="0"/>
                                </a:rPr>
                                <m:t>𝑋</m:t>
                              </m:r>
                              <m:r>
                                <a:rPr lang="en-US" sz="3700" b="0" i="1" smtClean="0">
                                  <a:latin typeface="Cambria Math" panose="02040503050406030204" pitchFamily="18" charset="0"/>
                                </a:rPr>
                                <m:t>∼</m:t>
                              </m:r>
                              <m:r>
                                <a:rPr lang="en-US" sz="3700" b="0" i="1" smtClean="0">
                                  <a:latin typeface="Cambria Math" panose="02040503050406030204" pitchFamily="18" charset="0"/>
                                </a:rPr>
                                <m:t>𝑁</m:t>
                              </m:r>
                              <m:d>
                                <m:dPr>
                                  <m:ctrlPr>
                                    <a:rPr lang="en-US" sz="3700" i="1" smtClean="0">
                                      <a:latin typeface="Cambria Math" panose="02040503050406030204" pitchFamily="18" charset="0"/>
                                    </a:rPr>
                                  </m:ctrlPr>
                                </m:dPr>
                                <m:e>
                                  <m:r>
                                    <a:rPr lang="en-US" sz="3700" b="0" i="1" smtClean="0">
                                      <a:latin typeface="Cambria Math" panose="02040503050406030204" pitchFamily="18" charset="0"/>
                                    </a:rPr>
                                    <m:t>𝜇</m:t>
                                  </m:r>
                                  <m:r>
                                    <a:rPr lang="en-US" sz="3700" b="0" i="1" smtClean="0">
                                      <a:latin typeface="Cambria Math" panose="02040503050406030204" pitchFamily="18" charset="0"/>
                                    </a:rPr>
                                    <m:t>,</m:t>
                                  </m:r>
                                  <m:r>
                                    <a:rPr lang="en-US" sz="3700" b="0" i="1" smtClean="0">
                                      <a:latin typeface="Cambria Math" panose="02040503050406030204" pitchFamily="18" charset="0"/>
                                    </a:rPr>
                                    <m:t>𝜎</m:t>
                                  </m:r>
                                </m:e>
                              </m:d>
                            </m:oMath>
                          </a14:m>
                          <a:endParaRPr lang="en-US" sz="3700" dirty="0"/>
                        </a:p>
                      </a:txBody>
                      <a:tcPr marL="121920" marR="121920" marT="60960" marB="60960"/>
                    </a:tc>
                    <a:extLst>
                      <a:ext uri="{0D108BD9-81ED-4DB2-BD59-A6C34878D82A}">
                        <a16:rowId xmlns:a16="http://schemas.microsoft.com/office/drawing/2014/main" val="1209543202"/>
                      </a:ext>
                    </a:extLst>
                  </a:tr>
                  <a:tr h="1341120">
                    <a:tc>
                      <a:txBody>
                        <a:bodyPr/>
                        <a:lstStyle/>
                        <a:p>
                          <a:pPr algn="ctr"/>
                          <a14:m>
                            <m:oMath xmlns:m="http://schemas.openxmlformats.org/officeDocument/2006/math">
                              <m:r>
                                <a:rPr lang="en-US" sz="2700" b="0" i="1" smtClean="0">
                                  <a:latin typeface="Cambria Math" panose="02040503050406030204" pitchFamily="18" charset="0"/>
                                </a:rPr>
                                <m:t>𝑓</m:t>
                              </m:r>
                            </m:oMath>
                          </a14:m>
                          <a:r>
                            <a:rPr lang="en-US" sz="2700" dirty="0">
                              <a:latin typeface="Cambria Math" panose="02040503050406030204" pitchFamily="18" charset="0"/>
                            </a:rPr>
                            <a:t> </a:t>
                          </a:r>
                          <a:r>
                            <a:rPr lang="en-US" sz="2700" dirty="0">
                              <a:latin typeface="+mn-lt"/>
                            </a:rPr>
                            <a:t>is symmetric around and maximal for</a:t>
                          </a:r>
                          <a:r>
                            <a:rPr lang="en-US" sz="2700" baseline="0" dirty="0">
                              <a:latin typeface="+mn-lt"/>
                            </a:rPr>
                            <a:t> </a:t>
                          </a:r>
                          <a14:m>
                            <m:oMath xmlns:m="http://schemas.openxmlformats.org/officeDocument/2006/math">
                              <m:r>
                                <a:rPr lang="en-US" sz="2700" i="1" dirty="0" smtClean="0">
                                  <a:latin typeface="Cambria Math" panose="02040503050406030204" pitchFamily="18" charset="0"/>
                                </a:rPr>
                                <m:t>𝑋</m:t>
                              </m:r>
                              <m:r>
                                <a:rPr lang="en-US" sz="2700" i="1" dirty="0" smtClean="0">
                                  <a:latin typeface="Cambria Math" panose="02040503050406030204" pitchFamily="18" charset="0"/>
                                </a:rPr>
                                <m:t>=</m:t>
                              </m:r>
                              <m:r>
                                <a:rPr lang="en-US" sz="2700" i="1" dirty="0" smtClean="0">
                                  <a:latin typeface="Cambria Math" panose="02040503050406030204" pitchFamily="18" charset="0"/>
                                </a:rPr>
                                <m:t>𝜇</m:t>
                              </m:r>
                            </m:oMath>
                          </a14:m>
                          <a:endParaRPr lang="en-US" sz="2700" dirty="0">
                            <a:latin typeface="Cambria Math" panose="02040503050406030204" pitchFamily="18"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700" smtClean="0">
                                    <a:latin typeface="Cambria Math" panose="02040503050406030204" pitchFamily="18" charset="0"/>
                                  </a:rPr>
                                  <m:t>𝐸</m:t>
                                </m:r>
                                <m:d>
                                  <m:dPr>
                                    <m:begChr m:val="["/>
                                    <m:endChr m:val="]"/>
                                    <m:ctrlPr>
                                      <a:rPr lang="en-US" sz="2700" i="1" smtClean="0">
                                        <a:latin typeface="Cambria Math" panose="02040503050406030204" pitchFamily="18" charset="0"/>
                                      </a:rPr>
                                    </m:ctrlPr>
                                  </m:dPr>
                                  <m:e>
                                    <m:r>
                                      <a:rPr lang="en-US" sz="2700" smtClean="0">
                                        <a:latin typeface="Cambria Math" panose="02040503050406030204" pitchFamily="18" charset="0"/>
                                      </a:rPr>
                                      <m:t>𝑋</m:t>
                                    </m:r>
                                  </m:e>
                                </m:d>
                                <m:r>
                                  <a:rPr lang="en-US" sz="2700" smtClean="0">
                                    <a:latin typeface="Cambria Math" panose="02040503050406030204" pitchFamily="18" charset="0"/>
                                  </a:rPr>
                                  <m:t>=</m:t>
                                </m:r>
                                <m:r>
                                  <a:rPr lang="en-US" sz="2700" i="1" smtClean="0">
                                    <a:latin typeface="Cambria Math" panose="02040503050406030204" pitchFamily="18" charset="0"/>
                                  </a:rPr>
                                  <m:t>𝜇</m:t>
                                </m:r>
                              </m:oMath>
                            </m:oMathPara>
                          </a14:m>
                          <a:endParaRPr lang="en-US" sz="27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700" b="0" i="1" smtClean="0">
                                    <a:latin typeface="Cambria Math" panose="02040503050406030204" pitchFamily="18" charset="0"/>
                                  </a:rPr>
                                  <m:t>𝑉𝑎𝑟</m:t>
                                </m:r>
                                <m:d>
                                  <m:dPr>
                                    <m:ctrlPr>
                                      <a:rPr lang="en-US" sz="2700" b="0" i="1" smtClean="0">
                                        <a:latin typeface="Cambria Math" panose="02040503050406030204" pitchFamily="18" charset="0"/>
                                      </a:rPr>
                                    </m:ctrlPr>
                                  </m:dPr>
                                  <m:e>
                                    <m:r>
                                      <a:rPr lang="en-US" sz="2700" b="0" i="1" smtClean="0">
                                        <a:latin typeface="Cambria Math" panose="02040503050406030204" pitchFamily="18" charset="0"/>
                                      </a:rPr>
                                      <m:t>𝑋</m:t>
                                    </m:r>
                                  </m:e>
                                </m:d>
                                <m:r>
                                  <a:rPr lang="en-US" sz="2700" b="0" i="1" smtClean="0">
                                    <a:latin typeface="Cambria Math" panose="02040503050406030204" pitchFamily="18" charset="0"/>
                                  </a:rPr>
                                  <m:t>=</m:t>
                                </m:r>
                                <m:sSup>
                                  <m:sSupPr>
                                    <m:ctrlPr>
                                      <a:rPr lang="en-US" sz="2700" b="0" i="1" smtClean="0">
                                        <a:latin typeface="Cambria Math" panose="02040503050406030204" pitchFamily="18" charset="0"/>
                                      </a:rPr>
                                    </m:ctrlPr>
                                  </m:sSupPr>
                                  <m:e>
                                    <m:r>
                                      <a:rPr lang="en-US" sz="2700" b="0" i="1" smtClean="0">
                                        <a:latin typeface="Cambria Math" panose="02040503050406030204" pitchFamily="18" charset="0"/>
                                      </a:rPr>
                                      <m:t>𝜎</m:t>
                                    </m:r>
                                  </m:e>
                                  <m:sup>
                                    <m:r>
                                      <a:rPr lang="en-US" sz="2700" b="0" i="1" smtClean="0">
                                        <a:latin typeface="Cambria Math" panose="02040503050406030204" pitchFamily="18" charset="0"/>
                                      </a:rPr>
                                      <m:t>2</m:t>
                                    </m:r>
                                  </m:sup>
                                </m:sSup>
                              </m:oMath>
                            </m:oMathPara>
                          </a14:m>
                          <a:endParaRPr lang="en-US" sz="2100" i="1" dirty="0"/>
                        </a:p>
                      </a:txBody>
                      <a:tcPr marL="121920" marR="121920" marT="60960" marB="60960"/>
                    </a:tc>
                    <a:extLst>
                      <a:ext uri="{0D108BD9-81ED-4DB2-BD59-A6C34878D82A}">
                        <a16:rowId xmlns:a16="http://schemas.microsoft.com/office/drawing/2014/main" val="184729316"/>
                      </a:ext>
                    </a:extLst>
                  </a:tr>
                </a:tbl>
              </a:graphicData>
            </a:graphic>
          </p:graphicFrame>
        </mc:Choice>
        <mc:Fallback xmlns="">
          <p:graphicFrame>
            <p:nvGraphicFramePr>
              <p:cNvPr id="5" name="Content Placeholder 3"/>
              <p:cNvGraphicFramePr>
                <a:graphicFrameLocks/>
              </p:cNvGraphicFramePr>
              <p:nvPr/>
            </p:nvGraphicFramePr>
            <p:xfrm>
              <a:off x="480002" y="4020767"/>
              <a:ext cx="11101916" cy="2047240"/>
            </p:xfrm>
            <a:graphic>
              <a:graphicData uri="http://schemas.openxmlformats.org/drawingml/2006/table">
                <a:tbl>
                  <a:tblPr firstRow="1" bandRow="1">
                    <a:tableStyleId>{21E4AEA4-8DFA-4A89-87EB-49C32662AFE0}</a:tableStyleId>
                  </a:tblPr>
                  <a:tblGrid>
                    <a:gridCol w="11101916">
                      <a:extLst>
                        <a:ext uri="{9D8B030D-6E8A-4147-A177-3AD203B41FA5}">
                          <a16:colId xmlns:a16="http://schemas.microsoft.com/office/drawing/2014/main" val="3077495686"/>
                        </a:ext>
                      </a:extLst>
                    </a:gridCol>
                  </a:tblGrid>
                  <a:tr h="690880">
                    <a:tc>
                      <a:txBody>
                        <a:bodyPr/>
                        <a:lstStyle/>
                        <a:p>
                          <a:endParaRPr lang="en-US"/>
                        </a:p>
                      </a:txBody>
                      <a:tcPr marL="121920" marR="121920" marT="60960" marB="60960">
                        <a:blipFill>
                          <a:blip r:embed="rId5"/>
                          <a:stretch>
                            <a:fillRect l="-114" t="-10909" r="-343" b="-198182"/>
                          </a:stretch>
                        </a:blipFill>
                      </a:tcPr>
                    </a:tc>
                    <a:extLst>
                      <a:ext uri="{0D108BD9-81ED-4DB2-BD59-A6C34878D82A}">
                        <a16:rowId xmlns:a16="http://schemas.microsoft.com/office/drawing/2014/main" val="1209543202"/>
                      </a:ext>
                    </a:extLst>
                  </a:tr>
                  <a:tr h="1356360">
                    <a:tc>
                      <a:txBody>
                        <a:bodyPr/>
                        <a:lstStyle/>
                        <a:p>
                          <a:endParaRPr lang="en-US"/>
                        </a:p>
                      </a:txBody>
                      <a:tcPr marL="121920" marR="121920" marT="60960" marB="60960">
                        <a:blipFill>
                          <a:blip r:embed="rId5"/>
                          <a:stretch>
                            <a:fillRect l="-114" t="-57009" r="-343" b="-1869"/>
                          </a:stretch>
                        </a:blipFill>
                      </a:tcPr>
                    </a:tc>
                    <a:extLst>
                      <a:ext uri="{0D108BD9-81ED-4DB2-BD59-A6C34878D82A}">
                        <a16:rowId xmlns:a16="http://schemas.microsoft.com/office/drawing/2014/main" val="184729316"/>
                      </a:ext>
                    </a:extLst>
                  </a:tr>
                </a:tbl>
              </a:graphicData>
            </a:graphic>
          </p:graphicFrame>
        </mc:Fallback>
      </mc:AlternateContent>
    </p:spTree>
    <p:extLst>
      <p:ext uri="{BB962C8B-B14F-4D97-AF65-F5344CB8AC3E}">
        <p14:creationId xmlns:p14="http://schemas.microsoft.com/office/powerpoint/2010/main" val="320539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00E7A-BFB6-CD24-FF3B-BBD8C4AABAAC}"/>
              </a:ext>
            </a:extLst>
          </p:cNvPr>
          <p:cNvSpPr>
            <a:spLocks noGrp="1"/>
          </p:cNvSpPr>
          <p:nvPr>
            <p:ph type="title"/>
          </p:nvPr>
        </p:nvSpPr>
        <p:spPr/>
        <p:txBody>
          <a:bodyPr/>
          <a:lstStyle/>
          <a:p>
            <a:r>
              <a:rPr lang="en-NL" dirty="0"/>
              <a:t>Just a </a:t>
            </a:r>
            <a:r>
              <a:rPr lang="en-NL" dirty="0">
                <a:solidFill>
                  <a:schemeClr val="accent1"/>
                </a:solidFill>
              </a:rPr>
              <a:t>normal</a:t>
            </a:r>
            <a:r>
              <a:rPr lang="en-NL" dirty="0"/>
              <a:t> formula</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3A2EFA8-040E-A3C9-4A96-6E3350E9BB87}"/>
                  </a:ext>
                </a:extLst>
              </p:cNvPr>
              <p:cNvSpPr txBox="1"/>
              <p:nvPr/>
            </p:nvSpPr>
            <p:spPr>
              <a:xfrm>
                <a:off x="3048965" y="1272105"/>
                <a:ext cx="6094070" cy="11458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𝑓</m:t>
                      </m:r>
                      <m:d>
                        <m:dPr>
                          <m:ctrlPr>
                            <a:rPr lang="en-US" sz="3200" i="1" smtClean="0">
                              <a:latin typeface="Cambria Math" panose="02040503050406030204" pitchFamily="18" charset="0"/>
                            </a:rPr>
                          </m:ctrlPr>
                        </m:dPr>
                        <m:e>
                          <m:r>
                            <a:rPr lang="en-US" sz="3200" smtClean="0">
                              <a:latin typeface="Cambria Math" panose="02040503050406030204" pitchFamily="18" charset="0"/>
                            </a:rPr>
                            <m:t>𝑥</m:t>
                          </m:r>
                        </m:e>
                      </m:d>
                      <m:r>
                        <a:rPr lang="en-US" sz="320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1</m:t>
                          </m:r>
                        </m:num>
                        <m:den>
                          <m:r>
                            <a:rPr lang="en-US" sz="3200" b="0" i="1" smtClean="0">
                              <a:latin typeface="Cambria Math" panose="02040503050406030204" pitchFamily="18" charset="0"/>
                            </a:rPr>
                            <m:t>𝜎</m:t>
                          </m:r>
                          <m:rad>
                            <m:radPr>
                              <m:degHide m:val="on"/>
                              <m:ctrlPr>
                                <a:rPr lang="en-US" sz="3200" b="0" i="1" smtClean="0">
                                  <a:latin typeface="Cambria Math" panose="02040503050406030204" pitchFamily="18" charset="0"/>
                                </a:rPr>
                              </m:ctrlPr>
                            </m:radPr>
                            <m:deg/>
                            <m:e>
                              <m:r>
                                <a:rPr lang="en-US" sz="3200" b="0" i="1" smtClean="0">
                                  <a:latin typeface="Cambria Math" panose="02040503050406030204" pitchFamily="18" charset="0"/>
                                </a:rPr>
                                <m:t>2</m:t>
                              </m:r>
                              <m:r>
                                <a:rPr lang="en-US" sz="3200" b="0" i="1" smtClean="0">
                                  <a:latin typeface="Cambria Math" panose="02040503050406030204" pitchFamily="18" charset="0"/>
                                </a:rPr>
                                <m:t>𝜋</m:t>
                              </m:r>
                            </m:e>
                          </m:rad>
                        </m:den>
                      </m:f>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𝑒</m:t>
                          </m:r>
                        </m:e>
                        <m:sup>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1</m:t>
                              </m:r>
                            </m:num>
                            <m:den>
                              <m:r>
                                <a:rPr lang="en-US" sz="3200" b="0" i="1" smtClean="0">
                                  <a:latin typeface="Cambria Math" panose="02040503050406030204" pitchFamily="18" charset="0"/>
                                </a:rPr>
                                <m:t>2</m:t>
                              </m:r>
                            </m:den>
                          </m:f>
                          <m:sSup>
                            <m:sSupPr>
                              <m:ctrlPr>
                                <a:rPr lang="en-US" sz="3200" b="0" i="1" smtClean="0">
                                  <a:latin typeface="Cambria Math" panose="02040503050406030204" pitchFamily="18" charset="0"/>
                                </a:rPr>
                              </m:ctrlPr>
                            </m:sSupPr>
                            <m:e>
                              <m:d>
                                <m:dPr>
                                  <m:ctrlPr>
                                    <a:rPr lang="en-US" sz="3200" b="0" i="1" smtClean="0">
                                      <a:latin typeface="Cambria Math" panose="02040503050406030204" pitchFamily="18" charset="0"/>
                                    </a:rPr>
                                  </m:ctrlPr>
                                </m:dPr>
                                <m:e>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𝑥</m:t>
                                      </m:r>
                                      <m:r>
                                        <a:rPr lang="en-US" sz="3200" b="0" i="1" smtClean="0">
                                          <a:latin typeface="Cambria Math" panose="02040503050406030204" pitchFamily="18" charset="0"/>
                                        </a:rPr>
                                        <m:t>−</m:t>
                                      </m:r>
                                      <m:r>
                                        <a:rPr lang="en-US" sz="3200" b="0" i="1" smtClean="0">
                                          <a:latin typeface="Cambria Math" panose="02040503050406030204" pitchFamily="18" charset="0"/>
                                        </a:rPr>
                                        <m:t>𝜇</m:t>
                                      </m:r>
                                    </m:num>
                                    <m:den>
                                      <m:r>
                                        <a:rPr lang="en-US" sz="3200" b="0" i="1" smtClean="0">
                                          <a:latin typeface="Cambria Math" panose="02040503050406030204" pitchFamily="18" charset="0"/>
                                        </a:rPr>
                                        <m:t>𝜎</m:t>
                                      </m:r>
                                    </m:den>
                                  </m:f>
                                </m:e>
                              </m:d>
                            </m:e>
                            <m:sup>
                              <m:r>
                                <a:rPr lang="en-US" sz="3200" b="0" i="1" smtClean="0">
                                  <a:latin typeface="Cambria Math" panose="02040503050406030204" pitchFamily="18" charset="0"/>
                                </a:rPr>
                                <m:t>2</m:t>
                              </m:r>
                            </m:sup>
                          </m:sSup>
                        </m:sup>
                      </m:sSup>
                    </m:oMath>
                  </m:oMathPara>
                </a14:m>
                <a:endParaRPr lang="en-NL" sz="3200" dirty="0"/>
              </a:p>
            </p:txBody>
          </p:sp>
        </mc:Choice>
        <mc:Fallback>
          <p:sp>
            <p:nvSpPr>
              <p:cNvPr id="5" name="TextBox 4">
                <a:extLst>
                  <a:ext uri="{FF2B5EF4-FFF2-40B4-BE49-F238E27FC236}">
                    <a16:creationId xmlns:a16="http://schemas.microsoft.com/office/drawing/2014/main" id="{F3A2EFA8-040E-A3C9-4A96-6E3350E9BB87}"/>
                  </a:ext>
                </a:extLst>
              </p:cNvPr>
              <p:cNvSpPr txBox="1">
                <a:spLocks noRot="1" noChangeAspect="1" noMove="1" noResize="1" noEditPoints="1" noAdjustHandles="1" noChangeArrowheads="1" noChangeShapeType="1" noTextEdit="1"/>
              </p:cNvSpPr>
              <p:nvPr/>
            </p:nvSpPr>
            <p:spPr>
              <a:xfrm>
                <a:off x="3048965" y="1272105"/>
                <a:ext cx="6094070" cy="1145891"/>
              </a:xfrm>
              <a:prstGeom prst="rect">
                <a:avLst/>
              </a:prstGeom>
              <a:blipFill>
                <a:blip r:embed="rId2"/>
                <a:stretch>
                  <a:fillRect b="-4396"/>
                </a:stretch>
              </a:blipFill>
            </p:spPr>
            <p:txBody>
              <a:bodyPr/>
              <a:lstStyle/>
              <a:p>
                <a:r>
                  <a:rPr lang="en-NL">
                    <a:noFill/>
                  </a:rPr>
                  <a:t> </a:t>
                </a:r>
              </a:p>
            </p:txBody>
          </p:sp>
        </mc:Fallback>
      </mc:AlternateContent>
    </p:spTree>
    <p:extLst>
      <p:ext uri="{BB962C8B-B14F-4D97-AF65-F5344CB8AC3E}">
        <p14:creationId xmlns:p14="http://schemas.microsoft.com/office/powerpoint/2010/main" val="39669535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4F810-8B03-B273-6BE6-53CFC3FD1B21}"/>
            </a:ext>
          </a:extLst>
        </p:cNvPr>
        <p:cNvGrpSpPr/>
        <p:nvPr/>
      </p:nvGrpSpPr>
      <p:grpSpPr>
        <a:xfrm>
          <a:off x="0" y="0"/>
          <a:ext cx="0" cy="0"/>
          <a:chOff x="0" y="0"/>
          <a:chExt cx="0" cy="0"/>
        </a:xfrm>
      </p:grpSpPr>
      <p:sp>
        <p:nvSpPr>
          <p:cNvPr id="10" name="Cloud 9">
            <a:extLst>
              <a:ext uri="{FF2B5EF4-FFF2-40B4-BE49-F238E27FC236}">
                <a16:creationId xmlns:a16="http://schemas.microsoft.com/office/drawing/2014/main" id="{F69B2289-9A86-9919-5029-2BAA5DF472FC}"/>
              </a:ext>
            </a:extLst>
          </p:cNvPr>
          <p:cNvSpPr/>
          <p:nvPr/>
        </p:nvSpPr>
        <p:spPr>
          <a:xfrm>
            <a:off x="9815333" y="2159761"/>
            <a:ext cx="2141316" cy="1405661"/>
          </a:xfrm>
          <a:prstGeom prst="cloud">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
        <p:nvSpPr>
          <p:cNvPr id="2" name="Title 1">
            <a:extLst>
              <a:ext uri="{FF2B5EF4-FFF2-40B4-BE49-F238E27FC236}">
                <a16:creationId xmlns:a16="http://schemas.microsoft.com/office/drawing/2014/main" id="{75A9FD52-4CFB-25BB-31FC-EDBC654FB0EB}"/>
              </a:ext>
            </a:extLst>
          </p:cNvPr>
          <p:cNvSpPr>
            <a:spLocks noGrp="1"/>
          </p:cNvSpPr>
          <p:nvPr>
            <p:ph type="title"/>
          </p:nvPr>
        </p:nvSpPr>
        <p:spPr/>
        <p:txBody>
          <a:bodyPr/>
          <a:lstStyle/>
          <a:p>
            <a:r>
              <a:rPr lang="en-NL" dirty="0"/>
              <a:t>Just a </a:t>
            </a:r>
            <a:r>
              <a:rPr lang="en-NL" dirty="0">
                <a:solidFill>
                  <a:schemeClr val="accent1"/>
                </a:solidFill>
              </a:rPr>
              <a:t>normal</a:t>
            </a:r>
            <a:r>
              <a:rPr lang="en-NL" dirty="0"/>
              <a:t> formula</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36EAEB18-9704-6579-20FA-FA22A4B61E04}"/>
                  </a:ext>
                </a:extLst>
              </p:cNvPr>
              <p:cNvSpPr txBox="1"/>
              <p:nvPr/>
            </p:nvSpPr>
            <p:spPr>
              <a:xfrm>
                <a:off x="3048965" y="1272105"/>
                <a:ext cx="6094070" cy="11458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𝑓</m:t>
                      </m:r>
                      <m:d>
                        <m:dPr>
                          <m:ctrlPr>
                            <a:rPr lang="en-US" sz="3200" i="1" smtClean="0">
                              <a:latin typeface="Cambria Math" panose="02040503050406030204" pitchFamily="18" charset="0"/>
                            </a:rPr>
                          </m:ctrlPr>
                        </m:dPr>
                        <m:e>
                          <m:r>
                            <a:rPr lang="en-US" sz="3200" smtClean="0">
                              <a:latin typeface="Cambria Math" panose="02040503050406030204" pitchFamily="18" charset="0"/>
                            </a:rPr>
                            <m:t>𝑥</m:t>
                          </m:r>
                        </m:e>
                      </m:d>
                      <m:r>
                        <a:rPr lang="en-US" sz="320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1</m:t>
                          </m:r>
                        </m:num>
                        <m:den>
                          <m:r>
                            <a:rPr lang="en-US" sz="3200" b="0" i="1" smtClean="0">
                              <a:latin typeface="Cambria Math" panose="02040503050406030204" pitchFamily="18" charset="0"/>
                            </a:rPr>
                            <m:t>𝜎</m:t>
                          </m:r>
                          <m:rad>
                            <m:radPr>
                              <m:degHide m:val="on"/>
                              <m:ctrlPr>
                                <a:rPr lang="en-US" sz="3200" b="0" i="1" smtClean="0">
                                  <a:latin typeface="Cambria Math" panose="02040503050406030204" pitchFamily="18" charset="0"/>
                                </a:rPr>
                              </m:ctrlPr>
                            </m:radPr>
                            <m:deg/>
                            <m:e>
                              <m:r>
                                <a:rPr lang="en-US" sz="3200" b="0" i="1" smtClean="0">
                                  <a:latin typeface="Cambria Math" panose="02040503050406030204" pitchFamily="18" charset="0"/>
                                </a:rPr>
                                <m:t>2</m:t>
                              </m:r>
                              <m:r>
                                <a:rPr lang="en-US" sz="3200" b="0" i="1" smtClean="0">
                                  <a:latin typeface="Cambria Math" panose="02040503050406030204" pitchFamily="18" charset="0"/>
                                </a:rPr>
                                <m:t>𝜋</m:t>
                              </m:r>
                            </m:e>
                          </m:rad>
                        </m:den>
                      </m:f>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𝑒</m:t>
                          </m:r>
                        </m:e>
                        <m:sup>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1</m:t>
                              </m:r>
                            </m:num>
                            <m:den>
                              <m:r>
                                <a:rPr lang="en-US" sz="3200" b="0" i="1" smtClean="0">
                                  <a:latin typeface="Cambria Math" panose="02040503050406030204" pitchFamily="18" charset="0"/>
                                </a:rPr>
                                <m:t>2</m:t>
                              </m:r>
                            </m:den>
                          </m:f>
                          <m:sSup>
                            <m:sSupPr>
                              <m:ctrlPr>
                                <a:rPr lang="en-US" sz="3200" b="0" i="1" smtClean="0">
                                  <a:latin typeface="Cambria Math" panose="02040503050406030204" pitchFamily="18" charset="0"/>
                                </a:rPr>
                              </m:ctrlPr>
                            </m:sSupPr>
                            <m:e>
                              <m:d>
                                <m:dPr>
                                  <m:ctrlPr>
                                    <a:rPr lang="en-US" sz="3200" b="0" i="1" smtClean="0">
                                      <a:latin typeface="Cambria Math" panose="02040503050406030204" pitchFamily="18" charset="0"/>
                                    </a:rPr>
                                  </m:ctrlPr>
                                </m:dPr>
                                <m:e>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𝑥</m:t>
                                      </m:r>
                                      <m:r>
                                        <a:rPr lang="en-US" sz="3200" b="0" i="1" smtClean="0">
                                          <a:latin typeface="Cambria Math" panose="02040503050406030204" pitchFamily="18" charset="0"/>
                                        </a:rPr>
                                        <m:t>−</m:t>
                                      </m:r>
                                      <m:r>
                                        <a:rPr lang="en-US" sz="3200" b="0" i="1" smtClean="0">
                                          <a:latin typeface="Cambria Math" panose="02040503050406030204" pitchFamily="18" charset="0"/>
                                        </a:rPr>
                                        <m:t>𝜇</m:t>
                                      </m:r>
                                    </m:num>
                                    <m:den>
                                      <m:r>
                                        <a:rPr lang="en-US" sz="3200" b="0" i="1" smtClean="0">
                                          <a:latin typeface="Cambria Math" panose="02040503050406030204" pitchFamily="18" charset="0"/>
                                        </a:rPr>
                                        <m:t>𝜎</m:t>
                                      </m:r>
                                    </m:den>
                                  </m:f>
                                </m:e>
                              </m:d>
                            </m:e>
                            <m:sup>
                              <m:r>
                                <a:rPr lang="en-US" sz="3200" b="0" i="1" smtClean="0">
                                  <a:latin typeface="Cambria Math" panose="02040503050406030204" pitchFamily="18" charset="0"/>
                                </a:rPr>
                                <m:t>2</m:t>
                              </m:r>
                            </m:sup>
                          </m:sSup>
                        </m:sup>
                      </m:sSup>
                    </m:oMath>
                  </m:oMathPara>
                </a14:m>
                <a:endParaRPr lang="en-NL" sz="3200" dirty="0"/>
              </a:p>
            </p:txBody>
          </p:sp>
        </mc:Choice>
        <mc:Fallback>
          <p:sp>
            <p:nvSpPr>
              <p:cNvPr id="5" name="TextBox 4">
                <a:extLst>
                  <a:ext uri="{FF2B5EF4-FFF2-40B4-BE49-F238E27FC236}">
                    <a16:creationId xmlns:a16="http://schemas.microsoft.com/office/drawing/2014/main" id="{36EAEB18-9704-6579-20FA-FA22A4B61E04}"/>
                  </a:ext>
                </a:extLst>
              </p:cNvPr>
              <p:cNvSpPr txBox="1">
                <a:spLocks noRot="1" noChangeAspect="1" noMove="1" noResize="1" noEditPoints="1" noAdjustHandles="1" noChangeArrowheads="1" noChangeShapeType="1" noTextEdit="1"/>
              </p:cNvSpPr>
              <p:nvPr/>
            </p:nvSpPr>
            <p:spPr>
              <a:xfrm>
                <a:off x="3048965" y="1272105"/>
                <a:ext cx="6094070" cy="1145891"/>
              </a:xfrm>
              <a:prstGeom prst="rect">
                <a:avLst/>
              </a:prstGeom>
              <a:blipFill>
                <a:blip r:embed="rId2"/>
                <a:stretch>
                  <a:fillRect b="-4396"/>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5C69BB13-8788-A81D-CEA1-E71EAD0D7315}"/>
                  </a:ext>
                </a:extLst>
              </p:cNvPr>
              <p:cNvSpPr txBox="1"/>
              <p:nvPr/>
            </p:nvSpPr>
            <p:spPr>
              <a:xfrm>
                <a:off x="813122" y="2949118"/>
                <a:ext cx="1663860" cy="6646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
                            <a:rPr lang="en-US" sz="1800" b="0" i="1" smtClean="0">
                              <a:latin typeface="Cambria Math" panose="02040503050406030204" pitchFamily="18" charset="0"/>
                            </a:rPr>
                            <m:t>𝜎</m:t>
                          </m:r>
                          <m:rad>
                            <m:radPr>
                              <m:degHide m:val="on"/>
                              <m:ctrlPr>
                                <a:rPr lang="en-US" sz="1800" b="0" i="1" smtClean="0">
                                  <a:latin typeface="Cambria Math" panose="02040503050406030204" pitchFamily="18" charset="0"/>
                                </a:rPr>
                              </m:ctrlPr>
                            </m:radPr>
                            <m:deg/>
                            <m:e>
                              <m:r>
                                <a:rPr lang="en-US" sz="1800" b="0" i="1" smtClean="0">
                                  <a:latin typeface="Cambria Math" panose="02040503050406030204" pitchFamily="18" charset="0"/>
                                </a:rPr>
                                <m:t>2</m:t>
                              </m:r>
                              <m:r>
                                <a:rPr lang="en-US" sz="1800" b="0" i="1" smtClean="0">
                                  <a:latin typeface="Cambria Math" panose="02040503050406030204" pitchFamily="18" charset="0"/>
                                </a:rPr>
                                <m:t>𝜋</m:t>
                              </m:r>
                            </m:e>
                          </m:rad>
                        </m:den>
                      </m:f>
                    </m:oMath>
                  </m:oMathPara>
                </a14:m>
                <a:endParaRPr lang="en-NL" dirty="0"/>
              </a:p>
            </p:txBody>
          </p:sp>
        </mc:Choice>
        <mc:Fallback>
          <p:sp>
            <p:nvSpPr>
              <p:cNvPr id="7" name="TextBox 6">
                <a:extLst>
                  <a:ext uri="{FF2B5EF4-FFF2-40B4-BE49-F238E27FC236}">
                    <a16:creationId xmlns:a16="http://schemas.microsoft.com/office/drawing/2014/main" id="{5C69BB13-8788-A81D-CEA1-E71EAD0D7315}"/>
                  </a:ext>
                </a:extLst>
              </p:cNvPr>
              <p:cNvSpPr txBox="1">
                <a:spLocks noRot="1" noChangeAspect="1" noMove="1" noResize="1" noEditPoints="1" noAdjustHandles="1" noChangeArrowheads="1" noChangeShapeType="1" noTextEdit="1"/>
              </p:cNvSpPr>
              <p:nvPr/>
            </p:nvSpPr>
            <p:spPr>
              <a:xfrm>
                <a:off x="813122" y="2949118"/>
                <a:ext cx="1663860" cy="664606"/>
              </a:xfrm>
              <a:prstGeom prst="rect">
                <a:avLst/>
              </a:prstGeom>
              <a:blipFill>
                <a:blip r:embed="rId3"/>
                <a:stretch>
                  <a:fillRect/>
                </a:stretch>
              </a:blipFill>
            </p:spPr>
            <p:txBody>
              <a:bodyPr/>
              <a:lstStyle/>
              <a:p>
                <a:r>
                  <a:rPr lang="en-NL">
                    <a:noFill/>
                  </a:rPr>
                  <a:t> </a:t>
                </a:r>
              </a:p>
            </p:txBody>
          </p:sp>
        </mc:Fallback>
      </mc:AlternateContent>
      <p:sp>
        <p:nvSpPr>
          <p:cNvPr id="8" name="TextBox 7">
            <a:extLst>
              <a:ext uri="{FF2B5EF4-FFF2-40B4-BE49-F238E27FC236}">
                <a16:creationId xmlns:a16="http://schemas.microsoft.com/office/drawing/2014/main" id="{8DF08674-34C0-B4E3-3761-FCC735769E12}"/>
              </a:ext>
            </a:extLst>
          </p:cNvPr>
          <p:cNvSpPr txBox="1"/>
          <p:nvPr/>
        </p:nvSpPr>
        <p:spPr>
          <a:xfrm>
            <a:off x="2253121" y="3050588"/>
            <a:ext cx="7685758" cy="461665"/>
          </a:xfrm>
          <a:prstGeom prst="rect">
            <a:avLst/>
          </a:prstGeom>
          <a:noFill/>
        </p:spPr>
        <p:txBody>
          <a:bodyPr wrap="none" rtlCol="0">
            <a:spAutoFit/>
          </a:bodyPr>
          <a:lstStyle/>
          <a:p>
            <a:r>
              <a:rPr lang="en-NL" sz="2400" dirty="0"/>
              <a:t>Scales the bell curve so that </a:t>
            </a:r>
            <a:r>
              <a:rPr lang="en-NL" sz="2400" dirty="0">
                <a:solidFill>
                  <a:schemeClr val="accent1"/>
                </a:solidFill>
              </a:rPr>
              <a:t>area under the curve always = 1</a:t>
            </a:r>
          </a:p>
        </p:txBody>
      </p:sp>
      <p:sp>
        <p:nvSpPr>
          <p:cNvPr id="9" name="TextBox 8">
            <a:extLst>
              <a:ext uri="{FF2B5EF4-FFF2-40B4-BE49-F238E27FC236}">
                <a16:creationId xmlns:a16="http://schemas.microsoft.com/office/drawing/2014/main" id="{B3851A52-CA00-2B1D-AA55-455E822DF234}"/>
              </a:ext>
            </a:extLst>
          </p:cNvPr>
          <p:cNvSpPr txBox="1"/>
          <p:nvPr/>
        </p:nvSpPr>
        <p:spPr>
          <a:xfrm>
            <a:off x="9634038" y="2539425"/>
            <a:ext cx="2503906" cy="646331"/>
          </a:xfrm>
          <a:prstGeom prst="rect">
            <a:avLst/>
          </a:prstGeom>
          <a:noFill/>
        </p:spPr>
        <p:txBody>
          <a:bodyPr wrap="square" rtlCol="0">
            <a:spAutoFit/>
          </a:bodyPr>
          <a:lstStyle/>
          <a:p>
            <a:pPr algn="ctr"/>
            <a:r>
              <a:rPr lang="en-NL" b="1" dirty="0">
                <a:solidFill>
                  <a:srgbClr val="C00000"/>
                </a:solidFill>
              </a:rPr>
              <a:t>If not =1, not a probability function!</a:t>
            </a:r>
          </a:p>
        </p:txBody>
      </p:sp>
    </p:spTree>
    <p:extLst>
      <p:ext uri="{BB962C8B-B14F-4D97-AF65-F5344CB8AC3E}">
        <p14:creationId xmlns:p14="http://schemas.microsoft.com/office/powerpoint/2010/main" val="532336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FB46D-CB04-C795-036C-1A9EB277E6D0}"/>
            </a:ext>
          </a:extLst>
        </p:cNvPr>
        <p:cNvGrpSpPr/>
        <p:nvPr/>
      </p:nvGrpSpPr>
      <p:grpSpPr>
        <a:xfrm>
          <a:off x="0" y="0"/>
          <a:ext cx="0" cy="0"/>
          <a:chOff x="0" y="0"/>
          <a:chExt cx="0" cy="0"/>
        </a:xfrm>
      </p:grpSpPr>
      <p:sp>
        <p:nvSpPr>
          <p:cNvPr id="10" name="Cloud 9">
            <a:extLst>
              <a:ext uri="{FF2B5EF4-FFF2-40B4-BE49-F238E27FC236}">
                <a16:creationId xmlns:a16="http://schemas.microsoft.com/office/drawing/2014/main" id="{05ED8D2B-6ED4-A257-E7BB-B1F3A87727FA}"/>
              </a:ext>
            </a:extLst>
          </p:cNvPr>
          <p:cNvSpPr/>
          <p:nvPr/>
        </p:nvSpPr>
        <p:spPr>
          <a:xfrm>
            <a:off x="9815333" y="2159761"/>
            <a:ext cx="2141316" cy="1405661"/>
          </a:xfrm>
          <a:prstGeom prst="cloud">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
        <p:nvSpPr>
          <p:cNvPr id="2" name="Title 1">
            <a:extLst>
              <a:ext uri="{FF2B5EF4-FFF2-40B4-BE49-F238E27FC236}">
                <a16:creationId xmlns:a16="http://schemas.microsoft.com/office/drawing/2014/main" id="{06F6EB10-6C16-6373-9535-B276EF3C1B2A}"/>
              </a:ext>
            </a:extLst>
          </p:cNvPr>
          <p:cNvSpPr>
            <a:spLocks noGrp="1"/>
          </p:cNvSpPr>
          <p:nvPr>
            <p:ph type="title"/>
          </p:nvPr>
        </p:nvSpPr>
        <p:spPr/>
        <p:txBody>
          <a:bodyPr/>
          <a:lstStyle/>
          <a:p>
            <a:r>
              <a:rPr lang="en-NL" dirty="0"/>
              <a:t>Just a </a:t>
            </a:r>
            <a:r>
              <a:rPr lang="en-NL" dirty="0">
                <a:solidFill>
                  <a:schemeClr val="accent1"/>
                </a:solidFill>
              </a:rPr>
              <a:t>normal</a:t>
            </a:r>
            <a:r>
              <a:rPr lang="en-NL" dirty="0"/>
              <a:t> formula</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C898BD66-A4A5-8A77-2C01-E43D0D181B09}"/>
                  </a:ext>
                </a:extLst>
              </p:cNvPr>
              <p:cNvSpPr txBox="1"/>
              <p:nvPr/>
            </p:nvSpPr>
            <p:spPr>
              <a:xfrm>
                <a:off x="3048965" y="1272105"/>
                <a:ext cx="6094070" cy="11458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𝑓</m:t>
                      </m:r>
                      <m:d>
                        <m:dPr>
                          <m:ctrlPr>
                            <a:rPr lang="en-US" sz="3200" i="1" smtClean="0">
                              <a:latin typeface="Cambria Math" panose="02040503050406030204" pitchFamily="18" charset="0"/>
                            </a:rPr>
                          </m:ctrlPr>
                        </m:dPr>
                        <m:e>
                          <m:r>
                            <a:rPr lang="en-US" sz="3200" smtClean="0">
                              <a:latin typeface="Cambria Math" panose="02040503050406030204" pitchFamily="18" charset="0"/>
                            </a:rPr>
                            <m:t>𝑥</m:t>
                          </m:r>
                        </m:e>
                      </m:d>
                      <m:r>
                        <a:rPr lang="en-US" sz="320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1</m:t>
                          </m:r>
                        </m:num>
                        <m:den>
                          <m:r>
                            <a:rPr lang="en-US" sz="3200" b="0" i="1" smtClean="0">
                              <a:latin typeface="Cambria Math" panose="02040503050406030204" pitchFamily="18" charset="0"/>
                            </a:rPr>
                            <m:t>𝜎</m:t>
                          </m:r>
                          <m:rad>
                            <m:radPr>
                              <m:degHide m:val="on"/>
                              <m:ctrlPr>
                                <a:rPr lang="en-US" sz="3200" b="0" i="1" smtClean="0">
                                  <a:latin typeface="Cambria Math" panose="02040503050406030204" pitchFamily="18" charset="0"/>
                                </a:rPr>
                              </m:ctrlPr>
                            </m:radPr>
                            <m:deg/>
                            <m:e>
                              <m:r>
                                <a:rPr lang="en-US" sz="3200" b="0" i="1" smtClean="0">
                                  <a:latin typeface="Cambria Math" panose="02040503050406030204" pitchFamily="18" charset="0"/>
                                </a:rPr>
                                <m:t>2</m:t>
                              </m:r>
                              <m:r>
                                <a:rPr lang="en-US" sz="3200" b="0" i="1" smtClean="0">
                                  <a:latin typeface="Cambria Math" panose="02040503050406030204" pitchFamily="18" charset="0"/>
                                </a:rPr>
                                <m:t>𝜋</m:t>
                              </m:r>
                            </m:e>
                          </m:rad>
                        </m:den>
                      </m:f>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𝑒</m:t>
                          </m:r>
                        </m:e>
                        <m:sup>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1</m:t>
                              </m:r>
                            </m:num>
                            <m:den>
                              <m:r>
                                <a:rPr lang="en-US" sz="3200" b="0" i="1" smtClean="0">
                                  <a:latin typeface="Cambria Math" panose="02040503050406030204" pitchFamily="18" charset="0"/>
                                </a:rPr>
                                <m:t>2</m:t>
                              </m:r>
                            </m:den>
                          </m:f>
                          <m:sSup>
                            <m:sSupPr>
                              <m:ctrlPr>
                                <a:rPr lang="en-US" sz="3200" b="0" i="1" smtClean="0">
                                  <a:latin typeface="Cambria Math" panose="02040503050406030204" pitchFamily="18" charset="0"/>
                                </a:rPr>
                              </m:ctrlPr>
                            </m:sSupPr>
                            <m:e>
                              <m:d>
                                <m:dPr>
                                  <m:ctrlPr>
                                    <a:rPr lang="en-US" sz="3200" b="0" i="1" smtClean="0">
                                      <a:latin typeface="Cambria Math" panose="02040503050406030204" pitchFamily="18" charset="0"/>
                                    </a:rPr>
                                  </m:ctrlPr>
                                </m:dPr>
                                <m:e>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𝑥</m:t>
                                      </m:r>
                                      <m:r>
                                        <a:rPr lang="en-US" sz="3200" b="0" i="1" smtClean="0">
                                          <a:latin typeface="Cambria Math" panose="02040503050406030204" pitchFamily="18" charset="0"/>
                                        </a:rPr>
                                        <m:t>−</m:t>
                                      </m:r>
                                      <m:r>
                                        <a:rPr lang="en-US" sz="3200" b="0" i="1" smtClean="0">
                                          <a:latin typeface="Cambria Math" panose="02040503050406030204" pitchFamily="18" charset="0"/>
                                        </a:rPr>
                                        <m:t>𝜇</m:t>
                                      </m:r>
                                    </m:num>
                                    <m:den>
                                      <m:r>
                                        <a:rPr lang="en-US" sz="3200" b="0" i="1" smtClean="0">
                                          <a:latin typeface="Cambria Math" panose="02040503050406030204" pitchFamily="18" charset="0"/>
                                        </a:rPr>
                                        <m:t>𝜎</m:t>
                                      </m:r>
                                    </m:den>
                                  </m:f>
                                </m:e>
                              </m:d>
                            </m:e>
                            <m:sup>
                              <m:r>
                                <a:rPr lang="en-US" sz="3200" b="0" i="1" smtClean="0">
                                  <a:latin typeface="Cambria Math" panose="02040503050406030204" pitchFamily="18" charset="0"/>
                                </a:rPr>
                                <m:t>2</m:t>
                              </m:r>
                            </m:sup>
                          </m:sSup>
                        </m:sup>
                      </m:sSup>
                    </m:oMath>
                  </m:oMathPara>
                </a14:m>
                <a:endParaRPr lang="en-NL" sz="3200" dirty="0"/>
              </a:p>
            </p:txBody>
          </p:sp>
        </mc:Choice>
        <mc:Fallback>
          <p:sp>
            <p:nvSpPr>
              <p:cNvPr id="5" name="TextBox 4">
                <a:extLst>
                  <a:ext uri="{FF2B5EF4-FFF2-40B4-BE49-F238E27FC236}">
                    <a16:creationId xmlns:a16="http://schemas.microsoft.com/office/drawing/2014/main" id="{C898BD66-A4A5-8A77-2C01-E43D0D181B09}"/>
                  </a:ext>
                </a:extLst>
              </p:cNvPr>
              <p:cNvSpPr txBox="1">
                <a:spLocks noRot="1" noChangeAspect="1" noMove="1" noResize="1" noEditPoints="1" noAdjustHandles="1" noChangeArrowheads="1" noChangeShapeType="1" noTextEdit="1"/>
              </p:cNvSpPr>
              <p:nvPr/>
            </p:nvSpPr>
            <p:spPr>
              <a:xfrm>
                <a:off x="3048965" y="1272105"/>
                <a:ext cx="6094070" cy="1145891"/>
              </a:xfrm>
              <a:prstGeom prst="rect">
                <a:avLst/>
              </a:prstGeom>
              <a:blipFill>
                <a:blip r:embed="rId2"/>
                <a:stretch>
                  <a:fillRect b="-4396"/>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7F7A1CF1-87D4-9F08-FCB5-8DCD57CDF6FF}"/>
                  </a:ext>
                </a:extLst>
              </p:cNvPr>
              <p:cNvSpPr txBox="1"/>
              <p:nvPr/>
            </p:nvSpPr>
            <p:spPr>
              <a:xfrm>
                <a:off x="836271" y="2696189"/>
                <a:ext cx="1663860" cy="6646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800" b="0" i="1" smtClean="0">
                              <a:solidFill>
                                <a:schemeClr val="bg1">
                                  <a:lumMod val="65000"/>
                                </a:schemeClr>
                              </a:solidFill>
                              <a:latin typeface="Cambria Math" panose="02040503050406030204" pitchFamily="18" charset="0"/>
                            </a:rPr>
                          </m:ctrlPr>
                        </m:fPr>
                        <m:num>
                          <m:r>
                            <a:rPr lang="en-US" sz="1800" b="0" i="1" smtClean="0">
                              <a:solidFill>
                                <a:schemeClr val="bg1">
                                  <a:lumMod val="65000"/>
                                </a:schemeClr>
                              </a:solidFill>
                              <a:latin typeface="Cambria Math" panose="02040503050406030204" pitchFamily="18" charset="0"/>
                            </a:rPr>
                            <m:t>1</m:t>
                          </m:r>
                        </m:num>
                        <m:den>
                          <m:r>
                            <a:rPr lang="en-US" sz="1800" b="0" i="1" smtClean="0">
                              <a:solidFill>
                                <a:schemeClr val="bg1">
                                  <a:lumMod val="65000"/>
                                </a:schemeClr>
                              </a:solidFill>
                              <a:latin typeface="Cambria Math" panose="02040503050406030204" pitchFamily="18" charset="0"/>
                            </a:rPr>
                            <m:t>𝜎</m:t>
                          </m:r>
                          <m:rad>
                            <m:radPr>
                              <m:degHide m:val="on"/>
                              <m:ctrlPr>
                                <a:rPr lang="en-US" sz="1800" b="0" i="1" smtClean="0">
                                  <a:solidFill>
                                    <a:schemeClr val="bg1">
                                      <a:lumMod val="65000"/>
                                    </a:schemeClr>
                                  </a:solidFill>
                                  <a:latin typeface="Cambria Math" panose="02040503050406030204" pitchFamily="18" charset="0"/>
                                </a:rPr>
                              </m:ctrlPr>
                            </m:radPr>
                            <m:deg/>
                            <m:e>
                              <m:r>
                                <a:rPr lang="en-US" sz="1800" b="0" i="1" smtClean="0">
                                  <a:solidFill>
                                    <a:schemeClr val="bg1">
                                      <a:lumMod val="65000"/>
                                    </a:schemeClr>
                                  </a:solidFill>
                                  <a:latin typeface="Cambria Math" panose="02040503050406030204" pitchFamily="18" charset="0"/>
                                </a:rPr>
                                <m:t>2</m:t>
                              </m:r>
                              <m:r>
                                <a:rPr lang="en-US" sz="1800" b="0" i="1" smtClean="0">
                                  <a:solidFill>
                                    <a:schemeClr val="bg1">
                                      <a:lumMod val="65000"/>
                                    </a:schemeClr>
                                  </a:solidFill>
                                  <a:latin typeface="Cambria Math" panose="02040503050406030204" pitchFamily="18" charset="0"/>
                                </a:rPr>
                                <m:t>𝜋</m:t>
                              </m:r>
                            </m:e>
                          </m:rad>
                        </m:den>
                      </m:f>
                    </m:oMath>
                  </m:oMathPara>
                </a14:m>
                <a:endParaRPr lang="en-NL" dirty="0"/>
              </a:p>
            </p:txBody>
          </p:sp>
        </mc:Choice>
        <mc:Fallback>
          <p:sp>
            <p:nvSpPr>
              <p:cNvPr id="7" name="TextBox 6">
                <a:extLst>
                  <a:ext uri="{FF2B5EF4-FFF2-40B4-BE49-F238E27FC236}">
                    <a16:creationId xmlns:a16="http://schemas.microsoft.com/office/drawing/2014/main" id="{7F7A1CF1-87D4-9F08-FCB5-8DCD57CDF6FF}"/>
                  </a:ext>
                </a:extLst>
              </p:cNvPr>
              <p:cNvSpPr txBox="1">
                <a:spLocks noRot="1" noChangeAspect="1" noMove="1" noResize="1" noEditPoints="1" noAdjustHandles="1" noChangeArrowheads="1" noChangeShapeType="1" noTextEdit="1"/>
              </p:cNvSpPr>
              <p:nvPr/>
            </p:nvSpPr>
            <p:spPr>
              <a:xfrm>
                <a:off x="836271" y="2696189"/>
                <a:ext cx="1663860" cy="664606"/>
              </a:xfrm>
              <a:prstGeom prst="rect">
                <a:avLst/>
              </a:prstGeom>
              <a:blipFill>
                <a:blip r:embed="rId3"/>
                <a:stretch>
                  <a:fillRect/>
                </a:stretch>
              </a:blipFill>
            </p:spPr>
            <p:txBody>
              <a:bodyPr/>
              <a:lstStyle/>
              <a:p>
                <a:r>
                  <a:rPr lang="en-NL">
                    <a:noFill/>
                  </a:rPr>
                  <a:t> </a:t>
                </a:r>
              </a:p>
            </p:txBody>
          </p:sp>
        </mc:Fallback>
      </mc:AlternateContent>
      <p:sp>
        <p:nvSpPr>
          <p:cNvPr id="8" name="TextBox 7">
            <a:extLst>
              <a:ext uri="{FF2B5EF4-FFF2-40B4-BE49-F238E27FC236}">
                <a16:creationId xmlns:a16="http://schemas.microsoft.com/office/drawing/2014/main" id="{AD976358-A110-BE49-59A6-005BB1482CC9}"/>
              </a:ext>
            </a:extLst>
          </p:cNvPr>
          <p:cNvSpPr txBox="1"/>
          <p:nvPr/>
        </p:nvSpPr>
        <p:spPr>
          <a:xfrm>
            <a:off x="2253121" y="2797660"/>
            <a:ext cx="7685758" cy="461665"/>
          </a:xfrm>
          <a:prstGeom prst="rect">
            <a:avLst/>
          </a:prstGeom>
          <a:noFill/>
        </p:spPr>
        <p:txBody>
          <a:bodyPr wrap="none" rtlCol="0">
            <a:spAutoFit/>
          </a:bodyPr>
          <a:lstStyle/>
          <a:p>
            <a:r>
              <a:rPr lang="en-NL" sz="2400" dirty="0">
                <a:solidFill>
                  <a:schemeClr val="bg1">
                    <a:lumMod val="65000"/>
                  </a:schemeClr>
                </a:solidFill>
              </a:rPr>
              <a:t>Scales the bell curve so that area under the curve always = 1</a:t>
            </a:r>
          </a:p>
        </p:txBody>
      </p:sp>
      <p:sp>
        <p:nvSpPr>
          <p:cNvPr id="9" name="TextBox 8">
            <a:extLst>
              <a:ext uri="{FF2B5EF4-FFF2-40B4-BE49-F238E27FC236}">
                <a16:creationId xmlns:a16="http://schemas.microsoft.com/office/drawing/2014/main" id="{078F97E8-B134-1B58-764D-5673A4F144E4}"/>
              </a:ext>
            </a:extLst>
          </p:cNvPr>
          <p:cNvSpPr txBox="1"/>
          <p:nvPr/>
        </p:nvSpPr>
        <p:spPr>
          <a:xfrm>
            <a:off x="9634038" y="2539425"/>
            <a:ext cx="2503906" cy="646331"/>
          </a:xfrm>
          <a:prstGeom prst="rect">
            <a:avLst/>
          </a:prstGeom>
          <a:noFill/>
        </p:spPr>
        <p:txBody>
          <a:bodyPr wrap="square" rtlCol="0">
            <a:spAutoFit/>
          </a:bodyPr>
          <a:lstStyle/>
          <a:p>
            <a:pPr algn="ctr"/>
            <a:r>
              <a:rPr lang="en-NL" b="1" dirty="0">
                <a:solidFill>
                  <a:srgbClr val="C00000"/>
                </a:solidFill>
              </a:rPr>
              <a:t>If not =1, not a probability function!</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1D8A2540-25E0-4BC3-549F-61A6338CAA70}"/>
                  </a:ext>
                </a:extLst>
              </p:cNvPr>
              <p:cNvSpPr txBox="1"/>
              <p:nvPr/>
            </p:nvSpPr>
            <p:spPr>
              <a:xfrm>
                <a:off x="2984165" y="4144845"/>
                <a:ext cx="6094070" cy="964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panose="02040503050406030204" pitchFamily="18" charset="0"/>
                            </a:rPr>
                            <m:t>𝑒</m:t>
                          </m:r>
                        </m:e>
                        <m:sup>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1</m:t>
                              </m:r>
                            </m:num>
                            <m:den>
                              <m:r>
                                <a:rPr lang="en-US" sz="3600" b="0" i="1" smtClean="0">
                                  <a:latin typeface="Cambria Math" panose="02040503050406030204" pitchFamily="18" charset="0"/>
                                </a:rPr>
                                <m:t>2</m:t>
                              </m:r>
                            </m:den>
                          </m:f>
                          <m:sSup>
                            <m:sSupPr>
                              <m:ctrlPr>
                                <a:rPr lang="en-US" sz="3600" b="0" i="1" smtClean="0">
                                  <a:latin typeface="Cambria Math" panose="02040503050406030204" pitchFamily="18" charset="0"/>
                                </a:rPr>
                              </m:ctrlPr>
                            </m:sSupPr>
                            <m:e>
                              <m:d>
                                <m:dPr>
                                  <m:ctrlPr>
                                    <a:rPr lang="en-US" sz="3600" b="0" i="1" smtClean="0">
                                      <a:latin typeface="Cambria Math" panose="02040503050406030204" pitchFamily="18" charset="0"/>
                                    </a:rPr>
                                  </m:ctrlPr>
                                </m:dPr>
                                <m:e>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𝑥</m:t>
                                      </m:r>
                                      <m:r>
                                        <a:rPr lang="en-US" sz="3600" b="0" i="1" smtClean="0">
                                          <a:latin typeface="Cambria Math" panose="02040503050406030204" pitchFamily="18" charset="0"/>
                                        </a:rPr>
                                        <m:t>−</m:t>
                                      </m:r>
                                      <m:r>
                                        <a:rPr lang="en-US" sz="3600" b="0" i="1" smtClean="0">
                                          <a:latin typeface="Cambria Math" panose="02040503050406030204" pitchFamily="18" charset="0"/>
                                        </a:rPr>
                                        <m:t>𝜇</m:t>
                                      </m:r>
                                    </m:num>
                                    <m:den>
                                      <m:r>
                                        <a:rPr lang="en-US" sz="3600" b="0" i="1" smtClean="0">
                                          <a:latin typeface="Cambria Math" panose="02040503050406030204" pitchFamily="18" charset="0"/>
                                        </a:rPr>
                                        <m:t>𝜎</m:t>
                                      </m:r>
                                    </m:den>
                                  </m:f>
                                </m:e>
                              </m:d>
                            </m:e>
                            <m:sup>
                              <m:r>
                                <a:rPr lang="en-US" sz="3600" b="0" i="1" smtClean="0">
                                  <a:latin typeface="Cambria Math" panose="02040503050406030204" pitchFamily="18" charset="0"/>
                                </a:rPr>
                                <m:t>2</m:t>
                              </m:r>
                            </m:sup>
                          </m:sSup>
                        </m:sup>
                      </m:sSup>
                    </m:oMath>
                  </m:oMathPara>
                </a14:m>
                <a:endParaRPr lang="en-NL" dirty="0"/>
              </a:p>
            </p:txBody>
          </p:sp>
        </mc:Choice>
        <mc:Fallback>
          <p:sp>
            <p:nvSpPr>
              <p:cNvPr id="4" name="TextBox 3">
                <a:extLst>
                  <a:ext uri="{FF2B5EF4-FFF2-40B4-BE49-F238E27FC236}">
                    <a16:creationId xmlns:a16="http://schemas.microsoft.com/office/drawing/2014/main" id="{1D8A2540-25E0-4BC3-549F-61A6338CAA70}"/>
                  </a:ext>
                </a:extLst>
              </p:cNvPr>
              <p:cNvSpPr txBox="1">
                <a:spLocks noRot="1" noChangeAspect="1" noMove="1" noResize="1" noEditPoints="1" noAdjustHandles="1" noChangeArrowheads="1" noChangeShapeType="1" noTextEdit="1"/>
              </p:cNvSpPr>
              <p:nvPr/>
            </p:nvSpPr>
            <p:spPr>
              <a:xfrm>
                <a:off x="2984165" y="4144845"/>
                <a:ext cx="6094070" cy="964110"/>
              </a:xfrm>
              <a:prstGeom prst="rect">
                <a:avLst/>
              </a:prstGeom>
              <a:blipFill>
                <a:blip r:embed="rId4"/>
                <a:stretch>
                  <a:fillRect/>
                </a:stretch>
              </a:blipFill>
            </p:spPr>
            <p:txBody>
              <a:bodyPr/>
              <a:lstStyle/>
              <a:p>
                <a:r>
                  <a:rPr lang="en-NL">
                    <a:noFill/>
                  </a:rPr>
                  <a:t> </a:t>
                </a:r>
              </a:p>
            </p:txBody>
          </p:sp>
        </mc:Fallback>
      </mc:AlternateContent>
      <p:sp>
        <p:nvSpPr>
          <p:cNvPr id="3" name="TextBox 2">
            <a:extLst>
              <a:ext uri="{FF2B5EF4-FFF2-40B4-BE49-F238E27FC236}">
                <a16:creationId xmlns:a16="http://schemas.microsoft.com/office/drawing/2014/main" id="{1321553D-967B-B235-5EC2-46961D7D1A1A}"/>
              </a:ext>
            </a:extLst>
          </p:cNvPr>
          <p:cNvSpPr txBox="1"/>
          <p:nvPr/>
        </p:nvSpPr>
        <p:spPr>
          <a:xfrm>
            <a:off x="1099389" y="5309386"/>
            <a:ext cx="6146363" cy="461665"/>
          </a:xfrm>
          <a:prstGeom prst="rect">
            <a:avLst/>
          </a:prstGeom>
          <a:noFill/>
        </p:spPr>
        <p:txBody>
          <a:bodyPr wrap="none" rtlCol="0">
            <a:spAutoFit/>
          </a:bodyPr>
          <a:lstStyle/>
          <a:p>
            <a:r>
              <a:rPr lang="en-NL" sz="2400" dirty="0"/>
              <a:t>Natural base e: ‘natural decay’ away from mean</a:t>
            </a:r>
          </a:p>
        </p:txBody>
      </p:sp>
      <p:sp>
        <p:nvSpPr>
          <p:cNvPr id="6" name="TextBox 5">
            <a:extLst>
              <a:ext uri="{FF2B5EF4-FFF2-40B4-BE49-F238E27FC236}">
                <a16:creationId xmlns:a16="http://schemas.microsoft.com/office/drawing/2014/main" id="{DA201AFC-7A22-0E32-1F24-3C4C86910781}"/>
              </a:ext>
            </a:extLst>
          </p:cNvPr>
          <p:cNvSpPr txBox="1"/>
          <p:nvPr/>
        </p:nvSpPr>
        <p:spPr>
          <a:xfrm>
            <a:off x="7500395" y="3928992"/>
            <a:ext cx="1577840" cy="461665"/>
          </a:xfrm>
          <a:prstGeom prst="rect">
            <a:avLst/>
          </a:prstGeom>
          <a:noFill/>
        </p:spPr>
        <p:txBody>
          <a:bodyPr wrap="square" rtlCol="0">
            <a:spAutoFit/>
          </a:bodyPr>
          <a:lstStyle/>
          <a:p>
            <a:r>
              <a:rPr lang="en-NL" sz="2400" dirty="0"/>
              <a:t>Symmetry</a:t>
            </a:r>
            <a:endParaRPr lang="en-NL" sz="2000" dirty="0"/>
          </a:p>
        </p:txBody>
      </p:sp>
      <p:sp>
        <p:nvSpPr>
          <p:cNvPr id="11" name="Rounded Rectangle 10">
            <a:extLst>
              <a:ext uri="{FF2B5EF4-FFF2-40B4-BE49-F238E27FC236}">
                <a16:creationId xmlns:a16="http://schemas.microsoft.com/office/drawing/2014/main" id="{CB5D3F38-875E-7190-9694-41366EF9CAF2}"/>
              </a:ext>
            </a:extLst>
          </p:cNvPr>
          <p:cNvSpPr/>
          <p:nvPr/>
        </p:nvSpPr>
        <p:spPr>
          <a:xfrm>
            <a:off x="6715894" y="4144845"/>
            <a:ext cx="298364" cy="369282"/>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12" name="Rounded Rectangle 11">
            <a:extLst>
              <a:ext uri="{FF2B5EF4-FFF2-40B4-BE49-F238E27FC236}">
                <a16:creationId xmlns:a16="http://schemas.microsoft.com/office/drawing/2014/main" id="{BD1DB09E-C909-0DB0-012B-E62073CE42D6}"/>
              </a:ext>
            </a:extLst>
          </p:cNvPr>
          <p:cNvSpPr/>
          <p:nvPr/>
        </p:nvSpPr>
        <p:spPr>
          <a:xfrm>
            <a:off x="5062644" y="4626900"/>
            <a:ext cx="298364" cy="369282"/>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13" name="Rounded Rectangle 12">
            <a:extLst>
              <a:ext uri="{FF2B5EF4-FFF2-40B4-BE49-F238E27FC236}">
                <a16:creationId xmlns:a16="http://schemas.microsoft.com/office/drawing/2014/main" id="{6064B2D5-120B-86C5-A187-AEE1787398C5}"/>
              </a:ext>
            </a:extLst>
          </p:cNvPr>
          <p:cNvSpPr/>
          <p:nvPr/>
        </p:nvSpPr>
        <p:spPr>
          <a:xfrm>
            <a:off x="5882018" y="4168558"/>
            <a:ext cx="750276" cy="369282"/>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14" name="Rounded Rectangle 13">
            <a:extLst>
              <a:ext uri="{FF2B5EF4-FFF2-40B4-BE49-F238E27FC236}">
                <a16:creationId xmlns:a16="http://schemas.microsoft.com/office/drawing/2014/main" id="{6A3DABBE-A2F0-B93A-C000-2CFD4CF67676}"/>
              </a:ext>
            </a:extLst>
          </p:cNvPr>
          <p:cNvSpPr/>
          <p:nvPr/>
        </p:nvSpPr>
        <p:spPr>
          <a:xfrm>
            <a:off x="6034816" y="4615043"/>
            <a:ext cx="458331" cy="369282"/>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cxnSp>
        <p:nvCxnSpPr>
          <p:cNvPr id="16" name="Straight Arrow Connector 15">
            <a:extLst>
              <a:ext uri="{FF2B5EF4-FFF2-40B4-BE49-F238E27FC236}">
                <a16:creationId xmlns:a16="http://schemas.microsoft.com/office/drawing/2014/main" id="{257A4F9A-5D4B-246F-1AEB-27FB1C6FFB99}"/>
              </a:ext>
            </a:extLst>
          </p:cNvPr>
          <p:cNvCxnSpPr>
            <a:stCxn id="12" idx="2"/>
          </p:cNvCxnSpPr>
          <p:nvPr/>
        </p:nvCxnSpPr>
        <p:spPr>
          <a:xfrm flipH="1">
            <a:off x="3345084" y="4996182"/>
            <a:ext cx="1866742" cy="3132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4FEA575-4B79-C5B7-F9C0-41C8BDC91B07}"/>
              </a:ext>
            </a:extLst>
          </p:cNvPr>
          <p:cNvCxnSpPr>
            <a:cxnSpLocks/>
            <a:endCxn id="6" idx="1"/>
          </p:cNvCxnSpPr>
          <p:nvPr/>
        </p:nvCxnSpPr>
        <p:spPr>
          <a:xfrm flipV="1">
            <a:off x="6991110" y="4159825"/>
            <a:ext cx="509285" cy="1556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DCFDC0A1-C223-67F8-C4E2-3469FF83AB9B}"/>
              </a:ext>
            </a:extLst>
          </p:cNvPr>
          <p:cNvSpPr txBox="1"/>
          <p:nvPr/>
        </p:nvSpPr>
        <p:spPr>
          <a:xfrm>
            <a:off x="1946030" y="3558550"/>
            <a:ext cx="4453079" cy="461665"/>
          </a:xfrm>
          <a:prstGeom prst="rect">
            <a:avLst/>
          </a:prstGeom>
          <a:noFill/>
        </p:spPr>
        <p:txBody>
          <a:bodyPr wrap="none" rtlCol="0">
            <a:spAutoFit/>
          </a:bodyPr>
          <a:lstStyle/>
          <a:p>
            <a:r>
              <a:rPr lang="en-NL" sz="2400" dirty="0"/>
              <a:t>The distance between x and mean</a:t>
            </a:r>
          </a:p>
        </p:txBody>
      </p:sp>
      <p:cxnSp>
        <p:nvCxnSpPr>
          <p:cNvPr id="23" name="Straight Arrow Connector 22">
            <a:extLst>
              <a:ext uri="{FF2B5EF4-FFF2-40B4-BE49-F238E27FC236}">
                <a16:creationId xmlns:a16="http://schemas.microsoft.com/office/drawing/2014/main" id="{92371715-81D7-D446-3F42-B4A744B8E42E}"/>
              </a:ext>
            </a:extLst>
          </p:cNvPr>
          <p:cNvCxnSpPr>
            <a:stCxn id="13" idx="0"/>
            <a:endCxn id="21" idx="2"/>
          </p:cNvCxnSpPr>
          <p:nvPr/>
        </p:nvCxnSpPr>
        <p:spPr>
          <a:xfrm flipH="1" flipV="1">
            <a:off x="4172570" y="4020215"/>
            <a:ext cx="2084586" cy="1483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847D66FB-9F91-5A01-64E3-146CFC0E4E8F}"/>
              </a:ext>
            </a:extLst>
          </p:cNvPr>
          <p:cNvCxnSpPr/>
          <p:nvPr/>
        </p:nvCxnSpPr>
        <p:spPr>
          <a:xfrm>
            <a:off x="1668201" y="3429000"/>
            <a:ext cx="8147132" cy="0"/>
          </a:xfrm>
          <a:prstGeom prst="line">
            <a:avLst/>
          </a:prstGeom>
        </p:spPr>
        <p:style>
          <a:lnRef idx="2">
            <a:schemeClr val="accent1"/>
          </a:lnRef>
          <a:fillRef idx="0">
            <a:schemeClr val="accent1"/>
          </a:fillRef>
          <a:effectRef idx="1">
            <a:schemeClr val="accent1"/>
          </a:effectRef>
          <a:fontRef idx="minor">
            <a:schemeClr val="tx1"/>
          </a:fontRef>
        </p:style>
      </p:cxnSp>
      <p:sp>
        <p:nvSpPr>
          <p:cNvPr id="26" name="Rounded Rectangle 25">
            <a:extLst>
              <a:ext uri="{FF2B5EF4-FFF2-40B4-BE49-F238E27FC236}">
                <a16:creationId xmlns:a16="http://schemas.microsoft.com/office/drawing/2014/main" id="{DE7039D7-6F1E-72B6-522F-06F0200E4AE1}"/>
              </a:ext>
            </a:extLst>
          </p:cNvPr>
          <p:cNvSpPr/>
          <p:nvPr/>
        </p:nvSpPr>
        <p:spPr>
          <a:xfrm>
            <a:off x="5361008" y="4390657"/>
            <a:ext cx="217989" cy="409027"/>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
        <p:nvSpPr>
          <p:cNvPr id="27" name="TextBox 26">
            <a:extLst>
              <a:ext uri="{FF2B5EF4-FFF2-40B4-BE49-F238E27FC236}">
                <a16:creationId xmlns:a16="http://schemas.microsoft.com/office/drawing/2014/main" id="{72E6629F-299D-EA6D-B078-CE6D93656373}"/>
              </a:ext>
            </a:extLst>
          </p:cNvPr>
          <p:cNvSpPr txBox="1"/>
          <p:nvPr/>
        </p:nvSpPr>
        <p:spPr>
          <a:xfrm>
            <a:off x="-66318" y="4106050"/>
            <a:ext cx="4991688" cy="461665"/>
          </a:xfrm>
          <a:prstGeom prst="rect">
            <a:avLst/>
          </a:prstGeom>
          <a:noFill/>
        </p:spPr>
        <p:txBody>
          <a:bodyPr wrap="none" rtlCol="0">
            <a:spAutoFit/>
          </a:bodyPr>
          <a:lstStyle/>
          <a:p>
            <a:r>
              <a:rPr lang="en-NL" sz="2400" dirty="0"/>
              <a:t>- </a:t>
            </a:r>
            <a:r>
              <a:rPr lang="en-GB" sz="2400" dirty="0"/>
              <a:t>M</a:t>
            </a:r>
            <a:r>
              <a:rPr lang="en-NL" sz="2400" dirty="0"/>
              <a:t>akes the bell curve trend towards 0</a:t>
            </a:r>
          </a:p>
        </p:txBody>
      </p:sp>
      <p:cxnSp>
        <p:nvCxnSpPr>
          <p:cNvPr id="29" name="Straight Arrow Connector 28">
            <a:extLst>
              <a:ext uri="{FF2B5EF4-FFF2-40B4-BE49-F238E27FC236}">
                <a16:creationId xmlns:a16="http://schemas.microsoft.com/office/drawing/2014/main" id="{5BA997FB-8B45-153C-F43C-B2F16C86303E}"/>
              </a:ext>
            </a:extLst>
          </p:cNvPr>
          <p:cNvCxnSpPr>
            <a:cxnSpLocks/>
          </p:cNvCxnSpPr>
          <p:nvPr/>
        </p:nvCxnSpPr>
        <p:spPr>
          <a:xfrm>
            <a:off x="4818373" y="4346242"/>
            <a:ext cx="542635" cy="1573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59FED222-6662-08A4-D07C-3EB4724B1AA6}"/>
              </a:ext>
            </a:extLst>
          </p:cNvPr>
          <p:cNvSpPr txBox="1"/>
          <p:nvPr/>
        </p:nvSpPr>
        <p:spPr>
          <a:xfrm>
            <a:off x="8577860" y="4931212"/>
            <a:ext cx="3034677" cy="523220"/>
          </a:xfrm>
          <a:prstGeom prst="rect">
            <a:avLst/>
          </a:prstGeom>
          <a:noFill/>
        </p:spPr>
        <p:txBody>
          <a:bodyPr wrap="none" rtlCol="0">
            <a:spAutoFit/>
          </a:bodyPr>
          <a:lstStyle/>
          <a:p>
            <a:r>
              <a:rPr lang="en-NL" sz="2800" dirty="0"/>
              <a:t>Spread of the curve</a:t>
            </a:r>
          </a:p>
        </p:txBody>
      </p:sp>
      <p:cxnSp>
        <p:nvCxnSpPr>
          <p:cNvPr id="33" name="Straight Arrow Connector 32">
            <a:extLst>
              <a:ext uri="{FF2B5EF4-FFF2-40B4-BE49-F238E27FC236}">
                <a16:creationId xmlns:a16="http://schemas.microsoft.com/office/drawing/2014/main" id="{0FC7D9A0-D59B-405E-6A06-236B5C5BFBD2}"/>
              </a:ext>
            </a:extLst>
          </p:cNvPr>
          <p:cNvCxnSpPr>
            <a:cxnSpLocks/>
          </p:cNvCxnSpPr>
          <p:nvPr/>
        </p:nvCxnSpPr>
        <p:spPr>
          <a:xfrm>
            <a:off x="6493147" y="4811259"/>
            <a:ext cx="2084713" cy="3931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27230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E7887-3561-ACED-77F6-3BD0AA59C9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E77F10-36EA-6222-5139-CDC8C195797B}"/>
              </a:ext>
            </a:extLst>
          </p:cNvPr>
          <p:cNvSpPr>
            <a:spLocks noGrp="1"/>
          </p:cNvSpPr>
          <p:nvPr>
            <p:ph type="title"/>
          </p:nvPr>
        </p:nvSpPr>
        <p:spPr/>
        <p:txBody>
          <a:bodyPr/>
          <a:lstStyle/>
          <a:p>
            <a:r>
              <a:rPr lang="en-NL" dirty="0"/>
              <a:t>The </a:t>
            </a:r>
            <a:r>
              <a:rPr lang="en-NL" dirty="0">
                <a:solidFill>
                  <a:schemeClr val="accent1"/>
                </a:solidFill>
              </a:rPr>
              <a:t>area under the curve </a:t>
            </a:r>
            <a:r>
              <a:rPr lang="en-NL" dirty="0"/>
              <a:t>= 1</a:t>
            </a:r>
          </a:p>
        </p:txBody>
      </p:sp>
      <p:pic>
        <p:nvPicPr>
          <p:cNvPr id="6" name="Picture 5" descr="A diagram of a normal distribution&#10;&#10;AI-generated content may be incorrect.">
            <a:extLst>
              <a:ext uri="{FF2B5EF4-FFF2-40B4-BE49-F238E27FC236}">
                <a16:creationId xmlns:a16="http://schemas.microsoft.com/office/drawing/2014/main" id="{4E2B27CF-B921-ED5A-4878-AEBC5F8BC95E}"/>
              </a:ext>
            </a:extLst>
          </p:cNvPr>
          <p:cNvPicPr>
            <a:picLocks noChangeAspect="1"/>
          </p:cNvPicPr>
          <p:nvPr/>
        </p:nvPicPr>
        <p:blipFill>
          <a:blip r:embed="rId3"/>
          <a:srcRect t="11355"/>
          <a:stretch>
            <a:fillRect/>
          </a:stretch>
        </p:blipFill>
        <p:spPr>
          <a:xfrm>
            <a:off x="896129" y="1170260"/>
            <a:ext cx="10399742" cy="5377652"/>
          </a:xfrm>
          <a:prstGeom prst="rect">
            <a:avLst/>
          </a:prstGeom>
        </p:spPr>
      </p:pic>
    </p:spTree>
    <p:extLst>
      <p:ext uri="{BB962C8B-B14F-4D97-AF65-F5344CB8AC3E}">
        <p14:creationId xmlns:p14="http://schemas.microsoft.com/office/powerpoint/2010/main" val="825077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6092" y="1"/>
            <a:ext cx="4525907" cy="1508636"/>
          </a:xfrm>
          <a:prstGeom prst="rect">
            <a:avLst/>
          </a:prstGeom>
        </p:spPr>
      </p:pic>
      <p:sp>
        <p:nvSpPr>
          <p:cNvPr id="266" name="PlaceHolder 1"/>
          <p:cNvSpPr>
            <a:spLocks noGrp="1"/>
          </p:cNvSpPr>
          <p:nvPr>
            <p:ph type="title"/>
          </p:nvPr>
        </p:nvSpPr>
        <p:spPr>
          <a:prstGeom prst="rect">
            <a:avLst/>
          </a:prstGeom>
          <a:noFill/>
          <a:ln w="0">
            <a:noFill/>
          </a:ln>
        </p:spPr>
        <p:txBody>
          <a:bodyPr vert="horz" lIns="0" tIns="0" rIns="0" bIns="0" rtlCol="0" anchor="t" anchorCtr="0">
            <a:noAutofit/>
          </a:bodyPr>
          <a:lstStyle/>
          <a:p>
            <a:r>
              <a:rPr lang="en-US" dirty="0"/>
              <a:t>Normal</a:t>
            </a:r>
            <a:r>
              <a:rPr lang="en-US" spc="-1" dirty="0">
                <a:solidFill>
                  <a:srgbClr val="00A2DB"/>
                </a:solidFill>
                <a:latin typeface="Calibri"/>
              </a:rPr>
              <a:t> distribution</a:t>
            </a:r>
            <a:endParaRPr lang="nl-NL" b="0" spc="-1" dirty="0">
              <a:solidFill>
                <a:srgbClr val="001C3D"/>
              </a:solidFill>
              <a:latin typeface="Calibri"/>
            </a:endParaRPr>
          </a:p>
        </p:txBody>
      </p:sp>
      <mc:AlternateContent xmlns:mc="http://schemas.openxmlformats.org/markup-compatibility/2006" xmlns:a14="http://schemas.microsoft.com/office/drawing/2010/main">
        <mc:Choice Requires="a14">
          <p:graphicFrame>
            <p:nvGraphicFramePr>
              <p:cNvPr id="9" name="Content Placeholder 5"/>
              <p:cNvGraphicFramePr>
                <a:graphicFrameLocks/>
              </p:cNvGraphicFramePr>
              <p:nvPr/>
            </p:nvGraphicFramePr>
            <p:xfrm>
              <a:off x="480000" y="1347993"/>
              <a:ext cx="11101917" cy="4045966"/>
            </p:xfrm>
            <a:graphic>
              <a:graphicData uri="http://schemas.openxmlformats.org/drawingml/2006/table">
                <a:tbl>
                  <a:tblPr firstRow="1" bandRow="1">
                    <a:tableStyleId>{21E4AEA4-8DFA-4A89-87EB-49C32662AFE0}</a:tableStyleId>
                  </a:tblPr>
                  <a:tblGrid>
                    <a:gridCol w="11101917">
                      <a:extLst>
                        <a:ext uri="{9D8B030D-6E8A-4147-A177-3AD203B41FA5}">
                          <a16:colId xmlns:a16="http://schemas.microsoft.com/office/drawing/2014/main" val="2806566759"/>
                        </a:ext>
                      </a:extLst>
                    </a:gridCol>
                  </a:tblGrid>
                  <a:tr h="690880">
                    <a:tc>
                      <a:txBody>
                        <a:bodyPr/>
                        <a:lstStyle/>
                        <a:p>
                          <a:r>
                            <a:rPr lang="en-US" sz="3700" dirty="0"/>
                            <a:t>Theorem: Standard</a:t>
                          </a:r>
                          <a:r>
                            <a:rPr lang="en-US" sz="3700" baseline="0" dirty="0"/>
                            <a:t> </a:t>
                          </a:r>
                          <a:r>
                            <a:rPr lang="en-US" sz="3700" dirty="0"/>
                            <a:t>Normal Distribution</a:t>
                          </a:r>
                        </a:p>
                      </a:txBody>
                      <a:tcPr marL="121920" marR="121920" marT="60960" marB="60960"/>
                    </a:tc>
                    <a:extLst>
                      <a:ext uri="{0D108BD9-81ED-4DB2-BD59-A6C34878D82A}">
                        <a16:rowId xmlns:a16="http://schemas.microsoft.com/office/drawing/2014/main" val="4282699494"/>
                      </a:ext>
                    </a:extLst>
                  </a:tr>
                  <a:tr h="3315463">
                    <a:tc>
                      <a:txBody>
                        <a:bodyPr/>
                        <a:lstStyle/>
                        <a:p>
                          <a:pPr marL="0" indent="0">
                            <a:buFont typeface="Arial" panose="020B0604020202020204" pitchFamily="34" charset="0"/>
                            <a:buNone/>
                          </a:pPr>
                          <a:r>
                            <a:rPr lang="en-US" sz="2700" dirty="0"/>
                            <a:t>If </a:t>
                          </a:r>
                          <a14:m>
                            <m:oMath xmlns:m="http://schemas.openxmlformats.org/officeDocument/2006/math">
                              <m:r>
                                <a:rPr lang="en-US" sz="2700" baseline="0" dirty="0" smtClean="0">
                                  <a:latin typeface="Cambria Math" panose="02040503050406030204" pitchFamily="18" charset="0"/>
                                </a:rPr>
                                <m:t>𝑋</m:t>
                              </m:r>
                              <m:r>
                                <a:rPr lang="en-US" sz="2700" baseline="0" dirty="0" smtClean="0">
                                  <a:latin typeface="Cambria Math" panose="02040503050406030204" pitchFamily="18" charset="0"/>
                                </a:rPr>
                                <m:t>∼</m:t>
                              </m:r>
                              <m:r>
                                <a:rPr lang="en-US" sz="2700" baseline="0" dirty="0" smtClean="0">
                                  <a:latin typeface="Cambria Math" panose="02040503050406030204" pitchFamily="18" charset="0"/>
                                </a:rPr>
                                <m:t>𝑁</m:t>
                              </m:r>
                              <m:r>
                                <a:rPr lang="en-US" sz="2700" baseline="0" dirty="0" smtClean="0">
                                  <a:latin typeface="Cambria Math" panose="02040503050406030204" pitchFamily="18" charset="0"/>
                                </a:rPr>
                                <m:t>(</m:t>
                              </m:r>
                              <m:r>
                                <a:rPr lang="en-US" sz="2700" baseline="0" dirty="0" smtClean="0">
                                  <a:latin typeface="Cambria Math" panose="02040503050406030204" pitchFamily="18" charset="0"/>
                                </a:rPr>
                                <m:t>𝜇</m:t>
                              </m:r>
                              <m:r>
                                <a:rPr lang="en-US" sz="2700" baseline="0" dirty="0" smtClean="0">
                                  <a:latin typeface="Cambria Math" panose="02040503050406030204" pitchFamily="18" charset="0"/>
                                </a:rPr>
                                <m:t>,</m:t>
                              </m:r>
                              <m:r>
                                <a:rPr lang="en-US" sz="2700" baseline="0" dirty="0" smtClean="0">
                                  <a:latin typeface="Cambria Math" panose="02040503050406030204" pitchFamily="18" charset="0"/>
                                </a:rPr>
                                <m:t>𝜎</m:t>
                              </m:r>
                              <m:r>
                                <a:rPr lang="en-US" sz="2700" baseline="0" dirty="0" smtClean="0">
                                  <a:latin typeface="Cambria Math" panose="02040503050406030204" pitchFamily="18" charset="0"/>
                                </a:rPr>
                                <m:t>)</m:t>
                              </m:r>
                            </m:oMath>
                          </a14:m>
                          <a:r>
                            <a:rPr lang="en-US" sz="2700" baseline="0" dirty="0"/>
                            <a:t> and </a:t>
                          </a:r>
                          <a14:m>
                            <m:oMath xmlns:m="http://schemas.openxmlformats.org/officeDocument/2006/math">
                              <m:r>
                                <a:rPr lang="en-US" sz="2700" baseline="0" smtClean="0">
                                  <a:latin typeface="Cambria Math" panose="02040503050406030204" pitchFamily="18" charset="0"/>
                                </a:rPr>
                                <m:t>𝑍</m:t>
                              </m:r>
                              <m:r>
                                <a:rPr lang="en-US" sz="2700" baseline="0" smtClean="0">
                                  <a:latin typeface="Cambria Math" panose="02040503050406030204" pitchFamily="18" charset="0"/>
                                </a:rPr>
                                <m:t>=</m:t>
                              </m:r>
                              <m:f>
                                <m:fPr>
                                  <m:ctrlPr>
                                    <a:rPr lang="en-US" sz="2700" i="1" baseline="0" smtClean="0">
                                      <a:latin typeface="Cambria Math" panose="02040503050406030204" pitchFamily="18" charset="0"/>
                                    </a:rPr>
                                  </m:ctrlPr>
                                </m:fPr>
                                <m:num>
                                  <m:r>
                                    <a:rPr lang="en-US" sz="2700" baseline="0" smtClean="0">
                                      <a:latin typeface="Cambria Math" panose="02040503050406030204" pitchFamily="18" charset="0"/>
                                    </a:rPr>
                                    <m:t>𝑋</m:t>
                                  </m:r>
                                  <m:r>
                                    <a:rPr lang="en-US" sz="2700" baseline="0" smtClean="0">
                                      <a:latin typeface="Cambria Math" panose="02040503050406030204" pitchFamily="18" charset="0"/>
                                    </a:rPr>
                                    <m:t>−</m:t>
                                  </m:r>
                                  <m:r>
                                    <a:rPr lang="en-US" sz="2700" baseline="0" smtClean="0">
                                      <a:latin typeface="Cambria Math" panose="02040503050406030204" pitchFamily="18" charset="0"/>
                                    </a:rPr>
                                    <m:t>𝜇</m:t>
                                  </m:r>
                                </m:num>
                                <m:den>
                                  <m:r>
                                    <a:rPr lang="en-US" sz="2700" baseline="0" smtClean="0">
                                      <a:latin typeface="Cambria Math" panose="02040503050406030204" pitchFamily="18" charset="0"/>
                                    </a:rPr>
                                    <m:t>𝜎</m:t>
                                  </m:r>
                                </m:den>
                              </m:f>
                            </m:oMath>
                          </a14:m>
                          <a:r>
                            <a:rPr lang="en-US" sz="2700" baseline="0" dirty="0"/>
                            <a:t>, then </a:t>
                          </a:r>
                          <a14:m>
                            <m:oMath xmlns:m="http://schemas.openxmlformats.org/officeDocument/2006/math">
                              <m:r>
                                <a:rPr lang="en-US" sz="2700" baseline="0" dirty="0" smtClean="0">
                                  <a:latin typeface="Cambria Math" panose="02040503050406030204" pitchFamily="18" charset="0"/>
                                </a:rPr>
                                <m:t>𝑍</m:t>
                              </m:r>
                              <m:r>
                                <a:rPr lang="en-US" sz="2700" baseline="0" dirty="0" smtClean="0">
                                  <a:latin typeface="Cambria Math" panose="02040503050406030204" pitchFamily="18" charset="0"/>
                                </a:rPr>
                                <m:t>∼</m:t>
                              </m:r>
                              <m:r>
                                <a:rPr lang="en-US" sz="2700" baseline="0" dirty="0" smtClean="0">
                                  <a:latin typeface="Cambria Math" panose="02040503050406030204" pitchFamily="18" charset="0"/>
                                </a:rPr>
                                <m:t>𝑁</m:t>
                              </m:r>
                              <m:r>
                                <a:rPr lang="en-US" sz="2700" baseline="0" dirty="0" smtClean="0">
                                  <a:latin typeface="Cambria Math" panose="02040503050406030204" pitchFamily="18" charset="0"/>
                                </a:rPr>
                                <m:t>(0,1)</m:t>
                              </m:r>
                            </m:oMath>
                          </a14:m>
                          <a:r>
                            <a:rPr lang="en-US" sz="2700" baseline="0" dirty="0"/>
                            <a:t> (called standard normal dist.)</a:t>
                          </a:r>
                        </a:p>
                        <a:p>
                          <a:pPr marL="0" indent="0">
                            <a:buFont typeface="Arial" panose="020B0604020202020204" pitchFamily="34" charset="0"/>
                            <a:buNone/>
                          </a:pPr>
                          <a:r>
                            <a:rPr lang="en-US" sz="2700" b="1" baseline="0" dirty="0"/>
                            <a:t>Proof: </a:t>
                          </a:r>
                          <a:r>
                            <a:rPr lang="en-US" sz="2700" baseline="0" dirty="0"/>
                            <a:t>Let </a:t>
                          </a:r>
                          <a14:m>
                            <m:oMath xmlns:m="http://schemas.openxmlformats.org/officeDocument/2006/math">
                              <m:acc>
                                <m:accPr>
                                  <m:chr m:val="̃"/>
                                  <m:ctrlPr>
                                    <a:rPr lang="en-US" sz="2700" i="1" baseline="0" smtClean="0">
                                      <a:latin typeface="Cambria Math" panose="02040503050406030204" pitchFamily="18" charset="0"/>
                                    </a:rPr>
                                  </m:ctrlPr>
                                </m:accPr>
                                <m:e>
                                  <m:r>
                                    <a:rPr lang="en-US" sz="2700" baseline="0" smtClean="0">
                                      <a:latin typeface="Cambria Math" panose="02040503050406030204" pitchFamily="18" charset="0"/>
                                    </a:rPr>
                                    <m:t>𝑧</m:t>
                                  </m:r>
                                </m:e>
                              </m:acc>
                              <m:r>
                                <a:rPr lang="en-US" sz="2700" dirty="0" smtClean="0">
                                  <a:latin typeface="Cambria Math" panose="02040503050406030204" pitchFamily="18" charset="0"/>
                                </a:rPr>
                                <m:t>=</m:t>
                              </m:r>
                              <m:f>
                                <m:fPr>
                                  <m:ctrlPr>
                                    <a:rPr lang="en-US" sz="2700" i="1" dirty="0" smtClean="0">
                                      <a:latin typeface="Cambria Math" panose="02040503050406030204" pitchFamily="18" charset="0"/>
                                    </a:rPr>
                                  </m:ctrlPr>
                                </m:fPr>
                                <m:num>
                                  <m:acc>
                                    <m:accPr>
                                      <m:chr m:val="̃"/>
                                      <m:ctrlPr>
                                        <a:rPr lang="en-US" sz="2700" i="1" dirty="0" smtClean="0">
                                          <a:latin typeface="Cambria Math" panose="02040503050406030204" pitchFamily="18" charset="0"/>
                                        </a:rPr>
                                      </m:ctrlPr>
                                    </m:accPr>
                                    <m:e>
                                      <m:r>
                                        <a:rPr lang="en-US" sz="2700" dirty="0" smtClean="0">
                                          <a:latin typeface="Cambria Math" panose="02040503050406030204" pitchFamily="18" charset="0"/>
                                        </a:rPr>
                                        <m:t>𝑥</m:t>
                                      </m:r>
                                    </m:e>
                                  </m:acc>
                                  <m:r>
                                    <a:rPr lang="en-US" sz="2700" dirty="0" smtClean="0">
                                      <a:latin typeface="Cambria Math" panose="02040503050406030204" pitchFamily="18" charset="0"/>
                                    </a:rPr>
                                    <m:t>−</m:t>
                                  </m:r>
                                  <m:r>
                                    <a:rPr lang="en-US" sz="2700" dirty="0" smtClean="0">
                                      <a:latin typeface="Cambria Math" panose="02040503050406030204" pitchFamily="18" charset="0"/>
                                    </a:rPr>
                                    <m:t>𝜇</m:t>
                                  </m:r>
                                </m:num>
                                <m:den>
                                  <m:r>
                                    <a:rPr lang="en-US" sz="2700" dirty="0" smtClean="0">
                                      <a:latin typeface="Cambria Math" panose="02040503050406030204" pitchFamily="18" charset="0"/>
                                    </a:rPr>
                                    <m:t>𝜎</m:t>
                                  </m:r>
                                </m:den>
                              </m:f>
                            </m:oMath>
                          </a14:m>
                          <a:r>
                            <a:rPr lang="en-US" sz="2700" baseline="0" dirty="0"/>
                            <a:t>. Then </a:t>
                          </a:r>
                          <a14:m>
                            <m:oMath xmlns:m="http://schemas.openxmlformats.org/officeDocument/2006/math">
                              <m:r>
                                <a:rPr lang="en-US" sz="2700" baseline="0" smtClean="0">
                                  <a:latin typeface="Cambria Math" panose="02040503050406030204" pitchFamily="18" charset="0"/>
                                </a:rPr>
                                <m:t>𝑃</m:t>
                              </m:r>
                              <m:d>
                                <m:dPr>
                                  <m:ctrlPr>
                                    <a:rPr lang="en-US" sz="2700" i="1" baseline="0" smtClean="0">
                                      <a:latin typeface="Cambria Math" panose="02040503050406030204" pitchFamily="18" charset="0"/>
                                    </a:rPr>
                                  </m:ctrlPr>
                                </m:dPr>
                                <m:e>
                                  <m:r>
                                    <a:rPr lang="en-US" sz="2700" baseline="0" smtClean="0">
                                      <a:latin typeface="Cambria Math" panose="02040503050406030204" pitchFamily="18" charset="0"/>
                                    </a:rPr>
                                    <m:t>𝑋</m:t>
                                  </m:r>
                                  <m:r>
                                    <a:rPr lang="en-US" sz="2700" baseline="0" smtClean="0">
                                      <a:latin typeface="Cambria Math" panose="02040503050406030204" pitchFamily="18" charset="0"/>
                                    </a:rPr>
                                    <m:t>≤</m:t>
                                  </m:r>
                                  <m:acc>
                                    <m:accPr>
                                      <m:chr m:val="̃"/>
                                      <m:ctrlPr>
                                        <a:rPr lang="en-US" sz="2700" i="1" baseline="0" smtClean="0">
                                          <a:latin typeface="Cambria Math" panose="02040503050406030204" pitchFamily="18" charset="0"/>
                                        </a:rPr>
                                      </m:ctrlPr>
                                    </m:accPr>
                                    <m:e>
                                      <m:r>
                                        <a:rPr lang="en-US" sz="2700" baseline="0" smtClean="0">
                                          <a:latin typeface="Cambria Math" panose="02040503050406030204" pitchFamily="18" charset="0"/>
                                        </a:rPr>
                                        <m:t>𝑥</m:t>
                                      </m:r>
                                    </m:e>
                                  </m:acc>
                                </m:e>
                              </m:d>
                              <m:r>
                                <a:rPr lang="en-US" sz="2700" baseline="0" smtClean="0">
                                  <a:latin typeface="Cambria Math" panose="02040503050406030204" pitchFamily="18" charset="0"/>
                                </a:rPr>
                                <m:t>=</m:t>
                              </m:r>
                              <m:r>
                                <a:rPr lang="en-US" sz="2700" baseline="0" smtClean="0">
                                  <a:latin typeface="Cambria Math" panose="02040503050406030204" pitchFamily="18" charset="0"/>
                                </a:rPr>
                                <m:t>𝑃</m:t>
                              </m:r>
                              <m:d>
                                <m:dPr>
                                  <m:ctrlPr>
                                    <a:rPr lang="en-US" sz="2700" i="1" baseline="0" smtClean="0">
                                      <a:latin typeface="Cambria Math" panose="02040503050406030204" pitchFamily="18" charset="0"/>
                                    </a:rPr>
                                  </m:ctrlPr>
                                </m:dPr>
                                <m:e>
                                  <m:f>
                                    <m:fPr>
                                      <m:ctrlPr>
                                        <a:rPr lang="en-US" sz="2700" i="1" baseline="0" smtClean="0">
                                          <a:latin typeface="Cambria Math" panose="02040503050406030204" pitchFamily="18" charset="0"/>
                                        </a:rPr>
                                      </m:ctrlPr>
                                    </m:fPr>
                                    <m:num>
                                      <m:r>
                                        <a:rPr lang="en-US" sz="2700" baseline="0" smtClean="0">
                                          <a:latin typeface="Cambria Math" panose="02040503050406030204" pitchFamily="18" charset="0"/>
                                        </a:rPr>
                                        <m:t>𝑋</m:t>
                                      </m:r>
                                      <m:r>
                                        <a:rPr lang="en-US" sz="2700" baseline="0" smtClean="0">
                                          <a:latin typeface="Cambria Math" panose="02040503050406030204" pitchFamily="18" charset="0"/>
                                        </a:rPr>
                                        <m:t>−</m:t>
                                      </m:r>
                                      <m:r>
                                        <a:rPr lang="en-US" sz="2700" baseline="0" smtClean="0">
                                          <a:latin typeface="Cambria Math" panose="02040503050406030204" pitchFamily="18" charset="0"/>
                                        </a:rPr>
                                        <m:t>𝜇</m:t>
                                      </m:r>
                                    </m:num>
                                    <m:den>
                                      <m:r>
                                        <a:rPr lang="en-US" sz="2700" baseline="0" smtClean="0">
                                          <a:latin typeface="Cambria Math" panose="02040503050406030204" pitchFamily="18" charset="0"/>
                                        </a:rPr>
                                        <m:t>𝜎</m:t>
                                      </m:r>
                                    </m:den>
                                  </m:f>
                                  <m:r>
                                    <a:rPr lang="en-US" sz="2700" baseline="0" smtClean="0">
                                      <a:latin typeface="Cambria Math" panose="02040503050406030204" pitchFamily="18" charset="0"/>
                                    </a:rPr>
                                    <m:t>≤</m:t>
                                  </m:r>
                                  <m:f>
                                    <m:fPr>
                                      <m:ctrlPr>
                                        <a:rPr lang="en-US" sz="2700" i="1" baseline="0" smtClean="0">
                                          <a:latin typeface="Cambria Math" panose="02040503050406030204" pitchFamily="18" charset="0"/>
                                        </a:rPr>
                                      </m:ctrlPr>
                                    </m:fPr>
                                    <m:num>
                                      <m:acc>
                                        <m:accPr>
                                          <m:chr m:val="̃"/>
                                          <m:ctrlPr>
                                            <a:rPr lang="en-US" sz="2700" i="1" baseline="0" smtClean="0">
                                              <a:latin typeface="Cambria Math" panose="02040503050406030204" pitchFamily="18" charset="0"/>
                                            </a:rPr>
                                          </m:ctrlPr>
                                        </m:accPr>
                                        <m:e>
                                          <m:r>
                                            <a:rPr lang="en-US" sz="2700" baseline="0" smtClean="0">
                                              <a:latin typeface="Cambria Math" panose="02040503050406030204" pitchFamily="18" charset="0"/>
                                            </a:rPr>
                                            <m:t>𝑥</m:t>
                                          </m:r>
                                        </m:e>
                                      </m:acc>
                                      <m:r>
                                        <a:rPr lang="en-US" sz="2700" baseline="0" smtClean="0">
                                          <a:latin typeface="Cambria Math" panose="02040503050406030204" pitchFamily="18" charset="0"/>
                                        </a:rPr>
                                        <m:t>−</m:t>
                                      </m:r>
                                      <m:r>
                                        <a:rPr lang="en-US" sz="2700" baseline="0" smtClean="0">
                                          <a:latin typeface="Cambria Math" panose="02040503050406030204" pitchFamily="18" charset="0"/>
                                        </a:rPr>
                                        <m:t>𝜇</m:t>
                                      </m:r>
                                    </m:num>
                                    <m:den>
                                      <m:r>
                                        <a:rPr lang="en-US" sz="2700" baseline="0" smtClean="0">
                                          <a:latin typeface="Cambria Math" panose="02040503050406030204" pitchFamily="18" charset="0"/>
                                        </a:rPr>
                                        <m:t>𝜎</m:t>
                                      </m:r>
                                    </m:den>
                                  </m:f>
                                </m:e>
                              </m:d>
                              <m:r>
                                <a:rPr lang="en-US" sz="2700" baseline="0" smtClean="0">
                                  <a:latin typeface="Cambria Math" panose="02040503050406030204" pitchFamily="18" charset="0"/>
                                </a:rPr>
                                <m:t>=</m:t>
                              </m:r>
                              <m:r>
                                <a:rPr lang="en-US" sz="2700" baseline="0" smtClean="0">
                                  <a:latin typeface="Cambria Math" panose="02040503050406030204" pitchFamily="18" charset="0"/>
                                </a:rPr>
                                <m:t>𝑃</m:t>
                              </m:r>
                              <m:d>
                                <m:dPr>
                                  <m:ctrlPr>
                                    <a:rPr lang="en-US" sz="2700" i="1" baseline="0" smtClean="0">
                                      <a:latin typeface="Cambria Math" panose="02040503050406030204" pitchFamily="18" charset="0"/>
                                    </a:rPr>
                                  </m:ctrlPr>
                                </m:dPr>
                                <m:e>
                                  <m:r>
                                    <a:rPr lang="en-US" sz="2700" baseline="0" smtClean="0">
                                      <a:latin typeface="Cambria Math" panose="02040503050406030204" pitchFamily="18" charset="0"/>
                                    </a:rPr>
                                    <m:t>𝑍</m:t>
                                  </m:r>
                                  <m:r>
                                    <a:rPr lang="en-US" sz="2700" baseline="0" smtClean="0">
                                      <a:latin typeface="Cambria Math" panose="02040503050406030204" pitchFamily="18" charset="0"/>
                                    </a:rPr>
                                    <m:t>≤</m:t>
                                  </m:r>
                                  <m:acc>
                                    <m:accPr>
                                      <m:chr m:val="̃"/>
                                      <m:ctrlPr>
                                        <a:rPr lang="en-US" sz="2700" i="1" baseline="0" smtClean="0">
                                          <a:latin typeface="Cambria Math" panose="02040503050406030204" pitchFamily="18" charset="0"/>
                                        </a:rPr>
                                      </m:ctrlPr>
                                    </m:accPr>
                                    <m:e>
                                      <m:r>
                                        <a:rPr lang="en-US" sz="2700" baseline="0" smtClean="0">
                                          <a:latin typeface="Cambria Math" panose="02040503050406030204" pitchFamily="18" charset="0"/>
                                        </a:rPr>
                                        <m:t>𝑧</m:t>
                                      </m:r>
                                    </m:e>
                                  </m:acc>
                                </m:e>
                              </m:d>
                            </m:oMath>
                          </a14:m>
                          <a:r>
                            <a:rPr lang="en-US" sz="2700" baseline="0" dirty="0"/>
                            <a:t>. But then</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700" baseline="0" smtClean="0">
                                    <a:latin typeface="Cambria Math" panose="02040503050406030204" pitchFamily="18" charset="0"/>
                                  </a:rPr>
                                  <m:t>𝐹</m:t>
                                </m:r>
                                <m:d>
                                  <m:dPr>
                                    <m:ctrlPr>
                                      <a:rPr lang="en-US" sz="2700" i="1" baseline="0" smtClean="0">
                                        <a:latin typeface="Cambria Math" panose="02040503050406030204" pitchFamily="18" charset="0"/>
                                      </a:rPr>
                                    </m:ctrlPr>
                                  </m:dPr>
                                  <m:e>
                                    <m:acc>
                                      <m:accPr>
                                        <m:chr m:val="̃"/>
                                        <m:ctrlPr>
                                          <a:rPr lang="en-US" sz="2700" i="1" baseline="0" smtClean="0">
                                            <a:latin typeface="Cambria Math" panose="02040503050406030204" pitchFamily="18" charset="0"/>
                                          </a:rPr>
                                        </m:ctrlPr>
                                      </m:accPr>
                                      <m:e>
                                        <m:r>
                                          <a:rPr lang="en-US" sz="2700" baseline="0" smtClean="0">
                                            <a:latin typeface="Cambria Math" panose="02040503050406030204" pitchFamily="18" charset="0"/>
                                          </a:rPr>
                                          <m:t>𝑧</m:t>
                                        </m:r>
                                      </m:e>
                                    </m:acc>
                                  </m:e>
                                </m:d>
                                <m:r>
                                  <a:rPr lang="en-US" sz="2700" baseline="0" smtClean="0">
                                    <a:latin typeface="Cambria Math" panose="02040503050406030204" pitchFamily="18" charset="0"/>
                                  </a:rPr>
                                  <m:t>=</m:t>
                                </m:r>
                                <m:r>
                                  <a:rPr lang="en-US" sz="2700" baseline="0" smtClean="0">
                                    <a:latin typeface="Cambria Math" panose="02040503050406030204" pitchFamily="18" charset="0"/>
                                  </a:rPr>
                                  <m:t>𝑃</m:t>
                                </m:r>
                                <m:d>
                                  <m:dPr>
                                    <m:ctrlPr>
                                      <a:rPr lang="en-US" sz="2700" i="1" baseline="0" smtClean="0">
                                        <a:latin typeface="Cambria Math" panose="02040503050406030204" pitchFamily="18" charset="0"/>
                                      </a:rPr>
                                    </m:ctrlPr>
                                  </m:dPr>
                                  <m:e>
                                    <m:r>
                                      <a:rPr lang="en-US" sz="2700" baseline="0" smtClean="0">
                                        <a:latin typeface="Cambria Math" panose="02040503050406030204" pitchFamily="18" charset="0"/>
                                      </a:rPr>
                                      <m:t>𝑍</m:t>
                                    </m:r>
                                    <m:r>
                                      <a:rPr lang="en-US" sz="2700" baseline="0" smtClean="0">
                                        <a:latin typeface="Cambria Math" panose="02040503050406030204" pitchFamily="18" charset="0"/>
                                      </a:rPr>
                                      <m:t>≤</m:t>
                                    </m:r>
                                    <m:acc>
                                      <m:accPr>
                                        <m:chr m:val="̃"/>
                                        <m:ctrlPr>
                                          <a:rPr lang="en-US" sz="2700" i="1" baseline="0" smtClean="0">
                                            <a:latin typeface="Cambria Math" panose="02040503050406030204" pitchFamily="18" charset="0"/>
                                          </a:rPr>
                                        </m:ctrlPr>
                                      </m:accPr>
                                      <m:e>
                                        <m:r>
                                          <a:rPr lang="en-US" sz="2700" baseline="0" smtClean="0">
                                            <a:latin typeface="Cambria Math" panose="02040503050406030204" pitchFamily="18" charset="0"/>
                                          </a:rPr>
                                          <m:t>𝑧</m:t>
                                        </m:r>
                                      </m:e>
                                    </m:acc>
                                  </m:e>
                                </m:d>
                                <m:r>
                                  <a:rPr lang="en-US" sz="2700" baseline="0" smtClean="0">
                                    <a:latin typeface="Cambria Math" panose="02040503050406030204" pitchFamily="18" charset="0"/>
                                  </a:rPr>
                                  <m:t>=</m:t>
                                </m:r>
                                <m:r>
                                  <a:rPr lang="en-US" sz="2700" baseline="0" smtClean="0">
                                    <a:latin typeface="Cambria Math" panose="02040503050406030204" pitchFamily="18" charset="0"/>
                                  </a:rPr>
                                  <m:t>𝑃</m:t>
                                </m:r>
                                <m:d>
                                  <m:dPr>
                                    <m:ctrlPr>
                                      <a:rPr lang="en-US" sz="2700" i="1" baseline="0" smtClean="0">
                                        <a:latin typeface="Cambria Math" panose="02040503050406030204" pitchFamily="18" charset="0"/>
                                      </a:rPr>
                                    </m:ctrlPr>
                                  </m:dPr>
                                  <m:e>
                                    <m:r>
                                      <a:rPr lang="en-US" sz="2700" baseline="0" smtClean="0">
                                        <a:latin typeface="Cambria Math" panose="02040503050406030204" pitchFamily="18" charset="0"/>
                                      </a:rPr>
                                      <m:t>𝑋</m:t>
                                    </m:r>
                                    <m:r>
                                      <a:rPr lang="en-US" sz="2700" baseline="0" smtClean="0">
                                        <a:latin typeface="Cambria Math" panose="02040503050406030204" pitchFamily="18" charset="0"/>
                                      </a:rPr>
                                      <m:t>≤</m:t>
                                    </m:r>
                                    <m:acc>
                                      <m:accPr>
                                        <m:chr m:val="̃"/>
                                        <m:ctrlPr>
                                          <a:rPr lang="en-US" sz="2700" i="1" baseline="0" smtClean="0">
                                            <a:latin typeface="Cambria Math" panose="02040503050406030204" pitchFamily="18" charset="0"/>
                                          </a:rPr>
                                        </m:ctrlPr>
                                      </m:accPr>
                                      <m:e>
                                        <m:r>
                                          <a:rPr lang="en-US" sz="2700" baseline="0" smtClean="0">
                                            <a:latin typeface="Cambria Math" panose="02040503050406030204" pitchFamily="18" charset="0"/>
                                          </a:rPr>
                                          <m:t>𝑥</m:t>
                                        </m:r>
                                      </m:e>
                                    </m:acc>
                                  </m:e>
                                </m:d>
                                <m:r>
                                  <a:rPr lang="en-US" sz="2700" baseline="0" smtClean="0">
                                    <a:latin typeface="Cambria Math" panose="02040503050406030204" pitchFamily="18" charset="0"/>
                                  </a:rPr>
                                  <m:t>=</m:t>
                                </m:r>
                                <m:r>
                                  <a:rPr lang="en-US" sz="2700" baseline="0" smtClean="0">
                                    <a:latin typeface="Cambria Math" panose="02040503050406030204" pitchFamily="18" charset="0"/>
                                  </a:rPr>
                                  <m:t>𝐹</m:t>
                                </m:r>
                                <m:d>
                                  <m:dPr>
                                    <m:ctrlPr>
                                      <a:rPr lang="en-US" sz="2700" i="1" baseline="0" smtClean="0">
                                        <a:latin typeface="Cambria Math" panose="02040503050406030204" pitchFamily="18" charset="0"/>
                                      </a:rPr>
                                    </m:ctrlPr>
                                  </m:dPr>
                                  <m:e>
                                    <m:acc>
                                      <m:accPr>
                                        <m:chr m:val="̃"/>
                                        <m:ctrlPr>
                                          <a:rPr lang="en-US" sz="2700" i="1" baseline="0" smtClean="0">
                                            <a:latin typeface="Cambria Math" panose="02040503050406030204" pitchFamily="18" charset="0"/>
                                          </a:rPr>
                                        </m:ctrlPr>
                                      </m:accPr>
                                      <m:e>
                                        <m:r>
                                          <a:rPr lang="en-US" sz="2700" baseline="0" smtClean="0">
                                            <a:latin typeface="Cambria Math" panose="02040503050406030204" pitchFamily="18" charset="0"/>
                                          </a:rPr>
                                          <m:t>𝑥</m:t>
                                        </m:r>
                                      </m:e>
                                    </m:acc>
                                  </m:e>
                                </m:d>
                              </m:oMath>
                            </m:oMathPara>
                          </a14:m>
                          <a:endParaRPr lang="en-US" sz="2700" baseline="0"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700" baseline="0" smtClean="0">
                                    <a:latin typeface="Cambria Math" panose="02040503050406030204" pitchFamily="18" charset="0"/>
                                  </a:rPr>
                                  <m:t>=</m:t>
                                </m:r>
                                <m:f>
                                  <m:fPr>
                                    <m:ctrlPr>
                                      <a:rPr lang="en-US" sz="2700" i="1" smtClean="0">
                                        <a:latin typeface="Cambria Math" panose="02040503050406030204" pitchFamily="18" charset="0"/>
                                      </a:rPr>
                                    </m:ctrlPr>
                                  </m:fPr>
                                  <m:num>
                                    <m:r>
                                      <a:rPr lang="en-US" sz="2700" smtClean="0">
                                        <a:latin typeface="Cambria Math" panose="02040503050406030204" pitchFamily="18" charset="0"/>
                                      </a:rPr>
                                      <m:t>1</m:t>
                                    </m:r>
                                  </m:num>
                                  <m:den>
                                    <m:r>
                                      <a:rPr lang="en-US" sz="2700" smtClean="0">
                                        <a:latin typeface="Cambria Math" panose="02040503050406030204" pitchFamily="18" charset="0"/>
                                      </a:rPr>
                                      <m:t>𝜎</m:t>
                                    </m:r>
                                    <m:rad>
                                      <m:radPr>
                                        <m:degHide m:val="on"/>
                                        <m:ctrlPr>
                                          <a:rPr lang="en-US" sz="2700" i="1" smtClean="0">
                                            <a:latin typeface="Cambria Math" panose="02040503050406030204" pitchFamily="18" charset="0"/>
                                          </a:rPr>
                                        </m:ctrlPr>
                                      </m:radPr>
                                      <m:deg/>
                                      <m:e>
                                        <m:r>
                                          <a:rPr lang="en-US" sz="2700" smtClean="0">
                                            <a:latin typeface="Cambria Math" panose="02040503050406030204" pitchFamily="18" charset="0"/>
                                          </a:rPr>
                                          <m:t>2</m:t>
                                        </m:r>
                                        <m:r>
                                          <a:rPr lang="en-US" sz="2700" smtClean="0">
                                            <a:latin typeface="Cambria Math" panose="02040503050406030204" pitchFamily="18" charset="0"/>
                                          </a:rPr>
                                          <m:t>𝜋</m:t>
                                        </m:r>
                                      </m:e>
                                    </m:rad>
                                  </m:den>
                                </m:f>
                                <m:nary>
                                  <m:naryPr>
                                    <m:ctrlPr>
                                      <a:rPr lang="en-US" sz="2700" i="1" baseline="0" smtClean="0">
                                        <a:latin typeface="Cambria Math" panose="02040503050406030204" pitchFamily="18" charset="0"/>
                                      </a:rPr>
                                    </m:ctrlPr>
                                  </m:naryPr>
                                  <m:sub>
                                    <m:r>
                                      <m:rPr>
                                        <m:brk m:alnAt="23"/>
                                      </m:rPr>
                                      <a:rPr lang="en-US" sz="2700" baseline="0" smtClean="0">
                                        <a:latin typeface="Cambria Math" panose="02040503050406030204" pitchFamily="18" charset="0"/>
                                      </a:rPr>
                                      <m:t>−</m:t>
                                    </m:r>
                                    <m:r>
                                      <a:rPr lang="en-US" sz="2700" baseline="0" smtClean="0">
                                        <a:latin typeface="Cambria Math" panose="02040503050406030204" pitchFamily="18" charset="0"/>
                                      </a:rPr>
                                      <m:t>∞</m:t>
                                    </m:r>
                                  </m:sub>
                                  <m:sup>
                                    <m:acc>
                                      <m:accPr>
                                        <m:chr m:val="̃"/>
                                        <m:ctrlPr>
                                          <a:rPr lang="en-US" sz="2700" i="1" baseline="0" smtClean="0">
                                            <a:latin typeface="Cambria Math" panose="02040503050406030204" pitchFamily="18" charset="0"/>
                                          </a:rPr>
                                        </m:ctrlPr>
                                      </m:accPr>
                                      <m:e>
                                        <m:r>
                                          <a:rPr lang="en-US" sz="2700" baseline="0" smtClean="0">
                                            <a:latin typeface="Cambria Math" panose="02040503050406030204" pitchFamily="18" charset="0"/>
                                          </a:rPr>
                                          <m:t>𝑥</m:t>
                                        </m:r>
                                      </m:e>
                                    </m:acc>
                                  </m:sup>
                                  <m:e>
                                    <m:sSup>
                                      <m:sSupPr>
                                        <m:ctrlPr>
                                          <a:rPr lang="en-US" sz="2700" i="1" smtClean="0">
                                            <a:latin typeface="Cambria Math" panose="02040503050406030204" pitchFamily="18" charset="0"/>
                                          </a:rPr>
                                        </m:ctrlPr>
                                      </m:sSupPr>
                                      <m:e>
                                        <m:r>
                                          <a:rPr lang="en-US" sz="2700" smtClean="0">
                                            <a:latin typeface="Cambria Math" panose="02040503050406030204" pitchFamily="18" charset="0"/>
                                          </a:rPr>
                                          <m:t>𝑒</m:t>
                                        </m:r>
                                      </m:e>
                                      <m:sup>
                                        <m:r>
                                          <a:rPr lang="en-US" sz="2700" smtClean="0">
                                            <a:latin typeface="Cambria Math" panose="02040503050406030204" pitchFamily="18" charset="0"/>
                                          </a:rPr>
                                          <m:t>−</m:t>
                                        </m:r>
                                        <m:f>
                                          <m:fPr>
                                            <m:ctrlPr>
                                              <a:rPr lang="en-US" sz="2700" i="1" smtClean="0">
                                                <a:latin typeface="Cambria Math" panose="02040503050406030204" pitchFamily="18" charset="0"/>
                                              </a:rPr>
                                            </m:ctrlPr>
                                          </m:fPr>
                                          <m:num>
                                            <m:r>
                                              <a:rPr lang="en-US" sz="2700" smtClean="0">
                                                <a:latin typeface="Cambria Math" panose="02040503050406030204" pitchFamily="18" charset="0"/>
                                              </a:rPr>
                                              <m:t>1</m:t>
                                            </m:r>
                                          </m:num>
                                          <m:den>
                                            <m:r>
                                              <a:rPr lang="en-US" sz="2700" smtClean="0">
                                                <a:latin typeface="Cambria Math" panose="02040503050406030204" pitchFamily="18" charset="0"/>
                                              </a:rPr>
                                              <m:t>2</m:t>
                                            </m:r>
                                          </m:den>
                                        </m:f>
                                        <m:sSup>
                                          <m:sSupPr>
                                            <m:ctrlPr>
                                              <a:rPr lang="en-US" sz="2700" i="1" smtClean="0">
                                                <a:latin typeface="Cambria Math" panose="02040503050406030204" pitchFamily="18" charset="0"/>
                                              </a:rPr>
                                            </m:ctrlPr>
                                          </m:sSupPr>
                                          <m:e>
                                            <m:d>
                                              <m:dPr>
                                                <m:ctrlPr>
                                                  <a:rPr lang="en-US" sz="2700" i="1" smtClean="0">
                                                    <a:latin typeface="Cambria Math" panose="02040503050406030204" pitchFamily="18" charset="0"/>
                                                  </a:rPr>
                                                </m:ctrlPr>
                                              </m:dPr>
                                              <m:e>
                                                <m:f>
                                                  <m:fPr>
                                                    <m:ctrlPr>
                                                      <a:rPr lang="en-US" sz="2700" i="1" smtClean="0">
                                                        <a:latin typeface="Cambria Math" panose="02040503050406030204" pitchFamily="18" charset="0"/>
                                                      </a:rPr>
                                                    </m:ctrlPr>
                                                  </m:fPr>
                                                  <m:num>
                                                    <m:r>
                                                      <a:rPr lang="en-US" sz="2700" smtClean="0">
                                                        <a:latin typeface="Cambria Math" panose="02040503050406030204" pitchFamily="18" charset="0"/>
                                                      </a:rPr>
                                                      <m:t>𝑥</m:t>
                                                    </m:r>
                                                    <m:r>
                                                      <a:rPr lang="en-US" sz="2700" smtClean="0">
                                                        <a:latin typeface="Cambria Math" panose="02040503050406030204" pitchFamily="18" charset="0"/>
                                                      </a:rPr>
                                                      <m:t>−</m:t>
                                                    </m:r>
                                                    <m:r>
                                                      <a:rPr lang="en-US" sz="2700" smtClean="0">
                                                        <a:latin typeface="Cambria Math" panose="02040503050406030204" pitchFamily="18" charset="0"/>
                                                      </a:rPr>
                                                      <m:t>𝜇</m:t>
                                                    </m:r>
                                                  </m:num>
                                                  <m:den>
                                                    <m:r>
                                                      <a:rPr lang="en-US" sz="2700" smtClean="0">
                                                        <a:latin typeface="Cambria Math" panose="02040503050406030204" pitchFamily="18" charset="0"/>
                                                      </a:rPr>
                                                      <m:t>𝜎</m:t>
                                                    </m:r>
                                                  </m:den>
                                                </m:f>
                                              </m:e>
                                            </m:d>
                                          </m:e>
                                          <m:sup>
                                            <m:r>
                                              <a:rPr lang="en-US" sz="2700" smtClean="0">
                                                <a:latin typeface="Cambria Math" panose="02040503050406030204" pitchFamily="18" charset="0"/>
                                              </a:rPr>
                                              <m:t>2</m:t>
                                            </m:r>
                                          </m:sup>
                                        </m:sSup>
                                      </m:sup>
                                    </m:sSup>
                                    <m:r>
                                      <a:rPr lang="en-US" sz="2700" smtClean="0">
                                        <a:latin typeface="Cambria Math" panose="02040503050406030204" pitchFamily="18" charset="0"/>
                                      </a:rPr>
                                      <m:t>𝑑𝑥</m:t>
                                    </m:r>
                                  </m:e>
                                </m:nary>
                                <m:r>
                                  <a:rPr lang="en-US" sz="2700" baseline="0" smtClean="0">
                                    <a:latin typeface="Cambria Math" panose="02040503050406030204" pitchFamily="18" charset="0"/>
                                  </a:rPr>
                                  <m:t>=</m:t>
                                </m:r>
                                <m:f>
                                  <m:fPr>
                                    <m:ctrlPr>
                                      <a:rPr lang="en-US" sz="2700" i="1" smtClean="0">
                                        <a:latin typeface="Cambria Math" panose="02040503050406030204" pitchFamily="18" charset="0"/>
                                      </a:rPr>
                                    </m:ctrlPr>
                                  </m:fPr>
                                  <m:num>
                                    <m:r>
                                      <a:rPr lang="en-US" sz="2700" smtClean="0">
                                        <a:latin typeface="Cambria Math" panose="02040503050406030204" pitchFamily="18" charset="0"/>
                                      </a:rPr>
                                      <m:t>1</m:t>
                                    </m:r>
                                  </m:num>
                                  <m:den>
                                    <m:rad>
                                      <m:radPr>
                                        <m:degHide m:val="on"/>
                                        <m:ctrlPr>
                                          <a:rPr lang="en-US" sz="2700" i="1" smtClean="0">
                                            <a:latin typeface="Cambria Math" panose="02040503050406030204" pitchFamily="18" charset="0"/>
                                          </a:rPr>
                                        </m:ctrlPr>
                                      </m:radPr>
                                      <m:deg/>
                                      <m:e>
                                        <m:r>
                                          <a:rPr lang="en-US" sz="2700" smtClean="0">
                                            <a:latin typeface="Cambria Math" panose="02040503050406030204" pitchFamily="18" charset="0"/>
                                          </a:rPr>
                                          <m:t>2</m:t>
                                        </m:r>
                                        <m:r>
                                          <a:rPr lang="en-US" sz="2700" smtClean="0">
                                            <a:latin typeface="Cambria Math" panose="02040503050406030204" pitchFamily="18" charset="0"/>
                                          </a:rPr>
                                          <m:t>𝜋</m:t>
                                        </m:r>
                                      </m:e>
                                    </m:rad>
                                  </m:den>
                                </m:f>
                                <m:nary>
                                  <m:naryPr>
                                    <m:ctrlPr>
                                      <a:rPr lang="en-US" sz="2700" i="1" baseline="0" smtClean="0">
                                        <a:latin typeface="Cambria Math" panose="02040503050406030204" pitchFamily="18" charset="0"/>
                                      </a:rPr>
                                    </m:ctrlPr>
                                  </m:naryPr>
                                  <m:sub>
                                    <m:r>
                                      <m:rPr>
                                        <m:brk m:alnAt="23"/>
                                      </m:rPr>
                                      <a:rPr lang="en-US" sz="2700" baseline="0" smtClean="0">
                                        <a:latin typeface="Cambria Math" panose="02040503050406030204" pitchFamily="18" charset="0"/>
                                      </a:rPr>
                                      <m:t>−</m:t>
                                    </m:r>
                                    <m:r>
                                      <a:rPr lang="en-US" sz="2700" baseline="0" smtClean="0">
                                        <a:latin typeface="Cambria Math" panose="02040503050406030204" pitchFamily="18" charset="0"/>
                                      </a:rPr>
                                      <m:t>∞</m:t>
                                    </m:r>
                                  </m:sub>
                                  <m:sup>
                                    <m:acc>
                                      <m:accPr>
                                        <m:chr m:val="̃"/>
                                        <m:ctrlPr>
                                          <a:rPr lang="en-US" sz="2700" i="1" baseline="0" smtClean="0">
                                            <a:latin typeface="Cambria Math" panose="02040503050406030204" pitchFamily="18" charset="0"/>
                                          </a:rPr>
                                        </m:ctrlPr>
                                      </m:accPr>
                                      <m:e>
                                        <m:r>
                                          <m:rPr>
                                            <m:sty m:val="p"/>
                                          </m:rPr>
                                          <a:rPr lang="en-US" sz="2700" b="0" i="0" baseline="0" smtClean="0">
                                            <a:latin typeface="Cambria Math" panose="02040503050406030204" pitchFamily="18" charset="0"/>
                                          </a:rPr>
                                          <m:t>z</m:t>
                                        </m:r>
                                      </m:e>
                                    </m:acc>
                                  </m:sup>
                                  <m:e>
                                    <m:sSup>
                                      <m:sSupPr>
                                        <m:ctrlPr>
                                          <a:rPr lang="en-US" sz="2700" i="1" smtClean="0">
                                            <a:latin typeface="Cambria Math" panose="02040503050406030204" pitchFamily="18" charset="0"/>
                                          </a:rPr>
                                        </m:ctrlPr>
                                      </m:sSupPr>
                                      <m:e>
                                        <m:r>
                                          <a:rPr lang="en-US" sz="2700" smtClean="0">
                                            <a:latin typeface="Cambria Math" panose="02040503050406030204" pitchFamily="18" charset="0"/>
                                          </a:rPr>
                                          <m:t>𝑒</m:t>
                                        </m:r>
                                      </m:e>
                                      <m:sup>
                                        <m:r>
                                          <a:rPr lang="en-US" sz="2700" smtClean="0">
                                            <a:latin typeface="Cambria Math" panose="02040503050406030204" pitchFamily="18" charset="0"/>
                                          </a:rPr>
                                          <m:t>−</m:t>
                                        </m:r>
                                        <m:f>
                                          <m:fPr>
                                            <m:ctrlPr>
                                              <a:rPr lang="en-US" sz="2700" i="1" smtClean="0">
                                                <a:latin typeface="Cambria Math" panose="02040503050406030204" pitchFamily="18" charset="0"/>
                                              </a:rPr>
                                            </m:ctrlPr>
                                          </m:fPr>
                                          <m:num>
                                            <m:r>
                                              <a:rPr lang="en-US" sz="2700" smtClean="0">
                                                <a:latin typeface="Cambria Math" panose="02040503050406030204" pitchFamily="18" charset="0"/>
                                              </a:rPr>
                                              <m:t>1</m:t>
                                            </m:r>
                                          </m:num>
                                          <m:den>
                                            <m:r>
                                              <a:rPr lang="en-US" sz="2700" smtClean="0">
                                                <a:latin typeface="Cambria Math" panose="02040503050406030204" pitchFamily="18" charset="0"/>
                                              </a:rPr>
                                              <m:t>2</m:t>
                                            </m:r>
                                          </m:den>
                                        </m:f>
                                        <m:sSup>
                                          <m:sSupPr>
                                            <m:ctrlPr>
                                              <a:rPr lang="en-US" sz="2700" b="0" i="1" smtClean="0">
                                                <a:latin typeface="Cambria Math" panose="02040503050406030204" pitchFamily="18" charset="0"/>
                                              </a:rPr>
                                            </m:ctrlPr>
                                          </m:sSupPr>
                                          <m:e>
                                            <m:r>
                                              <a:rPr lang="en-US" sz="2700" b="0" i="1" smtClean="0">
                                                <a:latin typeface="Cambria Math" panose="02040503050406030204" pitchFamily="18" charset="0"/>
                                              </a:rPr>
                                              <m:t>𝑧</m:t>
                                            </m:r>
                                          </m:e>
                                          <m:sup>
                                            <m:r>
                                              <a:rPr lang="en-US" sz="2700" b="0" i="1" smtClean="0">
                                                <a:latin typeface="Cambria Math" panose="02040503050406030204" pitchFamily="18" charset="0"/>
                                              </a:rPr>
                                              <m:t>2</m:t>
                                            </m:r>
                                          </m:sup>
                                        </m:sSup>
                                      </m:sup>
                                    </m:sSup>
                                    <m:r>
                                      <a:rPr lang="en-US" sz="2700" smtClean="0">
                                        <a:latin typeface="Cambria Math" panose="02040503050406030204" pitchFamily="18" charset="0"/>
                                      </a:rPr>
                                      <m:t>𝑑</m:t>
                                    </m:r>
                                    <m:r>
                                      <a:rPr lang="en-US" sz="2700" b="0" i="1" smtClean="0">
                                        <a:latin typeface="Cambria Math" panose="02040503050406030204" pitchFamily="18" charset="0"/>
                                      </a:rPr>
                                      <m:t>𝑧</m:t>
                                    </m:r>
                                  </m:e>
                                </m:nary>
                              </m:oMath>
                            </m:oMathPara>
                          </a14:m>
                          <a:endParaRPr lang="en-US" sz="2700" b="0" baseline="0" dirty="0"/>
                        </a:p>
                        <a:p>
                          <a:pPr marL="0" indent="0">
                            <a:buFont typeface="Arial" panose="020B0604020202020204" pitchFamily="34" charset="0"/>
                            <a:buNone/>
                          </a:pPr>
                          <a:r>
                            <a:rPr lang="en-US" sz="2700" b="0" baseline="0" dirty="0"/>
                            <a:t>Which means that </a:t>
                          </a:r>
                          <a14:m>
                            <m:oMath xmlns:m="http://schemas.openxmlformats.org/officeDocument/2006/math">
                              <m:r>
                                <a:rPr lang="en-US" sz="2700" b="0" i="1" baseline="0" smtClean="0">
                                  <a:latin typeface="Cambria Math" panose="02040503050406030204" pitchFamily="18" charset="0"/>
                                </a:rPr>
                                <m:t>𝑓</m:t>
                              </m:r>
                              <m:d>
                                <m:dPr>
                                  <m:ctrlPr>
                                    <a:rPr lang="en-US" sz="2700" i="1" baseline="0" smtClean="0">
                                      <a:latin typeface="Cambria Math" panose="02040503050406030204" pitchFamily="18" charset="0"/>
                                    </a:rPr>
                                  </m:ctrlPr>
                                </m:dPr>
                                <m:e>
                                  <m:acc>
                                    <m:accPr>
                                      <m:chr m:val="̃"/>
                                      <m:ctrlPr>
                                        <a:rPr lang="en-US" sz="2700" i="1" baseline="0" smtClean="0">
                                          <a:latin typeface="Cambria Math" panose="02040503050406030204" pitchFamily="18" charset="0"/>
                                        </a:rPr>
                                      </m:ctrlPr>
                                    </m:accPr>
                                    <m:e>
                                      <m:r>
                                        <a:rPr lang="en-US" sz="2700" baseline="0" smtClean="0">
                                          <a:latin typeface="Cambria Math" panose="02040503050406030204" pitchFamily="18" charset="0"/>
                                        </a:rPr>
                                        <m:t>𝑧</m:t>
                                      </m:r>
                                    </m:e>
                                  </m:acc>
                                </m:e>
                              </m:d>
                              <m:r>
                                <a:rPr lang="en-US" sz="2700" b="0" i="1" baseline="0" smtClean="0">
                                  <a:latin typeface="Cambria Math" panose="02040503050406030204" pitchFamily="18" charset="0"/>
                                </a:rPr>
                                <m:t>=</m:t>
                              </m:r>
                              <m:f>
                                <m:fPr>
                                  <m:ctrlPr>
                                    <a:rPr lang="en-US" sz="2700" i="1" smtClean="0">
                                      <a:latin typeface="Cambria Math" panose="02040503050406030204" pitchFamily="18" charset="0"/>
                                    </a:rPr>
                                  </m:ctrlPr>
                                </m:fPr>
                                <m:num>
                                  <m:r>
                                    <a:rPr lang="en-US" sz="2700" smtClean="0">
                                      <a:latin typeface="Cambria Math" panose="02040503050406030204" pitchFamily="18" charset="0"/>
                                    </a:rPr>
                                    <m:t>1</m:t>
                                  </m:r>
                                </m:num>
                                <m:den>
                                  <m:rad>
                                    <m:radPr>
                                      <m:degHide m:val="on"/>
                                      <m:ctrlPr>
                                        <a:rPr lang="en-US" sz="2700" i="1" smtClean="0">
                                          <a:latin typeface="Cambria Math" panose="02040503050406030204" pitchFamily="18" charset="0"/>
                                        </a:rPr>
                                      </m:ctrlPr>
                                    </m:radPr>
                                    <m:deg/>
                                    <m:e>
                                      <m:r>
                                        <a:rPr lang="en-US" sz="2700" smtClean="0">
                                          <a:latin typeface="Cambria Math" panose="02040503050406030204" pitchFamily="18" charset="0"/>
                                        </a:rPr>
                                        <m:t>2</m:t>
                                      </m:r>
                                      <m:r>
                                        <a:rPr lang="en-US" sz="2700" smtClean="0">
                                          <a:latin typeface="Cambria Math" panose="02040503050406030204" pitchFamily="18" charset="0"/>
                                        </a:rPr>
                                        <m:t>𝜋</m:t>
                                      </m:r>
                                    </m:e>
                                  </m:rad>
                                </m:den>
                              </m:f>
                              <m:sSup>
                                <m:sSupPr>
                                  <m:ctrlPr>
                                    <a:rPr lang="en-US" sz="2700" i="1" smtClean="0">
                                      <a:latin typeface="Cambria Math" panose="02040503050406030204" pitchFamily="18" charset="0"/>
                                    </a:rPr>
                                  </m:ctrlPr>
                                </m:sSupPr>
                                <m:e>
                                  <m:r>
                                    <a:rPr lang="en-US" sz="2700" smtClean="0">
                                      <a:latin typeface="Cambria Math" panose="02040503050406030204" pitchFamily="18" charset="0"/>
                                    </a:rPr>
                                    <m:t>𝑒</m:t>
                                  </m:r>
                                </m:e>
                                <m:sup>
                                  <m:r>
                                    <a:rPr lang="en-US" sz="2700" smtClean="0">
                                      <a:latin typeface="Cambria Math" panose="02040503050406030204" pitchFamily="18" charset="0"/>
                                    </a:rPr>
                                    <m:t>−</m:t>
                                  </m:r>
                                  <m:f>
                                    <m:fPr>
                                      <m:ctrlPr>
                                        <a:rPr lang="en-US" sz="2700" i="1" smtClean="0">
                                          <a:latin typeface="Cambria Math" panose="02040503050406030204" pitchFamily="18" charset="0"/>
                                        </a:rPr>
                                      </m:ctrlPr>
                                    </m:fPr>
                                    <m:num>
                                      <m:r>
                                        <a:rPr lang="en-US" sz="2700" smtClean="0">
                                          <a:latin typeface="Cambria Math" panose="02040503050406030204" pitchFamily="18" charset="0"/>
                                        </a:rPr>
                                        <m:t>1</m:t>
                                      </m:r>
                                    </m:num>
                                    <m:den>
                                      <m:r>
                                        <a:rPr lang="en-US" sz="2700" smtClean="0">
                                          <a:latin typeface="Cambria Math" panose="02040503050406030204" pitchFamily="18" charset="0"/>
                                        </a:rPr>
                                        <m:t>2</m:t>
                                      </m:r>
                                    </m:den>
                                  </m:f>
                                  <m:sSup>
                                    <m:sSupPr>
                                      <m:ctrlPr>
                                        <a:rPr lang="en-US" sz="2700" b="0" i="1" smtClean="0">
                                          <a:latin typeface="Cambria Math" panose="02040503050406030204" pitchFamily="18" charset="0"/>
                                        </a:rPr>
                                      </m:ctrlPr>
                                    </m:sSupPr>
                                    <m:e>
                                      <m:acc>
                                        <m:accPr>
                                          <m:chr m:val="̃"/>
                                          <m:ctrlPr>
                                            <a:rPr lang="en-US" sz="2700" b="0" i="1" smtClean="0">
                                              <a:latin typeface="Cambria Math" panose="02040503050406030204" pitchFamily="18" charset="0"/>
                                            </a:rPr>
                                          </m:ctrlPr>
                                        </m:accPr>
                                        <m:e>
                                          <m:r>
                                            <a:rPr lang="en-US" sz="2700" b="0" i="1" smtClean="0">
                                              <a:latin typeface="Cambria Math" panose="02040503050406030204" pitchFamily="18" charset="0"/>
                                            </a:rPr>
                                            <m:t>𝑧</m:t>
                                          </m:r>
                                        </m:e>
                                      </m:acc>
                                    </m:e>
                                    <m:sup>
                                      <m:r>
                                        <a:rPr lang="en-US" sz="2700" b="0" i="1" smtClean="0">
                                          <a:latin typeface="Cambria Math" panose="02040503050406030204" pitchFamily="18" charset="0"/>
                                        </a:rPr>
                                        <m:t>2</m:t>
                                      </m:r>
                                    </m:sup>
                                  </m:sSup>
                                </m:sup>
                              </m:sSup>
                            </m:oMath>
                          </a14:m>
                          <a:r>
                            <a:rPr lang="en-US" sz="2700" b="0" baseline="0" dirty="0">
                              <a:latin typeface="+mj-lt"/>
                            </a:rPr>
                            <a:t>, so </a:t>
                          </a:r>
                          <a14:m>
                            <m:oMath xmlns:m="http://schemas.openxmlformats.org/officeDocument/2006/math">
                              <m:r>
                                <a:rPr lang="en-US" sz="2700" baseline="0" dirty="0" smtClean="0">
                                  <a:latin typeface="Cambria Math" panose="02040503050406030204" pitchFamily="18" charset="0"/>
                                </a:rPr>
                                <m:t>𝑍</m:t>
                              </m:r>
                              <m:r>
                                <a:rPr lang="en-US" sz="2700" baseline="0" dirty="0" smtClean="0">
                                  <a:latin typeface="Cambria Math" panose="02040503050406030204" pitchFamily="18" charset="0"/>
                                </a:rPr>
                                <m:t>∼</m:t>
                              </m:r>
                              <m:r>
                                <a:rPr lang="en-US" sz="2700" baseline="0" dirty="0" smtClean="0">
                                  <a:latin typeface="Cambria Math" panose="02040503050406030204" pitchFamily="18" charset="0"/>
                                </a:rPr>
                                <m:t>𝑁</m:t>
                              </m:r>
                              <m:r>
                                <a:rPr lang="en-US" sz="2700" baseline="0" dirty="0" smtClean="0">
                                  <a:latin typeface="Cambria Math" panose="02040503050406030204" pitchFamily="18" charset="0"/>
                                </a:rPr>
                                <m:t>(0,1)</m:t>
                              </m:r>
                            </m:oMath>
                          </a14:m>
                          <a:r>
                            <a:rPr lang="en-US" sz="2700" dirty="0"/>
                            <a:t> </a:t>
                          </a:r>
                          <a14:m>
                            <m:oMath xmlns:m="http://schemas.openxmlformats.org/officeDocument/2006/math">
                              <m:r>
                                <a:rPr lang="en-US" sz="2700" dirty="0" smtClean="0">
                                  <a:latin typeface="Cambria Math" panose="02040503050406030204" pitchFamily="18" charset="0"/>
                                </a:rPr>
                                <m:t>∎</m:t>
                              </m:r>
                            </m:oMath>
                          </a14:m>
                          <a:endParaRPr lang="en-US" sz="2700" b="0" baseline="0" dirty="0"/>
                        </a:p>
                      </a:txBody>
                      <a:tcPr marL="121920" marR="121920" marT="60960" marB="60960"/>
                    </a:tc>
                    <a:extLst>
                      <a:ext uri="{0D108BD9-81ED-4DB2-BD59-A6C34878D82A}">
                        <a16:rowId xmlns:a16="http://schemas.microsoft.com/office/drawing/2014/main" val="2257841623"/>
                      </a:ext>
                    </a:extLst>
                  </a:tr>
                </a:tbl>
              </a:graphicData>
            </a:graphic>
          </p:graphicFrame>
        </mc:Choice>
        <mc:Fallback xmlns="">
          <p:graphicFrame>
            <p:nvGraphicFramePr>
              <p:cNvPr id="9" name="Content Placeholder 5"/>
              <p:cNvGraphicFramePr>
                <a:graphicFrameLocks/>
              </p:cNvGraphicFramePr>
              <p:nvPr/>
            </p:nvGraphicFramePr>
            <p:xfrm>
              <a:off x="480000" y="1347993"/>
              <a:ext cx="11101917" cy="4045966"/>
            </p:xfrm>
            <a:graphic>
              <a:graphicData uri="http://schemas.openxmlformats.org/drawingml/2006/table">
                <a:tbl>
                  <a:tblPr firstRow="1" bandRow="1">
                    <a:tableStyleId>{21E4AEA4-8DFA-4A89-87EB-49C32662AFE0}</a:tableStyleId>
                  </a:tblPr>
                  <a:tblGrid>
                    <a:gridCol w="11101917">
                      <a:extLst>
                        <a:ext uri="{9D8B030D-6E8A-4147-A177-3AD203B41FA5}">
                          <a16:colId xmlns:a16="http://schemas.microsoft.com/office/drawing/2014/main" val="2806566759"/>
                        </a:ext>
                      </a:extLst>
                    </a:gridCol>
                  </a:tblGrid>
                  <a:tr h="690880">
                    <a:tc>
                      <a:txBody>
                        <a:bodyPr/>
                        <a:lstStyle/>
                        <a:p>
                          <a:r>
                            <a:rPr lang="en-US" sz="3700" dirty="0"/>
                            <a:t>Theorem: Standard</a:t>
                          </a:r>
                          <a:r>
                            <a:rPr lang="en-US" sz="3700" baseline="0" dirty="0"/>
                            <a:t> </a:t>
                          </a:r>
                          <a:r>
                            <a:rPr lang="en-US" sz="3700" dirty="0"/>
                            <a:t>Normal Distribution</a:t>
                          </a:r>
                        </a:p>
                      </a:txBody>
                      <a:tcPr marL="121920" marR="121920" marT="60960" marB="60960"/>
                    </a:tc>
                    <a:extLst>
                      <a:ext uri="{0D108BD9-81ED-4DB2-BD59-A6C34878D82A}">
                        <a16:rowId xmlns:a16="http://schemas.microsoft.com/office/drawing/2014/main" val="4282699494"/>
                      </a:ext>
                    </a:extLst>
                  </a:tr>
                  <a:tr h="3355086">
                    <a:tc>
                      <a:txBody>
                        <a:bodyPr/>
                        <a:lstStyle/>
                        <a:p>
                          <a:endParaRPr lang="en-US"/>
                        </a:p>
                      </a:txBody>
                      <a:tcPr marL="121920" marR="121920" marT="60960" marB="60960">
                        <a:blipFill>
                          <a:blip r:embed="rId4"/>
                          <a:stretch>
                            <a:fillRect l="-114" t="-23019" r="-343" b="-52830"/>
                          </a:stretch>
                        </a:blipFill>
                      </a:tcPr>
                    </a:tc>
                    <a:extLst>
                      <a:ext uri="{0D108BD9-81ED-4DB2-BD59-A6C34878D82A}">
                        <a16:rowId xmlns:a16="http://schemas.microsoft.com/office/drawing/2014/main" val="2257841623"/>
                      </a:ext>
                    </a:extLst>
                  </a:tr>
                </a:tbl>
              </a:graphicData>
            </a:graphic>
          </p:graphicFrame>
        </mc:Fallback>
      </mc:AlternateContent>
      <mc:AlternateContent xmlns:mc="http://schemas.openxmlformats.org/markup-compatibility/2006" xmlns:a14="http://schemas.microsoft.com/office/drawing/2010/main">
        <mc:Choice Requires="a14">
          <p:sp>
            <p:nvSpPr>
              <p:cNvPr id="6" name="Rounded Rectangle 5"/>
              <p:cNvSpPr/>
              <p:nvPr/>
            </p:nvSpPr>
            <p:spPr>
              <a:xfrm>
                <a:off x="9434085" y="3807656"/>
                <a:ext cx="2567601" cy="766233"/>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sz="1867" i="1" smtClean="0">
                          <a:solidFill>
                            <a:schemeClr val="bg1"/>
                          </a:solidFill>
                          <a:latin typeface="Cambria Math" panose="02040503050406030204" pitchFamily="18" charset="0"/>
                          <a:ea typeface="Cambria Math" panose="02040503050406030204" pitchFamily="18" charset="0"/>
                        </a:rPr>
                        <m:t>𝑧</m:t>
                      </m:r>
                      <m:r>
                        <a:rPr lang="en-US" sz="1867" i="1" smtClean="0">
                          <a:solidFill>
                            <a:schemeClr val="bg1"/>
                          </a:solidFill>
                          <a:latin typeface="Cambria Math" panose="02040503050406030204" pitchFamily="18" charset="0"/>
                          <a:ea typeface="Cambria Math" panose="02040503050406030204" pitchFamily="18" charset="0"/>
                        </a:rPr>
                        <m:t>=</m:t>
                      </m:r>
                      <m:f>
                        <m:fPr>
                          <m:ctrlPr>
                            <a:rPr lang="en-US" sz="1867" i="1">
                              <a:solidFill>
                                <a:schemeClr val="bg1"/>
                              </a:solidFill>
                              <a:latin typeface="Cambria Math" panose="02040503050406030204" pitchFamily="18" charset="0"/>
                              <a:ea typeface="Cambria Math" panose="02040503050406030204" pitchFamily="18" charset="0"/>
                            </a:rPr>
                          </m:ctrlPr>
                        </m:fPr>
                        <m:num>
                          <m:r>
                            <a:rPr lang="en-US" sz="1867" i="1">
                              <a:solidFill>
                                <a:schemeClr val="bg1"/>
                              </a:solidFill>
                              <a:latin typeface="Cambria Math" panose="02040503050406030204" pitchFamily="18" charset="0"/>
                              <a:ea typeface="Cambria Math" panose="02040503050406030204" pitchFamily="18" charset="0"/>
                            </a:rPr>
                            <m:t>𝑥</m:t>
                          </m:r>
                          <m:r>
                            <a:rPr lang="en-US" sz="1867" b="0" i="1" smtClean="0">
                              <a:solidFill>
                                <a:schemeClr val="bg1"/>
                              </a:solidFill>
                              <a:latin typeface="Cambria Math" panose="02040503050406030204" pitchFamily="18" charset="0"/>
                              <a:ea typeface="Cambria Math" panose="02040503050406030204" pitchFamily="18" charset="0"/>
                            </a:rPr>
                            <m:t>−</m:t>
                          </m:r>
                          <m:r>
                            <a:rPr lang="en-US" sz="1867" i="1">
                              <a:solidFill>
                                <a:schemeClr val="bg1"/>
                              </a:solidFill>
                              <a:latin typeface="Cambria Math" panose="02040503050406030204" pitchFamily="18" charset="0"/>
                              <a:ea typeface="Cambria Math" panose="02040503050406030204" pitchFamily="18" charset="0"/>
                            </a:rPr>
                            <m:t>𝜇</m:t>
                          </m:r>
                        </m:num>
                        <m:den>
                          <m:r>
                            <a:rPr lang="en-US" sz="1867" i="1">
                              <a:solidFill>
                                <a:schemeClr val="bg1"/>
                              </a:solidFill>
                              <a:latin typeface="Cambria Math" panose="02040503050406030204" pitchFamily="18" charset="0"/>
                              <a:ea typeface="Cambria Math" panose="02040503050406030204" pitchFamily="18" charset="0"/>
                            </a:rPr>
                            <m:t>𝜎</m:t>
                          </m:r>
                        </m:den>
                      </m:f>
                      <m:r>
                        <a:rPr lang="en-US" sz="1867">
                          <a:solidFill>
                            <a:schemeClr val="bg1"/>
                          </a:solidFill>
                          <a:latin typeface="Cambria Math" panose="02040503050406030204" pitchFamily="18" charset="0"/>
                          <a:ea typeface="Cambria Math" panose="02040503050406030204" pitchFamily="18" charset="0"/>
                        </a:rPr>
                        <m:t>,</m:t>
                      </m:r>
                      <m:r>
                        <a:rPr lang="en-US" sz="1867" i="1">
                          <a:solidFill>
                            <a:schemeClr val="bg1"/>
                          </a:solidFill>
                          <a:latin typeface="Cambria Math" panose="02040503050406030204" pitchFamily="18" charset="0"/>
                          <a:ea typeface="Cambria Math" panose="02040503050406030204" pitchFamily="18" charset="0"/>
                        </a:rPr>
                        <m:t>𝑑𝑧</m:t>
                      </m:r>
                      <m:r>
                        <a:rPr lang="en-US" sz="1867" i="1">
                          <a:solidFill>
                            <a:schemeClr val="bg1"/>
                          </a:solidFill>
                          <a:latin typeface="Cambria Math" panose="02040503050406030204" pitchFamily="18" charset="0"/>
                          <a:ea typeface="Cambria Math" panose="02040503050406030204" pitchFamily="18" charset="0"/>
                        </a:rPr>
                        <m:t>=</m:t>
                      </m:r>
                      <m:f>
                        <m:fPr>
                          <m:ctrlPr>
                            <a:rPr lang="en-US" sz="1867" i="1">
                              <a:solidFill>
                                <a:schemeClr val="bg1"/>
                              </a:solidFill>
                              <a:latin typeface="Cambria Math" panose="02040503050406030204" pitchFamily="18" charset="0"/>
                              <a:ea typeface="Cambria Math" panose="02040503050406030204" pitchFamily="18" charset="0"/>
                            </a:rPr>
                          </m:ctrlPr>
                        </m:fPr>
                        <m:num>
                          <m:r>
                            <a:rPr lang="en-US" sz="1867" i="1">
                              <a:solidFill>
                                <a:schemeClr val="bg1"/>
                              </a:solidFill>
                              <a:latin typeface="Cambria Math" panose="02040503050406030204" pitchFamily="18" charset="0"/>
                              <a:ea typeface="Cambria Math" panose="02040503050406030204" pitchFamily="18" charset="0"/>
                            </a:rPr>
                            <m:t>1</m:t>
                          </m:r>
                        </m:num>
                        <m:den>
                          <m:r>
                            <a:rPr lang="en-US" sz="1867" i="1">
                              <a:solidFill>
                                <a:schemeClr val="bg1"/>
                              </a:solidFill>
                              <a:latin typeface="Cambria Math" panose="02040503050406030204" pitchFamily="18" charset="0"/>
                              <a:ea typeface="Cambria Math" panose="02040503050406030204" pitchFamily="18" charset="0"/>
                            </a:rPr>
                            <m:t>𝜎</m:t>
                          </m:r>
                        </m:den>
                      </m:f>
                      <m:r>
                        <a:rPr lang="en-US" sz="1867" i="1">
                          <a:solidFill>
                            <a:schemeClr val="bg1"/>
                          </a:solidFill>
                          <a:latin typeface="Cambria Math" panose="02040503050406030204" pitchFamily="18" charset="0"/>
                          <a:ea typeface="Cambria Math" panose="02040503050406030204" pitchFamily="18" charset="0"/>
                        </a:rPr>
                        <m:t>𝑑𝑥</m:t>
                      </m:r>
                    </m:oMath>
                  </m:oMathPara>
                </a14:m>
                <a:endParaRPr lang="en-US" sz="3733" i="1" dirty="0">
                  <a:solidFill>
                    <a:schemeClr val="bg1"/>
                  </a:solidFill>
                </a:endParaRPr>
              </a:p>
            </p:txBody>
          </p:sp>
        </mc:Choice>
        <mc:Fallback xmlns="">
          <p:sp>
            <p:nvSpPr>
              <p:cNvPr id="6" name="Rounded Rectangle 5"/>
              <p:cNvSpPr>
                <a:spLocks noRot="1" noChangeAspect="1" noMove="1" noResize="1" noEditPoints="1" noAdjustHandles="1" noChangeArrowheads="1" noChangeShapeType="1" noTextEdit="1"/>
              </p:cNvSpPr>
              <p:nvPr/>
            </p:nvSpPr>
            <p:spPr>
              <a:xfrm>
                <a:off x="9434085" y="3807656"/>
                <a:ext cx="2567601" cy="766233"/>
              </a:xfrm>
              <a:prstGeom prst="roundRect">
                <a:avLst/>
              </a:prstGeom>
              <a:blipFill>
                <a:blip r:embed="rId5"/>
                <a:stretch>
                  <a:fillRect/>
                </a:stretch>
              </a:blipFill>
            </p:spPr>
            <p:txBody>
              <a:bodyPr/>
              <a:lstStyle/>
              <a:p>
                <a:r>
                  <a:rPr lang="en-US">
                    <a:noFill/>
                  </a:rPr>
                  <a:t> </a:t>
                </a:r>
              </a:p>
            </p:txBody>
          </p:sp>
        </mc:Fallback>
      </mc:AlternateContent>
      <p:sp>
        <p:nvSpPr>
          <p:cNvPr id="12" name="Rectangle 11"/>
          <p:cNvSpPr/>
          <p:nvPr/>
        </p:nvSpPr>
        <p:spPr>
          <a:xfrm>
            <a:off x="9855199" y="2703499"/>
            <a:ext cx="1215724" cy="431804"/>
          </a:xfrm>
          <a:prstGeom prst="rect">
            <a:avLst/>
          </a:prstGeom>
          <a:solidFill>
            <a:srgbClr val="CBE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 name="TextBox 1">
            <a:extLst>
              <a:ext uri="{FF2B5EF4-FFF2-40B4-BE49-F238E27FC236}">
                <a16:creationId xmlns:a16="http://schemas.microsoft.com/office/drawing/2014/main" id="{BDEC2268-234A-411E-E78C-9506E4BF21FC}"/>
              </a:ext>
            </a:extLst>
          </p:cNvPr>
          <p:cNvSpPr txBox="1"/>
          <p:nvPr/>
        </p:nvSpPr>
        <p:spPr>
          <a:xfrm>
            <a:off x="975111" y="5696980"/>
            <a:ext cx="10241778" cy="369332"/>
          </a:xfrm>
          <a:prstGeom prst="rect">
            <a:avLst/>
          </a:prstGeom>
          <a:noFill/>
        </p:spPr>
        <p:txBody>
          <a:bodyPr wrap="none" rtlCol="0">
            <a:spAutoFit/>
          </a:bodyPr>
          <a:lstStyle/>
          <a:p>
            <a:r>
              <a:rPr lang="en-NL" b="1" i="1" dirty="0">
                <a:latin typeface="Cambria Math" panose="02040503050406030204" pitchFamily="18" charset="0"/>
                <a:ea typeface="Cambria Math" panose="02040503050406030204" pitchFamily="18" charset="0"/>
              </a:rPr>
              <a:t>Take-away: </a:t>
            </a:r>
            <a:r>
              <a:rPr lang="en-NL" i="1" dirty="0">
                <a:latin typeface="Cambria Math" panose="02040503050406030204" pitchFamily="18" charset="0"/>
                <a:ea typeface="Cambria Math" panose="02040503050406030204" pitchFamily="18" charset="0"/>
              </a:rPr>
              <a:t>any normal distribution can be standardized into the standard normal (mean=0, stdev=1)</a:t>
            </a:r>
          </a:p>
        </p:txBody>
      </p:sp>
    </p:spTree>
    <p:extLst>
      <p:ext uri="{BB962C8B-B14F-4D97-AF65-F5344CB8AC3E}">
        <p14:creationId xmlns:p14="http://schemas.microsoft.com/office/powerpoint/2010/main" val="2118184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B014B-4487-05BD-AD67-E8C08F3644B6}"/>
              </a:ext>
            </a:extLst>
          </p:cNvPr>
          <p:cNvSpPr>
            <a:spLocks noGrp="1"/>
          </p:cNvSpPr>
          <p:nvPr>
            <p:ph type="title"/>
          </p:nvPr>
        </p:nvSpPr>
        <p:spPr/>
        <p:txBody>
          <a:bodyPr/>
          <a:lstStyle/>
          <a:p>
            <a:r>
              <a:rPr lang="en-US" sz="4400" dirty="0"/>
              <a:t>Standard Normal Distribution</a:t>
            </a:r>
            <a:endParaRPr lang="en-NL" dirty="0"/>
          </a:p>
        </p:txBody>
      </p:sp>
      <p:sp>
        <p:nvSpPr>
          <p:cNvPr id="3" name="Content Placeholder 2">
            <a:extLst>
              <a:ext uri="{FF2B5EF4-FFF2-40B4-BE49-F238E27FC236}">
                <a16:creationId xmlns:a16="http://schemas.microsoft.com/office/drawing/2014/main" id="{2BB07DCF-3217-AAC2-EEB3-F5BBDB1C4065}"/>
              </a:ext>
            </a:extLst>
          </p:cNvPr>
          <p:cNvSpPr>
            <a:spLocks noGrp="1"/>
          </p:cNvSpPr>
          <p:nvPr>
            <p:ph idx="1"/>
          </p:nvPr>
        </p:nvSpPr>
        <p:spPr/>
        <p:txBody>
          <a:bodyPr/>
          <a:lstStyle/>
          <a:p>
            <a:r>
              <a:rPr lang="en-NL" dirty="0"/>
              <a:t>We can map real-world situations onto this </a:t>
            </a:r>
            <a:r>
              <a:rPr lang="en-NL" b="1" dirty="0"/>
              <a:t>universal template</a:t>
            </a:r>
          </a:p>
          <a:p>
            <a:r>
              <a:rPr lang="en-NL" b="1" dirty="0"/>
              <a:t>AUC</a:t>
            </a:r>
            <a:r>
              <a:rPr lang="en-NL" dirty="0"/>
              <a:t> does not change when shifting or rescaling </a:t>
            </a:r>
          </a:p>
          <a:p>
            <a:r>
              <a:rPr lang="en-NL" dirty="0"/>
              <a:t>We only need a single </a:t>
            </a:r>
            <a:r>
              <a:rPr lang="en-NL" b="1" dirty="0"/>
              <a:t>Z-table</a:t>
            </a:r>
          </a:p>
        </p:txBody>
      </p:sp>
      <p:sp>
        <p:nvSpPr>
          <p:cNvPr id="4" name="TextBox 3">
            <a:extLst>
              <a:ext uri="{FF2B5EF4-FFF2-40B4-BE49-F238E27FC236}">
                <a16:creationId xmlns:a16="http://schemas.microsoft.com/office/drawing/2014/main" id="{D44E2048-5D69-AAF6-5C2C-2ED05738203B}"/>
              </a:ext>
            </a:extLst>
          </p:cNvPr>
          <p:cNvSpPr txBox="1"/>
          <p:nvPr/>
        </p:nvSpPr>
        <p:spPr>
          <a:xfrm>
            <a:off x="682315" y="4666211"/>
            <a:ext cx="9517414" cy="1200329"/>
          </a:xfrm>
          <a:prstGeom prst="rect">
            <a:avLst/>
          </a:prstGeom>
          <a:noFill/>
        </p:spPr>
        <p:txBody>
          <a:bodyPr wrap="none" rtlCol="0">
            <a:spAutoFit/>
          </a:bodyPr>
          <a:lstStyle/>
          <a:p>
            <a:r>
              <a:rPr lang="en-NL" sz="2400" dirty="0"/>
              <a:t>All thanks to ‘</a:t>
            </a:r>
            <a:r>
              <a:rPr lang="en-NL" sz="2400" i="1" dirty="0"/>
              <a:t>z-scoring</a:t>
            </a:r>
            <a:r>
              <a:rPr lang="en-NL" sz="2400" dirty="0"/>
              <a:t>’ our data. </a:t>
            </a:r>
          </a:p>
          <a:p>
            <a:pPr marL="342900" indent="-342900">
              <a:buAutoNum type="arabicParenR"/>
            </a:pPr>
            <a:r>
              <a:rPr lang="en-GB" sz="2400" dirty="0"/>
              <a:t>S</a:t>
            </a:r>
            <a:r>
              <a:rPr lang="en-NL" sz="2400" dirty="0"/>
              <a:t>ubstract mean (centering the data)</a:t>
            </a:r>
          </a:p>
          <a:p>
            <a:pPr marL="342900" indent="-342900">
              <a:buAutoNum type="arabicParenR"/>
            </a:pPr>
            <a:r>
              <a:rPr lang="en-GB" sz="2400" dirty="0"/>
              <a:t>D</a:t>
            </a:r>
            <a:r>
              <a:rPr lang="en-NL" sz="2400" dirty="0"/>
              <a:t>ivide by standard deviation (scaling the curve using standardized units)</a:t>
            </a:r>
          </a:p>
        </p:txBody>
      </p:sp>
      <mc:AlternateContent xmlns:mc="http://schemas.openxmlformats.org/markup-compatibility/2006">
        <mc:Choice xmlns:a14="http://schemas.microsoft.com/office/drawing/2010/main" Requires="a14">
          <p:sp>
            <p:nvSpPr>
              <p:cNvPr id="5" name="Rounded Rectangle 4">
                <a:extLst>
                  <a:ext uri="{FF2B5EF4-FFF2-40B4-BE49-F238E27FC236}">
                    <a16:creationId xmlns:a16="http://schemas.microsoft.com/office/drawing/2014/main" id="{16BE63E3-FA25-923A-A41E-D733335E814F}"/>
                  </a:ext>
                </a:extLst>
              </p:cNvPr>
              <p:cNvSpPr/>
              <p:nvPr/>
            </p:nvSpPr>
            <p:spPr>
              <a:xfrm>
                <a:off x="8551982" y="4240438"/>
                <a:ext cx="3160017" cy="102593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14:m>
                  <m:oMathPara xmlns:m="http://schemas.openxmlformats.org/officeDocument/2006/math">
                    <m:oMathParaPr>
                      <m:jc m:val="centerGroup"/>
                    </m:oMathParaPr>
                    <m:oMath xmlns:m="http://schemas.openxmlformats.org/officeDocument/2006/math">
                      <m:r>
                        <a:rPr lang="en-US" sz="3200" i="1" smtClean="0">
                          <a:solidFill>
                            <a:schemeClr val="tx1"/>
                          </a:solidFill>
                          <a:latin typeface="Cambria Math" panose="02040503050406030204" pitchFamily="18" charset="0"/>
                          <a:ea typeface="Cambria Math" panose="02040503050406030204" pitchFamily="18" charset="0"/>
                        </a:rPr>
                        <m:t>𝑧</m:t>
                      </m:r>
                      <m:r>
                        <a:rPr lang="en-US" sz="3200" i="1" smtClean="0">
                          <a:solidFill>
                            <a:schemeClr val="tx1"/>
                          </a:solidFill>
                          <a:latin typeface="Cambria Math" panose="02040503050406030204" pitchFamily="18" charset="0"/>
                          <a:ea typeface="Cambria Math" panose="02040503050406030204" pitchFamily="18" charset="0"/>
                        </a:rPr>
                        <m:t>=</m:t>
                      </m:r>
                      <m:f>
                        <m:fPr>
                          <m:ctrlPr>
                            <a:rPr lang="en-US" sz="3200" i="1">
                              <a:solidFill>
                                <a:schemeClr val="tx1"/>
                              </a:solidFill>
                              <a:latin typeface="Cambria Math" panose="02040503050406030204" pitchFamily="18" charset="0"/>
                              <a:ea typeface="Cambria Math" panose="02040503050406030204" pitchFamily="18" charset="0"/>
                            </a:rPr>
                          </m:ctrlPr>
                        </m:fPr>
                        <m:num>
                          <m:r>
                            <a:rPr lang="en-US" sz="3200" i="1">
                              <a:solidFill>
                                <a:schemeClr val="tx1"/>
                              </a:solidFill>
                              <a:latin typeface="Cambria Math" panose="02040503050406030204" pitchFamily="18" charset="0"/>
                              <a:ea typeface="Cambria Math" panose="02040503050406030204" pitchFamily="18" charset="0"/>
                            </a:rPr>
                            <m:t>𝑥</m:t>
                          </m:r>
                          <m:r>
                            <a:rPr lang="en-US" sz="3200" b="0" i="1" smtClean="0">
                              <a:solidFill>
                                <a:schemeClr val="tx1"/>
                              </a:solidFill>
                              <a:latin typeface="Cambria Math" panose="02040503050406030204" pitchFamily="18" charset="0"/>
                              <a:ea typeface="Cambria Math" panose="02040503050406030204" pitchFamily="18" charset="0"/>
                            </a:rPr>
                            <m:t>−</m:t>
                          </m:r>
                          <m:r>
                            <a:rPr lang="en-US" sz="3200" i="1">
                              <a:solidFill>
                                <a:schemeClr val="tx1"/>
                              </a:solidFill>
                              <a:latin typeface="Cambria Math" panose="02040503050406030204" pitchFamily="18" charset="0"/>
                              <a:ea typeface="Cambria Math" panose="02040503050406030204" pitchFamily="18" charset="0"/>
                            </a:rPr>
                            <m:t>𝜇</m:t>
                          </m:r>
                        </m:num>
                        <m:den>
                          <m:r>
                            <a:rPr lang="en-US" sz="3200" i="1">
                              <a:solidFill>
                                <a:schemeClr val="tx1"/>
                              </a:solidFill>
                              <a:latin typeface="Cambria Math" panose="02040503050406030204" pitchFamily="18" charset="0"/>
                              <a:ea typeface="Cambria Math" panose="02040503050406030204" pitchFamily="18" charset="0"/>
                            </a:rPr>
                            <m:t>𝜎</m:t>
                          </m:r>
                        </m:den>
                      </m:f>
                      <m:r>
                        <a:rPr lang="en-US" sz="3200">
                          <a:solidFill>
                            <a:schemeClr val="tx1"/>
                          </a:solidFill>
                          <a:latin typeface="Cambria Math" panose="02040503050406030204" pitchFamily="18" charset="0"/>
                          <a:ea typeface="Cambria Math" panose="02040503050406030204" pitchFamily="18" charset="0"/>
                        </a:rPr>
                        <m:t>,</m:t>
                      </m:r>
                    </m:oMath>
                  </m:oMathPara>
                </a14:m>
                <a:endParaRPr lang="en-US" sz="5400" i="1" dirty="0">
                  <a:solidFill>
                    <a:schemeClr val="tx1"/>
                  </a:solidFill>
                </a:endParaRPr>
              </a:p>
            </p:txBody>
          </p:sp>
        </mc:Choice>
        <mc:Fallback>
          <p:sp>
            <p:nvSpPr>
              <p:cNvPr id="5" name="Rounded Rectangle 4">
                <a:extLst>
                  <a:ext uri="{FF2B5EF4-FFF2-40B4-BE49-F238E27FC236}">
                    <a16:creationId xmlns:a16="http://schemas.microsoft.com/office/drawing/2014/main" id="{16BE63E3-FA25-923A-A41E-D733335E814F}"/>
                  </a:ext>
                </a:extLst>
              </p:cNvPr>
              <p:cNvSpPr>
                <a:spLocks noRot="1" noChangeAspect="1" noMove="1" noResize="1" noEditPoints="1" noAdjustHandles="1" noChangeArrowheads="1" noChangeShapeType="1" noTextEdit="1"/>
              </p:cNvSpPr>
              <p:nvPr/>
            </p:nvSpPr>
            <p:spPr>
              <a:xfrm>
                <a:off x="8551982" y="4240438"/>
                <a:ext cx="3160017" cy="1025938"/>
              </a:xfrm>
              <a:prstGeom prst="roundRect">
                <a:avLst/>
              </a:prstGeom>
              <a:blipFill>
                <a:blip r:embed="rId3"/>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23647613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00A1F-D801-5774-469C-84D2D77E55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12CCD2-06C4-470C-D8B2-0B5F6619C916}"/>
              </a:ext>
            </a:extLst>
          </p:cNvPr>
          <p:cNvSpPr>
            <a:spLocks noGrp="1"/>
          </p:cNvSpPr>
          <p:nvPr>
            <p:ph type="title"/>
          </p:nvPr>
        </p:nvSpPr>
        <p:spPr/>
        <p:txBody>
          <a:bodyPr/>
          <a:lstStyle/>
          <a:p>
            <a:r>
              <a:rPr lang="en-US" sz="4400" dirty="0"/>
              <a:t>Standard Normal Distribution</a:t>
            </a:r>
            <a:endParaRPr lang="en-NL" dirty="0"/>
          </a:p>
        </p:txBody>
      </p:sp>
      <p:sp>
        <p:nvSpPr>
          <p:cNvPr id="3" name="Content Placeholder 2">
            <a:extLst>
              <a:ext uri="{FF2B5EF4-FFF2-40B4-BE49-F238E27FC236}">
                <a16:creationId xmlns:a16="http://schemas.microsoft.com/office/drawing/2014/main" id="{120C416C-F68B-4499-C8E7-DE67DC1370D8}"/>
              </a:ext>
            </a:extLst>
          </p:cNvPr>
          <p:cNvSpPr>
            <a:spLocks noGrp="1"/>
          </p:cNvSpPr>
          <p:nvPr>
            <p:ph idx="1"/>
          </p:nvPr>
        </p:nvSpPr>
        <p:spPr/>
        <p:txBody>
          <a:bodyPr/>
          <a:lstStyle/>
          <a:p>
            <a:r>
              <a:rPr lang="en-NL" dirty="0"/>
              <a:t>We can map real-world situations onto this </a:t>
            </a:r>
            <a:r>
              <a:rPr lang="en-NL" b="1" dirty="0"/>
              <a:t>universal template</a:t>
            </a:r>
          </a:p>
          <a:p>
            <a:r>
              <a:rPr lang="en-NL" b="1" dirty="0"/>
              <a:t>AUC</a:t>
            </a:r>
            <a:r>
              <a:rPr lang="en-NL" dirty="0"/>
              <a:t> does not change when shifting or rescaling </a:t>
            </a:r>
          </a:p>
          <a:p>
            <a:r>
              <a:rPr lang="en-NL" dirty="0"/>
              <a:t>We only need a single </a:t>
            </a:r>
            <a:r>
              <a:rPr lang="en-NL" b="1" dirty="0"/>
              <a:t>Z-table</a:t>
            </a:r>
          </a:p>
        </p:txBody>
      </p:sp>
      <p:sp>
        <p:nvSpPr>
          <p:cNvPr id="4" name="TextBox 3">
            <a:extLst>
              <a:ext uri="{FF2B5EF4-FFF2-40B4-BE49-F238E27FC236}">
                <a16:creationId xmlns:a16="http://schemas.microsoft.com/office/drawing/2014/main" id="{A11FDAFD-A9CB-94AA-5FC3-2DD1C19FF27F}"/>
              </a:ext>
            </a:extLst>
          </p:cNvPr>
          <p:cNvSpPr txBox="1"/>
          <p:nvPr/>
        </p:nvSpPr>
        <p:spPr>
          <a:xfrm>
            <a:off x="879676" y="4548850"/>
            <a:ext cx="9905404" cy="1200329"/>
          </a:xfrm>
          <a:prstGeom prst="rect">
            <a:avLst/>
          </a:prstGeom>
          <a:noFill/>
        </p:spPr>
        <p:txBody>
          <a:bodyPr wrap="none" rtlCol="0">
            <a:spAutoFit/>
          </a:bodyPr>
          <a:lstStyle/>
          <a:p>
            <a:r>
              <a:rPr lang="en-NL" sz="3600" b="1" dirty="0"/>
              <a:t>Z-scores</a:t>
            </a:r>
            <a:r>
              <a:rPr lang="en-NL" sz="3600" dirty="0"/>
              <a:t>: “coordinates” on our universal template</a:t>
            </a:r>
          </a:p>
          <a:p>
            <a:r>
              <a:rPr lang="en-NL" sz="3600" b="1" dirty="0"/>
              <a:t>‘How many standard deviations away from mean?’</a:t>
            </a:r>
          </a:p>
        </p:txBody>
      </p:sp>
      <p:cxnSp>
        <p:nvCxnSpPr>
          <p:cNvPr id="6" name="Straight Arrow Connector 5">
            <a:extLst>
              <a:ext uri="{FF2B5EF4-FFF2-40B4-BE49-F238E27FC236}">
                <a16:creationId xmlns:a16="http://schemas.microsoft.com/office/drawing/2014/main" id="{731CD604-E39D-429E-FDEE-CDC56BA03164}"/>
              </a:ext>
            </a:extLst>
          </p:cNvPr>
          <p:cNvCxnSpPr/>
          <p:nvPr/>
        </p:nvCxnSpPr>
        <p:spPr>
          <a:xfrm flipH="1">
            <a:off x="1759352" y="3946967"/>
            <a:ext cx="4815068" cy="7176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7" name="Rounded Rectangle 6">
                <a:extLst>
                  <a:ext uri="{FF2B5EF4-FFF2-40B4-BE49-F238E27FC236}">
                    <a16:creationId xmlns:a16="http://schemas.microsoft.com/office/drawing/2014/main" id="{4F95C113-A712-C5EE-B82D-D3C9DC943CF2}"/>
                  </a:ext>
                </a:extLst>
              </p:cNvPr>
              <p:cNvSpPr/>
              <p:nvPr/>
            </p:nvSpPr>
            <p:spPr>
              <a:xfrm>
                <a:off x="8551982" y="175687"/>
                <a:ext cx="3160017" cy="102593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14:m>
                  <m:oMathPara xmlns:m="http://schemas.openxmlformats.org/officeDocument/2006/math">
                    <m:oMathParaPr>
                      <m:jc m:val="centerGroup"/>
                    </m:oMathParaPr>
                    <m:oMath xmlns:m="http://schemas.openxmlformats.org/officeDocument/2006/math">
                      <m:r>
                        <a:rPr lang="en-US" sz="3200" i="1" smtClean="0">
                          <a:solidFill>
                            <a:schemeClr val="tx1"/>
                          </a:solidFill>
                          <a:latin typeface="Cambria Math" panose="02040503050406030204" pitchFamily="18" charset="0"/>
                          <a:ea typeface="Cambria Math" panose="02040503050406030204" pitchFamily="18" charset="0"/>
                        </a:rPr>
                        <m:t>𝑧</m:t>
                      </m:r>
                      <m:r>
                        <a:rPr lang="en-US" sz="3200" i="1" smtClean="0">
                          <a:solidFill>
                            <a:schemeClr val="tx1"/>
                          </a:solidFill>
                          <a:latin typeface="Cambria Math" panose="02040503050406030204" pitchFamily="18" charset="0"/>
                          <a:ea typeface="Cambria Math" panose="02040503050406030204" pitchFamily="18" charset="0"/>
                        </a:rPr>
                        <m:t>=</m:t>
                      </m:r>
                      <m:f>
                        <m:fPr>
                          <m:ctrlPr>
                            <a:rPr lang="en-US" sz="3200" i="1">
                              <a:solidFill>
                                <a:schemeClr val="tx1"/>
                              </a:solidFill>
                              <a:latin typeface="Cambria Math" panose="02040503050406030204" pitchFamily="18" charset="0"/>
                              <a:ea typeface="Cambria Math" panose="02040503050406030204" pitchFamily="18" charset="0"/>
                            </a:rPr>
                          </m:ctrlPr>
                        </m:fPr>
                        <m:num>
                          <m:r>
                            <a:rPr lang="en-US" sz="3200" i="1">
                              <a:solidFill>
                                <a:schemeClr val="tx1"/>
                              </a:solidFill>
                              <a:latin typeface="Cambria Math" panose="02040503050406030204" pitchFamily="18" charset="0"/>
                              <a:ea typeface="Cambria Math" panose="02040503050406030204" pitchFamily="18" charset="0"/>
                            </a:rPr>
                            <m:t>𝑥</m:t>
                          </m:r>
                          <m:r>
                            <a:rPr lang="en-US" sz="3200" b="0" i="1" smtClean="0">
                              <a:solidFill>
                                <a:schemeClr val="tx1"/>
                              </a:solidFill>
                              <a:latin typeface="Cambria Math" panose="02040503050406030204" pitchFamily="18" charset="0"/>
                              <a:ea typeface="Cambria Math" panose="02040503050406030204" pitchFamily="18" charset="0"/>
                            </a:rPr>
                            <m:t>−</m:t>
                          </m:r>
                          <m:r>
                            <a:rPr lang="en-US" sz="3200" i="1">
                              <a:solidFill>
                                <a:schemeClr val="tx1"/>
                              </a:solidFill>
                              <a:latin typeface="Cambria Math" panose="02040503050406030204" pitchFamily="18" charset="0"/>
                              <a:ea typeface="Cambria Math" panose="02040503050406030204" pitchFamily="18" charset="0"/>
                            </a:rPr>
                            <m:t>𝜇</m:t>
                          </m:r>
                        </m:num>
                        <m:den>
                          <m:r>
                            <a:rPr lang="en-US" sz="3200" i="1">
                              <a:solidFill>
                                <a:schemeClr val="tx1"/>
                              </a:solidFill>
                              <a:latin typeface="Cambria Math" panose="02040503050406030204" pitchFamily="18" charset="0"/>
                              <a:ea typeface="Cambria Math" panose="02040503050406030204" pitchFamily="18" charset="0"/>
                            </a:rPr>
                            <m:t>𝜎</m:t>
                          </m:r>
                        </m:den>
                      </m:f>
                      <m:r>
                        <a:rPr lang="en-US" sz="3200">
                          <a:solidFill>
                            <a:schemeClr val="tx1"/>
                          </a:solidFill>
                          <a:latin typeface="Cambria Math" panose="02040503050406030204" pitchFamily="18" charset="0"/>
                          <a:ea typeface="Cambria Math" panose="02040503050406030204" pitchFamily="18" charset="0"/>
                        </a:rPr>
                        <m:t>,</m:t>
                      </m:r>
                    </m:oMath>
                  </m:oMathPara>
                </a14:m>
                <a:endParaRPr lang="en-US" sz="5400" i="1" dirty="0">
                  <a:solidFill>
                    <a:schemeClr val="tx1"/>
                  </a:solidFill>
                </a:endParaRPr>
              </a:p>
            </p:txBody>
          </p:sp>
        </mc:Choice>
        <mc:Fallback>
          <p:sp>
            <p:nvSpPr>
              <p:cNvPr id="7" name="Rounded Rectangle 6">
                <a:extLst>
                  <a:ext uri="{FF2B5EF4-FFF2-40B4-BE49-F238E27FC236}">
                    <a16:creationId xmlns:a16="http://schemas.microsoft.com/office/drawing/2014/main" id="{4F95C113-A712-C5EE-B82D-D3C9DC943CF2}"/>
                  </a:ext>
                </a:extLst>
              </p:cNvPr>
              <p:cNvSpPr>
                <a:spLocks noRot="1" noChangeAspect="1" noMove="1" noResize="1" noEditPoints="1" noAdjustHandles="1" noChangeArrowheads="1" noChangeShapeType="1" noTextEdit="1"/>
              </p:cNvSpPr>
              <p:nvPr/>
            </p:nvSpPr>
            <p:spPr>
              <a:xfrm>
                <a:off x="8551982" y="175687"/>
                <a:ext cx="3160017" cy="1025938"/>
              </a:xfrm>
              <a:prstGeom prst="roundRect">
                <a:avLst/>
              </a:prstGeom>
              <a:blipFill>
                <a:blip r:embed="rId3"/>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29397349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FE703-3DA7-4DC1-DBFF-35CBFEAA7E6C}"/>
              </a:ext>
            </a:extLst>
          </p:cNvPr>
          <p:cNvSpPr>
            <a:spLocks noGrp="1"/>
          </p:cNvSpPr>
          <p:nvPr>
            <p:ph type="title"/>
          </p:nvPr>
        </p:nvSpPr>
        <p:spPr/>
        <p:txBody>
          <a:bodyPr>
            <a:normAutofit fontScale="90000"/>
          </a:bodyPr>
          <a:lstStyle/>
          <a:p>
            <a:r>
              <a:rPr lang="en-NL" sz="4400" dirty="0"/>
              <a:t>‘How many standard deviations away from mean?’</a:t>
            </a:r>
          </a:p>
        </p:txBody>
      </p:sp>
      <mc:AlternateContent xmlns:mc="http://schemas.openxmlformats.org/markup-compatibility/2006">
        <mc:Choice xmlns:a14="http://schemas.microsoft.com/office/drawing/2010/main" Requires="a14">
          <p:sp>
            <p:nvSpPr>
              <p:cNvPr id="4" name="Rounded Rectangle 3">
                <a:extLst>
                  <a:ext uri="{FF2B5EF4-FFF2-40B4-BE49-F238E27FC236}">
                    <a16:creationId xmlns:a16="http://schemas.microsoft.com/office/drawing/2014/main" id="{BDC2C6DD-3DBA-A62E-7FE7-CCB6DA302E8F}"/>
                  </a:ext>
                </a:extLst>
              </p:cNvPr>
              <p:cNvSpPr/>
              <p:nvPr/>
            </p:nvSpPr>
            <p:spPr>
              <a:xfrm>
                <a:off x="8457107" y="1170260"/>
                <a:ext cx="3160017" cy="102593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14:m>
                  <m:oMathPara xmlns:m="http://schemas.openxmlformats.org/officeDocument/2006/math">
                    <m:oMathParaPr>
                      <m:jc m:val="centerGroup"/>
                    </m:oMathParaPr>
                    <m:oMath xmlns:m="http://schemas.openxmlformats.org/officeDocument/2006/math">
                      <m:r>
                        <a:rPr lang="en-US" sz="3200" i="1" smtClean="0">
                          <a:solidFill>
                            <a:schemeClr val="tx1"/>
                          </a:solidFill>
                          <a:latin typeface="Cambria Math" panose="02040503050406030204" pitchFamily="18" charset="0"/>
                          <a:ea typeface="Cambria Math" panose="02040503050406030204" pitchFamily="18" charset="0"/>
                        </a:rPr>
                        <m:t>𝑧</m:t>
                      </m:r>
                      <m:r>
                        <a:rPr lang="en-US" sz="3200" i="1" smtClean="0">
                          <a:solidFill>
                            <a:schemeClr val="tx1"/>
                          </a:solidFill>
                          <a:latin typeface="Cambria Math" panose="02040503050406030204" pitchFamily="18" charset="0"/>
                          <a:ea typeface="Cambria Math" panose="02040503050406030204" pitchFamily="18" charset="0"/>
                        </a:rPr>
                        <m:t>=</m:t>
                      </m:r>
                      <m:f>
                        <m:fPr>
                          <m:ctrlPr>
                            <a:rPr lang="en-US" sz="3200" i="1">
                              <a:solidFill>
                                <a:schemeClr val="tx1"/>
                              </a:solidFill>
                              <a:latin typeface="Cambria Math" panose="02040503050406030204" pitchFamily="18" charset="0"/>
                              <a:ea typeface="Cambria Math" panose="02040503050406030204" pitchFamily="18" charset="0"/>
                            </a:rPr>
                          </m:ctrlPr>
                        </m:fPr>
                        <m:num>
                          <m:r>
                            <a:rPr lang="en-US" sz="3200" i="1">
                              <a:solidFill>
                                <a:schemeClr val="tx1"/>
                              </a:solidFill>
                              <a:latin typeface="Cambria Math" panose="02040503050406030204" pitchFamily="18" charset="0"/>
                              <a:ea typeface="Cambria Math" panose="02040503050406030204" pitchFamily="18" charset="0"/>
                            </a:rPr>
                            <m:t>𝑥</m:t>
                          </m:r>
                          <m:r>
                            <a:rPr lang="en-US" sz="3200" b="0" i="1" smtClean="0">
                              <a:solidFill>
                                <a:schemeClr val="tx1"/>
                              </a:solidFill>
                              <a:latin typeface="Cambria Math" panose="02040503050406030204" pitchFamily="18" charset="0"/>
                              <a:ea typeface="Cambria Math" panose="02040503050406030204" pitchFamily="18" charset="0"/>
                            </a:rPr>
                            <m:t>−</m:t>
                          </m:r>
                          <m:r>
                            <a:rPr lang="en-US" sz="3200" i="1">
                              <a:solidFill>
                                <a:schemeClr val="tx1"/>
                              </a:solidFill>
                              <a:latin typeface="Cambria Math" panose="02040503050406030204" pitchFamily="18" charset="0"/>
                              <a:ea typeface="Cambria Math" panose="02040503050406030204" pitchFamily="18" charset="0"/>
                            </a:rPr>
                            <m:t>𝜇</m:t>
                          </m:r>
                        </m:num>
                        <m:den>
                          <m:r>
                            <a:rPr lang="en-US" sz="3200" i="1">
                              <a:solidFill>
                                <a:schemeClr val="tx1"/>
                              </a:solidFill>
                              <a:latin typeface="Cambria Math" panose="02040503050406030204" pitchFamily="18" charset="0"/>
                              <a:ea typeface="Cambria Math" panose="02040503050406030204" pitchFamily="18" charset="0"/>
                            </a:rPr>
                            <m:t>𝜎</m:t>
                          </m:r>
                        </m:den>
                      </m:f>
                      <m:r>
                        <a:rPr lang="en-US" sz="3200">
                          <a:solidFill>
                            <a:schemeClr val="tx1"/>
                          </a:solidFill>
                          <a:latin typeface="Cambria Math" panose="02040503050406030204" pitchFamily="18" charset="0"/>
                          <a:ea typeface="Cambria Math" panose="02040503050406030204" pitchFamily="18" charset="0"/>
                        </a:rPr>
                        <m:t>,</m:t>
                      </m:r>
                    </m:oMath>
                  </m:oMathPara>
                </a14:m>
                <a:endParaRPr lang="en-US" sz="5400" i="1" dirty="0">
                  <a:solidFill>
                    <a:schemeClr val="tx1"/>
                  </a:solidFill>
                </a:endParaRPr>
              </a:p>
            </p:txBody>
          </p:sp>
        </mc:Choice>
        <mc:Fallback>
          <p:sp>
            <p:nvSpPr>
              <p:cNvPr id="4" name="Rounded Rectangle 3">
                <a:extLst>
                  <a:ext uri="{FF2B5EF4-FFF2-40B4-BE49-F238E27FC236}">
                    <a16:creationId xmlns:a16="http://schemas.microsoft.com/office/drawing/2014/main" id="{BDC2C6DD-3DBA-A62E-7FE7-CCB6DA302E8F}"/>
                  </a:ext>
                </a:extLst>
              </p:cNvPr>
              <p:cNvSpPr>
                <a:spLocks noRot="1" noChangeAspect="1" noMove="1" noResize="1" noEditPoints="1" noAdjustHandles="1" noChangeArrowheads="1" noChangeShapeType="1" noTextEdit="1"/>
              </p:cNvSpPr>
              <p:nvPr/>
            </p:nvSpPr>
            <p:spPr>
              <a:xfrm>
                <a:off x="8457107" y="1170260"/>
                <a:ext cx="3160017" cy="1025938"/>
              </a:xfrm>
              <a:prstGeom prst="roundRect">
                <a:avLst/>
              </a:prstGeom>
              <a:blipFill>
                <a:blip r:embed="rId3"/>
                <a:stretch>
                  <a:fillRect/>
                </a:stretch>
              </a:blipFill>
            </p:spPr>
            <p:txBody>
              <a:bodyPr/>
              <a:lstStyle/>
              <a:p>
                <a:r>
                  <a:rPr lang="en-NL">
                    <a:noFill/>
                  </a:rPr>
                  <a:t> </a:t>
                </a:r>
              </a:p>
            </p:txBody>
          </p:sp>
        </mc:Fallback>
      </mc:AlternateContent>
      <p:pic>
        <p:nvPicPr>
          <p:cNvPr id="10" name="Picture 2" descr="undefined">
            <a:extLst>
              <a:ext uri="{FF2B5EF4-FFF2-40B4-BE49-F238E27FC236}">
                <a16:creationId xmlns:a16="http://schemas.microsoft.com/office/drawing/2014/main" id="{620E0AF7-CD67-3F54-4CD8-FCF1B63A474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4726"/>
          <a:stretch>
            <a:fillRect/>
          </a:stretch>
        </p:blipFill>
        <p:spPr bwMode="auto">
          <a:xfrm>
            <a:off x="1522413" y="0"/>
            <a:ext cx="9147175" cy="516230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undefined">
            <a:extLst>
              <a:ext uri="{FF2B5EF4-FFF2-40B4-BE49-F238E27FC236}">
                <a16:creationId xmlns:a16="http://schemas.microsoft.com/office/drawing/2014/main" id="{448895D7-C72F-C860-43D9-9E8F96453FE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75199" b="20075"/>
          <a:stretch>
            <a:fillRect/>
          </a:stretch>
        </p:blipFill>
        <p:spPr bwMode="auto">
          <a:xfrm>
            <a:off x="1522412" y="5576569"/>
            <a:ext cx="9147175" cy="32409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8B7ED230-AAA1-3BBD-04E3-61C980BB03E5}"/>
              </a:ext>
            </a:extLst>
          </p:cNvPr>
          <p:cNvSpPr txBox="1"/>
          <p:nvPr/>
        </p:nvSpPr>
        <p:spPr>
          <a:xfrm>
            <a:off x="7372667" y="5880403"/>
            <a:ext cx="4819333" cy="830997"/>
          </a:xfrm>
          <a:prstGeom prst="rect">
            <a:avLst/>
          </a:prstGeom>
          <a:noFill/>
        </p:spPr>
        <p:txBody>
          <a:bodyPr wrap="none" rtlCol="0">
            <a:spAutoFit/>
          </a:bodyPr>
          <a:lstStyle/>
          <a:p>
            <a:pPr marL="342900" indent="-342900">
              <a:buAutoNum type="arabicPeriod"/>
            </a:pPr>
            <a:r>
              <a:rPr lang="en-NL" sz="2400" dirty="0"/>
              <a:t>Standardize our X into Z</a:t>
            </a:r>
          </a:p>
          <a:p>
            <a:pPr marL="342900" indent="-342900">
              <a:buAutoNum type="arabicPeriod"/>
            </a:pPr>
            <a:r>
              <a:rPr lang="en-NL" sz="2400" dirty="0"/>
              <a:t>Look up cumulative area in Z-table</a:t>
            </a:r>
          </a:p>
        </p:txBody>
      </p:sp>
    </p:spTree>
    <p:extLst>
      <p:ext uri="{BB962C8B-B14F-4D97-AF65-F5344CB8AC3E}">
        <p14:creationId xmlns:p14="http://schemas.microsoft.com/office/powerpoint/2010/main" val="19207701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A1C82-36A7-9C55-08A3-D7744982E442}"/>
              </a:ext>
            </a:extLst>
          </p:cNvPr>
          <p:cNvSpPr>
            <a:spLocks noGrp="1"/>
          </p:cNvSpPr>
          <p:nvPr>
            <p:ph type="title"/>
          </p:nvPr>
        </p:nvSpPr>
        <p:spPr/>
        <p:txBody>
          <a:bodyPr/>
          <a:lstStyle/>
          <a:p>
            <a:r>
              <a:rPr lang="en-NL" dirty="0"/>
              <a:t>Z-Table (It is a tool. Nobody knows this by heart)</a:t>
            </a:r>
          </a:p>
        </p:txBody>
      </p:sp>
      <p:pic>
        <p:nvPicPr>
          <p:cNvPr id="5" name="Content Placeholder 4" descr="A table of numbers with a number on it&#10;&#10;AI-generated content may be incorrect.">
            <a:extLst>
              <a:ext uri="{FF2B5EF4-FFF2-40B4-BE49-F238E27FC236}">
                <a16:creationId xmlns:a16="http://schemas.microsoft.com/office/drawing/2014/main" id="{FC8F837B-4B2F-BF05-731C-442EA79A453B}"/>
              </a:ext>
            </a:extLst>
          </p:cNvPr>
          <p:cNvPicPr>
            <a:picLocks noGrp="1" noChangeAspect="1"/>
          </p:cNvPicPr>
          <p:nvPr>
            <p:ph idx="1"/>
          </p:nvPr>
        </p:nvPicPr>
        <p:blipFill>
          <a:blip r:embed="rId2"/>
          <a:stretch>
            <a:fillRect/>
          </a:stretch>
        </p:blipFill>
        <p:spPr>
          <a:xfrm>
            <a:off x="3454255" y="1110520"/>
            <a:ext cx="5283489" cy="5747480"/>
          </a:xfrm>
        </p:spPr>
      </p:pic>
      <p:sp>
        <p:nvSpPr>
          <p:cNvPr id="6" name="TextBox 5">
            <a:extLst>
              <a:ext uri="{FF2B5EF4-FFF2-40B4-BE49-F238E27FC236}">
                <a16:creationId xmlns:a16="http://schemas.microsoft.com/office/drawing/2014/main" id="{F0D3D9C0-02FD-6702-6314-28432D436C87}"/>
              </a:ext>
            </a:extLst>
          </p:cNvPr>
          <p:cNvSpPr txBox="1"/>
          <p:nvPr/>
        </p:nvSpPr>
        <p:spPr>
          <a:xfrm>
            <a:off x="9431070" y="6259074"/>
            <a:ext cx="2528321" cy="369332"/>
          </a:xfrm>
          <a:prstGeom prst="rect">
            <a:avLst/>
          </a:prstGeom>
          <a:noFill/>
        </p:spPr>
        <p:txBody>
          <a:bodyPr wrap="none" rtlCol="0">
            <a:spAutoFit/>
          </a:bodyPr>
          <a:lstStyle/>
          <a:p>
            <a:r>
              <a:rPr lang="en-GB" dirty="0">
                <a:hlinkClick r:id="rId3"/>
              </a:rPr>
              <a:t>https://www.ztable.net/</a:t>
            </a:r>
            <a:r>
              <a:rPr lang="en-GB" dirty="0"/>
              <a:t> </a:t>
            </a:r>
            <a:endParaRPr lang="en-NL" dirty="0"/>
          </a:p>
        </p:txBody>
      </p:sp>
    </p:spTree>
    <p:extLst>
      <p:ext uri="{BB962C8B-B14F-4D97-AF65-F5344CB8AC3E}">
        <p14:creationId xmlns:p14="http://schemas.microsoft.com/office/powerpoint/2010/main" val="6866679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9B044-1160-FB23-6C7C-F96BAEF82FBA}"/>
              </a:ext>
            </a:extLst>
          </p:cNvPr>
          <p:cNvSpPr>
            <a:spLocks noGrp="1"/>
          </p:cNvSpPr>
          <p:nvPr>
            <p:ph type="title"/>
          </p:nvPr>
        </p:nvSpPr>
        <p:spPr/>
        <p:txBody>
          <a:bodyPr/>
          <a:lstStyle/>
          <a:p>
            <a:r>
              <a:rPr lang="en-NL" dirty="0">
                <a:solidFill>
                  <a:schemeClr val="accent1"/>
                </a:solidFill>
              </a:rPr>
              <a:t>Z-scores</a:t>
            </a:r>
            <a:endParaRPr lang="en-NL"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B820899-DC51-6F42-1BB7-A1F956AE2265}"/>
                  </a:ext>
                </a:extLst>
              </p:cNvPr>
              <p:cNvSpPr>
                <a:spLocks noGrp="1"/>
              </p:cNvSpPr>
              <p:nvPr>
                <p:ph idx="1"/>
              </p:nvPr>
            </p:nvSpPr>
            <p:spPr/>
            <p:txBody>
              <a:bodyPr/>
              <a:lstStyle/>
              <a:p>
                <a:pPr marL="0" indent="0">
                  <a:buNone/>
                </a:pPr>
                <a:r>
                  <a:rPr lang="en-GB" dirty="0"/>
                  <a:t>What is the probability my laptop crashes </a:t>
                </a:r>
                <a:r>
                  <a:rPr lang="en-GB" b="1" dirty="0"/>
                  <a:t>fewer than</a:t>
                </a:r>
                <a:r>
                  <a:rPr lang="en-GB" dirty="0"/>
                  <a:t> 115 times? (</a:t>
                </a:r>
                <a14:m>
                  <m:oMath xmlns:m="http://schemas.openxmlformats.org/officeDocument/2006/math">
                    <m:r>
                      <a:rPr lang="en-US" sz="4400" i="1">
                        <a:latin typeface="Cambria Math" panose="02040503050406030204" pitchFamily="18" charset="0"/>
                        <a:ea typeface="Cambria Math" panose="02040503050406030204" pitchFamily="18" charset="0"/>
                      </a:rPr>
                      <m:t>𝜇</m:t>
                    </m:r>
                  </m:oMath>
                </a14:m>
                <a:r>
                  <a:rPr lang="en-NL" dirty="0"/>
                  <a:t>=100, </a:t>
                </a:r>
                <a14:m>
                  <m:oMath xmlns:m="http://schemas.openxmlformats.org/officeDocument/2006/math">
                    <m:r>
                      <a:rPr lang="en-NL" i="1" smtClean="0">
                        <a:latin typeface="Cambria Math" panose="02040503050406030204" pitchFamily="18" charset="0"/>
                        <a:ea typeface="Cambria Math" panose="02040503050406030204" pitchFamily="18" charset="0"/>
                      </a:rPr>
                      <m:t>𝜎</m:t>
                    </m:r>
                  </m:oMath>
                </a14:m>
                <a:r>
                  <a:rPr lang="en-NL" dirty="0"/>
                  <a:t>=10)</a:t>
                </a:r>
              </a:p>
              <a:p>
                <a:pPr marL="0" indent="0">
                  <a:buNone/>
                </a:pPr>
                <a:endParaRPr lang="en-NL" dirty="0"/>
              </a:p>
            </p:txBody>
          </p:sp>
        </mc:Choice>
        <mc:Fallback>
          <p:sp>
            <p:nvSpPr>
              <p:cNvPr id="3" name="Content Placeholder 2">
                <a:extLst>
                  <a:ext uri="{FF2B5EF4-FFF2-40B4-BE49-F238E27FC236}">
                    <a16:creationId xmlns:a16="http://schemas.microsoft.com/office/drawing/2014/main" id="{8B820899-DC51-6F42-1BB7-A1F956AE2265}"/>
                  </a:ext>
                </a:extLst>
              </p:cNvPr>
              <p:cNvSpPr>
                <a:spLocks noGrp="1" noRot="1" noChangeAspect="1" noMove="1" noResize="1" noEditPoints="1" noAdjustHandles="1" noChangeArrowheads="1" noChangeShapeType="1" noTextEdit="1"/>
              </p:cNvSpPr>
              <p:nvPr>
                <p:ph idx="1"/>
              </p:nvPr>
            </p:nvSpPr>
            <p:spPr>
              <a:blipFill>
                <a:blip r:embed="rId3"/>
                <a:stretch>
                  <a:fillRect l="-2854" t="-3704"/>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 name="Rounded Rectangle 3">
                <a:extLst>
                  <a:ext uri="{FF2B5EF4-FFF2-40B4-BE49-F238E27FC236}">
                    <a16:creationId xmlns:a16="http://schemas.microsoft.com/office/drawing/2014/main" id="{414383AB-49B0-BD7D-1961-C690C103716D}"/>
                  </a:ext>
                </a:extLst>
              </p:cNvPr>
              <p:cNvSpPr/>
              <p:nvPr/>
            </p:nvSpPr>
            <p:spPr>
              <a:xfrm>
                <a:off x="7685461" y="207192"/>
                <a:ext cx="3160017" cy="102593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14:m>
                  <m:oMathPara xmlns:m="http://schemas.openxmlformats.org/officeDocument/2006/math">
                    <m:oMathParaPr>
                      <m:jc m:val="centerGroup"/>
                    </m:oMathParaPr>
                    <m:oMath xmlns:m="http://schemas.openxmlformats.org/officeDocument/2006/math">
                      <m:r>
                        <a:rPr lang="en-US" sz="3200" i="1" smtClean="0">
                          <a:solidFill>
                            <a:schemeClr val="tx1"/>
                          </a:solidFill>
                          <a:latin typeface="Cambria Math" panose="02040503050406030204" pitchFamily="18" charset="0"/>
                          <a:ea typeface="Cambria Math" panose="02040503050406030204" pitchFamily="18" charset="0"/>
                        </a:rPr>
                        <m:t>𝑧</m:t>
                      </m:r>
                      <m:r>
                        <a:rPr lang="en-US" sz="3200" i="1" smtClean="0">
                          <a:solidFill>
                            <a:schemeClr val="tx1"/>
                          </a:solidFill>
                          <a:latin typeface="Cambria Math" panose="02040503050406030204" pitchFamily="18" charset="0"/>
                          <a:ea typeface="Cambria Math" panose="02040503050406030204" pitchFamily="18" charset="0"/>
                        </a:rPr>
                        <m:t>=</m:t>
                      </m:r>
                      <m:f>
                        <m:fPr>
                          <m:ctrlPr>
                            <a:rPr lang="en-US" sz="3200" i="1">
                              <a:solidFill>
                                <a:schemeClr val="tx1"/>
                              </a:solidFill>
                              <a:latin typeface="Cambria Math" panose="02040503050406030204" pitchFamily="18" charset="0"/>
                              <a:ea typeface="Cambria Math" panose="02040503050406030204" pitchFamily="18" charset="0"/>
                            </a:rPr>
                          </m:ctrlPr>
                        </m:fPr>
                        <m:num>
                          <m:r>
                            <a:rPr lang="en-US" sz="3200" i="1">
                              <a:solidFill>
                                <a:schemeClr val="tx1"/>
                              </a:solidFill>
                              <a:latin typeface="Cambria Math" panose="02040503050406030204" pitchFamily="18" charset="0"/>
                              <a:ea typeface="Cambria Math" panose="02040503050406030204" pitchFamily="18" charset="0"/>
                            </a:rPr>
                            <m:t>𝑥</m:t>
                          </m:r>
                          <m:r>
                            <a:rPr lang="en-US" sz="3200" b="0" i="1" smtClean="0">
                              <a:solidFill>
                                <a:schemeClr val="tx1"/>
                              </a:solidFill>
                              <a:latin typeface="Cambria Math" panose="02040503050406030204" pitchFamily="18" charset="0"/>
                              <a:ea typeface="Cambria Math" panose="02040503050406030204" pitchFamily="18" charset="0"/>
                            </a:rPr>
                            <m:t>−</m:t>
                          </m:r>
                          <m:r>
                            <a:rPr lang="en-US" sz="3200" i="1">
                              <a:solidFill>
                                <a:schemeClr val="tx1"/>
                              </a:solidFill>
                              <a:latin typeface="Cambria Math" panose="02040503050406030204" pitchFamily="18" charset="0"/>
                              <a:ea typeface="Cambria Math" panose="02040503050406030204" pitchFamily="18" charset="0"/>
                            </a:rPr>
                            <m:t>𝜇</m:t>
                          </m:r>
                        </m:num>
                        <m:den>
                          <m:r>
                            <a:rPr lang="en-US" sz="3200" i="1">
                              <a:solidFill>
                                <a:schemeClr val="tx1"/>
                              </a:solidFill>
                              <a:latin typeface="Cambria Math" panose="02040503050406030204" pitchFamily="18" charset="0"/>
                              <a:ea typeface="Cambria Math" panose="02040503050406030204" pitchFamily="18" charset="0"/>
                            </a:rPr>
                            <m:t>𝜎</m:t>
                          </m:r>
                        </m:den>
                      </m:f>
                      <m:r>
                        <a:rPr lang="en-US" sz="3200">
                          <a:solidFill>
                            <a:schemeClr val="tx1"/>
                          </a:solidFill>
                          <a:latin typeface="Cambria Math" panose="02040503050406030204" pitchFamily="18" charset="0"/>
                          <a:ea typeface="Cambria Math" panose="02040503050406030204" pitchFamily="18" charset="0"/>
                        </a:rPr>
                        <m:t>,</m:t>
                      </m:r>
                    </m:oMath>
                  </m:oMathPara>
                </a14:m>
                <a:endParaRPr lang="en-US" sz="5400" i="1" dirty="0">
                  <a:solidFill>
                    <a:schemeClr val="tx1"/>
                  </a:solidFill>
                </a:endParaRPr>
              </a:p>
            </p:txBody>
          </p:sp>
        </mc:Choice>
        <mc:Fallback>
          <p:sp>
            <p:nvSpPr>
              <p:cNvPr id="4" name="Rounded Rectangle 3">
                <a:extLst>
                  <a:ext uri="{FF2B5EF4-FFF2-40B4-BE49-F238E27FC236}">
                    <a16:creationId xmlns:a16="http://schemas.microsoft.com/office/drawing/2014/main" id="{414383AB-49B0-BD7D-1961-C690C103716D}"/>
                  </a:ext>
                </a:extLst>
              </p:cNvPr>
              <p:cNvSpPr>
                <a:spLocks noRot="1" noChangeAspect="1" noMove="1" noResize="1" noEditPoints="1" noAdjustHandles="1" noChangeArrowheads="1" noChangeShapeType="1" noTextEdit="1"/>
              </p:cNvSpPr>
              <p:nvPr/>
            </p:nvSpPr>
            <p:spPr>
              <a:xfrm>
                <a:off x="7685461" y="207192"/>
                <a:ext cx="3160017" cy="1025938"/>
              </a:xfrm>
              <a:prstGeom prst="round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748821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FC9B7-2FFC-FDFF-5A7C-C25C66FA12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E3454A-9123-BA34-2FF8-11631C0639F7}"/>
              </a:ext>
            </a:extLst>
          </p:cNvPr>
          <p:cNvSpPr>
            <a:spLocks noGrp="1"/>
          </p:cNvSpPr>
          <p:nvPr>
            <p:ph type="title"/>
          </p:nvPr>
        </p:nvSpPr>
        <p:spPr/>
        <p:txBody>
          <a:bodyPr/>
          <a:lstStyle/>
          <a:p>
            <a:r>
              <a:rPr lang="en-NL" dirty="0">
                <a:solidFill>
                  <a:schemeClr val="accent1"/>
                </a:solidFill>
              </a:rPr>
              <a:t>Z-scores</a:t>
            </a:r>
            <a:endParaRPr lang="en-NL"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DE95F13-28E3-868F-1B6B-2D1264349E39}"/>
                  </a:ext>
                </a:extLst>
              </p:cNvPr>
              <p:cNvSpPr>
                <a:spLocks noGrp="1"/>
              </p:cNvSpPr>
              <p:nvPr>
                <p:ph idx="1"/>
              </p:nvPr>
            </p:nvSpPr>
            <p:spPr/>
            <p:txBody>
              <a:bodyPr/>
              <a:lstStyle/>
              <a:p>
                <a:pPr marL="0" indent="0">
                  <a:buNone/>
                </a:pPr>
                <a:r>
                  <a:rPr lang="en-GB" dirty="0"/>
                  <a:t>What is the probability my laptop crashes </a:t>
                </a:r>
                <a:r>
                  <a:rPr lang="en-GB" b="1" dirty="0"/>
                  <a:t>fewer than</a:t>
                </a:r>
                <a:r>
                  <a:rPr lang="en-GB" dirty="0"/>
                  <a:t> 115 times? (</a:t>
                </a:r>
                <a14:m>
                  <m:oMath xmlns:m="http://schemas.openxmlformats.org/officeDocument/2006/math">
                    <m:r>
                      <a:rPr lang="en-US" sz="4400" i="1">
                        <a:latin typeface="Cambria Math" panose="02040503050406030204" pitchFamily="18" charset="0"/>
                        <a:ea typeface="Cambria Math" panose="02040503050406030204" pitchFamily="18" charset="0"/>
                      </a:rPr>
                      <m:t>𝜇</m:t>
                    </m:r>
                  </m:oMath>
                </a14:m>
                <a:r>
                  <a:rPr lang="en-NL" dirty="0"/>
                  <a:t>=100, </a:t>
                </a:r>
                <a14:m>
                  <m:oMath xmlns:m="http://schemas.openxmlformats.org/officeDocument/2006/math">
                    <m:r>
                      <a:rPr lang="en-NL" i="1" smtClean="0">
                        <a:latin typeface="Cambria Math" panose="02040503050406030204" pitchFamily="18" charset="0"/>
                        <a:ea typeface="Cambria Math" panose="02040503050406030204" pitchFamily="18" charset="0"/>
                      </a:rPr>
                      <m:t>𝜎</m:t>
                    </m:r>
                  </m:oMath>
                </a14:m>
                <a:r>
                  <a:rPr lang="en-NL" dirty="0"/>
                  <a:t>=10)</a:t>
                </a:r>
              </a:p>
              <a:p>
                <a:pPr marL="0" indent="0">
                  <a:buNone/>
                </a:pPr>
                <a:endParaRPr lang="en-NL" dirty="0"/>
              </a:p>
              <a:p>
                <a:pPr marL="0" indent="0">
                  <a:buNone/>
                </a:pPr>
                <a14:m>
                  <m:oMathPara xmlns:m="http://schemas.openxmlformats.org/officeDocument/2006/math">
                    <m:oMathParaPr>
                      <m:jc m:val="centerGroup"/>
                    </m:oMathParaPr>
                    <m:oMath xmlns:m="http://schemas.openxmlformats.org/officeDocument/2006/math">
                      <m:r>
                        <a:rPr lang="nl-NL" b="0" i="1" smtClean="0">
                          <a:latin typeface="Cambria Math" panose="02040503050406030204" pitchFamily="18" charset="0"/>
                        </a:rPr>
                        <m:t>𝑧</m:t>
                      </m:r>
                      <m:r>
                        <a:rPr lang="nl-NL" b="0" i="1" smtClean="0">
                          <a:latin typeface="Cambria Math" panose="02040503050406030204" pitchFamily="18" charset="0"/>
                        </a:rPr>
                        <m:t>=</m:t>
                      </m:r>
                      <m:f>
                        <m:fPr>
                          <m:ctrlPr>
                            <a:rPr lang="nl-NL" b="0" i="1" smtClean="0">
                              <a:latin typeface="Cambria Math" panose="02040503050406030204" pitchFamily="18" charset="0"/>
                            </a:rPr>
                          </m:ctrlPr>
                        </m:fPr>
                        <m:num>
                          <m:r>
                            <a:rPr lang="nl-NL" b="0" i="1" smtClean="0">
                              <a:latin typeface="Cambria Math" panose="02040503050406030204" pitchFamily="18" charset="0"/>
                            </a:rPr>
                            <m:t>115−100</m:t>
                          </m:r>
                        </m:num>
                        <m:den>
                          <m:r>
                            <a:rPr lang="nl-NL" b="0" i="1" smtClean="0">
                              <a:latin typeface="Cambria Math" panose="02040503050406030204" pitchFamily="18" charset="0"/>
                            </a:rPr>
                            <m:t>10</m:t>
                          </m:r>
                        </m:den>
                      </m:f>
                      <m:r>
                        <a:rPr lang="nl-NL" b="0" i="1" smtClean="0">
                          <a:latin typeface="Cambria Math" panose="02040503050406030204" pitchFamily="18" charset="0"/>
                        </a:rPr>
                        <m:t>=1.5</m:t>
                      </m:r>
                    </m:oMath>
                  </m:oMathPara>
                </a14:m>
                <a:endParaRPr lang="en-NL" dirty="0"/>
              </a:p>
              <a:p>
                <a:pPr marL="0" indent="0">
                  <a:buNone/>
                </a:pPr>
                <a:endParaRPr lang="en-NL" sz="3200" i="1" dirty="0"/>
              </a:p>
              <a:p>
                <a:pPr marL="0" indent="0">
                  <a:buNone/>
                </a:pPr>
                <a:r>
                  <a:rPr lang="en-NL" sz="3200" i="1" dirty="0"/>
                  <a:t>In z-table, we will find that 1.5 corresponds to </a:t>
                </a:r>
                <a:r>
                  <a:rPr lang="en-NL" sz="3200" b="1" i="1" dirty="0"/>
                  <a:t>0.9332 (or 93.32%)</a:t>
                </a:r>
              </a:p>
              <a:p>
                <a:pPr marL="0" indent="0">
                  <a:buNone/>
                </a:pPr>
                <a:r>
                  <a:rPr lang="en-NL" sz="3200" i="1" dirty="0"/>
                  <a:t>We can also see this in the distribution on the previous slide</a:t>
                </a:r>
              </a:p>
            </p:txBody>
          </p:sp>
        </mc:Choice>
        <mc:Fallback>
          <p:sp>
            <p:nvSpPr>
              <p:cNvPr id="3" name="Content Placeholder 2">
                <a:extLst>
                  <a:ext uri="{FF2B5EF4-FFF2-40B4-BE49-F238E27FC236}">
                    <a16:creationId xmlns:a16="http://schemas.microsoft.com/office/drawing/2014/main" id="{FDE95F13-28E3-868F-1B6B-2D1264349E39}"/>
                  </a:ext>
                </a:extLst>
              </p:cNvPr>
              <p:cNvSpPr>
                <a:spLocks noGrp="1" noRot="1" noChangeAspect="1" noMove="1" noResize="1" noEditPoints="1" noAdjustHandles="1" noChangeArrowheads="1" noChangeShapeType="1" noTextEdit="1"/>
              </p:cNvSpPr>
              <p:nvPr>
                <p:ph idx="1"/>
              </p:nvPr>
            </p:nvSpPr>
            <p:spPr>
              <a:blipFill>
                <a:blip r:embed="rId3"/>
                <a:stretch>
                  <a:fillRect l="-2854" t="-3704" b="-9972"/>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 name="Rounded Rectangle 3">
                <a:extLst>
                  <a:ext uri="{FF2B5EF4-FFF2-40B4-BE49-F238E27FC236}">
                    <a16:creationId xmlns:a16="http://schemas.microsoft.com/office/drawing/2014/main" id="{2B051657-28AF-B957-698A-0BBD75F16A0E}"/>
                  </a:ext>
                </a:extLst>
              </p:cNvPr>
              <p:cNvSpPr/>
              <p:nvPr/>
            </p:nvSpPr>
            <p:spPr>
              <a:xfrm>
                <a:off x="7685461" y="207192"/>
                <a:ext cx="3160017" cy="102593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14:m>
                  <m:oMathPara xmlns:m="http://schemas.openxmlformats.org/officeDocument/2006/math">
                    <m:oMathParaPr>
                      <m:jc m:val="centerGroup"/>
                    </m:oMathParaPr>
                    <m:oMath xmlns:m="http://schemas.openxmlformats.org/officeDocument/2006/math">
                      <m:r>
                        <a:rPr lang="en-US" sz="3200" i="1" smtClean="0">
                          <a:solidFill>
                            <a:schemeClr val="tx1"/>
                          </a:solidFill>
                          <a:latin typeface="Cambria Math" panose="02040503050406030204" pitchFamily="18" charset="0"/>
                          <a:ea typeface="Cambria Math" panose="02040503050406030204" pitchFamily="18" charset="0"/>
                        </a:rPr>
                        <m:t>𝑧</m:t>
                      </m:r>
                      <m:r>
                        <a:rPr lang="en-US" sz="3200" i="1" smtClean="0">
                          <a:solidFill>
                            <a:schemeClr val="tx1"/>
                          </a:solidFill>
                          <a:latin typeface="Cambria Math" panose="02040503050406030204" pitchFamily="18" charset="0"/>
                          <a:ea typeface="Cambria Math" panose="02040503050406030204" pitchFamily="18" charset="0"/>
                        </a:rPr>
                        <m:t>=</m:t>
                      </m:r>
                      <m:f>
                        <m:fPr>
                          <m:ctrlPr>
                            <a:rPr lang="en-US" sz="3200" i="1">
                              <a:solidFill>
                                <a:schemeClr val="tx1"/>
                              </a:solidFill>
                              <a:latin typeface="Cambria Math" panose="02040503050406030204" pitchFamily="18" charset="0"/>
                              <a:ea typeface="Cambria Math" panose="02040503050406030204" pitchFamily="18" charset="0"/>
                            </a:rPr>
                          </m:ctrlPr>
                        </m:fPr>
                        <m:num>
                          <m:r>
                            <a:rPr lang="en-US" sz="3200" i="1">
                              <a:solidFill>
                                <a:schemeClr val="tx1"/>
                              </a:solidFill>
                              <a:latin typeface="Cambria Math" panose="02040503050406030204" pitchFamily="18" charset="0"/>
                              <a:ea typeface="Cambria Math" panose="02040503050406030204" pitchFamily="18" charset="0"/>
                            </a:rPr>
                            <m:t>𝑥</m:t>
                          </m:r>
                          <m:r>
                            <a:rPr lang="en-US" sz="3200" b="0" i="1" smtClean="0">
                              <a:solidFill>
                                <a:schemeClr val="tx1"/>
                              </a:solidFill>
                              <a:latin typeface="Cambria Math" panose="02040503050406030204" pitchFamily="18" charset="0"/>
                              <a:ea typeface="Cambria Math" panose="02040503050406030204" pitchFamily="18" charset="0"/>
                            </a:rPr>
                            <m:t>−</m:t>
                          </m:r>
                          <m:r>
                            <a:rPr lang="en-US" sz="3200" i="1">
                              <a:solidFill>
                                <a:schemeClr val="tx1"/>
                              </a:solidFill>
                              <a:latin typeface="Cambria Math" panose="02040503050406030204" pitchFamily="18" charset="0"/>
                              <a:ea typeface="Cambria Math" panose="02040503050406030204" pitchFamily="18" charset="0"/>
                            </a:rPr>
                            <m:t>𝜇</m:t>
                          </m:r>
                        </m:num>
                        <m:den>
                          <m:r>
                            <a:rPr lang="en-US" sz="3200" i="1">
                              <a:solidFill>
                                <a:schemeClr val="tx1"/>
                              </a:solidFill>
                              <a:latin typeface="Cambria Math" panose="02040503050406030204" pitchFamily="18" charset="0"/>
                              <a:ea typeface="Cambria Math" panose="02040503050406030204" pitchFamily="18" charset="0"/>
                            </a:rPr>
                            <m:t>𝜎</m:t>
                          </m:r>
                        </m:den>
                      </m:f>
                      <m:r>
                        <a:rPr lang="en-US" sz="3200">
                          <a:solidFill>
                            <a:schemeClr val="tx1"/>
                          </a:solidFill>
                          <a:latin typeface="Cambria Math" panose="02040503050406030204" pitchFamily="18" charset="0"/>
                          <a:ea typeface="Cambria Math" panose="02040503050406030204" pitchFamily="18" charset="0"/>
                        </a:rPr>
                        <m:t>,</m:t>
                      </m:r>
                    </m:oMath>
                  </m:oMathPara>
                </a14:m>
                <a:endParaRPr lang="en-US" sz="5400" i="1" dirty="0">
                  <a:solidFill>
                    <a:schemeClr val="tx1"/>
                  </a:solidFill>
                </a:endParaRPr>
              </a:p>
            </p:txBody>
          </p:sp>
        </mc:Choice>
        <mc:Fallback>
          <p:sp>
            <p:nvSpPr>
              <p:cNvPr id="4" name="Rounded Rectangle 3">
                <a:extLst>
                  <a:ext uri="{FF2B5EF4-FFF2-40B4-BE49-F238E27FC236}">
                    <a16:creationId xmlns:a16="http://schemas.microsoft.com/office/drawing/2014/main" id="{2B051657-28AF-B957-698A-0BBD75F16A0E}"/>
                  </a:ext>
                </a:extLst>
              </p:cNvPr>
              <p:cNvSpPr>
                <a:spLocks noRot="1" noChangeAspect="1" noMove="1" noResize="1" noEditPoints="1" noAdjustHandles="1" noChangeArrowheads="1" noChangeShapeType="1" noTextEdit="1"/>
              </p:cNvSpPr>
              <p:nvPr/>
            </p:nvSpPr>
            <p:spPr>
              <a:xfrm>
                <a:off x="7685461" y="207192"/>
                <a:ext cx="3160017" cy="1025938"/>
              </a:xfrm>
              <a:prstGeom prst="roundRect">
                <a:avLst/>
              </a:prstGeom>
              <a:blipFill>
                <a:blip r:embed="rId4"/>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529FB844-0C73-1C8C-83E6-758FF6F952D0}"/>
              </a:ext>
            </a:extLst>
          </p:cNvPr>
          <p:cNvSpPr txBox="1"/>
          <p:nvPr/>
        </p:nvSpPr>
        <p:spPr>
          <a:xfrm>
            <a:off x="8303590" y="2656142"/>
            <a:ext cx="3208677" cy="830997"/>
          </a:xfrm>
          <a:prstGeom prst="rect">
            <a:avLst/>
          </a:prstGeom>
          <a:noFill/>
        </p:spPr>
        <p:txBody>
          <a:bodyPr wrap="square" rtlCol="0">
            <a:spAutoFit/>
          </a:bodyPr>
          <a:lstStyle/>
          <a:p>
            <a:pPr algn="ctr"/>
            <a:r>
              <a:rPr lang="en-NL" sz="2400" dirty="0">
                <a:solidFill>
                  <a:schemeClr val="accent1"/>
                </a:solidFill>
              </a:rPr>
              <a:t>1.5 standard deviations above the mean</a:t>
            </a:r>
          </a:p>
        </p:txBody>
      </p:sp>
      <p:cxnSp>
        <p:nvCxnSpPr>
          <p:cNvPr id="9" name="Curved Connector 8">
            <a:extLst>
              <a:ext uri="{FF2B5EF4-FFF2-40B4-BE49-F238E27FC236}">
                <a16:creationId xmlns:a16="http://schemas.microsoft.com/office/drawing/2014/main" id="{A45AFDD5-F2BF-2D4B-8D71-504CF08571F2}"/>
              </a:ext>
            </a:extLst>
          </p:cNvPr>
          <p:cNvCxnSpPr/>
          <p:nvPr/>
        </p:nvCxnSpPr>
        <p:spPr>
          <a:xfrm flipV="1">
            <a:off x="8646289" y="3518574"/>
            <a:ext cx="1261640" cy="474692"/>
          </a:xfrm>
          <a:prstGeom prst="curvedConnector3">
            <a:avLst>
              <a:gd name="adj1" fmla="val 100459"/>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1908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BCF88-5E2D-BD9C-7966-BBA83635944C}"/>
              </a:ext>
            </a:extLst>
          </p:cNvPr>
          <p:cNvSpPr>
            <a:spLocks noGrp="1"/>
          </p:cNvSpPr>
          <p:nvPr>
            <p:ph type="title"/>
          </p:nvPr>
        </p:nvSpPr>
        <p:spPr/>
        <p:txBody>
          <a:bodyPr/>
          <a:lstStyle/>
          <a:p>
            <a:r>
              <a:rPr lang="en-NL" dirty="0">
                <a:solidFill>
                  <a:schemeClr val="accent1"/>
                </a:solidFill>
              </a:rPr>
              <a:t>Z-scores</a:t>
            </a:r>
          </a:p>
        </p:txBody>
      </p:sp>
      <p:sp>
        <p:nvSpPr>
          <p:cNvPr id="3" name="Content Placeholder 2">
            <a:extLst>
              <a:ext uri="{FF2B5EF4-FFF2-40B4-BE49-F238E27FC236}">
                <a16:creationId xmlns:a16="http://schemas.microsoft.com/office/drawing/2014/main" id="{79E5EC2A-C4D1-471F-956C-5624738B9DA8}"/>
              </a:ext>
            </a:extLst>
          </p:cNvPr>
          <p:cNvSpPr>
            <a:spLocks noGrp="1"/>
          </p:cNvSpPr>
          <p:nvPr>
            <p:ph idx="1"/>
          </p:nvPr>
        </p:nvSpPr>
        <p:spPr/>
        <p:txBody>
          <a:bodyPr/>
          <a:lstStyle/>
          <a:p>
            <a:pPr marL="0" indent="0">
              <a:buNone/>
            </a:pPr>
            <a:r>
              <a:rPr lang="en-GB" sz="4000" dirty="0"/>
              <a:t>Q: What is the chance of having </a:t>
            </a:r>
            <a:r>
              <a:rPr lang="en-GB" sz="4000" b="1" dirty="0"/>
              <a:t>more than</a:t>
            </a:r>
            <a:r>
              <a:rPr lang="en-GB" sz="4000" dirty="0"/>
              <a:t> 115 crashes?</a:t>
            </a:r>
          </a:p>
          <a:p>
            <a:pPr marL="0" indent="0">
              <a:buNone/>
            </a:pPr>
            <a:r>
              <a:rPr lang="en-GB" sz="3600" dirty="0">
                <a:latin typeface="+mn-lt"/>
                <a:ea typeface="Cambria Math" panose="02040503050406030204" pitchFamily="18" charset="0"/>
              </a:rPr>
              <a:t>A: </a:t>
            </a:r>
            <a:r>
              <a:rPr lang="en-GB" sz="3600" b="1" dirty="0">
                <a:latin typeface="Cambria Math" panose="02040503050406030204" pitchFamily="18" charset="0"/>
                <a:ea typeface="Cambria Math" panose="02040503050406030204" pitchFamily="18" charset="0"/>
              </a:rPr>
              <a:t>1 - P</a:t>
            </a:r>
            <a:r>
              <a:rPr lang="en-GB" sz="3600" dirty="0">
                <a:latin typeface="Cambria Math" panose="02040503050406030204" pitchFamily="18" charset="0"/>
                <a:ea typeface="Cambria Math" panose="02040503050406030204" pitchFamily="18" charset="0"/>
              </a:rPr>
              <a:t>(Z &lt; 1.5) = 1 – 0.9332 = </a:t>
            </a:r>
            <a:r>
              <a:rPr lang="en-GB" sz="3600" b="1" dirty="0">
                <a:latin typeface="Cambria Math" panose="02040503050406030204" pitchFamily="18" charset="0"/>
                <a:ea typeface="Cambria Math" panose="02040503050406030204" pitchFamily="18" charset="0"/>
              </a:rPr>
              <a:t>0.0668 (or 6.68%)</a:t>
            </a:r>
          </a:p>
          <a:p>
            <a:pPr marL="0" indent="0">
              <a:buNone/>
            </a:pPr>
            <a:endParaRPr lang="en-GB" sz="3600" b="1" dirty="0">
              <a:latin typeface="Cambria Math" panose="02040503050406030204" pitchFamily="18" charset="0"/>
              <a:ea typeface="Cambria Math" panose="02040503050406030204" pitchFamily="18" charset="0"/>
            </a:endParaRPr>
          </a:p>
          <a:p>
            <a:pPr marL="0" indent="0">
              <a:buNone/>
            </a:pPr>
            <a:r>
              <a:rPr lang="en-GB" sz="3600" b="1" dirty="0">
                <a:latin typeface="+mn-lt"/>
                <a:ea typeface="Cambria Math" panose="02040503050406030204" pitchFamily="18" charset="0"/>
              </a:rPr>
              <a:t>Q: </a:t>
            </a:r>
            <a:r>
              <a:rPr lang="en-GB" sz="3600" dirty="0">
                <a:latin typeface="+mn-lt"/>
              </a:rPr>
              <a:t>What is the chance the laptop crashes </a:t>
            </a:r>
            <a:r>
              <a:rPr lang="en-GB" sz="3600" b="1" dirty="0">
                <a:latin typeface="+mn-lt"/>
              </a:rPr>
              <a:t>between</a:t>
            </a:r>
            <a:r>
              <a:rPr lang="en-GB" sz="3600" dirty="0">
                <a:latin typeface="+mn-lt"/>
              </a:rPr>
              <a:t> 90 and 110 times?</a:t>
            </a:r>
          </a:p>
          <a:p>
            <a:pPr marL="0" indent="0">
              <a:buNone/>
            </a:pPr>
            <a:r>
              <a:rPr lang="en-GB" sz="3600" b="1" dirty="0">
                <a:latin typeface="+mn-lt"/>
                <a:ea typeface="Cambria Math" panose="02040503050406030204" pitchFamily="18" charset="0"/>
              </a:rPr>
              <a:t>A: </a:t>
            </a:r>
            <a:r>
              <a:rPr lang="en-GB" sz="3600" dirty="0">
                <a:latin typeface="+mn-lt"/>
                <a:ea typeface="Cambria Math" panose="02040503050406030204" pitchFamily="18" charset="0"/>
              </a:rPr>
              <a:t>Find z-score for 90 and z-score for 100. </a:t>
            </a:r>
          </a:p>
          <a:p>
            <a:pPr marL="0" indent="0">
              <a:buNone/>
            </a:pPr>
            <a:r>
              <a:rPr lang="en-GB" sz="3600" dirty="0">
                <a:latin typeface="+mn-lt"/>
                <a:ea typeface="Cambria Math" panose="02040503050406030204" pitchFamily="18" charset="0"/>
              </a:rPr>
              <a:t>probability for 110 – probability for 90</a:t>
            </a:r>
            <a:endParaRPr lang="en-GB" sz="3600" b="1" dirty="0">
              <a:latin typeface="+mn-lt"/>
              <a:ea typeface="Cambria Math" panose="02040503050406030204" pitchFamily="18" charset="0"/>
            </a:endParaRPr>
          </a:p>
          <a:p>
            <a:pPr marL="0" indent="0">
              <a:buNone/>
            </a:pPr>
            <a:endParaRPr lang="en-GB" sz="4000" b="1" dirty="0">
              <a:latin typeface="Cambria Math" panose="02040503050406030204" pitchFamily="18" charset="0"/>
              <a:ea typeface="Cambria Math" panose="02040503050406030204" pitchFamily="18" charset="0"/>
            </a:endParaRPr>
          </a:p>
          <a:p>
            <a:pPr marL="0" indent="0">
              <a:buNone/>
            </a:pPr>
            <a:endParaRPr lang="en-NL" sz="4000" b="1"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711968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B7F54-6B1C-2E14-1020-7806B3CC104C}"/>
              </a:ext>
            </a:extLst>
          </p:cNvPr>
          <p:cNvSpPr>
            <a:spLocks noGrp="1"/>
          </p:cNvSpPr>
          <p:nvPr>
            <p:ph type="title"/>
          </p:nvPr>
        </p:nvSpPr>
        <p:spPr/>
        <p:txBody>
          <a:bodyPr/>
          <a:lstStyle/>
          <a:p>
            <a:r>
              <a:rPr lang="en-NL" dirty="0">
                <a:solidFill>
                  <a:schemeClr val="accent1"/>
                </a:solidFill>
              </a:rPr>
              <a:t>Z-scores</a:t>
            </a:r>
          </a:p>
        </p:txBody>
      </p:sp>
      <p:sp>
        <p:nvSpPr>
          <p:cNvPr id="3" name="Content Placeholder 2">
            <a:extLst>
              <a:ext uri="{FF2B5EF4-FFF2-40B4-BE49-F238E27FC236}">
                <a16:creationId xmlns:a16="http://schemas.microsoft.com/office/drawing/2014/main" id="{DF33E6F3-82E5-7C87-581B-160CFA9A2E26}"/>
              </a:ext>
            </a:extLst>
          </p:cNvPr>
          <p:cNvSpPr>
            <a:spLocks noGrp="1"/>
          </p:cNvSpPr>
          <p:nvPr>
            <p:ph idx="1"/>
          </p:nvPr>
        </p:nvSpPr>
        <p:spPr/>
        <p:txBody>
          <a:bodyPr/>
          <a:lstStyle/>
          <a:p>
            <a:pPr marL="0" indent="0">
              <a:buNone/>
            </a:pPr>
            <a:r>
              <a:rPr lang="en-NL" dirty="0"/>
              <a:t>We can compare different distributions</a:t>
            </a:r>
          </a:p>
        </p:txBody>
      </p:sp>
      <mc:AlternateContent xmlns:mc="http://schemas.openxmlformats.org/markup-compatibility/2006">
        <mc:Choice xmlns:a14="http://schemas.microsoft.com/office/drawing/2010/main" Requires="a14">
          <p:sp>
            <p:nvSpPr>
              <p:cNvPr id="4" name="Rounded Rectangle 3">
                <a:extLst>
                  <a:ext uri="{FF2B5EF4-FFF2-40B4-BE49-F238E27FC236}">
                    <a16:creationId xmlns:a16="http://schemas.microsoft.com/office/drawing/2014/main" id="{168BEEEE-159E-25E8-72E0-77AB36701BCC}"/>
                  </a:ext>
                </a:extLst>
              </p:cNvPr>
              <p:cNvSpPr/>
              <p:nvPr/>
            </p:nvSpPr>
            <p:spPr>
              <a:xfrm>
                <a:off x="609600" y="2141317"/>
                <a:ext cx="10706582" cy="3096592"/>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NL" sz="2400" dirty="0"/>
                  <a:t>Student A scores </a:t>
                </a:r>
                <a:r>
                  <a:rPr lang="en-NL" sz="2400" b="1" dirty="0"/>
                  <a:t>85</a:t>
                </a:r>
                <a:r>
                  <a:rPr lang="en-NL" sz="2400" dirty="0"/>
                  <a:t> on their Calculus exam </a:t>
                </a:r>
                <a:r>
                  <a:rPr lang="en-NL" sz="2400" i="1" dirty="0"/>
                  <a:t>[Calculus exam: </a:t>
                </a:r>
                <a14:m>
                  <m:oMath xmlns:m="http://schemas.openxmlformats.org/officeDocument/2006/math">
                    <m:r>
                      <a:rPr lang="en-US" sz="2400" i="1">
                        <a:latin typeface="Cambria Math" panose="02040503050406030204" pitchFamily="18" charset="0"/>
                        <a:ea typeface="Cambria Math" panose="02040503050406030204" pitchFamily="18" charset="0"/>
                      </a:rPr>
                      <m:t>𝜇</m:t>
                    </m:r>
                  </m:oMath>
                </a14:m>
                <a:r>
                  <a:rPr lang="en-NL" sz="2400" i="1" dirty="0"/>
                  <a:t>=70, </a:t>
                </a:r>
                <a14:m>
                  <m:oMath xmlns:m="http://schemas.openxmlformats.org/officeDocument/2006/math">
                    <m:r>
                      <a:rPr lang="en-NL" sz="2400" i="1">
                        <a:latin typeface="Cambria Math" panose="02040503050406030204" pitchFamily="18" charset="0"/>
                        <a:ea typeface="Cambria Math" panose="02040503050406030204" pitchFamily="18" charset="0"/>
                      </a:rPr>
                      <m:t>𝜎</m:t>
                    </m:r>
                  </m:oMath>
                </a14:m>
                <a:r>
                  <a:rPr lang="en-NL" sz="2400" i="1" dirty="0"/>
                  <a:t>=10]</a:t>
                </a:r>
              </a:p>
              <a:p>
                <a:pPr algn="ctr"/>
                <a:r>
                  <a:rPr lang="en-NL" sz="2400" dirty="0"/>
                  <a:t>Student B scores </a:t>
                </a:r>
                <a:r>
                  <a:rPr lang="en-NL" sz="2400" b="1" dirty="0"/>
                  <a:t>85 </a:t>
                </a:r>
                <a:r>
                  <a:rPr lang="en-NL" sz="2400" dirty="0"/>
                  <a:t>on their Programming exam </a:t>
                </a:r>
                <a:r>
                  <a:rPr lang="en-NL" sz="2400" i="1" dirty="0"/>
                  <a:t>[Programming exam: </a:t>
                </a:r>
                <a14:m>
                  <m:oMath xmlns:m="http://schemas.openxmlformats.org/officeDocument/2006/math">
                    <m:r>
                      <a:rPr lang="en-US" sz="2400" i="1">
                        <a:latin typeface="Cambria Math" panose="02040503050406030204" pitchFamily="18" charset="0"/>
                        <a:ea typeface="Cambria Math" panose="02040503050406030204" pitchFamily="18" charset="0"/>
                      </a:rPr>
                      <m:t>𝜇</m:t>
                    </m:r>
                  </m:oMath>
                </a14:m>
                <a:r>
                  <a:rPr lang="en-NL" sz="2400" i="1" dirty="0"/>
                  <a:t>=80, </a:t>
                </a:r>
                <a14:m>
                  <m:oMath xmlns:m="http://schemas.openxmlformats.org/officeDocument/2006/math">
                    <m:r>
                      <a:rPr lang="en-NL" sz="2400" i="1">
                        <a:latin typeface="Cambria Math" panose="02040503050406030204" pitchFamily="18" charset="0"/>
                        <a:ea typeface="Cambria Math" panose="02040503050406030204" pitchFamily="18" charset="0"/>
                      </a:rPr>
                      <m:t>𝜎</m:t>
                    </m:r>
                  </m:oMath>
                </a14:m>
                <a:r>
                  <a:rPr lang="en-NL" sz="2400" i="1" dirty="0"/>
                  <a:t>=2]</a:t>
                </a:r>
              </a:p>
              <a:p>
                <a:pPr algn="ctr"/>
                <a:endParaRPr lang="en-NL" sz="2400" i="1" dirty="0"/>
              </a:p>
              <a:p>
                <a:pPr algn="ctr"/>
                <a:r>
                  <a:rPr lang="en-NL" sz="2400" dirty="0"/>
                  <a:t>Student A: </a:t>
                </a:r>
                <a14:m>
                  <m:oMath xmlns:m="http://schemas.openxmlformats.org/officeDocument/2006/math">
                    <m:r>
                      <a:rPr lang="nl-NL" sz="2400" b="0" i="1" smtClean="0">
                        <a:latin typeface="Cambria Math" panose="02040503050406030204" pitchFamily="18" charset="0"/>
                      </a:rPr>
                      <m:t>𝑍</m:t>
                    </m:r>
                    <m:r>
                      <a:rPr lang="nl-NL" sz="2400" b="0" i="1" smtClean="0">
                        <a:latin typeface="Cambria Math" panose="02040503050406030204" pitchFamily="18" charset="0"/>
                      </a:rPr>
                      <m:t>= </m:t>
                    </m:r>
                    <m:f>
                      <m:fPr>
                        <m:ctrlPr>
                          <a:rPr lang="nl-NL" sz="2400" b="0" i="1" smtClean="0">
                            <a:latin typeface="Cambria Math" panose="02040503050406030204" pitchFamily="18" charset="0"/>
                          </a:rPr>
                        </m:ctrlPr>
                      </m:fPr>
                      <m:num>
                        <m:r>
                          <a:rPr lang="nl-NL" sz="2400" b="0" i="1" smtClean="0">
                            <a:latin typeface="Cambria Math" panose="02040503050406030204" pitchFamily="18" charset="0"/>
                          </a:rPr>
                          <m:t>85−70</m:t>
                        </m:r>
                      </m:num>
                      <m:den>
                        <m:r>
                          <a:rPr lang="nl-NL" sz="2400" b="0" i="1" smtClean="0">
                            <a:latin typeface="Cambria Math" panose="02040503050406030204" pitchFamily="18" charset="0"/>
                          </a:rPr>
                          <m:t>10</m:t>
                        </m:r>
                      </m:den>
                    </m:f>
                    <m:r>
                      <a:rPr lang="nl-NL" sz="2400" b="0" i="1" smtClean="0">
                        <a:latin typeface="Cambria Math" panose="02040503050406030204" pitchFamily="18" charset="0"/>
                      </a:rPr>
                      <m:t>=</m:t>
                    </m:r>
                    <m:r>
                      <a:rPr lang="nl-NL" sz="2400" b="1" i="1" smtClean="0">
                        <a:latin typeface="Cambria Math" panose="02040503050406030204" pitchFamily="18" charset="0"/>
                      </a:rPr>
                      <m:t>𝟏</m:t>
                    </m:r>
                    <m:r>
                      <a:rPr lang="nl-NL" sz="2400" b="1" i="1" smtClean="0">
                        <a:latin typeface="Cambria Math" panose="02040503050406030204" pitchFamily="18" charset="0"/>
                      </a:rPr>
                      <m:t>.</m:t>
                    </m:r>
                    <m:r>
                      <a:rPr lang="nl-NL" sz="2400" b="1" i="1" smtClean="0">
                        <a:latin typeface="Cambria Math" panose="02040503050406030204" pitchFamily="18" charset="0"/>
                      </a:rPr>
                      <m:t>𝟓</m:t>
                    </m:r>
                  </m:oMath>
                </a14:m>
                <a:r>
                  <a:rPr lang="en-NL" sz="2400" dirty="0"/>
                  <a:t> </a:t>
                </a:r>
                <a:br>
                  <a:rPr lang="en-NL" sz="2400" dirty="0"/>
                </a:br>
                <a:endParaRPr lang="en-NL" sz="2400" dirty="0"/>
              </a:p>
              <a:p>
                <a:pPr algn="ctr"/>
                <a:r>
                  <a:rPr lang="en-NL" sz="2400" dirty="0"/>
                  <a:t>Student B: </a:t>
                </a:r>
                <a14:m>
                  <m:oMath xmlns:m="http://schemas.openxmlformats.org/officeDocument/2006/math">
                    <m:r>
                      <a:rPr lang="nl-NL" sz="2400" i="1">
                        <a:latin typeface="Cambria Math" panose="02040503050406030204" pitchFamily="18" charset="0"/>
                      </a:rPr>
                      <m:t>𝑍</m:t>
                    </m:r>
                    <m:r>
                      <a:rPr lang="nl-NL" sz="2400" i="1">
                        <a:latin typeface="Cambria Math" panose="02040503050406030204" pitchFamily="18" charset="0"/>
                      </a:rPr>
                      <m:t>= </m:t>
                    </m:r>
                    <m:f>
                      <m:fPr>
                        <m:ctrlPr>
                          <a:rPr lang="nl-NL" sz="2400" i="1">
                            <a:latin typeface="Cambria Math" panose="02040503050406030204" pitchFamily="18" charset="0"/>
                          </a:rPr>
                        </m:ctrlPr>
                      </m:fPr>
                      <m:num>
                        <m:r>
                          <a:rPr lang="nl-NL" sz="2400" i="1">
                            <a:latin typeface="Cambria Math" panose="02040503050406030204" pitchFamily="18" charset="0"/>
                          </a:rPr>
                          <m:t>85−</m:t>
                        </m:r>
                        <m:r>
                          <a:rPr lang="nl-NL" sz="2400" b="0" i="1" smtClean="0">
                            <a:latin typeface="Cambria Math" panose="02040503050406030204" pitchFamily="18" charset="0"/>
                          </a:rPr>
                          <m:t>80</m:t>
                        </m:r>
                      </m:num>
                      <m:den>
                        <m:r>
                          <a:rPr lang="nl-NL" sz="2400" b="0" i="1" smtClean="0">
                            <a:latin typeface="Cambria Math" panose="02040503050406030204" pitchFamily="18" charset="0"/>
                          </a:rPr>
                          <m:t>2</m:t>
                        </m:r>
                      </m:den>
                    </m:f>
                    <m:r>
                      <a:rPr lang="nl-NL" sz="2400" i="1">
                        <a:latin typeface="Cambria Math" panose="02040503050406030204" pitchFamily="18" charset="0"/>
                      </a:rPr>
                      <m:t>=</m:t>
                    </m:r>
                    <m:r>
                      <a:rPr lang="nl-NL" sz="2400" b="1" i="1" smtClean="0">
                        <a:latin typeface="Cambria Math" panose="02040503050406030204" pitchFamily="18" charset="0"/>
                      </a:rPr>
                      <m:t>𝟐</m:t>
                    </m:r>
                    <m:r>
                      <a:rPr lang="nl-NL" sz="2400" b="1" i="1" smtClean="0">
                        <a:latin typeface="Cambria Math" panose="02040503050406030204" pitchFamily="18" charset="0"/>
                      </a:rPr>
                      <m:t>.</m:t>
                    </m:r>
                    <m:r>
                      <a:rPr lang="nl-NL" sz="2400" b="1" i="1" smtClean="0">
                        <a:latin typeface="Cambria Math" panose="02040503050406030204" pitchFamily="18" charset="0"/>
                      </a:rPr>
                      <m:t>𝟓</m:t>
                    </m:r>
                  </m:oMath>
                </a14:m>
                <a:r>
                  <a:rPr lang="en-NL" sz="2400" dirty="0"/>
                  <a:t> </a:t>
                </a:r>
              </a:p>
              <a:p>
                <a:pPr algn="ctr"/>
                <a:endParaRPr lang="en-NL" dirty="0"/>
              </a:p>
            </p:txBody>
          </p:sp>
        </mc:Choice>
        <mc:Fallback>
          <p:sp>
            <p:nvSpPr>
              <p:cNvPr id="4" name="Rounded Rectangle 3">
                <a:extLst>
                  <a:ext uri="{FF2B5EF4-FFF2-40B4-BE49-F238E27FC236}">
                    <a16:creationId xmlns:a16="http://schemas.microsoft.com/office/drawing/2014/main" id="{168BEEEE-159E-25E8-72E0-77AB36701BCC}"/>
                  </a:ext>
                </a:extLst>
              </p:cNvPr>
              <p:cNvSpPr>
                <a:spLocks noRot="1" noChangeAspect="1" noMove="1" noResize="1" noEditPoints="1" noAdjustHandles="1" noChangeArrowheads="1" noChangeShapeType="1" noTextEdit="1"/>
              </p:cNvSpPr>
              <p:nvPr/>
            </p:nvSpPr>
            <p:spPr>
              <a:xfrm>
                <a:off x="609600" y="2141317"/>
                <a:ext cx="10706582" cy="3096592"/>
              </a:xfrm>
              <a:prstGeom prst="roundRect">
                <a:avLst/>
              </a:prstGeom>
              <a:blipFill>
                <a:blip r:embed="rId2"/>
                <a:stretch>
                  <a:fillRect/>
                </a:stretch>
              </a:blipFill>
            </p:spPr>
            <p:txBody>
              <a:bodyPr/>
              <a:lstStyle/>
              <a:p>
                <a:r>
                  <a:rPr lang="en-NL">
                    <a:noFill/>
                  </a:rPr>
                  <a:t> </a:t>
                </a:r>
              </a:p>
            </p:txBody>
          </p:sp>
        </mc:Fallback>
      </mc:AlternateContent>
      <p:sp>
        <p:nvSpPr>
          <p:cNvPr id="5" name="TextBox 4">
            <a:extLst>
              <a:ext uri="{FF2B5EF4-FFF2-40B4-BE49-F238E27FC236}">
                <a16:creationId xmlns:a16="http://schemas.microsoft.com/office/drawing/2014/main" id="{C3F0C24E-8F46-7031-9025-F3202A33EE5C}"/>
              </a:ext>
            </a:extLst>
          </p:cNvPr>
          <p:cNvSpPr txBox="1"/>
          <p:nvPr/>
        </p:nvSpPr>
        <p:spPr>
          <a:xfrm rot="21195229">
            <a:off x="8282937" y="932185"/>
            <a:ext cx="3419206" cy="369332"/>
          </a:xfrm>
          <a:prstGeom prst="rect">
            <a:avLst/>
          </a:prstGeom>
          <a:noFill/>
        </p:spPr>
        <p:txBody>
          <a:bodyPr wrap="none" rtlCol="0">
            <a:spAutoFit/>
          </a:bodyPr>
          <a:lstStyle/>
          <a:p>
            <a:r>
              <a:rPr lang="en-NL" b="1" dirty="0">
                <a:solidFill>
                  <a:schemeClr val="accent1"/>
                </a:solidFill>
              </a:rPr>
              <a:t>Because z-scores are standardized</a:t>
            </a:r>
          </a:p>
        </p:txBody>
      </p:sp>
      <p:pic>
        <p:nvPicPr>
          <p:cNvPr id="7" name="Picture 2" descr="undefined">
            <a:extLst>
              <a:ext uri="{FF2B5EF4-FFF2-40B4-BE49-F238E27FC236}">
                <a16:creationId xmlns:a16="http://schemas.microsoft.com/office/drawing/2014/main" id="{BB097723-33E4-B6EA-A0F2-1D7769A21F0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5199" b="20075"/>
          <a:stretch>
            <a:fillRect/>
          </a:stretch>
        </p:blipFill>
        <p:spPr bwMode="auto">
          <a:xfrm>
            <a:off x="1199946" y="5741149"/>
            <a:ext cx="10212692" cy="36184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12410CF-2C1C-681C-0723-8D124392E206}"/>
              </a:ext>
            </a:extLst>
          </p:cNvPr>
          <p:cNvSpPr txBox="1"/>
          <p:nvPr/>
        </p:nvSpPr>
        <p:spPr>
          <a:xfrm>
            <a:off x="7836075" y="5277640"/>
            <a:ext cx="433132" cy="584775"/>
          </a:xfrm>
          <a:prstGeom prst="rect">
            <a:avLst/>
          </a:prstGeom>
          <a:noFill/>
        </p:spPr>
        <p:txBody>
          <a:bodyPr wrap="none" rtlCol="0">
            <a:spAutoFit/>
          </a:bodyPr>
          <a:lstStyle/>
          <a:p>
            <a:r>
              <a:rPr lang="en-NL" sz="3200" b="1" dirty="0"/>
              <a:t>A</a:t>
            </a:r>
          </a:p>
        </p:txBody>
      </p:sp>
      <p:sp>
        <p:nvSpPr>
          <p:cNvPr id="9" name="TextBox 8">
            <a:extLst>
              <a:ext uri="{FF2B5EF4-FFF2-40B4-BE49-F238E27FC236}">
                <a16:creationId xmlns:a16="http://schemas.microsoft.com/office/drawing/2014/main" id="{99DBAE76-0829-BA3C-F129-7C153E5211FB}"/>
              </a:ext>
            </a:extLst>
          </p:cNvPr>
          <p:cNvSpPr txBox="1"/>
          <p:nvPr/>
        </p:nvSpPr>
        <p:spPr>
          <a:xfrm>
            <a:off x="8781403" y="5274393"/>
            <a:ext cx="415498" cy="584775"/>
          </a:xfrm>
          <a:prstGeom prst="rect">
            <a:avLst/>
          </a:prstGeom>
          <a:noFill/>
        </p:spPr>
        <p:txBody>
          <a:bodyPr wrap="none" rtlCol="0">
            <a:spAutoFit/>
          </a:bodyPr>
          <a:lstStyle/>
          <a:p>
            <a:r>
              <a:rPr lang="en-NL" sz="3200" b="1" dirty="0"/>
              <a:t>B</a:t>
            </a:r>
          </a:p>
        </p:txBody>
      </p:sp>
      <p:sp>
        <p:nvSpPr>
          <p:cNvPr id="10" name="TextBox 9">
            <a:extLst>
              <a:ext uri="{FF2B5EF4-FFF2-40B4-BE49-F238E27FC236}">
                <a16:creationId xmlns:a16="http://schemas.microsoft.com/office/drawing/2014/main" id="{8A0B806B-645C-80FF-F0F0-696E1B13D51C}"/>
              </a:ext>
            </a:extLst>
          </p:cNvPr>
          <p:cNvSpPr txBox="1"/>
          <p:nvPr/>
        </p:nvSpPr>
        <p:spPr>
          <a:xfrm>
            <a:off x="6189273" y="5336103"/>
            <a:ext cx="926857" cy="461665"/>
          </a:xfrm>
          <a:prstGeom prst="rect">
            <a:avLst/>
          </a:prstGeom>
          <a:noFill/>
        </p:spPr>
        <p:txBody>
          <a:bodyPr wrap="none" rtlCol="0">
            <a:spAutoFit/>
          </a:bodyPr>
          <a:lstStyle/>
          <a:p>
            <a:r>
              <a:rPr lang="en-NL" sz="2400" b="1" dirty="0"/>
              <a:t>Mean</a:t>
            </a:r>
            <a:endParaRPr lang="en-NL" b="1" dirty="0"/>
          </a:p>
        </p:txBody>
      </p:sp>
    </p:spTree>
    <p:extLst>
      <p:ext uri="{BB962C8B-B14F-4D97-AF65-F5344CB8AC3E}">
        <p14:creationId xmlns:p14="http://schemas.microsoft.com/office/powerpoint/2010/main" val="13608832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91FB5-7D69-6BAE-16E6-7FE6C2A70029}"/>
              </a:ext>
            </a:extLst>
          </p:cNvPr>
          <p:cNvSpPr>
            <a:spLocks noGrp="1"/>
          </p:cNvSpPr>
          <p:nvPr>
            <p:ph type="title"/>
          </p:nvPr>
        </p:nvSpPr>
        <p:spPr/>
        <p:txBody>
          <a:bodyPr/>
          <a:lstStyle/>
          <a:p>
            <a:r>
              <a:rPr lang="en-NL" dirty="0">
                <a:solidFill>
                  <a:schemeClr val="accent1"/>
                </a:solidFill>
              </a:rPr>
              <a:t>Distributions</a:t>
            </a:r>
            <a:r>
              <a:rPr lang="en-NL" dirty="0"/>
              <a:t> are great!</a:t>
            </a:r>
          </a:p>
        </p:txBody>
      </p:sp>
      <p:sp>
        <p:nvSpPr>
          <p:cNvPr id="3" name="Content Placeholder 2">
            <a:extLst>
              <a:ext uri="{FF2B5EF4-FFF2-40B4-BE49-F238E27FC236}">
                <a16:creationId xmlns:a16="http://schemas.microsoft.com/office/drawing/2014/main" id="{5A7BBD1C-3F8D-14A7-4255-BAE725E5E873}"/>
              </a:ext>
            </a:extLst>
          </p:cNvPr>
          <p:cNvSpPr>
            <a:spLocks noGrp="1"/>
          </p:cNvSpPr>
          <p:nvPr>
            <p:ph idx="1"/>
          </p:nvPr>
        </p:nvSpPr>
        <p:spPr/>
        <p:txBody>
          <a:bodyPr/>
          <a:lstStyle/>
          <a:p>
            <a:r>
              <a:rPr lang="en-NL" dirty="0"/>
              <a:t>Bernoulli, Binomial, Poisson and Normal</a:t>
            </a:r>
          </a:p>
          <a:p>
            <a:r>
              <a:rPr lang="en-NL" dirty="0"/>
              <a:t>Calculations (</a:t>
            </a:r>
            <a:r>
              <a:rPr lang="en-NL" i="1" dirty="0"/>
              <a:t>E[X], Variance</a:t>
            </a:r>
            <a:r>
              <a:rPr lang="en-NL" dirty="0"/>
              <a:t>) got easier once we saw the patterns</a:t>
            </a:r>
          </a:p>
          <a:p>
            <a:r>
              <a:rPr lang="en-NL" dirty="0"/>
              <a:t>They allowed us to answer practical questions with probabilities</a:t>
            </a:r>
          </a:p>
        </p:txBody>
      </p:sp>
    </p:spTree>
    <p:extLst>
      <p:ext uri="{BB962C8B-B14F-4D97-AF65-F5344CB8AC3E}">
        <p14:creationId xmlns:p14="http://schemas.microsoft.com/office/powerpoint/2010/main" val="16026193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9D7AE-04BE-472C-EE27-0DCB6536FAE3}"/>
              </a:ext>
            </a:extLst>
          </p:cNvPr>
          <p:cNvSpPr>
            <a:spLocks noGrp="1"/>
          </p:cNvSpPr>
          <p:nvPr>
            <p:ph type="title"/>
          </p:nvPr>
        </p:nvSpPr>
        <p:spPr>
          <a:xfrm>
            <a:off x="5098300" y="3051000"/>
            <a:ext cx="11102399" cy="756000"/>
          </a:xfrm>
        </p:spPr>
        <p:txBody>
          <a:bodyPr/>
          <a:lstStyle/>
          <a:p>
            <a:r>
              <a:rPr lang="en-NL" dirty="0"/>
              <a:t>Coffee?</a:t>
            </a:r>
          </a:p>
        </p:txBody>
      </p:sp>
    </p:spTree>
    <p:extLst>
      <p:ext uri="{BB962C8B-B14F-4D97-AF65-F5344CB8AC3E}">
        <p14:creationId xmlns:p14="http://schemas.microsoft.com/office/powerpoint/2010/main" val="21854021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E19B6-7A81-2A05-2F9D-924F24F04A7F}"/>
              </a:ext>
            </a:extLst>
          </p:cNvPr>
          <p:cNvSpPr>
            <a:spLocks noGrp="1"/>
          </p:cNvSpPr>
          <p:nvPr>
            <p:ph type="title"/>
          </p:nvPr>
        </p:nvSpPr>
        <p:spPr/>
        <p:txBody>
          <a:bodyPr/>
          <a:lstStyle/>
          <a:p>
            <a:r>
              <a:rPr lang="en-NL" dirty="0"/>
              <a:t>Why is the </a:t>
            </a:r>
            <a:r>
              <a:rPr lang="en-NL" dirty="0">
                <a:solidFill>
                  <a:schemeClr val="accent1"/>
                </a:solidFill>
              </a:rPr>
              <a:t>Normal Distribution </a:t>
            </a:r>
            <a:r>
              <a:rPr lang="en-NL" dirty="0"/>
              <a:t>so great?</a:t>
            </a:r>
          </a:p>
        </p:txBody>
      </p:sp>
      <p:sp>
        <p:nvSpPr>
          <p:cNvPr id="5" name="Content Placeholder 4">
            <a:extLst>
              <a:ext uri="{FF2B5EF4-FFF2-40B4-BE49-F238E27FC236}">
                <a16:creationId xmlns:a16="http://schemas.microsoft.com/office/drawing/2014/main" id="{23D15839-3F39-AE7D-5AAB-7E3E5F4E4286}"/>
              </a:ext>
            </a:extLst>
          </p:cNvPr>
          <p:cNvSpPr>
            <a:spLocks noGrp="1"/>
          </p:cNvSpPr>
          <p:nvPr>
            <p:ph idx="1"/>
          </p:nvPr>
        </p:nvSpPr>
        <p:spPr/>
        <p:txBody>
          <a:bodyPr/>
          <a:lstStyle/>
          <a:p>
            <a:r>
              <a:rPr lang="en-NL" dirty="0"/>
              <a:t>Law of Large Numbers</a:t>
            </a:r>
          </a:p>
          <a:p>
            <a:r>
              <a:rPr lang="en-NL" dirty="0"/>
              <a:t>Central Limit Theorem</a:t>
            </a:r>
          </a:p>
          <a:p>
            <a:r>
              <a:rPr lang="en-NL" dirty="0"/>
              <a:t>Confidence Intervals</a:t>
            </a:r>
          </a:p>
          <a:p>
            <a:pPr marL="0" indent="0">
              <a:buNone/>
            </a:pPr>
            <a:endParaRPr lang="en-NL" dirty="0"/>
          </a:p>
        </p:txBody>
      </p:sp>
      <p:sp>
        <p:nvSpPr>
          <p:cNvPr id="6" name="TextBox 5">
            <a:extLst>
              <a:ext uri="{FF2B5EF4-FFF2-40B4-BE49-F238E27FC236}">
                <a16:creationId xmlns:a16="http://schemas.microsoft.com/office/drawing/2014/main" id="{1278C3DF-99BA-1FFE-B990-5AC1402D5D54}"/>
              </a:ext>
            </a:extLst>
          </p:cNvPr>
          <p:cNvSpPr txBox="1"/>
          <p:nvPr/>
        </p:nvSpPr>
        <p:spPr>
          <a:xfrm rot="20382063">
            <a:off x="4431149" y="3973791"/>
            <a:ext cx="2751074" cy="707886"/>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NL" sz="4000" b="1" dirty="0">
                <a:solidFill>
                  <a:schemeClr val="accent1"/>
                </a:solidFill>
              </a:rPr>
              <a:t>Not magic?!</a:t>
            </a:r>
          </a:p>
        </p:txBody>
      </p:sp>
    </p:spTree>
    <p:extLst>
      <p:ext uri="{BB962C8B-B14F-4D97-AF65-F5344CB8AC3E}">
        <p14:creationId xmlns:p14="http://schemas.microsoft.com/office/powerpoint/2010/main" val="11333529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30DAC-35C2-30E4-6387-1B4A92F70A79}"/>
              </a:ext>
            </a:extLst>
          </p:cNvPr>
          <p:cNvSpPr>
            <a:spLocks noGrp="1"/>
          </p:cNvSpPr>
          <p:nvPr>
            <p:ph type="title"/>
          </p:nvPr>
        </p:nvSpPr>
        <p:spPr/>
        <p:txBody>
          <a:bodyPr/>
          <a:lstStyle/>
          <a:p>
            <a:r>
              <a:rPr lang="en-NL" dirty="0"/>
              <a:t>Law of Large Numbers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208DF6B-CD84-D3CC-EBFB-B7EB0CFE4473}"/>
                  </a:ext>
                </a:extLst>
              </p:cNvPr>
              <p:cNvSpPr>
                <a:spLocks noGrp="1"/>
              </p:cNvSpPr>
              <p:nvPr>
                <p:ph idx="1"/>
              </p:nvPr>
            </p:nvSpPr>
            <p:spPr/>
            <p:txBody>
              <a:bodyPr/>
              <a:lstStyle/>
              <a:p>
                <a:pPr marL="0" indent="0" algn="ctr">
                  <a:buNone/>
                </a:pPr>
                <a:r>
                  <a:rPr lang="en-NL" sz="3600" dirty="0"/>
                  <a:t>As the </a:t>
                </a:r>
                <a:r>
                  <a:rPr lang="en-NL" sz="3600" b="1" dirty="0"/>
                  <a:t>number of trials (</a:t>
                </a:r>
                <a:r>
                  <a:rPr lang="en-NL" sz="3600" b="1" i="1" dirty="0">
                    <a:latin typeface="Cambria Math" panose="02040503050406030204" pitchFamily="18" charset="0"/>
                    <a:ea typeface="Cambria Math" panose="02040503050406030204" pitchFamily="18" charset="0"/>
                  </a:rPr>
                  <a:t>n</a:t>
                </a:r>
                <a:r>
                  <a:rPr lang="en-NL" sz="3600" b="1" dirty="0"/>
                  <a:t>)</a:t>
                </a:r>
                <a:r>
                  <a:rPr lang="en-NL" sz="3600" dirty="0"/>
                  <a:t> increases, the </a:t>
                </a:r>
                <a:r>
                  <a:rPr lang="en-NL" sz="3600" b="1" dirty="0"/>
                  <a:t>sample mean (</a:t>
                </a:r>
                <a14:m>
                  <m:oMath xmlns:m="http://schemas.openxmlformats.org/officeDocument/2006/math">
                    <m:acc>
                      <m:accPr>
                        <m:chr m:val="̅"/>
                        <m:ctrlPr>
                          <a:rPr lang="en-NL" sz="3600" b="1" i="1" smtClean="0">
                            <a:latin typeface="Cambria Math" panose="02040503050406030204" pitchFamily="18" charset="0"/>
                          </a:rPr>
                        </m:ctrlPr>
                      </m:accPr>
                      <m:e>
                        <m:r>
                          <a:rPr lang="nl-NL" sz="3600" b="1" i="1" smtClean="0">
                            <a:latin typeface="Cambria Math" panose="02040503050406030204" pitchFamily="18" charset="0"/>
                          </a:rPr>
                          <m:t>𝒙</m:t>
                        </m:r>
                      </m:e>
                    </m:acc>
                  </m:oMath>
                </a14:m>
                <a:r>
                  <a:rPr lang="en-NL" sz="3600" b="1" dirty="0"/>
                  <a:t>) </a:t>
                </a:r>
                <a:r>
                  <a:rPr lang="en-NL" sz="3600" dirty="0"/>
                  <a:t>will converge to the </a:t>
                </a:r>
                <a:r>
                  <a:rPr lang="en-NL" sz="3600" b="1" dirty="0"/>
                  <a:t>theoretical mean (</a:t>
                </a:r>
                <a14:m>
                  <m:oMath xmlns:m="http://schemas.openxmlformats.org/officeDocument/2006/math">
                    <m:r>
                      <a:rPr lang="en-NL" sz="3600" b="1" i="1">
                        <a:latin typeface="Cambria Math" panose="02040503050406030204" pitchFamily="18" charset="0"/>
                        <a:ea typeface="Cambria Math" panose="02040503050406030204" pitchFamily="18" charset="0"/>
                      </a:rPr>
                      <m:t>𝝁</m:t>
                    </m:r>
                  </m:oMath>
                </a14:m>
                <a:r>
                  <a:rPr lang="en-NL" sz="3600" b="1" dirty="0"/>
                  <a:t>) </a:t>
                </a:r>
                <a:r>
                  <a:rPr lang="en-NL" sz="3600" dirty="0"/>
                  <a:t>of the population.</a:t>
                </a:r>
              </a:p>
              <a:p>
                <a:pPr marL="0" indent="0" algn="ctr">
                  <a:buNone/>
                </a:pPr>
                <a:endParaRPr lang="en-NL" sz="3600" dirty="0"/>
              </a:p>
              <a:p>
                <a:pPr marL="0" indent="0">
                  <a:buNone/>
                </a:pPr>
                <a:endParaRPr lang="en-NL" sz="3600" dirty="0"/>
              </a:p>
            </p:txBody>
          </p:sp>
        </mc:Choice>
        <mc:Fallback>
          <p:sp>
            <p:nvSpPr>
              <p:cNvPr id="3" name="Content Placeholder 2">
                <a:extLst>
                  <a:ext uri="{FF2B5EF4-FFF2-40B4-BE49-F238E27FC236}">
                    <a16:creationId xmlns:a16="http://schemas.microsoft.com/office/drawing/2014/main" id="{1208DF6B-CD84-D3CC-EBFB-B7EB0CFE4473}"/>
                  </a:ext>
                </a:extLst>
              </p:cNvPr>
              <p:cNvSpPr>
                <a:spLocks noGrp="1" noRot="1" noChangeAspect="1" noMove="1" noResize="1" noEditPoints="1" noAdjustHandles="1" noChangeArrowheads="1" noChangeShapeType="1" noTextEdit="1"/>
              </p:cNvSpPr>
              <p:nvPr>
                <p:ph idx="1"/>
              </p:nvPr>
            </p:nvSpPr>
            <p:spPr>
              <a:blipFill>
                <a:blip r:embed="rId3"/>
                <a:stretch>
                  <a:fillRect l="-1712" t="-3134" r="-2626"/>
                </a:stretch>
              </a:blipFill>
            </p:spPr>
            <p:txBody>
              <a:bodyPr/>
              <a:lstStyle/>
              <a:p>
                <a:r>
                  <a:rPr lang="en-NL">
                    <a:noFill/>
                  </a:rPr>
                  <a:t> </a:t>
                </a:r>
              </a:p>
            </p:txBody>
          </p:sp>
        </mc:Fallback>
      </mc:AlternateContent>
    </p:spTree>
    <p:extLst>
      <p:ext uri="{BB962C8B-B14F-4D97-AF65-F5344CB8AC3E}">
        <p14:creationId xmlns:p14="http://schemas.microsoft.com/office/powerpoint/2010/main" val="34618590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BAA7D-6D82-BE29-6492-C1168CBFF6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EC182-57CB-FDC6-04CC-D84C112EDB9D}"/>
              </a:ext>
            </a:extLst>
          </p:cNvPr>
          <p:cNvSpPr>
            <a:spLocks noGrp="1"/>
          </p:cNvSpPr>
          <p:nvPr>
            <p:ph type="title"/>
          </p:nvPr>
        </p:nvSpPr>
        <p:spPr/>
        <p:txBody>
          <a:bodyPr/>
          <a:lstStyle/>
          <a:p>
            <a:r>
              <a:rPr lang="en-NL" dirty="0"/>
              <a:t>Law of Large Numbers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FC7DC3A-75A7-5586-C00B-437883C41ED2}"/>
                  </a:ext>
                </a:extLst>
              </p:cNvPr>
              <p:cNvSpPr>
                <a:spLocks noGrp="1"/>
              </p:cNvSpPr>
              <p:nvPr>
                <p:ph idx="1"/>
              </p:nvPr>
            </p:nvSpPr>
            <p:spPr/>
            <p:txBody>
              <a:bodyPr/>
              <a:lstStyle/>
              <a:p>
                <a:pPr marL="0" indent="0" algn="ctr">
                  <a:buNone/>
                </a:pPr>
                <a:r>
                  <a:rPr lang="en-NL" sz="3600" dirty="0"/>
                  <a:t>As the </a:t>
                </a:r>
                <a:r>
                  <a:rPr lang="en-NL" sz="3600" b="1" dirty="0"/>
                  <a:t>number of trials (</a:t>
                </a:r>
                <a:r>
                  <a:rPr lang="en-NL" sz="3600" b="1" i="1" dirty="0">
                    <a:latin typeface="Cambria Math" panose="02040503050406030204" pitchFamily="18" charset="0"/>
                    <a:ea typeface="Cambria Math" panose="02040503050406030204" pitchFamily="18" charset="0"/>
                  </a:rPr>
                  <a:t>n</a:t>
                </a:r>
                <a:r>
                  <a:rPr lang="en-NL" sz="3600" b="1" dirty="0"/>
                  <a:t>)</a:t>
                </a:r>
                <a:r>
                  <a:rPr lang="en-NL" sz="3600" dirty="0"/>
                  <a:t> increases, the </a:t>
                </a:r>
                <a:r>
                  <a:rPr lang="en-NL" sz="3600" b="1" dirty="0"/>
                  <a:t>sample mean (</a:t>
                </a:r>
                <a14:m>
                  <m:oMath xmlns:m="http://schemas.openxmlformats.org/officeDocument/2006/math">
                    <m:acc>
                      <m:accPr>
                        <m:chr m:val="̅"/>
                        <m:ctrlPr>
                          <a:rPr lang="en-NL" sz="3600" b="1" i="1" smtClean="0">
                            <a:latin typeface="Cambria Math" panose="02040503050406030204" pitchFamily="18" charset="0"/>
                          </a:rPr>
                        </m:ctrlPr>
                      </m:accPr>
                      <m:e>
                        <m:r>
                          <a:rPr lang="nl-NL" sz="3600" b="1" i="1" smtClean="0">
                            <a:latin typeface="Cambria Math" panose="02040503050406030204" pitchFamily="18" charset="0"/>
                          </a:rPr>
                          <m:t>𝒙</m:t>
                        </m:r>
                      </m:e>
                    </m:acc>
                  </m:oMath>
                </a14:m>
                <a:r>
                  <a:rPr lang="en-NL" sz="3600" b="1" dirty="0"/>
                  <a:t>) </a:t>
                </a:r>
                <a:r>
                  <a:rPr lang="en-NL" sz="3600" dirty="0"/>
                  <a:t>will converge to the </a:t>
                </a:r>
                <a:r>
                  <a:rPr lang="en-NL" sz="3600" b="1" dirty="0"/>
                  <a:t>theoretical mean (</a:t>
                </a:r>
                <a14:m>
                  <m:oMath xmlns:m="http://schemas.openxmlformats.org/officeDocument/2006/math">
                    <m:r>
                      <a:rPr lang="en-NL" sz="3600" b="1" i="1">
                        <a:latin typeface="Cambria Math" panose="02040503050406030204" pitchFamily="18" charset="0"/>
                        <a:ea typeface="Cambria Math" panose="02040503050406030204" pitchFamily="18" charset="0"/>
                      </a:rPr>
                      <m:t>𝝁</m:t>
                    </m:r>
                  </m:oMath>
                </a14:m>
                <a:r>
                  <a:rPr lang="en-NL" sz="3600" b="1" dirty="0"/>
                  <a:t>) </a:t>
                </a:r>
                <a:r>
                  <a:rPr lang="en-NL" sz="3600" dirty="0"/>
                  <a:t>of the population.</a:t>
                </a:r>
              </a:p>
              <a:p>
                <a:pPr marL="0" indent="0">
                  <a:buNone/>
                </a:pPr>
                <a:endParaRPr lang="en-NL" sz="3600" dirty="0"/>
              </a:p>
              <a:p>
                <a:pPr marL="0" indent="0">
                  <a:buNone/>
                </a:pPr>
                <a:r>
                  <a:rPr lang="en-NL" sz="3600" b="1" dirty="0">
                    <a:solidFill>
                      <a:schemeClr val="accent1"/>
                    </a:solidFill>
                  </a:rPr>
                  <a:t>The Gambler’s Fallacy: </a:t>
                </a:r>
              </a:p>
              <a:p>
                <a:pPr marL="0" indent="0">
                  <a:buNone/>
                </a:pPr>
                <a:r>
                  <a:rPr lang="en-NL" sz="3600" i="1" dirty="0"/>
                  <a:t>“I just got 5 crashes in a row, so the next few days I will not have a single crash so it balances out to the average!”</a:t>
                </a:r>
              </a:p>
              <a:p>
                <a:pPr marL="0" indent="0">
                  <a:buNone/>
                </a:pPr>
                <a:endParaRPr lang="en-NL" sz="3600" i="1" dirty="0"/>
              </a:p>
              <a:p>
                <a:pPr marL="0" indent="0" algn="ctr">
                  <a:buNone/>
                </a:pPr>
                <a:endParaRPr lang="en-NL" sz="3600" dirty="0"/>
              </a:p>
              <a:p>
                <a:pPr marL="0" indent="0">
                  <a:buNone/>
                </a:pPr>
                <a:endParaRPr lang="en-NL" sz="3600" dirty="0"/>
              </a:p>
            </p:txBody>
          </p:sp>
        </mc:Choice>
        <mc:Fallback>
          <p:sp>
            <p:nvSpPr>
              <p:cNvPr id="3" name="Content Placeholder 2">
                <a:extLst>
                  <a:ext uri="{FF2B5EF4-FFF2-40B4-BE49-F238E27FC236}">
                    <a16:creationId xmlns:a16="http://schemas.microsoft.com/office/drawing/2014/main" id="{5FC7DC3A-75A7-5586-C00B-437883C41ED2}"/>
                  </a:ext>
                </a:extLst>
              </p:cNvPr>
              <p:cNvSpPr>
                <a:spLocks noGrp="1" noRot="1" noChangeAspect="1" noMove="1" noResize="1" noEditPoints="1" noAdjustHandles="1" noChangeArrowheads="1" noChangeShapeType="1" noTextEdit="1"/>
              </p:cNvSpPr>
              <p:nvPr>
                <p:ph idx="1"/>
              </p:nvPr>
            </p:nvSpPr>
            <p:spPr>
              <a:blipFill>
                <a:blip r:embed="rId3"/>
                <a:stretch>
                  <a:fillRect l="-2511" t="-3134" r="-2626"/>
                </a:stretch>
              </a:blipFill>
            </p:spPr>
            <p:txBody>
              <a:bodyPr/>
              <a:lstStyle/>
              <a:p>
                <a:r>
                  <a:rPr lang="en-NL">
                    <a:noFill/>
                  </a:rPr>
                  <a:t> </a:t>
                </a:r>
              </a:p>
            </p:txBody>
          </p:sp>
        </mc:Fallback>
      </mc:AlternateContent>
    </p:spTree>
    <p:extLst>
      <p:ext uri="{BB962C8B-B14F-4D97-AF65-F5344CB8AC3E}">
        <p14:creationId xmlns:p14="http://schemas.microsoft.com/office/powerpoint/2010/main" val="19950726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B0A45-E24C-3421-32FC-1D14448006A8}"/>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5405704E-28F5-EBDB-9E52-E63935677306}"/>
              </a:ext>
            </a:extLst>
          </p:cNvPr>
          <p:cNvSpPr/>
          <p:nvPr/>
        </p:nvSpPr>
        <p:spPr>
          <a:xfrm>
            <a:off x="793655" y="3428999"/>
            <a:ext cx="10642132" cy="1235597"/>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
        <p:nvSpPr>
          <p:cNvPr id="2" name="Title 1">
            <a:extLst>
              <a:ext uri="{FF2B5EF4-FFF2-40B4-BE49-F238E27FC236}">
                <a16:creationId xmlns:a16="http://schemas.microsoft.com/office/drawing/2014/main" id="{C4EBFB8E-0E2F-A11C-5E5D-07D8B08FEB51}"/>
              </a:ext>
            </a:extLst>
          </p:cNvPr>
          <p:cNvSpPr>
            <a:spLocks noGrp="1"/>
          </p:cNvSpPr>
          <p:nvPr>
            <p:ph type="title"/>
          </p:nvPr>
        </p:nvSpPr>
        <p:spPr/>
        <p:txBody>
          <a:bodyPr/>
          <a:lstStyle/>
          <a:p>
            <a:r>
              <a:rPr lang="en-NL" dirty="0"/>
              <a:t>Law of Large Numbers</a:t>
            </a:r>
          </a:p>
        </p:txBody>
      </p:sp>
      <p:sp>
        <p:nvSpPr>
          <p:cNvPr id="3" name="Content Placeholder 2">
            <a:extLst>
              <a:ext uri="{FF2B5EF4-FFF2-40B4-BE49-F238E27FC236}">
                <a16:creationId xmlns:a16="http://schemas.microsoft.com/office/drawing/2014/main" id="{064446C7-D6EF-DDC1-36B9-BE9DBF5D4FBC}"/>
              </a:ext>
            </a:extLst>
          </p:cNvPr>
          <p:cNvSpPr>
            <a:spLocks noGrp="1"/>
          </p:cNvSpPr>
          <p:nvPr>
            <p:ph idx="1"/>
          </p:nvPr>
        </p:nvSpPr>
        <p:spPr/>
        <p:txBody>
          <a:bodyPr/>
          <a:lstStyle/>
          <a:p>
            <a:pPr marL="0" indent="0">
              <a:buNone/>
            </a:pPr>
            <a:r>
              <a:rPr lang="en-NL" sz="3600" b="1" dirty="0">
                <a:solidFill>
                  <a:schemeClr val="accent1"/>
                </a:solidFill>
              </a:rPr>
              <a:t>The Gambler’s Fallacy: </a:t>
            </a:r>
          </a:p>
          <a:p>
            <a:pPr marL="0" indent="0">
              <a:buNone/>
            </a:pPr>
            <a:r>
              <a:rPr lang="en-NL" sz="3600" i="1" dirty="0"/>
              <a:t>“I just got 5 crashes in a row, so the next few days I will not have a single crash so it balances out to the average!”</a:t>
            </a:r>
          </a:p>
          <a:p>
            <a:pPr marL="0" indent="0">
              <a:buNone/>
            </a:pPr>
            <a:endParaRPr lang="en-NL" sz="3600" i="1" dirty="0"/>
          </a:p>
          <a:p>
            <a:pPr marL="0" indent="0" algn="ctr">
              <a:buNone/>
            </a:pPr>
            <a:r>
              <a:rPr lang="en-NL" sz="3600" i="1" dirty="0"/>
              <a:t>Only after </a:t>
            </a:r>
            <a:r>
              <a:rPr lang="en-NL" sz="3600" b="1" i="1" dirty="0"/>
              <a:t>a very large number of days </a:t>
            </a:r>
            <a:r>
              <a:rPr lang="en-NL" sz="3600" i="1" dirty="0"/>
              <a:t>will these early crashes become mathematically invisible, not directly…</a:t>
            </a:r>
          </a:p>
          <a:p>
            <a:pPr marL="0" indent="0" algn="ctr">
              <a:buNone/>
            </a:pPr>
            <a:endParaRPr lang="en-NL" sz="3600" dirty="0"/>
          </a:p>
          <a:p>
            <a:pPr marL="0" indent="0">
              <a:buNone/>
            </a:pPr>
            <a:endParaRPr lang="en-NL" sz="3600" dirty="0"/>
          </a:p>
        </p:txBody>
      </p:sp>
    </p:spTree>
    <p:extLst>
      <p:ext uri="{BB962C8B-B14F-4D97-AF65-F5344CB8AC3E}">
        <p14:creationId xmlns:p14="http://schemas.microsoft.com/office/powerpoint/2010/main" val="2017777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BB73-D0A3-4AE4-2FA6-BFAA04B4FD79}"/>
              </a:ext>
            </a:extLst>
          </p:cNvPr>
          <p:cNvSpPr>
            <a:spLocks noGrp="1"/>
          </p:cNvSpPr>
          <p:nvPr>
            <p:ph type="title"/>
          </p:nvPr>
        </p:nvSpPr>
        <p:spPr/>
        <p:txBody>
          <a:bodyPr/>
          <a:lstStyle/>
          <a:p>
            <a:r>
              <a:rPr lang="en-NL" dirty="0"/>
              <a:t>Central Limit Theorem</a:t>
            </a:r>
          </a:p>
        </p:txBody>
      </p:sp>
      <p:sp>
        <p:nvSpPr>
          <p:cNvPr id="3" name="Content Placeholder 2">
            <a:extLst>
              <a:ext uri="{FF2B5EF4-FFF2-40B4-BE49-F238E27FC236}">
                <a16:creationId xmlns:a16="http://schemas.microsoft.com/office/drawing/2014/main" id="{A92FAF87-EA91-0706-6A2C-9C9659E7EAD5}"/>
              </a:ext>
            </a:extLst>
          </p:cNvPr>
          <p:cNvSpPr>
            <a:spLocks noGrp="1"/>
          </p:cNvSpPr>
          <p:nvPr>
            <p:ph idx="1"/>
          </p:nvPr>
        </p:nvSpPr>
        <p:spPr/>
        <p:txBody>
          <a:bodyPr/>
          <a:lstStyle/>
          <a:p>
            <a:r>
              <a:rPr lang="en-US" sz="3600" dirty="0"/>
              <a:t>The </a:t>
            </a:r>
            <a:r>
              <a:rPr lang="en-US" sz="3600" b="1" dirty="0"/>
              <a:t>law of large numbers </a:t>
            </a:r>
            <a:r>
              <a:rPr lang="en-US" sz="3600" dirty="0"/>
              <a:t>says that the sample mean converges to the population mean as the </a:t>
            </a:r>
            <a:r>
              <a:rPr lang="en-US" sz="3600" i="1" dirty="0"/>
              <a:t>n </a:t>
            </a:r>
            <a:r>
              <a:rPr lang="en-US" sz="3600" dirty="0"/>
              <a:t>increases.</a:t>
            </a:r>
          </a:p>
          <a:p>
            <a:r>
              <a:rPr lang="en-US" sz="3600" dirty="0"/>
              <a:t>In principle we do not know the distribution, but it looks familiar</a:t>
            </a:r>
          </a:p>
          <a:p>
            <a:endParaRPr lang="en-NL" dirty="0"/>
          </a:p>
        </p:txBody>
      </p:sp>
      <p:pic>
        <p:nvPicPr>
          <p:cNvPr id="4" name="Content Placeholder 10" descr="A group of graphs and diagrams&#10;&#10;AI-generated content may be incorrect.">
            <a:extLst>
              <a:ext uri="{FF2B5EF4-FFF2-40B4-BE49-F238E27FC236}">
                <a16:creationId xmlns:a16="http://schemas.microsoft.com/office/drawing/2014/main" id="{21CE66D1-9730-8213-9FBC-702CEE17867C}"/>
              </a:ext>
            </a:extLst>
          </p:cNvPr>
          <p:cNvPicPr>
            <a:picLocks noChangeAspect="1"/>
          </p:cNvPicPr>
          <p:nvPr/>
        </p:nvPicPr>
        <p:blipFill>
          <a:blip r:embed="rId2"/>
          <a:stretch>
            <a:fillRect/>
          </a:stretch>
        </p:blipFill>
        <p:spPr>
          <a:xfrm>
            <a:off x="5231756" y="2963346"/>
            <a:ext cx="5301206" cy="3790362"/>
          </a:xfrm>
          <a:prstGeom prst="rect">
            <a:avLst/>
          </a:prstGeom>
          <a:noFill/>
        </p:spPr>
      </p:pic>
    </p:spTree>
    <p:extLst>
      <p:ext uri="{BB962C8B-B14F-4D97-AF65-F5344CB8AC3E}">
        <p14:creationId xmlns:p14="http://schemas.microsoft.com/office/powerpoint/2010/main" val="4962770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AEB16-75E9-2904-9F46-55BA36B67575}"/>
              </a:ext>
            </a:extLst>
          </p:cNvPr>
          <p:cNvSpPr>
            <a:spLocks noGrp="1"/>
          </p:cNvSpPr>
          <p:nvPr>
            <p:ph type="title"/>
          </p:nvPr>
        </p:nvSpPr>
        <p:spPr/>
        <p:txBody>
          <a:bodyPr/>
          <a:lstStyle/>
          <a:p>
            <a:r>
              <a:rPr lang="en-NL" dirty="0"/>
              <a:t>Central Limit Theorem</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D45B19D-D7D3-DBFB-6F0E-6D7586E43278}"/>
                  </a:ext>
                </a:extLst>
              </p:cNvPr>
              <p:cNvSpPr>
                <a:spLocks noGrp="1"/>
              </p:cNvSpPr>
              <p:nvPr>
                <p:ph idx="1"/>
              </p:nvPr>
            </p:nvSpPr>
            <p:spPr/>
            <p:txBody>
              <a:bodyPr/>
              <a:lstStyle/>
              <a:p>
                <a:pPr marL="0" indent="0">
                  <a:buNone/>
                </a:pPr>
                <a:r>
                  <a:rPr lang="en-US" sz="4400" dirty="0"/>
                  <a:t>For distributions without very heavy tails, the sample mean converges to the </a:t>
                </a:r>
                <a:r>
                  <a:rPr lang="en-US" sz="4400" b="1" dirty="0"/>
                  <a:t>normal [bell curve] distribution</a:t>
                </a:r>
                <a:r>
                  <a:rPr lang="en-US" sz="4400" dirty="0"/>
                  <a:t> with the population mean as its mean (</a:t>
                </a:r>
                <a:r>
                  <a:rPr lang="en-US" sz="4400" i="1" dirty="0">
                    <a:solidFill>
                      <a:schemeClr val="accent1"/>
                    </a:solidFill>
                  </a:rPr>
                  <a:t>law of large numbers</a:t>
                </a:r>
                <a:r>
                  <a:rPr lang="en-US" sz="4400" dirty="0"/>
                  <a:t>) and standard deviation = </a:t>
                </a:r>
                <a14:m>
                  <m:oMath xmlns:m="http://schemas.openxmlformats.org/officeDocument/2006/math">
                    <m:r>
                      <a:rPr lang="en-US" sz="4400" b="1" i="1" smtClean="0">
                        <a:solidFill>
                          <a:schemeClr val="accent1"/>
                        </a:solidFill>
                        <a:latin typeface="Cambria Math" panose="02040503050406030204" pitchFamily="18" charset="0"/>
                      </a:rPr>
                      <m:t>𝝈</m:t>
                    </m:r>
                    <m:r>
                      <a:rPr lang="en-US" sz="4400" b="1" i="1" smtClean="0">
                        <a:solidFill>
                          <a:schemeClr val="accent1"/>
                        </a:solidFill>
                        <a:latin typeface="Cambria Math" panose="02040503050406030204" pitchFamily="18" charset="0"/>
                      </a:rPr>
                      <m:t>/</m:t>
                    </m:r>
                    <m:rad>
                      <m:radPr>
                        <m:degHide m:val="on"/>
                        <m:ctrlPr>
                          <a:rPr lang="en-US" sz="4400" b="1" i="1">
                            <a:solidFill>
                              <a:schemeClr val="accent1"/>
                            </a:solidFill>
                            <a:latin typeface="Cambria Math" panose="02040503050406030204" pitchFamily="18" charset="0"/>
                          </a:rPr>
                        </m:ctrlPr>
                      </m:radPr>
                      <m:deg/>
                      <m:e>
                        <m:r>
                          <a:rPr lang="en-US" sz="4400" b="1" i="1">
                            <a:solidFill>
                              <a:schemeClr val="accent1"/>
                            </a:solidFill>
                            <a:latin typeface="Cambria Math" panose="02040503050406030204" pitchFamily="18" charset="0"/>
                          </a:rPr>
                          <m:t>𝒏</m:t>
                        </m:r>
                      </m:e>
                    </m:rad>
                  </m:oMath>
                </a14:m>
                <a:r>
                  <a:rPr lang="en-US" sz="4400" b="1" dirty="0">
                    <a:solidFill>
                      <a:schemeClr val="accent1"/>
                    </a:solidFill>
                  </a:rPr>
                  <a:t> </a:t>
                </a:r>
                <a:r>
                  <a:rPr lang="en-US" sz="4400" dirty="0"/>
                  <a:t>= population </a:t>
                </a:r>
                <a:r>
                  <a:rPr lang="en-US" sz="4400" b="1" dirty="0">
                    <a:solidFill>
                      <a:schemeClr val="accent1"/>
                    </a:solidFill>
                  </a:rPr>
                  <a:t>standard error</a:t>
                </a:r>
                <a:r>
                  <a:rPr lang="en-US" sz="4400" dirty="0"/>
                  <a:t>!</a:t>
                </a:r>
              </a:p>
              <a:p>
                <a:pPr marL="0" indent="0">
                  <a:buNone/>
                </a:pPr>
                <a:endParaRPr lang="en-NL" dirty="0"/>
              </a:p>
            </p:txBody>
          </p:sp>
        </mc:Choice>
        <mc:Fallback>
          <p:sp>
            <p:nvSpPr>
              <p:cNvPr id="3" name="Content Placeholder 2">
                <a:extLst>
                  <a:ext uri="{FF2B5EF4-FFF2-40B4-BE49-F238E27FC236}">
                    <a16:creationId xmlns:a16="http://schemas.microsoft.com/office/drawing/2014/main" id="{DD45B19D-D7D3-DBFB-6F0E-6D7586E43278}"/>
                  </a:ext>
                </a:extLst>
              </p:cNvPr>
              <p:cNvSpPr>
                <a:spLocks noGrp="1" noRot="1" noChangeAspect="1" noMove="1" noResize="1" noEditPoints="1" noAdjustHandles="1" noChangeArrowheads="1" noChangeShapeType="1" noTextEdit="1"/>
              </p:cNvSpPr>
              <p:nvPr>
                <p:ph idx="1"/>
              </p:nvPr>
            </p:nvSpPr>
            <p:spPr>
              <a:blipFill>
                <a:blip r:embed="rId2"/>
                <a:stretch>
                  <a:fillRect l="-2968" t="-3989" r="-2740"/>
                </a:stretch>
              </a:blipFill>
            </p:spPr>
            <p:txBody>
              <a:bodyPr/>
              <a:lstStyle/>
              <a:p>
                <a:r>
                  <a:rPr lang="en-NL">
                    <a:noFill/>
                  </a:rPr>
                  <a:t> </a:t>
                </a:r>
              </a:p>
            </p:txBody>
          </p:sp>
        </mc:Fallback>
      </mc:AlternateContent>
    </p:spTree>
    <p:extLst>
      <p:ext uri="{BB962C8B-B14F-4D97-AF65-F5344CB8AC3E}">
        <p14:creationId xmlns:p14="http://schemas.microsoft.com/office/powerpoint/2010/main" val="9856113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71CA9-2871-2A49-ED9F-BAAC7C891928}"/>
              </a:ext>
            </a:extLst>
          </p:cNvPr>
          <p:cNvSpPr>
            <a:spLocks noGrp="1"/>
          </p:cNvSpPr>
          <p:nvPr>
            <p:ph type="title"/>
          </p:nvPr>
        </p:nvSpPr>
        <p:spPr/>
        <p:txBody>
          <a:bodyPr/>
          <a:lstStyle/>
          <a:p>
            <a:r>
              <a:rPr lang="en-NL" dirty="0"/>
              <a:t>Central Limit Theorem: </a:t>
            </a:r>
            <a:r>
              <a:rPr lang="en-NL" dirty="0">
                <a:solidFill>
                  <a:schemeClr val="accent1"/>
                </a:solidFill>
              </a:rPr>
              <a:t>Intuition</a:t>
            </a:r>
          </a:p>
        </p:txBody>
      </p:sp>
      <p:sp>
        <p:nvSpPr>
          <p:cNvPr id="3" name="Content Placeholder 2">
            <a:extLst>
              <a:ext uri="{FF2B5EF4-FFF2-40B4-BE49-F238E27FC236}">
                <a16:creationId xmlns:a16="http://schemas.microsoft.com/office/drawing/2014/main" id="{DAE57663-C9BE-FCC3-E4E1-67608E93E83E}"/>
              </a:ext>
            </a:extLst>
          </p:cNvPr>
          <p:cNvSpPr>
            <a:spLocks noGrp="1"/>
          </p:cNvSpPr>
          <p:nvPr>
            <p:ph idx="1"/>
          </p:nvPr>
        </p:nvSpPr>
        <p:spPr/>
        <p:txBody>
          <a:bodyPr/>
          <a:lstStyle/>
          <a:p>
            <a:r>
              <a:rPr lang="en-NL" dirty="0"/>
              <a:t>We have a skewed die. It gives us a ‘1’ 80% of the time. The other 20% is divided over 2-6.</a:t>
            </a:r>
          </a:p>
        </p:txBody>
      </p:sp>
      <p:pic>
        <p:nvPicPr>
          <p:cNvPr id="14338" name="Picture 2" descr="Dice Icon Vector Art, Icons, and Graphics for Free Download">
            <a:extLst>
              <a:ext uri="{FF2B5EF4-FFF2-40B4-BE49-F238E27FC236}">
                <a16:creationId xmlns:a16="http://schemas.microsoft.com/office/drawing/2014/main" id="{58F38DBD-C3B9-53FA-9DB7-868F27BEFF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2962" y="5162703"/>
            <a:ext cx="2828724" cy="169529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graph with blue and red lines&#10;&#10;AI-generated content may be incorrect.">
            <a:extLst>
              <a:ext uri="{FF2B5EF4-FFF2-40B4-BE49-F238E27FC236}">
                <a16:creationId xmlns:a16="http://schemas.microsoft.com/office/drawing/2014/main" id="{3C269F3A-4095-A6A8-3E73-243A04C5FCAA}"/>
              </a:ext>
            </a:extLst>
          </p:cNvPr>
          <p:cNvPicPr>
            <a:picLocks noChangeAspect="1"/>
          </p:cNvPicPr>
          <p:nvPr/>
        </p:nvPicPr>
        <p:blipFill>
          <a:blip r:embed="rId4"/>
          <a:stretch>
            <a:fillRect/>
          </a:stretch>
        </p:blipFill>
        <p:spPr>
          <a:xfrm>
            <a:off x="3439610" y="2670337"/>
            <a:ext cx="4199681" cy="3683054"/>
          </a:xfrm>
          <a:prstGeom prst="rect">
            <a:avLst/>
          </a:prstGeom>
        </p:spPr>
      </p:pic>
      <p:sp>
        <p:nvSpPr>
          <p:cNvPr id="6" name="TextBox 5">
            <a:extLst>
              <a:ext uri="{FF2B5EF4-FFF2-40B4-BE49-F238E27FC236}">
                <a16:creationId xmlns:a16="http://schemas.microsoft.com/office/drawing/2014/main" id="{3EDE5347-3B8F-B5E0-1801-0BABD15B58D6}"/>
              </a:ext>
            </a:extLst>
          </p:cNvPr>
          <p:cNvSpPr txBox="1"/>
          <p:nvPr/>
        </p:nvSpPr>
        <p:spPr>
          <a:xfrm>
            <a:off x="7826417" y="3012160"/>
            <a:ext cx="2673751" cy="1631216"/>
          </a:xfrm>
          <a:prstGeom prst="rect">
            <a:avLst/>
          </a:prstGeom>
          <a:noFill/>
        </p:spPr>
        <p:txBody>
          <a:bodyPr wrap="square" rtlCol="0">
            <a:spAutoFit/>
          </a:bodyPr>
          <a:lstStyle/>
          <a:p>
            <a:r>
              <a:rPr lang="en-NL" sz="2000" dirty="0"/>
              <a:t>Our experiment includes 1 roll (</a:t>
            </a:r>
            <a:r>
              <a:rPr lang="en-NL" sz="2000" b="1" dirty="0"/>
              <a:t>n=1</a:t>
            </a:r>
            <a:r>
              <a:rPr lang="en-NL" sz="2000" dirty="0"/>
              <a:t>). But we perform the experiment many times. </a:t>
            </a:r>
          </a:p>
        </p:txBody>
      </p:sp>
    </p:spTree>
    <p:extLst>
      <p:ext uri="{BB962C8B-B14F-4D97-AF65-F5344CB8AC3E}">
        <p14:creationId xmlns:p14="http://schemas.microsoft.com/office/powerpoint/2010/main" val="11039476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6B24A-725A-7C7D-01B7-D701077261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8BF1C5-3F43-C81E-8C31-12CF2502E51B}"/>
              </a:ext>
            </a:extLst>
          </p:cNvPr>
          <p:cNvSpPr>
            <a:spLocks noGrp="1"/>
          </p:cNvSpPr>
          <p:nvPr>
            <p:ph type="title"/>
          </p:nvPr>
        </p:nvSpPr>
        <p:spPr/>
        <p:txBody>
          <a:bodyPr/>
          <a:lstStyle/>
          <a:p>
            <a:r>
              <a:rPr lang="en-NL" dirty="0"/>
              <a:t>Central Limit Theorem: </a:t>
            </a:r>
            <a:r>
              <a:rPr lang="en-NL" dirty="0">
                <a:solidFill>
                  <a:schemeClr val="accent1"/>
                </a:solidFill>
              </a:rPr>
              <a:t>Intuition</a:t>
            </a:r>
          </a:p>
        </p:txBody>
      </p:sp>
      <p:sp>
        <p:nvSpPr>
          <p:cNvPr id="3" name="Content Placeholder 2">
            <a:extLst>
              <a:ext uri="{FF2B5EF4-FFF2-40B4-BE49-F238E27FC236}">
                <a16:creationId xmlns:a16="http://schemas.microsoft.com/office/drawing/2014/main" id="{4E83AAA4-3F92-03ED-58DD-16D68A987B26}"/>
              </a:ext>
            </a:extLst>
          </p:cNvPr>
          <p:cNvSpPr>
            <a:spLocks noGrp="1"/>
          </p:cNvSpPr>
          <p:nvPr>
            <p:ph idx="1"/>
          </p:nvPr>
        </p:nvSpPr>
        <p:spPr/>
        <p:txBody>
          <a:bodyPr/>
          <a:lstStyle/>
          <a:p>
            <a:r>
              <a:rPr lang="en-NL" dirty="0"/>
              <a:t>We have a skewed die. It gives us a ‘1’ 80% of the time. The other 20% is divided over 2-6.</a:t>
            </a:r>
          </a:p>
        </p:txBody>
      </p:sp>
      <p:pic>
        <p:nvPicPr>
          <p:cNvPr id="14338" name="Picture 2" descr="Dice Icon Vector Art, Icons, and Graphics for Free Download">
            <a:extLst>
              <a:ext uri="{FF2B5EF4-FFF2-40B4-BE49-F238E27FC236}">
                <a16:creationId xmlns:a16="http://schemas.microsoft.com/office/drawing/2014/main" id="{5F2996D0-B6A0-EEFA-711B-F4139B60D9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2962" y="5162703"/>
            <a:ext cx="2828724" cy="169529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graph with numbers and lines&#10;&#10;AI-generated content may be incorrect.">
            <a:extLst>
              <a:ext uri="{FF2B5EF4-FFF2-40B4-BE49-F238E27FC236}">
                <a16:creationId xmlns:a16="http://schemas.microsoft.com/office/drawing/2014/main" id="{FE4DB21C-81CD-11AD-7174-50E36C5EADEF}"/>
              </a:ext>
            </a:extLst>
          </p:cNvPr>
          <p:cNvPicPr>
            <a:picLocks noChangeAspect="1"/>
          </p:cNvPicPr>
          <p:nvPr/>
        </p:nvPicPr>
        <p:blipFill>
          <a:blip r:embed="rId4"/>
          <a:stretch>
            <a:fillRect/>
          </a:stretch>
        </p:blipFill>
        <p:spPr>
          <a:xfrm>
            <a:off x="609600" y="2523184"/>
            <a:ext cx="4124446" cy="3776391"/>
          </a:xfrm>
          <a:prstGeom prst="rect">
            <a:avLst/>
          </a:prstGeom>
        </p:spPr>
      </p:pic>
      <p:sp>
        <p:nvSpPr>
          <p:cNvPr id="8" name="TextBox 7">
            <a:extLst>
              <a:ext uri="{FF2B5EF4-FFF2-40B4-BE49-F238E27FC236}">
                <a16:creationId xmlns:a16="http://schemas.microsoft.com/office/drawing/2014/main" id="{6E424E1D-1F94-4EC7-46B1-97C0E3A9558B}"/>
              </a:ext>
            </a:extLst>
          </p:cNvPr>
          <p:cNvSpPr txBox="1"/>
          <p:nvPr/>
        </p:nvSpPr>
        <p:spPr>
          <a:xfrm>
            <a:off x="4977114" y="2967335"/>
            <a:ext cx="3808070" cy="3046988"/>
          </a:xfrm>
          <a:prstGeom prst="rect">
            <a:avLst/>
          </a:prstGeom>
          <a:noFill/>
        </p:spPr>
        <p:txBody>
          <a:bodyPr wrap="square" rtlCol="0">
            <a:spAutoFit/>
          </a:bodyPr>
          <a:lstStyle/>
          <a:p>
            <a:r>
              <a:rPr lang="en-NL" sz="2400" dirty="0"/>
              <a:t>Why does the graph change? </a:t>
            </a:r>
            <a:r>
              <a:rPr lang="en-GB" sz="2400" dirty="0"/>
              <a:t>T</a:t>
            </a:r>
            <a:r>
              <a:rPr lang="en-NL" sz="2400" dirty="0"/>
              <a:t>o get an average of 1 with n=4, we need to throw a 1 each of the 4 times!</a:t>
            </a:r>
          </a:p>
          <a:p>
            <a:endParaRPr lang="en-NL" sz="2400" dirty="0"/>
          </a:p>
          <a:p>
            <a:r>
              <a:rPr lang="en-NL" sz="2400" dirty="0"/>
              <a:t>Due to the </a:t>
            </a:r>
            <a:r>
              <a:rPr lang="en-NL" sz="2400" b="1" dirty="0">
                <a:solidFill>
                  <a:schemeClr val="accent1"/>
                </a:solidFill>
              </a:rPr>
              <a:t>many more combinations </a:t>
            </a:r>
            <a:r>
              <a:rPr lang="en-NL" sz="2400" dirty="0"/>
              <a:t>possible with 4 throws, the shape changes.</a:t>
            </a:r>
          </a:p>
        </p:txBody>
      </p:sp>
    </p:spTree>
    <p:extLst>
      <p:ext uri="{BB962C8B-B14F-4D97-AF65-F5344CB8AC3E}">
        <p14:creationId xmlns:p14="http://schemas.microsoft.com/office/powerpoint/2010/main" val="17305806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89299-741C-AB92-EA85-9C8EF0DFAA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EF96EB-4A4F-2097-1896-17A2CE7CDD36}"/>
              </a:ext>
            </a:extLst>
          </p:cNvPr>
          <p:cNvSpPr>
            <a:spLocks noGrp="1"/>
          </p:cNvSpPr>
          <p:nvPr>
            <p:ph type="title"/>
          </p:nvPr>
        </p:nvSpPr>
        <p:spPr/>
        <p:txBody>
          <a:bodyPr/>
          <a:lstStyle/>
          <a:p>
            <a:r>
              <a:rPr lang="en-NL" dirty="0"/>
              <a:t>Central Limit Theorem: </a:t>
            </a:r>
            <a:r>
              <a:rPr lang="en-NL" dirty="0">
                <a:solidFill>
                  <a:schemeClr val="accent1"/>
                </a:solidFill>
              </a:rPr>
              <a:t>Intuition</a:t>
            </a:r>
          </a:p>
        </p:txBody>
      </p:sp>
      <p:sp>
        <p:nvSpPr>
          <p:cNvPr id="3" name="Content Placeholder 2">
            <a:extLst>
              <a:ext uri="{FF2B5EF4-FFF2-40B4-BE49-F238E27FC236}">
                <a16:creationId xmlns:a16="http://schemas.microsoft.com/office/drawing/2014/main" id="{91F7FDDB-6971-AF9B-0B32-42004C07F7CF}"/>
              </a:ext>
            </a:extLst>
          </p:cNvPr>
          <p:cNvSpPr>
            <a:spLocks noGrp="1"/>
          </p:cNvSpPr>
          <p:nvPr>
            <p:ph idx="1"/>
          </p:nvPr>
        </p:nvSpPr>
        <p:spPr/>
        <p:txBody>
          <a:bodyPr/>
          <a:lstStyle/>
          <a:p>
            <a:r>
              <a:rPr lang="en-NL" dirty="0"/>
              <a:t>We have a skewed die. It gives us a ‘1’ 80% of the time. The other 20% is divided over 2-6.</a:t>
            </a:r>
          </a:p>
        </p:txBody>
      </p:sp>
      <p:pic>
        <p:nvPicPr>
          <p:cNvPr id="14338" name="Picture 2" descr="Dice Icon Vector Art, Icons, and Graphics for Free Download">
            <a:extLst>
              <a:ext uri="{FF2B5EF4-FFF2-40B4-BE49-F238E27FC236}">
                <a16:creationId xmlns:a16="http://schemas.microsoft.com/office/drawing/2014/main" id="{F90C7FFB-3490-911A-C504-1F3F6EDADC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2962" y="5162703"/>
            <a:ext cx="2828724" cy="169529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BB86461-68CC-8D2D-3F81-C57BB58987E4}"/>
              </a:ext>
            </a:extLst>
          </p:cNvPr>
          <p:cNvSpPr txBox="1"/>
          <p:nvPr/>
        </p:nvSpPr>
        <p:spPr>
          <a:xfrm>
            <a:off x="5347504" y="2770565"/>
            <a:ext cx="3808070" cy="3416320"/>
          </a:xfrm>
          <a:prstGeom prst="rect">
            <a:avLst/>
          </a:prstGeom>
          <a:noFill/>
        </p:spPr>
        <p:txBody>
          <a:bodyPr wrap="square" rtlCol="0">
            <a:spAutoFit/>
          </a:bodyPr>
          <a:lstStyle/>
          <a:p>
            <a:r>
              <a:rPr lang="en-NL" sz="2400" dirty="0"/>
              <a:t>Why does the graph change? </a:t>
            </a:r>
            <a:r>
              <a:rPr lang="en-GB" sz="2400" dirty="0"/>
              <a:t>T</a:t>
            </a:r>
            <a:r>
              <a:rPr lang="en-NL" sz="2400" dirty="0"/>
              <a:t>o get an average of 1 with n=32, we need to throw a 1 each of the 32 times!</a:t>
            </a:r>
          </a:p>
          <a:p>
            <a:endParaRPr lang="en-NL" sz="2400" dirty="0"/>
          </a:p>
          <a:p>
            <a:r>
              <a:rPr lang="en-NL" sz="2400" dirty="0"/>
              <a:t>Due to the </a:t>
            </a:r>
            <a:r>
              <a:rPr lang="en-NL" sz="2400" b="1" dirty="0">
                <a:solidFill>
                  <a:schemeClr val="accent1"/>
                </a:solidFill>
              </a:rPr>
              <a:t>many more combinations </a:t>
            </a:r>
            <a:r>
              <a:rPr lang="en-NL" sz="2400" dirty="0"/>
              <a:t>possible with 32 throws, the shape changes.</a:t>
            </a:r>
          </a:p>
        </p:txBody>
      </p:sp>
      <p:pic>
        <p:nvPicPr>
          <p:cNvPr id="5" name="Picture 4" descr="A graph of a graph&#10;&#10;AI-generated content may be incorrect.">
            <a:extLst>
              <a:ext uri="{FF2B5EF4-FFF2-40B4-BE49-F238E27FC236}">
                <a16:creationId xmlns:a16="http://schemas.microsoft.com/office/drawing/2014/main" id="{B2E5493D-2703-B23B-3B22-B8C0340931EF}"/>
              </a:ext>
            </a:extLst>
          </p:cNvPr>
          <p:cNvPicPr>
            <a:picLocks noChangeAspect="1"/>
          </p:cNvPicPr>
          <p:nvPr/>
        </p:nvPicPr>
        <p:blipFill>
          <a:blip r:embed="rId4"/>
          <a:stretch>
            <a:fillRect/>
          </a:stretch>
        </p:blipFill>
        <p:spPr>
          <a:xfrm>
            <a:off x="1070090" y="2567907"/>
            <a:ext cx="3932672" cy="3731668"/>
          </a:xfrm>
          <a:prstGeom prst="rect">
            <a:avLst/>
          </a:prstGeom>
        </p:spPr>
      </p:pic>
      <p:sp>
        <p:nvSpPr>
          <p:cNvPr id="6" name="TextBox 5">
            <a:extLst>
              <a:ext uri="{FF2B5EF4-FFF2-40B4-BE49-F238E27FC236}">
                <a16:creationId xmlns:a16="http://schemas.microsoft.com/office/drawing/2014/main" id="{A3829707-48AA-1C2A-64E4-00F40A7A68E6}"/>
              </a:ext>
            </a:extLst>
          </p:cNvPr>
          <p:cNvSpPr txBox="1"/>
          <p:nvPr/>
        </p:nvSpPr>
        <p:spPr>
          <a:xfrm rot="20800962">
            <a:off x="2034859" y="4202909"/>
            <a:ext cx="1771639" cy="461665"/>
          </a:xfrm>
          <a:prstGeom prst="rect">
            <a:avLst/>
          </a:prstGeom>
          <a:noFill/>
        </p:spPr>
        <p:txBody>
          <a:bodyPr wrap="none" rtlCol="0">
            <a:spAutoFit/>
          </a:bodyPr>
          <a:lstStyle/>
          <a:p>
            <a:r>
              <a:rPr lang="en-NL" sz="2400" b="1" dirty="0">
                <a:solidFill>
                  <a:schemeClr val="accent1"/>
                </a:solidFill>
              </a:rPr>
              <a:t>Rings a bell?</a:t>
            </a:r>
          </a:p>
        </p:txBody>
      </p:sp>
    </p:spTree>
    <p:extLst>
      <p:ext uri="{BB962C8B-B14F-4D97-AF65-F5344CB8AC3E}">
        <p14:creationId xmlns:p14="http://schemas.microsoft.com/office/powerpoint/2010/main" val="4380195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oup of graphs showing the distribution of a number of numbers&#10;&#10;Description automatically generated with medium confidence">
            <a:extLst>
              <a:ext uri="{FF2B5EF4-FFF2-40B4-BE49-F238E27FC236}">
                <a16:creationId xmlns:a16="http://schemas.microsoft.com/office/drawing/2014/main" id="{6B83936C-166D-E69E-716E-DAFAB5C5B9D7}"/>
              </a:ext>
            </a:extLst>
          </p:cNvPr>
          <p:cNvPicPr>
            <a:picLocks noChangeAspect="1"/>
          </p:cNvPicPr>
          <p:nvPr/>
        </p:nvPicPr>
        <p:blipFill>
          <a:blip r:embed="rId2"/>
          <a:srcRect l="26135"/>
          <a:stretch/>
        </p:blipFill>
        <p:spPr>
          <a:xfrm>
            <a:off x="3023417" y="361788"/>
            <a:ext cx="6109008" cy="6081953"/>
          </a:xfrm>
          <a:prstGeom prst="rect">
            <a:avLst/>
          </a:prstGeom>
        </p:spPr>
      </p:pic>
      <p:sp>
        <p:nvSpPr>
          <p:cNvPr id="2" name="Title 1">
            <a:extLst>
              <a:ext uri="{FF2B5EF4-FFF2-40B4-BE49-F238E27FC236}">
                <a16:creationId xmlns:a16="http://schemas.microsoft.com/office/drawing/2014/main" id="{15422864-99A8-9256-3C71-22C40542B039}"/>
              </a:ext>
            </a:extLst>
          </p:cNvPr>
          <p:cNvSpPr>
            <a:spLocks noGrp="1"/>
          </p:cNvSpPr>
          <p:nvPr>
            <p:ph type="title"/>
          </p:nvPr>
        </p:nvSpPr>
        <p:spPr/>
        <p:txBody>
          <a:bodyPr/>
          <a:lstStyle/>
          <a:p>
            <a:r>
              <a:rPr lang="en-NL" dirty="0"/>
              <a:t>The Magic Of </a:t>
            </a:r>
            <a:r>
              <a:rPr lang="en-NL" dirty="0">
                <a:solidFill>
                  <a:schemeClr val="accent1"/>
                </a:solidFill>
              </a:rPr>
              <a:t>CLT</a:t>
            </a:r>
          </a:p>
        </p:txBody>
      </p:sp>
    </p:spTree>
    <p:extLst>
      <p:ext uri="{BB962C8B-B14F-4D97-AF65-F5344CB8AC3E}">
        <p14:creationId xmlns:p14="http://schemas.microsoft.com/office/powerpoint/2010/main" val="31415621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0A381-BF8D-BA1C-4E46-4409FD2C76DD}"/>
              </a:ext>
            </a:extLst>
          </p:cNvPr>
          <p:cNvSpPr>
            <a:spLocks noGrp="1"/>
          </p:cNvSpPr>
          <p:nvPr>
            <p:ph type="title"/>
          </p:nvPr>
        </p:nvSpPr>
        <p:spPr/>
        <p:txBody>
          <a:bodyPr/>
          <a:lstStyle/>
          <a:p>
            <a:r>
              <a:rPr lang="en-NL" dirty="0">
                <a:solidFill>
                  <a:schemeClr val="accent1"/>
                </a:solidFill>
              </a:rPr>
              <a:t>Assumptions</a:t>
            </a:r>
            <a:r>
              <a:rPr lang="en-NL" dirty="0"/>
              <a:t> of CLT</a:t>
            </a:r>
          </a:p>
        </p:txBody>
      </p:sp>
      <p:sp>
        <p:nvSpPr>
          <p:cNvPr id="4" name="Content Placeholder 2">
            <a:extLst>
              <a:ext uri="{FF2B5EF4-FFF2-40B4-BE49-F238E27FC236}">
                <a16:creationId xmlns:a16="http://schemas.microsoft.com/office/drawing/2014/main" id="{FD60B753-4FEB-743E-C9E5-BF937FFEB79F}"/>
              </a:ext>
            </a:extLst>
          </p:cNvPr>
          <p:cNvSpPr>
            <a:spLocks noGrp="1"/>
          </p:cNvSpPr>
          <p:nvPr>
            <p:ph idx="1"/>
          </p:nvPr>
        </p:nvSpPr>
        <p:spPr/>
        <p:txBody>
          <a:bodyPr/>
          <a:lstStyle/>
          <a:p>
            <a:pPr marL="742950" indent="-742950">
              <a:buFont typeface="+mj-lt"/>
              <a:buAutoNum type="arabicPeriod"/>
            </a:pPr>
            <a:r>
              <a:rPr lang="en-US" dirty="0"/>
              <a:t>All random variables are </a:t>
            </a:r>
            <a:r>
              <a:rPr lang="en-US" b="1" dirty="0"/>
              <a:t>independent.</a:t>
            </a:r>
          </a:p>
          <a:p>
            <a:pPr marL="742950" indent="-742950">
              <a:buFont typeface="+mj-lt"/>
              <a:buAutoNum type="arabicPeriod"/>
            </a:pPr>
            <a:r>
              <a:rPr lang="en-US" dirty="0"/>
              <a:t>All random variables come from the </a:t>
            </a:r>
            <a:r>
              <a:rPr lang="en-US" b="1" dirty="0"/>
              <a:t>same distribution</a:t>
            </a:r>
            <a:r>
              <a:rPr lang="en-US" dirty="0"/>
              <a:t>.</a:t>
            </a:r>
          </a:p>
          <a:p>
            <a:pPr marL="742950" indent="-742950">
              <a:buFont typeface="+mj-lt"/>
              <a:buAutoNum type="arabicPeriod"/>
            </a:pPr>
            <a:r>
              <a:rPr lang="en-US" dirty="0"/>
              <a:t>The population </a:t>
            </a:r>
            <a:r>
              <a:rPr lang="en-US" b="1" dirty="0"/>
              <a:t>variance</a:t>
            </a:r>
            <a:r>
              <a:rPr lang="en-US" dirty="0"/>
              <a:t> of the random variable is </a:t>
            </a:r>
            <a:r>
              <a:rPr lang="en-US" b="1" dirty="0"/>
              <a:t>finite and non-zero</a:t>
            </a:r>
            <a:r>
              <a:rPr lang="en-US" dirty="0"/>
              <a:t>.</a:t>
            </a:r>
          </a:p>
        </p:txBody>
      </p:sp>
      <p:sp>
        <p:nvSpPr>
          <p:cNvPr id="5" name="TextBox 4">
            <a:extLst>
              <a:ext uri="{FF2B5EF4-FFF2-40B4-BE49-F238E27FC236}">
                <a16:creationId xmlns:a16="http://schemas.microsoft.com/office/drawing/2014/main" id="{2FF7F6DA-9A9F-1A89-5948-8907D11FA120}"/>
              </a:ext>
            </a:extLst>
          </p:cNvPr>
          <p:cNvSpPr txBox="1"/>
          <p:nvPr/>
        </p:nvSpPr>
        <p:spPr>
          <a:xfrm>
            <a:off x="7184020" y="4734046"/>
            <a:ext cx="4398380" cy="1200329"/>
          </a:xfrm>
          <a:prstGeom prst="rect">
            <a:avLst/>
          </a:prstGeom>
          <a:noFill/>
        </p:spPr>
        <p:txBody>
          <a:bodyPr wrap="square" rtlCol="0">
            <a:spAutoFit/>
          </a:bodyPr>
          <a:lstStyle/>
          <a:p>
            <a:pPr algn="ctr"/>
            <a:r>
              <a:rPr lang="en-NL" sz="2400" b="1" dirty="0">
                <a:solidFill>
                  <a:schemeClr val="accent1"/>
                </a:solidFill>
              </a:rPr>
              <a:t>If the probability of throwing a 1 is 100% (zero variance), we will not reach a bell curve</a:t>
            </a:r>
          </a:p>
        </p:txBody>
      </p:sp>
      <p:cxnSp>
        <p:nvCxnSpPr>
          <p:cNvPr id="7" name="Curved Connector 6">
            <a:extLst>
              <a:ext uri="{FF2B5EF4-FFF2-40B4-BE49-F238E27FC236}">
                <a16:creationId xmlns:a16="http://schemas.microsoft.com/office/drawing/2014/main" id="{1CFC7E6D-E1B6-19B0-35B7-523FB12C9A35}"/>
              </a:ext>
            </a:extLst>
          </p:cNvPr>
          <p:cNvCxnSpPr/>
          <p:nvPr/>
        </p:nvCxnSpPr>
        <p:spPr>
          <a:xfrm rot="16200000" flipH="1">
            <a:off x="8003894" y="4357868"/>
            <a:ext cx="416689" cy="335666"/>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100686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92344-FD0E-DC8F-F790-E34D7B89F026}"/>
              </a:ext>
            </a:extLst>
          </p:cNvPr>
          <p:cNvSpPr>
            <a:spLocks noGrp="1"/>
          </p:cNvSpPr>
          <p:nvPr>
            <p:ph type="title"/>
          </p:nvPr>
        </p:nvSpPr>
        <p:spPr/>
        <p:txBody>
          <a:bodyPr/>
          <a:lstStyle/>
          <a:p>
            <a:r>
              <a:rPr lang="en-NL" dirty="0"/>
              <a:t>CLT: we deal with </a:t>
            </a:r>
            <a:r>
              <a:rPr lang="en-NL" dirty="0">
                <a:solidFill>
                  <a:schemeClr val="accent1"/>
                </a:solidFill>
              </a:rPr>
              <a:t>averages</a:t>
            </a:r>
            <a:r>
              <a:rPr lang="en-NL" dirty="0"/>
              <a:t> now</a:t>
            </a:r>
          </a:p>
        </p:txBody>
      </p:sp>
      <p:sp>
        <p:nvSpPr>
          <p:cNvPr id="3" name="Content Placeholder 2">
            <a:extLst>
              <a:ext uri="{FF2B5EF4-FFF2-40B4-BE49-F238E27FC236}">
                <a16:creationId xmlns:a16="http://schemas.microsoft.com/office/drawing/2014/main" id="{158F6127-3481-9ED5-EAE2-E33E42851D51}"/>
              </a:ext>
            </a:extLst>
          </p:cNvPr>
          <p:cNvSpPr>
            <a:spLocks noGrp="1"/>
          </p:cNvSpPr>
          <p:nvPr>
            <p:ph idx="1"/>
          </p:nvPr>
        </p:nvSpPr>
        <p:spPr/>
        <p:txBody>
          <a:bodyPr/>
          <a:lstStyle/>
          <a:p>
            <a:r>
              <a:rPr lang="en-NL" dirty="0"/>
              <a:t>Standard error</a:t>
            </a:r>
            <a:br>
              <a:rPr lang="en-NL" dirty="0"/>
            </a:br>
            <a:br>
              <a:rPr lang="en-NL" dirty="0"/>
            </a:br>
            <a:br>
              <a:rPr lang="en-NL" dirty="0"/>
            </a:br>
            <a:endParaRPr lang="en-NL" dirty="0"/>
          </a:p>
          <a:p>
            <a:r>
              <a:rPr lang="en-NL" dirty="0"/>
              <a:t>Often shape emerges around</a:t>
            </a:r>
            <a:br>
              <a:rPr lang="en-NL" dirty="0"/>
            </a:br>
            <a:r>
              <a:rPr lang="en-NL" dirty="0"/>
              <a:t>30 trials. </a:t>
            </a:r>
            <a:r>
              <a:rPr lang="en-NL" dirty="0">
                <a:solidFill>
                  <a:schemeClr val="accent1"/>
                </a:solidFill>
              </a:rPr>
              <a:t>Often != always</a:t>
            </a:r>
          </a:p>
          <a:p>
            <a:pPr marL="0" indent="0">
              <a:buNone/>
            </a:pPr>
            <a:br>
              <a:rPr lang="en-NL" dirty="0"/>
            </a:br>
            <a:endParaRPr lang="en-NL" dirty="0"/>
          </a:p>
          <a:p>
            <a:pPr marL="0" indent="0">
              <a:buNone/>
            </a:pPr>
            <a:endParaRPr lang="en-NL" dirty="0"/>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8F54CDDD-31F3-1DEA-9CA2-609FC744D9ED}"/>
                  </a:ext>
                </a:extLst>
              </p:cNvPr>
              <p:cNvSpPr txBox="1"/>
              <p:nvPr/>
            </p:nvSpPr>
            <p:spPr>
              <a:xfrm>
                <a:off x="4826642" y="1170260"/>
                <a:ext cx="1920206" cy="116512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GB" sz="4000" i="1" smtClean="0">
                              <a:latin typeface="Cambria Math" panose="02040503050406030204" pitchFamily="18" charset="0"/>
                            </a:rPr>
                          </m:ctrlPr>
                        </m:sSubPr>
                        <m:e>
                          <m:r>
                            <a:rPr lang="en-GB" sz="4000" i="1"/>
                            <m:t>𝜎</m:t>
                          </m:r>
                        </m:e>
                        <m:sub>
                          <m:acc>
                            <m:accPr>
                              <m:chr m:val="̅"/>
                              <m:ctrlPr>
                                <a:rPr lang="en-GB" sz="4000" i="1">
                                  <a:latin typeface="Cambria Math" panose="02040503050406030204" pitchFamily="18" charset="0"/>
                                </a:rPr>
                              </m:ctrlPr>
                            </m:accPr>
                            <m:e>
                              <m:r>
                                <a:rPr lang="en-GB" sz="4000" i="1"/>
                                <m:t>𝑥</m:t>
                              </m:r>
                            </m:e>
                          </m:acc>
                        </m:sub>
                      </m:sSub>
                      <m:r>
                        <a:rPr lang="en-GB" sz="4000" i="1"/>
                        <m:t>=</m:t>
                      </m:r>
                      <m:f>
                        <m:fPr>
                          <m:ctrlPr>
                            <a:rPr lang="en-GB" sz="4000" i="1">
                              <a:latin typeface="Cambria Math" panose="02040503050406030204" pitchFamily="18" charset="0"/>
                            </a:rPr>
                          </m:ctrlPr>
                        </m:fPr>
                        <m:num>
                          <m:r>
                            <a:rPr lang="en-GB" sz="4000" i="1"/>
                            <m:t>𝜎</m:t>
                          </m:r>
                        </m:num>
                        <m:den>
                          <m:rad>
                            <m:radPr>
                              <m:degHide m:val="on"/>
                              <m:ctrlPr>
                                <a:rPr lang="en-GB" sz="4000" i="1">
                                  <a:latin typeface="Cambria Math" panose="02040503050406030204" pitchFamily="18" charset="0"/>
                                </a:rPr>
                              </m:ctrlPr>
                            </m:radPr>
                            <m:deg/>
                            <m:e>
                              <m:r>
                                <a:rPr lang="en-GB" sz="4000" i="1"/>
                                <m:t>𝑛</m:t>
                              </m:r>
                            </m:e>
                          </m:rad>
                        </m:den>
                      </m:f>
                    </m:oMath>
                  </m:oMathPara>
                </a14:m>
                <a:endParaRPr lang="en-NL" dirty="0"/>
              </a:p>
            </p:txBody>
          </p:sp>
        </mc:Choice>
        <mc:Fallback>
          <p:sp>
            <p:nvSpPr>
              <p:cNvPr id="4" name="TextBox 3">
                <a:extLst>
                  <a:ext uri="{FF2B5EF4-FFF2-40B4-BE49-F238E27FC236}">
                    <a16:creationId xmlns:a16="http://schemas.microsoft.com/office/drawing/2014/main" id="{8F54CDDD-31F3-1DEA-9CA2-609FC744D9ED}"/>
                  </a:ext>
                </a:extLst>
              </p:cNvPr>
              <p:cNvSpPr txBox="1">
                <a:spLocks noRot="1" noChangeAspect="1" noMove="1" noResize="1" noEditPoints="1" noAdjustHandles="1" noChangeArrowheads="1" noChangeShapeType="1" noTextEdit="1"/>
              </p:cNvSpPr>
              <p:nvPr/>
            </p:nvSpPr>
            <p:spPr>
              <a:xfrm>
                <a:off x="4826642" y="1170260"/>
                <a:ext cx="1920206" cy="1165127"/>
              </a:xfrm>
              <a:prstGeom prst="rect">
                <a:avLst/>
              </a:prstGeom>
              <a:blipFill>
                <a:blip r:embed="rId3"/>
                <a:stretch>
                  <a:fillRect l="-3289" r="-2632" b="-4348"/>
                </a:stretch>
              </a:blipFill>
            </p:spPr>
            <p:txBody>
              <a:bodyPr/>
              <a:lstStyle/>
              <a:p>
                <a:r>
                  <a:rPr lang="en-NL">
                    <a:noFill/>
                  </a:rPr>
                  <a:t> </a:t>
                </a:r>
              </a:p>
            </p:txBody>
          </p:sp>
        </mc:Fallback>
      </mc:AlternateContent>
      <p:sp>
        <p:nvSpPr>
          <p:cNvPr id="5" name="TextBox 4">
            <a:extLst>
              <a:ext uri="{FF2B5EF4-FFF2-40B4-BE49-F238E27FC236}">
                <a16:creationId xmlns:a16="http://schemas.microsoft.com/office/drawing/2014/main" id="{881AA33E-ECF7-2311-6AF3-C7022353A607}"/>
              </a:ext>
            </a:extLst>
          </p:cNvPr>
          <p:cNvSpPr txBox="1"/>
          <p:nvPr/>
        </p:nvSpPr>
        <p:spPr>
          <a:xfrm>
            <a:off x="7095281" y="1521990"/>
            <a:ext cx="3094180" cy="46166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NL" sz="2400" b="1" dirty="0">
                <a:solidFill>
                  <a:schemeClr val="accent1"/>
                </a:solidFill>
              </a:rPr>
              <a:t>Spread of the averages</a:t>
            </a:r>
          </a:p>
        </p:txBody>
      </p:sp>
      <p:pic>
        <p:nvPicPr>
          <p:cNvPr id="6" name="Picture 5" descr="A graph of a graph&#10;&#10;AI-generated content may be incorrect.">
            <a:extLst>
              <a:ext uri="{FF2B5EF4-FFF2-40B4-BE49-F238E27FC236}">
                <a16:creationId xmlns:a16="http://schemas.microsoft.com/office/drawing/2014/main" id="{C337198D-4815-1DDB-FEAA-6661B410E580}"/>
              </a:ext>
            </a:extLst>
          </p:cNvPr>
          <p:cNvPicPr>
            <a:picLocks noChangeAspect="1"/>
          </p:cNvPicPr>
          <p:nvPr/>
        </p:nvPicPr>
        <p:blipFill>
          <a:blip r:embed="rId4"/>
          <a:srcRect t="5628"/>
          <a:stretch>
            <a:fillRect/>
          </a:stretch>
        </p:blipFill>
        <p:spPr>
          <a:xfrm>
            <a:off x="7779327" y="2731625"/>
            <a:ext cx="3932672" cy="3521652"/>
          </a:xfrm>
          <a:prstGeom prst="rect">
            <a:avLst/>
          </a:prstGeom>
        </p:spPr>
      </p:pic>
      <p:sp>
        <p:nvSpPr>
          <p:cNvPr id="7" name="TextBox 6">
            <a:extLst>
              <a:ext uri="{FF2B5EF4-FFF2-40B4-BE49-F238E27FC236}">
                <a16:creationId xmlns:a16="http://schemas.microsoft.com/office/drawing/2014/main" id="{94F24A9E-73A9-DAD6-2161-7BC4F3F9688D}"/>
              </a:ext>
            </a:extLst>
          </p:cNvPr>
          <p:cNvSpPr txBox="1"/>
          <p:nvPr/>
        </p:nvSpPr>
        <p:spPr>
          <a:xfrm>
            <a:off x="8854633" y="6304453"/>
            <a:ext cx="2233945" cy="369332"/>
          </a:xfrm>
          <a:prstGeom prst="rect">
            <a:avLst/>
          </a:prstGeom>
          <a:noFill/>
        </p:spPr>
        <p:txBody>
          <a:bodyPr wrap="none" rtlCol="0">
            <a:spAutoFit/>
          </a:bodyPr>
          <a:lstStyle/>
          <a:p>
            <a:r>
              <a:rPr lang="en-NL" dirty="0"/>
              <a:t>Averages over 32 rolls</a:t>
            </a:r>
          </a:p>
        </p:txBody>
      </p:sp>
    </p:spTree>
    <p:extLst>
      <p:ext uri="{BB962C8B-B14F-4D97-AF65-F5344CB8AC3E}">
        <p14:creationId xmlns:p14="http://schemas.microsoft.com/office/powerpoint/2010/main" val="25272256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9F151-042E-CB69-5291-0612F1189E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908183-9A5C-9506-E239-55A61B1C8E22}"/>
              </a:ext>
            </a:extLst>
          </p:cNvPr>
          <p:cNvSpPr>
            <a:spLocks noGrp="1"/>
          </p:cNvSpPr>
          <p:nvPr>
            <p:ph type="title"/>
          </p:nvPr>
        </p:nvSpPr>
        <p:spPr/>
        <p:txBody>
          <a:bodyPr/>
          <a:lstStyle/>
          <a:p>
            <a:r>
              <a:rPr lang="en-NL" dirty="0"/>
              <a:t>CLT: we deal with </a:t>
            </a:r>
            <a:r>
              <a:rPr lang="en-NL" dirty="0">
                <a:solidFill>
                  <a:schemeClr val="accent1"/>
                </a:solidFill>
              </a:rPr>
              <a:t>averages</a:t>
            </a:r>
            <a:r>
              <a:rPr lang="en-NL" dirty="0"/>
              <a:t> now</a:t>
            </a:r>
          </a:p>
        </p:txBody>
      </p:sp>
      <p:sp>
        <p:nvSpPr>
          <p:cNvPr id="3" name="Content Placeholder 2">
            <a:extLst>
              <a:ext uri="{FF2B5EF4-FFF2-40B4-BE49-F238E27FC236}">
                <a16:creationId xmlns:a16="http://schemas.microsoft.com/office/drawing/2014/main" id="{FD99D6E6-9DDE-EFC1-68B9-D317BD53FE8C}"/>
              </a:ext>
            </a:extLst>
          </p:cNvPr>
          <p:cNvSpPr>
            <a:spLocks noGrp="1"/>
          </p:cNvSpPr>
          <p:nvPr>
            <p:ph idx="1"/>
          </p:nvPr>
        </p:nvSpPr>
        <p:spPr/>
        <p:txBody>
          <a:bodyPr/>
          <a:lstStyle/>
          <a:p>
            <a:r>
              <a:rPr lang="en-NL" dirty="0"/>
              <a:t>Standard error</a:t>
            </a:r>
            <a:br>
              <a:rPr lang="en-NL" dirty="0"/>
            </a:br>
            <a:br>
              <a:rPr lang="en-NL" dirty="0"/>
            </a:br>
            <a:br>
              <a:rPr lang="en-NL" dirty="0"/>
            </a:br>
            <a:endParaRPr lang="en-NL" dirty="0"/>
          </a:p>
          <a:p>
            <a:pPr marL="0" indent="0">
              <a:buNone/>
            </a:pPr>
            <a:br>
              <a:rPr lang="en-NL" dirty="0"/>
            </a:br>
            <a:endParaRPr lang="en-NL" dirty="0"/>
          </a:p>
          <a:p>
            <a:pPr marL="0" indent="0">
              <a:buNone/>
            </a:pPr>
            <a:endParaRPr lang="en-NL" dirty="0"/>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86BFC11E-303D-C6BF-B128-73188C575CEF}"/>
                  </a:ext>
                </a:extLst>
              </p:cNvPr>
              <p:cNvSpPr txBox="1"/>
              <p:nvPr/>
            </p:nvSpPr>
            <p:spPr>
              <a:xfrm>
                <a:off x="4826642" y="1170260"/>
                <a:ext cx="1920206" cy="1165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sz="4000" i="1" smtClean="0">
                              <a:latin typeface="Cambria Math" panose="02040503050406030204" pitchFamily="18" charset="0"/>
                            </a:rPr>
                          </m:ctrlPr>
                        </m:sSubPr>
                        <m:e>
                          <m:r>
                            <a:rPr lang="en-GB" sz="4000" i="1">
                              <a:latin typeface="Cambria Math" panose="02040503050406030204" pitchFamily="18" charset="0"/>
                            </a:rPr>
                            <m:t>𝜎</m:t>
                          </m:r>
                        </m:e>
                        <m:sub>
                          <m:acc>
                            <m:accPr>
                              <m:chr m:val="̅"/>
                              <m:ctrlPr>
                                <a:rPr lang="en-GB" sz="4000" i="1">
                                  <a:latin typeface="Cambria Math" panose="02040503050406030204" pitchFamily="18" charset="0"/>
                                </a:rPr>
                              </m:ctrlPr>
                            </m:accPr>
                            <m:e>
                              <m:r>
                                <a:rPr lang="en-GB" sz="4000" i="1">
                                  <a:latin typeface="Cambria Math" panose="02040503050406030204" pitchFamily="18" charset="0"/>
                                </a:rPr>
                                <m:t>𝑥</m:t>
                              </m:r>
                            </m:e>
                          </m:acc>
                        </m:sub>
                      </m:sSub>
                      <m:r>
                        <a:rPr lang="en-GB" sz="4000" i="1">
                          <a:latin typeface="Cambria Math" panose="02040503050406030204" pitchFamily="18" charset="0"/>
                        </a:rPr>
                        <m:t>=</m:t>
                      </m:r>
                      <m:f>
                        <m:fPr>
                          <m:ctrlPr>
                            <a:rPr lang="en-GB" sz="4000" i="1">
                              <a:latin typeface="Cambria Math" panose="02040503050406030204" pitchFamily="18" charset="0"/>
                            </a:rPr>
                          </m:ctrlPr>
                        </m:fPr>
                        <m:num>
                          <m:r>
                            <a:rPr lang="en-GB" sz="4000" i="1">
                              <a:latin typeface="Cambria Math" panose="02040503050406030204" pitchFamily="18" charset="0"/>
                            </a:rPr>
                            <m:t>𝜎</m:t>
                          </m:r>
                        </m:num>
                        <m:den>
                          <m:rad>
                            <m:radPr>
                              <m:degHide m:val="on"/>
                              <m:ctrlPr>
                                <a:rPr lang="en-GB" sz="4000" i="1">
                                  <a:latin typeface="Cambria Math" panose="02040503050406030204" pitchFamily="18" charset="0"/>
                                </a:rPr>
                              </m:ctrlPr>
                            </m:radPr>
                            <m:deg/>
                            <m:e>
                              <m:r>
                                <a:rPr lang="en-GB" sz="4000" i="1">
                                  <a:latin typeface="Cambria Math" panose="02040503050406030204" pitchFamily="18" charset="0"/>
                                </a:rPr>
                                <m:t>𝑛</m:t>
                              </m:r>
                            </m:e>
                          </m:rad>
                        </m:den>
                      </m:f>
                    </m:oMath>
                  </m:oMathPara>
                </a14:m>
                <a:endParaRPr lang="en-NL" dirty="0"/>
              </a:p>
            </p:txBody>
          </p:sp>
        </mc:Choice>
        <mc:Fallback>
          <p:sp>
            <p:nvSpPr>
              <p:cNvPr id="4" name="TextBox 3">
                <a:extLst>
                  <a:ext uri="{FF2B5EF4-FFF2-40B4-BE49-F238E27FC236}">
                    <a16:creationId xmlns:a16="http://schemas.microsoft.com/office/drawing/2014/main" id="{86BFC11E-303D-C6BF-B128-73188C575CEF}"/>
                  </a:ext>
                </a:extLst>
              </p:cNvPr>
              <p:cNvSpPr txBox="1">
                <a:spLocks noRot="1" noChangeAspect="1" noMove="1" noResize="1" noEditPoints="1" noAdjustHandles="1" noChangeArrowheads="1" noChangeShapeType="1" noTextEdit="1"/>
              </p:cNvSpPr>
              <p:nvPr/>
            </p:nvSpPr>
            <p:spPr>
              <a:xfrm>
                <a:off x="4826642" y="1170260"/>
                <a:ext cx="1920206" cy="1165127"/>
              </a:xfrm>
              <a:prstGeom prst="rect">
                <a:avLst/>
              </a:prstGeom>
              <a:blipFill>
                <a:blip r:embed="rId3"/>
                <a:stretch>
                  <a:fillRect l="-3947" r="-3289" b="-4348"/>
                </a:stretch>
              </a:blipFill>
            </p:spPr>
            <p:txBody>
              <a:bodyPr/>
              <a:lstStyle/>
              <a:p>
                <a:r>
                  <a:rPr lang="en-NL">
                    <a:noFill/>
                  </a:rPr>
                  <a:t> </a:t>
                </a:r>
              </a:p>
            </p:txBody>
          </p:sp>
        </mc:Fallback>
      </mc:AlternateContent>
      <p:sp>
        <p:nvSpPr>
          <p:cNvPr id="5" name="TextBox 4">
            <a:extLst>
              <a:ext uri="{FF2B5EF4-FFF2-40B4-BE49-F238E27FC236}">
                <a16:creationId xmlns:a16="http://schemas.microsoft.com/office/drawing/2014/main" id="{9069EB2B-28CF-709F-7422-E94A2D0DC104}"/>
              </a:ext>
            </a:extLst>
          </p:cNvPr>
          <p:cNvSpPr txBox="1"/>
          <p:nvPr/>
        </p:nvSpPr>
        <p:spPr>
          <a:xfrm>
            <a:off x="7095281" y="1521990"/>
            <a:ext cx="3094180" cy="46166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NL" sz="2400" b="1" dirty="0">
                <a:solidFill>
                  <a:schemeClr val="accent1"/>
                </a:solidFill>
              </a:rPr>
              <a:t>Spread of the averages</a:t>
            </a: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DBE193E0-D73F-2590-7EC5-8B8D1E079A8C}"/>
                  </a:ext>
                </a:extLst>
              </p:cNvPr>
              <p:cNvSpPr txBox="1"/>
              <p:nvPr/>
            </p:nvSpPr>
            <p:spPr>
              <a:xfrm>
                <a:off x="4210724" y="4614168"/>
                <a:ext cx="2072940" cy="141647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GB" sz="3600" i="1" smtClean="0"/>
                        <m:t>𝑍</m:t>
                      </m:r>
                      <m:r>
                        <a:rPr lang="en-GB" sz="3600" i="1" smtClean="0"/>
                        <m:t>=</m:t>
                      </m:r>
                      <m:f>
                        <m:fPr>
                          <m:ctrlPr>
                            <a:rPr lang="en-GB" sz="3600" i="1">
                              <a:latin typeface="Cambria Math" panose="02040503050406030204" pitchFamily="18" charset="0"/>
                            </a:rPr>
                          </m:ctrlPr>
                        </m:fPr>
                        <m:num>
                          <m:acc>
                            <m:accPr>
                              <m:chr m:val="̅"/>
                              <m:ctrlPr>
                                <a:rPr lang="en-GB" sz="3600" i="1">
                                  <a:latin typeface="Cambria Math" panose="02040503050406030204" pitchFamily="18" charset="0"/>
                                </a:rPr>
                              </m:ctrlPr>
                            </m:accPr>
                            <m:e>
                              <m:r>
                                <a:rPr lang="en-GB" sz="3600" i="1"/>
                                <m:t>𝑥</m:t>
                              </m:r>
                            </m:e>
                          </m:acc>
                          <m:r>
                            <a:rPr lang="en-GB" sz="3600" i="1"/>
                            <m:t>−</m:t>
                          </m:r>
                          <m:r>
                            <a:rPr lang="en-GB" sz="3600" i="1"/>
                            <m:t>𝜇</m:t>
                          </m:r>
                        </m:num>
                        <m:den>
                          <m:r>
                            <a:rPr lang="en-GB" sz="3600" i="1"/>
                            <m:t>𝜎</m:t>
                          </m:r>
                          <m:r>
                            <m:rPr>
                              <m:lit/>
                            </m:rPr>
                            <a:rPr lang="en-GB" sz="3600" i="1"/>
                            <m:t>/</m:t>
                          </m:r>
                          <m:rad>
                            <m:radPr>
                              <m:degHide m:val="on"/>
                              <m:ctrlPr>
                                <a:rPr lang="en-GB" sz="3600" i="1">
                                  <a:latin typeface="Cambria Math" panose="02040503050406030204" pitchFamily="18" charset="0"/>
                                </a:rPr>
                              </m:ctrlPr>
                            </m:radPr>
                            <m:deg/>
                            <m:e>
                              <m:r>
                                <a:rPr lang="en-GB" sz="3600" i="1"/>
                                <m:t>𝑛</m:t>
                              </m:r>
                            </m:e>
                          </m:rad>
                        </m:den>
                      </m:f>
                    </m:oMath>
                  </m:oMathPara>
                </a14:m>
                <a:endParaRPr lang="en-GB" sz="3200" dirty="0"/>
              </a:p>
              <a:p>
                <a:endParaRPr lang="en-NL" dirty="0"/>
              </a:p>
            </p:txBody>
          </p:sp>
        </mc:Choice>
        <mc:Fallback>
          <p:sp>
            <p:nvSpPr>
              <p:cNvPr id="8" name="TextBox 7">
                <a:extLst>
                  <a:ext uri="{FF2B5EF4-FFF2-40B4-BE49-F238E27FC236}">
                    <a16:creationId xmlns:a16="http://schemas.microsoft.com/office/drawing/2014/main" id="{DBE193E0-D73F-2590-7EC5-8B8D1E079A8C}"/>
                  </a:ext>
                </a:extLst>
              </p:cNvPr>
              <p:cNvSpPr txBox="1">
                <a:spLocks noRot="1" noChangeAspect="1" noMove="1" noResize="1" noEditPoints="1" noAdjustHandles="1" noChangeArrowheads="1" noChangeShapeType="1" noTextEdit="1"/>
              </p:cNvSpPr>
              <p:nvPr/>
            </p:nvSpPr>
            <p:spPr>
              <a:xfrm>
                <a:off x="4210724" y="4614168"/>
                <a:ext cx="2072940" cy="1416478"/>
              </a:xfrm>
              <a:prstGeom prst="rect">
                <a:avLst/>
              </a:prstGeom>
              <a:blipFill>
                <a:blip r:embed="rId4"/>
                <a:stretch>
                  <a:fillRect l="-4268" t="-893" r="-3659"/>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B680FD54-351F-B27A-D4C1-85EAA6644F74}"/>
                  </a:ext>
                </a:extLst>
              </p:cNvPr>
              <p:cNvSpPr txBox="1"/>
              <p:nvPr/>
            </p:nvSpPr>
            <p:spPr>
              <a:xfrm>
                <a:off x="3263911" y="2951080"/>
                <a:ext cx="2065437" cy="1225785"/>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GB" sz="3600" i="1" smtClean="0"/>
                        <m:t>𝑍</m:t>
                      </m:r>
                      <m:r>
                        <a:rPr lang="en-GB" sz="3600" i="1" smtClean="0"/>
                        <m:t>=</m:t>
                      </m:r>
                      <m:f>
                        <m:fPr>
                          <m:ctrlPr>
                            <a:rPr lang="en-GB" sz="3600" i="1">
                              <a:latin typeface="Cambria Math" panose="02040503050406030204" pitchFamily="18" charset="0"/>
                            </a:rPr>
                          </m:ctrlPr>
                        </m:fPr>
                        <m:num>
                          <m:r>
                            <a:rPr lang="en-GB" sz="3600" i="1"/>
                            <m:t>𝑥</m:t>
                          </m:r>
                          <m:r>
                            <a:rPr lang="en-GB" sz="3600" i="1"/>
                            <m:t>−</m:t>
                          </m:r>
                          <m:r>
                            <a:rPr lang="en-GB" sz="3600" i="1"/>
                            <m:t>𝜇</m:t>
                          </m:r>
                        </m:num>
                        <m:den>
                          <m:r>
                            <a:rPr lang="en-GB" sz="3600" i="1"/>
                            <m:t>𝜎</m:t>
                          </m:r>
                        </m:den>
                      </m:f>
                    </m:oMath>
                  </m:oMathPara>
                </a14:m>
                <a:endParaRPr lang="en-GB" dirty="0"/>
              </a:p>
              <a:p>
                <a:endParaRPr lang="en-NL" dirty="0"/>
              </a:p>
            </p:txBody>
          </p:sp>
        </mc:Choice>
        <mc:Fallback>
          <p:sp>
            <p:nvSpPr>
              <p:cNvPr id="9" name="TextBox 8">
                <a:extLst>
                  <a:ext uri="{FF2B5EF4-FFF2-40B4-BE49-F238E27FC236}">
                    <a16:creationId xmlns:a16="http://schemas.microsoft.com/office/drawing/2014/main" id="{B680FD54-351F-B27A-D4C1-85EAA6644F74}"/>
                  </a:ext>
                </a:extLst>
              </p:cNvPr>
              <p:cNvSpPr txBox="1">
                <a:spLocks noRot="1" noChangeAspect="1" noMove="1" noResize="1" noEditPoints="1" noAdjustHandles="1" noChangeArrowheads="1" noChangeShapeType="1" noTextEdit="1"/>
              </p:cNvSpPr>
              <p:nvPr/>
            </p:nvSpPr>
            <p:spPr>
              <a:xfrm>
                <a:off x="3263911" y="2951080"/>
                <a:ext cx="2065437" cy="1225785"/>
              </a:xfrm>
              <a:prstGeom prst="rect">
                <a:avLst/>
              </a:prstGeom>
              <a:blipFill>
                <a:blip r:embed="rId5"/>
                <a:stretch>
                  <a:fillRect l="-3614" r="-3614"/>
                </a:stretch>
              </a:blipFill>
            </p:spPr>
            <p:txBody>
              <a:bodyPr/>
              <a:lstStyle/>
              <a:p>
                <a:r>
                  <a:rPr lang="en-NL">
                    <a:noFill/>
                  </a:rPr>
                  <a:t> </a:t>
                </a:r>
              </a:p>
            </p:txBody>
          </p:sp>
        </mc:Fallback>
      </mc:AlternateContent>
      <p:sp>
        <p:nvSpPr>
          <p:cNvPr id="10" name="TextBox 9">
            <a:extLst>
              <a:ext uri="{FF2B5EF4-FFF2-40B4-BE49-F238E27FC236}">
                <a16:creationId xmlns:a16="http://schemas.microsoft.com/office/drawing/2014/main" id="{0903EA02-9947-353F-2E51-CA202C1081F3}"/>
              </a:ext>
            </a:extLst>
          </p:cNvPr>
          <p:cNvSpPr txBox="1"/>
          <p:nvPr/>
        </p:nvSpPr>
        <p:spPr>
          <a:xfrm>
            <a:off x="884317" y="3044279"/>
            <a:ext cx="2161874" cy="769441"/>
          </a:xfrm>
          <a:prstGeom prst="rect">
            <a:avLst/>
          </a:prstGeom>
          <a:noFill/>
        </p:spPr>
        <p:txBody>
          <a:bodyPr wrap="none" rtlCol="0">
            <a:spAutoFit/>
          </a:bodyPr>
          <a:lstStyle/>
          <a:p>
            <a:r>
              <a:rPr lang="en-NL" sz="4400" b="1" dirty="0"/>
              <a:t>BEFORE:</a:t>
            </a:r>
          </a:p>
        </p:txBody>
      </p:sp>
      <p:sp>
        <p:nvSpPr>
          <p:cNvPr id="11" name="TextBox 10">
            <a:extLst>
              <a:ext uri="{FF2B5EF4-FFF2-40B4-BE49-F238E27FC236}">
                <a16:creationId xmlns:a16="http://schemas.microsoft.com/office/drawing/2014/main" id="{8F716734-794A-E678-E6CF-1FA6664EBD55}"/>
              </a:ext>
            </a:extLst>
          </p:cNvPr>
          <p:cNvSpPr txBox="1"/>
          <p:nvPr/>
        </p:nvSpPr>
        <p:spPr>
          <a:xfrm>
            <a:off x="480001" y="4755859"/>
            <a:ext cx="3494931" cy="769441"/>
          </a:xfrm>
          <a:prstGeom prst="rect">
            <a:avLst/>
          </a:prstGeom>
          <a:noFill/>
        </p:spPr>
        <p:txBody>
          <a:bodyPr wrap="none" rtlCol="0">
            <a:spAutoFit/>
          </a:bodyPr>
          <a:lstStyle/>
          <a:p>
            <a:r>
              <a:rPr lang="en-NL" sz="4400" b="1" dirty="0"/>
              <a:t>Thanks to CLT:</a:t>
            </a:r>
          </a:p>
        </p:txBody>
      </p:sp>
    </p:spTree>
    <p:extLst>
      <p:ext uri="{BB962C8B-B14F-4D97-AF65-F5344CB8AC3E}">
        <p14:creationId xmlns:p14="http://schemas.microsoft.com/office/powerpoint/2010/main" val="40421502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4028B-FD85-88F5-76B4-B27CF6A8D95C}"/>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898B6C75-0D2A-6162-30B6-4299644D084E}"/>
              </a:ext>
            </a:extLst>
          </p:cNvPr>
          <p:cNvSpPr/>
          <p:nvPr/>
        </p:nvSpPr>
        <p:spPr>
          <a:xfrm>
            <a:off x="6561864" y="1318176"/>
            <a:ext cx="3391669" cy="4855161"/>
          </a:xfrm>
          <a:custGeom>
            <a:avLst/>
            <a:gdLst>
              <a:gd name="csX0" fmla="*/ 0 w 3274419"/>
              <a:gd name="csY0" fmla="*/ 0 h 4793254"/>
              <a:gd name="csX1" fmla="*/ 3274419 w 3274419"/>
              <a:gd name="csY1" fmla="*/ 0 h 4793254"/>
              <a:gd name="csX2" fmla="*/ 3274419 w 3274419"/>
              <a:gd name="csY2" fmla="*/ 4793254 h 4793254"/>
              <a:gd name="csX3" fmla="*/ 0 w 3274419"/>
              <a:gd name="csY3" fmla="*/ 4793254 h 4793254"/>
              <a:gd name="csX4" fmla="*/ 0 w 3274419"/>
              <a:gd name="csY4" fmla="*/ 0 h 4793254"/>
              <a:gd name="csX0" fmla="*/ 590309 w 3274419"/>
              <a:gd name="csY0" fmla="*/ 983848 h 4793254"/>
              <a:gd name="csX1" fmla="*/ 3274419 w 3274419"/>
              <a:gd name="csY1" fmla="*/ 0 h 4793254"/>
              <a:gd name="csX2" fmla="*/ 3274419 w 3274419"/>
              <a:gd name="csY2" fmla="*/ 4793254 h 4793254"/>
              <a:gd name="csX3" fmla="*/ 0 w 3274419"/>
              <a:gd name="csY3" fmla="*/ 4793254 h 4793254"/>
              <a:gd name="csX4" fmla="*/ 590309 w 3274419"/>
              <a:gd name="csY4" fmla="*/ 983848 h 4793254"/>
              <a:gd name="csX0" fmla="*/ 635026 w 3319136"/>
              <a:gd name="csY0" fmla="*/ 983848 h 4793254"/>
              <a:gd name="csX1" fmla="*/ 3319136 w 3319136"/>
              <a:gd name="csY1" fmla="*/ 0 h 4793254"/>
              <a:gd name="csX2" fmla="*/ 3319136 w 3319136"/>
              <a:gd name="csY2" fmla="*/ 4793254 h 4793254"/>
              <a:gd name="csX3" fmla="*/ 44717 w 3319136"/>
              <a:gd name="csY3" fmla="*/ 4793254 h 4793254"/>
              <a:gd name="csX4" fmla="*/ 635026 w 3319136"/>
              <a:gd name="csY4" fmla="*/ 983848 h 4793254"/>
              <a:gd name="csX0" fmla="*/ 763929 w 3274419"/>
              <a:gd name="csY0" fmla="*/ 995422 h 4793254"/>
              <a:gd name="csX1" fmla="*/ 3274419 w 3274419"/>
              <a:gd name="csY1" fmla="*/ 0 h 4793254"/>
              <a:gd name="csX2" fmla="*/ 3274419 w 3274419"/>
              <a:gd name="csY2" fmla="*/ 4793254 h 4793254"/>
              <a:gd name="csX3" fmla="*/ 0 w 3274419"/>
              <a:gd name="csY3" fmla="*/ 4793254 h 4793254"/>
              <a:gd name="csX4" fmla="*/ 763929 w 3274419"/>
              <a:gd name="csY4" fmla="*/ 995422 h 4793254"/>
              <a:gd name="csX0" fmla="*/ 833743 w 3344233"/>
              <a:gd name="csY0" fmla="*/ 995422 h 4793254"/>
              <a:gd name="csX1" fmla="*/ 3344233 w 3344233"/>
              <a:gd name="csY1" fmla="*/ 0 h 4793254"/>
              <a:gd name="csX2" fmla="*/ 3344233 w 3344233"/>
              <a:gd name="csY2" fmla="*/ 4793254 h 4793254"/>
              <a:gd name="csX3" fmla="*/ 69814 w 3344233"/>
              <a:gd name="csY3" fmla="*/ 4793254 h 4793254"/>
              <a:gd name="csX4" fmla="*/ 833743 w 3344233"/>
              <a:gd name="csY4" fmla="*/ 995422 h 4793254"/>
              <a:gd name="csX0" fmla="*/ 1481559 w 3274419"/>
              <a:gd name="csY0" fmla="*/ 0 h 4793255"/>
              <a:gd name="csX1" fmla="*/ 3274419 w 3274419"/>
              <a:gd name="csY1" fmla="*/ 1 h 4793255"/>
              <a:gd name="csX2" fmla="*/ 3274419 w 3274419"/>
              <a:gd name="csY2" fmla="*/ 4793255 h 4793255"/>
              <a:gd name="csX3" fmla="*/ 0 w 3274419"/>
              <a:gd name="csY3" fmla="*/ 4793255 h 4793255"/>
              <a:gd name="csX4" fmla="*/ 1481559 w 3274419"/>
              <a:gd name="csY4" fmla="*/ 0 h 4793255"/>
              <a:gd name="csX0" fmla="*/ 1481559 w 3274419"/>
              <a:gd name="csY0" fmla="*/ 0 h 4793255"/>
              <a:gd name="csX1" fmla="*/ 2024353 w 3274419"/>
              <a:gd name="csY1" fmla="*/ 11576 h 4793255"/>
              <a:gd name="csX2" fmla="*/ 3274419 w 3274419"/>
              <a:gd name="csY2" fmla="*/ 4793255 h 4793255"/>
              <a:gd name="csX3" fmla="*/ 0 w 3274419"/>
              <a:gd name="csY3" fmla="*/ 4793255 h 4793255"/>
              <a:gd name="csX4" fmla="*/ 1481559 w 3274419"/>
              <a:gd name="csY4" fmla="*/ 0 h 4793255"/>
              <a:gd name="csX0" fmla="*/ 1481559 w 3274419"/>
              <a:gd name="csY0" fmla="*/ 0 h 4793255"/>
              <a:gd name="csX1" fmla="*/ 2024353 w 3274419"/>
              <a:gd name="csY1" fmla="*/ 11576 h 4793255"/>
              <a:gd name="csX2" fmla="*/ 3274419 w 3274419"/>
              <a:gd name="csY2" fmla="*/ 4793255 h 4793255"/>
              <a:gd name="csX3" fmla="*/ 0 w 3274419"/>
              <a:gd name="csY3" fmla="*/ 4793255 h 4793255"/>
              <a:gd name="csX4" fmla="*/ 1481559 w 3274419"/>
              <a:gd name="csY4" fmla="*/ 0 h 4793255"/>
              <a:gd name="csX0" fmla="*/ 1481559 w 3476976"/>
              <a:gd name="csY0" fmla="*/ 0 h 4793255"/>
              <a:gd name="csX1" fmla="*/ 2024353 w 3476976"/>
              <a:gd name="csY1" fmla="*/ 11576 h 4793255"/>
              <a:gd name="csX2" fmla="*/ 2985053 w 3476976"/>
              <a:gd name="csY2" fmla="*/ 2860285 h 4793255"/>
              <a:gd name="csX3" fmla="*/ 3274419 w 3476976"/>
              <a:gd name="csY3" fmla="*/ 4793255 h 4793255"/>
              <a:gd name="csX4" fmla="*/ 0 w 3476976"/>
              <a:gd name="csY4" fmla="*/ 4793255 h 4793255"/>
              <a:gd name="csX5" fmla="*/ 1481559 w 3476976"/>
              <a:gd name="csY5" fmla="*/ 0 h 4793255"/>
              <a:gd name="csX0" fmla="*/ 1481559 w 3476976"/>
              <a:gd name="csY0" fmla="*/ 0 h 4793255"/>
              <a:gd name="csX1" fmla="*/ 2024353 w 3476976"/>
              <a:gd name="csY1" fmla="*/ 11576 h 4793255"/>
              <a:gd name="csX2" fmla="*/ 2985053 w 3476976"/>
              <a:gd name="csY2" fmla="*/ 2860285 h 4793255"/>
              <a:gd name="csX3" fmla="*/ 3274419 w 3476976"/>
              <a:gd name="csY3" fmla="*/ 4793255 h 4793255"/>
              <a:gd name="csX4" fmla="*/ 0 w 3476976"/>
              <a:gd name="csY4" fmla="*/ 4793255 h 4793255"/>
              <a:gd name="csX5" fmla="*/ 1481559 w 3476976"/>
              <a:gd name="csY5" fmla="*/ 0 h 4793255"/>
              <a:gd name="csX0" fmla="*/ 1481559 w 3499052"/>
              <a:gd name="csY0" fmla="*/ 0 h 4793255"/>
              <a:gd name="csX1" fmla="*/ 2024353 w 3499052"/>
              <a:gd name="csY1" fmla="*/ 11576 h 4793255"/>
              <a:gd name="csX2" fmla="*/ 2985053 w 3499052"/>
              <a:gd name="csY2" fmla="*/ 2860285 h 4793255"/>
              <a:gd name="csX3" fmla="*/ 3274419 w 3499052"/>
              <a:gd name="csY3" fmla="*/ 4793255 h 4793255"/>
              <a:gd name="csX4" fmla="*/ 0 w 3499052"/>
              <a:gd name="csY4" fmla="*/ 4793255 h 4793255"/>
              <a:gd name="csX5" fmla="*/ 1481559 w 3499052"/>
              <a:gd name="csY5" fmla="*/ 0 h 4793255"/>
              <a:gd name="csX0" fmla="*/ 1481559 w 3544219"/>
              <a:gd name="csY0" fmla="*/ 0 h 4793255"/>
              <a:gd name="csX1" fmla="*/ 2024353 w 3544219"/>
              <a:gd name="csY1" fmla="*/ 11576 h 4793255"/>
              <a:gd name="csX2" fmla="*/ 3147099 w 3544219"/>
              <a:gd name="csY2" fmla="*/ 2258401 h 4793255"/>
              <a:gd name="csX3" fmla="*/ 3274419 w 3544219"/>
              <a:gd name="csY3" fmla="*/ 4793255 h 4793255"/>
              <a:gd name="csX4" fmla="*/ 0 w 3544219"/>
              <a:gd name="csY4" fmla="*/ 4793255 h 4793255"/>
              <a:gd name="csX5" fmla="*/ 1481559 w 3544219"/>
              <a:gd name="csY5" fmla="*/ 0 h 4793255"/>
              <a:gd name="csX0" fmla="*/ 1481559 w 3544219"/>
              <a:gd name="csY0" fmla="*/ 0 h 4793255"/>
              <a:gd name="csX1" fmla="*/ 2024353 w 3544219"/>
              <a:gd name="csY1" fmla="*/ 11576 h 4793255"/>
              <a:gd name="csX2" fmla="*/ 3147099 w 3544219"/>
              <a:gd name="csY2" fmla="*/ 2258401 h 4793255"/>
              <a:gd name="csX3" fmla="*/ 3274419 w 3544219"/>
              <a:gd name="csY3" fmla="*/ 4793255 h 4793255"/>
              <a:gd name="csX4" fmla="*/ 0 w 3544219"/>
              <a:gd name="csY4" fmla="*/ 4793255 h 4793255"/>
              <a:gd name="csX5" fmla="*/ 1481559 w 3544219"/>
              <a:gd name="csY5" fmla="*/ 0 h 4793255"/>
              <a:gd name="csX0" fmla="*/ 1481559 w 3617084"/>
              <a:gd name="csY0" fmla="*/ 0 h 4793255"/>
              <a:gd name="csX1" fmla="*/ 2024353 w 3617084"/>
              <a:gd name="csY1" fmla="*/ 11576 h 4793255"/>
              <a:gd name="csX2" fmla="*/ 3332294 w 3617084"/>
              <a:gd name="csY2" fmla="*/ 1957459 h 4793255"/>
              <a:gd name="csX3" fmla="*/ 3274419 w 3617084"/>
              <a:gd name="csY3" fmla="*/ 4793255 h 4793255"/>
              <a:gd name="csX4" fmla="*/ 0 w 3617084"/>
              <a:gd name="csY4" fmla="*/ 4793255 h 4793255"/>
              <a:gd name="csX5" fmla="*/ 1481559 w 3617084"/>
              <a:gd name="csY5" fmla="*/ 0 h 4793255"/>
              <a:gd name="csX0" fmla="*/ 1481559 w 3617084"/>
              <a:gd name="csY0" fmla="*/ 0 h 4793255"/>
              <a:gd name="csX1" fmla="*/ 2024353 w 3617084"/>
              <a:gd name="csY1" fmla="*/ 11576 h 4793255"/>
              <a:gd name="csX2" fmla="*/ 3332294 w 3617084"/>
              <a:gd name="csY2" fmla="*/ 1957459 h 4793255"/>
              <a:gd name="csX3" fmla="*/ 3274419 w 3617084"/>
              <a:gd name="csY3" fmla="*/ 4793255 h 4793255"/>
              <a:gd name="csX4" fmla="*/ 0 w 3617084"/>
              <a:gd name="csY4" fmla="*/ 4793255 h 4793255"/>
              <a:gd name="csX5" fmla="*/ 1481559 w 3617084"/>
              <a:gd name="csY5" fmla="*/ 0 h 4793255"/>
              <a:gd name="csX0" fmla="*/ 1481559 w 3560014"/>
              <a:gd name="csY0" fmla="*/ 0 h 4793255"/>
              <a:gd name="csX1" fmla="*/ 2024353 w 3560014"/>
              <a:gd name="csY1" fmla="*/ 11576 h 4793255"/>
              <a:gd name="csX2" fmla="*/ 3193398 w 3560014"/>
              <a:gd name="csY2" fmla="*/ 2073206 h 4793255"/>
              <a:gd name="csX3" fmla="*/ 3274419 w 3560014"/>
              <a:gd name="csY3" fmla="*/ 4793255 h 4793255"/>
              <a:gd name="csX4" fmla="*/ 0 w 3560014"/>
              <a:gd name="csY4" fmla="*/ 4793255 h 4793255"/>
              <a:gd name="csX5" fmla="*/ 1481559 w 3560014"/>
              <a:gd name="csY5" fmla="*/ 0 h 4793255"/>
              <a:gd name="csX0" fmla="*/ 1481559 w 3560014"/>
              <a:gd name="csY0" fmla="*/ 0 h 4793255"/>
              <a:gd name="csX1" fmla="*/ 2024353 w 3560014"/>
              <a:gd name="csY1" fmla="*/ 11576 h 4793255"/>
              <a:gd name="csX2" fmla="*/ 3193398 w 3560014"/>
              <a:gd name="csY2" fmla="*/ 2073206 h 4793255"/>
              <a:gd name="csX3" fmla="*/ 3274419 w 3560014"/>
              <a:gd name="csY3" fmla="*/ 4793255 h 4793255"/>
              <a:gd name="csX4" fmla="*/ 0 w 3560014"/>
              <a:gd name="csY4" fmla="*/ 4793255 h 4793255"/>
              <a:gd name="csX5" fmla="*/ 1481559 w 3560014"/>
              <a:gd name="csY5" fmla="*/ 0 h 4793255"/>
              <a:gd name="csX0" fmla="*/ 1481559 w 3516998"/>
              <a:gd name="csY0" fmla="*/ 0 h 4793255"/>
              <a:gd name="csX1" fmla="*/ 2024353 w 3516998"/>
              <a:gd name="csY1" fmla="*/ 11576 h 4793255"/>
              <a:gd name="csX2" fmla="*/ 3193398 w 3516998"/>
              <a:gd name="csY2" fmla="*/ 2073206 h 4793255"/>
              <a:gd name="csX3" fmla="*/ 3274419 w 3516998"/>
              <a:gd name="csY3" fmla="*/ 4793255 h 4793255"/>
              <a:gd name="csX4" fmla="*/ 0 w 3516998"/>
              <a:gd name="csY4" fmla="*/ 4793255 h 4793255"/>
              <a:gd name="csX5" fmla="*/ 1481559 w 3516998"/>
              <a:gd name="csY5" fmla="*/ 0 h 4793255"/>
              <a:gd name="csX0" fmla="*/ 1481559 w 3266491"/>
              <a:gd name="csY0" fmla="*/ 0 h 4793255"/>
              <a:gd name="csX1" fmla="*/ 2024353 w 3266491"/>
              <a:gd name="csY1" fmla="*/ 11576 h 4793255"/>
              <a:gd name="csX2" fmla="*/ 3193398 w 3266491"/>
              <a:gd name="csY2" fmla="*/ 2073206 h 4793255"/>
              <a:gd name="csX3" fmla="*/ 2753558 w 3266491"/>
              <a:gd name="csY3" fmla="*/ 4781680 h 4793255"/>
              <a:gd name="csX4" fmla="*/ 0 w 3266491"/>
              <a:gd name="csY4" fmla="*/ 4793255 h 4793255"/>
              <a:gd name="csX5" fmla="*/ 1481559 w 3266491"/>
              <a:gd name="csY5" fmla="*/ 0 h 4793255"/>
              <a:gd name="csX0" fmla="*/ 1481559 w 3296874"/>
              <a:gd name="csY0" fmla="*/ 0 h 4793757"/>
              <a:gd name="csX1" fmla="*/ 2024353 w 3296874"/>
              <a:gd name="csY1" fmla="*/ 11576 h 4793757"/>
              <a:gd name="csX2" fmla="*/ 3193398 w 3296874"/>
              <a:gd name="csY2" fmla="*/ 2073206 h 4793757"/>
              <a:gd name="csX3" fmla="*/ 2753558 w 3296874"/>
              <a:gd name="csY3" fmla="*/ 4781680 h 4793757"/>
              <a:gd name="csX4" fmla="*/ 0 w 3296874"/>
              <a:gd name="csY4" fmla="*/ 4793255 h 4793757"/>
              <a:gd name="csX5" fmla="*/ 1481559 w 3296874"/>
              <a:gd name="csY5" fmla="*/ 0 h 4793757"/>
              <a:gd name="csX0" fmla="*/ 1481559 w 3296874"/>
              <a:gd name="csY0" fmla="*/ 0 h 4851630"/>
              <a:gd name="csX1" fmla="*/ 2024353 w 3296874"/>
              <a:gd name="csY1" fmla="*/ 69449 h 4851630"/>
              <a:gd name="csX2" fmla="*/ 3193398 w 3296874"/>
              <a:gd name="csY2" fmla="*/ 2131079 h 4851630"/>
              <a:gd name="csX3" fmla="*/ 2753558 w 3296874"/>
              <a:gd name="csY3" fmla="*/ 4839553 h 4851630"/>
              <a:gd name="csX4" fmla="*/ 0 w 3296874"/>
              <a:gd name="csY4" fmla="*/ 4851128 h 4851630"/>
              <a:gd name="csX5" fmla="*/ 1481559 w 3296874"/>
              <a:gd name="csY5" fmla="*/ 0 h 4851630"/>
              <a:gd name="csX0" fmla="*/ 1677548 w 3492863"/>
              <a:gd name="csY0" fmla="*/ 0 h 4851630"/>
              <a:gd name="csX1" fmla="*/ 2220342 w 3492863"/>
              <a:gd name="csY1" fmla="*/ 69449 h 4851630"/>
              <a:gd name="csX2" fmla="*/ 3389387 w 3492863"/>
              <a:gd name="csY2" fmla="*/ 2131079 h 4851630"/>
              <a:gd name="csX3" fmla="*/ 2949547 w 3492863"/>
              <a:gd name="csY3" fmla="*/ 4839553 h 4851630"/>
              <a:gd name="csX4" fmla="*/ 195989 w 3492863"/>
              <a:gd name="csY4" fmla="*/ 4851128 h 4851630"/>
              <a:gd name="csX5" fmla="*/ 356818 w 3492863"/>
              <a:gd name="csY5" fmla="*/ 2362573 h 4851630"/>
              <a:gd name="csX6" fmla="*/ 1677548 w 3492863"/>
              <a:gd name="csY6" fmla="*/ 0 h 4851630"/>
              <a:gd name="csX0" fmla="*/ 1620573 w 3435888"/>
              <a:gd name="csY0" fmla="*/ 0 h 4851630"/>
              <a:gd name="csX1" fmla="*/ 2163367 w 3435888"/>
              <a:gd name="csY1" fmla="*/ 69449 h 4851630"/>
              <a:gd name="csX2" fmla="*/ 3332412 w 3435888"/>
              <a:gd name="csY2" fmla="*/ 2131079 h 4851630"/>
              <a:gd name="csX3" fmla="*/ 2892572 w 3435888"/>
              <a:gd name="csY3" fmla="*/ 4839553 h 4851630"/>
              <a:gd name="csX4" fmla="*/ 139014 w 3435888"/>
              <a:gd name="csY4" fmla="*/ 4851128 h 4851630"/>
              <a:gd name="csX5" fmla="*/ 299843 w 3435888"/>
              <a:gd name="csY5" fmla="*/ 2362573 h 4851630"/>
              <a:gd name="csX6" fmla="*/ 1620573 w 3435888"/>
              <a:gd name="csY6" fmla="*/ 0 h 4851630"/>
              <a:gd name="csX0" fmla="*/ 1497674 w 3312989"/>
              <a:gd name="csY0" fmla="*/ 0 h 4851630"/>
              <a:gd name="csX1" fmla="*/ 2040468 w 3312989"/>
              <a:gd name="csY1" fmla="*/ 69449 h 4851630"/>
              <a:gd name="csX2" fmla="*/ 3209513 w 3312989"/>
              <a:gd name="csY2" fmla="*/ 2131079 h 4851630"/>
              <a:gd name="csX3" fmla="*/ 2769673 w 3312989"/>
              <a:gd name="csY3" fmla="*/ 4839553 h 4851630"/>
              <a:gd name="csX4" fmla="*/ 166586 w 3312989"/>
              <a:gd name="csY4" fmla="*/ 4851128 h 4851630"/>
              <a:gd name="csX5" fmla="*/ 176944 w 3312989"/>
              <a:gd name="csY5" fmla="*/ 2362573 h 4851630"/>
              <a:gd name="csX6" fmla="*/ 1497674 w 3312989"/>
              <a:gd name="csY6" fmla="*/ 0 h 4851630"/>
              <a:gd name="csX0" fmla="*/ 1523250 w 3338565"/>
              <a:gd name="csY0" fmla="*/ 0 h 4855374"/>
              <a:gd name="csX1" fmla="*/ 2066044 w 3338565"/>
              <a:gd name="csY1" fmla="*/ 69449 h 4855374"/>
              <a:gd name="csX2" fmla="*/ 3235089 w 3338565"/>
              <a:gd name="csY2" fmla="*/ 2131079 h 4855374"/>
              <a:gd name="csX3" fmla="*/ 2795249 w 3338565"/>
              <a:gd name="csY3" fmla="*/ 4839553 h 4855374"/>
              <a:gd name="csX4" fmla="*/ 192162 w 3338565"/>
              <a:gd name="csY4" fmla="*/ 4851128 h 4855374"/>
              <a:gd name="csX5" fmla="*/ 202520 w 3338565"/>
              <a:gd name="csY5" fmla="*/ 2362573 h 4855374"/>
              <a:gd name="csX6" fmla="*/ 1523250 w 3338565"/>
              <a:gd name="csY6" fmla="*/ 0 h 4855374"/>
              <a:gd name="csX0" fmla="*/ 1546551 w 3361866"/>
              <a:gd name="csY0" fmla="*/ 0 h 4855100"/>
              <a:gd name="csX1" fmla="*/ 2089345 w 3361866"/>
              <a:gd name="csY1" fmla="*/ 69449 h 4855100"/>
              <a:gd name="csX2" fmla="*/ 3258390 w 3361866"/>
              <a:gd name="csY2" fmla="*/ 2131079 h 4855100"/>
              <a:gd name="csX3" fmla="*/ 2818550 w 3361866"/>
              <a:gd name="csY3" fmla="*/ 4839553 h 4855100"/>
              <a:gd name="csX4" fmla="*/ 215463 w 3361866"/>
              <a:gd name="csY4" fmla="*/ 4851128 h 4855100"/>
              <a:gd name="csX5" fmla="*/ 133223 w 3361866"/>
              <a:gd name="csY5" fmla="*/ 2165803 h 4855100"/>
              <a:gd name="csX6" fmla="*/ 1546551 w 3361866"/>
              <a:gd name="csY6" fmla="*/ 0 h 4855100"/>
              <a:gd name="csX0" fmla="*/ 1546551 w 3361866"/>
              <a:gd name="csY0" fmla="*/ 0 h 4855100"/>
              <a:gd name="csX1" fmla="*/ 2089345 w 3361866"/>
              <a:gd name="csY1" fmla="*/ 69449 h 4855100"/>
              <a:gd name="csX2" fmla="*/ 3258390 w 3361866"/>
              <a:gd name="csY2" fmla="*/ 2131079 h 4855100"/>
              <a:gd name="csX3" fmla="*/ 2818550 w 3361866"/>
              <a:gd name="csY3" fmla="*/ 4839553 h 4855100"/>
              <a:gd name="csX4" fmla="*/ 215463 w 3361866"/>
              <a:gd name="csY4" fmla="*/ 4851128 h 4855100"/>
              <a:gd name="csX5" fmla="*/ 133223 w 3361866"/>
              <a:gd name="csY5" fmla="*/ 2165803 h 4855100"/>
              <a:gd name="csX6" fmla="*/ 1546551 w 3361866"/>
              <a:gd name="csY6" fmla="*/ 0 h 4855100"/>
              <a:gd name="csX0" fmla="*/ 1576354 w 3391669"/>
              <a:gd name="csY0" fmla="*/ 0 h 4855161"/>
              <a:gd name="csX1" fmla="*/ 2119148 w 3391669"/>
              <a:gd name="csY1" fmla="*/ 69449 h 4855161"/>
              <a:gd name="csX2" fmla="*/ 3288193 w 3391669"/>
              <a:gd name="csY2" fmla="*/ 2131079 h 4855161"/>
              <a:gd name="csX3" fmla="*/ 2848353 w 3391669"/>
              <a:gd name="csY3" fmla="*/ 4839553 h 4855161"/>
              <a:gd name="csX4" fmla="*/ 245266 w 3391669"/>
              <a:gd name="csY4" fmla="*/ 4851128 h 4855161"/>
              <a:gd name="csX5" fmla="*/ 70429 w 3391669"/>
              <a:gd name="csY5" fmla="*/ 2212101 h 4855161"/>
              <a:gd name="csX6" fmla="*/ 1576354 w 3391669"/>
              <a:gd name="csY6" fmla="*/ 0 h 485516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1669" h="4855161">
                <a:moveTo>
                  <a:pt x="1576354" y="0"/>
                </a:moveTo>
                <a:lnTo>
                  <a:pt x="2119148" y="69449"/>
                </a:lnTo>
                <a:cubicBezTo>
                  <a:pt x="2383234" y="571242"/>
                  <a:pt x="2640011" y="651227"/>
                  <a:pt x="3288193" y="2131079"/>
                </a:cubicBezTo>
                <a:cubicBezTo>
                  <a:pt x="3450238" y="4988319"/>
                  <a:pt x="3498263" y="4878136"/>
                  <a:pt x="2848353" y="4839553"/>
                </a:cubicBezTo>
                <a:lnTo>
                  <a:pt x="245266" y="4851128"/>
                </a:lnTo>
                <a:cubicBezTo>
                  <a:pt x="-223508" y="4978450"/>
                  <a:pt x="136019" y="2048348"/>
                  <a:pt x="70429" y="2212101"/>
                </a:cubicBezTo>
                <a:cubicBezTo>
                  <a:pt x="942388" y="95641"/>
                  <a:pt x="1286987" y="343605"/>
                  <a:pt x="1576354" y="0"/>
                </a:cubicBezTo>
                <a:close/>
              </a:path>
            </a:pathLst>
          </a:cu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dirty="0"/>
          </a:p>
        </p:txBody>
      </p:sp>
      <p:sp>
        <p:nvSpPr>
          <p:cNvPr id="2" name="Title 1">
            <a:extLst>
              <a:ext uri="{FF2B5EF4-FFF2-40B4-BE49-F238E27FC236}">
                <a16:creationId xmlns:a16="http://schemas.microsoft.com/office/drawing/2014/main" id="{6E9986FF-C98E-64A3-05F2-0FFD295E6B57}"/>
              </a:ext>
            </a:extLst>
          </p:cNvPr>
          <p:cNvSpPr>
            <a:spLocks noGrp="1"/>
          </p:cNvSpPr>
          <p:nvPr>
            <p:ph type="title"/>
          </p:nvPr>
        </p:nvSpPr>
        <p:spPr/>
        <p:txBody>
          <a:bodyPr/>
          <a:lstStyle/>
          <a:p>
            <a:r>
              <a:rPr lang="en-NL" dirty="0"/>
              <a:t>Confidence Intervals</a:t>
            </a: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0D4B3036-E213-40D5-1723-300E0E385994}"/>
                  </a:ext>
                </a:extLst>
              </p:cNvPr>
              <p:cNvSpPr txBox="1"/>
              <p:nvPr/>
            </p:nvSpPr>
            <p:spPr>
              <a:xfrm>
                <a:off x="1085559" y="2145492"/>
                <a:ext cx="2072940" cy="14164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3600" i="1" smtClean="0">
                          <a:latin typeface="Cambria Math" panose="02040503050406030204" pitchFamily="18" charset="0"/>
                        </a:rPr>
                        <m:t>𝑍</m:t>
                      </m:r>
                      <m:r>
                        <a:rPr lang="en-GB" sz="3600" i="1" smtClean="0">
                          <a:latin typeface="Cambria Math" panose="02040503050406030204" pitchFamily="18" charset="0"/>
                        </a:rPr>
                        <m:t>=</m:t>
                      </m:r>
                      <m:f>
                        <m:fPr>
                          <m:ctrlPr>
                            <a:rPr lang="en-GB" sz="3600" i="1">
                              <a:latin typeface="Cambria Math" panose="02040503050406030204" pitchFamily="18" charset="0"/>
                            </a:rPr>
                          </m:ctrlPr>
                        </m:fPr>
                        <m:num>
                          <m:acc>
                            <m:accPr>
                              <m:chr m:val="̅"/>
                              <m:ctrlPr>
                                <a:rPr lang="en-GB" sz="3600" i="1">
                                  <a:latin typeface="Cambria Math" panose="02040503050406030204" pitchFamily="18" charset="0"/>
                                </a:rPr>
                              </m:ctrlPr>
                            </m:accPr>
                            <m:e>
                              <m:r>
                                <a:rPr lang="en-GB" sz="3600" i="1">
                                  <a:latin typeface="Cambria Math" panose="02040503050406030204" pitchFamily="18" charset="0"/>
                                </a:rPr>
                                <m:t>𝑥</m:t>
                              </m:r>
                            </m:e>
                          </m:acc>
                          <m:r>
                            <a:rPr lang="en-GB" sz="3600" i="1">
                              <a:latin typeface="Cambria Math" panose="02040503050406030204" pitchFamily="18" charset="0"/>
                            </a:rPr>
                            <m:t>−</m:t>
                          </m:r>
                          <m:r>
                            <a:rPr lang="en-GB" sz="3600" i="1">
                              <a:latin typeface="Cambria Math" panose="02040503050406030204" pitchFamily="18" charset="0"/>
                            </a:rPr>
                            <m:t>𝜇</m:t>
                          </m:r>
                        </m:num>
                        <m:den>
                          <m:r>
                            <a:rPr lang="en-GB" sz="3600" i="1">
                              <a:latin typeface="Cambria Math" panose="02040503050406030204" pitchFamily="18" charset="0"/>
                            </a:rPr>
                            <m:t>𝜎</m:t>
                          </m:r>
                          <m:r>
                            <m:rPr>
                              <m:lit/>
                            </m:rPr>
                            <a:rPr lang="en-GB" sz="3600" i="1">
                              <a:latin typeface="Cambria Math" panose="02040503050406030204" pitchFamily="18" charset="0"/>
                            </a:rPr>
                            <m:t>/</m:t>
                          </m:r>
                          <m:rad>
                            <m:radPr>
                              <m:degHide m:val="on"/>
                              <m:ctrlPr>
                                <a:rPr lang="en-GB" sz="3600" i="1">
                                  <a:latin typeface="Cambria Math" panose="02040503050406030204" pitchFamily="18" charset="0"/>
                                </a:rPr>
                              </m:ctrlPr>
                            </m:radPr>
                            <m:deg/>
                            <m:e>
                              <m:r>
                                <a:rPr lang="en-GB" sz="3600" i="1">
                                  <a:latin typeface="Cambria Math" panose="02040503050406030204" pitchFamily="18" charset="0"/>
                                </a:rPr>
                                <m:t>𝑛</m:t>
                              </m:r>
                            </m:e>
                          </m:rad>
                        </m:den>
                      </m:f>
                    </m:oMath>
                  </m:oMathPara>
                </a14:m>
                <a:endParaRPr lang="en-GB" sz="3200" dirty="0"/>
              </a:p>
              <a:p>
                <a:endParaRPr lang="en-NL" dirty="0"/>
              </a:p>
            </p:txBody>
          </p:sp>
        </mc:Choice>
        <mc:Fallback>
          <p:sp>
            <p:nvSpPr>
              <p:cNvPr id="8" name="TextBox 7">
                <a:extLst>
                  <a:ext uri="{FF2B5EF4-FFF2-40B4-BE49-F238E27FC236}">
                    <a16:creationId xmlns:a16="http://schemas.microsoft.com/office/drawing/2014/main" id="{0D4B3036-E213-40D5-1723-300E0E385994}"/>
                  </a:ext>
                </a:extLst>
              </p:cNvPr>
              <p:cNvSpPr txBox="1">
                <a:spLocks noRot="1" noChangeAspect="1" noMove="1" noResize="1" noEditPoints="1" noAdjustHandles="1" noChangeArrowheads="1" noChangeShapeType="1" noTextEdit="1"/>
              </p:cNvSpPr>
              <p:nvPr/>
            </p:nvSpPr>
            <p:spPr>
              <a:xfrm>
                <a:off x="1085559" y="2145492"/>
                <a:ext cx="2072940" cy="1416478"/>
              </a:xfrm>
              <a:prstGeom prst="rect">
                <a:avLst/>
              </a:prstGeom>
              <a:blipFill>
                <a:blip r:embed="rId3"/>
                <a:stretch>
                  <a:fillRect l="-4268" r="-3659"/>
                </a:stretch>
              </a:blipFill>
            </p:spPr>
            <p:txBody>
              <a:bodyPr/>
              <a:lstStyle/>
              <a:p>
                <a:r>
                  <a:rPr lang="en-NL">
                    <a:noFill/>
                  </a:rPr>
                  <a:t> </a:t>
                </a:r>
              </a:p>
            </p:txBody>
          </p:sp>
        </mc:Fallback>
      </mc:AlternateContent>
      <p:sp>
        <p:nvSpPr>
          <p:cNvPr id="11" name="TextBox 10">
            <a:extLst>
              <a:ext uri="{FF2B5EF4-FFF2-40B4-BE49-F238E27FC236}">
                <a16:creationId xmlns:a16="http://schemas.microsoft.com/office/drawing/2014/main" id="{FAE3ECEB-7819-E9F8-75C4-E3A42A584000}"/>
              </a:ext>
            </a:extLst>
          </p:cNvPr>
          <p:cNvSpPr txBox="1"/>
          <p:nvPr/>
        </p:nvSpPr>
        <p:spPr>
          <a:xfrm>
            <a:off x="480001" y="1376051"/>
            <a:ext cx="3494931" cy="769441"/>
          </a:xfrm>
          <a:prstGeom prst="rect">
            <a:avLst/>
          </a:prstGeom>
          <a:noFill/>
        </p:spPr>
        <p:txBody>
          <a:bodyPr wrap="none" rtlCol="0">
            <a:spAutoFit/>
          </a:bodyPr>
          <a:lstStyle/>
          <a:p>
            <a:r>
              <a:rPr lang="en-NL" sz="4400" b="1" dirty="0"/>
              <a:t>Thanks to CLT:</a:t>
            </a:r>
          </a:p>
        </p:txBody>
      </p:sp>
      <p:pic>
        <p:nvPicPr>
          <p:cNvPr id="12" name="Picture 2" descr="undefined">
            <a:extLst>
              <a:ext uri="{FF2B5EF4-FFF2-40B4-BE49-F238E27FC236}">
                <a16:creationId xmlns:a16="http://schemas.microsoft.com/office/drawing/2014/main" id="{00E09C94-E606-546A-A57D-0901844CEB8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4726"/>
          <a:stretch>
            <a:fillRect/>
          </a:stretch>
        </p:blipFill>
        <p:spPr bwMode="auto">
          <a:xfrm>
            <a:off x="3351213" y="104172"/>
            <a:ext cx="9147175" cy="516230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undefined">
            <a:extLst>
              <a:ext uri="{FF2B5EF4-FFF2-40B4-BE49-F238E27FC236}">
                <a16:creationId xmlns:a16="http://schemas.microsoft.com/office/drawing/2014/main" id="{13A80B45-7D1D-062A-5F33-7BFA3203B95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75199" b="20075"/>
          <a:stretch>
            <a:fillRect/>
          </a:stretch>
        </p:blipFill>
        <p:spPr bwMode="auto">
          <a:xfrm>
            <a:off x="3351212" y="5680741"/>
            <a:ext cx="9147175" cy="324092"/>
          </a:xfrm>
          <a:prstGeom prst="rect">
            <a:avLst/>
          </a:prstGeom>
          <a:noFill/>
          <a:extLst>
            <a:ext uri="{909E8E84-426E-40DD-AFC4-6F175D3DCCD1}">
              <a14:hiddenFill xmlns:a14="http://schemas.microsoft.com/office/drawing/2010/main">
                <a:solidFill>
                  <a:srgbClr val="FFFFFF"/>
                </a:solidFill>
              </a14:hiddenFill>
            </a:ext>
          </a:extLst>
        </p:spPr>
      </p:pic>
      <p:sp>
        <p:nvSpPr>
          <p:cNvPr id="14" name="Left Bracket 13">
            <a:extLst>
              <a:ext uri="{FF2B5EF4-FFF2-40B4-BE49-F238E27FC236}">
                <a16:creationId xmlns:a16="http://schemas.microsoft.com/office/drawing/2014/main" id="{8AEED5B3-98C2-D11F-EF6C-96CAC5E471C3}"/>
              </a:ext>
            </a:extLst>
          </p:cNvPr>
          <p:cNvSpPr/>
          <p:nvPr/>
        </p:nvSpPr>
        <p:spPr>
          <a:xfrm rot="16200000">
            <a:off x="8211631" y="4449859"/>
            <a:ext cx="164473" cy="3274419"/>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L"/>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EAD1016B-CE32-463E-FE78-B680979A2E32}"/>
                  </a:ext>
                </a:extLst>
              </p:cNvPr>
              <p:cNvSpPr txBox="1"/>
              <p:nvPr/>
            </p:nvSpPr>
            <p:spPr>
              <a:xfrm>
                <a:off x="9598136" y="414260"/>
                <a:ext cx="2442258" cy="2677656"/>
              </a:xfrm>
              <a:prstGeom prst="rect">
                <a:avLst/>
              </a:prstGeom>
              <a:noFill/>
            </p:spPr>
            <p:txBody>
              <a:bodyPr wrap="square" rtlCol="0">
                <a:spAutoFit/>
              </a:bodyPr>
              <a:lstStyle/>
              <a:p>
                <a:r>
                  <a:rPr lang="en-GB" sz="2400" b="1" dirty="0"/>
                  <a:t>Sample average </a:t>
                </a:r>
                <a14:m>
                  <m:oMath xmlns:m="http://schemas.openxmlformats.org/officeDocument/2006/math">
                    <m:acc>
                      <m:accPr>
                        <m:chr m:val="̅"/>
                        <m:ctrlPr>
                          <a:rPr lang="en-GB" sz="2400" b="1" i="1">
                            <a:latin typeface="Cambria Math" panose="02040503050406030204" pitchFamily="18" charset="0"/>
                          </a:rPr>
                        </m:ctrlPr>
                      </m:accPr>
                      <m:e>
                        <m:r>
                          <a:rPr lang="en-GB" sz="2400" b="1" i="1">
                            <a:latin typeface="Cambria Math" panose="02040503050406030204" pitchFamily="18" charset="0"/>
                          </a:rPr>
                          <m:t>𝒙</m:t>
                        </m:r>
                      </m:e>
                    </m:acc>
                    <m:r>
                      <a:rPr lang="en-GB" sz="2400" b="1" i="1">
                        <a:latin typeface="Cambria Math" panose="02040503050406030204" pitchFamily="18" charset="0"/>
                      </a:rPr>
                      <m:t> </m:t>
                    </m:r>
                  </m:oMath>
                </a14:m>
                <a:r>
                  <a:rPr lang="en-GB" sz="2400" b="1" dirty="0"/>
                  <a:t>will fall within 2 Standard Errors of the </a:t>
                </a:r>
                <a:r>
                  <a:rPr lang="nl-NL" sz="2400" b="1" dirty="0" err="1"/>
                  <a:t>true</a:t>
                </a:r>
                <a:r>
                  <a:rPr lang="nl-NL" sz="2400" b="1" dirty="0"/>
                  <a:t> </a:t>
                </a:r>
                <a:r>
                  <a:rPr lang="nl-NL" sz="2400" b="1" dirty="0" err="1"/>
                  <a:t>population</a:t>
                </a:r>
                <a:r>
                  <a:rPr lang="nl-NL" sz="2400" b="1" dirty="0"/>
                  <a:t> </a:t>
                </a:r>
                <a:r>
                  <a:rPr lang="nl-NL" sz="2400" b="1" dirty="0" err="1"/>
                  <a:t>mean</a:t>
                </a:r>
                <a:r>
                  <a:rPr lang="nl-NL" sz="2400" b="1" dirty="0"/>
                  <a:t> </a:t>
                </a:r>
                <a:r>
                  <a:rPr lang="en-GB" sz="2400" b="1" dirty="0"/>
                  <a:t>about 95% of the time.</a:t>
                </a:r>
                <a:endParaRPr lang="en-NL" sz="2400" b="1" dirty="0"/>
              </a:p>
            </p:txBody>
          </p:sp>
        </mc:Choice>
        <mc:Fallback>
          <p:sp>
            <p:nvSpPr>
              <p:cNvPr id="17" name="TextBox 16">
                <a:extLst>
                  <a:ext uri="{FF2B5EF4-FFF2-40B4-BE49-F238E27FC236}">
                    <a16:creationId xmlns:a16="http://schemas.microsoft.com/office/drawing/2014/main" id="{EAD1016B-CE32-463E-FE78-B680979A2E32}"/>
                  </a:ext>
                </a:extLst>
              </p:cNvPr>
              <p:cNvSpPr txBox="1">
                <a:spLocks noRot="1" noChangeAspect="1" noMove="1" noResize="1" noEditPoints="1" noAdjustHandles="1" noChangeArrowheads="1" noChangeShapeType="1" noTextEdit="1"/>
              </p:cNvSpPr>
              <p:nvPr/>
            </p:nvSpPr>
            <p:spPr>
              <a:xfrm>
                <a:off x="9598136" y="414260"/>
                <a:ext cx="2442258" cy="2677656"/>
              </a:xfrm>
              <a:prstGeom prst="rect">
                <a:avLst/>
              </a:prstGeom>
              <a:blipFill>
                <a:blip r:embed="rId5"/>
                <a:stretch>
                  <a:fillRect l="-3608" t="-1887" r="-6186" b="-4245"/>
                </a:stretch>
              </a:blipFill>
            </p:spPr>
            <p:txBody>
              <a:bodyPr/>
              <a:lstStyle/>
              <a:p>
                <a:r>
                  <a:rPr lang="en-NL">
                    <a:noFill/>
                  </a:rPr>
                  <a:t> </a:t>
                </a:r>
              </a:p>
            </p:txBody>
          </p:sp>
        </mc:Fallback>
      </mc:AlternateContent>
    </p:spTree>
    <p:extLst>
      <p:ext uri="{BB962C8B-B14F-4D97-AF65-F5344CB8AC3E}">
        <p14:creationId xmlns:p14="http://schemas.microsoft.com/office/powerpoint/2010/main" val="24236956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018F7-67BD-BCE9-BF53-954E012CE767}"/>
              </a:ext>
            </a:extLst>
          </p:cNvPr>
          <p:cNvSpPr>
            <a:spLocks noGrp="1"/>
          </p:cNvSpPr>
          <p:nvPr>
            <p:ph type="title"/>
          </p:nvPr>
        </p:nvSpPr>
        <p:spPr/>
        <p:txBody>
          <a:bodyPr/>
          <a:lstStyle/>
          <a:p>
            <a:r>
              <a:rPr lang="en-NL" dirty="0"/>
              <a:t>Confidence Interval</a:t>
            </a:r>
          </a:p>
        </p:txBody>
      </p:sp>
      <p:sp>
        <p:nvSpPr>
          <p:cNvPr id="3" name="Content Placeholder 2">
            <a:extLst>
              <a:ext uri="{FF2B5EF4-FFF2-40B4-BE49-F238E27FC236}">
                <a16:creationId xmlns:a16="http://schemas.microsoft.com/office/drawing/2014/main" id="{3C6223F7-8524-F78A-D2D1-821D7CBE3786}"/>
              </a:ext>
            </a:extLst>
          </p:cNvPr>
          <p:cNvSpPr>
            <a:spLocks noGrp="1"/>
          </p:cNvSpPr>
          <p:nvPr>
            <p:ph idx="1"/>
          </p:nvPr>
        </p:nvSpPr>
        <p:spPr/>
        <p:txBody>
          <a:bodyPr/>
          <a:lstStyle/>
          <a:p>
            <a:pPr marL="0" indent="0">
              <a:buNone/>
            </a:pPr>
            <a:r>
              <a:rPr lang="en-NL" dirty="0"/>
              <a:t>If we are able to determine that our sample is close to the truth, then we can also say that the truth must be close to our sample!</a:t>
            </a:r>
          </a:p>
        </p:txBody>
      </p:sp>
    </p:spTree>
    <p:extLst>
      <p:ext uri="{BB962C8B-B14F-4D97-AF65-F5344CB8AC3E}">
        <p14:creationId xmlns:p14="http://schemas.microsoft.com/office/powerpoint/2010/main" val="224573972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BF211-2F2A-CD93-C348-3271684AFF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75B055-042E-5B88-97E1-500404747AD9}"/>
              </a:ext>
            </a:extLst>
          </p:cNvPr>
          <p:cNvSpPr>
            <a:spLocks noGrp="1"/>
          </p:cNvSpPr>
          <p:nvPr>
            <p:ph type="title"/>
          </p:nvPr>
        </p:nvSpPr>
        <p:spPr/>
        <p:txBody>
          <a:bodyPr/>
          <a:lstStyle/>
          <a:p>
            <a:r>
              <a:rPr lang="en-NL" dirty="0"/>
              <a:t>Confidence Interval</a:t>
            </a:r>
          </a:p>
        </p:txBody>
      </p:sp>
      <p:sp>
        <p:nvSpPr>
          <p:cNvPr id="3" name="Content Placeholder 2">
            <a:extLst>
              <a:ext uri="{FF2B5EF4-FFF2-40B4-BE49-F238E27FC236}">
                <a16:creationId xmlns:a16="http://schemas.microsoft.com/office/drawing/2014/main" id="{78A612DD-E054-83F5-E3BB-DBAE6DEF8597}"/>
              </a:ext>
            </a:extLst>
          </p:cNvPr>
          <p:cNvSpPr>
            <a:spLocks noGrp="1"/>
          </p:cNvSpPr>
          <p:nvPr>
            <p:ph idx="1"/>
          </p:nvPr>
        </p:nvSpPr>
        <p:spPr/>
        <p:txBody>
          <a:bodyPr/>
          <a:lstStyle/>
          <a:p>
            <a:pPr marL="0" indent="0">
              <a:buNone/>
            </a:pPr>
            <a:r>
              <a:rPr lang="en-NL" dirty="0"/>
              <a:t>If we are able to determine that our sample is close to the truth, then we can also say that the truth must be close to our sample!</a:t>
            </a:r>
          </a:p>
          <a:p>
            <a:pPr marL="0" indent="0">
              <a:buNone/>
            </a:pPr>
            <a:endParaRPr lang="en-NL" dirty="0"/>
          </a:p>
          <a:p>
            <a:pPr marL="0" indent="0">
              <a:buNone/>
            </a:pPr>
            <a:endParaRPr lang="en-NL" dirty="0"/>
          </a:p>
        </p:txBody>
      </p:sp>
      <p:sp>
        <p:nvSpPr>
          <p:cNvPr id="4" name="TextBox 3">
            <a:extLst>
              <a:ext uri="{FF2B5EF4-FFF2-40B4-BE49-F238E27FC236}">
                <a16:creationId xmlns:a16="http://schemas.microsoft.com/office/drawing/2014/main" id="{3B71DDB1-B8A5-D881-70CE-1877C421D64E}"/>
              </a:ext>
            </a:extLst>
          </p:cNvPr>
          <p:cNvSpPr txBox="1"/>
          <p:nvPr/>
        </p:nvSpPr>
        <p:spPr>
          <a:xfrm rot="20880717">
            <a:off x="5423402" y="3167390"/>
            <a:ext cx="6475619" cy="523220"/>
          </a:xfrm>
          <a:prstGeom prst="rect">
            <a:avLst/>
          </a:prstGeom>
          <a:noFill/>
        </p:spPr>
        <p:txBody>
          <a:bodyPr wrap="none" rtlCol="0">
            <a:spAutoFit/>
          </a:bodyPr>
          <a:lstStyle/>
          <a:p>
            <a:r>
              <a:rPr lang="en-NL" sz="2800" b="1" dirty="0">
                <a:solidFill>
                  <a:schemeClr val="accent1"/>
                </a:solidFill>
              </a:rPr>
              <a:t>Handy because we do not know the truth!</a:t>
            </a:r>
          </a:p>
        </p:txBody>
      </p:sp>
      <p:sp>
        <p:nvSpPr>
          <p:cNvPr id="5" name="Rounded Rectangle 4">
            <a:extLst>
              <a:ext uri="{FF2B5EF4-FFF2-40B4-BE49-F238E27FC236}">
                <a16:creationId xmlns:a16="http://schemas.microsoft.com/office/drawing/2014/main" id="{C4056288-F1DD-1EA4-C7B3-08A7F750C012}"/>
              </a:ext>
            </a:extLst>
          </p:cNvPr>
          <p:cNvSpPr/>
          <p:nvPr/>
        </p:nvSpPr>
        <p:spPr>
          <a:xfrm>
            <a:off x="3624805" y="4946854"/>
            <a:ext cx="4942390" cy="740886"/>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NL" sz="3600" dirty="0"/>
              <a:t>Confidence Intervals</a:t>
            </a:r>
          </a:p>
        </p:txBody>
      </p:sp>
    </p:spTree>
    <p:extLst>
      <p:ext uri="{BB962C8B-B14F-4D97-AF65-F5344CB8AC3E}">
        <p14:creationId xmlns:p14="http://schemas.microsoft.com/office/powerpoint/2010/main" val="42885163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F84B9D00-E4B7-17AA-F2E8-14C35EFF0E8E}"/>
              </a:ext>
            </a:extLst>
          </p:cNvPr>
          <p:cNvSpPr/>
          <p:nvPr/>
        </p:nvSpPr>
        <p:spPr>
          <a:xfrm>
            <a:off x="2733554" y="5289630"/>
            <a:ext cx="6724891" cy="960699"/>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
        <p:nvSpPr>
          <p:cNvPr id="2" name="Title 1">
            <a:extLst>
              <a:ext uri="{FF2B5EF4-FFF2-40B4-BE49-F238E27FC236}">
                <a16:creationId xmlns:a16="http://schemas.microsoft.com/office/drawing/2014/main" id="{3E2F0A97-E389-AEE7-1587-C3D923220561}"/>
              </a:ext>
            </a:extLst>
          </p:cNvPr>
          <p:cNvSpPr>
            <a:spLocks noGrp="1"/>
          </p:cNvSpPr>
          <p:nvPr>
            <p:ph type="title"/>
          </p:nvPr>
        </p:nvSpPr>
        <p:spPr/>
        <p:txBody>
          <a:bodyPr/>
          <a:lstStyle/>
          <a:p>
            <a:r>
              <a:rPr lang="en-NL" dirty="0"/>
              <a:t>95% confidence interval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2876BD6-D5C4-5AB0-DF84-5EF01B55FB5B}"/>
                  </a:ext>
                </a:extLst>
              </p:cNvPr>
              <p:cNvSpPr>
                <a:spLocks noGrp="1"/>
              </p:cNvSpPr>
              <p:nvPr>
                <p:ph idx="1"/>
              </p:nvPr>
            </p:nvSpPr>
            <p:spPr>
              <a:xfrm>
                <a:off x="480001" y="1296000"/>
                <a:ext cx="11102399" cy="3299149"/>
              </a:xfrm>
            </p:spPr>
            <p:txBody>
              <a:bodyPr/>
              <a:lstStyle/>
              <a:p>
                <a:r>
                  <a:rPr lang="en-US" sz="3600" dirty="0"/>
                  <a:t>Assuming central limit theorem holds:</a:t>
                </a:r>
                <a:br>
                  <a:rPr lang="en-US" sz="3600" dirty="0"/>
                </a:br>
                <a14:m>
                  <m:oMath xmlns:m="http://schemas.openxmlformats.org/officeDocument/2006/math">
                    <m:acc>
                      <m:accPr>
                        <m:chr m:val="̅"/>
                        <m:ctrlPr>
                          <a:rPr lang="en-US" sz="3600" i="1">
                            <a:latin typeface="Cambria Math" panose="02040503050406030204" pitchFamily="18" charset="0"/>
                          </a:rPr>
                        </m:ctrlPr>
                      </m:accPr>
                      <m:e>
                        <m:r>
                          <a:rPr lang="en-US" sz="3600" i="1">
                            <a:latin typeface="Cambria Math" panose="02040503050406030204" pitchFamily="18" charset="0"/>
                          </a:rPr>
                          <m:t>𝑥</m:t>
                        </m:r>
                      </m:e>
                    </m:acc>
                    <m:r>
                      <a:rPr lang="en-US" sz="3600" i="1" dirty="0">
                        <a:latin typeface="Cambria Math" panose="02040503050406030204" pitchFamily="18" charset="0"/>
                      </a:rPr>
                      <m:t> ~ </m:t>
                    </m:r>
                    <m:r>
                      <a:rPr lang="en-US" sz="3600" i="1" dirty="0">
                        <a:latin typeface="Cambria Math" panose="02040503050406030204" pitchFamily="18" charset="0"/>
                      </a:rPr>
                      <m:t>𝑁</m:t>
                    </m:r>
                    <m:d>
                      <m:dPr>
                        <m:ctrlPr>
                          <a:rPr lang="en-US" sz="3600" i="1" dirty="0">
                            <a:latin typeface="Cambria Math" panose="02040503050406030204" pitchFamily="18" charset="0"/>
                          </a:rPr>
                        </m:ctrlPr>
                      </m:dPr>
                      <m:e>
                        <m:r>
                          <a:rPr lang="en-US" sz="3600" i="1" dirty="0">
                            <a:latin typeface="Cambria Math" panose="02040503050406030204" pitchFamily="18" charset="0"/>
                          </a:rPr>
                          <m:t>𝜇</m:t>
                        </m:r>
                        <m:r>
                          <a:rPr lang="en-US" sz="3600" i="1" dirty="0">
                            <a:latin typeface="Cambria Math" panose="02040503050406030204" pitchFamily="18" charset="0"/>
                          </a:rPr>
                          <m:t> ,</m:t>
                        </m:r>
                        <m:f>
                          <m:fPr>
                            <m:ctrlPr>
                              <a:rPr lang="en-US" sz="3600" i="1" dirty="0">
                                <a:latin typeface="Cambria Math" panose="02040503050406030204" pitchFamily="18" charset="0"/>
                              </a:rPr>
                            </m:ctrlPr>
                          </m:fPr>
                          <m:num>
                            <m:r>
                              <a:rPr lang="en-US" sz="3600" i="1" dirty="0">
                                <a:latin typeface="Cambria Math" panose="02040503050406030204" pitchFamily="18" charset="0"/>
                              </a:rPr>
                              <m:t>𝜎</m:t>
                            </m:r>
                          </m:num>
                          <m:den>
                            <m:rad>
                              <m:radPr>
                                <m:degHide m:val="on"/>
                                <m:ctrlPr>
                                  <a:rPr lang="en-US" sz="3600" i="1" dirty="0">
                                    <a:latin typeface="Cambria Math" panose="02040503050406030204" pitchFamily="18" charset="0"/>
                                  </a:rPr>
                                </m:ctrlPr>
                              </m:radPr>
                              <m:deg/>
                              <m:e>
                                <m:r>
                                  <a:rPr lang="en-US" sz="3600" i="1" dirty="0">
                                    <a:latin typeface="Cambria Math" panose="02040503050406030204" pitchFamily="18" charset="0"/>
                                  </a:rPr>
                                  <m:t>𝑛</m:t>
                                </m:r>
                              </m:e>
                            </m:rad>
                          </m:den>
                        </m:f>
                      </m:e>
                    </m:d>
                    <m:r>
                      <a:rPr lang="en-US" sz="3600" b="1" i="1" dirty="0">
                        <a:latin typeface="Cambria Math" panose="02040503050406030204" pitchFamily="18" charset="0"/>
                      </a:rPr>
                      <m:t>, </m:t>
                    </m:r>
                    <m:f>
                      <m:fPr>
                        <m:ctrlPr>
                          <a:rPr lang="en-US" sz="3600" b="1" i="1" dirty="0">
                            <a:latin typeface="Cambria Math" panose="02040503050406030204" pitchFamily="18" charset="0"/>
                          </a:rPr>
                        </m:ctrlPr>
                      </m:fPr>
                      <m:num>
                        <m:r>
                          <a:rPr lang="en-US" sz="3600" b="1" i="1" dirty="0">
                            <a:latin typeface="Cambria Math" panose="02040503050406030204" pitchFamily="18" charset="0"/>
                          </a:rPr>
                          <m:t>𝝈</m:t>
                        </m:r>
                      </m:num>
                      <m:den>
                        <m:rad>
                          <m:radPr>
                            <m:degHide m:val="on"/>
                            <m:ctrlPr>
                              <a:rPr lang="en-US" sz="3600" b="1" i="1" dirty="0">
                                <a:latin typeface="Cambria Math" panose="02040503050406030204" pitchFamily="18" charset="0"/>
                              </a:rPr>
                            </m:ctrlPr>
                          </m:radPr>
                          <m:deg/>
                          <m:e>
                            <m:r>
                              <a:rPr lang="en-US" sz="3600" b="1" i="1" dirty="0">
                                <a:latin typeface="Cambria Math" panose="02040503050406030204" pitchFamily="18" charset="0"/>
                              </a:rPr>
                              <m:t>𝒏</m:t>
                            </m:r>
                          </m:e>
                        </m:rad>
                      </m:den>
                    </m:f>
                    <m:r>
                      <a:rPr lang="en-US" sz="3600" b="1" i="1" dirty="0">
                        <a:latin typeface="Cambria Math" panose="02040503050406030204" pitchFamily="18" charset="0"/>
                      </a:rPr>
                      <m:t> </m:t>
                    </m:r>
                    <m:r>
                      <a:rPr lang="en-US" sz="3600" b="1" i="1" dirty="0">
                        <a:latin typeface="Cambria Math" panose="02040503050406030204" pitchFamily="18" charset="0"/>
                      </a:rPr>
                      <m:t>𝒄𝒂𝒍𝒍𝒆𝒅</m:t>
                    </m:r>
                    <m:r>
                      <a:rPr lang="en-US" sz="3600" b="1" i="1" dirty="0">
                        <a:latin typeface="Cambria Math" panose="02040503050406030204" pitchFamily="18" charset="0"/>
                      </a:rPr>
                      <m:t> </m:t>
                    </m:r>
                    <m:r>
                      <a:rPr lang="en-US" sz="3600" b="1" i="1" dirty="0">
                        <a:latin typeface="Cambria Math" panose="02040503050406030204" pitchFamily="18" charset="0"/>
                      </a:rPr>
                      <m:t>𝑺𝒕𝒂𝒏𝒅𝒂𝒓𝒅</m:t>
                    </m:r>
                    <m:r>
                      <a:rPr lang="en-US" sz="3600" b="1" i="1" dirty="0">
                        <a:latin typeface="Cambria Math" panose="02040503050406030204" pitchFamily="18" charset="0"/>
                      </a:rPr>
                      <m:t> </m:t>
                    </m:r>
                    <m:r>
                      <a:rPr lang="en-US" sz="3600" b="1" i="1" dirty="0">
                        <a:latin typeface="Cambria Math" panose="02040503050406030204" pitchFamily="18" charset="0"/>
                      </a:rPr>
                      <m:t>𝑬𝒓𝒓𝒐𝒓</m:t>
                    </m:r>
                  </m:oMath>
                </a14:m>
                <a:endParaRPr lang="en-US" sz="3600" b="1" dirty="0"/>
              </a:p>
              <a:p>
                <a:r>
                  <a:rPr lang="en-US" sz="3600" dirty="0"/>
                  <a:t>If we want the range within which, </a:t>
                </a:r>
                <a:r>
                  <a:rPr lang="en-US" sz="3600" b="1" dirty="0"/>
                  <a:t>95 times out of a 100</a:t>
                </a:r>
                <a:r>
                  <a:rPr lang="en-US" sz="3600" dirty="0"/>
                  <a:t>, our sample mean will cover the population mean, we calculate:</a:t>
                </a:r>
                <a:br>
                  <a:rPr lang="en-US" sz="3600" dirty="0"/>
                </a:br>
                <a:endParaRPr lang="en-NL" dirty="0"/>
              </a:p>
            </p:txBody>
          </p:sp>
        </mc:Choice>
        <mc:Fallback>
          <p:sp>
            <p:nvSpPr>
              <p:cNvPr id="3" name="Content Placeholder 2">
                <a:extLst>
                  <a:ext uri="{FF2B5EF4-FFF2-40B4-BE49-F238E27FC236}">
                    <a16:creationId xmlns:a16="http://schemas.microsoft.com/office/drawing/2014/main" id="{82876BD6-D5C4-5AB0-DF84-5EF01B55FB5B}"/>
                  </a:ext>
                </a:extLst>
              </p:cNvPr>
              <p:cNvSpPr>
                <a:spLocks noGrp="1" noRot="1" noChangeAspect="1" noMove="1" noResize="1" noEditPoints="1" noAdjustHandles="1" noChangeArrowheads="1" noChangeShapeType="1" noTextEdit="1"/>
              </p:cNvSpPr>
              <p:nvPr>
                <p:ph idx="1"/>
              </p:nvPr>
            </p:nvSpPr>
            <p:spPr>
              <a:xfrm>
                <a:off x="480001" y="1296000"/>
                <a:ext cx="11102399" cy="3299149"/>
              </a:xfrm>
              <a:blipFill>
                <a:blip r:embed="rId2"/>
                <a:stretch>
                  <a:fillRect l="-2283" t="-4231" r="-3082" b="-6923"/>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53ABE064-8C5F-62F1-B7BE-6D74DF0DD6F3}"/>
                  </a:ext>
                </a:extLst>
              </p:cNvPr>
              <p:cNvSpPr txBox="1"/>
              <p:nvPr/>
            </p:nvSpPr>
            <p:spPr>
              <a:xfrm>
                <a:off x="2747840" y="3817763"/>
                <a:ext cx="6696321" cy="2700483"/>
              </a:xfrm>
              <a:prstGeom prst="rect">
                <a:avLst/>
              </a:prstGeom>
              <a:noFill/>
            </p:spPr>
            <p:txBody>
              <a:bodyPr wrap="none" rtlCol="0">
                <a:spAutoFit/>
              </a:bodyPr>
              <a:lstStyle/>
              <a:p>
                <a:pPr algn="ctr"/>
                <a:br>
                  <a:rPr lang="en-US" sz="2800" dirty="0"/>
                </a:br>
                <a14:m>
                  <m:oMath xmlns:m="http://schemas.openxmlformats.org/officeDocument/2006/math">
                    <m:acc>
                      <m:accPr>
                        <m:chr m:val="̅"/>
                        <m:ctrlPr>
                          <a:rPr lang="en-US" sz="2800" i="1">
                            <a:latin typeface="Cambria Math" panose="02040503050406030204" pitchFamily="18" charset="0"/>
                          </a:rPr>
                        </m:ctrlPr>
                      </m:accPr>
                      <m:e>
                        <m:r>
                          <a:rPr lang="en-US" sz="2800" i="1">
                            <a:latin typeface="Cambria Math" panose="02040503050406030204" pitchFamily="18" charset="0"/>
                          </a:rPr>
                          <m:t>𝑥</m:t>
                        </m:r>
                      </m:e>
                    </m:acc>
                    <m:r>
                      <a:rPr lang="en-US" sz="2800" i="1" dirty="0">
                        <a:latin typeface="Cambria Math" panose="02040503050406030204" pitchFamily="18" charset="0"/>
                      </a:rPr>
                      <m:t> </m:t>
                    </m:r>
                    <m:r>
                      <a:rPr lang="en-US" sz="2800" i="1" dirty="0">
                        <a:latin typeface="Cambria Math" panose="02040503050406030204" pitchFamily="18" charset="0"/>
                        <a:ea typeface="Cambria Math" panose="02040503050406030204" pitchFamily="18" charset="0"/>
                      </a:rPr>
                      <m:t>±1.96 ∗</m:t>
                    </m:r>
                    <m:r>
                      <a:rPr lang="en-US" sz="2800" i="1" dirty="0">
                        <a:latin typeface="Cambria Math" panose="02040503050406030204" pitchFamily="18" charset="0"/>
                        <a:ea typeface="Cambria Math" panose="02040503050406030204" pitchFamily="18" charset="0"/>
                      </a:rPr>
                      <m:t>𝑆𝑇</m:t>
                    </m:r>
                    <m:sSub>
                      <m:sSubPr>
                        <m:ctrlPr>
                          <a:rPr lang="en-US" sz="2800" i="1" dirty="0">
                            <a:latin typeface="Cambria Math" panose="02040503050406030204" pitchFamily="18" charset="0"/>
                            <a:ea typeface="Cambria Math" panose="02040503050406030204" pitchFamily="18" charset="0"/>
                          </a:rPr>
                        </m:ctrlPr>
                      </m:sSubPr>
                      <m:e>
                        <m:r>
                          <a:rPr lang="en-US" sz="2800" i="1" dirty="0">
                            <a:latin typeface="Cambria Math" panose="02040503050406030204" pitchFamily="18" charset="0"/>
                            <a:ea typeface="Cambria Math" panose="02040503050406030204" pitchFamily="18" charset="0"/>
                          </a:rPr>
                          <m:t>𝐷</m:t>
                        </m:r>
                      </m:e>
                      <m:sub>
                        <m:acc>
                          <m:accPr>
                            <m:chr m:val="̅"/>
                            <m:ctrlPr>
                              <a:rPr lang="en-US" sz="2800" i="1" dirty="0">
                                <a:latin typeface="Cambria Math" panose="02040503050406030204" pitchFamily="18" charset="0"/>
                                <a:ea typeface="Cambria Math" panose="02040503050406030204" pitchFamily="18" charset="0"/>
                              </a:rPr>
                            </m:ctrlPr>
                          </m:accPr>
                          <m:e>
                            <m:r>
                              <a:rPr lang="en-US" sz="2800" i="1" dirty="0">
                                <a:latin typeface="Cambria Math" panose="02040503050406030204" pitchFamily="18" charset="0"/>
                                <a:ea typeface="Cambria Math" panose="02040503050406030204" pitchFamily="18" charset="0"/>
                              </a:rPr>
                              <m:t>𝑥</m:t>
                            </m:r>
                          </m:e>
                        </m:acc>
                      </m:sub>
                    </m:sSub>
                  </m:oMath>
                </a14:m>
                <a:r>
                  <a:rPr lang="en-NL" sz="3600" dirty="0"/>
                  <a:t> =</a:t>
                </a:r>
              </a:p>
              <a:p>
                <a:pPr algn="ctr"/>
                <a:endParaRPr lang="en-NL" sz="3600" dirty="0"/>
              </a:p>
              <a:p>
                <a:pPr algn="ctr"/>
                <a14:m>
                  <m:oMath xmlns:m="http://schemas.openxmlformats.org/officeDocument/2006/math">
                    <m:r>
                      <a:rPr lang="en-US" sz="3600" b="1" i="1" dirty="0">
                        <a:latin typeface="Cambria Math" panose="02040503050406030204" pitchFamily="18" charset="0"/>
                        <a:ea typeface="Cambria Math" panose="02040503050406030204" pitchFamily="18" charset="0"/>
                      </a:rPr>
                      <m:t>[</m:t>
                    </m:r>
                    <m:acc>
                      <m:accPr>
                        <m:chr m:val="̅"/>
                        <m:ctrlPr>
                          <a:rPr lang="en-US" sz="3600" b="1" i="1">
                            <a:latin typeface="Cambria Math" panose="02040503050406030204" pitchFamily="18" charset="0"/>
                          </a:rPr>
                        </m:ctrlPr>
                      </m:accPr>
                      <m:e>
                        <m:r>
                          <a:rPr lang="en-US" sz="3600" b="1" i="1">
                            <a:latin typeface="Cambria Math" panose="02040503050406030204" pitchFamily="18" charset="0"/>
                          </a:rPr>
                          <m:t>𝒙</m:t>
                        </m:r>
                      </m:e>
                    </m:acc>
                    <m:r>
                      <a:rPr lang="en-US" sz="3600" b="1" i="1" dirty="0">
                        <a:latin typeface="Cambria Math" panose="02040503050406030204" pitchFamily="18" charset="0"/>
                      </a:rPr>
                      <m:t>−</m:t>
                    </m:r>
                    <m:r>
                      <a:rPr lang="en-US" sz="3600" b="1" i="1" dirty="0">
                        <a:latin typeface="Cambria Math" panose="02040503050406030204" pitchFamily="18" charset="0"/>
                        <a:ea typeface="Cambria Math" panose="02040503050406030204" pitchFamily="18" charset="0"/>
                      </a:rPr>
                      <m:t>𝟏</m:t>
                    </m:r>
                    <m:r>
                      <a:rPr lang="en-US" sz="3600" b="1" i="1" dirty="0">
                        <a:latin typeface="Cambria Math" panose="02040503050406030204" pitchFamily="18" charset="0"/>
                        <a:ea typeface="Cambria Math" panose="02040503050406030204" pitchFamily="18" charset="0"/>
                      </a:rPr>
                      <m:t>.</m:t>
                    </m:r>
                    <m:r>
                      <a:rPr lang="en-US" sz="3600" b="1" i="1" dirty="0">
                        <a:latin typeface="Cambria Math" panose="02040503050406030204" pitchFamily="18" charset="0"/>
                        <a:ea typeface="Cambria Math" panose="02040503050406030204" pitchFamily="18" charset="0"/>
                      </a:rPr>
                      <m:t>𝟗𝟔</m:t>
                    </m:r>
                    <m:r>
                      <a:rPr lang="en-US" sz="3600" b="1" i="1" dirty="0">
                        <a:latin typeface="Cambria Math" panose="02040503050406030204" pitchFamily="18" charset="0"/>
                        <a:ea typeface="Cambria Math" panose="02040503050406030204" pitchFamily="18" charset="0"/>
                      </a:rPr>
                      <m:t> ∗ </m:t>
                    </m:r>
                    <m:f>
                      <m:fPr>
                        <m:ctrlPr>
                          <a:rPr lang="en-US" sz="3600" b="1" i="1" dirty="0">
                            <a:latin typeface="Cambria Math" panose="02040503050406030204" pitchFamily="18" charset="0"/>
                          </a:rPr>
                        </m:ctrlPr>
                      </m:fPr>
                      <m:num>
                        <m:r>
                          <a:rPr lang="en-US" sz="3600" b="1" i="1" dirty="0">
                            <a:latin typeface="Cambria Math" panose="02040503050406030204" pitchFamily="18" charset="0"/>
                          </a:rPr>
                          <m:t>𝝈</m:t>
                        </m:r>
                      </m:num>
                      <m:den>
                        <m:rad>
                          <m:radPr>
                            <m:degHide m:val="on"/>
                            <m:ctrlPr>
                              <a:rPr lang="en-US" sz="3600" b="1" i="1" dirty="0">
                                <a:latin typeface="Cambria Math" panose="02040503050406030204" pitchFamily="18" charset="0"/>
                              </a:rPr>
                            </m:ctrlPr>
                          </m:radPr>
                          <m:deg/>
                          <m:e>
                            <m:r>
                              <a:rPr lang="en-US" sz="3600" b="1" i="1" dirty="0">
                                <a:latin typeface="Cambria Math" panose="02040503050406030204" pitchFamily="18" charset="0"/>
                              </a:rPr>
                              <m:t>𝒏</m:t>
                            </m:r>
                          </m:e>
                        </m:rad>
                      </m:den>
                    </m:f>
                  </m:oMath>
                </a14:m>
                <a:r>
                  <a:rPr lang="en-US" sz="3600" b="1" dirty="0"/>
                  <a:t> , </a:t>
                </a:r>
                <a14:m>
                  <m:oMath xmlns:m="http://schemas.openxmlformats.org/officeDocument/2006/math">
                    <m:acc>
                      <m:accPr>
                        <m:chr m:val="̅"/>
                        <m:ctrlPr>
                          <a:rPr lang="en-US" sz="3600" b="1" i="1">
                            <a:latin typeface="Cambria Math" panose="02040503050406030204" pitchFamily="18" charset="0"/>
                          </a:rPr>
                        </m:ctrlPr>
                      </m:accPr>
                      <m:e>
                        <m:r>
                          <a:rPr lang="en-US" sz="3600" b="1" i="1">
                            <a:latin typeface="Cambria Math" panose="02040503050406030204" pitchFamily="18" charset="0"/>
                          </a:rPr>
                          <m:t>𝒙</m:t>
                        </m:r>
                      </m:e>
                    </m:acc>
                    <m:r>
                      <a:rPr lang="en-US" sz="3600" b="1" i="1" dirty="0">
                        <a:latin typeface="Cambria Math" panose="02040503050406030204" pitchFamily="18" charset="0"/>
                      </a:rPr>
                      <m:t>+</m:t>
                    </m:r>
                    <m:r>
                      <a:rPr lang="en-US" sz="3600" b="1" i="1" dirty="0">
                        <a:latin typeface="Cambria Math" panose="02040503050406030204" pitchFamily="18" charset="0"/>
                        <a:ea typeface="Cambria Math" panose="02040503050406030204" pitchFamily="18" charset="0"/>
                      </a:rPr>
                      <m:t>𝟏</m:t>
                    </m:r>
                    <m:r>
                      <a:rPr lang="en-US" sz="3600" b="1" i="1" dirty="0">
                        <a:latin typeface="Cambria Math" panose="02040503050406030204" pitchFamily="18" charset="0"/>
                        <a:ea typeface="Cambria Math" panose="02040503050406030204" pitchFamily="18" charset="0"/>
                      </a:rPr>
                      <m:t>.</m:t>
                    </m:r>
                    <m:r>
                      <a:rPr lang="en-US" sz="3600" b="1" i="1" dirty="0">
                        <a:latin typeface="Cambria Math" panose="02040503050406030204" pitchFamily="18" charset="0"/>
                        <a:ea typeface="Cambria Math" panose="02040503050406030204" pitchFamily="18" charset="0"/>
                      </a:rPr>
                      <m:t>𝟗𝟔</m:t>
                    </m:r>
                    <m:r>
                      <a:rPr lang="en-US" sz="3600" b="1" i="1" dirty="0">
                        <a:latin typeface="Cambria Math" panose="02040503050406030204" pitchFamily="18" charset="0"/>
                        <a:ea typeface="Cambria Math" panose="02040503050406030204" pitchFamily="18" charset="0"/>
                      </a:rPr>
                      <m:t> ∗ </m:t>
                    </m:r>
                    <m:f>
                      <m:fPr>
                        <m:ctrlPr>
                          <a:rPr lang="en-US" sz="3600" b="1" i="1" dirty="0">
                            <a:latin typeface="Cambria Math" panose="02040503050406030204" pitchFamily="18" charset="0"/>
                          </a:rPr>
                        </m:ctrlPr>
                      </m:fPr>
                      <m:num>
                        <m:r>
                          <a:rPr lang="en-US" sz="3600" b="1" i="1" dirty="0">
                            <a:latin typeface="Cambria Math" panose="02040503050406030204" pitchFamily="18" charset="0"/>
                          </a:rPr>
                          <m:t>𝝈</m:t>
                        </m:r>
                      </m:num>
                      <m:den>
                        <m:rad>
                          <m:radPr>
                            <m:degHide m:val="on"/>
                            <m:ctrlPr>
                              <a:rPr lang="en-US" sz="3600" b="1" i="1" dirty="0">
                                <a:latin typeface="Cambria Math" panose="02040503050406030204" pitchFamily="18" charset="0"/>
                              </a:rPr>
                            </m:ctrlPr>
                          </m:radPr>
                          <m:deg/>
                          <m:e>
                            <m:r>
                              <a:rPr lang="en-US" sz="3600" b="1" i="1" dirty="0">
                                <a:latin typeface="Cambria Math" panose="02040503050406030204" pitchFamily="18" charset="0"/>
                              </a:rPr>
                              <m:t>𝒏</m:t>
                            </m:r>
                          </m:e>
                        </m:rad>
                      </m:den>
                    </m:f>
                  </m:oMath>
                </a14:m>
                <a:r>
                  <a:rPr lang="en-US" sz="3600" b="1" dirty="0"/>
                  <a:t> ]</a:t>
                </a:r>
              </a:p>
              <a:p>
                <a:endParaRPr lang="en-NL" dirty="0"/>
              </a:p>
            </p:txBody>
          </p:sp>
        </mc:Choice>
        <mc:Fallback>
          <p:sp>
            <p:nvSpPr>
              <p:cNvPr id="4" name="TextBox 3">
                <a:extLst>
                  <a:ext uri="{FF2B5EF4-FFF2-40B4-BE49-F238E27FC236}">
                    <a16:creationId xmlns:a16="http://schemas.microsoft.com/office/drawing/2014/main" id="{53ABE064-8C5F-62F1-B7BE-6D74DF0DD6F3}"/>
                  </a:ext>
                </a:extLst>
              </p:cNvPr>
              <p:cNvSpPr txBox="1">
                <a:spLocks noRot="1" noChangeAspect="1" noMove="1" noResize="1" noEditPoints="1" noAdjustHandles="1" noChangeArrowheads="1" noChangeShapeType="1" noTextEdit="1"/>
              </p:cNvSpPr>
              <p:nvPr/>
            </p:nvSpPr>
            <p:spPr>
              <a:xfrm>
                <a:off x="2747840" y="3817763"/>
                <a:ext cx="6696321" cy="2700483"/>
              </a:xfrm>
              <a:prstGeom prst="rect">
                <a:avLst/>
              </a:prstGeom>
              <a:blipFill>
                <a:blip r:embed="rId3"/>
                <a:stretch>
                  <a:fillRect l="-1326" r="-2273"/>
                </a:stretch>
              </a:blipFill>
            </p:spPr>
            <p:txBody>
              <a:bodyPr/>
              <a:lstStyle/>
              <a:p>
                <a:r>
                  <a:rPr lang="en-NL">
                    <a:noFill/>
                  </a:rPr>
                  <a:t> </a:t>
                </a:r>
              </a:p>
            </p:txBody>
          </p:sp>
        </mc:Fallback>
      </mc:AlternateContent>
    </p:spTree>
    <p:extLst>
      <p:ext uri="{BB962C8B-B14F-4D97-AF65-F5344CB8AC3E}">
        <p14:creationId xmlns:p14="http://schemas.microsoft.com/office/powerpoint/2010/main" val="37750820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A6B84-77C2-2E5B-56DC-B9A9186ADD39}"/>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600D33A6-118F-A0F6-4D2C-16885675690C}"/>
              </a:ext>
            </a:extLst>
          </p:cNvPr>
          <p:cNvSpPr/>
          <p:nvPr/>
        </p:nvSpPr>
        <p:spPr>
          <a:xfrm>
            <a:off x="2733554" y="5289630"/>
            <a:ext cx="6724891" cy="960699"/>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
        <p:nvSpPr>
          <p:cNvPr id="2" name="Title 1">
            <a:extLst>
              <a:ext uri="{FF2B5EF4-FFF2-40B4-BE49-F238E27FC236}">
                <a16:creationId xmlns:a16="http://schemas.microsoft.com/office/drawing/2014/main" id="{F5E3ED69-479E-7199-D1DB-58EB5EABA791}"/>
              </a:ext>
            </a:extLst>
          </p:cNvPr>
          <p:cNvSpPr>
            <a:spLocks noGrp="1"/>
          </p:cNvSpPr>
          <p:nvPr>
            <p:ph type="title"/>
          </p:nvPr>
        </p:nvSpPr>
        <p:spPr/>
        <p:txBody>
          <a:bodyPr/>
          <a:lstStyle/>
          <a:p>
            <a:r>
              <a:rPr lang="en-NL" dirty="0"/>
              <a:t>95% confidence interval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5E68D91-E191-95D5-E992-B2A533AEE775}"/>
                  </a:ext>
                </a:extLst>
              </p:cNvPr>
              <p:cNvSpPr>
                <a:spLocks noGrp="1"/>
              </p:cNvSpPr>
              <p:nvPr>
                <p:ph idx="1"/>
              </p:nvPr>
            </p:nvSpPr>
            <p:spPr>
              <a:xfrm>
                <a:off x="480001" y="1296000"/>
                <a:ext cx="11102399" cy="3299149"/>
              </a:xfrm>
            </p:spPr>
            <p:txBody>
              <a:bodyPr/>
              <a:lstStyle/>
              <a:p>
                <a:r>
                  <a:rPr lang="en-US" sz="3600" dirty="0"/>
                  <a:t>Assuming central limit theorem holds:</a:t>
                </a:r>
                <a:br>
                  <a:rPr lang="en-US" sz="3600" dirty="0"/>
                </a:br>
                <a14:m>
                  <m:oMath xmlns:m="http://schemas.openxmlformats.org/officeDocument/2006/math">
                    <m:acc>
                      <m:accPr>
                        <m:chr m:val="̅"/>
                        <m:ctrlPr>
                          <a:rPr lang="en-US" sz="3600" i="1">
                            <a:latin typeface="Cambria Math" panose="02040503050406030204" pitchFamily="18" charset="0"/>
                          </a:rPr>
                        </m:ctrlPr>
                      </m:accPr>
                      <m:e>
                        <m:r>
                          <a:rPr lang="en-US" sz="3600" i="1">
                            <a:latin typeface="Cambria Math" panose="02040503050406030204" pitchFamily="18" charset="0"/>
                          </a:rPr>
                          <m:t>𝑥</m:t>
                        </m:r>
                      </m:e>
                    </m:acc>
                    <m:r>
                      <a:rPr lang="en-US" sz="3600" i="1" dirty="0">
                        <a:latin typeface="Cambria Math" panose="02040503050406030204" pitchFamily="18" charset="0"/>
                      </a:rPr>
                      <m:t> ~ </m:t>
                    </m:r>
                    <m:r>
                      <a:rPr lang="en-US" sz="3600" i="1" dirty="0">
                        <a:latin typeface="Cambria Math" panose="02040503050406030204" pitchFamily="18" charset="0"/>
                      </a:rPr>
                      <m:t>𝑁</m:t>
                    </m:r>
                    <m:d>
                      <m:dPr>
                        <m:ctrlPr>
                          <a:rPr lang="en-US" sz="3600" i="1" dirty="0">
                            <a:latin typeface="Cambria Math" panose="02040503050406030204" pitchFamily="18" charset="0"/>
                          </a:rPr>
                        </m:ctrlPr>
                      </m:dPr>
                      <m:e>
                        <m:r>
                          <a:rPr lang="en-US" sz="3600" i="1" dirty="0">
                            <a:latin typeface="Cambria Math" panose="02040503050406030204" pitchFamily="18" charset="0"/>
                          </a:rPr>
                          <m:t>𝜇</m:t>
                        </m:r>
                        <m:r>
                          <a:rPr lang="en-US" sz="3600" i="1" dirty="0">
                            <a:latin typeface="Cambria Math" panose="02040503050406030204" pitchFamily="18" charset="0"/>
                          </a:rPr>
                          <m:t> ,</m:t>
                        </m:r>
                        <m:f>
                          <m:fPr>
                            <m:ctrlPr>
                              <a:rPr lang="en-US" sz="3600" i="1" dirty="0">
                                <a:latin typeface="Cambria Math" panose="02040503050406030204" pitchFamily="18" charset="0"/>
                              </a:rPr>
                            </m:ctrlPr>
                          </m:fPr>
                          <m:num>
                            <m:r>
                              <a:rPr lang="en-US" sz="3600" i="1" dirty="0">
                                <a:latin typeface="Cambria Math" panose="02040503050406030204" pitchFamily="18" charset="0"/>
                              </a:rPr>
                              <m:t>𝜎</m:t>
                            </m:r>
                          </m:num>
                          <m:den>
                            <m:rad>
                              <m:radPr>
                                <m:degHide m:val="on"/>
                                <m:ctrlPr>
                                  <a:rPr lang="en-US" sz="3600" i="1" dirty="0">
                                    <a:latin typeface="Cambria Math" panose="02040503050406030204" pitchFamily="18" charset="0"/>
                                  </a:rPr>
                                </m:ctrlPr>
                              </m:radPr>
                              <m:deg/>
                              <m:e>
                                <m:r>
                                  <a:rPr lang="en-US" sz="3600" i="1" dirty="0">
                                    <a:latin typeface="Cambria Math" panose="02040503050406030204" pitchFamily="18" charset="0"/>
                                  </a:rPr>
                                  <m:t>𝑛</m:t>
                                </m:r>
                              </m:e>
                            </m:rad>
                          </m:den>
                        </m:f>
                      </m:e>
                    </m:d>
                    <m:r>
                      <a:rPr lang="en-US" sz="3600" b="1" i="1" dirty="0">
                        <a:latin typeface="Cambria Math" panose="02040503050406030204" pitchFamily="18" charset="0"/>
                      </a:rPr>
                      <m:t>, </m:t>
                    </m:r>
                    <m:f>
                      <m:fPr>
                        <m:ctrlPr>
                          <a:rPr lang="en-US" sz="3600" b="1" i="1" dirty="0">
                            <a:latin typeface="Cambria Math" panose="02040503050406030204" pitchFamily="18" charset="0"/>
                          </a:rPr>
                        </m:ctrlPr>
                      </m:fPr>
                      <m:num>
                        <m:r>
                          <a:rPr lang="en-US" sz="3600" b="1" i="1" dirty="0">
                            <a:latin typeface="Cambria Math" panose="02040503050406030204" pitchFamily="18" charset="0"/>
                          </a:rPr>
                          <m:t>𝝈</m:t>
                        </m:r>
                      </m:num>
                      <m:den>
                        <m:rad>
                          <m:radPr>
                            <m:degHide m:val="on"/>
                            <m:ctrlPr>
                              <a:rPr lang="en-US" sz="3600" b="1" i="1" dirty="0">
                                <a:latin typeface="Cambria Math" panose="02040503050406030204" pitchFamily="18" charset="0"/>
                              </a:rPr>
                            </m:ctrlPr>
                          </m:radPr>
                          <m:deg/>
                          <m:e>
                            <m:r>
                              <a:rPr lang="en-US" sz="3600" b="1" i="1" dirty="0">
                                <a:latin typeface="Cambria Math" panose="02040503050406030204" pitchFamily="18" charset="0"/>
                              </a:rPr>
                              <m:t>𝒏</m:t>
                            </m:r>
                          </m:e>
                        </m:rad>
                      </m:den>
                    </m:f>
                    <m:r>
                      <a:rPr lang="en-US" sz="3600" b="1" i="1" dirty="0">
                        <a:latin typeface="Cambria Math" panose="02040503050406030204" pitchFamily="18" charset="0"/>
                      </a:rPr>
                      <m:t> </m:t>
                    </m:r>
                    <m:r>
                      <a:rPr lang="en-US" sz="3600" b="1" i="1" dirty="0">
                        <a:latin typeface="Cambria Math" panose="02040503050406030204" pitchFamily="18" charset="0"/>
                      </a:rPr>
                      <m:t>𝒄𝒂𝒍𝒍𝒆𝒅</m:t>
                    </m:r>
                    <m:r>
                      <a:rPr lang="en-US" sz="3600" b="1" i="1" dirty="0">
                        <a:latin typeface="Cambria Math" panose="02040503050406030204" pitchFamily="18" charset="0"/>
                      </a:rPr>
                      <m:t> </m:t>
                    </m:r>
                    <m:r>
                      <a:rPr lang="en-US" sz="3600" b="1" i="1" dirty="0">
                        <a:latin typeface="Cambria Math" panose="02040503050406030204" pitchFamily="18" charset="0"/>
                      </a:rPr>
                      <m:t>𝑺𝒕𝒂𝒏𝒅𝒂𝒓𝒅</m:t>
                    </m:r>
                    <m:r>
                      <a:rPr lang="en-US" sz="3600" b="1" i="1" dirty="0">
                        <a:latin typeface="Cambria Math" panose="02040503050406030204" pitchFamily="18" charset="0"/>
                      </a:rPr>
                      <m:t> </m:t>
                    </m:r>
                    <m:r>
                      <a:rPr lang="en-US" sz="3600" b="1" i="1" dirty="0">
                        <a:latin typeface="Cambria Math" panose="02040503050406030204" pitchFamily="18" charset="0"/>
                      </a:rPr>
                      <m:t>𝑬𝒓𝒓𝒐𝒓</m:t>
                    </m:r>
                  </m:oMath>
                </a14:m>
                <a:endParaRPr lang="en-US" sz="3600" b="1" dirty="0"/>
              </a:p>
              <a:p>
                <a:r>
                  <a:rPr lang="en-US" sz="3600" dirty="0"/>
                  <a:t>If we want the range within which, </a:t>
                </a:r>
                <a:r>
                  <a:rPr lang="en-US" sz="3600" b="1" dirty="0"/>
                  <a:t>95 times out of a 100</a:t>
                </a:r>
                <a:r>
                  <a:rPr lang="en-US" sz="3600" dirty="0"/>
                  <a:t>, our sample mean will cover the population mean, we calculate:</a:t>
                </a:r>
                <a:br>
                  <a:rPr lang="en-US" sz="3600" dirty="0"/>
                </a:br>
                <a:endParaRPr lang="en-NL" dirty="0"/>
              </a:p>
            </p:txBody>
          </p:sp>
        </mc:Choice>
        <mc:Fallback>
          <p:sp>
            <p:nvSpPr>
              <p:cNvPr id="3" name="Content Placeholder 2">
                <a:extLst>
                  <a:ext uri="{FF2B5EF4-FFF2-40B4-BE49-F238E27FC236}">
                    <a16:creationId xmlns:a16="http://schemas.microsoft.com/office/drawing/2014/main" id="{75E68D91-E191-95D5-E992-B2A533AEE775}"/>
                  </a:ext>
                </a:extLst>
              </p:cNvPr>
              <p:cNvSpPr>
                <a:spLocks noGrp="1" noRot="1" noChangeAspect="1" noMove="1" noResize="1" noEditPoints="1" noAdjustHandles="1" noChangeArrowheads="1" noChangeShapeType="1" noTextEdit="1"/>
              </p:cNvSpPr>
              <p:nvPr>
                <p:ph idx="1"/>
              </p:nvPr>
            </p:nvSpPr>
            <p:spPr>
              <a:xfrm>
                <a:off x="480001" y="1296000"/>
                <a:ext cx="11102399" cy="3299149"/>
              </a:xfrm>
              <a:blipFill>
                <a:blip r:embed="rId3"/>
                <a:stretch>
                  <a:fillRect l="-2283" t="-4231" r="-3082" b="-6923"/>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556BF13-BAC6-F94F-2BE5-48F525683A9B}"/>
                  </a:ext>
                </a:extLst>
              </p:cNvPr>
              <p:cNvSpPr txBox="1"/>
              <p:nvPr/>
            </p:nvSpPr>
            <p:spPr>
              <a:xfrm>
                <a:off x="2747840" y="3817763"/>
                <a:ext cx="6696321" cy="2700483"/>
              </a:xfrm>
              <a:prstGeom prst="rect">
                <a:avLst/>
              </a:prstGeom>
              <a:noFill/>
            </p:spPr>
            <p:txBody>
              <a:bodyPr wrap="none" rtlCol="0">
                <a:spAutoFit/>
              </a:bodyPr>
              <a:lstStyle/>
              <a:p>
                <a:pPr algn="ctr"/>
                <a:br>
                  <a:rPr lang="en-US" sz="2800" dirty="0"/>
                </a:br>
                <a14:m>
                  <m:oMath xmlns:m="http://schemas.openxmlformats.org/officeDocument/2006/math">
                    <m:acc>
                      <m:accPr>
                        <m:chr m:val="̅"/>
                        <m:ctrlPr>
                          <a:rPr lang="en-US" sz="2800" i="1">
                            <a:latin typeface="Cambria Math" panose="02040503050406030204" pitchFamily="18" charset="0"/>
                          </a:rPr>
                        </m:ctrlPr>
                      </m:accPr>
                      <m:e>
                        <m:r>
                          <a:rPr lang="en-US" sz="2800" i="1">
                            <a:latin typeface="Cambria Math" panose="02040503050406030204" pitchFamily="18" charset="0"/>
                          </a:rPr>
                          <m:t>𝑥</m:t>
                        </m:r>
                      </m:e>
                    </m:acc>
                    <m:r>
                      <a:rPr lang="en-US" sz="2800" i="1" dirty="0">
                        <a:latin typeface="Cambria Math" panose="02040503050406030204" pitchFamily="18" charset="0"/>
                      </a:rPr>
                      <m:t> </m:t>
                    </m:r>
                    <m:r>
                      <a:rPr lang="en-US" sz="2800" i="1" dirty="0">
                        <a:latin typeface="Cambria Math" panose="02040503050406030204" pitchFamily="18" charset="0"/>
                        <a:ea typeface="Cambria Math" panose="02040503050406030204" pitchFamily="18" charset="0"/>
                      </a:rPr>
                      <m:t>±1.96 ∗</m:t>
                    </m:r>
                    <m:r>
                      <a:rPr lang="en-US" sz="2800" i="1" dirty="0">
                        <a:latin typeface="Cambria Math" panose="02040503050406030204" pitchFamily="18" charset="0"/>
                        <a:ea typeface="Cambria Math" panose="02040503050406030204" pitchFamily="18" charset="0"/>
                      </a:rPr>
                      <m:t>𝑆𝑇</m:t>
                    </m:r>
                    <m:sSub>
                      <m:sSubPr>
                        <m:ctrlPr>
                          <a:rPr lang="en-US" sz="2800" i="1" dirty="0">
                            <a:latin typeface="Cambria Math" panose="02040503050406030204" pitchFamily="18" charset="0"/>
                            <a:ea typeface="Cambria Math" panose="02040503050406030204" pitchFamily="18" charset="0"/>
                          </a:rPr>
                        </m:ctrlPr>
                      </m:sSubPr>
                      <m:e>
                        <m:r>
                          <a:rPr lang="en-US" sz="2800" i="1" dirty="0">
                            <a:latin typeface="Cambria Math" panose="02040503050406030204" pitchFamily="18" charset="0"/>
                            <a:ea typeface="Cambria Math" panose="02040503050406030204" pitchFamily="18" charset="0"/>
                          </a:rPr>
                          <m:t>𝐷</m:t>
                        </m:r>
                      </m:e>
                      <m:sub>
                        <m:acc>
                          <m:accPr>
                            <m:chr m:val="̅"/>
                            <m:ctrlPr>
                              <a:rPr lang="en-US" sz="2800" i="1" dirty="0">
                                <a:latin typeface="Cambria Math" panose="02040503050406030204" pitchFamily="18" charset="0"/>
                                <a:ea typeface="Cambria Math" panose="02040503050406030204" pitchFamily="18" charset="0"/>
                              </a:rPr>
                            </m:ctrlPr>
                          </m:accPr>
                          <m:e>
                            <m:r>
                              <a:rPr lang="en-US" sz="2800" i="1" dirty="0">
                                <a:latin typeface="Cambria Math" panose="02040503050406030204" pitchFamily="18" charset="0"/>
                                <a:ea typeface="Cambria Math" panose="02040503050406030204" pitchFamily="18" charset="0"/>
                              </a:rPr>
                              <m:t>𝑥</m:t>
                            </m:r>
                          </m:e>
                        </m:acc>
                      </m:sub>
                    </m:sSub>
                  </m:oMath>
                </a14:m>
                <a:r>
                  <a:rPr lang="en-NL" sz="3600" dirty="0"/>
                  <a:t> =</a:t>
                </a:r>
              </a:p>
              <a:p>
                <a:pPr algn="ctr"/>
                <a:endParaRPr lang="en-NL" sz="3600" dirty="0"/>
              </a:p>
              <a:p>
                <a:pPr algn="ctr"/>
                <a14:m>
                  <m:oMath xmlns:m="http://schemas.openxmlformats.org/officeDocument/2006/math">
                    <m:r>
                      <a:rPr lang="en-US" sz="3600" b="1" i="1" dirty="0">
                        <a:latin typeface="Cambria Math" panose="02040503050406030204" pitchFamily="18" charset="0"/>
                        <a:ea typeface="Cambria Math" panose="02040503050406030204" pitchFamily="18" charset="0"/>
                      </a:rPr>
                      <m:t>[</m:t>
                    </m:r>
                    <m:acc>
                      <m:accPr>
                        <m:chr m:val="̅"/>
                        <m:ctrlPr>
                          <a:rPr lang="en-US" sz="3600" b="1" i="1">
                            <a:latin typeface="Cambria Math" panose="02040503050406030204" pitchFamily="18" charset="0"/>
                          </a:rPr>
                        </m:ctrlPr>
                      </m:accPr>
                      <m:e>
                        <m:r>
                          <a:rPr lang="en-US" sz="3600" b="1" i="1">
                            <a:latin typeface="Cambria Math" panose="02040503050406030204" pitchFamily="18" charset="0"/>
                          </a:rPr>
                          <m:t>𝒙</m:t>
                        </m:r>
                      </m:e>
                    </m:acc>
                    <m:r>
                      <a:rPr lang="en-US" sz="3600" b="1" i="1" dirty="0">
                        <a:latin typeface="Cambria Math" panose="02040503050406030204" pitchFamily="18" charset="0"/>
                      </a:rPr>
                      <m:t>−</m:t>
                    </m:r>
                    <m:r>
                      <a:rPr lang="en-US" sz="3600" b="1" i="1" dirty="0">
                        <a:latin typeface="Cambria Math" panose="02040503050406030204" pitchFamily="18" charset="0"/>
                        <a:ea typeface="Cambria Math" panose="02040503050406030204" pitchFamily="18" charset="0"/>
                      </a:rPr>
                      <m:t>𝟏</m:t>
                    </m:r>
                    <m:r>
                      <a:rPr lang="en-US" sz="3600" b="1" i="1" dirty="0">
                        <a:latin typeface="Cambria Math" panose="02040503050406030204" pitchFamily="18" charset="0"/>
                        <a:ea typeface="Cambria Math" panose="02040503050406030204" pitchFamily="18" charset="0"/>
                      </a:rPr>
                      <m:t>.</m:t>
                    </m:r>
                    <m:r>
                      <a:rPr lang="en-US" sz="3600" b="1" i="1" dirty="0">
                        <a:latin typeface="Cambria Math" panose="02040503050406030204" pitchFamily="18" charset="0"/>
                        <a:ea typeface="Cambria Math" panose="02040503050406030204" pitchFamily="18" charset="0"/>
                      </a:rPr>
                      <m:t>𝟗𝟔</m:t>
                    </m:r>
                    <m:r>
                      <a:rPr lang="en-US" sz="3600" b="1" i="1" dirty="0">
                        <a:latin typeface="Cambria Math" panose="02040503050406030204" pitchFamily="18" charset="0"/>
                        <a:ea typeface="Cambria Math" panose="02040503050406030204" pitchFamily="18" charset="0"/>
                      </a:rPr>
                      <m:t> ∗ </m:t>
                    </m:r>
                    <m:f>
                      <m:fPr>
                        <m:ctrlPr>
                          <a:rPr lang="en-US" sz="3600" b="1" i="1" dirty="0">
                            <a:latin typeface="Cambria Math" panose="02040503050406030204" pitchFamily="18" charset="0"/>
                          </a:rPr>
                        </m:ctrlPr>
                      </m:fPr>
                      <m:num>
                        <m:r>
                          <a:rPr lang="en-US" sz="3600" b="1" i="1" dirty="0">
                            <a:latin typeface="Cambria Math" panose="02040503050406030204" pitchFamily="18" charset="0"/>
                          </a:rPr>
                          <m:t>𝝈</m:t>
                        </m:r>
                      </m:num>
                      <m:den>
                        <m:rad>
                          <m:radPr>
                            <m:degHide m:val="on"/>
                            <m:ctrlPr>
                              <a:rPr lang="en-US" sz="3600" b="1" i="1" dirty="0">
                                <a:latin typeface="Cambria Math" panose="02040503050406030204" pitchFamily="18" charset="0"/>
                              </a:rPr>
                            </m:ctrlPr>
                          </m:radPr>
                          <m:deg/>
                          <m:e>
                            <m:r>
                              <a:rPr lang="en-US" sz="3600" b="1" i="1" dirty="0">
                                <a:latin typeface="Cambria Math" panose="02040503050406030204" pitchFamily="18" charset="0"/>
                              </a:rPr>
                              <m:t>𝒏</m:t>
                            </m:r>
                          </m:e>
                        </m:rad>
                      </m:den>
                    </m:f>
                  </m:oMath>
                </a14:m>
                <a:r>
                  <a:rPr lang="en-US" sz="3600" b="1" dirty="0"/>
                  <a:t> , </a:t>
                </a:r>
                <a14:m>
                  <m:oMath xmlns:m="http://schemas.openxmlformats.org/officeDocument/2006/math">
                    <m:acc>
                      <m:accPr>
                        <m:chr m:val="̅"/>
                        <m:ctrlPr>
                          <a:rPr lang="en-US" sz="3600" b="1" i="1">
                            <a:latin typeface="Cambria Math" panose="02040503050406030204" pitchFamily="18" charset="0"/>
                          </a:rPr>
                        </m:ctrlPr>
                      </m:accPr>
                      <m:e>
                        <m:r>
                          <a:rPr lang="en-US" sz="3600" b="1" i="1">
                            <a:latin typeface="Cambria Math" panose="02040503050406030204" pitchFamily="18" charset="0"/>
                          </a:rPr>
                          <m:t>𝒙</m:t>
                        </m:r>
                      </m:e>
                    </m:acc>
                    <m:r>
                      <a:rPr lang="en-US" sz="3600" b="1" i="1" dirty="0">
                        <a:latin typeface="Cambria Math" panose="02040503050406030204" pitchFamily="18" charset="0"/>
                      </a:rPr>
                      <m:t>+</m:t>
                    </m:r>
                    <m:r>
                      <a:rPr lang="en-US" sz="3600" b="1" i="1" dirty="0">
                        <a:latin typeface="Cambria Math" panose="02040503050406030204" pitchFamily="18" charset="0"/>
                        <a:ea typeface="Cambria Math" panose="02040503050406030204" pitchFamily="18" charset="0"/>
                      </a:rPr>
                      <m:t>𝟏</m:t>
                    </m:r>
                    <m:r>
                      <a:rPr lang="en-US" sz="3600" b="1" i="1" dirty="0">
                        <a:latin typeface="Cambria Math" panose="02040503050406030204" pitchFamily="18" charset="0"/>
                        <a:ea typeface="Cambria Math" panose="02040503050406030204" pitchFamily="18" charset="0"/>
                      </a:rPr>
                      <m:t>.</m:t>
                    </m:r>
                    <m:r>
                      <a:rPr lang="en-US" sz="3600" b="1" i="1" dirty="0">
                        <a:latin typeface="Cambria Math" panose="02040503050406030204" pitchFamily="18" charset="0"/>
                        <a:ea typeface="Cambria Math" panose="02040503050406030204" pitchFamily="18" charset="0"/>
                      </a:rPr>
                      <m:t>𝟗𝟔</m:t>
                    </m:r>
                    <m:r>
                      <a:rPr lang="en-US" sz="3600" b="1" i="1" dirty="0">
                        <a:latin typeface="Cambria Math" panose="02040503050406030204" pitchFamily="18" charset="0"/>
                        <a:ea typeface="Cambria Math" panose="02040503050406030204" pitchFamily="18" charset="0"/>
                      </a:rPr>
                      <m:t> ∗ </m:t>
                    </m:r>
                    <m:f>
                      <m:fPr>
                        <m:ctrlPr>
                          <a:rPr lang="en-US" sz="3600" b="1" i="1" dirty="0">
                            <a:latin typeface="Cambria Math" panose="02040503050406030204" pitchFamily="18" charset="0"/>
                          </a:rPr>
                        </m:ctrlPr>
                      </m:fPr>
                      <m:num>
                        <m:r>
                          <a:rPr lang="en-US" sz="3600" b="1" i="1" dirty="0">
                            <a:latin typeface="Cambria Math" panose="02040503050406030204" pitchFamily="18" charset="0"/>
                          </a:rPr>
                          <m:t>𝝈</m:t>
                        </m:r>
                      </m:num>
                      <m:den>
                        <m:rad>
                          <m:radPr>
                            <m:degHide m:val="on"/>
                            <m:ctrlPr>
                              <a:rPr lang="en-US" sz="3600" b="1" i="1" dirty="0">
                                <a:latin typeface="Cambria Math" panose="02040503050406030204" pitchFamily="18" charset="0"/>
                              </a:rPr>
                            </m:ctrlPr>
                          </m:radPr>
                          <m:deg/>
                          <m:e>
                            <m:r>
                              <a:rPr lang="en-US" sz="3600" b="1" i="1" dirty="0">
                                <a:latin typeface="Cambria Math" panose="02040503050406030204" pitchFamily="18" charset="0"/>
                              </a:rPr>
                              <m:t>𝒏</m:t>
                            </m:r>
                          </m:e>
                        </m:rad>
                      </m:den>
                    </m:f>
                  </m:oMath>
                </a14:m>
                <a:r>
                  <a:rPr lang="en-US" sz="3600" b="1" dirty="0"/>
                  <a:t> ]</a:t>
                </a:r>
              </a:p>
              <a:p>
                <a:endParaRPr lang="en-NL" dirty="0"/>
              </a:p>
            </p:txBody>
          </p:sp>
        </mc:Choice>
        <mc:Fallback>
          <p:sp>
            <p:nvSpPr>
              <p:cNvPr id="4" name="TextBox 3">
                <a:extLst>
                  <a:ext uri="{FF2B5EF4-FFF2-40B4-BE49-F238E27FC236}">
                    <a16:creationId xmlns:a16="http://schemas.microsoft.com/office/drawing/2014/main" id="{4556BF13-BAC6-F94F-2BE5-48F525683A9B}"/>
                  </a:ext>
                </a:extLst>
              </p:cNvPr>
              <p:cNvSpPr txBox="1">
                <a:spLocks noRot="1" noChangeAspect="1" noMove="1" noResize="1" noEditPoints="1" noAdjustHandles="1" noChangeArrowheads="1" noChangeShapeType="1" noTextEdit="1"/>
              </p:cNvSpPr>
              <p:nvPr/>
            </p:nvSpPr>
            <p:spPr>
              <a:xfrm>
                <a:off x="2747840" y="3817763"/>
                <a:ext cx="6696321" cy="2700483"/>
              </a:xfrm>
              <a:prstGeom prst="rect">
                <a:avLst/>
              </a:prstGeom>
              <a:blipFill>
                <a:blip r:embed="rId4"/>
                <a:stretch>
                  <a:fillRect l="-1326" r="-2273"/>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20D299C0-D751-56E7-3A3C-52D30654AF3D}"/>
                  </a:ext>
                </a:extLst>
              </p:cNvPr>
              <p:cNvSpPr txBox="1"/>
              <p:nvPr/>
            </p:nvSpPr>
            <p:spPr>
              <a:xfrm>
                <a:off x="9757459" y="4388392"/>
                <a:ext cx="2308517" cy="1107996"/>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nl-NL" sz="2400" i="1">
                              <a:latin typeface="Cambria Math" panose="02040503050406030204" pitchFamily="18" charset="0"/>
                            </a:rPr>
                            <m:t>𝑧</m:t>
                          </m:r>
                        </m:e>
                        <m:sub>
                          <m:r>
                            <a:rPr lang="nl-NL" sz="2400" i="1">
                              <a:latin typeface="Cambria Math" panose="02040503050406030204" pitchFamily="18" charset="0"/>
                            </a:rPr>
                            <m:t>0.025</m:t>
                          </m:r>
                        </m:sub>
                      </m:sSub>
                      <m:r>
                        <a:rPr lang="nl-NL" sz="2400" i="1">
                          <a:latin typeface="Cambria Math" panose="02040503050406030204" pitchFamily="18" charset="0"/>
                        </a:rPr>
                        <m:t> = −1.96</m:t>
                      </m:r>
                    </m:oMath>
                  </m:oMathPara>
                </a14:m>
                <a:endParaRPr lang="nl-NL" sz="24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nl-NL" sz="2400" i="1">
                              <a:latin typeface="Cambria Math" panose="02040503050406030204" pitchFamily="18" charset="0"/>
                            </a:rPr>
                            <m:t>𝑧</m:t>
                          </m:r>
                        </m:e>
                        <m:sub>
                          <m:r>
                            <a:rPr lang="nl-NL" sz="2400" i="1">
                              <a:latin typeface="Cambria Math" panose="02040503050406030204" pitchFamily="18" charset="0"/>
                            </a:rPr>
                            <m:t>0.975</m:t>
                          </m:r>
                        </m:sub>
                      </m:sSub>
                      <m:r>
                        <a:rPr lang="nl-NL" sz="2400" i="1">
                          <a:latin typeface="Cambria Math" panose="02040503050406030204" pitchFamily="18" charset="0"/>
                        </a:rPr>
                        <m:t> = 1.96</m:t>
                      </m:r>
                    </m:oMath>
                  </m:oMathPara>
                </a14:m>
                <a:endParaRPr lang="en-US" sz="2400" dirty="0"/>
              </a:p>
              <a:p>
                <a:endParaRPr lang="en-NL" dirty="0"/>
              </a:p>
            </p:txBody>
          </p:sp>
        </mc:Choice>
        <mc:Fallback>
          <p:sp>
            <p:nvSpPr>
              <p:cNvPr id="6" name="TextBox 5">
                <a:extLst>
                  <a:ext uri="{FF2B5EF4-FFF2-40B4-BE49-F238E27FC236}">
                    <a16:creationId xmlns:a16="http://schemas.microsoft.com/office/drawing/2014/main" id="{20D299C0-D751-56E7-3A3C-52D30654AF3D}"/>
                  </a:ext>
                </a:extLst>
              </p:cNvPr>
              <p:cNvSpPr txBox="1">
                <a:spLocks noRot="1" noChangeAspect="1" noMove="1" noResize="1" noEditPoints="1" noAdjustHandles="1" noChangeArrowheads="1" noChangeShapeType="1" noTextEdit="1"/>
              </p:cNvSpPr>
              <p:nvPr/>
            </p:nvSpPr>
            <p:spPr>
              <a:xfrm>
                <a:off x="9757459" y="4388392"/>
                <a:ext cx="2308517" cy="1107996"/>
              </a:xfrm>
              <a:prstGeom prst="rect">
                <a:avLst/>
              </a:prstGeom>
              <a:blipFill>
                <a:blip r:embed="rId5"/>
                <a:stretch>
                  <a:fillRect/>
                </a:stretch>
              </a:blipFill>
            </p:spPr>
            <p:txBody>
              <a:bodyPr/>
              <a:lstStyle/>
              <a:p>
                <a:r>
                  <a:rPr lang="en-NL">
                    <a:noFill/>
                  </a:rPr>
                  <a:t> </a:t>
                </a:r>
              </a:p>
            </p:txBody>
          </p:sp>
        </mc:Fallback>
      </mc:AlternateContent>
      <p:cxnSp>
        <p:nvCxnSpPr>
          <p:cNvPr id="8" name="Curved Connector 7">
            <a:extLst>
              <a:ext uri="{FF2B5EF4-FFF2-40B4-BE49-F238E27FC236}">
                <a16:creationId xmlns:a16="http://schemas.microsoft.com/office/drawing/2014/main" id="{720BF794-F200-6C5D-49F4-AF7F871864C5}"/>
              </a:ext>
            </a:extLst>
          </p:cNvPr>
          <p:cNvCxnSpPr>
            <a:cxnSpLocks/>
          </p:cNvCxnSpPr>
          <p:nvPr/>
        </p:nvCxnSpPr>
        <p:spPr>
          <a:xfrm flipV="1">
            <a:off x="8032830" y="4838218"/>
            <a:ext cx="1701479" cy="723782"/>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7EF89F71-C287-6742-0B71-041539DE2007}"/>
                  </a:ext>
                </a:extLst>
              </p:cNvPr>
              <p:cNvSpPr txBox="1"/>
              <p:nvPr/>
            </p:nvSpPr>
            <p:spPr>
              <a:xfrm>
                <a:off x="5511480" y="4282030"/>
                <a:ext cx="6094070" cy="89415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600" i="1" smtClean="0">
                              <a:latin typeface="Cambria Math" panose="02040503050406030204" pitchFamily="18" charset="0"/>
                            </a:rPr>
                          </m:ctrlPr>
                        </m:sSubPr>
                        <m:e>
                          <m:r>
                            <a:rPr lang="en-US" sz="3600" i="1">
                              <a:latin typeface="Cambria Math" panose="02040503050406030204" pitchFamily="18" charset="0"/>
                            </a:rPr>
                            <m:t>𝑧</m:t>
                          </m:r>
                        </m:e>
                        <m:sub>
                          <m:f>
                            <m:fPr>
                              <m:ctrlPr>
                                <a:rPr lang="en-US" sz="3600" i="1">
                                  <a:latin typeface="Cambria Math" panose="02040503050406030204" pitchFamily="18" charset="0"/>
                                </a:rPr>
                              </m:ctrlPr>
                            </m:fPr>
                            <m:num>
                              <m:r>
                                <a:rPr lang="en-US" sz="3600" i="1">
                                  <a:latin typeface="Cambria Math" panose="02040503050406030204" pitchFamily="18" charset="0"/>
                                </a:rPr>
                                <m:t>𝛼</m:t>
                              </m:r>
                            </m:num>
                            <m:den>
                              <m:r>
                                <a:rPr lang="en-US" sz="3600" i="1">
                                  <a:latin typeface="Cambria Math" panose="02040503050406030204" pitchFamily="18" charset="0"/>
                                </a:rPr>
                                <m:t>2</m:t>
                              </m:r>
                            </m:den>
                          </m:f>
                        </m:sub>
                      </m:sSub>
                    </m:oMath>
                  </m:oMathPara>
                </a14:m>
                <a:endParaRPr lang="en-NL" dirty="0"/>
              </a:p>
            </p:txBody>
          </p:sp>
        </mc:Choice>
        <mc:Fallback>
          <p:sp>
            <p:nvSpPr>
              <p:cNvPr id="9" name="TextBox 8">
                <a:extLst>
                  <a:ext uri="{FF2B5EF4-FFF2-40B4-BE49-F238E27FC236}">
                    <a16:creationId xmlns:a16="http://schemas.microsoft.com/office/drawing/2014/main" id="{7EF89F71-C287-6742-0B71-041539DE2007}"/>
                  </a:ext>
                </a:extLst>
              </p:cNvPr>
              <p:cNvSpPr txBox="1">
                <a:spLocks noRot="1" noChangeAspect="1" noMove="1" noResize="1" noEditPoints="1" noAdjustHandles="1" noChangeArrowheads="1" noChangeShapeType="1" noTextEdit="1"/>
              </p:cNvSpPr>
              <p:nvPr/>
            </p:nvSpPr>
            <p:spPr>
              <a:xfrm>
                <a:off x="5511480" y="4282030"/>
                <a:ext cx="6094070" cy="894156"/>
              </a:xfrm>
              <a:prstGeom prst="rect">
                <a:avLst/>
              </a:prstGeom>
              <a:blipFill>
                <a:blip r:embed="rId6"/>
                <a:stretch>
                  <a:fillRect b="-5556"/>
                </a:stretch>
              </a:blipFill>
            </p:spPr>
            <p:txBody>
              <a:bodyPr/>
              <a:lstStyle/>
              <a:p>
                <a:r>
                  <a:rPr lang="en-NL">
                    <a:noFill/>
                  </a:rPr>
                  <a:t> </a:t>
                </a:r>
              </a:p>
            </p:txBody>
          </p:sp>
        </mc:Fallback>
      </mc:AlternateContent>
    </p:spTree>
    <p:extLst>
      <p:ext uri="{BB962C8B-B14F-4D97-AF65-F5344CB8AC3E}">
        <p14:creationId xmlns:p14="http://schemas.microsoft.com/office/powerpoint/2010/main" val="5845816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C3915-40F6-4F1B-6097-503D6343E764}"/>
              </a:ext>
            </a:extLst>
          </p:cNvPr>
          <p:cNvSpPr>
            <a:spLocks noGrp="1"/>
          </p:cNvSpPr>
          <p:nvPr>
            <p:ph type="title"/>
          </p:nvPr>
        </p:nvSpPr>
        <p:spPr/>
        <p:txBody>
          <a:bodyPr/>
          <a:lstStyle/>
          <a:p>
            <a:endParaRPr lang="en-NL"/>
          </a:p>
        </p:txBody>
      </p:sp>
      <p:pic>
        <p:nvPicPr>
          <p:cNvPr id="4" name="Picture 3">
            <a:extLst>
              <a:ext uri="{FF2B5EF4-FFF2-40B4-BE49-F238E27FC236}">
                <a16:creationId xmlns:a16="http://schemas.microsoft.com/office/drawing/2014/main" id="{1A3C7816-B621-9E5A-7694-694963A87445}"/>
              </a:ext>
            </a:extLst>
          </p:cNvPr>
          <p:cNvPicPr>
            <a:picLocks noChangeAspect="1"/>
          </p:cNvPicPr>
          <p:nvPr/>
        </p:nvPicPr>
        <p:blipFill>
          <a:blip r:embed="rId2"/>
          <a:stretch>
            <a:fillRect/>
          </a:stretch>
        </p:blipFill>
        <p:spPr>
          <a:xfrm>
            <a:off x="2798539" y="282365"/>
            <a:ext cx="7130493" cy="6293269"/>
          </a:xfrm>
          <a:prstGeom prst="rect">
            <a:avLst/>
          </a:prstGeom>
        </p:spPr>
      </p:pic>
    </p:spTree>
    <p:extLst>
      <p:ext uri="{BB962C8B-B14F-4D97-AF65-F5344CB8AC3E}">
        <p14:creationId xmlns:p14="http://schemas.microsoft.com/office/powerpoint/2010/main" val="37853903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F34F9-F4E7-E02E-7BF2-9D5904718039}"/>
              </a:ext>
            </a:extLst>
          </p:cNvPr>
          <p:cNvSpPr>
            <a:spLocks noGrp="1"/>
          </p:cNvSpPr>
          <p:nvPr>
            <p:ph type="title"/>
          </p:nvPr>
        </p:nvSpPr>
        <p:spPr/>
        <p:txBody>
          <a:bodyPr/>
          <a:lstStyle/>
          <a:p>
            <a:r>
              <a:rPr lang="en-NL" dirty="0"/>
              <a:t>Confidence Intervals </a:t>
            </a:r>
            <a:r>
              <a:rPr lang="en-NL" dirty="0">
                <a:solidFill>
                  <a:schemeClr val="accent1"/>
                </a:solidFill>
              </a:rPr>
              <a:t>in practice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C41C173-2A7A-D90D-195F-8D8D67A16FEB}"/>
                  </a:ext>
                </a:extLst>
              </p:cNvPr>
              <p:cNvSpPr>
                <a:spLocks noGrp="1"/>
              </p:cNvSpPr>
              <p:nvPr>
                <p:ph idx="1"/>
              </p:nvPr>
            </p:nvSpPr>
            <p:spPr/>
            <p:txBody>
              <a:bodyPr/>
              <a:lstStyle/>
              <a:p>
                <a:pPr marL="0" indent="0" algn="ctr">
                  <a:buNone/>
                </a:pPr>
                <a:r>
                  <a:rPr lang="en-NL" sz="3600" i="1" dirty="0"/>
                  <a:t>As you know by now, my laptop crashes a lot. </a:t>
                </a:r>
                <a:r>
                  <a:rPr lang="en-GB" sz="3600" i="1" dirty="0"/>
                  <a:t>I want to estimate the </a:t>
                </a:r>
                <a:r>
                  <a:rPr lang="en-GB" sz="3600" b="1" i="1" dirty="0"/>
                  <a:t>population mean (</a:t>
                </a:r>
                <a14:m>
                  <m:oMath xmlns:m="http://schemas.openxmlformats.org/officeDocument/2006/math">
                    <m:r>
                      <a:rPr lang="en-GB" sz="3600" b="1" i="1" smtClean="0">
                        <a:latin typeface="Cambria Math" panose="02040503050406030204" pitchFamily="18" charset="0"/>
                        <a:ea typeface="Cambria Math" panose="02040503050406030204" pitchFamily="18" charset="0"/>
                      </a:rPr>
                      <m:t>𝝁</m:t>
                    </m:r>
                  </m:oMath>
                </a14:m>
                <a:r>
                  <a:rPr lang="en-GB" sz="3600" b="1" i="1" dirty="0"/>
                  <a:t>) </a:t>
                </a:r>
                <a:r>
                  <a:rPr lang="en-GB" sz="3600" i="1" dirty="0"/>
                  <a:t>of crashes for this laptop model over 250 days. I can't test every single laptop the company made, but I can afford 36 laptops.</a:t>
                </a:r>
                <a:endParaRPr lang="en-NL" sz="3600" i="1" dirty="0"/>
              </a:p>
            </p:txBody>
          </p:sp>
        </mc:Choice>
        <mc:Fallback>
          <p:sp>
            <p:nvSpPr>
              <p:cNvPr id="3" name="Content Placeholder 2">
                <a:extLst>
                  <a:ext uri="{FF2B5EF4-FFF2-40B4-BE49-F238E27FC236}">
                    <a16:creationId xmlns:a16="http://schemas.microsoft.com/office/drawing/2014/main" id="{CC41C173-2A7A-D90D-195F-8D8D67A16FEB}"/>
                  </a:ext>
                </a:extLst>
              </p:cNvPr>
              <p:cNvSpPr>
                <a:spLocks noGrp="1" noRot="1" noChangeAspect="1" noMove="1" noResize="1" noEditPoints="1" noAdjustHandles="1" noChangeArrowheads="1" noChangeShapeType="1" noTextEdit="1"/>
              </p:cNvSpPr>
              <p:nvPr>
                <p:ph idx="1"/>
              </p:nvPr>
            </p:nvSpPr>
            <p:spPr>
              <a:blipFill>
                <a:blip r:embed="rId3"/>
                <a:stretch>
                  <a:fillRect l="-2055" t="-3134" r="-2968"/>
                </a:stretch>
              </a:blipFill>
            </p:spPr>
            <p:txBody>
              <a:bodyPr/>
              <a:lstStyle/>
              <a:p>
                <a:r>
                  <a:rPr lang="en-NL">
                    <a:noFill/>
                  </a:rPr>
                  <a:t> </a:t>
                </a:r>
              </a:p>
            </p:txBody>
          </p:sp>
        </mc:Fallback>
      </mc:AlternateContent>
      <p:sp>
        <p:nvSpPr>
          <p:cNvPr id="5" name="TextBox 4">
            <a:extLst>
              <a:ext uri="{FF2B5EF4-FFF2-40B4-BE49-F238E27FC236}">
                <a16:creationId xmlns:a16="http://schemas.microsoft.com/office/drawing/2014/main" id="{73ACF324-6E7E-108E-AB7F-039817604EA6}"/>
              </a:ext>
            </a:extLst>
          </p:cNvPr>
          <p:cNvSpPr txBox="1"/>
          <p:nvPr/>
        </p:nvSpPr>
        <p:spPr>
          <a:xfrm>
            <a:off x="10035251" y="3534886"/>
            <a:ext cx="1784463" cy="523220"/>
          </a:xfrm>
          <a:prstGeom prst="rect">
            <a:avLst/>
          </a:prstGeom>
          <a:noFill/>
        </p:spPr>
        <p:txBody>
          <a:bodyPr wrap="none" rtlCol="0">
            <a:spAutoFit/>
          </a:bodyPr>
          <a:lstStyle/>
          <a:p>
            <a:r>
              <a:rPr lang="en-NL" sz="2800" dirty="0">
                <a:solidFill>
                  <a:schemeClr val="accent1"/>
                </a:solidFill>
              </a:rPr>
              <a:t>My sample</a:t>
            </a:r>
            <a:endParaRPr lang="en-NL" dirty="0">
              <a:solidFill>
                <a:schemeClr val="accent1"/>
              </a:solidFill>
            </a:endParaRPr>
          </a:p>
        </p:txBody>
      </p:sp>
      <p:cxnSp>
        <p:nvCxnSpPr>
          <p:cNvPr id="7" name="Curved Connector 6">
            <a:extLst>
              <a:ext uri="{FF2B5EF4-FFF2-40B4-BE49-F238E27FC236}">
                <a16:creationId xmlns:a16="http://schemas.microsoft.com/office/drawing/2014/main" id="{19F31D35-49E2-00D7-768B-C8E7F4ACFA11}"/>
              </a:ext>
            </a:extLst>
          </p:cNvPr>
          <p:cNvCxnSpPr/>
          <p:nvPr/>
        </p:nvCxnSpPr>
        <p:spPr>
          <a:xfrm>
            <a:off x="8553691" y="3518574"/>
            <a:ext cx="1481560" cy="277922"/>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070260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90305-5FE4-E377-B8DE-E92F44EF54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58103F-57C1-995E-CC33-91E98B0C2F34}"/>
              </a:ext>
            </a:extLst>
          </p:cNvPr>
          <p:cNvSpPr>
            <a:spLocks noGrp="1"/>
          </p:cNvSpPr>
          <p:nvPr>
            <p:ph type="title"/>
          </p:nvPr>
        </p:nvSpPr>
        <p:spPr/>
        <p:txBody>
          <a:bodyPr/>
          <a:lstStyle/>
          <a:p>
            <a:r>
              <a:rPr lang="en-NL" dirty="0"/>
              <a:t>Confidence Intervals </a:t>
            </a:r>
            <a:r>
              <a:rPr lang="en-NL" dirty="0">
                <a:solidFill>
                  <a:schemeClr val="accent1"/>
                </a:solidFill>
              </a:rPr>
              <a:t>in practice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645E54F-8803-089A-B04C-DB3D4BDA39AA}"/>
                  </a:ext>
                </a:extLst>
              </p:cNvPr>
              <p:cNvSpPr>
                <a:spLocks noGrp="1"/>
              </p:cNvSpPr>
              <p:nvPr>
                <p:ph idx="1"/>
              </p:nvPr>
            </p:nvSpPr>
            <p:spPr/>
            <p:txBody>
              <a:bodyPr/>
              <a:lstStyle/>
              <a:p>
                <a:pPr marL="0" indent="0" algn="ctr">
                  <a:buNone/>
                </a:pPr>
                <a:r>
                  <a:rPr lang="en-NL" sz="3600" i="1" dirty="0"/>
                  <a:t>As you know by now, my laptop crashes a lot. </a:t>
                </a:r>
                <a:r>
                  <a:rPr lang="en-GB" sz="3600" i="1" dirty="0"/>
                  <a:t>I want to estimate the </a:t>
                </a:r>
                <a:r>
                  <a:rPr lang="en-GB" sz="3600" b="1" i="1" dirty="0"/>
                  <a:t>population mean (</a:t>
                </a:r>
                <a14:m>
                  <m:oMath xmlns:m="http://schemas.openxmlformats.org/officeDocument/2006/math">
                    <m:r>
                      <a:rPr lang="en-GB" sz="3600" b="1" i="1" smtClean="0">
                        <a:latin typeface="Cambria Math" panose="02040503050406030204" pitchFamily="18" charset="0"/>
                        <a:ea typeface="Cambria Math" panose="02040503050406030204" pitchFamily="18" charset="0"/>
                      </a:rPr>
                      <m:t>𝝁</m:t>
                    </m:r>
                  </m:oMath>
                </a14:m>
                <a:r>
                  <a:rPr lang="en-GB" sz="3600" b="1" i="1" dirty="0"/>
                  <a:t>) </a:t>
                </a:r>
                <a:r>
                  <a:rPr lang="en-GB" sz="3600" i="1" dirty="0"/>
                  <a:t>of crashes for this laptop model over 1 year. I can't test every single laptop the company made, but I can afford 36 laptops.</a:t>
                </a:r>
              </a:p>
              <a:p>
                <a:pPr marL="0" indent="0">
                  <a:buNone/>
                </a:pPr>
                <a:endParaRPr lang="en-GB" sz="3600" i="1" dirty="0"/>
              </a:p>
              <a:p>
                <a:pPr marL="0" indent="0">
                  <a:buNone/>
                </a:pPr>
                <a:r>
                  <a:rPr lang="en-GB" sz="3600" i="1" dirty="0"/>
                  <a:t>I found an average of </a:t>
                </a:r>
                <a:r>
                  <a:rPr lang="en-GB" sz="3600" b="1" i="1" dirty="0">
                    <a:solidFill>
                      <a:schemeClr val="accent1"/>
                    </a:solidFill>
                  </a:rPr>
                  <a:t>105 crashes </a:t>
                </a:r>
                <a:r>
                  <a:rPr lang="en-GB" sz="3600" i="1" dirty="0"/>
                  <a:t>over 1 year</a:t>
                </a:r>
              </a:p>
              <a:p>
                <a:pPr marL="0" indent="0">
                  <a:buNone/>
                </a:pPr>
                <a:r>
                  <a:rPr lang="en-GB" sz="3600" i="1" dirty="0"/>
                  <a:t>Manufacturer claims</a:t>
                </a:r>
                <a14:m>
                  <m:oMath xmlns:m="http://schemas.openxmlformats.org/officeDocument/2006/math">
                    <m:r>
                      <a:rPr lang="nl-NL" b="0" i="1" smtClean="0">
                        <a:latin typeface="Cambria Math" panose="02040503050406030204" pitchFamily="18" charset="0"/>
                      </a:rPr>
                      <m:t>: </m:t>
                    </m:r>
                    <m:r>
                      <a:rPr lang="en-GB" i="1" smtClean="0"/>
                      <m:t>𝜎</m:t>
                    </m:r>
                    <m:r>
                      <a:rPr lang="en-GB" i="1" smtClean="0"/>
                      <m:t>= 12</m:t>
                    </m:r>
                  </m:oMath>
                </a14:m>
                <a:endParaRPr lang="en-NL" sz="3600" i="1" dirty="0"/>
              </a:p>
            </p:txBody>
          </p:sp>
        </mc:Choice>
        <mc:Fallback>
          <p:sp>
            <p:nvSpPr>
              <p:cNvPr id="3" name="Content Placeholder 2">
                <a:extLst>
                  <a:ext uri="{FF2B5EF4-FFF2-40B4-BE49-F238E27FC236}">
                    <a16:creationId xmlns:a16="http://schemas.microsoft.com/office/drawing/2014/main" id="{E645E54F-8803-089A-B04C-DB3D4BDA39AA}"/>
                  </a:ext>
                </a:extLst>
              </p:cNvPr>
              <p:cNvSpPr>
                <a:spLocks noGrp="1" noRot="1" noChangeAspect="1" noMove="1" noResize="1" noEditPoints="1" noAdjustHandles="1" noChangeArrowheads="1" noChangeShapeType="1" noTextEdit="1"/>
              </p:cNvSpPr>
              <p:nvPr>
                <p:ph idx="1"/>
              </p:nvPr>
            </p:nvSpPr>
            <p:spPr>
              <a:blipFill>
                <a:blip r:embed="rId3"/>
                <a:stretch>
                  <a:fillRect l="-2511" t="-3134" r="-2968"/>
                </a:stretch>
              </a:blipFill>
            </p:spPr>
            <p:txBody>
              <a:bodyPr/>
              <a:lstStyle/>
              <a:p>
                <a:r>
                  <a:rPr lang="en-NL">
                    <a:noFill/>
                  </a:rPr>
                  <a:t> </a:t>
                </a:r>
              </a:p>
            </p:txBody>
          </p:sp>
        </mc:Fallback>
      </mc:AlternateContent>
      <p:sp>
        <p:nvSpPr>
          <p:cNvPr id="5" name="TextBox 4">
            <a:extLst>
              <a:ext uri="{FF2B5EF4-FFF2-40B4-BE49-F238E27FC236}">
                <a16:creationId xmlns:a16="http://schemas.microsoft.com/office/drawing/2014/main" id="{A8C55BB6-F70B-DE00-FF2D-0E9099E259D8}"/>
              </a:ext>
            </a:extLst>
          </p:cNvPr>
          <p:cNvSpPr txBox="1"/>
          <p:nvPr/>
        </p:nvSpPr>
        <p:spPr>
          <a:xfrm>
            <a:off x="10035251" y="3534886"/>
            <a:ext cx="1784463" cy="523220"/>
          </a:xfrm>
          <a:prstGeom prst="rect">
            <a:avLst/>
          </a:prstGeom>
          <a:noFill/>
        </p:spPr>
        <p:txBody>
          <a:bodyPr wrap="none" rtlCol="0">
            <a:spAutoFit/>
          </a:bodyPr>
          <a:lstStyle/>
          <a:p>
            <a:r>
              <a:rPr lang="en-NL" sz="2800" dirty="0">
                <a:solidFill>
                  <a:schemeClr val="accent1"/>
                </a:solidFill>
              </a:rPr>
              <a:t>My sample</a:t>
            </a:r>
            <a:endParaRPr lang="en-NL" dirty="0">
              <a:solidFill>
                <a:schemeClr val="accent1"/>
              </a:solidFill>
            </a:endParaRPr>
          </a:p>
        </p:txBody>
      </p:sp>
      <p:cxnSp>
        <p:nvCxnSpPr>
          <p:cNvPr id="7" name="Curved Connector 6">
            <a:extLst>
              <a:ext uri="{FF2B5EF4-FFF2-40B4-BE49-F238E27FC236}">
                <a16:creationId xmlns:a16="http://schemas.microsoft.com/office/drawing/2014/main" id="{16EB5BDF-B5F2-801A-A9ED-0D20B333F8A4}"/>
              </a:ext>
            </a:extLst>
          </p:cNvPr>
          <p:cNvCxnSpPr/>
          <p:nvPr/>
        </p:nvCxnSpPr>
        <p:spPr>
          <a:xfrm>
            <a:off x="8553691" y="3518574"/>
            <a:ext cx="1481560" cy="277922"/>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414500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68759-4555-5B4F-3C3E-D4E696E0D6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CA9192-2E63-5E2B-B58D-E99F22001C0A}"/>
              </a:ext>
            </a:extLst>
          </p:cNvPr>
          <p:cNvSpPr>
            <a:spLocks noGrp="1"/>
          </p:cNvSpPr>
          <p:nvPr>
            <p:ph type="title"/>
          </p:nvPr>
        </p:nvSpPr>
        <p:spPr/>
        <p:txBody>
          <a:bodyPr/>
          <a:lstStyle/>
          <a:p>
            <a:r>
              <a:rPr lang="en-NL" dirty="0"/>
              <a:t>Confidence Intervals </a:t>
            </a:r>
            <a:r>
              <a:rPr lang="en-NL" dirty="0">
                <a:solidFill>
                  <a:schemeClr val="accent1"/>
                </a:solidFill>
              </a:rPr>
              <a:t>in practice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AB8904B-4389-BBAE-13AE-210E3F47C9D3}"/>
                  </a:ext>
                </a:extLst>
              </p:cNvPr>
              <p:cNvSpPr>
                <a:spLocks noGrp="1"/>
              </p:cNvSpPr>
              <p:nvPr>
                <p:ph idx="1"/>
              </p:nvPr>
            </p:nvSpPr>
            <p:spPr/>
            <p:txBody>
              <a:bodyPr/>
              <a:lstStyle/>
              <a:p>
                <a:pPr marL="0" indent="0" algn="ctr">
                  <a:buNone/>
                </a:pPr>
                <a:r>
                  <a:rPr lang="en-NL" sz="2000" i="1" dirty="0"/>
                  <a:t>As you know by now, my laptop crashes a lot. </a:t>
                </a:r>
                <a:r>
                  <a:rPr lang="en-GB" sz="2000" i="1" dirty="0"/>
                  <a:t>I want to estimate the </a:t>
                </a:r>
                <a:r>
                  <a:rPr lang="en-GB" sz="2000" b="1" i="1" dirty="0"/>
                  <a:t>population mean (</a:t>
                </a:r>
                <a14:m>
                  <m:oMath xmlns:m="http://schemas.openxmlformats.org/officeDocument/2006/math">
                    <m:r>
                      <a:rPr lang="en-GB" sz="2000" b="1" i="1" smtClean="0">
                        <a:latin typeface="Cambria Math" panose="02040503050406030204" pitchFamily="18" charset="0"/>
                        <a:ea typeface="Cambria Math" panose="02040503050406030204" pitchFamily="18" charset="0"/>
                      </a:rPr>
                      <m:t>𝝁</m:t>
                    </m:r>
                  </m:oMath>
                </a14:m>
                <a:r>
                  <a:rPr lang="en-GB" sz="2000" b="1" i="1" dirty="0"/>
                  <a:t>) </a:t>
                </a:r>
                <a:r>
                  <a:rPr lang="en-GB" sz="2000" i="1" dirty="0"/>
                  <a:t>of crashes for this laptop model over 250 days. I can't test every single laptop the company made, but I can afford 36 laptops.</a:t>
                </a:r>
              </a:p>
              <a:p>
                <a:pPr marL="0" indent="0">
                  <a:buNone/>
                </a:pPr>
                <a:endParaRPr lang="en-GB" sz="2000" i="1" dirty="0"/>
              </a:p>
              <a:p>
                <a:pPr marL="0" indent="0">
                  <a:buNone/>
                </a:pPr>
                <a:r>
                  <a:rPr lang="en-GB" sz="2000" i="1" dirty="0"/>
                  <a:t>I found an average of 105 crashes over 1 year</a:t>
                </a:r>
              </a:p>
              <a:p>
                <a:pPr marL="0" indent="0">
                  <a:buNone/>
                </a:pPr>
                <a:r>
                  <a:rPr lang="en-GB" sz="2000" i="1" dirty="0"/>
                  <a:t>Manufacturer claims</a:t>
                </a:r>
                <a14:m>
                  <m:oMath xmlns:m="http://schemas.openxmlformats.org/officeDocument/2006/math">
                    <m:r>
                      <a:rPr lang="nl-NL" sz="2800" b="0" i="1" smtClean="0">
                        <a:latin typeface="Cambria Math" panose="02040503050406030204" pitchFamily="18" charset="0"/>
                      </a:rPr>
                      <m:t>: </m:t>
                    </m:r>
                    <m:r>
                      <a:rPr lang="en-GB" sz="2800" i="1" smtClean="0">
                        <a:latin typeface="Cambria Math" panose="02040503050406030204" pitchFamily="18" charset="0"/>
                      </a:rPr>
                      <m:t>𝜎</m:t>
                    </m:r>
                    <m:r>
                      <a:rPr lang="en-GB" sz="2800" i="1" smtClean="0">
                        <a:latin typeface="Cambria Math" panose="02040503050406030204" pitchFamily="18" charset="0"/>
                      </a:rPr>
                      <m:t>= 12</m:t>
                    </m:r>
                  </m:oMath>
                </a14:m>
                <a:endParaRPr lang="en-NL" sz="2000" i="1" dirty="0"/>
              </a:p>
            </p:txBody>
          </p:sp>
        </mc:Choice>
        <mc:Fallback>
          <p:sp>
            <p:nvSpPr>
              <p:cNvPr id="3" name="Content Placeholder 2">
                <a:extLst>
                  <a:ext uri="{FF2B5EF4-FFF2-40B4-BE49-F238E27FC236}">
                    <a16:creationId xmlns:a16="http://schemas.microsoft.com/office/drawing/2014/main" id="{CAB8904B-4389-BBAE-13AE-210E3F47C9D3}"/>
                  </a:ext>
                </a:extLst>
              </p:cNvPr>
              <p:cNvSpPr>
                <a:spLocks noGrp="1" noRot="1" noChangeAspect="1" noMove="1" noResize="1" noEditPoints="1" noAdjustHandles="1" noChangeArrowheads="1" noChangeShapeType="1" noTextEdit="1"/>
              </p:cNvSpPr>
              <p:nvPr>
                <p:ph idx="1"/>
              </p:nvPr>
            </p:nvSpPr>
            <p:spPr>
              <a:blipFill>
                <a:blip r:embed="rId2"/>
                <a:stretch>
                  <a:fillRect l="-1370" t="-1709" r="-1598"/>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B81B85EA-6B8D-65B0-5F2D-61CDEB68209B}"/>
                  </a:ext>
                </a:extLst>
              </p:cNvPr>
              <p:cNvSpPr txBox="1"/>
              <p:nvPr/>
            </p:nvSpPr>
            <p:spPr>
              <a:xfrm>
                <a:off x="5617929" y="2614551"/>
                <a:ext cx="6094070" cy="70846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14:m>
                  <m:oMath xmlns:m="http://schemas.openxmlformats.org/officeDocument/2006/math">
                    <m:r>
                      <a:rPr lang="en-US" sz="2800" b="1" i="1" dirty="0" smtClean="0">
                        <a:latin typeface="Cambria Math" panose="02040503050406030204" pitchFamily="18" charset="0"/>
                        <a:ea typeface="Cambria Math" panose="02040503050406030204" pitchFamily="18" charset="0"/>
                      </a:rPr>
                      <m:t>[</m:t>
                    </m:r>
                    <m:acc>
                      <m:accPr>
                        <m:chr m:val="̅"/>
                        <m:ctrlPr>
                          <a:rPr lang="en-US" sz="2800" b="1" i="1">
                            <a:latin typeface="Cambria Math" panose="02040503050406030204" pitchFamily="18" charset="0"/>
                          </a:rPr>
                        </m:ctrlPr>
                      </m:accPr>
                      <m:e>
                        <m:r>
                          <a:rPr lang="en-US" sz="2800" b="1" i="1">
                            <a:latin typeface="Cambria Math" panose="02040503050406030204" pitchFamily="18" charset="0"/>
                          </a:rPr>
                          <m:t>𝒙</m:t>
                        </m:r>
                      </m:e>
                    </m:acc>
                    <m:r>
                      <a:rPr lang="en-US" sz="2800" b="1" i="1" dirty="0">
                        <a:latin typeface="Cambria Math" panose="02040503050406030204" pitchFamily="18" charset="0"/>
                      </a:rPr>
                      <m:t>−</m:t>
                    </m:r>
                    <m:r>
                      <a:rPr lang="en-US" sz="2800" b="1" i="1" dirty="0">
                        <a:latin typeface="Cambria Math" panose="02040503050406030204" pitchFamily="18" charset="0"/>
                        <a:ea typeface="Cambria Math" panose="02040503050406030204" pitchFamily="18" charset="0"/>
                      </a:rPr>
                      <m:t>𝟏</m:t>
                    </m:r>
                    <m:r>
                      <a:rPr lang="en-US" sz="2800" b="1" i="1" dirty="0">
                        <a:latin typeface="Cambria Math" panose="02040503050406030204" pitchFamily="18" charset="0"/>
                        <a:ea typeface="Cambria Math" panose="02040503050406030204" pitchFamily="18" charset="0"/>
                      </a:rPr>
                      <m:t>.</m:t>
                    </m:r>
                    <m:r>
                      <a:rPr lang="en-US" sz="2800" b="1" i="1" dirty="0">
                        <a:latin typeface="Cambria Math" panose="02040503050406030204" pitchFamily="18" charset="0"/>
                        <a:ea typeface="Cambria Math" panose="02040503050406030204" pitchFamily="18" charset="0"/>
                      </a:rPr>
                      <m:t>𝟗𝟔</m:t>
                    </m:r>
                    <m:r>
                      <a:rPr lang="en-US" sz="2800" b="1" i="1" dirty="0">
                        <a:latin typeface="Cambria Math" panose="02040503050406030204" pitchFamily="18" charset="0"/>
                        <a:ea typeface="Cambria Math" panose="02040503050406030204" pitchFamily="18" charset="0"/>
                      </a:rPr>
                      <m:t> ∗ </m:t>
                    </m:r>
                    <m:f>
                      <m:fPr>
                        <m:ctrlPr>
                          <a:rPr lang="en-US" sz="2800" b="1" i="1" dirty="0">
                            <a:latin typeface="Cambria Math" panose="02040503050406030204" pitchFamily="18" charset="0"/>
                          </a:rPr>
                        </m:ctrlPr>
                      </m:fPr>
                      <m:num>
                        <m:r>
                          <a:rPr lang="en-US" sz="2800" b="1" i="1" dirty="0">
                            <a:latin typeface="Cambria Math" panose="02040503050406030204" pitchFamily="18" charset="0"/>
                          </a:rPr>
                          <m:t>𝝈</m:t>
                        </m:r>
                      </m:num>
                      <m:den>
                        <m:rad>
                          <m:radPr>
                            <m:degHide m:val="on"/>
                            <m:ctrlPr>
                              <a:rPr lang="en-US" sz="2800" b="1" i="1" dirty="0">
                                <a:latin typeface="Cambria Math" panose="02040503050406030204" pitchFamily="18" charset="0"/>
                              </a:rPr>
                            </m:ctrlPr>
                          </m:radPr>
                          <m:deg/>
                          <m:e>
                            <m:r>
                              <a:rPr lang="en-US" sz="2800" b="1" i="1" dirty="0">
                                <a:latin typeface="Cambria Math" panose="02040503050406030204" pitchFamily="18" charset="0"/>
                              </a:rPr>
                              <m:t>𝒏</m:t>
                            </m:r>
                          </m:e>
                        </m:rad>
                      </m:den>
                    </m:f>
                  </m:oMath>
                </a14:m>
                <a:r>
                  <a:rPr lang="en-US" sz="2800" b="1" dirty="0"/>
                  <a:t> , </a:t>
                </a:r>
                <a14:m>
                  <m:oMath xmlns:m="http://schemas.openxmlformats.org/officeDocument/2006/math">
                    <m:acc>
                      <m:accPr>
                        <m:chr m:val="̅"/>
                        <m:ctrlPr>
                          <a:rPr lang="en-US" sz="2800" b="1" i="1">
                            <a:latin typeface="Cambria Math" panose="02040503050406030204" pitchFamily="18" charset="0"/>
                          </a:rPr>
                        </m:ctrlPr>
                      </m:accPr>
                      <m:e>
                        <m:r>
                          <a:rPr lang="en-US" sz="2800" b="1" i="1">
                            <a:latin typeface="Cambria Math" panose="02040503050406030204" pitchFamily="18" charset="0"/>
                          </a:rPr>
                          <m:t>𝒙</m:t>
                        </m:r>
                      </m:e>
                    </m:acc>
                    <m:r>
                      <a:rPr lang="en-US" sz="2800" b="1" i="1" dirty="0">
                        <a:latin typeface="Cambria Math" panose="02040503050406030204" pitchFamily="18" charset="0"/>
                      </a:rPr>
                      <m:t>+</m:t>
                    </m:r>
                    <m:r>
                      <a:rPr lang="en-US" sz="2800" b="1" i="1" dirty="0">
                        <a:latin typeface="Cambria Math" panose="02040503050406030204" pitchFamily="18" charset="0"/>
                        <a:ea typeface="Cambria Math" panose="02040503050406030204" pitchFamily="18" charset="0"/>
                      </a:rPr>
                      <m:t>𝟏</m:t>
                    </m:r>
                    <m:r>
                      <a:rPr lang="en-US" sz="2800" b="1" i="1" dirty="0">
                        <a:latin typeface="Cambria Math" panose="02040503050406030204" pitchFamily="18" charset="0"/>
                        <a:ea typeface="Cambria Math" panose="02040503050406030204" pitchFamily="18" charset="0"/>
                      </a:rPr>
                      <m:t>.</m:t>
                    </m:r>
                    <m:r>
                      <a:rPr lang="en-US" sz="2800" b="1" i="1" dirty="0">
                        <a:latin typeface="Cambria Math" panose="02040503050406030204" pitchFamily="18" charset="0"/>
                        <a:ea typeface="Cambria Math" panose="02040503050406030204" pitchFamily="18" charset="0"/>
                      </a:rPr>
                      <m:t>𝟗𝟔</m:t>
                    </m:r>
                    <m:r>
                      <a:rPr lang="en-US" sz="2800" b="1" i="1" dirty="0">
                        <a:latin typeface="Cambria Math" panose="02040503050406030204" pitchFamily="18" charset="0"/>
                        <a:ea typeface="Cambria Math" panose="02040503050406030204" pitchFamily="18" charset="0"/>
                      </a:rPr>
                      <m:t> ∗ </m:t>
                    </m:r>
                    <m:f>
                      <m:fPr>
                        <m:ctrlPr>
                          <a:rPr lang="en-US" sz="2800" b="1" i="1" dirty="0">
                            <a:latin typeface="Cambria Math" panose="02040503050406030204" pitchFamily="18" charset="0"/>
                          </a:rPr>
                        </m:ctrlPr>
                      </m:fPr>
                      <m:num>
                        <m:r>
                          <a:rPr lang="en-US" sz="2800" b="1" i="1" dirty="0">
                            <a:latin typeface="Cambria Math" panose="02040503050406030204" pitchFamily="18" charset="0"/>
                          </a:rPr>
                          <m:t>𝝈</m:t>
                        </m:r>
                      </m:num>
                      <m:den>
                        <m:rad>
                          <m:radPr>
                            <m:degHide m:val="on"/>
                            <m:ctrlPr>
                              <a:rPr lang="en-US" sz="2800" b="1" i="1" dirty="0">
                                <a:latin typeface="Cambria Math" panose="02040503050406030204" pitchFamily="18" charset="0"/>
                              </a:rPr>
                            </m:ctrlPr>
                          </m:radPr>
                          <m:deg/>
                          <m:e>
                            <m:r>
                              <a:rPr lang="en-US" sz="2800" b="1" i="1" dirty="0">
                                <a:latin typeface="Cambria Math" panose="02040503050406030204" pitchFamily="18" charset="0"/>
                              </a:rPr>
                              <m:t>𝒏</m:t>
                            </m:r>
                          </m:e>
                        </m:rad>
                      </m:den>
                    </m:f>
                  </m:oMath>
                </a14:m>
                <a:r>
                  <a:rPr lang="en-US" sz="2800" b="1" dirty="0"/>
                  <a:t> ]</a:t>
                </a:r>
              </a:p>
            </p:txBody>
          </p:sp>
        </mc:Choice>
        <mc:Fallback>
          <p:sp>
            <p:nvSpPr>
              <p:cNvPr id="6" name="TextBox 5">
                <a:extLst>
                  <a:ext uri="{FF2B5EF4-FFF2-40B4-BE49-F238E27FC236}">
                    <a16:creationId xmlns:a16="http://schemas.microsoft.com/office/drawing/2014/main" id="{B81B85EA-6B8D-65B0-5F2D-61CDEB68209B}"/>
                  </a:ext>
                </a:extLst>
              </p:cNvPr>
              <p:cNvSpPr txBox="1">
                <a:spLocks noRot="1" noChangeAspect="1" noMove="1" noResize="1" noEditPoints="1" noAdjustHandles="1" noChangeArrowheads="1" noChangeShapeType="1" noTextEdit="1"/>
              </p:cNvSpPr>
              <p:nvPr/>
            </p:nvSpPr>
            <p:spPr>
              <a:xfrm>
                <a:off x="5617929" y="2614551"/>
                <a:ext cx="6094070" cy="708464"/>
              </a:xfrm>
              <a:prstGeom prst="rect">
                <a:avLst/>
              </a:prstGeom>
              <a:blipFill>
                <a:blip r:embed="rId3"/>
                <a:stretch>
                  <a:fillRect b="-1695"/>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4E29EBFD-AC76-85D8-FDEE-AA666B0CDB45}"/>
                  </a:ext>
                </a:extLst>
              </p:cNvPr>
              <p:cNvSpPr txBox="1"/>
              <p:nvPr/>
            </p:nvSpPr>
            <p:spPr>
              <a:xfrm>
                <a:off x="2554147" y="3727341"/>
                <a:ext cx="7083705" cy="1039965"/>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m:rPr>
                          <m:nor/>
                        </m:rPr>
                        <a:rPr lang="en-GB" sz="2400" i="0" smtClean="0"/>
                        <m:t>SE</m:t>
                      </m:r>
                      <m:r>
                        <a:rPr lang="en-GB" sz="2400" i="1"/>
                        <m:t>=</m:t>
                      </m:r>
                      <m:f>
                        <m:fPr>
                          <m:ctrlPr>
                            <a:rPr lang="en-GB" sz="2400" i="1">
                              <a:latin typeface="Cambria Math" panose="02040503050406030204" pitchFamily="18" charset="0"/>
                            </a:rPr>
                          </m:ctrlPr>
                        </m:fPr>
                        <m:num>
                          <m:r>
                            <a:rPr lang="en-GB" sz="2400" i="1"/>
                            <m:t>𝜎</m:t>
                          </m:r>
                        </m:num>
                        <m:den>
                          <m:rad>
                            <m:radPr>
                              <m:degHide m:val="on"/>
                              <m:ctrlPr>
                                <a:rPr lang="en-GB" sz="2400" i="1">
                                  <a:latin typeface="Cambria Math" panose="02040503050406030204" pitchFamily="18" charset="0"/>
                                </a:rPr>
                              </m:ctrlPr>
                            </m:radPr>
                            <m:deg/>
                            <m:e>
                              <m:r>
                                <a:rPr lang="en-GB" sz="2400" i="1"/>
                                <m:t>𝑛</m:t>
                              </m:r>
                            </m:e>
                          </m:rad>
                        </m:den>
                      </m:f>
                      <m:r>
                        <a:rPr lang="en-GB" sz="2400" i="1"/>
                        <m:t>=</m:t>
                      </m:r>
                      <m:f>
                        <m:fPr>
                          <m:ctrlPr>
                            <a:rPr lang="en-GB" sz="2400" i="1">
                              <a:latin typeface="Cambria Math" panose="02040503050406030204" pitchFamily="18" charset="0"/>
                            </a:rPr>
                          </m:ctrlPr>
                        </m:fPr>
                        <m:num>
                          <m:r>
                            <a:rPr lang="en-GB" sz="2400" i="1"/>
                            <m:t>12</m:t>
                          </m:r>
                        </m:num>
                        <m:den>
                          <m:rad>
                            <m:radPr>
                              <m:degHide m:val="on"/>
                              <m:ctrlPr>
                                <a:rPr lang="en-GB" sz="2400" i="1">
                                  <a:latin typeface="Cambria Math" panose="02040503050406030204" pitchFamily="18" charset="0"/>
                                </a:rPr>
                              </m:ctrlPr>
                            </m:radPr>
                            <m:deg/>
                            <m:e>
                              <m:r>
                                <a:rPr lang="en-GB" sz="2400" i="1"/>
                                <m:t>36</m:t>
                              </m:r>
                            </m:e>
                          </m:rad>
                        </m:den>
                      </m:f>
                      <m:r>
                        <a:rPr lang="en-GB" sz="2400" i="1"/>
                        <m:t>=</m:t>
                      </m:r>
                      <m:f>
                        <m:fPr>
                          <m:ctrlPr>
                            <a:rPr lang="en-GB" sz="2400" i="1">
                              <a:latin typeface="Cambria Math" panose="02040503050406030204" pitchFamily="18" charset="0"/>
                            </a:rPr>
                          </m:ctrlPr>
                        </m:fPr>
                        <m:num>
                          <m:r>
                            <a:rPr lang="en-GB" sz="2400" i="1"/>
                            <m:t>12</m:t>
                          </m:r>
                        </m:num>
                        <m:den>
                          <m:r>
                            <a:rPr lang="en-GB" sz="2400" i="1"/>
                            <m:t>6</m:t>
                          </m:r>
                        </m:den>
                      </m:f>
                      <m:r>
                        <a:rPr lang="en-GB" sz="2400" i="1"/>
                        <m:t>=2.0</m:t>
                      </m:r>
                    </m:oMath>
                  </m:oMathPara>
                </a14:m>
                <a:endParaRPr lang="en-GB" sz="2400" dirty="0"/>
              </a:p>
              <a:p>
                <a:endParaRPr lang="en-NL" dirty="0"/>
              </a:p>
            </p:txBody>
          </p:sp>
        </mc:Choice>
        <mc:Fallback>
          <p:sp>
            <p:nvSpPr>
              <p:cNvPr id="9" name="TextBox 8">
                <a:extLst>
                  <a:ext uri="{FF2B5EF4-FFF2-40B4-BE49-F238E27FC236}">
                    <a16:creationId xmlns:a16="http://schemas.microsoft.com/office/drawing/2014/main" id="{4E29EBFD-AC76-85D8-FDEE-AA666B0CDB45}"/>
                  </a:ext>
                </a:extLst>
              </p:cNvPr>
              <p:cNvSpPr txBox="1">
                <a:spLocks noRot="1" noChangeAspect="1" noMove="1" noResize="1" noEditPoints="1" noAdjustHandles="1" noChangeArrowheads="1" noChangeShapeType="1" noTextEdit="1"/>
              </p:cNvSpPr>
              <p:nvPr/>
            </p:nvSpPr>
            <p:spPr>
              <a:xfrm>
                <a:off x="2554147" y="3727341"/>
                <a:ext cx="7083705" cy="1039965"/>
              </a:xfrm>
              <a:prstGeom prst="rect">
                <a:avLst/>
              </a:prstGeom>
              <a:blipFill>
                <a:blip r:embed="rId4"/>
                <a:stretch>
                  <a:fillRect/>
                </a:stretch>
              </a:blipFill>
            </p:spPr>
            <p:txBody>
              <a:bodyPr/>
              <a:lstStyle/>
              <a:p>
                <a:r>
                  <a:rPr lang="en-NL">
                    <a:noFill/>
                  </a:rPr>
                  <a:t> </a:t>
                </a:r>
              </a:p>
            </p:txBody>
          </p:sp>
        </mc:Fallback>
      </mc:AlternateContent>
      <p:sp>
        <p:nvSpPr>
          <p:cNvPr id="10" name="TextBox 9">
            <a:extLst>
              <a:ext uri="{FF2B5EF4-FFF2-40B4-BE49-F238E27FC236}">
                <a16:creationId xmlns:a16="http://schemas.microsoft.com/office/drawing/2014/main" id="{C24002E2-0B45-E6E0-227D-E01E79FF1CB9}"/>
              </a:ext>
            </a:extLst>
          </p:cNvPr>
          <p:cNvSpPr txBox="1"/>
          <p:nvPr/>
        </p:nvSpPr>
        <p:spPr>
          <a:xfrm>
            <a:off x="821802" y="3877519"/>
            <a:ext cx="2766463" cy="523220"/>
          </a:xfrm>
          <a:prstGeom prst="rect">
            <a:avLst/>
          </a:prstGeom>
          <a:noFill/>
        </p:spPr>
        <p:txBody>
          <a:bodyPr wrap="none" rtlCol="0">
            <a:spAutoFit/>
          </a:bodyPr>
          <a:lstStyle/>
          <a:p>
            <a:r>
              <a:rPr lang="en-NL" sz="2800" dirty="0">
                <a:solidFill>
                  <a:schemeClr val="accent1"/>
                </a:solidFill>
              </a:rPr>
              <a:t>1. Standard error:</a:t>
            </a:r>
          </a:p>
        </p:txBody>
      </p:sp>
      <p:sp>
        <p:nvSpPr>
          <p:cNvPr id="11" name="TextBox 10">
            <a:extLst>
              <a:ext uri="{FF2B5EF4-FFF2-40B4-BE49-F238E27FC236}">
                <a16:creationId xmlns:a16="http://schemas.microsoft.com/office/drawing/2014/main" id="{D413DFA6-F99F-F10E-71A0-B2B427F10ED6}"/>
              </a:ext>
            </a:extLst>
          </p:cNvPr>
          <p:cNvSpPr txBox="1"/>
          <p:nvPr/>
        </p:nvSpPr>
        <p:spPr>
          <a:xfrm>
            <a:off x="768325" y="4688980"/>
            <a:ext cx="2873415" cy="523220"/>
          </a:xfrm>
          <a:prstGeom prst="rect">
            <a:avLst/>
          </a:prstGeom>
          <a:noFill/>
        </p:spPr>
        <p:txBody>
          <a:bodyPr wrap="none" rtlCol="0">
            <a:spAutoFit/>
          </a:bodyPr>
          <a:lstStyle/>
          <a:p>
            <a:r>
              <a:rPr lang="en-NL" sz="2800" dirty="0">
                <a:solidFill>
                  <a:schemeClr val="accent1"/>
                </a:solidFill>
              </a:rPr>
              <a:t>2. Margin of error:</a:t>
            </a:r>
          </a:p>
        </p:txBody>
      </p:sp>
      <p:sp>
        <p:nvSpPr>
          <p:cNvPr id="12" name="TextBox 11">
            <a:extLst>
              <a:ext uri="{FF2B5EF4-FFF2-40B4-BE49-F238E27FC236}">
                <a16:creationId xmlns:a16="http://schemas.microsoft.com/office/drawing/2014/main" id="{BEEE4EDD-6F0D-CA7F-AC77-4538FC683660}"/>
              </a:ext>
            </a:extLst>
          </p:cNvPr>
          <p:cNvSpPr txBox="1"/>
          <p:nvPr/>
        </p:nvSpPr>
        <p:spPr>
          <a:xfrm>
            <a:off x="1289057" y="5368107"/>
            <a:ext cx="1620957" cy="523220"/>
          </a:xfrm>
          <a:prstGeom prst="rect">
            <a:avLst/>
          </a:prstGeom>
          <a:noFill/>
        </p:spPr>
        <p:txBody>
          <a:bodyPr wrap="none" rtlCol="0">
            <a:spAutoFit/>
          </a:bodyPr>
          <a:lstStyle/>
          <a:p>
            <a:r>
              <a:rPr lang="en-NL" sz="2800" dirty="0">
                <a:solidFill>
                  <a:schemeClr val="accent1"/>
                </a:solidFill>
              </a:rPr>
              <a:t>3. 95% CI:</a:t>
            </a: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ADC21788-84B8-3DD4-0104-3D3EE60BD0E1}"/>
                  </a:ext>
                </a:extLst>
              </p:cNvPr>
              <p:cNvSpPr txBox="1"/>
              <p:nvPr/>
            </p:nvSpPr>
            <p:spPr>
              <a:xfrm>
                <a:off x="3972180" y="4704975"/>
                <a:ext cx="4463210" cy="64633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m:rPr>
                          <m:nor/>
                        </m:rPr>
                        <a:rPr lang="en-GB" sz="2400" i="0" smtClean="0"/>
                        <m:t>ME</m:t>
                      </m:r>
                      <m:r>
                        <a:rPr lang="en-GB" sz="2400" i="1"/>
                        <m:t>=</m:t>
                      </m:r>
                      <m:r>
                        <a:rPr lang="en-GB" sz="2400" i="1"/>
                        <m:t>𝑍</m:t>
                      </m:r>
                      <m:r>
                        <a:rPr lang="nl-NL" sz="2400" b="0" i="1" smtClean="0">
                          <a:latin typeface="Cambria Math" panose="02040503050406030204" pitchFamily="18" charset="0"/>
                        </a:rPr>
                        <m:t> </m:t>
                      </m:r>
                      <m:r>
                        <a:rPr lang="en-GB" sz="2400" i="1"/>
                        <m:t>×</m:t>
                      </m:r>
                      <m:r>
                        <m:rPr>
                          <m:nor/>
                        </m:rPr>
                        <a:rPr lang="nl-NL" sz="2400" b="0" i="0" smtClean="0"/>
                        <m:t> </m:t>
                      </m:r>
                      <m:r>
                        <m:rPr>
                          <m:nor/>
                        </m:rPr>
                        <a:rPr lang="en-GB" sz="2400" i="0"/>
                        <m:t>SE</m:t>
                      </m:r>
                      <m:r>
                        <a:rPr lang="en-GB" sz="2400" i="1"/>
                        <m:t>=1.96</m:t>
                      </m:r>
                      <m:r>
                        <a:rPr lang="nl-NL" sz="2400" b="0" i="1" smtClean="0">
                          <a:latin typeface="Cambria Math" panose="02040503050406030204" pitchFamily="18" charset="0"/>
                        </a:rPr>
                        <m:t> </m:t>
                      </m:r>
                      <m:r>
                        <a:rPr lang="en-GB" sz="2400" i="1"/>
                        <m:t>×</m:t>
                      </m:r>
                      <m:r>
                        <a:rPr lang="nl-NL" sz="2400" b="0" i="1" smtClean="0">
                          <a:latin typeface="Cambria Math" panose="02040503050406030204" pitchFamily="18" charset="0"/>
                        </a:rPr>
                        <m:t> </m:t>
                      </m:r>
                      <m:r>
                        <a:rPr lang="en-GB" sz="2400" i="1"/>
                        <m:t>2.0=3.92</m:t>
                      </m:r>
                    </m:oMath>
                  </m:oMathPara>
                </a14:m>
                <a:endParaRPr lang="en-GB" sz="2400" dirty="0"/>
              </a:p>
              <a:p>
                <a:endParaRPr lang="en-NL" dirty="0"/>
              </a:p>
            </p:txBody>
          </p:sp>
        </mc:Choice>
        <mc:Fallback>
          <p:sp>
            <p:nvSpPr>
              <p:cNvPr id="18" name="TextBox 17">
                <a:extLst>
                  <a:ext uri="{FF2B5EF4-FFF2-40B4-BE49-F238E27FC236}">
                    <a16:creationId xmlns:a16="http://schemas.microsoft.com/office/drawing/2014/main" id="{ADC21788-84B8-3DD4-0104-3D3EE60BD0E1}"/>
                  </a:ext>
                </a:extLst>
              </p:cNvPr>
              <p:cNvSpPr txBox="1">
                <a:spLocks noRot="1" noChangeAspect="1" noMove="1" noResize="1" noEditPoints="1" noAdjustHandles="1" noChangeArrowheads="1" noChangeShapeType="1" noTextEdit="1"/>
              </p:cNvSpPr>
              <p:nvPr/>
            </p:nvSpPr>
            <p:spPr>
              <a:xfrm>
                <a:off x="3972180" y="4704975"/>
                <a:ext cx="4463210" cy="646331"/>
              </a:xfrm>
              <a:prstGeom prst="rect">
                <a:avLst/>
              </a:prstGeom>
              <a:blipFill>
                <a:blip r:embed="rId5"/>
                <a:stretch>
                  <a:fillRect l="-283" t="-11538" r="-567"/>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03E8998D-0C7B-6E47-47A6-334E3B5AF8DC}"/>
                  </a:ext>
                </a:extLst>
              </p:cNvPr>
              <p:cNvSpPr txBox="1"/>
              <p:nvPr/>
            </p:nvSpPr>
            <p:spPr>
              <a:xfrm>
                <a:off x="3032567" y="5362378"/>
                <a:ext cx="8078109" cy="76944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d>
                        <m:dPr>
                          <m:begChr m:val="["/>
                          <m:endChr m:val="]"/>
                          <m:ctrlPr>
                            <a:rPr lang="en-GB" sz="3200" i="1" smtClean="0">
                              <a:latin typeface="Cambria Math" panose="02040503050406030204" pitchFamily="18" charset="0"/>
                            </a:rPr>
                          </m:ctrlPr>
                        </m:dPr>
                        <m:e>
                          <m:r>
                            <a:rPr lang="en-GB" sz="3200" i="1"/>
                            <m:t>105−3.92,105+3.92</m:t>
                          </m:r>
                        </m:e>
                      </m:d>
                      <m:r>
                        <a:rPr lang="en-GB" sz="3200" i="1"/>
                        <m:t>=</m:t>
                      </m:r>
                      <m:d>
                        <m:dPr>
                          <m:begChr m:val="["/>
                          <m:endChr m:val="]"/>
                          <m:ctrlPr>
                            <a:rPr lang="en-GB" sz="3200" i="1">
                              <a:latin typeface="Cambria Math" panose="02040503050406030204" pitchFamily="18" charset="0"/>
                            </a:rPr>
                          </m:ctrlPr>
                        </m:dPr>
                        <m:e>
                          <m:r>
                            <a:rPr lang="en-GB" sz="3200" i="1"/>
                            <m:t>𝟏𝟎𝟏</m:t>
                          </m:r>
                          <m:r>
                            <a:rPr lang="en-GB" sz="3200" i="1"/>
                            <m:t>.</m:t>
                          </m:r>
                          <m:r>
                            <a:rPr lang="en-GB" sz="3200" i="1"/>
                            <m:t>𝟎𝟖</m:t>
                          </m:r>
                          <m:r>
                            <a:rPr lang="en-GB" sz="3200" i="1"/>
                            <m:t>,</m:t>
                          </m:r>
                          <m:r>
                            <a:rPr lang="en-GB" sz="3200" i="1"/>
                            <m:t>𝟏𝟎𝟖</m:t>
                          </m:r>
                          <m:r>
                            <a:rPr lang="en-GB" sz="3200" i="1"/>
                            <m:t>.</m:t>
                          </m:r>
                          <m:r>
                            <a:rPr lang="en-GB" sz="3200" i="1"/>
                            <m:t>𝟗𝟐</m:t>
                          </m:r>
                        </m:e>
                      </m:d>
                    </m:oMath>
                  </m:oMathPara>
                </a14:m>
                <a:endParaRPr lang="en-GB" sz="2400" dirty="0"/>
              </a:p>
              <a:p>
                <a:endParaRPr lang="en-NL" dirty="0"/>
              </a:p>
            </p:txBody>
          </p:sp>
        </mc:Choice>
        <mc:Fallback>
          <p:sp>
            <p:nvSpPr>
              <p:cNvPr id="20" name="TextBox 19">
                <a:extLst>
                  <a:ext uri="{FF2B5EF4-FFF2-40B4-BE49-F238E27FC236}">
                    <a16:creationId xmlns:a16="http://schemas.microsoft.com/office/drawing/2014/main" id="{03E8998D-0C7B-6E47-47A6-334E3B5AF8DC}"/>
                  </a:ext>
                </a:extLst>
              </p:cNvPr>
              <p:cNvSpPr txBox="1">
                <a:spLocks noRot="1" noChangeAspect="1" noMove="1" noResize="1" noEditPoints="1" noAdjustHandles="1" noChangeArrowheads="1" noChangeShapeType="1" noTextEdit="1"/>
              </p:cNvSpPr>
              <p:nvPr/>
            </p:nvSpPr>
            <p:spPr>
              <a:xfrm>
                <a:off x="3032567" y="5362378"/>
                <a:ext cx="8078109" cy="769441"/>
              </a:xfrm>
              <a:prstGeom prst="rect">
                <a:avLst/>
              </a:prstGeom>
              <a:blipFill>
                <a:blip r:embed="rId6"/>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10405225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A2D63-D4B2-810E-572F-A8320353C6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93A85-E5AC-5FC2-7B20-A14DD1844B42}"/>
              </a:ext>
            </a:extLst>
          </p:cNvPr>
          <p:cNvSpPr>
            <a:spLocks noGrp="1"/>
          </p:cNvSpPr>
          <p:nvPr>
            <p:ph type="title"/>
          </p:nvPr>
        </p:nvSpPr>
        <p:spPr/>
        <p:txBody>
          <a:bodyPr/>
          <a:lstStyle/>
          <a:p>
            <a:r>
              <a:rPr lang="en-NL" dirty="0"/>
              <a:t>Confidence Intervals </a:t>
            </a:r>
            <a:r>
              <a:rPr lang="en-NL" dirty="0">
                <a:solidFill>
                  <a:schemeClr val="accent1"/>
                </a:solidFill>
              </a:rPr>
              <a:t>in practice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527CD07-B877-C40E-6693-4F46B9B19AA6}"/>
                  </a:ext>
                </a:extLst>
              </p:cNvPr>
              <p:cNvSpPr>
                <a:spLocks noGrp="1"/>
              </p:cNvSpPr>
              <p:nvPr>
                <p:ph idx="1"/>
              </p:nvPr>
            </p:nvSpPr>
            <p:spPr/>
            <p:txBody>
              <a:bodyPr/>
              <a:lstStyle/>
              <a:p>
                <a:pPr marL="0" indent="0" algn="ctr">
                  <a:buNone/>
                </a:pPr>
                <a:r>
                  <a:rPr lang="en-NL" sz="2000" i="1" dirty="0"/>
                  <a:t>As you know by now, my laptop crashes a lot. </a:t>
                </a:r>
                <a:r>
                  <a:rPr lang="en-GB" sz="2000" i="1" dirty="0"/>
                  <a:t>I want to estimate the </a:t>
                </a:r>
                <a:r>
                  <a:rPr lang="en-GB" sz="2000" b="1" i="1" dirty="0"/>
                  <a:t>population mean (</a:t>
                </a:r>
                <a14:m>
                  <m:oMath xmlns:m="http://schemas.openxmlformats.org/officeDocument/2006/math">
                    <m:r>
                      <a:rPr lang="en-GB" sz="2000" b="1" i="1" smtClean="0">
                        <a:latin typeface="Cambria Math" panose="02040503050406030204" pitchFamily="18" charset="0"/>
                        <a:ea typeface="Cambria Math" panose="02040503050406030204" pitchFamily="18" charset="0"/>
                      </a:rPr>
                      <m:t>𝝁</m:t>
                    </m:r>
                  </m:oMath>
                </a14:m>
                <a:r>
                  <a:rPr lang="en-GB" sz="2000" b="1" i="1" dirty="0"/>
                  <a:t>) </a:t>
                </a:r>
                <a:r>
                  <a:rPr lang="en-GB" sz="2000" i="1" dirty="0"/>
                  <a:t>of crashes for this laptop model over 250 days. I can't test every single laptop the company made, but I can afford 36 laptops.</a:t>
                </a:r>
              </a:p>
              <a:p>
                <a:pPr marL="0" indent="0">
                  <a:buNone/>
                </a:pPr>
                <a:endParaRPr lang="en-GB" sz="2000" i="1" dirty="0"/>
              </a:p>
              <a:p>
                <a:pPr marL="0" indent="0">
                  <a:buNone/>
                </a:pPr>
                <a:r>
                  <a:rPr lang="en-GB" sz="2000" i="1" dirty="0"/>
                  <a:t>I found an average of 105 crashes over 1 year</a:t>
                </a:r>
              </a:p>
              <a:p>
                <a:pPr marL="0" indent="0">
                  <a:buNone/>
                </a:pPr>
                <a:r>
                  <a:rPr lang="en-GB" sz="2000" i="1" dirty="0"/>
                  <a:t>Manufacturer claims</a:t>
                </a:r>
                <a14:m>
                  <m:oMath xmlns:m="http://schemas.openxmlformats.org/officeDocument/2006/math">
                    <m:r>
                      <a:rPr lang="nl-NL" sz="2800" b="0" i="1" smtClean="0">
                        <a:latin typeface="Cambria Math" panose="02040503050406030204" pitchFamily="18" charset="0"/>
                      </a:rPr>
                      <m:t>: </m:t>
                    </m:r>
                    <m:r>
                      <a:rPr lang="en-GB" sz="2800" i="1" smtClean="0">
                        <a:latin typeface="Cambria Math" panose="02040503050406030204" pitchFamily="18" charset="0"/>
                      </a:rPr>
                      <m:t>𝜎</m:t>
                    </m:r>
                    <m:r>
                      <a:rPr lang="en-GB" sz="2800" i="1" smtClean="0">
                        <a:latin typeface="Cambria Math" panose="02040503050406030204" pitchFamily="18" charset="0"/>
                      </a:rPr>
                      <m:t>= 12</m:t>
                    </m:r>
                  </m:oMath>
                </a14:m>
                <a:endParaRPr lang="en-NL" sz="2000" i="1" dirty="0"/>
              </a:p>
            </p:txBody>
          </p:sp>
        </mc:Choice>
        <mc:Fallback>
          <p:sp>
            <p:nvSpPr>
              <p:cNvPr id="3" name="Content Placeholder 2">
                <a:extLst>
                  <a:ext uri="{FF2B5EF4-FFF2-40B4-BE49-F238E27FC236}">
                    <a16:creationId xmlns:a16="http://schemas.microsoft.com/office/drawing/2014/main" id="{1527CD07-B877-C40E-6693-4F46B9B19AA6}"/>
                  </a:ext>
                </a:extLst>
              </p:cNvPr>
              <p:cNvSpPr>
                <a:spLocks noGrp="1" noRot="1" noChangeAspect="1" noMove="1" noResize="1" noEditPoints="1" noAdjustHandles="1" noChangeArrowheads="1" noChangeShapeType="1" noTextEdit="1"/>
              </p:cNvSpPr>
              <p:nvPr>
                <p:ph idx="1"/>
              </p:nvPr>
            </p:nvSpPr>
            <p:spPr>
              <a:blipFill>
                <a:blip r:embed="rId3"/>
                <a:stretch>
                  <a:fillRect l="-1370" t="-1709" r="-1598"/>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CD5A07C7-D0CD-BDD9-D8A8-0EAEBBAB1AC4}"/>
                  </a:ext>
                </a:extLst>
              </p:cNvPr>
              <p:cNvSpPr txBox="1"/>
              <p:nvPr/>
            </p:nvSpPr>
            <p:spPr>
              <a:xfrm>
                <a:off x="5811333" y="3232230"/>
                <a:ext cx="5771067" cy="769441"/>
              </a:xfrm>
              <a:prstGeom prst="rect">
                <a:avLst/>
              </a:prstGeom>
            </p:spPr>
            <p:style>
              <a:lnRef idx="2">
                <a:schemeClr val="accent1"/>
              </a:lnRef>
              <a:fillRef idx="1">
                <a:schemeClr val="lt1"/>
              </a:fillRef>
              <a:effectRef idx="0">
                <a:schemeClr val="accent1"/>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GB" sz="3200" i="1">
                              <a:latin typeface="Cambria Math" panose="02040503050406030204" pitchFamily="18" charset="0"/>
                            </a:rPr>
                          </m:ctrlPr>
                        </m:dPr>
                        <m:e>
                          <m:r>
                            <a:rPr lang="en-GB" sz="3200" i="1">
                              <a:latin typeface="Cambria Math" panose="02040503050406030204" pitchFamily="18" charset="0"/>
                            </a:rPr>
                            <m:t>𝟏𝟎𝟏</m:t>
                          </m:r>
                          <m:r>
                            <a:rPr lang="en-GB" sz="3200" i="1">
                              <a:latin typeface="Cambria Math" panose="02040503050406030204" pitchFamily="18" charset="0"/>
                            </a:rPr>
                            <m:t>.</m:t>
                          </m:r>
                          <m:r>
                            <a:rPr lang="en-GB" sz="3200" i="1">
                              <a:latin typeface="Cambria Math" panose="02040503050406030204" pitchFamily="18" charset="0"/>
                            </a:rPr>
                            <m:t>𝟎𝟖</m:t>
                          </m:r>
                          <m:r>
                            <a:rPr lang="en-GB" sz="3200" i="1">
                              <a:latin typeface="Cambria Math" panose="02040503050406030204" pitchFamily="18" charset="0"/>
                            </a:rPr>
                            <m:t>,</m:t>
                          </m:r>
                          <m:r>
                            <a:rPr lang="en-GB" sz="3200" i="1">
                              <a:latin typeface="Cambria Math" panose="02040503050406030204" pitchFamily="18" charset="0"/>
                            </a:rPr>
                            <m:t>𝟏𝟎𝟖</m:t>
                          </m:r>
                          <m:r>
                            <a:rPr lang="en-GB" sz="3200" i="1">
                              <a:latin typeface="Cambria Math" panose="02040503050406030204" pitchFamily="18" charset="0"/>
                            </a:rPr>
                            <m:t>.</m:t>
                          </m:r>
                          <m:r>
                            <a:rPr lang="en-GB" sz="3200" i="1">
                              <a:latin typeface="Cambria Math" panose="02040503050406030204" pitchFamily="18" charset="0"/>
                            </a:rPr>
                            <m:t>𝟗𝟐</m:t>
                          </m:r>
                        </m:e>
                      </m:d>
                    </m:oMath>
                  </m:oMathPara>
                </a14:m>
                <a:endParaRPr lang="en-GB" sz="2400" dirty="0"/>
              </a:p>
              <a:p>
                <a:endParaRPr lang="en-NL" dirty="0"/>
              </a:p>
            </p:txBody>
          </p:sp>
        </mc:Choice>
        <mc:Fallback>
          <p:sp>
            <p:nvSpPr>
              <p:cNvPr id="20" name="TextBox 19">
                <a:extLst>
                  <a:ext uri="{FF2B5EF4-FFF2-40B4-BE49-F238E27FC236}">
                    <a16:creationId xmlns:a16="http://schemas.microsoft.com/office/drawing/2014/main" id="{CD5A07C7-D0CD-BDD9-D8A8-0EAEBBAB1AC4}"/>
                  </a:ext>
                </a:extLst>
              </p:cNvPr>
              <p:cNvSpPr txBox="1">
                <a:spLocks noRot="1" noChangeAspect="1" noMove="1" noResize="1" noEditPoints="1" noAdjustHandles="1" noChangeArrowheads="1" noChangeShapeType="1" noTextEdit="1"/>
              </p:cNvSpPr>
              <p:nvPr/>
            </p:nvSpPr>
            <p:spPr>
              <a:xfrm>
                <a:off x="5811333" y="3232230"/>
                <a:ext cx="5771067" cy="769441"/>
              </a:xfrm>
              <a:prstGeom prst="rect">
                <a:avLst/>
              </a:prstGeom>
              <a:blipFill>
                <a:blip r:embed="rId4"/>
                <a:stretch>
                  <a:fillRect/>
                </a:stretch>
              </a:blipFill>
            </p:spPr>
            <p:txBody>
              <a:bodyPr/>
              <a:lstStyle/>
              <a:p>
                <a:r>
                  <a:rPr lang="en-NL">
                    <a:noFill/>
                  </a:rPr>
                  <a:t> </a:t>
                </a:r>
              </a:p>
            </p:txBody>
          </p:sp>
        </mc:Fallback>
      </mc:AlternateContent>
      <p:sp>
        <p:nvSpPr>
          <p:cNvPr id="4" name="TextBox 3">
            <a:extLst>
              <a:ext uri="{FF2B5EF4-FFF2-40B4-BE49-F238E27FC236}">
                <a16:creationId xmlns:a16="http://schemas.microsoft.com/office/drawing/2014/main" id="{49EFE8F6-EAE4-D9D6-1471-AE6FF46DBE28}"/>
              </a:ext>
            </a:extLst>
          </p:cNvPr>
          <p:cNvSpPr txBox="1"/>
          <p:nvPr/>
        </p:nvSpPr>
        <p:spPr>
          <a:xfrm>
            <a:off x="480001" y="4543450"/>
            <a:ext cx="10957367" cy="1323439"/>
          </a:xfrm>
          <a:prstGeom prst="rect">
            <a:avLst/>
          </a:prstGeom>
          <a:noFill/>
        </p:spPr>
        <p:txBody>
          <a:bodyPr wrap="square" rtlCol="0">
            <a:spAutoFit/>
          </a:bodyPr>
          <a:lstStyle/>
          <a:p>
            <a:r>
              <a:rPr lang="en-NL" sz="2000" dirty="0"/>
              <a:t>We found that with </a:t>
            </a:r>
            <a:r>
              <a:rPr lang="en-NL" sz="2000" b="1" dirty="0"/>
              <a:t>95% certainty</a:t>
            </a:r>
            <a:r>
              <a:rPr lang="en-NL" sz="2000" dirty="0"/>
              <a:t>, the true average number of crashes in a year falls </a:t>
            </a:r>
            <a:r>
              <a:rPr lang="en-NL" sz="2000" b="1" dirty="0"/>
              <a:t>within 101.08 and 108.92</a:t>
            </a:r>
            <a:r>
              <a:rPr lang="en-NL" sz="2000" dirty="0"/>
              <a:t>.</a:t>
            </a:r>
          </a:p>
          <a:p>
            <a:r>
              <a:rPr lang="en-NL" sz="2000" dirty="0"/>
              <a:t>So if the manufacturer claims that their laptops would only crash on </a:t>
            </a:r>
            <a:r>
              <a:rPr lang="en-NL" sz="2000" b="1" dirty="0"/>
              <a:t>average 80 times a year</a:t>
            </a:r>
            <a:r>
              <a:rPr lang="en-NL" sz="2000" dirty="0"/>
              <a:t>, we have </a:t>
            </a:r>
            <a:r>
              <a:rPr lang="en-NL" sz="2000" b="1" dirty="0"/>
              <a:t>reason to doubt that claim.</a:t>
            </a:r>
          </a:p>
        </p:txBody>
      </p:sp>
    </p:spTree>
    <p:extLst>
      <p:ext uri="{BB962C8B-B14F-4D97-AF65-F5344CB8AC3E}">
        <p14:creationId xmlns:p14="http://schemas.microsoft.com/office/powerpoint/2010/main" val="171671391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959CD-3A4D-7A44-81B3-ACD6192A4C24}"/>
              </a:ext>
            </a:extLst>
          </p:cNvPr>
          <p:cNvSpPr>
            <a:spLocks noGrp="1"/>
          </p:cNvSpPr>
          <p:nvPr>
            <p:ph type="title"/>
          </p:nvPr>
        </p:nvSpPr>
        <p:spPr/>
        <p:txBody>
          <a:bodyPr/>
          <a:lstStyle/>
          <a:p>
            <a:r>
              <a:rPr lang="en-NL" dirty="0"/>
              <a:t>Why </a:t>
            </a:r>
            <a:r>
              <a:rPr lang="en-NL" dirty="0">
                <a:solidFill>
                  <a:schemeClr val="accent1"/>
                </a:solidFill>
              </a:rPr>
              <a:t>confidence intervals</a:t>
            </a:r>
            <a:r>
              <a:rPr lang="en-NL" dirty="0"/>
              <a:t>?</a:t>
            </a:r>
          </a:p>
        </p:txBody>
      </p:sp>
      <p:sp>
        <p:nvSpPr>
          <p:cNvPr id="3" name="Content Placeholder 2">
            <a:extLst>
              <a:ext uri="{FF2B5EF4-FFF2-40B4-BE49-F238E27FC236}">
                <a16:creationId xmlns:a16="http://schemas.microsoft.com/office/drawing/2014/main" id="{90DE1D33-A18D-3387-CA30-83D145DB259D}"/>
              </a:ext>
            </a:extLst>
          </p:cNvPr>
          <p:cNvSpPr>
            <a:spLocks noGrp="1"/>
          </p:cNvSpPr>
          <p:nvPr>
            <p:ph idx="1"/>
          </p:nvPr>
        </p:nvSpPr>
        <p:spPr/>
        <p:txBody>
          <a:bodyPr/>
          <a:lstStyle/>
          <a:p>
            <a:pPr marL="0" indent="0" algn="ctr">
              <a:buNone/>
            </a:pPr>
            <a:r>
              <a:rPr lang="en-NL" dirty="0"/>
              <a:t>If we knew every single true population mean, we would not need statistics in the first place…</a:t>
            </a:r>
          </a:p>
          <a:p>
            <a:pPr marL="0" indent="0" algn="ctr">
              <a:buNone/>
            </a:pPr>
            <a:endParaRPr lang="en-NL" dirty="0"/>
          </a:p>
          <a:p>
            <a:pPr marL="0" indent="0" algn="ctr">
              <a:buNone/>
            </a:pPr>
            <a:r>
              <a:rPr lang="en-NL" sz="4000" i="1" dirty="0">
                <a:latin typeface="Cambria Math" panose="02040503050406030204" pitchFamily="18" charset="0"/>
                <a:ea typeface="Cambria Math" panose="02040503050406030204" pitchFamily="18" charset="0"/>
              </a:rPr>
              <a:t>We admit that our sample might be slightly off, but we calculate that we are close enough to the truth.</a:t>
            </a:r>
          </a:p>
          <a:p>
            <a:pPr marL="0" indent="0" algn="ctr">
              <a:buNone/>
            </a:pPr>
            <a:endParaRPr lang="en-NL" sz="4000" i="1"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6626547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37149-22D0-FC37-1D95-B79E5AD08302}"/>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0D73FDED-2A97-E445-E478-8F156A3A6D24}"/>
              </a:ext>
            </a:extLst>
          </p:cNvPr>
          <p:cNvSpPr/>
          <p:nvPr/>
        </p:nvSpPr>
        <p:spPr>
          <a:xfrm>
            <a:off x="648182" y="4996905"/>
            <a:ext cx="10934218" cy="144683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
        <p:nvSpPr>
          <p:cNvPr id="2" name="Title 1">
            <a:extLst>
              <a:ext uri="{FF2B5EF4-FFF2-40B4-BE49-F238E27FC236}">
                <a16:creationId xmlns:a16="http://schemas.microsoft.com/office/drawing/2014/main" id="{AB3A1025-6B07-1453-0528-2C2743091265}"/>
              </a:ext>
            </a:extLst>
          </p:cNvPr>
          <p:cNvSpPr>
            <a:spLocks noGrp="1"/>
          </p:cNvSpPr>
          <p:nvPr>
            <p:ph type="title"/>
          </p:nvPr>
        </p:nvSpPr>
        <p:spPr/>
        <p:txBody>
          <a:bodyPr/>
          <a:lstStyle/>
          <a:p>
            <a:r>
              <a:rPr lang="en-NL" dirty="0"/>
              <a:t>Why </a:t>
            </a:r>
            <a:r>
              <a:rPr lang="en-NL" dirty="0">
                <a:solidFill>
                  <a:schemeClr val="accent1"/>
                </a:solidFill>
              </a:rPr>
              <a:t>confidence intervals</a:t>
            </a:r>
            <a:r>
              <a:rPr lang="en-NL" dirty="0"/>
              <a:t>?</a:t>
            </a:r>
          </a:p>
        </p:txBody>
      </p:sp>
      <p:sp>
        <p:nvSpPr>
          <p:cNvPr id="3" name="Content Placeholder 2">
            <a:extLst>
              <a:ext uri="{FF2B5EF4-FFF2-40B4-BE49-F238E27FC236}">
                <a16:creationId xmlns:a16="http://schemas.microsoft.com/office/drawing/2014/main" id="{FA0F2400-174E-B1B3-55F5-3BDFA26633B4}"/>
              </a:ext>
            </a:extLst>
          </p:cNvPr>
          <p:cNvSpPr>
            <a:spLocks noGrp="1"/>
          </p:cNvSpPr>
          <p:nvPr>
            <p:ph idx="1"/>
          </p:nvPr>
        </p:nvSpPr>
        <p:spPr/>
        <p:txBody>
          <a:bodyPr/>
          <a:lstStyle/>
          <a:p>
            <a:pPr marL="0" indent="0" algn="ctr">
              <a:buNone/>
            </a:pPr>
            <a:r>
              <a:rPr lang="en-NL" dirty="0"/>
              <a:t>If we knew every single true population mean, we would not need statistics in the first place…</a:t>
            </a:r>
          </a:p>
          <a:p>
            <a:pPr marL="0" indent="0" algn="ctr">
              <a:buNone/>
            </a:pPr>
            <a:endParaRPr lang="en-NL" dirty="0"/>
          </a:p>
          <a:p>
            <a:pPr marL="0" indent="0" algn="ctr">
              <a:buNone/>
            </a:pPr>
            <a:r>
              <a:rPr lang="en-NL" sz="4000" i="1" dirty="0">
                <a:latin typeface="Cambria Math" panose="02040503050406030204" pitchFamily="18" charset="0"/>
                <a:ea typeface="Cambria Math" panose="02040503050406030204" pitchFamily="18" charset="0"/>
              </a:rPr>
              <a:t>We admit that our sample might be slightly off, but we calculate that we are close enough to the truth.</a:t>
            </a:r>
          </a:p>
          <a:p>
            <a:pPr marL="0" indent="0" algn="ctr">
              <a:buNone/>
            </a:pPr>
            <a:endParaRPr lang="en-NL" sz="4000" i="1" dirty="0">
              <a:latin typeface="Cambria Math" panose="02040503050406030204" pitchFamily="18" charset="0"/>
              <a:ea typeface="Cambria Math" panose="02040503050406030204" pitchFamily="18" charset="0"/>
            </a:endParaRPr>
          </a:p>
          <a:p>
            <a:pPr marL="0" indent="0" algn="ctr">
              <a:buNone/>
            </a:pPr>
            <a:r>
              <a:rPr lang="en-NL" sz="4000" i="1" dirty="0">
                <a:latin typeface="Cambria Math" panose="02040503050406030204" pitchFamily="18" charset="0"/>
                <a:ea typeface="Cambria Math" panose="02040503050406030204" pitchFamily="18" charset="0"/>
              </a:rPr>
              <a:t>How close? So close that </a:t>
            </a:r>
            <a:r>
              <a:rPr lang="en-NL" sz="4000" b="1" i="1" dirty="0">
                <a:latin typeface="Cambria Math" panose="02040503050406030204" pitchFamily="18" charset="0"/>
                <a:ea typeface="Cambria Math" panose="02040503050406030204" pitchFamily="18" charset="0"/>
              </a:rPr>
              <a:t>95 out of 100 </a:t>
            </a:r>
            <a:r>
              <a:rPr lang="en-NL" sz="4000" i="1" dirty="0">
                <a:latin typeface="Cambria Math" panose="02040503050406030204" pitchFamily="18" charset="0"/>
                <a:ea typeface="Cambria Math" panose="02040503050406030204" pitchFamily="18" charset="0"/>
              </a:rPr>
              <a:t>times, our interval will capture the true mean!</a:t>
            </a:r>
          </a:p>
        </p:txBody>
      </p:sp>
    </p:spTree>
    <p:extLst>
      <p:ext uri="{BB962C8B-B14F-4D97-AF65-F5344CB8AC3E}">
        <p14:creationId xmlns:p14="http://schemas.microsoft.com/office/powerpoint/2010/main" val="23478585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48AFE-29ED-EF48-4172-C5DA0636E782}"/>
              </a:ext>
            </a:extLst>
          </p:cNvPr>
          <p:cNvSpPr>
            <a:spLocks noGrp="1"/>
          </p:cNvSpPr>
          <p:nvPr>
            <p:ph type="title"/>
          </p:nvPr>
        </p:nvSpPr>
        <p:spPr/>
        <p:txBody>
          <a:bodyPr/>
          <a:lstStyle/>
          <a:p>
            <a:r>
              <a:rPr lang="en-NL" dirty="0"/>
              <a:t>But what if my data is </a:t>
            </a:r>
            <a:r>
              <a:rPr lang="en-NL" dirty="0">
                <a:solidFill>
                  <a:schemeClr val="accent1"/>
                </a:solidFill>
              </a:rPr>
              <a:t>limited</a:t>
            </a:r>
            <a:r>
              <a:rPr lang="en-NL" dirty="0"/>
              <a:t>?</a:t>
            </a:r>
          </a:p>
        </p:txBody>
      </p:sp>
      <p:sp>
        <p:nvSpPr>
          <p:cNvPr id="3" name="Content Placeholder 2">
            <a:extLst>
              <a:ext uri="{FF2B5EF4-FFF2-40B4-BE49-F238E27FC236}">
                <a16:creationId xmlns:a16="http://schemas.microsoft.com/office/drawing/2014/main" id="{747F8390-4B74-0928-93EF-582DA6CFC9A1}"/>
              </a:ext>
            </a:extLst>
          </p:cNvPr>
          <p:cNvSpPr>
            <a:spLocks noGrp="1"/>
          </p:cNvSpPr>
          <p:nvPr>
            <p:ph idx="1"/>
          </p:nvPr>
        </p:nvSpPr>
        <p:spPr/>
        <p:txBody>
          <a:bodyPr/>
          <a:lstStyle/>
          <a:p>
            <a:pPr marL="0" indent="0">
              <a:buNone/>
            </a:pPr>
            <a:r>
              <a:rPr lang="en-NL" dirty="0"/>
              <a:t>Small datasets exists (e.g. n&lt;30?)</a:t>
            </a:r>
          </a:p>
        </p:txBody>
      </p:sp>
    </p:spTree>
    <p:extLst>
      <p:ext uri="{BB962C8B-B14F-4D97-AF65-F5344CB8AC3E}">
        <p14:creationId xmlns:p14="http://schemas.microsoft.com/office/powerpoint/2010/main" val="17188846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3169A-76F3-7CAD-01A6-07B139E84E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229A99-B7F3-FB6E-69A7-8E277CF11CE9}"/>
              </a:ext>
            </a:extLst>
          </p:cNvPr>
          <p:cNvSpPr>
            <a:spLocks noGrp="1"/>
          </p:cNvSpPr>
          <p:nvPr>
            <p:ph type="title"/>
          </p:nvPr>
        </p:nvSpPr>
        <p:spPr/>
        <p:txBody>
          <a:bodyPr/>
          <a:lstStyle/>
          <a:p>
            <a:r>
              <a:rPr lang="en-NL" dirty="0"/>
              <a:t>But what if my data is </a:t>
            </a:r>
            <a:r>
              <a:rPr lang="en-NL" dirty="0">
                <a:solidFill>
                  <a:schemeClr val="accent1"/>
                </a:solidFill>
              </a:rPr>
              <a:t>limited</a:t>
            </a:r>
            <a:r>
              <a:rPr lang="en-NL" dirty="0"/>
              <a: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84E6A5A-7556-ED35-EA56-3FC98325186C}"/>
                  </a:ext>
                </a:extLst>
              </p:cNvPr>
              <p:cNvSpPr>
                <a:spLocks noGrp="1"/>
              </p:cNvSpPr>
              <p:nvPr>
                <p:ph idx="1"/>
              </p:nvPr>
            </p:nvSpPr>
            <p:spPr/>
            <p:txBody>
              <a:bodyPr/>
              <a:lstStyle/>
              <a:p>
                <a:pPr marL="0" indent="0">
                  <a:buNone/>
                </a:pPr>
                <a:r>
                  <a:rPr lang="en-NL" dirty="0"/>
                  <a:t>Small datasets exists (e.g. n&lt;30?)</a:t>
                </a:r>
              </a:p>
              <a:p>
                <a:pPr marL="0" indent="0">
                  <a:buNone/>
                </a:pPr>
                <a:endParaRPr lang="en-NL" dirty="0"/>
              </a:p>
              <a:p>
                <a:pPr marL="0" indent="0">
                  <a:buNone/>
                </a:pPr>
                <a:endParaRPr lang="en-NL" dirty="0"/>
              </a:p>
              <a:p>
                <a:pPr marL="0" indent="0">
                  <a:buNone/>
                </a:pPr>
                <a:endParaRPr lang="en-NL" dirty="0"/>
              </a:p>
              <a:p>
                <a:pPr marL="0" indent="0">
                  <a:buNone/>
                </a:pPr>
                <a14:m>
                  <m:oMath xmlns:m="http://schemas.openxmlformats.org/officeDocument/2006/math">
                    <m:r>
                      <a:rPr lang="en-GB" sz="4400" i="1">
                        <a:latin typeface="Cambria Math" panose="02040503050406030204" pitchFamily="18" charset="0"/>
                      </a:rPr>
                      <m:t>𝜎</m:t>
                    </m:r>
                  </m:oMath>
                </a14:m>
                <a:r>
                  <a:rPr lang="en-NL" dirty="0"/>
                  <a:t> is a population parameter, not from our samples. In practice, we do not know population parameters </a:t>
                </a:r>
              </a:p>
            </p:txBody>
          </p:sp>
        </mc:Choice>
        <mc:Fallback>
          <p:sp>
            <p:nvSpPr>
              <p:cNvPr id="3" name="Content Placeholder 2">
                <a:extLst>
                  <a:ext uri="{FF2B5EF4-FFF2-40B4-BE49-F238E27FC236}">
                    <a16:creationId xmlns:a16="http://schemas.microsoft.com/office/drawing/2014/main" id="{F84E6A5A-7556-ED35-EA56-3FC98325186C}"/>
                  </a:ext>
                </a:extLst>
              </p:cNvPr>
              <p:cNvSpPr>
                <a:spLocks noGrp="1" noRot="1" noChangeAspect="1" noMove="1" noResize="1" noEditPoints="1" noAdjustHandles="1" noChangeArrowheads="1" noChangeShapeType="1" noTextEdit="1"/>
              </p:cNvSpPr>
              <p:nvPr>
                <p:ph idx="1"/>
              </p:nvPr>
            </p:nvSpPr>
            <p:spPr>
              <a:blipFill>
                <a:blip r:embed="rId3"/>
                <a:stretch>
                  <a:fillRect l="-2854" t="-3704" b="-9687"/>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 name="Title 1">
                <a:extLst>
                  <a:ext uri="{FF2B5EF4-FFF2-40B4-BE49-F238E27FC236}">
                    <a16:creationId xmlns:a16="http://schemas.microsoft.com/office/drawing/2014/main" id="{AB5B8C03-B0E5-5A59-1090-FC87860761D1}"/>
                  </a:ext>
                </a:extLst>
              </p:cNvPr>
              <p:cNvSpPr txBox="1">
                <a:spLocks/>
              </p:cNvSpPr>
              <p:nvPr/>
            </p:nvSpPr>
            <p:spPr>
              <a:xfrm>
                <a:off x="480001" y="3140574"/>
                <a:ext cx="11102399" cy="756000"/>
              </a:xfrm>
              <a:prstGeom prst="rect">
                <a:avLst/>
              </a:prstGeom>
            </p:spPr>
            <p:txBody>
              <a:bodyPr vert="horz" lIns="0" tIns="0" rIns="0" bIns="0" rtlCol="0" anchor="t" anchorCtr="0">
                <a:normAutofit/>
              </a:bodyPr>
              <a:lstStyle>
                <a:lvl1pPr algn="l" defTabSz="609585" rtl="0" eaLnBrk="1" latinLnBrk="0" hangingPunct="1">
                  <a:spcBef>
                    <a:spcPct val="0"/>
                  </a:spcBef>
                  <a:buNone/>
                  <a:defRPr sz="4267" b="1" kern="1200">
                    <a:solidFill>
                      <a:schemeClr val="tx2"/>
                    </a:solidFill>
                    <a:latin typeface="+mj-lt"/>
                    <a:ea typeface="+mj-ea"/>
                    <a:cs typeface="Verdana"/>
                  </a:defRPr>
                </a:lvl1pPr>
              </a:lstStyle>
              <a:p>
                <a:r>
                  <a:rPr lang="en-NL" dirty="0"/>
                  <a:t>But what if I don’t know </a:t>
                </a:r>
                <a14:m>
                  <m:oMath xmlns:m="http://schemas.openxmlformats.org/officeDocument/2006/math">
                    <m:r>
                      <a:rPr lang="en-GB" sz="4400" i="1" smtClean="0">
                        <a:solidFill>
                          <a:schemeClr val="accent1"/>
                        </a:solidFill>
                        <a:latin typeface="Cambria Math" panose="02040503050406030204" pitchFamily="18" charset="0"/>
                      </a:rPr>
                      <m:t>𝜎</m:t>
                    </m:r>
                  </m:oMath>
                </a14:m>
                <a:r>
                  <a:rPr lang="en-NL" dirty="0"/>
                  <a:t>?</a:t>
                </a:r>
              </a:p>
            </p:txBody>
          </p:sp>
        </mc:Choice>
        <mc:Fallback>
          <p:sp>
            <p:nvSpPr>
              <p:cNvPr id="4" name="Title 1">
                <a:extLst>
                  <a:ext uri="{FF2B5EF4-FFF2-40B4-BE49-F238E27FC236}">
                    <a16:creationId xmlns:a16="http://schemas.microsoft.com/office/drawing/2014/main" id="{AB5B8C03-B0E5-5A59-1090-FC87860761D1}"/>
                  </a:ext>
                </a:extLst>
              </p:cNvPr>
              <p:cNvSpPr txBox="1">
                <a:spLocks noRot="1" noChangeAspect="1" noMove="1" noResize="1" noEditPoints="1" noAdjustHandles="1" noChangeArrowheads="1" noChangeShapeType="1" noTextEdit="1"/>
              </p:cNvSpPr>
              <p:nvPr/>
            </p:nvSpPr>
            <p:spPr>
              <a:xfrm>
                <a:off x="480001" y="3140574"/>
                <a:ext cx="11102399" cy="756000"/>
              </a:xfrm>
              <a:prstGeom prst="rect">
                <a:avLst/>
              </a:prstGeom>
              <a:blipFill>
                <a:blip r:embed="rId4"/>
                <a:stretch>
                  <a:fillRect l="-2854" t="-20000" b="-30000"/>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FBD39B1-2880-0F9E-D621-F559BF8EF617}"/>
                  </a:ext>
                </a:extLst>
              </p:cNvPr>
              <p:cNvSpPr txBox="1"/>
              <p:nvPr/>
            </p:nvSpPr>
            <p:spPr>
              <a:xfrm>
                <a:off x="7540976" y="5243411"/>
                <a:ext cx="4041424" cy="1200329"/>
              </a:xfrm>
              <a:prstGeom prst="rect">
                <a:avLst/>
              </a:prstGeom>
              <a:noFill/>
            </p:spPr>
            <p:txBody>
              <a:bodyPr wrap="square" rtlCol="0">
                <a:spAutoFit/>
              </a:bodyPr>
              <a:lstStyle/>
              <a:p>
                <a:pPr algn="ctr"/>
                <a:r>
                  <a:rPr lang="en-NL" sz="2400" b="1" dirty="0">
                    <a:solidFill>
                      <a:schemeClr val="accent1"/>
                    </a:solidFill>
                  </a:rPr>
                  <a:t>Otherwise we would probably also know the true population average (</a:t>
                </a:r>
                <a14:m>
                  <m:oMath xmlns:m="http://schemas.openxmlformats.org/officeDocument/2006/math">
                    <m:r>
                      <a:rPr lang="en-GB" sz="2400" b="1" i="1" smtClean="0">
                        <a:solidFill>
                          <a:schemeClr val="accent1"/>
                        </a:solidFill>
                        <a:ea typeface="Cambria Math" panose="02040503050406030204" pitchFamily="18" charset="0"/>
                      </a:rPr>
                      <m:t>𝝁</m:t>
                    </m:r>
                    <m:r>
                      <a:rPr lang="nl-NL" sz="2400" b="1" i="1" smtClean="0">
                        <a:solidFill>
                          <a:schemeClr val="accent1"/>
                        </a:solidFill>
                        <a:ea typeface="Cambria Math" panose="02040503050406030204" pitchFamily="18" charset="0"/>
                      </a:rPr>
                      <m:t>)</m:t>
                    </m:r>
                  </m:oMath>
                </a14:m>
                <a:r>
                  <a:rPr lang="en-NL" sz="2400" b="1" dirty="0">
                    <a:solidFill>
                      <a:schemeClr val="accent1"/>
                    </a:solidFill>
                  </a:rPr>
                  <a:t>?</a:t>
                </a:r>
              </a:p>
            </p:txBody>
          </p:sp>
        </mc:Choice>
        <mc:Fallback>
          <p:sp>
            <p:nvSpPr>
              <p:cNvPr id="5" name="TextBox 4">
                <a:extLst>
                  <a:ext uri="{FF2B5EF4-FFF2-40B4-BE49-F238E27FC236}">
                    <a16:creationId xmlns:a16="http://schemas.microsoft.com/office/drawing/2014/main" id="{2FBD39B1-2880-0F9E-D621-F559BF8EF617}"/>
                  </a:ext>
                </a:extLst>
              </p:cNvPr>
              <p:cNvSpPr txBox="1">
                <a:spLocks noRot="1" noChangeAspect="1" noMove="1" noResize="1" noEditPoints="1" noAdjustHandles="1" noChangeArrowheads="1" noChangeShapeType="1" noTextEdit="1"/>
              </p:cNvSpPr>
              <p:nvPr/>
            </p:nvSpPr>
            <p:spPr>
              <a:xfrm>
                <a:off x="7540976" y="5243411"/>
                <a:ext cx="4041424" cy="1200329"/>
              </a:xfrm>
              <a:prstGeom prst="rect">
                <a:avLst/>
              </a:prstGeom>
              <a:blipFill>
                <a:blip r:embed="rId5"/>
                <a:stretch>
                  <a:fillRect l="-1875" t="-4167" r="-3438" b="-10417"/>
                </a:stretch>
              </a:blipFill>
            </p:spPr>
            <p:txBody>
              <a:bodyPr/>
              <a:lstStyle/>
              <a:p>
                <a:r>
                  <a:rPr lang="en-NL">
                    <a:noFill/>
                  </a:rPr>
                  <a:t> </a:t>
                </a:r>
              </a:p>
            </p:txBody>
          </p:sp>
        </mc:Fallback>
      </mc:AlternateContent>
    </p:spTree>
    <p:extLst>
      <p:ext uri="{BB962C8B-B14F-4D97-AF65-F5344CB8AC3E}">
        <p14:creationId xmlns:p14="http://schemas.microsoft.com/office/powerpoint/2010/main" val="9100161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7DDE9-3997-3AC8-644F-C70FE321AE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142482-B29A-7AEC-5924-25419F308DB3}"/>
              </a:ext>
            </a:extLst>
          </p:cNvPr>
          <p:cNvSpPr>
            <a:spLocks noGrp="1"/>
          </p:cNvSpPr>
          <p:nvPr>
            <p:ph type="title"/>
          </p:nvPr>
        </p:nvSpPr>
        <p:spPr/>
        <p:txBody>
          <a:bodyPr/>
          <a:lstStyle/>
          <a:p>
            <a:r>
              <a:rPr lang="en-NL" dirty="0"/>
              <a:t>But what if my data is </a:t>
            </a:r>
            <a:r>
              <a:rPr lang="en-NL" dirty="0">
                <a:solidFill>
                  <a:schemeClr val="accent1"/>
                </a:solidFill>
              </a:rPr>
              <a:t>limited</a:t>
            </a:r>
            <a:r>
              <a:rPr lang="en-NL" dirty="0"/>
              <a: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A1492F2-C0FB-7C1D-D6F4-E6D65843A026}"/>
                  </a:ext>
                </a:extLst>
              </p:cNvPr>
              <p:cNvSpPr>
                <a:spLocks noGrp="1"/>
              </p:cNvSpPr>
              <p:nvPr>
                <p:ph idx="1"/>
              </p:nvPr>
            </p:nvSpPr>
            <p:spPr/>
            <p:txBody>
              <a:bodyPr/>
              <a:lstStyle/>
              <a:p>
                <a:r>
                  <a:rPr lang="en-US" sz="3600" dirty="0"/>
                  <a:t>When trying to estimate the standard error for a small dataset, we need to estimate the standard deviation, which can have more error (farther from population parameter) as a result.</a:t>
                </a:r>
                <a:br>
                  <a:rPr lang="en-US" sz="3600" dirty="0"/>
                </a:br>
                <a:endParaRPr lang="en-US" sz="3600" dirty="0"/>
              </a:p>
              <a:p>
                <a:r>
                  <a:rPr lang="en-US" sz="3600" dirty="0"/>
                  <a:t>To make up for this, rather than use a z-score </a:t>
                </a:r>
                <a14:m>
                  <m:oMath xmlns:m="http://schemas.openxmlformats.org/officeDocument/2006/math">
                    <m:r>
                      <a:rPr lang="en-US" sz="3600" i="1">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𝑧</m:t>
                        </m:r>
                      </m:e>
                      <m:sub>
                        <m:f>
                          <m:fPr>
                            <m:ctrlPr>
                              <a:rPr lang="en-US" sz="3600" i="1">
                                <a:latin typeface="Cambria Math" panose="02040503050406030204" pitchFamily="18" charset="0"/>
                              </a:rPr>
                            </m:ctrlPr>
                          </m:fPr>
                          <m:num>
                            <m:r>
                              <a:rPr lang="en-US" sz="3600" i="1">
                                <a:latin typeface="Cambria Math" panose="02040503050406030204" pitchFamily="18" charset="0"/>
                              </a:rPr>
                              <m:t>𝛼</m:t>
                            </m:r>
                          </m:num>
                          <m:den>
                            <m:r>
                              <a:rPr lang="en-US" sz="3600" i="1">
                                <a:latin typeface="Cambria Math" panose="02040503050406030204" pitchFamily="18" charset="0"/>
                              </a:rPr>
                              <m:t>2</m:t>
                            </m:r>
                          </m:den>
                        </m:f>
                      </m:sub>
                    </m:sSub>
                    <m:r>
                      <a:rPr lang="en-US" sz="3600" i="1">
                        <a:latin typeface="Cambria Math" panose="02040503050406030204" pitchFamily="18" charset="0"/>
                      </a:rPr>
                      <m:t>)</m:t>
                    </m:r>
                  </m:oMath>
                </a14:m>
                <a:r>
                  <a:rPr lang="en-US" sz="3600" dirty="0"/>
                  <a:t> we instead use a </a:t>
                </a:r>
                <a:r>
                  <a:rPr lang="en-US" sz="3600" b="1" dirty="0"/>
                  <a:t>t-score</a:t>
                </a:r>
                <a:r>
                  <a:rPr lang="en-US" sz="3600" dirty="0"/>
                  <a:t> that comes from a bell-like distribution with thicker tails.</a:t>
                </a:r>
              </a:p>
            </p:txBody>
          </p:sp>
        </mc:Choice>
        <mc:Fallback>
          <p:sp>
            <p:nvSpPr>
              <p:cNvPr id="3" name="Content Placeholder 2">
                <a:extLst>
                  <a:ext uri="{FF2B5EF4-FFF2-40B4-BE49-F238E27FC236}">
                    <a16:creationId xmlns:a16="http://schemas.microsoft.com/office/drawing/2014/main" id="{3A1492F2-C0FB-7C1D-D6F4-E6D65843A026}"/>
                  </a:ext>
                </a:extLst>
              </p:cNvPr>
              <p:cNvSpPr>
                <a:spLocks noGrp="1" noRot="1" noChangeAspect="1" noMove="1" noResize="1" noEditPoints="1" noAdjustHandles="1" noChangeArrowheads="1" noChangeShapeType="1" noTextEdit="1"/>
              </p:cNvSpPr>
              <p:nvPr>
                <p:ph idx="1"/>
              </p:nvPr>
            </p:nvSpPr>
            <p:spPr>
              <a:blipFill>
                <a:blip r:embed="rId3"/>
                <a:stretch>
                  <a:fillRect l="-2283" t="-3134" b="-9402"/>
                </a:stretch>
              </a:blipFill>
            </p:spPr>
            <p:txBody>
              <a:bodyPr/>
              <a:lstStyle/>
              <a:p>
                <a:r>
                  <a:rPr lang="en-NL">
                    <a:noFill/>
                  </a:rPr>
                  <a:t> </a:t>
                </a:r>
              </a:p>
            </p:txBody>
          </p:sp>
        </mc:Fallback>
      </mc:AlternateContent>
    </p:spTree>
    <p:extLst>
      <p:ext uri="{BB962C8B-B14F-4D97-AF65-F5344CB8AC3E}">
        <p14:creationId xmlns:p14="http://schemas.microsoft.com/office/powerpoint/2010/main" val="16778881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D3C6D32-E7F8-BBCE-D285-213FCDB294D7}"/>
              </a:ext>
            </a:extLst>
          </p:cNvPr>
          <p:cNvSpPr/>
          <p:nvPr/>
        </p:nvSpPr>
        <p:spPr>
          <a:xfrm>
            <a:off x="3148314" y="4815068"/>
            <a:ext cx="5949387" cy="717631"/>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
        <p:nvSpPr>
          <p:cNvPr id="2" name="Title 1">
            <a:extLst>
              <a:ext uri="{FF2B5EF4-FFF2-40B4-BE49-F238E27FC236}">
                <a16:creationId xmlns:a16="http://schemas.microsoft.com/office/drawing/2014/main" id="{5F3DEAEC-AF45-0308-3877-DE5A46FB1EEE}"/>
              </a:ext>
            </a:extLst>
          </p:cNvPr>
          <p:cNvSpPr>
            <a:spLocks noGrp="1"/>
          </p:cNvSpPr>
          <p:nvPr>
            <p:ph type="title"/>
          </p:nvPr>
        </p:nvSpPr>
        <p:spPr/>
        <p:txBody>
          <a:bodyPr/>
          <a:lstStyle/>
          <a:p>
            <a:r>
              <a:rPr lang="en-GB" dirty="0"/>
              <a:t>T</a:t>
            </a:r>
            <a:r>
              <a:rPr lang="en-NL" dirty="0"/>
              <a:t>-distribution &amp; William Gossett</a:t>
            </a:r>
          </a:p>
        </p:txBody>
      </p:sp>
      <p:sp>
        <p:nvSpPr>
          <p:cNvPr id="3" name="Content Placeholder 2">
            <a:extLst>
              <a:ext uri="{FF2B5EF4-FFF2-40B4-BE49-F238E27FC236}">
                <a16:creationId xmlns:a16="http://schemas.microsoft.com/office/drawing/2014/main" id="{F38A13C8-5872-10DB-BE0A-BEE3DCCEF5E9}"/>
              </a:ext>
            </a:extLst>
          </p:cNvPr>
          <p:cNvSpPr>
            <a:spLocks noGrp="1"/>
          </p:cNvSpPr>
          <p:nvPr>
            <p:ph idx="1"/>
          </p:nvPr>
        </p:nvSpPr>
        <p:spPr/>
        <p:txBody>
          <a:bodyPr/>
          <a:lstStyle/>
          <a:p>
            <a:pPr marL="0" indent="0" algn="ctr">
              <a:buNone/>
            </a:pPr>
            <a:r>
              <a:rPr lang="en-US" sz="2400" dirty="0"/>
              <a:t>Every morning at a Guinness factory, William Gossett took a tiny scoop from a giant vat of fermenting beer, ran three or four chemical tests, and – based on those handful of observations – had to decide whether the </a:t>
            </a:r>
            <a:r>
              <a:rPr lang="en-US" sz="2400" b="1" dirty="0"/>
              <a:t>entire batch </a:t>
            </a:r>
            <a:r>
              <a:rPr lang="en-US" sz="2400" dirty="0"/>
              <a:t>would become world-class beer or waste.</a:t>
            </a:r>
          </a:p>
          <a:p>
            <a:pPr marL="0" indent="0" algn="ctr">
              <a:buNone/>
            </a:pPr>
            <a:endParaRPr lang="en-US" sz="2400" dirty="0"/>
          </a:p>
          <a:p>
            <a:pPr algn="ctr">
              <a:buNone/>
            </a:pPr>
            <a:r>
              <a:rPr lang="en-US" sz="2400" dirty="0">
                <a:solidFill>
                  <a:schemeClr val="accent1"/>
                </a:solidFill>
              </a:rPr>
              <a:t>Why only a few measurements?</a:t>
            </a:r>
          </a:p>
          <a:p>
            <a:pPr algn="ctr">
              <a:buFont typeface="Arial" panose="020B0604020202020204" pitchFamily="34" charset="0"/>
              <a:buChar char="•"/>
            </a:pPr>
            <a:r>
              <a:rPr lang="en-US" sz="2400" dirty="0"/>
              <a:t>Each test destroyed the sample.</a:t>
            </a:r>
          </a:p>
          <a:p>
            <a:pPr algn="ctr">
              <a:buFont typeface="Arial" panose="020B0604020202020204" pitchFamily="34" charset="0"/>
              <a:buChar char="•"/>
            </a:pPr>
            <a:r>
              <a:rPr lang="en-US" sz="2400" dirty="0"/>
              <a:t>Results were needed quickly, before the batch spoiled.</a:t>
            </a:r>
          </a:p>
          <a:p>
            <a:pPr algn="ctr">
              <a:buFont typeface="Arial" panose="020B0604020202020204" pitchFamily="34" charset="0"/>
              <a:buChar char="•"/>
            </a:pPr>
            <a:r>
              <a:rPr lang="en-US" sz="2400" dirty="0"/>
              <a:t>One test took a whole day to run.</a:t>
            </a:r>
          </a:p>
          <a:p>
            <a:pPr marL="0" indent="0" algn="ctr">
              <a:buNone/>
            </a:pPr>
            <a:endParaRPr lang="en-US" sz="2400" dirty="0"/>
          </a:p>
          <a:p>
            <a:pPr marL="0" indent="0" algn="ctr">
              <a:buNone/>
            </a:pPr>
            <a:r>
              <a:rPr lang="en-US" sz="2400" b="1" dirty="0"/>
              <a:t>How reliable is a decision when </a:t>
            </a:r>
            <a:r>
              <a:rPr lang="en-US" sz="2400" b="1" i="1" dirty="0"/>
              <a:t>n</a:t>
            </a:r>
            <a:r>
              <a:rPr lang="en-US" sz="2400" b="1" dirty="0"/>
              <a:t> = 3 or 4?</a:t>
            </a:r>
          </a:p>
          <a:p>
            <a:pPr marL="0" indent="0" algn="ctr">
              <a:buNone/>
            </a:pPr>
            <a:endParaRPr lang="en-US" sz="2400" dirty="0"/>
          </a:p>
          <a:p>
            <a:pPr marL="0" indent="0">
              <a:buNone/>
            </a:pPr>
            <a:endParaRPr lang="en-NL" dirty="0"/>
          </a:p>
        </p:txBody>
      </p:sp>
      <p:pic>
        <p:nvPicPr>
          <p:cNvPr id="16386" name="Picture 2">
            <a:extLst>
              <a:ext uri="{FF2B5EF4-FFF2-40B4-BE49-F238E27FC236}">
                <a16:creationId xmlns:a16="http://schemas.microsoft.com/office/drawing/2014/main" id="{EFD90D05-A62A-12A1-6F35-1F62905669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42557" y="3131205"/>
            <a:ext cx="1788128" cy="23031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196662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972F0-6225-5EAC-B33F-28EA81486841}"/>
              </a:ext>
            </a:extLst>
          </p:cNvPr>
          <p:cNvSpPr>
            <a:spLocks noGrp="1"/>
          </p:cNvSpPr>
          <p:nvPr>
            <p:ph type="title"/>
          </p:nvPr>
        </p:nvSpPr>
        <p:spPr/>
        <p:txBody>
          <a:bodyPr/>
          <a:lstStyle/>
          <a:p>
            <a:r>
              <a:rPr lang="en-GB" dirty="0"/>
              <a:t>T</a:t>
            </a:r>
            <a:r>
              <a:rPr lang="en-NL" dirty="0"/>
              <a:t>-distribution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88F22E4-0CBD-07A3-DB82-D480AA9AB9C4}"/>
                  </a:ext>
                </a:extLst>
              </p:cNvPr>
              <p:cNvSpPr>
                <a:spLocks noGrp="1"/>
              </p:cNvSpPr>
              <p:nvPr>
                <p:ph idx="1"/>
              </p:nvPr>
            </p:nvSpPr>
            <p:spPr/>
            <p:txBody>
              <a:bodyPr/>
              <a:lstStyle/>
              <a:p>
                <a:r>
                  <a:rPr lang="en-US" sz="3200" dirty="0"/>
                  <a:t>For n = 3 or 4, the normal distribution is a very poor approximation to the sampling distribution to the mean.</a:t>
                </a:r>
                <a:br>
                  <a:rPr lang="en-US" sz="3200" dirty="0"/>
                </a:br>
                <a:endParaRPr lang="en-US" sz="3200" dirty="0"/>
              </a:p>
              <a:p>
                <a:r>
                  <a:rPr lang="en-US" sz="3200" dirty="0"/>
                  <a:t>Gossett derived the true distribution when we want to estimate:</a:t>
                </a:r>
              </a:p>
              <a:p>
                <a:pPr marL="0" indent="0">
                  <a:buNone/>
                </a:pPr>
                <a:r>
                  <a:rPr lang="en-US" sz="3200" dirty="0"/>
                  <a:t>							</a:t>
                </a:r>
                <a14:m>
                  <m:oMath xmlns:m="http://schemas.openxmlformats.org/officeDocument/2006/math">
                    <m:r>
                      <a:rPr lang="en-US" sz="3200" i="1">
                        <a:latin typeface="Cambria Math" panose="02040503050406030204" pitchFamily="18" charset="0"/>
                      </a:rPr>
                      <m:t>𝑇</m:t>
                    </m:r>
                    <m:r>
                      <a:rPr lang="en-US" sz="3200" i="1">
                        <a:latin typeface="Cambria Math" panose="02040503050406030204" pitchFamily="18" charset="0"/>
                      </a:rPr>
                      <m:t>=</m:t>
                    </m:r>
                    <m:f>
                      <m:fPr>
                        <m:ctrlPr>
                          <a:rPr lang="en-US" sz="3200" i="1">
                            <a:latin typeface="Cambria Math" panose="02040503050406030204" pitchFamily="18" charset="0"/>
                          </a:rPr>
                        </m:ctrlPr>
                      </m:fPr>
                      <m:num>
                        <m:acc>
                          <m:accPr>
                            <m:chr m:val="̅"/>
                            <m:ctrlPr>
                              <a:rPr lang="en-US" sz="3200" i="1">
                                <a:latin typeface="Cambria Math" panose="02040503050406030204" pitchFamily="18" charset="0"/>
                              </a:rPr>
                            </m:ctrlPr>
                          </m:accPr>
                          <m:e>
                            <m:r>
                              <a:rPr lang="en-US" sz="3200" i="1">
                                <a:latin typeface="Cambria Math" panose="02040503050406030204" pitchFamily="18" charset="0"/>
                              </a:rPr>
                              <m:t>𝑥</m:t>
                            </m:r>
                          </m:e>
                        </m:acc>
                        <m:r>
                          <a:rPr lang="en-US" sz="3200" i="1">
                            <a:latin typeface="Cambria Math" panose="02040503050406030204" pitchFamily="18" charset="0"/>
                          </a:rPr>
                          <m:t> −</m:t>
                        </m:r>
                        <m:r>
                          <a:rPr lang="en-US" sz="3200" i="1">
                            <a:latin typeface="Cambria Math" panose="02040503050406030204" pitchFamily="18" charset="0"/>
                          </a:rPr>
                          <m:t>𝜇</m:t>
                        </m:r>
                      </m:num>
                      <m:den>
                        <m:f>
                          <m:fPr>
                            <m:ctrlPr>
                              <a:rPr lang="en-US" sz="3200" i="1">
                                <a:latin typeface="Cambria Math" panose="02040503050406030204" pitchFamily="18" charset="0"/>
                              </a:rPr>
                            </m:ctrlPr>
                          </m:fPr>
                          <m:num>
                            <m:r>
                              <a:rPr lang="en-US" sz="3200" i="1">
                                <a:latin typeface="Cambria Math" panose="02040503050406030204" pitchFamily="18" charset="0"/>
                              </a:rPr>
                              <m:t>𝑆</m:t>
                            </m:r>
                          </m:num>
                          <m:den>
                            <m:rad>
                              <m:radPr>
                                <m:degHide m:val="on"/>
                                <m:ctrlPr>
                                  <a:rPr lang="en-US" sz="3200" i="1">
                                    <a:latin typeface="Cambria Math" panose="02040503050406030204" pitchFamily="18" charset="0"/>
                                  </a:rPr>
                                </m:ctrlPr>
                              </m:radPr>
                              <m:deg/>
                              <m:e>
                                <m:r>
                                  <a:rPr lang="en-US" sz="3200" i="1">
                                    <a:latin typeface="Cambria Math" panose="02040503050406030204" pitchFamily="18" charset="0"/>
                                  </a:rPr>
                                  <m:t>𝑛</m:t>
                                </m:r>
                              </m:e>
                            </m:rad>
                          </m:den>
                        </m:f>
                      </m:den>
                    </m:f>
                  </m:oMath>
                </a14:m>
                <a:r>
                  <a:rPr lang="en-US" sz="3200" dirty="0"/>
                  <a:t> </a:t>
                </a:r>
              </a:p>
              <a:p>
                <a:pPr marL="0" indent="0">
                  <a:buNone/>
                </a:pPr>
                <a:r>
                  <a:rPr lang="en-US" sz="2800" dirty="0"/>
                  <a:t>	which is appropriate when we need to estimate both the mean and the standard deviation for small samples.</a:t>
                </a:r>
                <a:endParaRPr lang="en-US" sz="3200" dirty="0"/>
              </a:p>
              <a:p>
                <a:endParaRPr lang="en-NL" sz="3200" dirty="0"/>
              </a:p>
            </p:txBody>
          </p:sp>
        </mc:Choice>
        <mc:Fallback>
          <p:sp>
            <p:nvSpPr>
              <p:cNvPr id="3" name="Content Placeholder 2">
                <a:extLst>
                  <a:ext uri="{FF2B5EF4-FFF2-40B4-BE49-F238E27FC236}">
                    <a16:creationId xmlns:a16="http://schemas.microsoft.com/office/drawing/2014/main" id="{988F22E4-0CBD-07A3-DB82-D480AA9AB9C4}"/>
                  </a:ext>
                </a:extLst>
              </p:cNvPr>
              <p:cNvSpPr>
                <a:spLocks noGrp="1" noRot="1" noChangeAspect="1" noMove="1" noResize="1" noEditPoints="1" noAdjustHandles="1" noChangeArrowheads="1" noChangeShapeType="1" noTextEdit="1"/>
              </p:cNvSpPr>
              <p:nvPr>
                <p:ph idx="1"/>
              </p:nvPr>
            </p:nvSpPr>
            <p:spPr>
              <a:blipFill>
                <a:blip r:embed="rId2"/>
                <a:stretch>
                  <a:fillRect l="-2055" t="-2849" r="-1941"/>
                </a:stretch>
              </a:blipFill>
            </p:spPr>
            <p:txBody>
              <a:bodyPr/>
              <a:lstStyle/>
              <a:p>
                <a:r>
                  <a:rPr lang="en-NL">
                    <a:noFill/>
                  </a:rPr>
                  <a:t> </a:t>
                </a:r>
              </a:p>
            </p:txBody>
          </p:sp>
        </mc:Fallback>
      </mc:AlternateContent>
    </p:spTree>
    <p:extLst>
      <p:ext uri="{BB962C8B-B14F-4D97-AF65-F5344CB8AC3E}">
        <p14:creationId xmlns:p14="http://schemas.microsoft.com/office/powerpoint/2010/main" val="111453592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DD7A4-04CA-AE36-3A85-D5A1573F7D23}"/>
              </a:ext>
            </a:extLst>
          </p:cNvPr>
          <p:cNvSpPr>
            <a:spLocks noGrp="1"/>
          </p:cNvSpPr>
          <p:nvPr>
            <p:ph type="title"/>
          </p:nvPr>
        </p:nvSpPr>
        <p:spPr/>
        <p:txBody>
          <a:bodyPr/>
          <a:lstStyle/>
          <a:p>
            <a:r>
              <a:rPr lang="en-US" dirty="0"/>
              <a:t>t-Distribution</a:t>
            </a:r>
          </a:p>
        </p:txBody>
      </p:sp>
      <p:sp>
        <p:nvSpPr>
          <p:cNvPr id="3" name="Content Placeholder 2">
            <a:extLst>
              <a:ext uri="{FF2B5EF4-FFF2-40B4-BE49-F238E27FC236}">
                <a16:creationId xmlns:a16="http://schemas.microsoft.com/office/drawing/2014/main" id="{5769978E-1362-0747-04DE-775727BF4614}"/>
              </a:ext>
            </a:extLst>
          </p:cNvPr>
          <p:cNvSpPr>
            <a:spLocks noGrp="1"/>
          </p:cNvSpPr>
          <p:nvPr>
            <p:ph idx="1"/>
          </p:nvPr>
        </p:nvSpPr>
        <p:spPr/>
        <p:txBody>
          <a:bodyPr/>
          <a:lstStyle/>
          <a:p>
            <a:r>
              <a:rPr lang="en-US" sz="3600" dirty="0"/>
              <a:t>A common Guinness conundrum: </a:t>
            </a:r>
            <a:br>
              <a:rPr lang="en-US" sz="3600" dirty="0"/>
            </a:br>
            <a:r>
              <a:rPr lang="en-US" sz="3600" dirty="0"/>
              <a:t>Reject a 100-barrel brew if any stain of acid above 1.8 g L⁻¹ in three tests.</a:t>
            </a:r>
          </a:p>
          <a:p>
            <a:r>
              <a:rPr lang="en-US" sz="3600" dirty="0"/>
              <a:t>Using the normal z-score of 1.96 ended up </a:t>
            </a:r>
            <a:r>
              <a:rPr lang="en-US" sz="3600" b="1" dirty="0"/>
              <a:t>scrapping 10% of perfectly fine vats </a:t>
            </a:r>
            <a:r>
              <a:rPr lang="en-US" sz="3600" dirty="0"/>
              <a:t>(the good value was outside the confidence interval).</a:t>
            </a:r>
          </a:p>
          <a:p>
            <a:r>
              <a:rPr lang="en-US" sz="3600" dirty="0"/>
              <a:t>But the t-Distribution critical value of 4.30 ensured that </a:t>
            </a:r>
            <a:r>
              <a:rPr lang="en-US" sz="3600" b="1" dirty="0"/>
              <a:t>false alarms were limited to only 5%.</a:t>
            </a:r>
          </a:p>
        </p:txBody>
      </p:sp>
    </p:spTree>
    <p:extLst>
      <p:ext uri="{BB962C8B-B14F-4D97-AF65-F5344CB8AC3E}">
        <p14:creationId xmlns:p14="http://schemas.microsoft.com/office/powerpoint/2010/main" val="198509699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FE7E0-13D8-FD22-254C-A9B4991FD665}"/>
              </a:ext>
            </a:extLst>
          </p:cNvPr>
          <p:cNvSpPr>
            <a:spLocks noGrp="1"/>
          </p:cNvSpPr>
          <p:nvPr>
            <p:ph type="title"/>
          </p:nvPr>
        </p:nvSpPr>
        <p:spPr/>
        <p:txBody>
          <a:bodyPr/>
          <a:lstStyle/>
          <a:p>
            <a:r>
              <a:rPr lang="en-US" dirty="0"/>
              <a:t>t-Distribution Definition</a:t>
            </a:r>
          </a:p>
        </p:txBody>
      </p:sp>
      <p:sp>
        <p:nvSpPr>
          <p:cNvPr id="3" name="Content Placeholder 2">
            <a:extLst>
              <a:ext uri="{FF2B5EF4-FFF2-40B4-BE49-F238E27FC236}">
                <a16:creationId xmlns:a16="http://schemas.microsoft.com/office/drawing/2014/main" id="{31FDC19E-E62E-7988-DCC1-5775BCA69A96}"/>
              </a:ext>
            </a:extLst>
          </p:cNvPr>
          <p:cNvSpPr>
            <a:spLocks noGrp="1"/>
          </p:cNvSpPr>
          <p:nvPr>
            <p:ph idx="1"/>
          </p:nvPr>
        </p:nvSpPr>
        <p:spPr/>
        <p:txBody>
          <a:bodyPr/>
          <a:lstStyle/>
          <a:p>
            <a:endParaRPr lang="en-US"/>
          </a:p>
        </p:txBody>
      </p:sp>
      <mc:AlternateContent xmlns:mc="http://schemas.openxmlformats.org/markup-compatibility/2006" xmlns:a14="http://schemas.microsoft.com/office/drawing/2010/main">
        <mc:Choice Requires="a14">
          <p:graphicFrame>
            <p:nvGraphicFramePr>
              <p:cNvPr id="4" name="Content Placeholder 5">
                <a:extLst>
                  <a:ext uri="{FF2B5EF4-FFF2-40B4-BE49-F238E27FC236}">
                    <a16:creationId xmlns:a16="http://schemas.microsoft.com/office/drawing/2014/main" id="{0FFF14AF-149B-ECB3-9115-AC37DF86DF2B}"/>
                  </a:ext>
                </a:extLst>
              </p:cNvPr>
              <p:cNvGraphicFramePr>
                <a:graphicFrameLocks/>
              </p:cNvGraphicFramePr>
              <p:nvPr/>
            </p:nvGraphicFramePr>
            <p:xfrm>
              <a:off x="480000" y="1347993"/>
              <a:ext cx="11101917" cy="4516120"/>
            </p:xfrm>
            <a:graphic>
              <a:graphicData uri="http://schemas.openxmlformats.org/drawingml/2006/table">
                <a:tbl>
                  <a:tblPr firstRow="1" bandRow="1">
                    <a:tableStyleId>{5C22544A-7EE6-4342-B048-85BDC9FD1C3A}</a:tableStyleId>
                  </a:tblPr>
                  <a:tblGrid>
                    <a:gridCol w="11101917">
                      <a:extLst>
                        <a:ext uri="{9D8B030D-6E8A-4147-A177-3AD203B41FA5}">
                          <a16:colId xmlns:a16="http://schemas.microsoft.com/office/drawing/2014/main" val="2806566759"/>
                        </a:ext>
                      </a:extLst>
                    </a:gridCol>
                  </a:tblGrid>
                  <a:tr h="690880">
                    <a:tc>
                      <a:txBody>
                        <a:bodyPr/>
                        <a:lstStyle/>
                        <a:p>
                          <a:r>
                            <a:rPr lang="en-US" sz="3700" dirty="0"/>
                            <a:t>t-Distribution</a:t>
                          </a:r>
                        </a:p>
                      </a:txBody>
                      <a:tcPr marL="121920" marR="121920" marT="60960" marB="60960"/>
                    </a:tc>
                    <a:extLst>
                      <a:ext uri="{0D108BD9-81ED-4DB2-BD59-A6C34878D82A}">
                        <a16:rowId xmlns:a16="http://schemas.microsoft.com/office/drawing/2014/main" val="4282699494"/>
                      </a:ext>
                    </a:extLst>
                  </a:tr>
                  <a:tr h="2247647">
                    <a:tc>
                      <a:txBody>
                        <a:bodyPr/>
                        <a:lstStyle/>
                        <a:p>
                          <a:pPr marL="457200" indent="-457200">
                            <a:buFont typeface="Arial" panose="020B0604020202020204" pitchFamily="34" charset="0"/>
                            <a:buChar char="•"/>
                          </a:pPr>
                          <a:r>
                            <a:rPr lang="en-US" sz="2700" baseline="0" dirty="0"/>
                            <a:t>t- Distribution is bell-shaped and for a mean of 0, is symmetric about 0.</a:t>
                          </a:r>
                        </a:p>
                        <a:p>
                          <a:pPr marL="457200" indent="-457200">
                            <a:buFont typeface="Arial" panose="020B0604020202020204" pitchFamily="34" charset="0"/>
                            <a:buChar char="•"/>
                          </a:pPr>
                          <a:r>
                            <a:rPr lang="en-US" sz="2700" baseline="0" dirty="0"/>
                            <a:t>Probability depends on the number of samples which guides the degrees of freedom (</a:t>
                          </a:r>
                          <a:r>
                            <a:rPr lang="en-US" sz="2700" baseline="0" dirty="0" err="1"/>
                            <a:t>df</a:t>
                          </a:r>
                          <a:r>
                            <a:rPr lang="en-US" sz="2700" baseline="0" dirty="0"/>
                            <a:t> = samples -1) of the distribution.</a:t>
                          </a:r>
                        </a:p>
                        <a:p>
                          <a:pPr marL="457200" indent="-457200">
                            <a:buFont typeface="Arial" panose="020B0604020202020204" pitchFamily="34" charset="0"/>
                            <a:buChar char="•"/>
                          </a:pPr>
                          <a:r>
                            <a:rPr lang="en-US" sz="2700" baseline="0" dirty="0"/>
                            <a:t>Has thicker tails and more variability as a result than the normal.</a:t>
                          </a:r>
                        </a:p>
                        <a:p>
                          <a:pPr marL="457200" indent="-457200">
                            <a:buFont typeface="Arial" panose="020B0604020202020204" pitchFamily="34" charset="0"/>
                            <a:buChar char="•"/>
                          </a:pPr>
                          <a:r>
                            <a:rPr lang="en-US" sz="2700" baseline="0" dirty="0"/>
                            <a:t>Can get a better sense for confidence in smaller samples, that is, we can be more sure our sample parameter estimate and interval captures the population parameter estimate using the </a:t>
                          </a:r>
                          <a14:m>
                            <m:oMath xmlns:m="http://schemas.openxmlformats.org/officeDocument/2006/math">
                              <m:r>
                                <a:rPr lang="en-US" sz="2700" b="0" i="1" baseline="0" smtClean="0">
                                  <a:latin typeface="Cambria Math" panose="02040503050406030204" pitchFamily="18" charset="0"/>
                                </a:rPr>
                                <m:t>𝑡</m:t>
                              </m:r>
                              <m:r>
                                <a:rPr lang="en-US" sz="2700" b="0" i="1" baseline="0" smtClean="0">
                                  <a:latin typeface="Cambria Math" panose="02040503050406030204" pitchFamily="18" charset="0"/>
                                </a:rPr>
                                <m:t>−</m:t>
                              </m:r>
                              <m:r>
                                <a:rPr lang="en-US" sz="2700" b="0" i="1" baseline="0" smtClean="0">
                                  <a:latin typeface="Cambria Math" panose="02040503050406030204" pitchFamily="18" charset="0"/>
                                </a:rPr>
                                <m:t>𝑠𝑐𝑜𝑟𝑒</m:t>
                              </m:r>
                            </m:oMath>
                          </a14:m>
                          <a:r>
                            <a:rPr lang="en-US" sz="2700" baseline="0" dirty="0"/>
                            <a:t> multiplied by the standard error.</a:t>
                          </a:r>
                        </a:p>
                        <a:p>
                          <a:pPr marL="0" indent="0">
                            <a:buFont typeface="Arial" panose="020B0604020202020204" pitchFamily="34" charset="0"/>
                            <a:buNone/>
                          </a:pPr>
                          <a:endParaRPr lang="en-US" sz="2700" baseline="0" dirty="0"/>
                        </a:p>
                      </a:txBody>
                      <a:tcPr marL="121920" marR="121920" marT="60960" marB="60960"/>
                    </a:tc>
                    <a:extLst>
                      <a:ext uri="{0D108BD9-81ED-4DB2-BD59-A6C34878D82A}">
                        <a16:rowId xmlns:a16="http://schemas.microsoft.com/office/drawing/2014/main" val="2257841623"/>
                      </a:ext>
                    </a:extLst>
                  </a:tr>
                </a:tbl>
              </a:graphicData>
            </a:graphic>
          </p:graphicFrame>
        </mc:Choice>
        <mc:Fallback xmlns="">
          <p:graphicFrame>
            <p:nvGraphicFramePr>
              <p:cNvPr id="4" name="Content Placeholder 5">
                <a:extLst>
                  <a:ext uri="{FF2B5EF4-FFF2-40B4-BE49-F238E27FC236}">
                    <a16:creationId xmlns:a16="http://schemas.microsoft.com/office/drawing/2014/main" id="{0FFF14AF-149B-ECB3-9115-AC37DF86DF2B}"/>
                  </a:ext>
                </a:extLst>
              </p:cNvPr>
              <p:cNvGraphicFramePr>
                <a:graphicFrameLocks/>
              </p:cNvGraphicFramePr>
              <p:nvPr>
                <p:extLst>
                  <p:ext uri="{D42A27DB-BD31-4B8C-83A1-F6EECF244321}">
                    <p14:modId xmlns:p14="http://schemas.microsoft.com/office/powerpoint/2010/main" val="2144205628"/>
                  </p:ext>
                </p:extLst>
              </p:nvPr>
            </p:nvGraphicFramePr>
            <p:xfrm>
              <a:off x="480000" y="1347993"/>
              <a:ext cx="11101917" cy="4516120"/>
            </p:xfrm>
            <a:graphic>
              <a:graphicData uri="http://schemas.openxmlformats.org/drawingml/2006/table">
                <a:tbl>
                  <a:tblPr firstRow="1" bandRow="1">
                    <a:tableStyleId>{5C22544A-7EE6-4342-B048-85BDC9FD1C3A}</a:tableStyleId>
                  </a:tblPr>
                  <a:tblGrid>
                    <a:gridCol w="11101917">
                      <a:extLst>
                        <a:ext uri="{9D8B030D-6E8A-4147-A177-3AD203B41FA5}">
                          <a16:colId xmlns:a16="http://schemas.microsoft.com/office/drawing/2014/main" val="2806566759"/>
                        </a:ext>
                      </a:extLst>
                    </a:gridCol>
                  </a:tblGrid>
                  <a:tr h="690880">
                    <a:tc>
                      <a:txBody>
                        <a:bodyPr/>
                        <a:lstStyle/>
                        <a:p>
                          <a:r>
                            <a:rPr lang="en-US" sz="3700" dirty="0"/>
                            <a:t>t-Distribution</a:t>
                          </a:r>
                        </a:p>
                      </a:txBody>
                      <a:tcPr marL="121920" marR="121920" marT="60960" marB="60960"/>
                    </a:tc>
                    <a:extLst>
                      <a:ext uri="{0D108BD9-81ED-4DB2-BD59-A6C34878D82A}">
                        <a16:rowId xmlns:a16="http://schemas.microsoft.com/office/drawing/2014/main" val="4282699494"/>
                      </a:ext>
                    </a:extLst>
                  </a:tr>
                  <a:tr h="3825240">
                    <a:tc>
                      <a:txBody>
                        <a:bodyPr/>
                        <a:lstStyle/>
                        <a:p>
                          <a:endParaRPr lang="en-US"/>
                        </a:p>
                      </a:txBody>
                      <a:tcPr marL="121920" marR="121920" marT="60960" marB="60960">
                        <a:blipFill>
                          <a:blip r:embed="rId2"/>
                          <a:stretch>
                            <a:fillRect l="-114" t="-20199" r="-343" b="-662"/>
                          </a:stretch>
                        </a:blipFill>
                      </a:tcPr>
                    </a:tc>
                    <a:extLst>
                      <a:ext uri="{0D108BD9-81ED-4DB2-BD59-A6C34878D82A}">
                        <a16:rowId xmlns:a16="http://schemas.microsoft.com/office/drawing/2014/main" val="2257841623"/>
                      </a:ext>
                    </a:extLst>
                  </a:tr>
                </a:tbl>
              </a:graphicData>
            </a:graphic>
          </p:graphicFrame>
        </mc:Fallback>
      </mc:AlternateContent>
    </p:spTree>
    <p:extLst>
      <p:ext uri="{BB962C8B-B14F-4D97-AF65-F5344CB8AC3E}">
        <p14:creationId xmlns:p14="http://schemas.microsoft.com/office/powerpoint/2010/main" val="270042291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9A036-614F-B7B9-A8E5-94500011DA64}"/>
              </a:ext>
            </a:extLst>
          </p:cNvPr>
          <p:cNvSpPr>
            <a:spLocks noGrp="1"/>
          </p:cNvSpPr>
          <p:nvPr>
            <p:ph type="title"/>
          </p:nvPr>
        </p:nvSpPr>
        <p:spPr/>
        <p:txBody>
          <a:bodyPr/>
          <a:lstStyle/>
          <a:p>
            <a:r>
              <a:rPr lang="en-GB" dirty="0"/>
              <a:t>T</a:t>
            </a:r>
            <a:r>
              <a:rPr lang="en-NL" dirty="0"/>
              <a:t>-distribution</a:t>
            </a:r>
          </a:p>
        </p:txBody>
      </p:sp>
      <p:pic>
        <p:nvPicPr>
          <p:cNvPr id="4" name="Picture 3">
            <a:extLst>
              <a:ext uri="{FF2B5EF4-FFF2-40B4-BE49-F238E27FC236}">
                <a16:creationId xmlns:a16="http://schemas.microsoft.com/office/drawing/2014/main" id="{055C4BAA-6F9B-3CB6-71FF-A21F8469AF44}"/>
              </a:ext>
            </a:extLst>
          </p:cNvPr>
          <p:cNvPicPr>
            <a:picLocks noChangeAspect="1"/>
          </p:cNvPicPr>
          <p:nvPr/>
        </p:nvPicPr>
        <p:blipFill>
          <a:blip r:embed="rId3"/>
          <a:stretch>
            <a:fillRect/>
          </a:stretch>
        </p:blipFill>
        <p:spPr>
          <a:xfrm>
            <a:off x="304624" y="980134"/>
            <a:ext cx="9070869" cy="5157273"/>
          </a:xfrm>
          <a:prstGeom prst="rect">
            <a:avLst/>
          </a:prstGeom>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9F11DD84-9E1D-5C22-7550-17BDAF1A2598}"/>
                  </a:ext>
                </a:extLst>
              </p:cNvPr>
              <p:cNvSpPr txBox="1"/>
              <p:nvPr/>
            </p:nvSpPr>
            <p:spPr>
              <a:xfrm>
                <a:off x="6377650" y="414260"/>
                <a:ext cx="4317357" cy="3539430"/>
              </a:xfrm>
              <a:prstGeom prst="rect">
                <a:avLst/>
              </a:prstGeom>
              <a:noFill/>
            </p:spPr>
            <p:txBody>
              <a:bodyPr wrap="square" rtlCol="0">
                <a:spAutoFit/>
              </a:bodyPr>
              <a:lstStyle/>
              <a:p>
                <a:pPr algn="ctr"/>
                <a:r>
                  <a:rPr lang="en-NL" sz="2800" dirty="0"/>
                  <a:t>In the t-table, we see that t-value is dependent on: </a:t>
                </a:r>
              </a:p>
              <a:p>
                <a:pPr algn="ctr"/>
                <a:r>
                  <a:rPr lang="en-NL" sz="2800" dirty="0"/>
                  <a:t>1) sample size </a:t>
                </a:r>
              </a:p>
              <a:p>
                <a:pPr algn="ctr"/>
                <a:r>
                  <a:rPr lang="en-NL" sz="2800" dirty="0"/>
                  <a:t>(</a:t>
                </a:r>
                <a:r>
                  <a:rPr lang="en-NL" sz="2800" b="1" dirty="0"/>
                  <a:t>degrees of freedom = </a:t>
                </a:r>
                <a:r>
                  <a:rPr lang="en-NL" sz="2800" b="1" i="1" dirty="0">
                    <a:latin typeface="Cambria Math" panose="02040503050406030204" pitchFamily="18" charset="0"/>
                    <a:ea typeface="Cambria Math" panose="02040503050406030204" pitchFamily="18" charset="0"/>
                  </a:rPr>
                  <a:t>n-1</a:t>
                </a:r>
                <a:r>
                  <a:rPr lang="en-NL" sz="2800" dirty="0">
                    <a:ea typeface="Cambria Math" panose="02040503050406030204" pitchFamily="18" charset="0"/>
                  </a:rPr>
                  <a:t>)</a:t>
                </a:r>
                <a:br>
                  <a:rPr lang="en-NL" sz="2800" dirty="0">
                    <a:ea typeface="Cambria Math" panose="02040503050406030204" pitchFamily="18" charset="0"/>
                  </a:rPr>
                </a:br>
                <a:endParaRPr lang="en-NL" sz="2800" dirty="0">
                  <a:ea typeface="Cambria Math" panose="02040503050406030204" pitchFamily="18" charset="0"/>
                </a:endParaRPr>
              </a:p>
              <a:p>
                <a:pPr algn="ctr"/>
                <a:r>
                  <a:rPr lang="en-NL" sz="2800" dirty="0">
                    <a:ea typeface="Cambria Math" panose="02040503050406030204" pitchFamily="18" charset="0"/>
                  </a:rPr>
                  <a:t>2) </a:t>
                </a:r>
                <a:r>
                  <a:rPr lang="en-GB" sz="2800" dirty="0">
                    <a:ea typeface="Cambria Math" panose="02040503050406030204" pitchFamily="18" charset="0"/>
                  </a:rPr>
                  <a:t>A</a:t>
                </a:r>
                <a:r>
                  <a:rPr lang="en-NL" sz="2800" dirty="0">
                    <a:ea typeface="Cambria Math" panose="02040503050406030204" pitchFamily="18" charset="0"/>
                  </a:rPr>
                  <a:t>lpha</a:t>
                </a:r>
              </a:p>
              <a:p>
                <a:pPr algn="ctr"/>
                <a:r>
                  <a:rPr lang="en-NL" sz="2800" b="1" dirty="0">
                    <a:ea typeface="Cambria Math" panose="02040503050406030204" pitchFamily="18" charset="0"/>
                  </a:rPr>
                  <a:t>95% confidence</a:t>
                </a:r>
                <a:r>
                  <a:rPr lang="en-NL" sz="2800" dirty="0">
                    <a:ea typeface="Cambria Math" panose="02040503050406030204" pitchFamily="18" charset="0"/>
                  </a:rPr>
                  <a:t> -&gt; </a:t>
                </a:r>
              </a:p>
              <a:p>
                <a:pPr algn="ctr"/>
                <a14:m>
                  <m:oMathPara xmlns:m="http://schemas.openxmlformats.org/officeDocument/2006/math">
                    <m:oMathParaPr>
                      <m:jc m:val="centerGroup"/>
                    </m:oMathParaPr>
                    <m:oMath xmlns:m="http://schemas.openxmlformats.org/officeDocument/2006/math">
                      <m:r>
                        <a:rPr lang="en-NL" sz="2800" i="1" smtClean="0">
                          <a:latin typeface="Cambria Math" panose="02040503050406030204" pitchFamily="18" charset="0"/>
                          <a:ea typeface="Cambria Math" panose="02040503050406030204" pitchFamily="18" charset="0"/>
                        </a:rPr>
                        <m:t>𝛼</m:t>
                      </m:r>
                      <m:r>
                        <a:rPr lang="nl-NL" sz="2800" b="0" i="1" smtClean="0">
                          <a:latin typeface="Cambria Math" panose="02040503050406030204" pitchFamily="18" charset="0"/>
                          <a:ea typeface="Cambria Math" panose="02040503050406030204" pitchFamily="18" charset="0"/>
                        </a:rPr>
                        <m:t> = 0.05</m:t>
                      </m:r>
                    </m:oMath>
                  </m:oMathPara>
                </a14:m>
                <a:endParaRPr lang="en-NL" sz="2800" dirty="0">
                  <a:ea typeface="Cambria Math" panose="02040503050406030204" pitchFamily="18" charset="0"/>
                </a:endParaRPr>
              </a:p>
            </p:txBody>
          </p:sp>
        </mc:Choice>
        <mc:Fallback>
          <p:sp>
            <p:nvSpPr>
              <p:cNvPr id="5" name="TextBox 4">
                <a:extLst>
                  <a:ext uri="{FF2B5EF4-FFF2-40B4-BE49-F238E27FC236}">
                    <a16:creationId xmlns:a16="http://schemas.microsoft.com/office/drawing/2014/main" id="{9F11DD84-9E1D-5C22-7550-17BDAF1A2598}"/>
                  </a:ext>
                </a:extLst>
              </p:cNvPr>
              <p:cNvSpPr txBox="1">
                <a:spLocks noRot="1" noChangeAspect="1" noMove="1" noResize="1" noEditPoints="1" noAdjustHandles="1" noChangeArrowheads="1" noChangeShapeType="1" noTextEdit="1"/>
              </p:cNvSpPr>
              <p:nvPr/>
            </p:nvSpPr>
            <p:spPr>
              <a:xfrm>
                <a:off x="6377650" y="414260"/>
                <a:ext cx="4317357" cy="3539430"/>
              </a:xfrm>
              <a:prstGeom prst="rect">
                <a:avLst/>
              </a:prstGeom>
              <a:blipFill>
                <a:blip r:embed="rId4"/>
                <a:stretch>
                  <a:fillRect l="-1471" t="-1786" r="-1765" b="-2143"/>
                </a:stretch>
              </a:blipFill>
            </p:spPr>
            <p:txBody>
              <a:bodyPr/>
              <a:lstStyle/>
              <a:p>
                <a:r>
                  <a:rPr lang="en-NL">
                    <a:noFill/>
                  </a:rPr>
                  <a:t> </a:t>
                </a:r>
              </a:p>
            </p:txBody>
          </p:sp>
        </mc:Fallback>
      </mc:AlternateContent>
    </p:spTree>
    <p:extLst>
      <p:ext uri="{BB962C8B-B14F-4D97-AF65-F5344CB8AC3E}">
        <p14:creationId xmlns:p14="http://schemas.microsoft.com/office/powerpoint/2010/main" val="336540797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A5B64-FA3D-D15D-9926-3BFB58E45C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941650-1C08-E644-AFA8-BF998AF9C248}"/>
              </a:ext>
            </a:extLst>
          </p:cNvPr>
          <p:cNvSpPr>
            <a:spLocks noGrp="1"/>
          </p:cNvSpPr>
          <p:nvPr>
            <p:ph type="title"/>
          </p:nvPr>
        </p:nvSpPr>
        <p:spPr/>
        <p:txBody>
          <a:bodyPr/>
          <a:lstStyle/>
          <a:p>
            <a:r>
              <a:rPr lang="en-GB" dirty="0"/>
              <a:t>T</a:t>
            </a:r>
            <a:r>
              <a:rPr lang="en-NL" dirty="0"/>
              <a:t>-distribution</a:t>
            </a:r>
          </a:p>
        </p:txBody>
      </p:sp>
      <p:pic>
        <p:nvPicPr>
          <p:cNvPr id="4" name="Picture 3">
            <a:extLst>
              <a:ext uri="{FF2B5EF4-FFF2-40B4-BE49-F238E27FC236}">
                <a16:creationId xmlns:a16="http://schemas.microsoft.com/office/drawing/2014/main" id="{2A891925-358C-9F41-A603-FEA133EEB311}"/>
              </a:ext>
            </a:extLst>
          </p:cNvPr>
          <p:cNvPicPr>
            <a:picLocks noChangeAspect="1"/>
          </p:cNvPicPr>
          <p:nvPr/>
        </p:nvPicPr>
        <p:blipFill>
          <a:blip r:embed="rId3"/>
          <a:stretch>
            <a:fillRect/>
          </a:stretch>
        </p:blipFill>
        <p:spPr>
          <a:xfrm>
            <a:off x="304624" y="980134"/>
            <a:ext cx="9070869" cy="5157273"/>
          </a:xfrm>
          <a:prstGeom prst="rect">
            <a:avLst/>
          </a:prstGeom>
        </p:spPr>
      </p:pic>
      <p:sp>
        <p:nvSpPr>
          <p:cNvPr id="5" name="TextBox 4">
            <a:extLst>
              <a:ext uri="{FF2B5EF4-FFF2-40B4-BE49-F238E27FC236}">
                <a16:creationId xmlns:a16="http://schemas.microsoft.com/office/drawing/2014/main" id="{F62C6879-6531-F232-3FCA-E3D8E6CC4476}"/>
              </a:ext>
            </a:extLst>
          </p:cNvPr>
          <p:cNvSpPr txBox="1"/>
          <p:nvPr/>
        </p:nvSpPr>
        <p:spPr>
          <a:xfrm>
            <a:off x="6377650" y="414260"/>
            <a:ext cx="4317357" cy="1815882"/>
          </a:xfrm>
          <a:prstGeom prst="rect">
            <a:avLst/>
          </a:prstGeom>
          <a:noFill/>
        </p:spPr>
        <p:txBody>
          <a:bodyPr wrap="square" rtlCol="0">
            <a:spAutoFit/>
          </a:bodyPr>
          <a:lstStyle/>
          <a:p>
            <a:pPr algn="ctr"/>
            <a:r>
              <a:rPr lang="nl-NL" sz="2800" dirty="0"/>
              <a:t>As </a:t>
            </a:r>
            <a:r>
              <a:rPr lang="nl-NL" sz="2800" i="1" dirty="0">
                <a:latin typeface="Cambria Math" panose="02040503050406030204" pitchFamily="18" charset="0"/>
                <a:ea typeface="Cambria Math" panose="02040503050406030204" pitchFamily="18" charset="0"/>
              </a:rPr>
              <a:t>n</a:t>
            </a:r>
            <a:r>
              <a:rPr lang="nl-NL" sz="2800" dirty="0"/>
              <a:t> </a:t>
            </a:r>
            <a:r>
              <a:rPr lang="nl-NL" sz="2800" dirty="0" err="1"/>
              <a:t>increases</a:t>
            </a:r>
            <a:r>
              <a:rPr lang="nl-NL" sz="2800" dirty="0"/>
              <a:t>, t-</a:t>
            </a:r>
            <a:r>
              <a:rPr lang="nl-NL" sz="2800" dirty="0" err="1"/>
              <a:t>value</a:t>
            </a:r>
            <a:r>
              <a:rPr lang="nl-NL" sz="2800" dirty="0"/>
              <a:t> </a:t>
            </a:r>
            <a:r>
              <a:rPr lang="nl-NL" sz="2800" dirty="0" err="1"/>
              <a:t>decreases</a:t>
            </a:r>
            <a:r>
              <a:rPr lang="nl-NL" sz="2800" dirty="0"/>
              <a:t> </a:t>
            </a:r>
            <a:r>
              <a:rPr lang="nl-NL" sz="2800" dirty="0" err="1"/>
              <a:t>toward</a:t>
            </a:r>
            <a:r>
              <a:rPr lang="nl-NL" sz="2800" dirty="0"/>
              <a:t> </a:t>
            </a:r>
            <a:r>
              <a:rPr lang="nl-NL" sz="2800" b="1" dirty="0"/>
              <a:t>1.96 </a:t>
            </a:r>
            <a:r>
              <a:rPr lang="nl-NL" sz="2800" dirty="0"/>
              <a:t>(closer and closer </a:t>
            </a:r>
            <a:r>
              <a:rPr lang="nl-NL" sz="2800" dirty="0" err="1"/>
              <a:t>to</a:t>
            </a:r>
            <a:r>
              <a:rPr lang="nl-NL" sz="2800" dirty="0"/>
              <a:t> </a:t>
            </a:r>
            <a:r>
              <a:rPr lang="nl-NL" sz="2800" dirty="0" err="1"/>
              <a:t>z-value</a:t>
            </a:r>
            <a:r>
              <a:rPr lang="nl-NL" sz="2800" dirty="0"/>
              <a:t> and </a:t>
            </a:r>
            <a:r>
              <a:rPr lang="nl-NL" sz="2800" dirty="0" err="1"/>
              <a:t>normal</a:t>
            </a:r>
            <a:r>
              <a:rPr lang="nl-NL" sz="2800" dirty="0"/>
              <a:t> </a:t>
            </a:r>
            <a:r>
              <a:rPr lang="nl-NL" sz="2800" dirty="0" err="1"/>
              <a:t>distribution</a:t>
            </a:r>
            <a:r>
              <a:rPr lang="nl-NL" sz="2800" dirty="0"/>
              <a:t>)</a:t>
            </a:r>
            <a:endParaRPr lang="en-NL" sz="2800" dirty="0">
              <a:ea typeface="Cambria Math" panose="02040503050406030204" pitchFamily="18" charset="0"/>
            </a:endParaRPr>
          </a:p>
        </p:txBody>
      </p:sp>
    </p:spTree>
    <p:extLst>
      <p:ext uri="{BB962C8B-B14F-4D97-AF65-F5344CB8AC3E}">
        <p14:creationId xmlns:p14="http://schemas.microsoft.com/office/powerpoint/2010/main" val="89227001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4633A-A124-F4DE-1338-B6A1788AD9E7}"/>
              </a:ext>
            </a:extLst>
          </p:cNvPr>
          <p:cNvSpPr>
            <a:spLocks noGrp="1"/>
          </p:cNvSpPr>
          <p:nvPr>
            <p:ph type="title"/>
          </p:nvPr>
        </p:nvSpPr>
        <p:spPr/>
        <p:txBody>
          <a:bodyPr/>
          <a:lstStyle/>
          <a:p>
            <a:r>
              <a:rPr lang="en-NL" dirty="0"/>
              <a:t>T-Distribution</a:t>
            </a:r>
          </a:p>
        </p:txBody>
      </p:sp>
      <p:pic>
        <p:nvPicPr>
          <p:cNvPr id="4" name="Picture 2" descr="Normal Distribution vs. t-Distribution: What's the Difference?">
            <a:extLst>
              <a:ext uri="{FF2B5EF4-FFF2-40B4-BE49-F238E27FC236}">
                <a16:creationId xmlns:a16="http://schemas.microsoft.com/office/drawing/2014/main" id="{59852F26-CE69-803C-4F50-DC3C0693D2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621"/>
          <a:stretch>
            <a:fillRect/>
          </a:stretch>
        </p:blipFill>
        <p:spPr bwMode="auto">
          <a:xfrm>
            <a:off x="3226763" y="934152"/>
            <a:ext cx="6090857" cy="5281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711997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0CB8E-3238-BA8A-2340-4C7A4AAB2C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F43C3B-3E2C-BA82-717E-522366476B04}"/>
              </a:ext>
            </a:extLst>
          </p:cNvPr>
          <p:cNvSpPr>
            <a:spLocks noGrp="1"/>
          </p:cNvSpPr>
          <p:nvPr>
            <p:ph type="title"/>
          </p:nvPr>
        </p:nvSpPr>
        <p:spPr/>
        <p:txBody>
          <a:bodyPr/>
          <a:lstStyle/>
          <a:p>
            <a:r>
              <a:rPr lang="en-US" dirty="0"/>
              <a:t>Is it fair to assume a normal distribution?</a:t>
            </a:r>
          </a:p>
        </p:txBody>
      </p:sp>
      <p:sp>
        <p:nvSpPr>
          <p:cNvPr id="3" name="Content Placeholder 2">
            <a:extLst>
              <a:ext uri="{FF2B5EF4-FFF2-40B4-BE49-F238E27FC236}">
                <a16:creationId xmlns:a16="http://schemas.microsoft.com/office/drawing/2014/main" id="{8267BEA3-0D4B-4601-FCB0-94406651491C}"/>
              </a:ext>
            </a:extLst>
          </p:cNvPr>
          <p:cNvSpPr>
            <a:spLocks noGrp="1"/>
          </p:cNvSpPr>
          <p:nvPr>
            <p:ph idx="1"/>
          </p:nvPr>
        </p:nvSpPr>
        <p:spPr/>
        <p:txBody>
          <a:bodyPr/>
          <a:lstStyle/>
          <a:p>
            <a:r>
              <a:rPr lang="en-US" sz="3600" dirty="0"/>
              <a:t>Using the t-distribution is actually robust.</a:t>
            </a:r>
          </a:p>
          <a:p>
            <a:endParaRPr lang="en-US" sz="3600" dirty="0"/>
          </a:p>
          <a:p>
            <a:endParaRPr lang="en-US" sz="3600" dirty="0"/>
          </a:p>
          <a:p>
            <a:endParaRPr lang="en-US" sz="3600" dirty="0"/>
          </a:p>
          <a:p>
            <a:pPr marL="0" indent="0">
              <a:buNone/>
            </a:pPr>
            <a:endParaRPr lang="en-US" sz="3600" dirty="0"/>
          </a:p>
          <a:p>
            <a:pPr lvl="1"/>
            <a:r>
              <a:rPr lang="en-US" sz="3066" dirty="0"/>
              <a:t>(1) you can’t tell if you have a normal distribution when you have small samples and </a:t>
            </a:r>
          </a:p>
          <a:p>
            <a:pPr lvl="1"/>
            <a:r>
              <a:rPr lang="en-US" sz="3066" dirty="0"/>
              <a:t>(2) even if it isn’t, the t-Dist. gives confidence intervals that tends to capture the population.</a:t>
            </a:r>
          </a:p>
          <a:p>
            <a:endParaRPr lang="en-US" dirty="0"/>
          </a:p>
        </p:txBody>
      </p:sp>
      <p:graphicFrame>
        <p:nvGraphicFramePr>
          <p:cNvPr id="4" name="Content Placeholder 5">
            <a:extLst>
              <a:ext uri="{FF2B5EF4-FFF2-40B4-BE49-F238E27FC236}">
                <a16:creationId xmlns:a16="http://schemas.microsoft.com/office/drawing/2014/main" id="{DBB2736A-1DEC-4553-1705-97EEF9B975CB}"/>
              </a:ext>
            </a:extLst>
          </p:cNvPr>
          <p:cNvGraphicFramePr>
            <a:graphicFrameLocks/>
          </p:cNvGraphicFramePr>
          <p:nvPr/>
        </p:nvGraphicFramePr>
        <p:xfrm>
          <a:off x="480483" y="1884023"/>
          <a:ext cx="11101917" cy="2145534"/>
        </p:xfrm>
        <a:graphic>
          <a:graphicData uri="http://schemas.openxmlformats.org/drawingml/2006/table">
            <a:tbl>
              <a:tblPr firstRow="1" bandRow="1">
                <a:tableStyleId>{5C22544A-7EE6-4342-B048-85BDC9FD1C3A}</a:tableStyleId>
              </a:tblPr>
              <a:tblGrid>
                <a:gridCol w="11101917">
                  <a:extLst>
                    <a:ext uri="{9D8B030D-6E8A-4147-A177-3AD203B41FA5}">
                      <a16:colId xmlns:a16="http://schemas.microsoft.com/office/drawing/2014/main" val="2806566759"/>
                    </a:ext>
                  </a:extLst>
                </a:gridCol>
              </a:tblGrid>
              <a:tr h="648074">
                <a:tc>
                  <a:txBody>
                    <a:bodyPr/>
                    <a:lstStyle/>
                    <a:p>
                      <a:r>
                        <a:rPr lang="en-US" sz="3700" dirty="0"/>
                        <a:t>Robust Statistical Method</a:t>
                      </a:r>
                    </a:p>
                  </a:txBody>
                  <a:tcPr marL="121920" marR="121920" marT="60960" marB="60960"/>
                </a:tc>
                <a:extLst>
                  <a:ext uri="{0D108BD9-81ED-4DB2-BD59-A6C34878D82A}">
                    <a16:rowId xmlns:a16="http://schemas.microsoft.com/office/drawing/2014/main" val="4282699494"/>
                  </a:ext>
                </a:extLst>
              </a:tr>
              <a:tr h="1459734">
                <a:tc>
                  <a:txBody>
                    <a:bodyPr/>
                    <a:lstStyle/>
                    <a:p>
                      <a:pPr marL="0" indent="0">
                        <a:buFont typeface="Arial" panose="020B0604020202020204" pitchFamily="34" charset="0"/>
                        <a:buNone/>
                      </a:pPr>
                      <a:r>
                        <a:rPr lang="en-US" sz="2700" baseline="0" dirty="0"/>
                        <a:t>﻿A statistical method is said to be robust with respect to a particular assumption if it performs adequately even when that assumption is modestly violated.</a:t>
                      </a:r>
                    </a:p>
                  </a:txBody>
                  <a:tcPr marL="121920" marR="121920" marT="60960" marB="60960"/>
                </a:tc>
                <a:extLst>
                  <a:ext uri="{0D108BD9-81ED-4DB2-BD59-A6C34878D82A}">
                    <a16:rowId xmlns:a16="http://schemas.microsoft.com/office/drawing/2014/main" val="2257841623"/>
                  </a:ext>
                </a:extLst>
              </a:tr>
            </a:tbl>
          </a:graphicData>
        </a:graphic>
      </p:graphicFrame>
    </p:spTree>
    <p:extLst>
      <p:ext uri="{BB962C8B-B14F-4D97-AF65-F5344CB8AC3E}">
        <p14:creationId xmlns:p14="http://schemas.microsoft.com/office/powerpoint/2010/main" val="3873178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FD18E-B994-589A-D973-69C4BA3A471A}"/>
              </a:ext>
            </a:extLst>
          </p:cNvPr>
          <p:cNvSpPr>
            <a:spLocks noGrp="1"/>
          </p:cNvSpPr>
          <p:nvPr>
            <p:ph type="title"/>
          </p:nvPr>
        </p:nvSpPr>
        <p:spPr/>
        <p:txBody>
          <a:bodyPr/>
          <a:lstStyle/>
          <a:p>
            <a:r>
              <a:rPr lang="en-US" dirty="0"/>
              <a:t>When does the t-distribution </a:t>
            </a:r>
            <a:r>
              <a:rPr lang="en-US" dirty="0">
                <a:solidFill>
                  <a:schemeClr val="accent1"/>
                </a:solidFill>
              </a:rPr>
              <a:t>not</a:t>
            </a:r>
            <a:r>
              <a:rPr lang="en-US" dirty="0"/>
              <a:t> work?</a:t>
            </a:r>
          </a:p>
        </p:txBody>
      </p:sp>
      <p:sp>
        <p:nvSpPr>
          <p:cNvPr id="3" name="Content Placeholder 2">
            <a:extLst>
              <a:ext uri="{FF2B5EF4-FFF2-40B4-BE49-F238E27FC236}">
                <a16:creationId xmlns:a16="http://schemas.microsoft.com/office/drawing/2014/main" id="{CBC9D2BE-22B7-A468-1435-85008E639CA0}"/>
              </a:ext>
            </a:extLst>
          </p:cNvPr>
          <p:cNvSpPr>
            <a:spLocks noGrp="1"/>
          </p:cNvSpPr>
          <p:nvPr>
            <p:ph idx="1"/>
          </p:nvPr>
        </p:nvSpPr>
        <p:spPr/>
        <p:txBody>
          <a:bodyPr/>
          <a:lstStyle/>
          <a:p>
            <a:r>
              <a:rPr lang="en-US" dirty="0"/>
              <a:t>Data are not independently generated.</a:t>
            </a:r>
          </a:p>
          <a:p>
            <a:r>
              <a:rPr lang="en-US" dirty="0"/>
              <a:t>Data has some </a:t>
            </a:r>
            <a:r>
              <a:rPr lang="en-US" b="1" dirty="0"/>
              <a:t>extreme</a:t>
            </a:r>
            <a:r>
              <a:rPr lang="en-US" dirty="0"/>
              <a:t> outliers. </a:t>
            </a:r>
          </a:p>
        </p:txBody>
      </p:sp>
    </p:spTree>
    <p:extLst>
      <p:ext uri="{BB962C8B-B14F-4D97-AF65-F5344CB8AC3E}">
        <p14:creationId xmlns:p14="http://schemas.microsoft.com/office/powerpoint/2010/main" val="165363390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F545B-3115-C8AB-99BA-4B9993CE6F1D}"/>
              </a:ext>
            </a:extLst>
          </p:cNvPr>
          <p:cNvSpPr>
            <a:spLocks noGrp="1"/>
          </p:cNvSpPr>
          <p:nvPr>
            <p:ph type="title"/>
          </p:nvPr>
        </p:nvSpPr>
        <p:spPr/>
        <p:txBody>
          <a:bodyPr/>
          <a:lstStyle/>
          <a:p>
            <a:r>
              <a:rPr lang="en-NL" dirty="0"/>
              <a:t>Back to my laptop… </a:t>
            </a:r>
            <a:r>
              <a:rPr lang="en-NL" dirty="0">
                <a:solidFill>
                  <a:schemeClr val="accent1"/>
                </a:solidFill>
              </a:rPr>
              <a:t>(for the 100th time)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130E11A-A9B7-A82C-A0D5-A78A2C41A993}"/>
                  </a:ext>
                </a:extLst>
              </p:cNvPr>
              <p:cNvSpPr>
                <a:spLocks noGrp="1"/>
              </p:cNvSpPr>
              <p:nvPr>
                <p:ph idx="1"/>
              </p:nvPr>
            </p:nvSpPr>
            <p:spPr>
              <a:xfrm>
                <a:off x="480001" y="1296001"/>
                <a:ext cx="11102399" cy="2133000"/>
              </a:xfrm>
            </p:spPr>
            <p:txBody>
              <a:bodyPr/>
              <a:lstStyle/>
              <a:p>
                <a:r>
                  <a:rPr lang="en-NL" b="1" dirty="0">
                    <a:solidFill>
                      <a:schemeClr val="accent1"/>
                    </a:solidFill>
                  </a:rPr>
                  <a:t>Sample</a:t>
                </a:r>
                <a:r>
                  <a:rPr lang="en-NL" dirty="0"/>
                  <a:t> mean (</a:t>
                </a:r>
                <a14:m>
                  <m:oMath xmlns:m="http://schemas.openxmlformats.org/officeDocument/2006/math">
                    <m:acc>
                      <m:accPr>
                        <m:chr m:val="̅"/>
                        <m:ctrlPr>
                          <a:rPr lang="en-NL" i="1" smtClean="0">
                            <a:latin typeface="Cambria Math" panose="02040503050406030204" pitchFamily="18" charset="0"/>
                          </a:rPr>
                        </m:ctrlPr>
                      </m:accPr>
                      <m:e>
                        <m:r>
                          <m:rPr>
                            <m:sty m:val="p"/>
                          </m:rPr>
                          <a:rPr lang="nl-NL" b="0" i="1" smtClean="0">
                            <a:latin typeface="Cambria Math" panose="02040503050406030204" pitchFamily="18" charset="0"/>
                          </a:rPr>
                          <m:t>x</m:t>
                        </m:r>
                      </m:e>
                    </m:acc>
                  </m:oMath>
                </a14:m>
                <a:r>
                  <a:rPr lang="en-NL" dirty="0"/>
                  <a:t>): </a:t>
                </a:r>
                <a:r>
                  <a:rPr lang="en-NL" b="1" dirty="0"/>
                  <a:t>105</a:t>
                </a:r>
                <a:r>
                  <a:rPr lang="en-NL" dirty="0"/>
                  <a:t> (crashes)</a:t>
                </a:r>
              </a:p>
              <a:p>
                <a:r>
                  <a:rPr lang="en-NL" b="1" dirty="0">
                    <a:solidFill>
                      <a:schemeClr val="accent1"/>
                    </a:solidFill>
                  </a:rPr>
                  <a:t>Sample</a:t>
                </a:r>
                <a:r>
                  <a:rPr lang="en-NL" dirty="0"/>
                  <a:t> Standard Deviation (</a:t>
                </a:r>
                <a:r>
                  <a:rPr lang="en-NL" i="1" dirty="0">
                    <a:latin typeface="Cambria Math" panose="02040503050406030204" pitchFamily="18" charset="0"/>
                    <a:ea typeface="Cambria Math" panose="02040503050406030204" pitchFamily="18" charset="0"/>
                  </a:rPr>
                  <a:t>s</a:t>
                </a:r>
                <a:r>
                  <a:rPr lang="en-NL" dirty="0"/>
                  <a:t>): </a:t>
                </a:r>
                <a:r>
                  <a:rPr lang="en-NL" b="1" dirty="0"/>
                  <a:t>12</a:t>
                </a:r>
              </a:p>
              <a:p>
                <a:r>
                  <a:rPr lang="en-NL" b="1" dirty="0">
                    <a:solidFill>
                      <a:schemeClr val="accent1"/>
                    </a:solidFill>
                  </a:rPr>
                  <a:t>Sample</a:t>
                </a:r>
                <a:r>
                  <a:rPr lang="en-NL" dirty="0"/>
                  <a:t> size (</a:t>
                </a:r>
                <a:r>
                  <a:rPr lang="en-NL" i="1" dirty="0">
                    <a:latin typeface="Cambria Math" panose="02040503050406030204" pitchFamily="18" charset="0"/>
                    <a:ea typeface="Cambria Math" panose="02040503050406030204" pitchFamily="18" charset="0"/>
                  </a:rPr>
                  <a:t>n</a:t>
                </a:r>
                <a:r>
                  <a:rPr lang="en-NL" dirty="0"/>
                  <a:t>):</a:t>
                </a:r>
                <a:r>
                  <a:rPr lang="en-NL" b="1" dirty="0"/>
                  <a:t> 5 </a:t>
                </a:r>
                <a:r>
                  <a:rPr lang="en-NL" dirty="0"/>
                  <a:t>(laptops)</a:t>
                </a:r>
              </a:p>
            </p:txBody>
          </p:sp>
        </mc:Choice>
        <mc:Fallback>
          <p:sp>
            <p:nvSpPr>
              <p:cNvPr id="3" name="Content Placeholder 2">
                <a:extLst>
                  <a:ext uri="{FF2B5EF4-FFF2-40B4-BE49-F238E27FC236}">
                    <a16:creationId xmlns:a16="http://schemas.microsoft.com/office/drawing/2014/main" id="{F130E11A-A9B7-A82C-A0D5-A78A2C41A993}"/>
                  </a:ext>
                </a:extLst>
              </p:cNvPr>
              <p:cNvSpPr>
                <a:spLocks noGrp="1" noRot="1" noChangeAspect="1" noMove="1" noResize="1" noEditPoints="1" noAdjustHandles="1" noChangeArrowheads="1" noChangeShapeType="1" noTextEdit="1"/>
              </p:cNvSpPr>
              <p:nvPr>
                <p:ph idx="1"/>
              </p:nvPr>
            </p:nvSpPr>
            <p:spPr>
              <a:xfrm>
                <a:off x="480001" y="1296001"/>
                <a:ext cx="11102399" cy="2133000"/>
              </a:xfrm>
              <a:blipFill>
                <a:blip r:embed="rId3"/>
                <a:stretch>
                  <a:fillRect l="-2740" t="-7692" b="-5917"/>
                </a:stretch>
              </a:blipFill>
            </p:spPr>
            <p:txBody>
              <a:bodyPr/>
              <a:lstStyle/>
              <a:p>
                <a:r>
                  <a:rPr lang="en-NL">
                    <a:noFill/>
                  </a:rPr>
                  <a:t> </a:t>
                </a:r>
              </a:p>
            </p:txBody>
          </p:sp>
        </mc:Fallback>
      </mc:AlternateContent>
      <p:sp>
        <p:nvSpPr>
          <p:cNvPr id="5" name="TextBox 4">
            <a:extLst>
              <a:ext uri="{FF2B5EF4-FFF2-40B4-BE49-F238E27FC236}">
                <a16:creationId xmlns:a16="http://schemas.microsoft.com/office/drawing/2014/main" id="{365CF11B-3591-C5E1-1EDB-739295E4AB7D}"/>
              </a:ext>
            </a:extLst>
          </p:cNvPr>
          <p:cNvSpPr txBox="1"/>
          <p:nvPr/>
        </p:nvSpPr>
        <p:spPr>
          <a:xfrm>
            <a:off x="1417935" y="3600494"/>
            <a:ext cx="9682266" cy="1077218"/>
          </a:xfrm>
          <a:prstGeom prst="rect">
            <a:avLst/>
          </a:prstGeom>
          <a:noFill/>
        </p:spPr>
        <p:txBody>
          <a:bodyPr wrap="none" rtlCol="0">
            <a:spAutoFit/>
          </a:bodyPr>
          <a:lstStyle/>
          <a:p>
            <a:r>
              <a:rPr lang="en-NL" sz="2800" b="1" dirty="0"/>
              <a:t>Degrees of freedom (df)</a:t>
            </a:r>
            <a:r>
              <a:rPr lang="en-NL" sz="2800" dirty="0"/>
              <a:t>: n-1 = 5 – 1 = 4</a:t>
            </a:r>
          </a:p>
          <a:p>
            <a:r>
              <a:rPr lang="en-GB" sz="2800" dirty="0"/>
              <a:t>In t-table, we find a t-score with 95% confidence for </a:t>
            </a:r>
            <a:r>
              <a:rPr lang="en-GB" sz="2800" dirty="0" err="1"/>
              <a:t>df</a:t>
            </a:r>
            <a:r>
              <a:rPr lang="en-GB" sz="2800" dirty="0"/>
              <a:t>=4: </a:t>
            </a:r>
            <a:r>
              <a:rPr lang="en-GB" sz="3600" b="1" dirty="0">
                <a:solidFill>
                  <a:schemeClr val="accent1"/>
                </a:solidFill>
              </a:rPr>
              <a:t>2.776</a:t>
            </a:r>
            <a:endParaRPr lang="en-NL" sz="2800" b="1" dirty="0">
              <a:solidFill>
                <a:schemeClr val="accent1"/>
              </a:solidFill>
            </a:endParaRPr>
          </a:p>
        </p:txBody>
      </p:sp>
      <p:pic>
        <p:nvPicPr>
          <p:cNvPr id="7" name="Picture 6" descr="A number of numbers on a white background&#10;&#10;AI-generated content may be incorrect.">
            <a:extLst>
              <a:ext uri="{FF2B5EF4-FFF2-40B4-BE49-F238E27FC236}">
                <a16:creationId xmlns:a16="http://schemas.microsoft.com/office/drawing/2014/main" id="{CADBDE28-3C9B-03A0-E4CC-1D9D37B42E17}"/>
              </a:ext>
            </a:extLst>
          </p:cNvPr>
          <p:cNvPicPr>
            <a:picLocks noChangeAspect="1"/>
          </p:cNvPicPr>
          <p:nvPr/>
        </p:nvPicPr>
        <p:blipFill>
          <a:blip r:embed="rId4"/>
          <a:stretch>
            <a:fillRect/>
          </a:stretch>
        </p:blipFill>
        <p:spPr>
          <a:xfrm>
            <a:off x="5711786" y="4595149"/>
            <a:ext cx="5959756" cy="1966284"/>
          </a:xfrm>
          <a:prstGeom prst="rect">
            <a:avLst/>
          </a:prstGeom>
        </p:spPr>
      </p:pic>
      <p:sp>
        <p:nvSpPr>
          <p:cNvPr id="8" name="Rounded Rectangle 7">
            <a:extLst>
              <a:ext uri="{FF2B5EF4-FFF2-40B4-BE49-F238E27FC236}">
                <a16:creationId xmlns:a16="http://schemas.microsoft.com/office/drawing/2014/main" id="{E97C04C0-C57E-8EB6-099D-CDAAEA99D622}"/>
              </a:ext>
            </a:extLst>
          </p:cNvPr>
          <p:cNvSpPr/>
          <p:nvPr/>
        </p:nvSpPr>
        <p:spPr>
          <a:xfrm>
            <a:off x="11084768" y="6351142"/>
            <a:ext cx="482199" cy="185195"/>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380187136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A223D-09D7-4C10-028F-7A197304F592}"/>
            </a:ext>
          </a:extLst>
        </p:cNvPr>
        <p:cNvGrpSpPr/>
        <p:nvPr/>
      </p:nvGrpSpPr>
      <p:grpSpPr>
        <a:xfrm>
          <a:off x="0" y="0"/>
          <a:ext cx="0" cy="0"/>
          <a:chOff x="0" y="0"/>
          <a:chExt cx="0" cy="0"/>
        </a:xfrm>
      </p:grpSpPr>
      <p:sp>
        <p:nvSpPr>
          <p:cNvPr id="10" name="Rounded Rectangle 9">
            <a:extLst>
              <a:ext uri="{FF2B5EF4-FFF2-40B4-BE49-F238E27FC236}">
                <a16:creationId xmlns:a16="http://schemas.microsoft.com/office/drawing/2014/main" id="{7DBB8419-DD77-C697-ED76-577392B624CC}"/>
              </a:ext>
            </a:extLst>
          </p:cNvPr>
          <p:cNvSpPr/>
          <p:nvPr/>
        </p:nvSpPr>
        <p:spPr>
          <a:xfrm>
            <a:off x="7349924" y="5940192"/>
            <a:ext cx="4734046" cy="83099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
        <p:nvSpPr>
          <p:cNvPr id="2" name="Title 1">
            <a:extLst>
              <a:ext uri="{FF2B5EF4-FFF2-40B4-BE49-F238E27FC236}">
                <a16:creationId xmlns:a16="http://schemas.microsoft.com/office/drawing/2014/main" id="{1CCEEFC8-49AA-875F-36ED-85B4F53CB90B}"/>
              </a:ext>
            </a:extLst>
          </p:cNvPr>
          <p:cNvSpPr>
            <a:spLocks noGrp="1"/>
          </p:cNvSpPr>
          <p:nvPr>
            <p:ph type="title"/>
          </p:nvPr>
        </p:nvSpPr>
        <p:spPr/>
        <p:txBody>
          <a:bodyPr/>
          <a:lstStyle/>
          <a:p>
            <a:r>
              <a:rPr lang="en-NL" dirty="0"/>
              <a:t>Back to my laptop… </a:t>
            </a:r>
            <a:r>
              <a:rPr lang="en-NL" dirty="0">
                <a:solidFill>
                  <a:schemeClr val="accent1"/>
                </a:solidFill>
              </a:rPr>
              <a:t>(for the 100th time)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464E2AD-D36F-BF8D-87F8-A981C81F091B}"/>
                  </a:ext>
                </a:extLst>
              </p:cNvPr>
              <p:cNvSpPr>
                <a:spLocks noGrp="1"/>
              </p:cNvSpPr>
              <p:nvPr>
                <p:ph idx="1"/>
              </p:nvPr>
            </p:nvSpPr>
            <p:spPr>
              <a:xfrm>
                <a:off x="480001" y="1296001"/>
                <a:ext cx="11102399" cy="1567169"/>
              </a:xfrm>
            </p:spPr>
            <p:txBody>
              <a:bodyPr/>
              <a:lstStyle/>
              <a:p>
                <a:r>
                  <a:rPr lang="en-NL" sz="3200" b="1" dirty="0">
                    <a:solidFill>
                      <a:schemeClr val="accent1"/>
                    </a:solidFill>
                  </a:rPr>
                  <a:t>Sample</a:t>
                </a:r>
                <a:r>
                  <a:rPr lang="en-NL" sz="3200" dirty="0"/>
                  <a:t> mean (</a:t>
                </a:r>
                <a14:m>
                  <m:oMath xmlns:m="http://schemas.openxmlformats.org/officeDocument/2006/math">
                    <m:acc>
                      <m:accPr>
                        <m:chr m:val="̅"/>
                        <m:ctrlPr>
                          <a:rPr lang="en-NL" sz="3200" i="1" smtClean="0">
                            <a:latin typeface="Cambria Math" panose="02040503050406030204" pitchFamily="18" charset="0"/>
                          </a:rPr>
                        </m:ctrlPr>
                      </m:accPr>
                      <m:e>
                        <m:r>
                          <m:rPr>
                            <m:sty m:val="p"/>
                          </m:rPr>
                          <a:rPr lang="nl-NL" sz="3200" b="0" i="1" smtClean="0">
                            <a:latin typeface="Cambria Math" panose="02040503050406030204" pitchFamily="18" charset="0"/>
                          </a:rPr>
                          <m:t>x</m:t>
                        </m:r>
                      </m:e>
                    </m:acc>
                  </m:oMath>
                </a14:m>
                <a:r>
                  <a:rPr lang="en-NL" sz="3200" dirty="0"/>
                  <a:t>): </a:t>
                </a:r>
                <a:r>
                  <a:rPr lang="en-NL" sz="3200" b="1" dirty="0"/>
                  <a:t>105</a:t>
                </a:r>
                <a:r>
                  <a:rPr lang="en-NL" sz="3200" dirty="0"/>
                  <a:t> (crashes)</a:t>
                </a:r>
              </a:p>
              <a:p>
                <a:r>
                  <a:rPr lang="en-NL" sz="3200" b="1" dirty="0">
                    <a:solidFill>
                      <a:schemeClr val="accent1"/>
                    </a:solidFill>
                  </a:rPr>
                  <a:t>Sample</a:t>
                </a:r>
                <a:r>
                  <a:rPr lang="en-NL" sz="3200" dirty="0"/>
                  <a:t> Standard Deviation (</a:t>
                </a:r>
                <a:r>
                  <a:rPr lang="en-NL" sz="3200" i="1" dirty="0">
                    <a:latin typeface="Cambria Math" panose="02040503050406030204" pitchFamily="18" charset="0"/>
                    <a:ea typeface="Cambria Math" panose="02040503050406030204" pitchFamily="18" charset="0"/>
                  </a:rPr>
                  <a:t>s</a:t>
                </a:r>
                <a:r>
                  <a:rPr lang="en-NL" sz="3200" dirty="0"/>
                  <a:t>): </a:t>
                </a:r>
                <a:r>
                  <a:rPr lang="en-NL" sz="3200" b="1" dirty="0"/>
                  <a:t>12</a:t>
                </a:r>
              </a:p>
              <a:p>
                <a:r>
                  <a:rPr lang="en-NL" sz="3200" b="1" dirty="0">
                    <a:solidFill>
                      <a:schemeClr val="accent1"/>
                    </a:solidFill>
                  </a:rPr>
                  <a:t>Sample</a:t>
                </a:r>
                <a:r>
                  <a:rPr lang="en-NL" sz="3200" dirty="0"/>
                  <a:t> size (</a:t>
                </a:r>
                <a:r>
                  <a:rPr lang="en-NL" sz="3200" i="1" dirty="0">
                    <a:latin typeface="Cambria Math" panose="02040503050406030204" pitchFamily="18" charset="0"/>
                    <a:ea typeface="Cambria Math" panose="02040503050406030204" pitchFamily="18" charset="0"/>
                  </a:rPr>
                  <a:t>n</a:t>
                </a:r>
                <a:r>
                  <a:rPr lang="en-NL" sz="3200" dirty="0"/>
                  <a:t>):</a:t>
                </a:r>
                <a:r>
                  <a:rPr lang="en-NL" sz="3200" b="1" dirty="0"/>
                  <a:t> 5 </a:t>
                </a:r>
                <a:r>
                  <a:rPr lang="en-NL" sz="3200" dirty="0"/>
                  <a:t>(laptops)</a:t>
                </a:r>
              </a:p>
            </p:txBody>
          </p:sp>
        </mc:Choice>
        <mc:Fallback>
          <p:sp>
            <p:nvSpPr>
              <p:cNvPr id="3" name="Content Placeholder 2">
                <a:extLst>
                  <a:ext uri="{FF2B5EF4-FFF2-40B4-BE49-F238E27FC236}">
                    <a16:creationId xmlns:a16="http://schemas.microsoft.com/office/drawing/2014/main" id="{8464E2AD-D36F-BF8D-87F8-A981C81F091B}"/>
                  </a:ext>
                </a:extLst>
              </p:cNvPr>
              <p:cNvSpPr>
                <a:spLocks noGrp="1" noRot="1" noChangeAspect="1" noMove="1" noResize="1" noEditPoints="1" noAdjustHandles="1" noChangeArrowheads="1" noChangeShapeType="1" noTextEdit="1"/>
              </p:cNvSpPr>
              <p:nvPr>
                <p:ph idx="1"/>
              </p:nvPr>
            </p:nvSpPr>
            <p:spPr>
              <a:xfrm>
                <a:off x="480001" y="1296001"/>
                <a:ext cx="11102399" cy="1567169"/>
              </a:xfrm>
              <a:blipFill>
                <a:blip r:embed="rId3"/>
                <a:stretch>
                  <a:fillRect l="-2055" t="-8065" b="-9677"/>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8BCBEDC9-4093-1336-3A55-1FE18F26DB5D}"/>
                  </a:ext>
                </a:extLst>
              </p:cNvPr>
              <p:cNvSpPr txBox="1"/>
              <p:nvPr/>
            </p:nvSpPr>
            <p:spPr>
              <a:xfrm>
                <a:off x="4314708" y="3049164"/>
                <a:ext cx="3650679" cy="116698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m:rPr>
                          <m:nor/>
                        </m:rPr>
                        <a:rPr lang="en-GB" sz="2800" i="0" smtClean="0"/>
                        <m:t>SE</m:t>
                      </m:r>
                      <m:r>
                        <a:rPr lang="en-GB" sz="2800" i="1"/>
                        <m:t>=</m:t>
                      </m:r>
                      <m:f>
                        <m:fPr>
                          <m:ctrlPr>
                            <a:rPr lang="en-GB" sz="2800" i="1">
                              <a:latin typeface="Cambria Math" panose="02040503050406030204" pitchFamily="18" charset="0"/>
                            </a:rPr>
                          </m:ctrlPr>
                        </m:fPr>
                        <m:num>
                          <m:r>
                            <a:rPr lang="en-GB" sz="2800" i="1"/>
                            <m:t>𝑠</m:t>
                          </m:r>
                        </m:num>
                        <m:den>
                          <m:rad>
                            <m:radPr>
                              <m:degHide m:val="on"/>
                              <m:ctrlPr>
                                <a:rPr lang="en-GB" sz="2800" i="1">
                                  <a:latin typeface="Cambria Math" panose="02040503050406030204" pitchFamily="18" charset="0"/>
                                </a:rPr>
                              </m:ctrlPr>
                            </m:radPr>
                            <m:deg/>
                            <m:e>
                              <m:r>
                                <a:rPr lang="en-GB" sz="2800" i="1"/>
                                <m:t>𝑛</m:t>
                              </m:r>
                            </m:e>
                          </m:rad>
                        </m:den>
                      </m:f>
                      <m:r>
                        <a:rPr lang="en-GB" sz="2800" i="1"/>
                        <m:t>→</m:t>
                      </m:r>
                      <m:f>
                        <m:fPr>
                          <m:ctrlPr>
                            <a:rPr lang="en-GB" sz="2800" i="1">
                              <a:latin typeface="Cambria Math" panose="02040503050406030204" pitchFamily="18" charset="0"/>
                            </a:rPr>
                          </m:ctrlPr>
                        </m:fPr>
                        <m:num>
                          <m:r>
                            <a:rPr lang="en-GB" sz="2800" i="1"/>
                            <m:t>12</m:t>
                          </m:r>
                        </m:num>
                        <m:den>
                          <m:rad>
                            <m:radPr>
                              <m:degHide m:val="on"/>
                              <m:ctrlPr>
                                <a:rPr lang="en-GB" sz="2800" i="1">
                                  <a:latin typeface="Cambria Math" panose="02040503050406030204" pitchFamily="18" charset="0"/>
                                </a:rPr>
                              </m:ctrlPr>
                            </m:radPr>
                            <m:deg/>
                            <m:e>
                              <m:r>
                                <a:rPr lang="en-GB" sz="2800" i="1"/>
                                <m:t>5</m:t>
                              </m:r>
                            </m:e>
                          </m:rad>
                        </m:den>
                      </m:f>
                      <m:r>
                        <a:rPr lang="en-GB" sz="2800" i="1"/>
                        <m:t>≈</m:t>
                      </m:r>
                      <m:r>
                        <a:rPr lang="en-GB" sz="2800" i="1"/>
                        <m:t>𝟓</m:t>
                      </m:r>
                      <m:r>
                        <a:rPr lang="en-GB" sz="2800" i="1"/>
                        <m:t>.</m:t>
                      </m:r>
                      <m:r>
                        <a:rPr lang="en-GB" sz="2800" i="1"/>
                        <m:t>𝟑𝟕</m:t>
                      </m:r>
                    </m:oMath>
                  </m:oMathPara>
                </a14:m>
                <a:endParaRPr lang="en-GB" sz="2800" dirty="0"/>
              </a:p>
              <a:p>
                <a:endParaRPr lang="en-NL" dirty="0"/>
              </a:p>
            </p:txBody>
          </p:sp>
        </mc:Choice>
        <mc:Fallback>
          <p:sp>
            <p:nvSpPr>
              <p:cNvPr id="6" name="TextBox 5">
                <a:extLst>
                  <a:ext uri="{FF2B5EF4-FFF2-40B4-BE49-F238E27FC236}">
                    <a16:creationId xmlns:a16="http://schemas.microsoft.com/office/drawing/2014/main" id="{8BCBEDC9-4093-1336-3A55-1FE18F26DB5D}"/>
                  </a:ext>
                </a:extLst>
              </p:cNvPr>
              <p:cNvSpPr txBox="1">
                <a:spLocks noRot="1" noChangeAspect="1" noMove="1" noResize="1" noEditPoints="1" noAdjustHandles="1" noChangeArrowheads="1" noChangeShapeType="1" noTextEdit="1"/>
              </p:cNvSpPr>
              <p:nvPr/>
            </p:nvSpPr>
            <p:spPr>
              <a:xfrm>
                <a:off x="4314708" y="3049164"/>
                <a:ext cx="3650679" cy="1166986"/>
              </a:xfrm>
              <a:prstGeom prst="rect">
                <a:avLst/>
              </a:prstGeom>
              <a:blipFill>
                <a:blip r:embed="rId4"/>
                <a:stretch>
                  <a:fillRect t="-1075"/>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DBCC3E48-AC42-8B27-41BF-C3D8281388FB}"/>
                  </a:ext>
                </a:extLst>
              </p:cNvPr>
              <p:cNvSpPr txBox="1"/>
              <p:nvPr/>
            </p:nvSpPr>
            <p:spPr>
              <a:xfrm>
                <a:off x="7500396" y="6028241"/>
                <a:ext cx="4575804" cy="83099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m:rPr>
                          <m:nor/>
                        </m:rPr>
                        <a:rPr lang="en-GB" sz="3600" b="1" i="0" smtClean="0"/>
                        <m:t>Interval</m:t>
                      </m:r>
                      <m:r>
                        <a:rPr lang="en-GB" sz="3600" b="1" i="1"/>
                        <m:t>=</m:t>
                      </m:r>
                      <m:acc>
                        <m:accPr>
                          <m:chr m:val="̅"/>
                          <m:ctrlPr>
                            <a:rPr lang="en-GB" sz="3600" b="1" i="1">
                              <a:latin typeface="Cambria Math" panose="02040503050406030204" pitchFamily="18" charset="0"/>
                            </a:rPr>
                          </m:ctrlPr>
                        </m:accPr>
                        <m:e>
                          <m:r>
                            <a:rPr lang="en-GB" sz="3600" b="1" i="1"/>
                            <m:t>𝒙</m:t>
                          </m:r>
                        </m:e>
                      </m:acc>
                      <m:r>
                        <a:rPr lang="en-GB" sz="3600" b="1" i="1"/>
                        <m:t>±</m:t>
                      </m:r>
                      <m:d>
                        <m:dPr>
                          <m:ctrlPr>
                            <a:rPr lang="en-GB" sz="3600" b="1" i="1">
                              <a:latin typeface="Cambria Math" panose="02040503050406030204" pitchFamily="18" charset="0"/>
                            </a:rPr>
                          </m:ctrlPr>
                        </m:dPr>
                        <m:e>
                          <m:r>
                            <a:rPr lang="nl-NL" sz="3600" b="1" i="1" smtClean="0">
                              <a:latin typeface="Cambria Math" panose="02040503050406030204" pitchFamily="18" charset="0"/>
                            </a:rPr>
                            <m:t>𝒕</m:t>
                          </m:r>
                          <m:r>
                            <a:rPr lang="nl-NL" sz="3600" b="1" i="1" smtClean="0">
                              <a:latin typeface="Cambria Math" panose="02040503050406030204" pitchFamily="18" charset="0"/>
                            </a:rPr>
                            <m:t> </m:t>
                          </m:r>
                          <m:r>
                            <a:rPr lang="en-GB" sz="3600" b="1" i="1"/>
                            <m:t>×</m:t>
                          </m:r>
                          <m:r>
                            <m:rPr>
                              <m:nor/>
                            </m:rPr>
                            <a:rPr lang="nl-NL" sz="3600" b="1" i="0" smtClean="0"/>
                            <m:t> </m:t>
                          </m:r>
                          <m:r>
                            <m:rPr>
                              <m:nor/>
                            </m:rPr>
                            <a:rPr lang="en-GB" sz="3600" b="1" i="0"/>
                            <m:t>SE</m:t>
                          </m:r>
                        </m:e>
                      </m:d>
                    </m:oMath>
                  </m:oMathPara>
                </a14:m>
                <a:endParaRPr lang="en-GB" sz="3600" b="1" dirty="0"/>
              </a:p>
              <a:p>
                <a:endParaRPr lang="en-NL" dirty="0"/>
              </a:p>
            </p:txBody>
          </p:sp>
        </mc:Choice>
        <mc:Fallback>
          <p:sp>
            <p:nvSpPr>
              <p:cNvPr id="9" name="TextBox 8">
                <a:extLst>
                  <a:ext uri="{FF2B5EF4-FFF2-40B4-BE49-F238E27FC236}">
                    <a16:creationId xmlns:a16="http://schemas.microsoft.com/office/drawing/2014/main" id="{DBCC3E48-AC42-8B27-41BF-C3D8281388FB}"/>
                  </a:ext>
                </a:extLst>
              </p:cNvPr>
              <p:cNvSpPr txBox="1">
                <a:spLocks noRot="1" noChangeAspect="1" noMove="1" noResize="1" noEditPoints="1" noAdjustHandles="1" noChangeArrowheads="1" noChangeShapeType="1" noTextEdit="1"/>
              </p:cNvSpPr>
              <p:nvPr/>
            </p:nvSpPr>
            <p:spPr>
              <a:xfrm>
                <a:off x="7500396" y="6028241"/>
                <a:ext cx="4575804" cy="830997"/>
              </a:xfrm>
              <a:prstGeom prst="rect">
                <a:avLst/>
              </a:prstGeom>
              <a:blipFill>
                <a:blip r:embed="rId5"/>
                <a:stretch>
                  <a:fillRect l="-1385" t="-13636"/>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DFF81781-C093-AFA8-EDEC-234F00D01E53}"/>
                  </a:ext>
                </a:extLst>
              </p:cNvPr>
              <p:cNvSpPr txBox="1"/>
              <p:nvPr/>
            </p:nvSpPr>
            <p:spPr>
              <a:xfrm>
                <a:off x="4314708" y="4061751"/>
                <a:ext cx="3381054" cy="113877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GB" sz="2800" i="1" smtClean="0"/>
                        <m:t>105±</m:t>
                      </m:r>
                      <m:d>
                        <m:dPr>
                          <m:ctrlPr>
                            <a:rPr lang="en-GB" sz="2800" i="1">
                              <a:latin typeface="Cambria Math" panose="02040503050406030204" pitchFamily="18" charset="0"/>
                            </a:rPr>
                          </m:ctrlPr>
                        </m:dPr>
                        <m:e>
                          <m:r>
                            <a:rPr lang="en-GB" sz="2800" i="1"/>
                            <m:t>2.776</m:t>
                          </m:r>
                          <m:r>
                            <a:rPr lang="nl-NL" sz="2800" b="0" i="1" smtClean="0">
                              <a:latin typeface="Cambria Math" panose="02040503050406030204" pitchFamily="18" charset="0"/>
                            </a:rPr>
                            <m:t> </m:t>
                          </m:r>
                          <m:r>
                            <a:rPr lang="en-GB" sz="2800" i="1"/>
                            <m:t>×</m:t>
                          </m:r>
                          <m:r>
                            <a:rPr lang="nl-NL" sz="2800" b="0" i="1" smtClean="0">
                              <a:latin typeface="Cambria Math" panose="02040503050406030204" pitchFamily="18" charset="0"/>
                            </a:rPr>
                            <m:t> </m:t>
                          </m:r>
                          <m:r>
                            <a:rPr lang="en-GB" sz="2800" i="1"/>
                            <m:t>5.37</m:t>
                          </m:r>
                        </m:e>
                      </m:d>
                    </m:oMath>
                  </m:oMathPara>
                </a14:m>
                <a:endParaRPr lang="en-GB" sz="2800" dirty="0"/>
              </a:p>
              <a:p>
                <a14:m>
                  <m:oMathPara xmlns:m="http://schemas.openxmlformats.org/officeDocument/2006/math">
                    <m:oMathParaPr>
                      <m:jc m:val="centerGroup"/>
                    </m:oMathParaPr>
                    <m:oMath xmlns:m="http://schemas.openxmlformats.org/officeDocument/2006/math">
                      <m:r>
                        <a:rPr lang="en-GB" sz="2800" i="1" smtClean="0"/>
                        <m:t>105 ±14.9</m:t>
                      </m:r>
                    </m:oMath>
                  </m:oMathPara>
                </a14:m>
                <a:endParaRPr lang="en-GB" sz="2800" dirty="0"/>
              </a:p>
              <a:p>
                <a:endParaRPr lang="en-NL" dirty="0"/>
              </a:p>
            </p:txBody>
          </p:sp>
        </mc:Choice>
        <mc:Fallback>
          <p:sp>
            <p:nvSpPr>
              <p:cNvPr id="11" name="TextBox 10">
                <a:extLst>
                  <a:ext uri="{FF2B5EF4-FFF2-40B4-BE49-F238E27FC236}">
                    <a16:creationId xmlns:a16="http://schemas.microsoft.com/office/drawing/2014/main" id="{DFF81781-C093-AFA8-EDEC-234F00D01E53}"/>
                  </a:ext>
                </a:extLst>
              </p:cNvPr>
              <p:cNvSpPr txBox="1">
                <a:spLocks noRot="1" noChangeAspect="1" noMove="1" noResize="1" noEditPoints="1" noAdjustHandles="1" noChangeArrowheads="1" noChangeShapeType="1" noTextEdit="1"/>
              </p:cNvSpPr>
              <p:nvPr/>
            </p:nvSpPr>
            <p:spPr>
              <a:xfrm>
                <a:off x="4314708" y="4061751"/>
                <a:ext cx="3381054" cy="1138773"/>
              </a:xfrm>
              <a:prstGeom prst="rect">
                <a:avLst/>
              </a:prstGeom>
              <a:blipFill>
                <a:blip r:embed="rId6"/>
                <a:stretch>
                  <a:fillRect l="-1498" t="-329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A34B0DBE-C8F9-84D9-0A4C-BDD36486C072}"/>
              </a:ext>
            </a:extLst>
          </p:cNvPr>
          <p:cNvSpPr txBox="1"/>
          <p:nvPr/>
        </p:nvSpPr>
        <p:spPr>
          <a:xfrm>
            <a:off x="8703898" y="4170848"/>
            <a:ext cx="1260281" cy="46166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GB" sz="2400" i="1" dirty="0">
                <a:latin typeface="Cambria Math" panose="02040503050406030204" pitchFamily="18" charset="0"/>
                <a:ea typeface="Cambria Math" panose="02040503050406030204" pitchFamily="18" charset="0"/>
              </a:rPr>
              <a:t>t</a:t>
            </a:r>
            <a:r>
              <a:rPr lang="en-NL" sz="2400" i="1" dirty="0">
                <a:latin typeface="Cambria Math" panose="02040503050406030204" pitchFamily="18" charset="0"/>
                <a:ea typeface="Cambria Math" panose="02040503050406030204" pitchFamily="18" charset="0"/>
              </a:rPr>
              <a:t>=2.776</a:t>
            </a:r>
          </a:p>
        </p:txBody>
      </p:sp>
      <p:sp>
        <p:nvSpPr>
          <p:cNvPr id="13" name="TextBox 12">
            <a:extLst>
              <a:ext uri="{FF2B5EF4-FFF2-40B4-BE49-F238E27FC236}">
                <a16:creationId xmlns:a16="http://schemas.microsoft.com/office/drawing/2014/main" id="{DF5F1DF5-AE1A-1623-91A0-95F76A30C414}"/>
              </a:ext>
            </a:extLst>
          </p:cNvPr>
          <p:cNvSpPr txBox="1"/>
          <p:nvPr/>
        </p:nvSpPr>
        <p:spPr>
          <a:xfrm>
            <a:off x="4234753" y="5107054"/>
            <a:ext cx="3722494" cy="584775"/>
          </a:xfrm>
          <a:prstGeom prst="rect">
            <a:avLst/>
          </a:prstGeom>
          <a:noFill/>
        </p:spPr>
        <p:txBody>
          <a:bodyPr wrap="none" rtlCol="0">
            <a:spAutoFit/>
          </a:bodyPr>
          <a:lstStyle/>
          <a:p>
            <a:r>
              <a:rPr lang="en-NL" sz="3200" b="1" dirty="0"/>
              <a:t>95% CI: </a:t>
            </a:r>
            <a:r>
              <a:rPr lang="en-GB" sz="3200" b="1" dirty="0"/>
              <a:t>[90.1, 119.9]</a:t>
            </a:r>
            <a:r>
              <a:rPr lang="en-NL" sz="2000" dirty="0"/>
              <a:t> </a:t>
            </a:r>
          </a:p>
        </p:txBody>
      </p:sp>
    </p:spTree>
    <p:extLst>
      <p:ext uri="{BB962C8B-B14F-4D97-AF65-F5344CB8AC3E}">
        <p14:creationId xmlns:p14="http://schemas.microsoft.com/office/powerpoint/2010/main" val="255045179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34CB2-2EE7-5B1E-5DDD-E2CD6A0A95EE}"/>
              </a:ext>
            </a:extLst>
          </p:cNvPr>
          <p:cNvSpPr>
            <a:spLocks noGrp="1"/>
          </p:cNvSpPr>
          <p:nvPr>
            <p:ph type="title"/>
          </p:nvPr>
        </p:nvSpPr>
        <p:spPr/>
        <p:txBody>
          <a:bodyPr/>
          <a:lstStyle/>
          <a:p>
            <a:r>
              <a:rPr lang="en-NL" dirty="0"/>
              <a:t>CI for </a:t>
            </a:r>
            <a:r>
              <a:rPr lang="en-NL" dirty="0">
                <a:solidFill>
                  <a:schemeClr val="accent1"/>
                </a:solidFill>
              </a:rPr>
              <a:t>proportions</a:t>
            </a:r>
            <a:r>
              <a:rPr lang="en-NL" dirty="0"/>
              <a:t> (binary outcomes)</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91037B91-E6E5-1F8B-EF58-C5B9503120DD}"/>
                  </a:ext>
                </a:extLst>
              </p:cNvPr>
              <p:cNvSpPr txBox="1"/>
              <p:nvPr/>
            </p:nvSpPr>
            <p:spPr>
              <a:xfrm>
                <a:off x="4941479" y="3216003"/>
                <a:ext cx="2586285" cy="1273041"/>
              </a:xfrm>
              <a:prstGeom prst="rect">
                <a:avLst/>
              </a:prstGeom>
            </p:spPr>
            <p:style>
              <a:lnRef idx="2">
                <a:schemeClr val="accent1"/>
              </a:lnRef>
              <a:fillRef idx="1">
                <a:schemeClr val="lt1"/>
              </a:fillRef>
              <a:effectRef idx="0">
                <a:schemeClr val="accent1"/>
              </a:effectRef>
              <a:fontRef idx="minor">
                <a:schemeClr val="dk1"/>
              </a:fontRef>
            </p:style>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GB" sz="2800" i="1" smtClean="0"/>
                        <m:t>𝑆𝐸</m:t>
                      </m:r>
                      <m:r>
                        <a:rPr lang="en-GB" sz="2800" i="1" smtClean="0"/>
                        <m:t>=</m:t>
                      </m:r>
                      <m:rad>
                        <m:radPr>
                          <m:degHide m:val="on"/>
                          <m:ctrlPr>
                            <a:rPr lang="en-GB" sz="2800" i="1">
                              <a:latin typeface="Cambria Math" panose="02040503050406030204" pitchFamily="18" charset="0"/>
                            </a:rPr>
                          </m:ctrlPr>
                        </m:radPr>
                        <m:deg/>
                        <m:e>
                          <m:f>
                            <m:fPr>
                              <m:ctrlPr>
                                <a:rPr lang="en-GB" sz="2800" i="1">
                                  <a:latin typeface="Cambria Math" panose="02040503050406030204" pitchFamily="18" charset="0"/>
                                </a:rPr>
                              </m:ctrlPr>
                            </m:fPr>
                            <m:num>
                              <m:acc>
                                <m:accPr>
                                  <m:chr m:val="̂"/>
                                  <m:ctrlPr>
                                    <a:rPr lang="en-GB" sz="2800" i="1">
                                      <a:latin typeface="Cambria Math" panose="02040503050406030204" pitchFamily="18" charset="0"/>
                                    </a:rPr>
                                  </m:ctrlPr>
                                </m:accPr>
                                <m:e>
                                  <m:r>
                                    <a:rPr lang="en-GB" sz="2800" i="1"/>
                                    <m:t>𝑝</m:t>
                                  </m:r>
                                </m:e>
                              </m:acc>
                              <m:d>
                                <m:dPr>
                                  <m:ctrlPr>
                                    <a:rPr lang="en-GB" sz="2800" i="1">
                                      <a:latin typeface="Cambria Math" panose="02040503050406030204" pitchFamily="18" charset="0"/>
                                    </a:rPr>
                                  </m:ctrlPr>
                                </m:dPr>
                                <m:e>
                                  <m:r>
                                    <a:rPr lang="en-GB" sz="2800" i="1"/>
                                    <m:t>1−</m:t>
                                  </m:r>
                                  <m:acc>
                                    <m:accPr>
                                      <m:chr m:val="̂"/>
                                      <m:ctrlPr>
                                        <a:rPr lang="en-GB" sz="2800" i="1">
                                          <a:latin typeface="Cambria Math" panose="02040503050406030204" pitchFamily="18" charset="0"/>
                                        </a:rPr>
                                      </m:ctrlPr>
                                    </m:accPr>
                                    <m:e>
                                      <m:r>
                                        <a:rPr lang="en-GB" sz="2800" i="1"/>
                                        <m:t>𝑝</m:t>
                                      </m:r>
                                    </m:e>
                                  </m:acc>
                                </m:e>
                              </m:d>
                            </m:num>
                            <m:den>
                              <m:r>
                                <a:rPr lang="en-GB" sz="2800" i="1"/>
                                <m:t>𝑛</m:t>
                              </m:r>
                            </m:den>
                          </m:f>
                        </m:e>
                      </m:rad>
                    </m:oMath>
                  </m:oMathPara>
                </a14:m>
                <a:endParaRPr lang="en-NL" dirty="0"/>
              </a:p>
            </p:txBody>
          </p:sp>
        </mc:Choice>
        <mc:Fallback>
          <p:sp>
            <p:nvSpPr>
              <p:cNvPr id="4" name="TextBox 3">
                <a:extLst>
                  <a:ext uri="{FF2B5EF4-FFF2-40B4-BE49-F238E27FC236}">
                    <a16:creationId xmlns:a16="http://schemas.microsoft.com/office/drawing/2014/main" id="{91037B91-E6E5-1F8B-EF58-C5B9503120DD}"/>
                  </a:ext>
                </a:extLst>
              </p:cNvPr>
              <p:cNvSpPr txBox="1">
                <a:spLocks noRot="1" noChangeAspect="1" noMove="1" noResize="1" noEditPoints="1" noAdjustHandles="1" noChangeArrowheads="1" noChangeShapeType="1" noTextEdit="1"/>
              </p:cNvSpPr>
              <p:nvPr/>
            </p:nvSpPr>
            <p:spPr>
              <a:xfrm>
                <a:off x="4941479" y="3216003"/>
                <a:ext cx="2586285" cy="1273041"/>
              </a:xfrm>
              <a:prstGeom prst="rect">
                <a:avLst/>
              </a:prstGeom>
              <a:blipFill>
                <a:blip r:embed="rId2"/>
                <a:stretch>
                  <a:fillRect l="-2427"/>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03754CDF-22F7-C88E-68A2-5E0C5522F91D}"/>
                  </a:ext>
                </a:extLst>
              </p:cNvPr>
              <p:cNvSpPr txBox="1"/>
              <p:nvPr/>
            </p:nvSpPr>
            <p:spPr>
              <a:xfrm>
                <a:off x="5521125" y="1604935"/>
                <a:ext cx="1426994" cy="818301"/>
              </a:xfrm>
              <a:prstGeom prst="rect">
                <a:avLst/>
              </a:prstGeom>
            </p:spPr>
            <p:style>
              <a:lnRef idx="2">
                <a:schemeClr val="accent1"/>
              </a:lnRef>
              <a:fillRef idx="1">
                <a:schemeClr val="lt1"/>
              </a:fillRef>
              <a:effectRef idx="0">
                <a:schemeClr val="accent1"/>
              </a:effectRef>
              <a:fontRef idx="minor">
                <a:schemeClr val="dk1"/>
              </a:fontRef>
            </p:style>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GB" sz="2800" i="1" smtClean="0"/>
                        <m:t>𝑆𝐸</m:t>
                      </m:r>
                      <m:r>
                        <a:rPr lang="en-GB" sz="2800" i="1" smtClean="0"/>
                        <m:t>=</m:t>
                      </m:r>
                      <m:f>
                        <m:fPr>
                          <m:ctrlPr>
                            <a:rPr lang="en-GB" sz="2800" i="1">
                              <a:latin typeface="Cambria Math" panose="02040503050406030204" pitchFamily="18" charset="0"/>
                            </a:rPr>
                          </m:ctrlPr>
                        </m:fPr>
                        <m:num>
                          <m:r>
                            <a:rPr lang="en-GB" sz="2800" i="1"/>
                            <m:t>𝑠</m:t>
                          </m:r>
                        </m:num>
                        <m:den>
                          <m:rad>
                            <m:radPr>
                              <m:degHide m:val="on"/>
                              <m:ctrlPr>
                                <a:rPr lang="en-GB" sz="2800" i="1">
                                  <a:latin typeface="Cambria Math" panose="02040503050406030204" pitchFamily="18" charset="0"/>
                                </a:rPr>
                              </m:ctrlPr>
                            </m:radPr>
                            <m:deg/>
                            <m:e>
                              <m:r>
                                <a:rPr lang="en-GB" sz="2800" i="1"/>
                                <m:t>𝑛</m:t>
                              </m:r>
                            </m:e>
                          </m:rad>
                        </m:den>
                      </m:f>
                    </m:oMath>
                  </m:oMathPara>
                </a14:m>
                <a:endParaRPr lang="en-NL" sz="2800" dirty="0"/>
              </a:p>
            </p:txBody>
          </p:sp>
        </mc:Choice>
        <mc:Fallback>
          <p:sp>
            <p:nvSpPr>
              <p:cNvPr id="7" name="TextBox 6">
                <a:extLst>
                  <a:ext uri="{FF2B5EF4-FFF2-40B4-BE49-F238E27FC236}">
                    <a16:creationId xmlns:a16="http://schemas.microsoft.com/office/drawing/2014/main" id="{03754CDF-22F7-C88E-68A2-5E0C5522F91D}"/>
                  </a:ext>
                </a:extLst>
              </p:cNvPr>
              <p:cNvSpPr txBox="1">
                <a:spLocks noRot="1" noChangeAspect="1" noMove="1" noResize="1" noEditPoints="1" noAdjustHandles="1" noChangeArrowheads="1" noChangeShapeType="1" noTextEdit="1"/>
              </p:cNvSpPr>
              <p:nvPr/>
            </p:nvSpPr>
            <p:spPr>
              <a:xfrm>
                <a:off x="5521125" y="1604935"/>
                <a:ext cx="1426994" cy="818301"/>
              </a:xfrm>
              <a:prstGeom prst="rect">
                <a:avLst/>
              </a:prstGeom>
              <a:blipFill>
                <a:blip r:embed="rId3"/>
                <a:stretch>
                  <a:fillRect l="-4310" r="-862"/>
                </a:stretch>
              </a:blipFill>
            </p:spPr>
            <p:txBody>
              <a:bodyPr/>
              <a:lstStyle/>
              <a:p>
                <a:r>
                  <a:rPr lang="en-NL">
                    <a:noFill/>
                  </a:rPr>
                  <a:t> </a:t>
                </a:r>
              </a:p>
            </p:txBody>
          </p:sp>
        </mc:Fallback>
      </mc:AlternateContent>
      <p:sp>
        <p:nvSpPr>
          <p:cNvPr id="8" name="TextBox 7">
            <a:extLst>
              <a:ext uri="{FF2B5EF4-FFF2-40B4-BE49-F238E27FC236}">
                <a16:creationId xmlns:a16="http://schemas.microsoft.com/office/drawing/2014/main" id="{CE504FF0-FD34-3709-47E5-4C4FF68DC658}"/>
              </a:ext>
            </a:extLst>
          </p:cNvPr>
          <p:cNvSpPr txBox="1"/>
          <p:nvPr/>
        </p:nvSpPr>
        <p:spPr>
          <a:xfrm>
            <a:off x="5359078" y="1170260"/>
            <a:ext cx="1135247" cy="461665"/>
          </a:xfrm>
          <a:prstGeom prst="rect">
            <a:avLst/>
          </a:prstGeom>
          <a:noFill/>
        </p:spPr>
        <p:txBody>
          <a:bodyPr wrap="none" rtlCol="0">
            <a:spAutoFit/>
          </a:bodyPr>
          <a:lstStyle/>
          <a:p>
            <a:r>
              <a:rPr lang="en-NL" sz="2400" b="1" dirty="0"/>
              <a:t>Means:</a:t>
            </a:r>
          </a:p>
        </p:txBody>
      </p:sp>
      <p:sp>
        <p:nvSpPr>
          <p:cNvPr id="9" name="TextBox 8">
            <a:extLst>
              <a:ext uri="{FF2B5EF4-FFF2-40B4-BE49-F238E27FC236}">
                <a16:creationId xmlns:a16="http://schemas.microsoft.com/office/drawing/2014/main" id="{67D86C64-CA37-3377-41DE-FB678D7D971E}"/>
              </a:ext>
            </a:extLst>
          </p:cNvPr>
          <p:cNvSpPr txBox="1"/>
          <p:nvPr/>
        </p:nvSpPr>
        <p:spPr>
          <a:xfrm>
            <a:off x="4840486" y="2754338"/>
            <a:ext cx="1779077" cy="461665"/>
          </a:xfrm>
          <a:prstGeom prst="rect">
            <a:avLst/>
          </a:prstGeom>
          <a:noFill/>
        </p:spPr>
        <p:txBody>
          <a:bodyPr wrap="none" rtlCol="0">
            <a:spAutoFit/>
          </a:bodyPr>
          <a:lstStyle/>
          <a:p>
            <a:r>
              <a:rPr lang="en-NL" sz="2400" b="1" dirty="0"/>
              <a:t>Proportions:</a:t>
            </a:r>
          </a:p>
        </p:txBody>
      </p:sp>
      <p:sp>
        <p:nvSpPr>
          <p:cNvPr id="10" name="TextBox 9">
            <a:extLst>
              <a:ext uri="{FF2B5EF4-FFF2-40B4-BE49-F238E27FC236}">
                <a16:creationId xmlns:a16="http://schemas.microsoft.com/office/drawing/2014/main" id="{FF0CD276-55EF-B78E-86DE-CA196F8BF307}"/>
              </a:ext>
            </a:extLst>
          </p:cNvPr>
          <p:cNvSpPr txBox="1"/>
          <p:nvPr/>
        </p:nvSpPr>
        <p:spPr>
          <a:xfrm>
            <a:off x="3019562" y="4950709"/>
            <a:ext cx="6694140" cy="830997"/>
          </a:xfrm>
          <a:prstGeom prst="rect">
            <a:avLst/>
          </a:prstGeom>
          <a:noFill/>
        </p:spPr>
        <p:txBody>
          <a:bodyPr wrap="none" rtlCol="0">
            <a:spAutoFit/>
          </a:bodyPr>
          <a:lstStyle/>
          <a:p>
            <a:pPr algn="ctr"/>
            <a:r>
              <a:rPr lang="en-NL" sz="2400" b="1" dirty="0">
                <a:solidFill>
                  <a:schemeClr val="accent1"/>
                </a:solidFill>
              </a:rPr>
              <a:t>If we measured a percentage, we know the spread.</a:t>
            </a:r>
          </a:p>
          <a:p>
            <a:pPr algn="ctr"/>
            <a:r>
              <a:rPr lang="en-NL" sz="2400" b="1" dirty="0">
                <a:solidFill>
                  <a:schemeClr val="accent1"/>
                </a:solidFill>
              </a:rPr>
              <a:t>e.g. 50% said True, then 100-50 said False</a:t>
            </a:r>
          </a:p>
        </p:txBody>
      </p:sp>
    </p:spTree>
    <p:extLst>
      <p:ext uri="{BB962C8B-B14F-4D97-AF65-F5344CB8AC3E}">
        <p14:creationId xmlns:p14="http://schemas.microsoft.com/office/powerpoint/2010/main" val="81331729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B09C8-3DA7-9BE8-9D10-982F738492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59096F-C58A-424E-C7F9-E110B4B17EE8}"/>
              </a:ext>
            </a:extLst>
          </p:cNvPr>
          <p:cNvSpPr>
            <a:spLocks noGrp="1"/>
          </p:cNvSpPr>
          <p:nvPr>
            <p:ph type="title"/>
          </p:nvPr>
        </p:nvSpPr>
        <p:spPr/>
        <p:txBody>
          <a:bodyPr>
            <a:normAutofit fontScale="90000"/>
          </a:bodyPr>
          <a:lstStyle/>
          <a:p>
            <a:r>
              <a:rPr lang="en-US" dirty="0"/>
              <a:t>Confidence Interval for Proportion of a Single Sample</a:t>
            </a: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F7C15157-D4CA-0B4D-F365-65C238611A0F}"/>
                  </a:ext>
                </a:extLst>
              </p:cNvPr>
              <p:cNvSpPr/>
              <p:nvPr/>
            </p:nvSpPr>
            <p:spPr>
              <a:xfrm>
                <a:off x="558843" y="4723194"/>
                <a:ext cx="5324022" cy="1302088"/>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400" i="1" smtClean="0">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𝑝</m:t>
                          </m:r>
                          <m:r>
                            <a:rPr lang="en-US" sz="2400" i="1">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𝑝</m:t>
                              </m:r>
                            </m:e>
                          </m:acc>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𝑧</m:t>
                              </m:r>
                            </m:e>
                            <m:sub>
                              <m:f>
                                <m:fPr>
                                  <m:type m:val="skw"/>
                                  <m:ctrlPr>
                                    <a:rPr lang="en-US" sz="2400" i="1">
                                      <a:latin typeface="Cambria Math" panose="02040503050406030204" pitchFamily="18" charset="0"/>
                                    </a:rPr>
                                  </m:ctrlPr>
                                </m:fPr>
                                <m:num>
                                  <m:r>
                                    <a:rPr lang="en-US" sz="2400" i="1">
                                      <a:latin typeface="Cambria Math" panose="02040503050406030204" pitchFamily="18" charset="0"/>
                                    </a:rPr>
                                    <m:t>𝛼</m:t>
                                  </m:r>
                                </m:num>
                                <m:den>
                                  <m:r>
                                    <a:rPr lang="en-US" sz="2400" i="1">
                                      <a:latin typeface="Cambria Math" panose="02040503050406030204" pitchFamily="18" charset="0"/>
                                    </a:rPr>
                                    <m:t>2</m:t>
                                  </m:r>
                                </m:den>
                              </m:f>
                            </m:sub>
                          </m:sSub>
                          <m:r>
                            <a:rPr lang="en-US" sz="2400" i="1">
                              <a:latin typeface="Cambria Math" panose="02040503050406030204" pitchFamily="18" charset="0"/>
                            </a:rPr>
                            <m:t> </m:t>
                          </m:r>
                          <m:rad>
                            <m:radPr>
                              <m:degHide m:val="on"/>
                              <m:ctrlPr>
                                <a:rPr lang="en-US" sz="2400" i="1">
                                  <a:latin typeface="Cambria Math" panose="02040503050406030204" pitchFamily="18" charset="0"/>
                                </a:rPr>
                              </m:ctrlPr>
                            </m:radPr>
                            <m:deg/>
                            <m:e>
                              <m:f>
                                <m:fPr>
                                  <m:ctrlPr>
                                    <a:rPr lang="en-US" sz="2400" i="1">
                                      <a:latin typeface="Cambria Math" panose="02040503050406030204" pitchFamily="18" charset="0"/>
                                    </a:rPr>
                                  </m:ctrlPr>
                                </m:fPr>
                                <m:num>
                                  <m:acc>
                                    <m:accPr>
                                      <m:chr m:val="̂"/>
                                      <m:ctrlPr>
                                        <a:rPr lang="en-US" sz="2400" i="1" dirty="0">
                                          <a:latin typeface="Cambria Math" panose="02040503050406030204" pitchFamily="18" charset="0"/>
                                        </a:rPr>
                                      </m:ctrlPr>
                                    </m:accPr>
                                    <m:e>
                                      <m:r>
                                        <a:rPr lang="en-US" sz="2400" i="1" dirty="0">
                                          <a:latin typeface="Cambria Math" panose="02040503050406030204" pitchFamily="18" charset="0"/>
                                        </a:rPr>
                                        <m:t>𝑝</m:t>
                                      </m:r>
                                    </m:e>
                                  </m:acc>
                                  <m:d>
                                    <m:dPr>
                                      <m:ctrlPr>
                                        <a:rPr lang="en-US" sz="2400" i="1" dirty="0">
                                          <a:latin typeface="Cambria Math" panose="02040503050406030204" pitchFamily="18" charset="0"/>
                                        </a:rPr>
                                      </m:ctrlPr>
                                    </m:dPr>
                                    <m:e>
                                      <m:r>
                                        <a:rPr lang="en-US" sz="2400" i="1" dirty="0">
                                          <a:latin typeface="Cambria Math" panose="02040503050406030204" pitchFamily="18" charset="0"/>
                                        </a:rPr>
                                        <m:t>1−</m:t>
                                      </m:r>
                                      <m:acc>
                                        <m:accPr>
                                          <m:chr m:val="̂"/>
                                          <m:ctrlPr>
                                            <a:rPr lang="en-US" sz="2400" i="1" dirty="0">
                                              <a:latin typeface="Cambria Math" panose="02040503050406030204" pitchFamily="18" charset="0"/>
                                            </a:rPr>
                                          </m:ctrlPr>
                                        </m:accPr>
                                        <m:e>
                                          <m:r>
                                            <a:rPr lang="en-US" sz="2400" i="1" dirty="0">
                                              <a:latin typeface="Cambria Math" panose="02040503050406030204" pitchFamily="18" charset="0"/>
                                            </a:rPr>
                                            <m:t>𝑝</m:t>
                                          </m:r>
                                        </m:e>
                                      </m:acc>
                                    </m:e>
                                  </m:d>
                                </m:num>
                                <m:den>
                                  <m:r>
                                    <a:rPr lang="en-US" sz="2400" i="1">
                                      <a:latin typeface="Cambria Math" panose="02040503050406030204" pitchFamily="18" charset="0"/>
                                    </a:rPr>
                                    <m:t>𝑛</m:t>
                                  </m:r>
                                </m:den>
                              </m:f>
                            </m:e>
                          </m:rad>
                          <m:r>
                            <a:rPr lang="en-US" sz="2400" b="0" i="1" smtClean="0">
                              <a:latin typeface="Cambria Math" panose="02040503050406030204" pitchFamily="18" charset="0"/>
                            </a:rPr>
                            <m:t>]</m:t>
                          </m:r>
                        </m:e>
                      </m:d>
                      <m:r>
                        <a:rPr lang="en-US" sz="2400" i="1">
                          <a:latin typeface="Cambria Math" panose="02040503050406030204" pitchFamily="18" charset="0"/>
                        </a:rPr>
                        <m:t>≈1−</m:t>
                      </m:r>
                      <m:r>
                        <a:rPr lang="en-US" sz="2400" i="1">
                          <a:latin typeface="Cambria Math" panose="02040503050406030204" pitchFamily="18" charset="0"/>
                        </a:rPr>
                        <m:t>𝛼</m:t>
                      </m:r>
                    </m:oMath>
                  </m:oMathPara>
                </a14:m>
                <a:endParaRPr lang="en-US" sz="2400" dirty="0"/>
              </a:p>
            </p:txBody>
          </p:sp>
        </mc:Choice>
        <mc:Fallback xmlns="">
          <p:sp>
            <p:nvSpPr>
              <p:cNvPr id="8" name="Rectangle 7">
                <a:extLst>
                  <a:ext uri="{FF2B5EF4-FFF2-40B4-BE49-F238E27FC236}">
                    <a16:creationId xmlns:a16="http://schemas.microsoft.com/office/drawing/2014/main" id="{F7C15157-D4CA-0B4D-F365-65C238611A0F}"/>
                  </a:ext>
                </a:extLst>
              </p:cNvPr>
              <p:cNvSpPr>
                <a:spLocks noRot="1" noChangeAspect="1" noMove="1" noResize="1" noEditPoints="1" noAdjustHandles="1" noChangeArrowheads="1" noChangeShapeType="1" noTextEdit="1"/>
              </p:cNvSpPr>
              <p:nvPr/>
            </p:nvSpPr>
            <p:spPr>
              <a:xfrm>
                <a:off x="558843" y="4723194"/>
                <a:ext cx="5324022" cy="1302088"/>
              </a:xfrm>
              <a:prstGeom prst="rect">
                <a:avLst/>
              </a:prstGeom>
              <a:blipFill>
                <a:blip r:embed="rId2"/>
                <a:stretch>
                  <a:fillRect l="-238" b="-38835"/>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98CDEEC2-286F-A135-E2E4-ABA39D5D69FF}"/>
              </a:ext>
            </a:extLst>
          </p:cNvPr>
          <p:cNvGrpSpPr/>
          <p:nvPr/>
        </p:nvGrpSpPr>
        <p:grpSpPr>
          <a:xfrm>
            <a:off x="269491" y="1113523"/>
            <a:ext cx="6016120" cy="3622825"/>
            <a:chOff x="202118" y="835142"/>
            <a:chExt cx="4512090" cy="2717119"/>
          </a:xfrm>
        </p:grpSpPr>
        <p:pic>
          <p:nvPicPr>
            <p:cNvPr id="7" name="Content Placeholder 4">
              <a:extLst>
                <a:ext uri="{FF2B5EF4-FFF2-40B4-BE49-F238E27FC236}">
                  <a16:creationId xmlns:a16="http://schemas.microsoft.com/office/drawing/2014/main" id="{BA01CF1B-8CBA-3220-973D-C793F0EAB0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118" y="835142"/>
              <a:ext cx="4512090" cy="2707253"/>
            </a:xfrm>
            <a:prstGeom prst="rect">
              <a:avLst/>
            </a:prstGeom>
          </p:spPr>
        </p:pic>
        <p:sp>
          <p:nvSpPr>
            <p:cNvPr id="10" name="TextBox 9">
              <a:extLst>
                <a:ext uri="{FF2B5EF4-FFF2-40B4-BE49-F238E27FC236}">
                  <a16:creationId xmlns:a16="http://schemas.microsoft.com/office/drawing/2014/main" id="{821F5C76-98C1-C58C-B6CD-35CFB70CE9CD}"/>
                </a:ext>
              </a:extLst>
            </p:cNvPr>
            <p:cNvSpPr txBox="1"/>
            <p:nvPr/>
          </p:nvSpPr>
          <p:spPr>
            <a:xfrm>
              <a:off x="1760221" y="3250619"/>
              <a:ext cx="318134" cy="161583"/>
            </a:xfrm>
            <a:prstGeom prst="rect">
              <a:avLst/>
            </a:prstGeom>
            <a:solidFill>
              <a:schemeClr val="bg2"/>
            </a:solidFill>
          </p:spPr>
          <p:txBody>
            <a:bodyPr wrap="square" rtlCol="0">
              <a:spAutoFit/>
            </a:bodyPr>
            <a:lstStyle/>
            <a:p>
              <a:r>
                <a:rPr lang="en-US" sz="800" dirty="0"/>
                <a:t>0.2</a:t>
              </a:r>
            </a:p>
          </p:txBody>
        </p:sp>
        <p:sp>
          <p:nvSpPr>
            <p:cNvPr id="11" name="TextBox 10">
              <a:extLst>
                <a:ext uri="{FF2B5EF4-FFF2-40B4-BE49-F238E27FC236}">
                  <a16:creationId xmlns:a16="http://schemas.microsoft.com/office/drawing/2014/main" id="{19F74DDA-3357-3AB4-F8BF-83111D238B3A}"/>
                </a:ext>
              </a:extLst>
            </p:cNvPr>
            <p:cNvSpPr txBox="1"/>
            <p:nvPr/>
          </p:nvSpPr>
          <p:spPr>
            <a:xfrm>
              <a:off x="2388871" y="3250619"/>
              <a:ext cx="318134" cy="161583"/>
            </a:xfrm>
            <a:prstGeom prst="rect">
              <a:avLst/>
            </a:prstGeom>
            <a:solidFill>
              <a:schemeClr val="bg2"/>
            </a:solidFill>
          </p:spPr>
          <p:txBody>
            <a:bodyPr wrap="square" rtlCol="0">
              <a:spAutoFit/>
            </a:bodyPr>
            <a:lstStyle/>
            <a:p>
              <a:r>
                <a:rPr lang="en-US" sz="800" dirty="0"/>
                <a:t>0.4</a:t>
              </a:r>
            </a:p>
          </p:txBody>
        </p:sp>
        <p:sp>
          <p:nvSpPr>
            <p:cNvPr id="12" name="TextBox 11">
              <a:extLst>
                <a:ext uri="{FF2B5EF4-FFF2-40B4-BE49-F238E27FC236}">
                  <a16:creationId xmlns:a16="http://schemas.microsoft.com/office/drawing/2014/main" id="{3052EC20-C46F-5AB4-7A33-79BDA296C2B6}"/>
                </a:ext>
              </a:extLst>
            </p:cNvPr>
            <p:cNvSpPr txBox="1"/>
            <p:nvPr/>
          </p:nvSpPr>
          <p:spPr>
            <a:xfrm>
              <a:off x="2981636" y="3250619"/>
              <a:ext cx="318134" cy="161583"/>
            </a:xfrm>
            <a:prstGeom prst="rect">
              <a:avLst/>
            </a:prstGeom>
            <a:solidFill>
              <a:schemeClr val="bg2"/>
            </a:solidFill>
          </p:spPr>
          <p:txBody>
            <a:bodyPr wrap="square" rtlCol="0">
              <a:spAutoFit/>
            </a:bodyPr>
            <a:lstStyle/>
            <a:p>
              <a:r>
                <a:rPr lang="en-US" sz="800" dirty="0"/>
                <a:t>0.6</a:t>
              </a:r>
            </a:p>
          </p:txBody>
        </p:sp>
        <p:sp>
          <p:nvSpPr>
            <p:cNvPr id="13" name="TextBox 12">
              <a:extLst>
                <a:ext uri="{FF2B5EF4-FFF2-40B4-BE49-F238E27FC236}">
                  <a16:creationId xmlns:a16="http://schemas.microsoft.com/office/drawing/2014/main" id="{08E2FBD7-414F-F125-19C3-9EE2B157B14D}"/>
                </a:ext>
              </a:extLst>
            </p:cNvPr>
            <p:cNvSpPr txBox="1"/>
            <p:nvPr/>
          </p:nvSpPr>
          <p:spPr>
            <a:xfrm>
              <a:off x="3636458" y="3250619"/>
              <a:ext cx="318134" cy="161583"/>
            </a:xfrm>
            <a:prstGeom prst="rect">
              <a:avLst/>
            </a:prstGeom>
            <a:solidFill>
              <a:schemeClr val="bg2"/>
            </a:solidFill>
          </p:spPr>
          <p:txBody>
            <a:bodyPr wrap="square" rtlCol="0">
              <a:spAutoFit/>
            </a:bodyPr>
            <a:lstStyle/>
            <a:p>
              <a:r>
                <a:rPr lang="en-US" sz="800" dirty="0"/>
                <a:t>0.8</a:t>
              </a:r>
            </a:p>
          </p:txBody>
        </p:sp>
        <p:sp>
          <p:nvSpPr>
            <p:cNvPr id="14" name="TextBox 13">
              <a:extLst>
                <a:ext uri="{FF2B5EF4-FFF2-40B4-BE49-F238E27FC236}">
                  <a16:creationId xmlns:a16="http://schemas.microsoft.com/office/drawing/2014/main" id="{341A9BB2-2661-081B-D88D-6CE04CBA2E14}"/>
                </a:ext>
              </a:extLst>
            </p:cNvPr>
            <p:cNvSpPr txBox="1"/>
            <p:nvPr/>
          </p:nvSpPr>
          <p:spPr>
            <a:xfrm>
              <a:off x="1868276" y="3375337"/>
              <a:ext cx="1546861" cy="176924"/>
            </a:xfrm>
            <a:prstGeom prst="rect">
              <a:avLst/>
            </a:prstGeom>
            <a:solidFill>
              <a:schemeClr val="bg2"/>
            </a:solidFill>
          </p:spPr>
          <p:txBody>
            <a:bodyPr wrap="square" rtlCol="0">
              <a:spAutoFit/>
            </a:bodyPr>
            <a:lstStyle/>
            <a:p>
              <a:r>
                <a:rPr lang="en-US" sz="933" dirty="0"/>
                <a:t>Proportion of Happy Customers</a:t>
              </a:r>
            </a:p>
          </p:txBody>
        </p:sp>
      </p:grpSp>
      <p:cxnSp>
        <p:nvCxnSpPr>
          <p:cNvPr id="16" name="Straight Connector 15">
            <a:extLst>
              <a:ext uri="{FF2B5EF4-FFF2-40B4-BE49-F238E27FC236}">
                <a16:creationId xmlns:a16="http://schemas.microsoft.com/office/drawing/2014/main" id="{CAC6E299-9A01-AE08-8DCE-D8C33A7215D8}"/>
              </a:ext>
            </a:extLst>
          </p:cNvPr>
          <p:cNvCxnSpPr/>
          <p:nvPr/>
        </p:nvCxnSpPr>
        <p:spPr>
          <a:xfrm flipH="1" flipV="1">
            <a:off x="3355015" y="1809420"/>
            <a:ext cx="32613" cy="252473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B381641-CAA1-7484-B268-F77609E37F93}"/>
                  </a:ext>
                </a:extLst>
              </p:cNvPr>
              <p:cNvSpPr txBox="1"/>
              <p:nvPr/>
            </p:nvSpPr>
            <p:spPr>
              <a:xfrm>
                <a:off x="2961891" y="1563200"/>
                <a:ext cx="47930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2400" i="1" dirty="0">
                              <a:latin typeface="Cambria Math" panose="02040503050406030204" pitchFamily="18" charset="0"/>
                            </a:rPr>
                          </m:ctrlPr>
                        </m:accPr>
                        <m:e>
                          <m:r>
                            <a:rPr lang="en-US" sz="2400" i="1" dirty="0">
                              <a:latin typeface="Cambria Math" panose="02040503050406030204" pitchFamily="18" charset="0"/>
                            </a:rPr>
                            <m:t>𝑝</m:t>
                          </m:r>
                        </m:e>
                      </m:acc>
                      <m:r>
                        <a:rPr lang="en-US" sz="2400" i="1" dirty="0">
                          <a:latin typeface="Cambria Math" panose="02040503050406030204" pitchFamily="18" charset="0"/>
                        </a:rPr>
                        <m:t> </m:t>
                      </m:r>
                    </m:oMath>
                  </m:oMathPara>
                </a14:m>
                <a:endParaRPr lang="en-US" sz="2400" dirty="0"/>
              </a:p>
            </p:txBody>
          </p:sp>
        </mc:Choice>
        <mc:Fallback xmlns="">
          <p:sp>
            <p:nvSpPr>
              <p:cNvPr id="17" name="TextBox 16">
                <a:extLst>
                  <a:ext uri="{FF2B5EF4-FFF2-40B4-BE49-F238E27FC236}">
                    <a16:creationId xmlns:a16="http://schemas.microsoft.com/office/drawing/2014/main" id="{2B381641-CAA1-7484-B268-F77609E37F93}"/>
                  </a:ext>
                </a:extLst>
              </p:cNvPr>
              <p:cNvSpPr txBox="1">
                <a:spLocks noRot="1" noChangeAspect="1" noMove="1" noResize="1" noEditPoints="1" noAdjustHandles="1" noChangeArrowheads="1" noChangeShapeType="1" noTextEdit="1"/>
              </p:cNvSpPr>
              <p:nvPr/>
            </p:nvSpPr>
            <p:spPr>
              <a:xfrm>
                <a:off x="2961891" y="1563200"/>
                <a:ext cx="479307" cy="461665"/>
              </a:xfrm>
              <a:prstGeom prst="rect">
                <a:avLst/>
              </a:prstGeom>
              <a:blipFill>
                <a:blip r:embed="rId4"/>
                <a:stretch>
                  <a:fillRect r="-5128" b="-21053"/>
                </a:stretch>
              </a:blipFill>
            </p:spPr>
            <p:txBody>
              <a:bodyPr/>
              <a:lstStyle/>
              <a:p>
                <a:r>
                  <a:rPr lang="en-US">
                    <a:noFill/>
                  </a:rPr>
                  <a:t> </a:t>
                </a:r>
              </a:p>
            </p:txBody>
          </p:sp>
        </mc:Fallback>
      </mc:AlternateContent>
      <p:cxnSp>
        <p:nvCxnSpPr>
          <p:cNvPr id="18" name="Straight Connector 17">
            <a:extLst>
              <a:ext uri="{FF2B5EF4-FFF2-40B4-BE49-F238E27FC236}">
                <a16:creationId xmlns:a16="http://schemas.microsoft.com/office/drawing/2014/main" id="{8DFA093B-9832-8ABA-E0EF-CC91536E0F76}"/>
              </a:ext>
            </a:extLst>
          </p:cNvPr>
          <p:cNvCxnSpPr/>
          <p:nvPr/>
        </p:nvCxnSpPr>
        <p:spPr>
          <a:xfrm flipH="1" flipV="1">
            <a:off x="2799975" y="3218271"/>
            <a:ext cx="9047" cy="1079197"/>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15350AA-D8D5-5C18-1E22-5C86CE45C5AB}"/>
                  </a:ext>
                </a:extLst>
              </p:cNvPr>
              <p:cNvSpPr txBox="1"/>
              <p:nvPr/>
            </p:nvSpPr>
            <p:spPr>
              <a:xfrm>
                <a:off x="2429908" y="2951753"/>
                <a:ext cx="479307" cy="461665"/>
              </a:xfrm>
              <a:prstGeom prst="rect">
                <a:avLst/>
              </a:prstGeom>
              <a:noFill/>
            </p:spPr>
            <p:txBody>
              <a:bodyPr wrap="square" rtlCol="0">
                <a:spAutoFit/>
              </a:bodyPr>
              <a:lstStyle/>
              <a:p>
                <a14:m>
                  <m:oMath xmlns:m="http://schemas.openxmlformats.org/officeDocument/2006/math">
                    <m:r>
                      <a:rPr lang="en-US" sz="2400" i="1">
                        <a:latin typeface="Cambria Math" panose="02040503050406030204" pitchFamily="18" charset="0"/>
                      </a:rPr>
                      <m:t>𝑝</m:t>
                    </m:r>
                  </m:oMath>
                </a14:m>
                <a:r>
                  <a:rPr lang="en-US" sz="2400" dirty="0"/>
                  <a:t> </a:t>
                </a:r>
              </a:p>
            </p:txBody>
          </p:sp>
        </mc:Choice>
        <mc:Fallback xmlns="">
          <p:sp>
            <p:nvSpPr>
              <p:cNvPr id="19" name="TextBox 18">
                <a:extLst>
                  <a:ext uri="{FF2B5EF4-FFF2-40B4-BE49-F238E27FC236}">
                    <a16:creationId xmlns:a16="http://schemas.microsoft.com/office/drawing/2014/main" id="{015350AA-D8D5-5C18-1E22-5C86CE45C5AB}"/>
                  </a:ext>
                </a:extLst>
              </p:cNvPr>
              <p:cNvSpPr txBox="1">
                <a:spLocks noRot="1" noChangeAspect="1" noMove="1" noResize="1" noEditPoints="1" noAdjustHandles="1" noChangeArrowheads="1" noChangeShapeType="1" noTextEdit="1"/>
              </p:cNvSpPr>
              <p:nvPr/>
            </p:nvSpPr>
            <p:spPr>
              <a:xfrm>
                <a:off x="2429908" y="2951753"/>
                <a:ext cx="479307" cy="461665"/>
              </a:xfrm>
              <a:prstGeom prst="rect">
                <a:avLst/>
              </a:prstGeom>
              <a:blipFill>
                <a:blip r:embed="rId5"/>
                <a:stretch>
                  <a:fillRect l="-2632" b="-108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FE13FF7B-D000-DFC1-B008-2208449741A4}"/>
                  </a:ext>
                </a:extLst>
              </p:cNvPr>
              <p:cNvSpPr txBox="1">
                <a:spLocks/>
              </p:cNvSpPr>
              <p:nvPr/>
            </p:nvSpPr>
            <p:spPr>
              <a:xfrm>
                <a:off x="5989835" y="1296000"/>
                <a:ext cx="5237331" cy="4445149"/>
              </a:xfrm>
              <a:prstGeom prst="rect">
                <a:avLst/>
              </a:prstGeom>
            </p:spPr>
            <p:txBody>
              <a:bodyPr vert="horz" lIns="0" tIns="0" rIns="0" bIns="0" rtlCol="0">
                <a:noAutofit/>
              </a:bodyPr>
              <a:lstStyle>
                <a:lvl1pPr marL="342900" indent="-342900" algn="l" defTabSz="457200" rtl="0" eaLnBrk="1" latinLnBrk="0" hangingPunct="1">
                  <a:spcBef>
                    <a:spcPts val="0"/>
                  </a:spcBef>
                  <a:buFont typeface="Arial"/>
                  <a:buChar char="•"/>
                  <a:defRPr sz="3200" kern="1200">
                    <a:solidFill>
                      <a:schemeClr val="tx1"/>
                    </a:solidFill>
                    <a:latin typeface="+mj-lt"/>
                    <a:ea typeface="+mn-ea"/>
                    <a:cs typeface="Verdana"/>
                  </a:defRPr>
                </a:lvl1pPr>
                <a:lvl2pPr marL="717550" indent="-358775" algn="l" defTabSz="457200" rtl="0" eaLnBrk="1" latinLnBrk="0" hangingPunct="1">
                  <a:spcBef>
                    <a:spcPts val="0"/>
                  </a:spcBef>
                  <a:buFont typeface="Lucida Grande"/>
                  <a:buChar char="-"/>
                  <a:defRPr sz="2800" kern="1200">
                    <a:solidFill>
                      <a:schemeClr val="tx1"/>
                    </a:solidFill>
                    <a:latin typeface="+mj-lt"/>
                    <a:ea typeface="+mn-ea"/>
                    <a:cs typeface="Verdana"/>
                  </a:defRPr>
                </a:lvl2pPr>
                <a:lvl3pPr marL="1073150" indent="-357188" algn="l" defTabSz="457200" rtl="0" eaLnBrk="1" latinLnBrk="0" hangingPunct="1">
                  <a:spcBef>
                    <a:spcPts val="0"/>
                  </a:spcBef>
                  <a:buFont typeface="Lucida Grande"/>
                  <a:buChar char="-"/>
                  <a:defRPr sz="2400" kern="1200">
                    <a:solidFill>
                      <a:schemeClr val="tx1"/>
                    </a:solidFill>
                    <a:latin typeface="+mj-lt"/>
                    <a:ea typeface="+mn-ea"/>
                    <a:cs typeface="Verdana"/>
                  </a:defRPr>
                </a:lvl3pPr>
                <a:lvl4pPr marL="1430338" indent="-355600" algn="l" defTabSz="457200" rtl="0" eaLnBrk="1" latinLnBrk="0" hangingPunct="1">
                  <a:spcBef>
                    <a:spcPts val="0"/>
                  </a:spcBef>
                  <a:buFont typeface="Lucida Grande"/>
                  <a:buChar char="-"/>
                  <a:defRPr sz="2000" kern="1200">
                    <a:solidFill>
                      <a:schemeClr val="tx1"/>
                    </a:solidFill>
                    <a:latin typeface="+mj-lt"/>
                    <a:ea typeface="+mn-ea"/>
                    <a:cs typeface="Verdana"/>
                  </a:defRPr>
                </a:lvl4pPr>
                <a:lvl5pPr marL="1793875" indent="-360363" algn="l" defTabSz="457200" rtl="0" eaLnBrk="1" latinLnBrk="0" hangingPunct="1">
                  <a:spcBef>
                    <a:spcPts val="0"/>
                  </a:spcBef>
                  <a:buFont typeface="Lucida Grande"/>
                  <a:buChar char="-"/>
                  <a:defRPr sz="2000" kern="1200">
                    <a:solidFill>
                      <a:schemeClr val="tx1"/>
                    </a:solidFill>
                    <a:latin typeface="+mj-lt"/>
                    <a:ea typeface="+mn-ea"/>
                    <a:cs typeface="Verdan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If </a:t>
                </a:r>
                <a14:m>
                  <m:oMath xmlns:m="http://schemas.openxmlformats.org/officeDocument/2006/math">
                    <m:r>
                      <a:rPr lang="en-US" i="1" dirty="0">
                        <a:latin typeface="Cambria Math" panose="02040503050406030204" pitchFamily="18" charset="0"/>
                      </a:rPr>
                      <m:t>𝑛</m:t>
                    </m:r>
                  </m:oMath>
                </a14:m>
                <a:r>
                  <a:rPr lang="en-US" dirty="0"/>
                  <a:t> is large and </a:t>
                </a:r>
                <a14:m>
                  <m:oMath xmlns:m="http://schemas.openxmlformats.org/officeDocument/2006/math">
                    <m:acc>
                      <m:accPr>
                        <m:chr m:val="̂"/>
                        <m:ctrlPr>
                          <a:rPr lang="en-US" i="1" dirty="0">
                            <a:latin typeface="Cambria Math" panose="02040503050406030204" pitchFamily="18" charset="0"/>
                          </a:rPr>
                        </m:ctrlPr>
                      </m:accPr>
                      <m:e>
                        <m:r>
                          <m:rPr>
                            <m:sty m:val="p"/>
                          </m:rPr>
                          <a:rPr lang="en-US" dirty="0">
                            <a:latin typeface="Cambria Math" panose="02040503050406030204" pitchFamily="18" charset="0"/>
                          </a:rPr>
                          <m:t>p</m:t>
                        </m:r>
                      </m:e>
                    </m:acc>
                    <m:r>
                      <a:rPr lang="en-US" i="1" dirty="0">
                        <a:latin typeface="Cambria Math" panose="02040503050406030204" pitchFamily="18" charset="0"/>
                      </a:rPr>
                      <m:t> </m:t>
                    </m:r>
                  </m:oMath>
                </a14:m>
                <a:r>
                  <a:rPr lang="en-US" dirty="0"/>
                  <a:t>is not too close to 0 or 1 (</a:t>
                </a:r>
                <a14:m>
                  <m:oMath xmlns:m="http://schemas.openxmlformats.org/officeDocument/2006/math">
                    <m:r>
                      <a:rPr lang="en-US" i="1">
                        <a:latin typeface="Cambria Math" panose="02040503050406030204" pitchFamily="18" charset="0"/>
                      </a:rPr>
                      <m:t>𝑛</m:t>
                    </m:r>
                    <m:acc>
                      <m:accPr>
                        <m:chr m:val="̂"/>
                        <m:ctrlPr>
                          <a:rPr lang="en-US" i="1">
                            <a:latin typeface="Cambria Math" panose="02040503050406030204" pitchFamily="18" charset="0"/>
                          </a:rPr>
                        </m:ctrlPr>
                      </m:accPr>
                      <m:e>
                        <m:r>
                          <a:rPr lang="en-US" i="1">
                            <a:latin typeface="Cambria Math" panose="02040503050406030204" pitchFamily="18" charset="0"/>
                          </a:rPr>
                          <m:t>𝑝</m:t>
                        </m:r>
                      </m:e>
                    </m:acc>
                    <m:r>
                      <a:rPr lang="en-US" i="1" dirty="0">
                        <a:latin typeface="Cambria Math" panose="02040503050406030204" pitchFamily="18" charset="0"/>
                      </a:rPr>
                      <m:t>, </m:t>
                    </m:r>
                    <m:r>
                      <a:rPr lang="en-US" i="1" dirty="0">
                        <a:latin typeface="Cambria Math" panose="02040503050406030204" pitchFamily="18" charset="0"/>
                      </a:rPr>
                      <m:t>𝑛</m:t>
                    </m:r>
                    <m:d>
                      <m:dPr>
                        <m:ctrlPr>
                          <a:rPr lang="en-US" i="1" dirty="0">
                            <a:latin typeface="Cambria Math" panose="02040503050406030204" pitchFamily="18" charset="0"/>
                          </a:rPr>
                        </m:ctrlPr>
                      </m:dPr>
                      <m:e>
                        <m:r>
                          <a:rPr lang="en-US" i="1" dirty="0">
                            <a:latin typeface="Cambria Math" panose="02040503050406030204" pitchFamily="18" charset="0"/>
                          </a:rPr>
                          <m:t>1−</m:t>
                        </m:r>
                        <m:acc>
                          <m:accPr>
                            <m:chr m:val="̂"/>
                            <m:ctrlPr>
                              <a:rPr lang="en-US" i="1" dirty="0">
                                <a:latin typeface="Cambria Math" panose="02040503050406030204" pitchFamily="18" charset="0"/>
                              </a:rPr>
                            </m:ctrlPr>
                          </m:accPr>
                          <m:e>
                            <m:r>
                              <a:rPr lang="en-US" i="1" dirty="0">
                                <a:latin typeface="Cambria Math" panose="02040503050406030204" pitchFamily="18" charset="0"/>
                              </a:rPr>
                              <m:t>𝑝</m:t>
                            </m:r>
                          </m:e>
                        </m:acc>
                      </m:e>
                    </m:d>
                    <m:r>
                      <a:rPr lang="en-US" i="1" dirty="0">
                        <a:latin typeface="Cambria Math" panose="02040503050406030204" pitchFamily="18" charset="0"/>
                      </a:rPr>
                      <m:t>&gt;5</m:t>
                    </m:r>
                  </m:oMath>
                </a14:m>
                <a:r>
                  <a:rPr lang="en-US" dirty="0"/>
                  <a:t>), then </a:t>
                </a:r>
              </a:p>
              <a:p>
                <a14:m>
                  <m:oMath xmlns:m="http://schemas.openxmlformats.org/officeDocument/2006/math">
                    <m:r>
                      <a:rPr lang="en-US" i="1" dirty="0">
                        <a:latin typeface="Cambria Math" panose="02040503050406030204" pitchFamily="18" charset="0"/>
                      </a:rPr>
                      <m:t>𝜎</m:t>
                    </m:r>
                    <m:r>
                      <a:rPr lang="en-US" i="1" dirty="0">
                        <a:latin typeface="Cambria Math" panose="02040503050406030204" pitchFamily="18" charset="0"/>
                      </a:rPr>
                      <m:t> </m:t>
                    </m:r>
                  </m:oMath>
                </a14:m>
                <a:r>
                  <a:rPr lang="en-US" dirty="0"/>
                  <a:t>is estimated accurately by </a:t>
                </a:r>
                <a14:m>
                  <m:oMath xmlns:m="http://schemas.openxmlformats.org/officeDocument/2006/math">
                    <m:acc>
                      <m:accPr>
                        <m:chr m:val="̂"/>
                        <m:ctrlPr>
                          <a:rPr lang="en-US" i="1" dirty="0">
                            <a:latin typeface="Cambria Math" panose="02040503050406030204" pitchFamily="18" charset="0"/>
                          </a:rPr>
                        </m:ctrlPr>
                      </m:accPr>
                      <m:e>
                        <m:r>
                          <m:rPr>
                            <m:sty m:val="p"/>
                          </m:rPr>
                          <a:rPr lang="en-US" dirty="0">
                            <a:latin typeface="Cambria Math" panose="02040503050406030204" pitchFamily="18" charset="0"/>
                          </a:rPr>
                          <m:t>p</m:t>
                        </m:r>
                      </m:e>
                    </m:acc>
                    <m:r>
                      <a:rPr lang="en-US" i="1" dirty="0">
                        <a:latin typeface="Cambria Math" panose="02040503050406030204" pitchFamily="18" charset="0"/>
                      </a:rPr>
                      <m:t> (1−</m:t>
                    </m:r>
                    <m:acc>
                      <m:accPr>
                        <m:chr m:val="̂"/>
                        <m:ctrlPr>
                          <a:rPr lang="en-US" i="1" dirty="0">
                            <a:latin typeface="Cambria Math" panose="02040503050406030204" pitchFamily="18" charset="0"/>
                          </a:rPr>
                        </m:ctrlPr>
                      </m:accPr>
                      <m:e>
                        <m:r>
                          <a:rPr lang="en-US" i="1" dirty="0">
                            <a:latin typeface="Cambria Math" panose="02040503050406030204" pitchFamily="18" charset="0"/>
                          </a:rPr>
                          <m:t>𝑝</m:t>
                        </m:r>
                      </m:e>
                    </m:acc>
                    <m:r>
                      <a:rPr lang="en-US" i="1" dirty="0">
                        <a:latin typeface="Cambria Math" panose="02040503050406030204" pitchFamily="18" charset="0"/>
                      </a:rPr>
                      <m:t>)</m:t>
                    </m:r>
                  </m:oMath>
                </a14:m>
                <a:r>
                  <a:rPr lang="en-US" dirty="0"/>
                  <a:t>. </a:t>
                </a:r>
              </a:p>
              <a:p>
                <a:r>
                  <a:rPr lang="en-US" dirty="0"/>
                  <a:t>The sampling distribution of </a:t>
                </a:r>
                <a14:m>
                  <m:oMath xmlns:m="http://schemas.openxmlformats.org/officeDocument/2006/math">
                    <m:r>
                      <a:rPr lang="en-US" i="1" dirty="0">
                        <a:latin typeface="Cambria Math" panose="02040503050406030204" pitchFamily="18" charset="0"/>
                      </a:rPr>
                      <m:t>𝑝</m:t>
                    </m:r>
                  </m:oMath>
                </a14:m>
                <a:r>
                  <a:rPr lang="en-US" dirty="0"/>
                  <a:t> can be approximated with a normal distribution (</a:t>
                </a:r>
                <a14:m>
                  <m:oMath xmlns:m="http://schemas.openxmlformats.org/officeDocument/2006/math">
                    <m:acc>
                      <m:accPr>
                        <m:chr m:val="̂"/>
                        <m:ctrlPr>
                          <a:rPr lang="en-US" i="1" dirty="0">
                            <a:latin typeface="Cambria Math" panose="02040503050406030204" pitchFamily="18" charset="0"/>
                          </a:rPr>
                        </m:ctrlPr>
                      </m:accPr>
                      <m:e>
                        <m:r>
                          <a:rPr lang="en-US" i="1" dirty="0">
                            <a:latin typeface="Cambria Math" panose="02040503050406030204" pitchFamily="18" charset="0"/>
                          </a:rPr>
                          <m:t>𝑝</m:t>
                        </m:r>
                      </m:e>
                    </m:acc>
                  </m:oMath>
                </a14:m>
                <a:r>
                  <a:rPr lang="en-US" dirty="0"/>
                  <a:t> is treated a</a:t>
                </a:r>
                <a14:m>
                  <m:oMath xmlns:m="http://schemas.openxmlformats.org/officeDocument/2006/math">
                    <m:r>
                      <m:rPr>
                        <m:sty m:val="p"/>
                      </m:rPr>
                      <a:rPr lang="en-US" b="0" i="0" dirty="0" smtClean="0">
                        <a:latin typeface="Cambria Math" panose="02040503050406030204" pitchFamily="18" charset="0"/>
                      </a:rPr>
                      <m:t>s</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a</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classical</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mean</m:t>
                    </m:r>
                    <m:r>
                      <a:rPr lang="en-US" dirty="0">
                        <a:latin typeface="Cambria Math" panose="02040503050406030204" pitchFamily="18" charset="0"/>
                      </a:rPr>
                      <m:t>)</m:t>
                    </m:r>
                  </m:oMath>
                </a14:m>
                <a:endParaRPr lang="en-US" dirty="0"/>
              </a:p>
            </p:txBody>
          </p:sp>
        </mc:Choice>
        <mc:Fallback xmlns="">
          <p:sp>
            <p:nvSpPr>
              <p:cNvPr id="5" name="Content Placeholder 2">
                <a:extLst>
                  <a:ext uri="{FF2B5EF4-FFF2-40B4-BE49-F238E27FC236}">
                    <a16:creationId xmlns:a16="http://schemas.microsoft.com/office/drawing/2014/main" id="{FE13FF7B-D000-DFC1-B008-2208449741A4}"/>
                  </a:ext>
                </a:extLst>
              </p:cNvPr>
              <p:cNvSpPr txBox="1">
                <a:spLocks noRot="1" noChangeAspect="1" noMove="1" noResize="1" noEditPoints="1" noAdjustHandles="1" noChangeArrowheads="1" noChangeShapeType="1" noTextEdit="1"/>
              </p:cNvSpPr>
              <p:nvPr/>
            </p:nvSpPr>
            <p:spPr>
              <a:xfrm>
                <a:off x="5989835" y="1296000"/>
                <a:ext cx="5237331" cy="4445149"/>
              </a:xfrm>
              <a:prstGeom prst="rect">
                <a:avLst/>
              </a:prstGeom>
              <a:blipFill>
                <a:blip r:embed="rId6"/>
                <a:stretch>
                  <a:fillRect l="-4348" t="-9117" r="-1449" b="-3989"/>
                </a:stretch>
              </a:blipFill>
            </p:spPr>
            <p:txBody>
              <a:bodyPr/>
              <a:lstStyle/>
              <a:p>
                <a:r>
                  <a:rPr lang="en-US">
                    <a:noFill/>
                  </a:rPr>
                  <a:t> </a:t>
                </a:r>
              </a:p>
            </p:txBody>
          </p:sp>
        </mc:Fallback>
      </mc:AlternateContent>
    </p:spTree>
    <p:extLst>
      <p:ext uri="{BB962C8B-B14F-4D97-AF65-F5344CB8AC3E}">
        <p14:creationId xmlns:p14="http://schemas.microsoft.com/office/powerpoint/2010/main" val="42716633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Confidence Interval for Proportion of a Single Sample</a:t>
            </a:r>
          </a:p>
        </p:txBody>
      </p:sp>
      <mc:AlternateContent xmlns:mc="http://schemas.openxmlformats.org/markup-compatibility/2006" xmlns:a14="http://schemas.microsoft.com/office/drawing/2010/main">
        <mc:Choice Requires="a14">
          <p:sp>
            <p:nvSpPr>
              <p:cNvPr id="8" name="Rectangle 7"/>
              <p:cNvSpPr/>
              <p:nvPr/>
            </p:nvSpPr>
            <p:spPr>
              <a:xfrm>
                <a:off x="558843" y="4723194"/>
                <a:ext cx="5324022" cy="1302088"/>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400" i="1" smtClean="0">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𝑝</m:t>
                          </m:r>
                          <m:r>
                            <a:rPr lang="en-US" sz="2400" i="1">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𝑝</m:t>
                              </m:r>
                            </m:e>
                          </m:acc>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𝑧</m:t>
                              </m:r>
                            </m:e>
                            <m:sub>
                              <m:f>
                                <m:fPr>
                                  <m:type m:val="skw"/>
                                  <m:ctrlPr>
                                    <a:rPr lang="en-US" sz="2400" i="1">
                                      <a:latin typeface="Cambria Math" panose="02040503050406030204" pitchFamily="18" charset="0"/>
                                    </a:rPr>
                                  </m:ctrlPr>
                                </m:fPr>
                                <m:num>
                                  <m:r>
                                    <a:rPr lang="en-US" sz="2400" i="1">
                                      <a:latin typeface="Cambria Math" panose="02040503050406030204" pitchFamily="18" charset="0"/>
                                    </a:rPr>
                                    <m:t>𝛼</m:t>
                                  </m:r>
                                </m:num>
                                <m:den>
                                  <m:r>
                                    <a:rPr lang="en-US" sz="2400" i="1">
                                      <a:latin typeface="Cambria Math" panose="02040503050406030204" pitchFamily="18" charset="0"/>
                                    </a:rPr>
                                    <m:t>2</m:t>
                                  </m:r>
                                </m:den>
                              </m:f>
                            </m:sub>
                          </m:sSub>
                          <m:r>
                            <a:rPr lang="en-US" sz="2400" i="1">
                              <a:latin typeface="Cambria Math" panose="02040503050406030204" pitchFamily="18" charset="0"/>
                            </a:rPr>
                            <m:t> </m:t>
                          </m:r>
                          <m:rad>
                            <m:radPr>
                              <m:degHide m:val="on"/>
                              <m:ctrlPr>
                                <a:rPr lang="en-US" sz="2400" i="1">
                                  <a:latin typeface="Cambria Math" panose="02040503050406030204" pitchFamily="18" charset="0"/>
                                </a:rPr>
                              </m:ctrlPr>
                            </m:radPr>
                            <m:deg/>
                            <m:e>
                              <m:f>
                                <m:fPr>
                                  <m:ctrlPr>
                                    <a:rPr lang="en-US" sz="2400" i="1">
                                      <a:latin typeface="Cambria Math" panose="02040503050406030204" pitchFamily="18" charset="0"/>
                                    </a:rPr>
                                  </m:ctrlPr>
                                </m:fPr>
                                <m:num>
                                  <m:acc>
                                    <m:accPr>
                                      <m:chr m:val="̂"/>
                                      <m:ctrlPr>
                                        <a:rPr lang="en-US" sz="2400" i="1" dirty="0">
                                          <a:latin typeface="Cambria Math" panose="02040503050406030204" pitchFamily="18" charset="0"/>
                                        </a:rPr>
                                      </m:ctrlPr>
                                    </m:accPr>
                                    <m:e>
                                      <m:r>
                                        <a:rPr lang="en-US" sz="2400" i="1" dirty="0">
                                          <a:latin typeface="Cambria Math" panose="02040503050406030204" pitchFamily="18" charset="0"/>
                                        </a:rPr>
                                        <m:t>𝑝</m:t>
                                      </m:r>
                                    </m:e>
                                  </m:acc>
                                  <m:d>
                                    <m:dPr>
                                      <m:ctrlPr>
                                        <a:rPr lang="en-US" sz="2400" i="1" dirty="0">
                                          <a:latin typeface="Cambria Math" panose="02040503050406030204" pitchFamily="18" charset="0"/>
                                        </a:rPr>
                                      </m:ctrlPr>
                                    </m:dPr>
                                    <m:e>
                                      <m:r>
                                        <a:rPr lang="en-US" sz="2400" i="1" dirty="0">
                                          <a:latin typeface="Cambria Math" panose="02040503050406030204" pitchFamily="18" charset="0"/>
                                        </a:rPr>
                                        <m:t>1−</m:t>
                                      </m:r>
                                      <m:acc>
                                        <m:accPr>
                                          <m:chr m:val="̂"/>
                                          <m:ctrlPr>
                                            <a:rPr lang="en-US" sz="2400" i="1" dirty="0">
                                              <a:latin typeface="Cambria Math" panose="02040503050406030204" pitchFamily="18" charset="0"/>
                                            </a:rPr>
                                          </m:ctrlPr>
                                        </m:accPr>
                                        <m:e>
                                          <m:r>
                                            <a:rPr lang="en-US" sz="2400" i="1" dirty="0">
                                              <a:latin typeface="Cambria Math" panose="02040503050406030204" pitchFamily="18" charset="0"/>
                                            </a:rPr>
                                            <m:t>𝑝</m:t>
                                          </m:r>
                                        </m:e>
                                      </m:acc>
                                    </m:e>
                                  </m:d>
                                </m:num>
                                <m:den>
                                  <m:r>
                                    <a:rPr lang="en-US" sz="2400" i="1">
                                      <a:latin typeface="Cambria Math" panose="02040503050406030204" pitchFamily="18" charset="0"/>
                                    </a:rPr>
                                    <m:t>𝑛</m:t>
                                  </m:r>
                                </m:den>
                              </m:f>
                            </m:e>
                          </m:rad>
                          <m:r>
                            <a:rPr lang="en-US" sz="2400" b="0" i="1" smtClean="0">
                              <a:latin typeface="Cambria Math" panose="02040503050406030204" pitchFamily="18" charset="0"/>
                            </a:rPr>
                            <m:t>]</m:t>
                          </m:r>
                        </m:e>
                      </m:d>
                      <m:r>
                        <a:rPr lang="en-US" sz="2400" i="1">
                          <a:latin typeface="Cambria Math" panose="02040503050406030204" pitchFamily="18" charset="0"/>
                        </a:rPr>
                        <m:t>≈1−</m:t>
                      </m:r>
                      <m:r>
                        <a:rPr lang="en-US" sz="2400" i="1">
                          <a:latin typeface="Cambria Math" panose="02040503050406030204" pitchFamily="18" charset="0"/>
                        </a:rPr>
                        <m:t>𝛼</m:t>
                      </m:r>
                    </m:oMath>
                  </m:oMathPara>
                </a14:m>
                <a:endParaRPr lang="en-US" sz="2400" dirty="0"/>
              </a:p>
            </p:txBody>
          </p:sp>
        </mc:Choice>
        <mc:Fallback xmlns="">
          <p:sp>
            <p:nvSpPr>
              <p:cNvPr id="8" name="Rectangle 7"/>
              <p:cNvSpPr>
                <a:spLocks noRot="1" noChangeAspect="1" noMove="1" noResize="1" noEditPoints="1" noAdjustHandles="1" noChangeArrowheads="1" noChangeShapeType="1" noTextEdit="1"/>
              </p:cNvSpPr>
              <p:nvPr/>
            </p:nvSpPr>
            <p:spPr>
              <a:xfrm>
                <a:off x="558843" y="4723194"/>
                <a:ext cx="5324022" cy="1302088"/>
              </a:xfrm>
              <a:prstGeom prst="rect">
                <a:avLst/>
              </a:prstGeom>
              <a:blipFill>
                <a:blip r:embed="rId3"/>
                <a:stretch>
                  <a:fillRect l="-238" b="-38835"/>
                </a:stretch>
              </a:blipFill>
            </p:spPr>
            <p:txBody>
              <a:bodyPr/>
              <a:lstStyle/>
              <a:p>
                <a:r>
                  <a:rPr lang="en-US">
                    <a:noFill/>
                  </a:rPr>
                  <a:t> </a:t>
                </a:r>
              </a:p>
            </p:txBody>
          </p:sp>
        </mc:Fallback>
      </mc:AlternateContent>
      <p:grpSp>
        <p:nvGrpSpPr>
          <p:cNvPr id="15" name="Group 14"/>
          <p:cNvGrpSpPr/>
          <p:nvPr/>
        </p:nvGrpSpPr>
        <p:grpSpPr>
          <a:xfrm>
            <a:off x="269491" y="1113523"/>
            <a:ext cx="6016120" cy="3622825"/>
            <a:chOff x="202118" y="835142"/>
            <a:chExt cx="4512090" cy="2717119"/>
          </a:xfrm>
        </p:grpSpPr>
        <p:pic>
          <p:nvPicPr>
            <p:cNvPr id="7" name="Content Placeholder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2118" y="835142"/>
              <a:ext cx="4512090" cy="2707253"/>
            </a:xfrm>
            <a:prstGeom prst="rect">
              <a:avLst/>
            </a:prstGeom>
          </p:spPr>
        </p:pic>
        <p:sp>
          <p:nvSpPr>
            <p:cNvPr id="10" name="TextBox 9"/>
            <p:cNvSpPr txBox="1"/>
            <p:nvPr/>
          </p:nvSpPr>
          <p:spPr>
            <a:xfrm>
              <a:off x="1760221" y="3250619"/>
              <a:ext cx="318134" cy="161583"/>
            </a:xfrm>
            <a:prstGeom prst="rect">
              <a:avLst/>
            </a:prstGeom>
            <a:solidFill>
              <a:schemeClr val="bg2"/>
            </a:solidFill>
          </p:spPr>
          <p:txBody>
            <a:bodyPr wrap="square" rtlCol="0">
              <a:spAutoFit/>
            </a:bodyPr>
            <a:lstStyle/>
            <a:p>
              <a:r>
                <a:rPr lang="en-US" sz="800" dirty="0"/>
                <a:t>0.2</a:t>
              </a:r>
            </a:p>
          </p:txBody>
        </p:sp>
        <p:sp>
          <p:nvSpPr>
            <p:cNvPr id="11" name="TextBox 10"/>
            <p:cNvSpPr txBox="1"/>
            <p:nvPr/>
          </p:nvSpPr>
          <p:spPr>
            <a:xfrm>
              <a:off x="2388871" y="3250619"/>
              <a:ext cx="318134" cy="161583"/>
            </a:xfrm>
            <a:prstGeom prst="rect">
              <a:avLst/>
            </a:prstGeom>
            <a:solidFill>
              <a:schemeClr val="bg2"/>
            </a:solidFill>
          </p:spPr>
          <p:txBody>
            <a:bodyPr wrap="square" rtlCol="0">
              <a:spAutoFit/>
            </a:bodyPr>
            <a:lstStyle/>
            <a:p>
              <a:r>
                <a:rPr lang="en-US" sz="800" dirty="0"/>
                <a:t>0.4</a:t>
              </a:r>
            </a:p>
          </p:txBody>
        </p:sp>
        <p:sp>
          <p:nvSpPr>
            <p:cNvPr id="12" name="TextBox 11"/>
            <p:cNvSpPr txBox="1"/>
            <p:nvPr/>
          </p:nvSpPr>
          <p:spPr>
            <a:xfrm>
              <a:off x="2981636" y="3250619"/>
              <a:ext cx="318134" cy="161583"/>
            </a:xfrm>
            <a:prstGeom prst="rect">
              <a:avLst/>
            </a:prstGeom>
            <a:solidFill>
              <a:schemeClr val="bg2"/>
            </a:solidFill>
          </p:spPr>
          <p:txBody>
            <a:bodyPr wrap="square" rtlCol="0">
              <a:spAutoFit/>
            </a:bodyPr>
            <a:lstStyle/>
            <a:p>
              <a:r>
                <a:rPr lang="en-US" sz="800" dirty="0"/>
                <a:t>0.6</a:t>
              </a:r>
            </a:p>
          </p:txBody>
        </p:sp>
        <p:sp>
          <p:nvSpPr>
            <p:cNvPr id="13" name="TextBox 12"/>
            <p:cNvSpPr txBox="1"/>
            <p:nvPr/>
          </p:nvSpPr>
          <p:spPr>
            <a:xfrm>
              <a:off x="3636458" y="3250619"/>
              <a:ext cx="318134" cy="161583"/>
            </a:xfrm>
            <a:prstGeom prst="rect">
              <a:avLst/>
            </a:prstGeom>
            <a:solidFill>
              <a:schemeClr val="bg2"/>
            </a:solidFill>
          </p:spPr>
          <p:txBody>
            <a:bodyPr wrap="square" rtlCol="0">
              <a:spAutoFit/>
            </a:bodyPr>
            <a:lstStyle/>
            <a:p>
              <a:r>
                <a:rPr lang="en-US" sz="800" dirty="0"/>
                <a:t>0.8</a:t>
              </a:r>
            </a:p>
          </p:txBody>
        </p:sp>
        <p:sp>
          <p:nvSpPr>
            <p:cNvPr id="14" name="TextBox 13"/>
            <p:cNvSpPr txBox="1"/>
            <p:nvPr/>
          </p:nvSpPr>
          <p:spPr>
            <a:xfrm>
              <a:off x="1868276" y="3375337"/>
              <a:ext cx="1546861" cy="176924"/>
            </a:xfrm>
            <a:prstGeom prst="rect">
              <a:avLst/>
            </a:prstGeom>
            <a:solidFill>
              <a:schemeClr val="bg2"/>
            </a:solidFill>
          </p:spPr>
          <p:txBody>
            <a:bodyPr wrap="square" rtlCol="0">
              <a:spAutoFit/>
            </a:bodyPr>
            <a:lstStyle/>
            <a:p>
              <a:r>
                <a:rPr lang="en-US" sz="933" dirty="0"/>
                <a:t>Proportion of Happy Customers</a:t>
              </a:r>
            </a:p>
          </p:txBody>
        </p:sp>
      </p:grpSp>
      <p:cxnSp>
        <p:nvCxnSpPr>
          <p:cNvPr id="16" name="Straight Connector 15"/>
          <p:cNvCxnSpPr/>
          <p:nvPr/>
        </p:nvCxnSpPr>
        <p:spPr>
          <a:xfrm flipH="1" flipV="1">
            <a:off x="3355015" y="1809420"/>
            <a:ext cx="32613" cy="252473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2961891" y="1563200"/>
                <a:ext cx="479307"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2400" i="1" dirty="0">
                              <a:latin typeface="Cambria Math" panose="02040503050406030204" pitchFamily="18" charset="0"/>
                            </a:rPr>
                          </m:ctrlPr>
                        </m:accPr>
                        <m:e>
                          <m:r>
                            <a:rPr lang="en-US" sz="2400" i="1" dirty="0">
                              <a:latin typeface="Cambria Math" panose="02040503050406030204" pitchFamily="18" charset="0"/>
                            </a:rPr>
                            <m:t>𝑝</m:t>
                          </m:r>
                        </m:e>
                      </m:acc>
                      <m:r>
                        <a:rPr lang="en-US" sz="2400" i="1" dirty="0">
                          <a:latin typeface="Cambria Math" panose="02040503050406030204" pitchFamily="18" charset="0"/>
                        </a:rPr>
                        <m:t> </m:t>
                      </m:r>
                    </m:oMath>
                  </m:oMathPara>
                </a14:m>
                <a:endParaRPr lang="en-US" sz="2400" dirty="0"/>
              </a:p>
            </p:txBody>
          </p:sp>
        </mc:Choice>
        <mc:Fallback xmlns="">
          <p:sp>
            <p:nvSpPr>
              <p:cNvPr id="17" name="TextBox 16"/>
              <p:cNvSpPr txBox="1">
                <a:spLocks noRot="1" noChangeAspect="1" noMove="1" noResize="1" noEditPoints="1" noAdjustHandles="1" noChangeArrowheads="1" noChangeShapeType="1" noTextEdit="1"/>
              </p:cNvSpPr>
              <p:nvPr/>
            </p:nvSpPr>
            <p:spPr>
              <a:xfrm>
                <a:off x="2961891" y="1563200"/>
                <a:ext cx="479307" cy="461665"/>
              </a:xfrm>
              <a:prstGeom prst="rect">
                <a:avLst/>
              </a:prstGeom>
              <a:blipFill>
                <a:blip r:embed="rId5"/>
                <a:stretch>
                  <a:fillRect r="-5128" b="-21053"/>
                </a:stretch>
              </a:blipFill>
            </p:spPr>
            <p:txBody>
              <a:bodyPr/>
              <a:lstStyle/>
              <a:p>
                <a:r>
                  <a:rPr lang="en-US">
                    <a:noFill/>
                  </a:rPr>
                  <a:t> </a:t>
                </a:r>
              </a:p>
            </p:txBody>
          </p:sp>
        </mc:Fallback>
      </mc:AlternateContent>
      <p:cxnSp>
        <p:nvCxnSpPr>
          <p:cNvPr id="18" name="Straight Connector 17"/>
          <p:cNvCxnSpPr/>
          <p:nvPr/>
        </p:nvCxnSpPr>
        <p:spPr>
          <a:xfrm flipH="1" flipV="1">
            <a:off x="2799975" y="3218271"/>
            <a:ext cx="9047" cy="1079197"/>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p:cNvSpPr txBox="1"/>
              <p:nvPr/>
            </p:nvSpPr>
            <p:spPr>
              <a:xfrm>
                <a:off x="2429908" y="2951753"/>
                <a:ext cx="479307" cy="461665"/>
              </a:xfrm>
              <a:prstGeom prst="rect">
                <a:avLst/>
              </a:prstGeom>
              <a:noFill/>
            </p:spPr>
            <p:txBody>
              <a:bodyPr wrap="square" rtlCol="0">
                <a:spAutoFit/>
              </a:bodyPr>
              <a:lstStyle/>
              <a:p>
                <a14:m>
                  <m:oMath xmlns:m="http://schemas.openxmlformats.org/officeDocument/2006/math">
                    <m:r>
                      <a:rPr lang="en-US" sz="2400" i="1">
                        <a:latin typeface="Cambria Math" panose="02040503050406030204" pitchFamily="18" charset="0"/>
                      </a:rPr>
                      <m:t>𝑝</m:t>
                    </m:r>
                  </m:oMath>
                </a14:m>
                <a:r>
                  <a:rPr lang="en-US" sz="2400" dirty="0"/>
                  <a:t> </a:t>
                </a:r>
              </a:p>
            </p:txBody>
          </p:sp>
        </mc:Choice>
        <mc:Fallback xmlns="">
          <p:sp>
            <p:nvSpPr>
              <p:cNvPr id="19" name="TextBox 18"/>
              <p:cNvSpPr txBox="1">
                <a:spLocks noRot="1" noChangeAspect="1" noMove="1" noResize="1" noEditPoints="1" noAdjustHandles="1" noChangeArrowheads="1" noChangeShapeType="1" noTextEdit="1"/>
              </p:cNvSpPr>
              <p:nvPr/>
            </p:nvSpPr>
            <p:spPr>
              <a:xfrm>
                <a:off x="2429908" y="2951753"/>
                <a:ext cx="479307" cy="461665"/>
              </a:xfrm>
              <a:prstGeom prst="rect">
                <a:avLst/>
              </a:prstGeom>
              <a:blipFill>
                <a:blip r:embed="rId6"/>
                <a:stretch>
                  <a:fillRect l="-2632" b="-108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2"/>
              <p:cNvSpPr txBox="1">
                <a:spLocks/>
              </p:cNvSpPr>
              <p:nvPr/>
            </p:nvSpPr>
            <p:spPr>
              <a:xfrm>
                <a:off x="5989835" y="1296000"/>
                <a:ext cx="5237331" cy="4445149"/>
              </a:xfrm>
              <a:prstGeom prst="rect">
                <a:avLst/>
              </a:prstGeom>
            </p:spPr>
            <p:txBody>
              <a:bodyPr vert="horz" lIns="0" tIns="0" rIns="0" bIns="0" rtlCol="0">
                <a:noAutofit/>
              </a:bodyPr>
              <a:lstStyle>
                <a:lvl1pPr marL="342900" indent="-342900" algn="l" defTabSz="457200" rtl="0" eaLnBrk="1" latinLnBrk="0" hangingPunct="1">
                  <a:spcBef>
                    <a:spcPts val="0"/>
                  </a:spcBef>
                  <a:buFont typeface="Arial"/>
                  <a:buChar char="•"/>
                  <a:defRPr sz="3200" kern="1200">
                    <a:solidFill>
                      <a:schemeClr val="tx1"/>
                    </a:solidFill>
                    <a:latin typeface="+mj-lt"/>
                    <a:ea typeface="+mn-ea"/>
                    <a:cs typeface="Verdana"/>
                  </a:defRPr>
                </a:lvl1pPr>
                <a:lvl2pPr marL="717550" indent="-358775" algn="l" defTabSz="457200" rtl="0" eaLnBrk="1" latinLnBrk="0" hangingPunct="1">
                  <a:spcBef>
                    <a:spcPts val="0"/>
                  </a:spcBef>
                  <a:buFont typeface="Lucida Grande"/>
                  <a:buChar char="-"/>
                  <a:defRPr sz="2800" kern="1200">
                    <a:solidFill>
                      <a:schemeClr val="tx1"/>
                    </a:solidFill>
                    <a:latin typeface="+mj-lt"/>
                    <a:ea typeface="+mn-ea"/>
                    <a:cs typeface="Verdana"/>
                  </a:defRPr>
                </a:lvl2pPr>
                <a:lvl3pPr marL="1073150" indent="-357188" algn="l" defTabSz="457200" rtl="0" eaLnBrk="1" latinLnBrk="0" hangingPunct="1">
                  <a:spcBef>
                    <a:spcPts val="0"/>
                  </a:spcBef>
                  <a:buFont typeface="Lucida Grande"/>
                  <a:buChar char="-"/>
                  <a:defRPr sz="2400" kern="1200">
                    <a:solidFill>
                      <a:schemeClr val="tx1"/>
                    </a:solidFill>
                    <a:latin typeface="+mj-lt"/>
                    <a:ea typeface="+mn-ea"/>
                    <a:cs typeface="Verdana"/>
                  </a:defRPr>
                </a:lvl3pPr>
                <a:lvl4pPr marL="1430338" indent="-355600" algn="l" defTabSz="457200" rtl="0" eaLnBrk="1" latinLnBrk="0" hangingPunct="1">
                  <a:spcBef>
                    <a:spcPts val="0"/>
                  </a:spcBef>
                  <a:buFont typeface="Lucida Grande"/>
                  <a:buChar char="-"/>
                  <a:defRPr sz="2000" kern="1200">
                    <a:solidFill>
                      <a:schemeClr val="tx1"/>
                    </a:solidFill>
                    <a:latin typeface="+mj-lt"/>
                    <a:ea typeface="+mn-ea"/>
                    <a:cs typeface="Verdana"/>
                  </a:defRPr>
                </a:lvl4pPr>
                <a:lvl5pPr marL="1793875" indent="-360363" algn="l" defTabSz="457200" rtl="0" eaLnBrk="1" latinLnBrk="0" hangingPunct="1">
                  <a:spcBef>
                    <a:spcPts val="0"/>
                  </a:spcBef>
                  <a:buFont typeface="Lucida Grande"/>
                  <a:buChar char="-"/>
                  <a:defRPr sz="2000" kern="1200">
                    <a:solidFill>
                      <a:schemeClr val="tx1"/>
                    </a:solidFill>
                    <a:latin typeface="+mj-lt"/>
                    <a:ea typeface="+mn-ea"/>
                    <a:cs typeface="Verdan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If in an exit poll we see that 53.8 % of 3889 people voted for one candidate then we get:</a:t>
                </a:r>
              </a:p>
              <a:p>
                <a14:m>
                  <m:oMath xmlns:m="http://schemas.openxmlformats.org/officeDocument/2006/math">
                    <m:r>
                      <a:rPr lang="en-US" b="0" i="1" smtClean="0">
                        <a:latin typeface="Cambria Math" panose="02040503050406030204" pitchFamily="18" charset="0"/>
                      </a:rPr>
                      <m:t>𝑆𝐷</m:t>
                    </m:r>
                    <m:r>
                      <a:rPr lang="en-US" b="0" i="1" smtClean="0">
                        <a:latin typeface="Cambria Math" panose="02040503050406030204" pitchFamily="18" charset="0"/>
                      </a:rPr>
                      <m:t>=</m:t>
                    </m:r>
                    <m:f>
                      <m:fPr>
                        <m:ctrlPr>
                          <a:rPr lang="en-US" b="0" i="1" smtClean="0">
                            <a:latin typeface="Cambria Math" panose="02040503050406030204" pitchFamily="18" charset="0"/>
                          </a:rPr>
                        </m:ctrlPr>
                      </m:fPr>
                      <m:num>
                        <m:rad>
                          <m:radPr>
                            <m:degHide m:val="on"/>
                            <m:ctrlPr>
                              <a:rPr lang="en-US" b="0" i="1" smtClean="0">
                                <a:latin typeface="Cambria Math" panose="02040503050406030204" pitchFamily="18" charset="0"/>
                              </a:rPr>
                            </m:ctrlPr>
                          </m:radPr>
                          <m:deg/>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e>
                        </m:rad>
                        <m:d>
                          <m:dPr>
                            <m:ctrlPr>
                              <a:rPr lang="en-US" b="0" i="1" smtClean="0">
                                <a:latin typeface="Cambria Math" panose="02040503050406030204" pitchFamily="18" charset="0"/>
                              </a:rPr>
                            </m:ctrlPr>
                          </m:dPr>
                          <m:e>
                            <m:r>
                              <a:rPr lang="en-US" b="0" i="1" smtClean="0">
                                <a:latin typeface="Cambria Math" panose="02040503050406030204" pitchFamily="18" charset="0"/>
                              </a:rPr>
                              <m:t>1−</m:t>
                            </m:r>
                            <m:acc>
                              <m:accPr>
                                <m:chr m:val="̂"/>
                                <m:ctrlPr>
                                  <a:rPr lang="en-US" i="1">
                                    <a:latin typeface="Cambria Math" panose="02040503050406030204" pitchFamily="18" charset="0"/>
                                  </a:rPr>
                                </m:ctrlPr>
                              </m:accPr>
                              <m:e>
                                <m:r>
                                  <a:rPr lang="en-US" i="1">
                                    <a:latin typeface="Cambria Math" panose="02040503050406030204" pitchFamily="18" charset="0"/>
                                  </a:rPr>
                                  <m:t>𝑝</m:t>
                                </m:r>
                              </m:e>
                            </m:acc>
                          </m:e>
                        </m:d>
                      </m:num>
                      <m:den>
                        <m:r>
                          <a:rPr lang="en-US" b="0" i="1" smtClean="0">
                            <a:latin typeface="Cambria Math" panose="02040503050406030204" pitchFamily="18" charset="0"/>
                          </a:rPr>
                          <m:t>𝑛</m:t>
                        </m:r>
                      </m:den>
                    </m:f>
                    <m:r>
                      <a:rPr lang="en-US" b="0" i="1" smtClean="0">
                        <a:latin typeface="Cambria Math" panose="02040503050406030204" pitchFamily="18" charset="0"/>
                      </a:rPr>
                      <m:t> =</m:t>
                    </m:r>
                    <m:f>
                      <m:fPr>
                        <m:ctrlPr>
                          <a:rPr lang="en-US" b="0" i="1" smtClean="0">
                            <a:latin typeface="Cambria Math" panose="02040503050406030204" pitchFamily="18" charset="0"/>
                          </a:rPr>
                        </m:ctrlPr>
                      </m:fPr>
                      <m:num>
                        <m:rad>
                          <m:radPr>
                            <m:degHide m:val="on"/>
                            <m:ctrlPr>
                              <a:rPr lang="en-US" i="1">
                                <a:latin typeface="Cambria Math" panose="02040503050406030204" pitchFamily="18" charset="0"/>
                              </a:rPr>
                            </m:ctrlPr>
                          </m:radPr>
                          <m:deg/>
                          <m:e>
                            <m:r>
                              <a:rPr lang="en-US" i="1">
                                <a:latin typeface="Cambria Math" panose="02040503050406030204" pitchFamily="18" charset="0"/>
                              </a:rPr>
                              <m:t>0.538</m:t>
                            </m:r>
                          </m:e>
                        </m:rad>
                        <m:r>
                          <a:rPr lang="en-US" i="1">
                            <a:latin typeface="Cambria Math" panose="02040503050406030204" pitchFamily="18" charset="0"/>
                          </a:rPr>
                          <m:t>∗</m:t>
                        </m:r>
                        <m:r>
                          <a:rPr lang="en-US" b="0" i="1" smtClean="0">
                            <a:latin typeface="Cambria Math" panose="02040503050406030204" pitchFamily="18" charset="0"/>
                          </a:rPr>
                          <m:t>√0.462</m:t>
                        </m:r>
                      </m:num>
                      <m:den>
                        <m:r>
                          <a:rPr lang="en-US" b="0" i="1" smtClean="0">
                            <a:latin typeface="Cambria Math" panose="02040503050406030204" pitchFamily="18" charset="0"/>
                          </a:rPr>
                          <m:t>3889</m:t>
                        </m:r>
                      </m:den>
                    </m:f>
                  </m:oMath>
                </a14:m>
                <a:r>
                  <a:rPr lang="en-US" dirty="0"/>
                  <a:t> = 0.008 ~0.01</a:t>
                </a:r>
              </a:p>
              <a:p>
                <a:r>
                  <a:rPr lang="en-US" dirty="0"/>
                  <a:t>Suggests that CI is 51.6 to 55.8% for </a:t>
                </a:r>
                <a14:m>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=0.05</m:t>
                    </m:r>
                  </m:oMath>
                </a14:m>
                <a:r>
                  <a:rPr lang="en-US" dirty="0"/>
                  <a:t>.</a:t>
                </a:r>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5989835" y="1296000"/>
                <a:ext cx="5237331" cy="4445149"/>
              </a:xfrm>
              <a:prstGeom prst="rect">
                <a:avLst/>
              </a:prstGeom>
              <a:blipFill>
                <a:blip r:embed="rId7"/>
                <a:stretch>
                  <a:fillRect l="-4348" t="-2849" r="-2899" b="-6838"/>
                </a:stretch>
              </a:blipFill>
            </p:spPr>
            <p:txBody>
              <a:bodyPr/>
              <a:lstStyle/>
              <a:p>
                <a:r>
                  <a:rPr lang="en-US">
                    <a:noFill/>
                  </a:rPr>
                  <a:t> </a:t>
                </a:r>
              </a:p>
            </p:txBody>
          </p:sp>
        </mc:Fallback>
      </mc:AlternateContent>
    </p:spTree>
    <p:extLst>
      <p:ext uri="{BB962C8B-B14F-4D97-AF65-F5344CB8AC3E}">
        <p14:creationId xmlns:p14="http://schemas.microsoft.com/office/powerpoint/2010/main" val="1951419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9B396-6030-991D-0CB0-0B514B249D67}"/>
              </a:ext>
            </a:extLst>
          </p:cNvPr>
          <p:cNvSpPr>
            <a:spLocks noGrp="1"/>
          </p:cNvSpPr>
          <p:nvPr>
            <p:ph type="title"/>
          </p:nvPr>
        </p:nvSpPr>
        <p:spPr/>
        <p:txBody>
          <a:bodyPr/>
          <a:lstStyle/>
          <a:p>
            <a:r>
              <a:rPr lang="en-NL" dirty="0"/>
              <a:t>Recap: from </a:t>
            </a:r>
            <a:r>
              <a:rPr lang="en-NL" dirty="0">
                <a:solidFill>
                  <a:schemeClr val="accent1"/>
                </a:solidFill>
              </a:rPr>
              <a:t>Binomial to Poisson</a:t>
            </a:r>
          </a:p>
        </p:txBody>
      </p:sp>
      <p:pic>
        <p:nvPicPr>
          <p:cNvPr id="4" name="Picture 3" descr="A graph of a number of events&#10;&#10;AI-generated content may be incorrect.">
            <a:extLst>
              <a:ext uri="{FF2B5EF4-FFF2-40B4-BE49-F238E27FC236}">
                <a16:creationId xmlns:a16="http://schemas.microsoft.com/office/drawing/2014/main" id="{45A3CC58-A911-CDC0-2212-F5BF9B85555D}"/>
              </a:ext>
            </a:extLst>
          </p:cNvPr>
          <p:cNvPicPr>
            <a:picLocks noChangeAspect="1"/>
          </p:cNvPicPr>
          <p:nvPr/>
        </p:nvPicPr>
        <p:blipFill>
          <a:blip r:embed="rId2"/>
          <a:srcRect t="6038"/>
          <a:stretch>
            <a:fillRect/>
          </a:stretch>
        </p:blipFill>
        <p:spPr>
          <a:xfrm>
            <a:off x="3153753" y="1365813"/>
            <a:ext cx="6782178" cy="3823600"/>
          </a:xfrm>
          <a:prstGeom prst="rect">
            <a:avLst/>
          </a:prstGeom>
        </p:spPr>
      </p:pic>
    </p:spTree>
    <p:extLst>
      <p:ext uri="{BB962C8B-B14F-4D97-AF65-F5344CB8AC3E}">
        <p14:creationId xmlns:p14="http://schemas.microsoft.com/office/powerpoint/2010/main" val="134737587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4D3C1-A995-4D37-2F53-7ED6082E7B19}"/>
              </a:ext>
            </a:extLst>
          </p:cNvPr>
          <p:cNvSpPr>
            <a:spLocks noGrp="1"/>
          </p:cNvSpPr>
          <p:nvPr>
            <p:ph type="title"/>
          </p:nvPr>
        </p:nvSpPr>
        <p:spPr/>
        <p:txBody>
          <a:bodyPr/>
          <a:lstStyle/>
          <a:p>
            <a:r>
              <a:rPr lang="en-NL" dirty="0"/>
              <a:t>Recap: from Poisson to Normal</a:t>
            </a:r>
          </a:p>
        </p:txBody>
      </p:sp>
      <p:pic>
        <p:nvPicPr>
          <p:cNvPr id="4" name="Content Placeholder 10" descr="A group of graphs and diagrams&#10;&#10;AI-generated content may be incorrect.">
            <a:extLst>
              <a:ext uri="{FF2B5EF4-FFF2-40B4-BE49-F238E27FC236}">
                <a16:creationId xmlns:a16="http://schemas.microsoft.com/office/drawing/2014/main" id="{FB7A0269-94E9-6EA1-1B59-9F3A06D873C2}"/>
              </a:ext>
            </a:extLst>
          </p:cNvPr>
          <p:cNvPicPr>
            <a:picLocks noGrp="1" noChangeAspect="1"/>
          </p:cNvPicPr>
          <p:nvPr>
            <p:ph idx="1"/>
          </p:nvPr>
        </p:nvPicPr>
        <p:blipFill>
          <a:blip r:embed="rId3"/>
          <a:stretch>
            <a:fillRect/>
          </a:stretch>
        </p:blipFill>
        <p:spPr>
          <a:xfrm>
            <a:off x="2129741" y="1058733"/>
            <a:ext cx="7268901" cy="5197263"/>
          </a:xfrm>
          <a:noFill/>
        </p:spPr>
      </p:pic>
    </p:spTree>
    <p:extLst>
      <p:ext uri="{BB962C8B-B14F-4D97-AF65-F5344CB8AC3E}">
        <p14:creationId xmlns:p14="http://schemas.microsoft.com/office/powerpoint/2010/main" val="167076179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A2C4C-E5E6-1BC7-AD14-DA34C0102D3B}"/>
              </a:ext>
            </a:extLst>
          </p:cNvPr>
          <p:cNvSpPr>
            <a:spLocks noGrp="1"/>
          </p:cNvSpPr>
          <p:nvPr>
            <p:ph type="title"/>
          </p:nvPr>
        </p:nvSpPr>
        <p:spPr>
          <a:xfrm>
            <a:off x="723069" y="333843"/>
            <a:ext cx="11102399" cy="756000"/>
          </a:xfrm>
        </p:spPr>
        <p:txBody>
          <a:bodyPr/>
          <a:lstStyle/>
          <a:p>
            <a:r>
              <a:rPr lang="en-NL" dirty="0"/>
              <a:t>Recap: Z (normal) or t (t-distribution)?</a:t>
            </a:r>
          </a:p>
        </p:txBody>
      </p:sp>
      <p:pic>
        <p:nvPicPr>
          <p:cNvPr id="20482" name="Picture 2" descr="Normal Distribution vs. t-Distribution: What's the Difference?">
            <a:extLst>
              <a:ext uri="{FF2B5EF4-FFF2-40B4-BE49-F238E27FC236}">
                <a16:creationId xmlns:a16="http://schemas.microsoft.com/office/drawing/2014/main" id="{3122264E-5368-39C5-5184-B2A15584B6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621"/>
          <a:stretch>
            <a:fillRect/>
          </a:stretch>
        </p:blipFill>
        <p:spPr bwMode="auto">
          <a:xfrm>
            <a:off x="3226763" y="934152"/>
            <a:ext cx="6090857" cy="5281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887848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E1EB3-95F5-BC65-C78F-552A2FFA2995}"/>
              </a:ext>
            </a:extLst>
          </p:cNvPr>
          <p:cNvSpPr>
            <a:spLocks noGrp="1"/>
          </p:cNvSpPr>
          <p:nvPr>
            <p:ph type="title"/>
          </p:nvPr>
        </p:nvSpPr>
        <p:spPr/>
        <p:txBody>
          <a:bodyPr/>
          <a:lstStyle/>
          <a:p>
            <a:r>
              <a:rPr lang="en-NL" dirty="0"/>
              <a:t>Recap: Confidence Intervals</a:t>
            </a:r>
          </a:p>
        </p:txBody>
      </p:sp>
      <p:pic>
        <p:nvPicPr>
          <p:cNvPr id="4" name="Picture 3">
            <a:extLst>
              <a:ext uri="{FF2B5EF4-FFF2-40B4-BE49-F238E27FC236}">
                <a16:creationId xmlns:a16="http://schemas.microsoft.com/office/drawing/2014/main" id="{9D3E0968-C21F-B419-1293-5ADD2C580F83}"/>
              </a:ext>
            </a:extLst>
          </p:cNvPr>
          <p:cNvPicPr>
            <a:picLocks noChangeAspect="1"/>
          </p:cNvPicPr>
          <p:nvPr/>
        </p:nvPicPr>
        <p:blipFill>
          <a:blip r:embed="rId2"/>
          <a:stretch>
            <a:fillRect/>
          </a:stretch>
        </p:blipFill>
        <p:spPr>
          <a:xfrm>
            <a:off x="3033229" y="1037426"/>
            <a:ext cx="6125542" cy="5406314"/>
          </a:xfrm>
          <a:prstGeom prst="rect">
            <a:avLst/>
          </a:prstGeom>
        </p:spPr>
      </p:pic>
    </p:spTree>
    <p:extLst>
      <p:ext uri="{BB962C8B-B14F-4D97-AF65-F5344CB8AC3E}">
        <p14:creationId xmlns:p14="http://schemas.microsoft.com/office/powerpoint/2010/main" val="364100810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F74-7C3A-10B1-42E4-6FECA4582C53}"/>
              </a:ext>
            </a:extLst>
          </p:cNvPr>
          <p:cNvSpPr>
            <a:spLocks noGrp="1"/>
          </p:cNvSpPr>
          <p:nvPr>
            <p:ph type="ctrTitle"/>
          </p:nvPr>
        </p:nvSpPr>
        <p:spPr/>
        <p:txBody>
          <a:bodyPr/>
          <a:lstStyle/>
          <a:p>
            <a:r>
              <a:rPr lang="en-NL" dirty="0"/>
              <a:t>Questions?</a:t>
            </a:r>
          </a:p>
        </p:txBody>
      </p:sp>
      <p:sp>
        <p:nvSpPr>
          <p:cNvPr id="3" name="Subtitle 2">
            <a:extLst>
              <a:ext uri="{FF2B5EF4-FFF2-40B4-BE49-F238E27FC236}">
                <a16:creationId xmlns:a16="http://schemas.microsoft.com/office/drawing/2014/main" id="{2877B84A-1DC2-0B24-FF5A-C57C09371F18}"/>
              </a:ext>
            </a:extLst>
          </p:cNvPr>
          <p:cNvSpPr>
            <a:spLocks noGrp="1"/>
          </p:cNvSpPr>
          <p:nvPr>
            <p:ph type="subTitle" idx="1"/>
          </p:nvPr>
        </p:nvSpPr>
        <p:spPr/>
        <p:txBody>
          <a:bodyPr/>
          <a:lstStyle/>
          <a:p>
            <a:endParaRPr lang="en-NL"/>
          </a:p>
        </p:txBody>
      </p:sp>
    </p:spTree>
    <p:extLst>
      <p:ext uri="{BB962C8B-B14F-4D97-AF65-F5344CB8AC3E}">
        <p14:creationId xmlns:p14="http://schemas.microsoft.com/office/powerpoint/2010/main" val="587579045"/>
      </p:ext>
    </p:extLst>
  </p:cSld>
  <p:clrMapOvr>
    <a:masterClrMapping/>
  </p:clrMapOvr>
</p:sld>
</file>

<file path=ppt/theme/theme1.xml><?xml version="1.0" encoding="utf-8"?>
<a:theme xmlns:a="http://schemas.openxmlformats.org/drawingml/2006/main" name="1_Maastricht University">
  <a:themeElements>
    <a:clrScheme name="UM">
      <a:dk1>
        <a:srgbClr val="001C3D"/>
      </a:dk1>
      <a:lt1>
        <a:srgbClr val="FFFFFF"/>
      </a:lt1>
      <a:dk2>
        <a:srgbClr val="00A2DB"/>
      </a:dk2>
      <a:lt2>
        <a:srgbClr val="FFFFFF"/>
      </a:lt2>
      <a:accent1>
        <a:srgbClr val="E84E10"/>
      </a:accent1>
      <a:accent2>
        <a:srgbClr val="00A2DB"/>
      </a:accent2>
      <a:accent3>
        <a:srgbClr val="001C3D"/>
      </a:accent3>
      <a:accent4>
        <a:srgbClr val="F3A687"/>
      </a:accent4>
      <a:accent5>
        <a:srgbClr val="7FD0ED"/>
      </a:accent5>
      <a:accent6>
        <a:srgbClr val="7F8D9E"/>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61147</TotalTime>
  <Words>6634</Words>
  <Application>Microsoft Macintosh PowerPoint</Application>
  <PresentationFormat>Widescreen</PresentationFormat>
  <Paragraphs>714</Paragraphs>
  <Slides>98</Slides>
  <Notes>56</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98</vt:i4>
      </vt:variant>
    </vt:vector>
  </HeadingPairs>
  <TitlesOfParts>
    <vt:vector size="106" baseType="lpstr">
      <vt:lpstr>Aptos</vt:lpstr>
      <vt:lpstr>Arial</vt:lpstr>
      <vt:lpstr>Calibri</vt:lpstr>
      <vt:lpstr>Cambria Math</vt:lpstr>
      <vt:lpstr>Google Sans Text</vt:lpstr>
      <vt:lpstr>Lucida Grande</vt:lpstr>
      <vt:lpstr>Wingdings</vt:lpstr>
      <vt:lpstr>1_Maastricht University</vt:lpstr>
      <vt:lpstr>BCS1520: Statistics</vt:lpstr>
      <vt:lpstr>Recap: Random Variables</vt:lpstr>
      <vt:lpstr>Recap: Continuous Random Variables</vt:lpstr>
      <vt:lpstr>Recap: Continuous Random Variables</vt:lpstr>
      <vt:lpstr>Recap</vt:lpstr>
      <vt:lpstr>PowerPoint Presentation</vt:lpstr>
      <vt:lpstr>PowerPoint Presentation</vt:lpstr>
      <vt:lpstr>Recap</vt:lpstr>
      <vt:lpstr>Recap</vt:lpstr>
      <vt:lpstr>Recap</vt:lpstr>
      <vt:lpstr>Distribution overview</vt:lpstr>
      <vt:lpstr>My Laptop &amp; the Binomial Distribution</vt:lpstr>
      <vt:lpstr>From Binomial to Poisson</vt:lpstr>
      <vt:lpstr>From Binomial to Poisson: intuition of time</vt:lpstr>
      <vt:lpstr>From Binomial to Poisson: intuition of time</vt:lpstr>
      <vt:lpstr>From Binomial to Poisson: intuition of time</vt:lpstr>
      <vt:lpstr>From Binomial to Poisson</vt:lpstr>
      <vt:lpstr>Poisson: Counting</vt:lpstr>
      <vt:lpstr>In the real world: Poisson Process</vt:lpstr>
      <vt:lpstr>Poisson: Counting</vt:lpstr>
      <vt:lpstr>Poisson Process &amp; Distribution</vt:lpstr>
      <vt:lpstr>Poisson Process &amp; Distribution</vt:lpstr>
      <vt:lpstr>Poisson Process &amp; Distribution</vt:lpstr>
      <vt:lpstr>Poisson Process &amp; Distribution</vt:lpstr>
      <vt:lpstr>We use t so time can change! (Mind the definition)</vt:lpstr>
      <vt:lpstr>We use t so time can change! (Mind the definition)</vt:lpstr>
      <vt:lpstr>Poisson: quick overview</vt:lpstr>
      <vt:lpstr>Poisson: Example</vt:lpstr>
      <vt:lpstr>Poisson: Example</vt:lpstr>
      <vt:lpstr>Poisson: example</vt:lpstr>
      <vt:lpstr>Poisson: example</vt:lpstr>
      <vt:lpstr>Poisson: example</vt:lpstr>
      <vt:lpstr>PowerPoint Presentation</vt:lpstr>
      <vt:lpstr>PowerPoint Presentation</vt:lpstr>
      <vt:lpstr>PowerPoint Presentation</vt:lpstr>
      <vt:lpstr>Normal distribution</vt:lpstr>
      <vt:lpstr>Just a normal formula</vt:lpstr>
      <vt:lpstr>Just a normal formula</vt:lpstr>
      <vt:lpstr>Just a normal formula</vt:lpstr>
      <vt:lpstr>The area under the curve = 1</vt:lpstr>
      <vt:lpstr>Normal distribution</vt:lpstr>
      <vt:lpstr>Standard Normal Distribution</vt:lpstr>
      <vt:lpstr>Standard Normal Distribution</vt:lpstr>
      <vt:lpstr>‘How many standard deviations away from mean?’</vt:lpstr>
      <vt:lpstr>Z-Table (It is a tool. Nobody knows this by heart)</vt:lpstr>
      <vt:lpstr>Z-scores</vt:lpstr>
      <vt:lpstr>Z-scores</vt:lpstr>
      <vt:lpstr>Z-scores</vt:lpstr>
      <vt:lpstr>Z-scores</vt:lpstr>
      <vt:lpstr>Distributions are great!</vt:lpstr>
      <vt:lpstr>Coffee?</vt:lpstr>
      <vt:lpstr>Why is the Normal Distribution so great?</vt:lpstr>
      <vt:lpstr>Law of Large Numbers</vt:lpstr>
      <vt:lpstr>Law of Large Numbers</vt:lpstr>
      <vt:lpstr>Law of Large Numbers</vt:lpstr>
      <vt:lpstr>Central Limit Theorem</vt:lpstr>
      <vt:lpstr>Central Limit Theorem</vt:lpstr>
      <vt:lpstr>Central Limit Theorem: Intuition</vt:lpstr>
      <vt:lpstr>Central Limit Theorem: Intuition</vt:lpstr>
      <vt:lpstr>Central Limit Theorem: Intuition</vt:lpstr>
      <vt:lpstr>The Magic Of CLT</vt:lpstr>
      <vt:lpstr>Assumptions of CLT</vt:lpstr>
      <vt:lpstr>CLT: we deal with averages now</vt:lpstr>
      <vt:lpstr>CLT: we deal with averages now</vt:lpstr>
      <vt:lpstr>Confidence Intervals</vt:lpstr>
      <vt:lpstr>Confidence Interval</vt:lpstr>
      <vt:lpstr>Confidence Interval</vt:lpstr>
      <vt:lpstr>95% confidence interval</vt:lpstr>
      <vt:lpstr>95% confidence interval</vt:lpstr>
      <vt:lpstr>PowerPoint Presentation</vt:lpstr>
      <vt:lpstr>Confidence Intervals in practice</vt:lpstr>
      <vt:lpstr>Confidence Intervals in practice</vt:lpstr>
      <vt:lpstr>Confidence Intervals in practice</vt:lpstr>
      <vt:lpstr>Confidence Intervals in practice</vt:lpstr>
      <vt:lpstr>Why confidence intervals?</vt:lpstr>
      <vt:lpstr>Why confidence intervals?</vt:lpstr>
      <vt:lpstr>But what if my data is limited?</vt:lpstr>
      <vt:lpstr>But what if my data is limited?</vt:lpstr>
      <vt:lpstr>But what if my data is limited?</vt:lpstr>
      <vt:lpstr>T-distribution &amp; William Gossett</vt:lpstr>
      <vt:lpstr>T-distribution</vt:lpstr>
      <vt:lpstr>t-Distribution</vt:lpstr>
      <vt:lpstr>t-Distribution Definition</vt:lpstr>
      <vt:lpstr>T-distribution</vt:lpstr>
      <vt:lpstr>T-distribution</vt:lpstr>
      <vt:lpstr>T-Distribution</vt:lpstr>
      <vt:lpstr>Is it fair to assume a normal distribution?</vt:lpstr>
      <vt:lpstr>When does the t-distribution not work?</vt:lpstr>
      <vt:lpstr>Back to my laptop… (for the 100th time)</vt:lpstr>
      <vt:lpstr>Back to my laptop… (for the 100th time)</vt:lpstr>
      <vt:lpstr>CI for proportions (binary outcomes)</vt:lpstr>
      <vt:lpstr>Confidence Interval for Proportion of a Single Sample</vt:lpstr>
      <vt:lpstr>Confidence Interval for Proportion of a Single Sample</vt:lpstr>
      <vt:lpstr>Recap: from Binomial to Poisson</vt:lpstr>
      <vt:lpstr>Recap: from Poisson to Normal</vt:lpstr>
      <vt:lpstr>Recap: Z (normal) or t (t-distribution)?</vt:lpstr>
      <vt:lpstr>Recap: Confidence Intervals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Wodeyar, Anirudh (DACS)</dc:creator>
  <cp:lastModifiedBy>Cedric Waterschoot</cp:lastModifiedBy>
  <cp:revision>404</cp:revision>
  <cp:lastPrinted>2026-04-21T10:39:56Z</cp:lastPrinted>
  <dcterms:created xsi:type="dcterms:W3CDTF">2024-10-09T10:24:32Z</dcterms:created>
  <dcterms:modified xsi:type="dcterms:W3CDTF">2026-04-28T09:37:07Z</dcterms:modified>
</cp:coreProperties>
</file>