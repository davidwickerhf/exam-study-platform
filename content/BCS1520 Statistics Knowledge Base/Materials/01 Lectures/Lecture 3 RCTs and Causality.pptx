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0"/>
  </p:notesMasterIdLst>
  <p:sldIdLst>
    <p:sldId id="261" r:id="rId2"/>
    <p:sldId id="719" r:id="rId3"/>
    <p:sldId id="721" r:id="rId4"/>
    <p:sldId id="722" r:id="rId5"/>
    <p:sldId id="593" r:id="rId6"/>
    <p:sldId id="743" r:id="rId7"/>
    <p:sldId id="744" r:id="rId8"/>
    <p:sldId id="745" r:id="rId9"/>
    <p:sldId id="746" r:id="rId10"/>
    <p:sldId id="621" r:id="rId11"/>
    <p:sldId id="747" r:id="rId12"/>
    <p:sldId id="623" r:id="rId13"/>
    <p:sldId id="748" r:id="rId14"/>
    <p:sldId id="628" r:id="rId15"/>
    <p:sldId id="594" r:id="rId16"/>
    <p:sldId id="596" r:id="rId17"/>
    <p:sldId id="597" r:id="rId18"/>
    <p:sldId id="669" r:id="rId19"/>
    <p:sldId id="674" r:id="rId20"/>
    <p:sldId id="672" r:id="rId21"/>
    <p:sldId id="673" r:id="rId22"/>
    <p:sldId id="670" r:id="rId23"/>
    <p:sldId id="675" r:id="rId24"/>
    <p:sldId id="646" r:id="rId25"/>
    <p:sldId id="676" r:id="rId26"/>
    <p:sldId id="677" r:id="rId27"/>
    <p:sldId id="679" r:id="rId28"/>
    <p:sldId id="681" r:id="rId29"/>
    <p:sldId id="683" r:id="rId30"/>
    <p:sldId id="685" r:id="rId31"/>
    <p:sldId id="684" r:id="rId32"/>
    <p:sldId id="686" r:id="rId33"/>
    <p:sldId id="678" r:id="rId34"/>
    <p:sldId id="680" r:id="rId35"/>
    <p:sldId id="598" r:id="rId36"/>
    <p:sldId id="600" r:id="rId37"/>
    <p:sldId id="661" r:id="rId38"/>
    <p:sldId id="687" r:id="rId39"/>
    <p:sldId id="688" r:id="rId40"/>
    <p:sldId id="601" r:id="rId41"/>
    <p:sldId id="626" r:id="rId42"/>
    <p:sldId id="603" r:id="rId43"/>
    <p:sldId id="641" r:id="rId44"/>
    <p:sldId id="693" r:id="rId45"/>
    <p:sldId id="692" r:id="rId46"/>
    <p:sldId id="606" r:id="rId47"/>
    <p:sldId id="609" r:id="rId48"/>
    <p:sldId id="694" r:id="rId49"/>
    <p:sldId id="695" r:id="rId50"/>
    <p:sldId id="696" r:id="rId51"/>
    <p:sldId id="697" r:id="rId52"/>
    <p:sldId id="698" r:id="rId53"/>
    <p:sldId id="699" r:id="rId54"/>
    <p:sldId id="610" r:id="rId55"/>
    <p:sldId id="611" r:id="rId56"/>
    <p:sldId id="662" r:id="rId57"/>
    <p:sldId id="663" r:id="rId58"/>
    <p:sldId id="612" r:id="rId59"/>
    <p:sldId id="613" r:id="rId60"/>
    <p:sldId id="607" r:id="rId61"/>
    <p:sldId id="608" r:id="rId62"/>
    <p:sldId id="614" r:id="rId63"/>
    <p:sldId id="615" r:id="rId64"/>
    <p:sldId id="653" r:id="rId65"/>
    <p:sldId id="616" r:id="rId66"/>
    <p:sldId id="620" r:id="rId67"/>
    <p:sldId id="707" r:id="rId68"/>
    <p:sldId id="706" r:id="rId69"/>
    <p:sldId id="634" r:id="rId70"/>
    <p:sldId id="635" r:id="rId71"/>
    <p:sldId id="636" r:id="rId72"/>
    <p:sldId id="637" r:id="rId73"/>
    <p:sldId id="604" r:id="rId74"/>
    <p:sldId id="690" r:id="rId75"/>
    <p:sldId id="624" r:id="rId76"/>
    <p:sldId id="658" r:id="rId77"/>
    <p:sldId id="659" r:id="rId78"/>
    <p:sldId id="660" r:id="rId7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531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8913"/>
    <p:restoredTop sz="96301"/>
  </p:normalViewPr>
  <p:slideViewPr>
    <p:cSldViewPr snapToGrid="0">
      <p:cViewPr>
        <p:scale>
          <a:sx n="110" d="100"/>
          <a:sy n="110" d="100"/>
        </p:scale>
        <p:origin x="80" y="4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BCCBA57-5E71-434B-9ABD-4334B247BAF4}" type="doc">
      <dgm:prSet loTypeId="urn:microsoft.com/office/officeart/2005/8/layout/process1" loCatId="" qsTypeId="urn:microsoft.com/office/officeart/2005/8/quickstyle/simple1" qsCatId="simple" csTypeId="urn:microsoft.com/office/officeart/2005/8/colors/accent1_2" csCatId="accent1" phldr="1"/>
      <dgm:spPr/>
    </dgm:pt>
    <dgm:pt modelId="{75599961-7DEA-6B4A-B6B7-1F2305BEA81F}">
      <dgm:prSet phldrT="[Text]" custT="1"/>
      <dgm:spPr/>
      <dgm:t>
        <a:bodyPr/>
        <a:lstStyle/>
        <a:p>
          <a:r>
            <a:rPr lang="en-US" sz="1600" dirty="0"/>
            <a:t>1. Possible Data</a:t>
          </a:r>
        </a:p>
      </dgm:t>
    </dgm:pt>
    <dgm:pt modelId="{31CE53E0-A3C8-C545-8421-CDE2C1E0AEC4}" type="parTrans" cxnId="{E2F8A0B0-FF46-214B-8AD0-80E030B8A1FD}">
      <dgm:prSet/>
      <dgm:spPr/>
      <dgm:t>
        <a:bodyPr/>
        <a:lstStyle/>
        <a:p>
          <a:endParaRPr lang="en-US" sz="1600"/>
        </a:p>
      </dgm:t>
    </dgm:pt>
    <dgm:pt modelId="{3153F1A5-1FAB-594D-A01F-04F98ADD2AE5}" type="sibTrans" cxnId="{E2F8A0B0-FF46-214B-8AD0-80E030B8A1FD}">
      <dgm:prSet custT="1"/>
      <dgm:spPr/>
      <dgm:t>
        <a:bodyPr/>
        <a:lstStyle/>
        <a:p>
          <a:endParaRPr lang="en-US" sz="1600"/>
        </a:p>
      </dgm:t>
    </dgm:pt>
    <dgm:pt modelId="{5B83EE68-0D81-8B43-A623-81E403BC98CC}">
      <dgm:prSet phldrT="[Text]" custT="1"/>
      <dgm:spPr/>
      <dgm:t>
        <a:bodyPr/>
        <a:lstStyle/>
        <a:p>
          <a:r>
            <a:rPr lang="en-US" sz="1600" dirty="0"/>
            <a:t>2. Sample</a:t>
          </a:r>
        </a:p>
      </dgm:t>
    </dgm:pt>
    <dgm:pt modelId="{3FDEF6DC-9366-BD4F-A8E5-9DBDC825EFF9}" type="parTrans" cxnId="{4D087057-3536-494C-8B20-B729E0185E14}">
      <dgm:prSet/>
      <dgm:spPr/>
      <dgm:t>
        <a:bodyPr/>
        <a:lstStyle/>
        <a:p>
          <a:endParaRPr lang="en-US" sz="1600"/>
        </a:p>
      </dgm:t>
    </dgm:pt>
    <dgm:pt modelId="{F3799AE3-9BA3-A84F-B38F-0AA3E91930B1}" type="sibTrans" cxnId="{4D087057-3536-494C-8B20-B729E0185E14}">
      <dgm:prSet custT="1"/>
      <dgm:spPr/>
      <dgm:t>
        <a:bodyPr/>
        <a:lstStyle/>
        <a:p>
          <a:endParaRPr lang="en-US" sz="1600"/>
        </a:p>
      </dgm:t>
    </dgm:pt>
    <dgm:pt modelId="{BC96B3B7-94E2-4E45-92BC-4A2DCB9618A9}">
      <dgm:prSet phldrT="[Text]" custT="1"/>
      <dgm:spPr/>
      <dgm:t>
        <a:bodyPr/>
        <a:lstStyle/>
        <a:p>
          <a:r>
            <a:rPr lang="en-US" sz="1600" dirty="0"/>
            <a:t>3. Study Population</a:t>
          </a:r>
        </a:p>
      </dgm:t>
    </dgm:pt>
    <dgm:pt modelId="{3D3CFDD6-901E-654D-8CE4-AE14979B58A3}" type="parTrans" cxnId="{6A3BBEF2-1688-884E-9316-0B349BCA8133}">
      <dgm:prSet/>
      <dgm:spPr/>
      <dgm:t>
        <a:bodyPr/>
        <a:lstStyle/>
        <a:p>
          <a:endParaRPr lang="en-US" sz="1600"/>
        </a:p>
      </dgm:t>
    </dgm:pt>
    <dgm:pt modelId="{263988DF-B185-A84B-A3A2-66F4EFFBFC04}" type="sibTrans" cxnId="{6A3BBEF2-1688-884E-9316-0B349BCA8133}">
      <dgm:prSet custT="1"/>
      <dgm:spPr/>
      <dgm:t>
        <a:bodyPr/>
        <a:lstStyle/>
        <a:p>
          <a:endParaRPr lang="en-US" sz="1600"/>
        </a:p>
      </dgm:t>
    </dgm:pt>
    <dgm:pt modelId="{19FA58FC-13D3-6F48-8B90-21D6EE9A5DF0}">
      <dgm:prSet phldrT="[Text]" custT="1"/>
      <dgm:spPr/>
      <dgm:t>
        <a:bodyPr/>
        <a:lstStyle/>
        <a:p>
          <a:r>
            <a:rPr lang="en-US" sz="1600" dirty="0"/>
            <a:t>4. Target Population</a:t>
          </a:r>
        </a:p>
      </dgm:t>
    </dgm:pt>
    <dgm:pt modelId="{9EF45342-F0DB-3746-93EC-5F9DF0952263}" type="parTrans" cxnId="{2BBC0525-CB90-9E40-8F21-337532EDBF26}">
      <dgm:prSet/>
      <dgm:spPr/>
      <dgm:t>
        <a:bodyPr/>
        <a:lstStyle/>
        <a:p>
          <a:endParaRPr lang="en-US" sz="1600"/>
        </a:p>
      </dgm:t>
    </dgm:pt>
    <dgm:pt modelId="{AB3DFDB3-51CC-D948-84BE-B3CCCF09AD6E}" type="sibTrans" cxnId="{2BBC0525-CB90-9E40-8F21-337532EDBF26}">
      <dgm:prSet/>
      <dgm:spPr/>
      <dgm:t>
        <a:bodyPr/>
        <a:lstStyle/>
        <a:p>
          <a:endParaRPr lang="en-US" sz="1600"/>
        </a:p>
      </dgm:t>
    </dgm:pt>
    <dgm:pt modelId="{B8B8F505-CFCF-E24A-89DB-5949814A4C6F}" type="pres">
      <dgm:prSet presAssocID="{9BCCBA57-5E71-434B-9ABD-4334B247BAF4}" presName="Name0" presStyleCnt="0">
        <dgm:presLayoutVars>
          <dgm:dir/>
          <dgm:resizeHandles val="exact"/>
        </dgm:presLayoutVars>
      </dgm:prSet>
      <dgm:spPr/>
    </dgm:pt>
    <dgm:pt modelId="{E42C3DB4-43D1-D94B-A081-757267C3944E}" type="pres">
      <dgm:prSet presAssocID="{75599961-7DEA-6B4A-B6B7-1F2305BEA81F}" presName="node" presStyleLbl="node1" presStyleIdx="0" presStyleCnt="4">
        <dgm:presLayoutVars>
          <dgm:bulletEnabled val="1"/>
        </dgm:presLayoutVars>
      </dgm:prSet>
      <dgm:spPr/>
    </dgm:pt>
    <dgm:pt modelId="{CAF6E94D-D82E-8B44-8293-CD67D304FBDA}" type="pres">
      <dgm:prSet presAssocID="{3153F1A5-1FAB-594D-A01F-04F98ADD2AE5}" presName="sibTrans" presStyleLbl="sibTrans2D1" presStyleIdx="0" presStyleCnt="3"/>
      <dgm:spPr/>
    </dgm:pt>
    <dgm:pt modelId="{D1CEF70A-0FD0-ED4B-B733-543CE3AF2017}" type="pres">
      <dgm:prSet presAssocID="{3153F1A5-1FAB-594D-A01F-04F98ADD2AE5}" presName="connectorText" presStyleLbl="sibTrans2D1" presStyleIdx="0" presStyleCnt="3"/>
      <dgm:spPr/>
    </dgm:pt>
    <dgm:pt modelId="{F2CD0C8F-0608-1141-AA28-047CDBEF6080}" type="pres">
      <dgm:prSet presAssocID="{5B83EE68-0D81-8B43-A623-81E403BC98CC}" presName="node" presStyleLbl="node1" presStyleIdx="1" presStyleCnt="4" custScaleX="132281">
        <dgm:presLayoutVars>
          <dgm:bulletEnabled val="1"/>
        </dgm:presLayoutVars>
      </dgm:prSet>
      <dgm:spPr/>
    </dgm:pt>
    <dgm:pt modelId="{CC853FAA-D91C-CB4C-AB55-16BE053DBE8A}" type="pres">
      <dgm:prSet presAssocID="{F3799AE3-9BA3-A84F-B38F-0AA3E91930B1}" presName="sibTrans" presStyleLbl="sibTrans2D1" presStyleIdx="1" presStyleCnt="3"/>
      <dgm:spPr/>
    </dgm:pt>
    <dgm:pt modelId="{62F4F59B-2710-AD45-891B-57C8068F0C17}" type="pres">
      <dgm:prSet presAssocID="{F3799AE3-9BA3-A84F-B38F-0AA3E91930B1}" presName="connectorText" presStyleLbl="sibTrans2D1" presStyleIdx="1" presStyleCnt="3"/>
      <dgm:spPr/>
    </dgm:pt>
    <dgm:pt modelId="{2C575968-B7EF-D547-A649-92CE69730E07}" type="pres">
      <dgm:prSet presAssocID="{BC96B3B7-94E2-4E45-92BC-4A2DCB9618A9}" presName="node" presStyleLbl="node1" presStyleIdx="2" presStyleCnt="4">
        <dgm:presLayoutVars>
          <dgm:bulletEnabled val="1"/>
        </dgm:presLayoutVars>
      </dgm:prSet>
      <dgm:spPr/>
    </dgm:pt>
    <dgm:pt modelId="{F049225B-BBB8-FA46-97A1-CE7CF0DFE1AC}" type="pres">
      <dgm:prSet presAssocID="{263988DF-B185-A84B-A3A2-66F4EFFBFC04}" presName="sibTrans" presStyleLbl="sibTrans2D1" presStyleIdx="2" presStyleCnt="3"/>
      <dgm:spPr/>
    </dgm:pt>
    <dgm:pt modelId="{34CC5521-DDF3-FF46-9B97-D4B9879CBC50}" type="pres">
      <dgm:prSet presAssocID="{263988DF-B185-A84B-A3A2-66F4EFFBFC04}" presName="connectorText" presStyleLbl="sibTrans2D1" presStyleIdx="2" presStyleCnt="3"/>
      <dgm:spPr/>
    </dgm:pt>
    <dgm:pt modelId="{97EA8E17-6D6B-B942-B31F-F7B6B49580E2}" type="pres">
      <dgm:prSet presAssocID="{19FA58FC-13D3-6F48-8B90-21D6EE9A5DF0}" presName="node" presStyleLbl="node1" presStyleIdx="3" presStyleCnt="4">
        <dgm:presLayoutVars>
          <dgm:bulletEnabled val="1"/>
        </dgm:presLayoutVars>
      </dgm:prSet>
      <dgm:spPr/>
    </dgm:pt>
  </dgm:ptLst>
  <dgm:cxnLst>
    <dgm:cxn modelId="{2BBC0525-CB90-9E40-8F21-337532EDBF26}" srcId="{9BCCBA57-5E71-434B-9ABD-4334B247BAF4}" destId="{19FA58FC-13D3-6F48-8B90-21D6EE9A5DF0}" srcOrd="3" destOrd="0" parTransId="{9EF45342-F0DB-3746-93EC-5F9DF0952263}" sibTransId="{AB3DFDB3-51CC-D948-84BE-B3CCCF09AD6E}"/>
    <dgm:cxn modelId="{2233D72B-CD5F-5A44-85C6-FD48C435F704}" type="presOf" srcId="{263988DF-B185-A84B-A3A2-66F4EFFBFC04}" destId="{34CC5521-DDF3-FF46-9B97-D4B9879CBC50}" srcOrd="1" destOrd="0" presId="urn:microsoft.com/office/officeart/2005/8/layout/process1"/>
    <dgm:cxn modelId="{7D781637-6709-644E-96DF-7D185B5802E9}" type="presOf" srcId="{F3799AE3-9BA3-A84F-B38F-0AA3E91930B1}" destId="{62F4F59B-2710-AD45-891B-57C8068F0C17}" srcOrd="1" destOrd="0" presId="urn:microsoft.com/office/officeart/2005/8/layout/process1"/>
    <dgm:cxn modelId="{4D102648-3770-DB4E-8953-283CB3752698}" type="presOf" srcId="{5B83EE68-0D81-8B43-A623-81E403BC98CC}" destId="{F2CD0C8F-0608-1141-AA28-047CDBEF6080}" srcOrd="0" destOrd="0" presId="urn:microsoft.com/office/officeart/2005/8/layout/process1"/>
    <dgm:cxn modelId="{4D087057-3536-494C-8B20-B729E0185E14}" srcId="{9BCCBA57-5E71-434B-9ABD-4334B247BAF4}" destId="{5B83EE68-0D81-8B43-A623-81E403BC98CC}" srcOrd="1" destOrd="0" parTransId="{3FDEF6DC-9366-BD4F-A8E5-9DBDC825EFF9}" sibTransId="{F3799AE3-9BA3-A84F-B38F-0AA3E91930B1}"/>
    <dgm:cxn modelId="{9CF3997C-F460-5749-927B-03BA305A3929}" type="presOf" srcId="{9BCCBA57-5E71-434B-9ABD-4334B247BAF4}" destId="{B8B8F505-CFCF-E24A-89DB-5949814A4C6F}" srcOrd="0" destOrd="0" presId="urn:microsoft.com/office/officeart/2005/8/layout/process1"/>
    <dgm:cxn modelId="{761E7BA7-BB12-6F48-BCD3-2BC93EEE635D}" type="presOf" srcId="{19FA58FC-13D3-6F48-8B90-21D6EE9A5DF0}" destId="{97EA8E17-6D6B-B942-B31F-F7B6B49580E2}" srcOrd="0" destOrd="0" presId="urn:microsoft.com/office/officeart/2005/8/layout/process1"/>
    <dgm:cxn modelId="{760194AF-13BE-8E48-8B27-93970267D223}" type="presOf" srcId="{263988DF-B185-A84B-A3A2-66F4EFFBFC04}" destId="{F049225B-BBB8-FA46-97A1-CE7CF0DFE1AC}" srcOrd="0" destOrd="0" presId="urn:microsoft.com/office/officeart/2005/8/layout/process1"/>
    <dgm:cxn modelId="{E2F8A0B0-FF46-214B-8AD0-80E030B8A1FD}" srcId="{9BCCBA57-5E71-434B-9ABD-4334B247BAF4}" destId="{75599961-7DEA-6B4A-B6B7-1F2305BEA81F}" srcOrd="0" destOrd="0" parTransId="{31CE53E0-A3C8-C545-8421-CDE2C1E0AEC4}" sibTransId="{3153F1A5-1FAB-594D-A01F-04F98ADD2AE5}"/>
    <dgm:cxn modelId="{FE2954C1-019D-1E47-99F2-60CD38A9D428}" type="presOf" srcId="{3153F1A5-1FAB-594D-A01F-04F98ADD2AE5}" destId="{CAF6E94D-D82E-8B44-8293-CD67D304FBDA}" srcOrd="0" destOrd="0" presId="urn:microsoft.com/office/officeart/2005/8/layout/process1"/>
    <dgm:cxn modelId="{408E27C2-9B57-D944-883B-661893F8C01E}" type="presOf" srcId="{75599961-7DEA-6B4A-B6B7-1F2305BEA81F}" destId="{E42C3DB4-43D1-D94B-A081-757267C3944E}" srcOrd="0" destOrd="0" presId="urn:microsoft.com/office/officeart/2005/8/layout/process1"/>
    <dgm:cxn modelId="{8C3E4AC7-D652-874A-947F-6989674BC325}" type="presOf" srcId="{BC96B3B7-94E2-4E45-92BC-4A2DCB9618A9}" destId="{2C575968-B7EF-D547-A649-92CE69730E07}" srcOrd="0" destOrd="0" presId="urn:microsoft.com/office/officeart/2005/8/layout/process1"/>
    <dgm:cxn modelId="{55259FC7-7059-3743-B6EE-307B69C8ACD1}" type="presOf" srcId="{3153F1A5-1FAB-594D-A01F-04F98ADD2AE5}" destId="{D1CEF70A-0FD0-ED4B-B733-543CE3AF2017}" srcOrd="1" destOrd="0" presId="urn:microsoft.com/office/officeart/2005/8/layout/process1"/>
    <dgm:cxn modelId="{6A3BBEF2-1688-884E-9316-0B349BCA8133}" srcId="{9BCCBA57-5E71-434B-9ABD-4334B247BAF4}" destId="{BC96B3B7-94E2-4E45-92BC-4A2DCB9618A9}" srcOrd="2" destOrd="0" parTransId="{3D3CFDD6-901E-654D-8CE4-AE14979B58A3}" sibTransId="{263988DF-B185-A84B-A3A2-66F4EFFBFC04}"/>
    <dgm:cxn modelId="{3F5686F9-559E-8746-9C50-C0691D5F655A}" type="presOf" srcId="{F3799AE3-9BA3-A84F-B38F-0AA3E91930B1}" destId="{CC853FAA-D91C-CB4C-AB55-16BE053DBE8A}" srcOrd="0" destOrd="0" presId="urn:microsoft.com/office/officeart/2005/8/layout/process1"/>
    <dgm:cxn modelId="{21178040-D5EC-5947-9C30-91BF9BD4F9F7}" type="presParOf" srcId="{B8B8F505-CFCF-E24A-89DB-5949814A4C6F}" destId="{E42C3DB4-43D1-D94B-A081-757267C3944E}" srcOrd="0" destOrd="0" presId="urn:microsoft.com/office/officeart/2005/8/layout/process1"/>
    <dgm:cxn modelId="{93D079B4-68A7-784B-B5F2-E768ACFA78E9}" type="presParOf" srcId="{B8B8F505-CFCF-E24A-89DB-5949814A4C6F}" destId="{CAF6E94D-D82E-8B44-8293-CD67D304FBDA}" srcOrd="1" destOrd="0" presId="urn:microsoft.com/office/officeart/2005/8/layout/process1"/>
    <dgm:cxn modelId="{A4CE0362-D354-1B42-A5E4-1F5AE32BB022}" type="presParOf" srcId="{CAF6E94D-D82E-8B44-8293-CD67D304FBDA}" destId="{D1CEF70A-0FD0-ED4B-B733-543CE3AF2017}" srcOrd="0" destOrd="0" presId="urn:microsoft.com/office/officeart/2005/8/layout/process1"/>
    <dgm:cxn modelId="{AB02610B-10ED-3F42-B67C-AD47ED1BA7AC}" type="presParOf" srcId="{B8B8F505-CFCF-E24A-89DB-5949814A4C6F}" destId="{F2CD0C8F-0608-1141-AA28-047CDBEF6080}" srcOrd="2" destOrd="0" presId="urn:microsoft.com/office/officeart/2005/8/layout/process1"/>
    <dgm:cxn modelId="{0C53D4D5-B714-5148-9FC0-CEF0CA33B16D}" type="presParOf" srcId="{B8B8F505-CFCF-E24A-89DB-5949814A4C6F}" destId="{CC853FAA-D91C-CB4C-AB55-16BE053DBE8A}" srcOrd="3" destOrd="0" presId="urn:microsoft.com/office/officeart/2005/8/layout/process1"/>
    <dgm:cxn modelId="{D1810428-C732-D04D-A428-3701769F511E}" type="presParOf" srcId="{CC853FAA-D91C-CB4C-AB55-16BE053DBE8A}" destId="{62F4F59B-2710-AD45-891B-57C8068F0C17}" srcOrd="0" destOrd="0" presId="urn:microsoft.com/office/officeart/2005/8/layout/process1"/>
    <dgm:cxn modelId="{636CA93E-3333-E34A-95FC-1EBD957FBD92}" type="presParOf" srcId="{B8B8F505-CFCF-E24A-89DB-5949814A4C6F}" destId="{2C575968-B7EF-D547-A649-92CE69730E07}" srcOrd="4" destOrd="0" presId="urn:microsoft.com/office/officeart/2005/8/layout/process1"/>
    <dgm:cxn modelId="{191351A9-8744-B448-930D-EF65851B5F57}" type="presParOf" srcId="{B8B8F505-CFCF-E24A-89DB-5949814A4C6F}" destId="{F049225B-BBB8-FA46-97A1-CE7CF0DFE1AC}" srcOrd="5" destOrd="0" presId="urn:microsoft.com/office/officeart/2005/8/layout/process1"/>
    <dgm:cxn modelId="{999DFC10-00D9-534E-B0E9-B82FC3B90C5F}" type="presParOf" srcId="{F049225B-BBB8-FA46-97A1-CE7CF0DFE1AC}" destId="{34CC5521-DDF3-FF46-9B97-D4B9879CBC50}" srcOrd="0" destOrd="0" presId="urn:microsoft.com/office/officeart/2005/8/layout/process1"/>
    <dgm:cxn modelId="{F6618501-A4CE-3244-BF61-C4DE07C36AE4}" type="presParOf" srcId="{B8B8F505-CFCF-E24A-89DB-5949814A4C6F}" destId="{97EA8E17-6D6B-B942-B31F-F7B6B49580E2}"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BCCBA57-5E71-434B-9ABD-4334B247BAF4}" type="doc">
      <dgm:prSet loTypeId="urn:microsoft.com/office/officeart/2005/8/layout/process1" loCatId="" qsTypeId="urn:microsoft.com/office/officeart/2005/8/quickstyle/simple1" qsCatId="simple" csTypeId="urn:microsoft.com/office/officeart/2005/8/colors/accent1_2" csCatId="accent1" phldr="1"/>
      <dgm:spPr/>
    </dgm:pt>
    <dgm:pt modelId="{75599961-7DEA-6B4A-B6B7-1F2305BEA81F}">
      <dgm:prSet phldrT="[Text]" custT="1"/>
      <dgm:spPr/>
      <dgm:t>
        <a:bodyPr/>
        <a:lstStyle/>
        <a:p>
          <a:r>
            <a:rPr lang="en-US" sz="1600" dirty="0"/>
            <a:t>1. Possible Data</a:t>
          </a:r>
        </a:p>
      </dgm:t>
    </dgm:pt>
    <dgm:pt modelId="{31CE53E0-A3C8-C545-8421-CDE2C1E0AEC4}" type="parTrans" cxnId="{E2F8A0B0-FF46-214B-8AD0-80E030B8A1FD}">
      <dgm:prSet/>
      <dgm:spPr/>
      <dgm:t>
        <a:bodyPr/>
        <a:lstStyle/>
        <a:p>
          <a:endParaRPr lang="en-US" sz="1600"/>
        </a:p>
      </dgm:t>
    </dgm:pt>
    <dgm:pt modelId="{3153F1A5-1FAB-594D-A01F-04F98ADD2AE5}" type="sibTrans" cxnId="{E2F8A0B0-FF46-214B-8AD0-80E030B8A1FD}">
      <dgm:prSet custT="1"/>
      <dgm:spPr/>
      <dgm:t>
        <a:bodyPr/>
        <a:lstStyle/>
        <a:p>
          <a:endParaRPr lang="en-US" sz="1600"/>
        </a:p>
      </dgm:t>
    </dgm:pt>
    <dgm:pt modelId="{5B83EE68-0D81-8B43-A623-81E403BC98CC}">
      <dgm:prSet phldrT="[Text]" custT="1"/>
      <dgm:spPr>
        <a:solidFill>
          <a:schemeClr val="bg2">
            <a:lumMod val="85000"/>
          </a:schemeClr>
        </a:solidFill>
      </dgm:spPr>
      <dgm:t>
        <a:bodyPr/>
        <a:lstStyle/>
        <a:p>
          <a:r>
            <a:rPr lang="en-US" sz="1600" dirty="0"/>
            <a:t>2. Sample</a:t>
          </a:r>
        </a:p>
      </dgm:t>
    </dgm:pt>
    <dgm:pt modelId="{3FDEF6DC-9366-BD4F-A8E5-9DBDC825EFF9}" type="parTrans" cxnId="{4D087057-3536-494C-8B20-B729E0185E14}">
      <dgm:prSet/>
      <dgm:spPr/>
      <dgm:t>
        <a:bodyPr/>
        <a:lstStyle/>
        <a:p>
          <a:endParaRPr lang="en-US" sz="1600"/>
        </a:p>
      </dgm:t>
    </dgm:pt>
    <dgm:pt modelId="{F3799AE3-9BA3-A84F-B38F-0AA3E91930B1}" type="sibTrans" cxnId="{4D087057-3536-494C-8B20-B729E0185E14}">
      <dgm:prSet custT="1"/>
      <dgm:spPr/>
      <dgm:t>
        <a:bodyPr/>
        <a:lstStyle/>
        <a:p>
          <a:endParaRPr lang="en-US" sz="1600"/>
        </a:p>
      </dgm:t>
    </dgm:pt>
    <dgm:pt modelId="{BC96B3B7-94E2-4E45-92BC-4A2DCB9618A9}">
      <dgm:prSet phldrT="[Text]" custT="1"/>
      <dgm:spPr>
        <a:solidFill>
          <a:schemeClr val="bg2">
            <a:lumMod val="85000"/>
          </a:schemeClr>
        </a:solidFill>
      </dgm:spPr>
      <dgm:t>
        <a:bodyPr/>
        <a:lstStyle/>
        <a:p>
          <a:r>
            <a:rPr lang="en-US" sz="1600" dirty="0"/>
            <a:t>3. Study Population</a:t>
          </a:r>
        </a:p>
      </dgm:t>
    </dgm:pt>
    <dgm:pt modelId="{3D3CFDD6-901E-654D-8CE4-AE14979B58A3}" type="parTrans" cxnId="{6A3BBEF2-1688-884E-9316-0B349BCA8133}">
      <dgm:prSet/>
      <dgm:spPr/>
      <dgm:t>
        <a:bodyPr/>
        <a:lstStyle/>
        <a:p>
          <a:endParaRPr lang="en-US" sz="1600"/>
        </a:p>
      </dgm:t>
    </dgm:pt>
    <dgm:pt modelId="{263988DF-B185-A84B-A3A2-66F4EFFBFC04}" type="sibTrans" cxnId="{6A3BBEF2-1688-884E-9316-0B349BCA8133}">
      <dgm:prSet custT="1"/>
      <dgm:spPr/>
      <dgm:t>
        <a:bodyPr/>
        <a:lstStyle/>
        <a:p>
          <a:endParaRPr lang="en-US" sz="1600"/>
        </a:p>
      </dgm:t>
    </dgm:pt>
    <dgm:pt modelId="{19FA58FC-13D3-6F48-8B90-21D6EE9A5DF0}">
      <dgm:prSet phldrT="[Text]" custT="1"/>
      <dgm:spPr>
        <a:solidFill>
          <a:schemeClr val="bg2">
            <a:lumMod val="85000"/>
          </a:schemeClr>
        </a:solidFill>
      </dgm:spPr>
      <dgm:t>
        <a:bodyPr/>
        <a:lstStyle/>
        <a:p>
          <a:r>
            <a:rPr lang="en-US" sz="1600" dirty="0"/>
            <a:t>4. Target Population</a:t>
          </a:r>
        </a:p>
      </dgm:t>
    </dgm:pt>
    <dgm:pt modelId="{9EF45342-F0DB-3746-93EC-5F9DF0952263}" type="parTrans" cxnId="{2BBC0525-CB90-9E40-8F21-337532EDBF26}">
      <dgm:prSet/>
      <dgm:spPr/>
      <dgm:t>
        <a:bodyPr/>
        <a:lstStyle/>
        <a:p>
          <a:endParaRPr lang="en-US" sz="1600"/>
        </a:p>
      </dgm:t>
    </dgm:pt>
    <dgm:pt modelId="{AB3DFDB3-51CC-D948-84BE-B3CCCF09AD6E}" type="sibTrans" cxnId="{2BBC0525-CB90-9E40-8F21-337532EDBF26}">
      <dgm:prSet/>
      <dgm:spPr/>
      <dgm:t>
        <a:bodyPr/>
        <a:lstStyle/>
        <a:p>
          <a:endParaRPr lang="en-US" sz="1600"/>
        </a:p>
      </dgm:t>
    </dgm:pt>
    <dgm:pt modelId="{B8B8F505-CFCF-E24A-89DB-5949814A4C6F}" type="pres">
      <dgm:prSet presAssocID="{9BCCBA57-5E71-434B-9ABD-4334B247BAF4}" presName="Name0" presStyleCnt="0">
        <dgm:presLayoutVars>
          <dgm:dir/>
          <dgm:resizeHandles val="exact"/>
        </dgm:presLayoutVars>
      </dgm:prSet>
      <dgm:spPr/>
    </dgm:pt>
    <dgm:pt modelId="{E42C3DB4-43D1-D94B-A081-757267C3944E}" type="pres">
      <dgm:prSet presAssocID="{75599961-7DEA-6B4A-B6B7-1F2305BEA81F}" presName="node" presStyleLbl="node1" presStyleIdx="0" presStyleCnt="4">
        <dgm:presLayoutVars>
          <dgm:bulletEnabled val="1"/>
        </dgm:presLayoutVars>
      </dgm:prSet>
      <dgm:spPr/>
    </dgm:pt>
    <dgm:pt modelId="{CAF6E94D-D82E-8B44-8293-CD67D304FBDA}" type="pres">
      <dgm:prSet presAssocID="{3153F1A5-1FAB-594D-A01F-04F98ADD2AE5}" presName="sibTrans" presStyleLbl="sibTrans2D1" presStyleIdx="0" presStyleCnt="3"/>
      <dgm:spPr/>
    </dgm:pt>
    <dgm:pt modelId="{D1CEF70A-0FD0-ED4B-B733-543CE3AF2017}" type="pres">
      <dgm:prSet presAssocID="{3153F1A5-1FAB-594D-A01F-04F98ADD2AE5}" presName="connectorText" presStyleLbl="sibTrans2D1" presStyleIdx="0" presStyleCnt="3"/>
      <dgm:spPr/>
    </dgm:pt>
    <dgm:pt modelId="{F2CD0C8F-0608-1141-AA28-047CDBEF6080}" type="pres">
      <dgm:prSet presAssocID="{5B83EE68-0D81-8B43-A623-81E403BC98CC}" presName="node" presStyleLbl="node1" presStyleIdx="1" presStyleCnt="4" custScaleX="132281">
        <dgm:presLayoutVars>
          <dgm:bulletEnabled val="1"/>
        </dgm:presLayoutVars>
      </dgm:prSet>
      <dgm:spPr/>
    </dgm:pt>
    <dgm:pt modelId="{CC853FAA-D91C-CB4C-AB55-16BE053DBE8A}" type="pres">
      <dgm:prSet presAssocID="{F3799AE3-9BA3-A84F-B38F-0AA3E91930B1}" presName="sibTrans" presStyleLbl="sibTrans2D1" presStyleIdx="1" presStyleCnt="3"/>
      <dgm:spPr/>
    </dgm:pt>
    <dgm:pt modelId="{62F4F59B-2710-AD45-891B-57C8068F0C17}" type="pres">
      <dgm:prSet presAssocID="{F3799AE3-9BA3-A84F-B38F-0AA3E91930B1}" presName="connectorText" presStyleLbl="sibTrans2D1" presStyleIdx="1" presStyleCnt="3"/>
      <dgm:spPr/>
    </dgm:pt>
    <dgm:pt modelId="{2C575968-B7EF-D547-A649-92CE69730E07}" type="pres">
      <dgm:prSet presAssocID="{BC96B3B7-94E2-4E45-92BC-4A2DCB9618A9}" presName="node" presStyleLbl="node1" presStyleIdx="2" presStyleCnt="4">
        <dgm:presLayoutVars>
          <dgm:bulletEnabled val="1"/>
        </dgm:presLayoutVars>
      </dgm:prSet>
      <dgm:spPr/>
    </dgm:pt>
    <dgm:pt modelId="{F049225B-BBB8-FA46-97A1-CE7CF0DFE1AC}" type="pres">
      <dgm:prSet presAssocID="{263988DF-B185-A84B-A3A2-66F4EFFBFC04}" presName="sibTrans" presStyleLbl="sibTrans2D1" presStyleIdx="2" presStyleCnt="3"/>
      <dgm:spPr/>
    </dgm:pt>
    <dgm:pt modelId="{34CC5521-DDF3-FF46-9B97-D4B9879CBC50}" type="pres">
      <dgm:prSet presAssocID="{263988DF-B185-A84B-A3A2-66F4EFFBFC04}" presName="connectorText" presStyleLbl="sibTrans2D1" presStyleIdx="2" presStyleCnt="3"/>
      <dgm:spPr/>
    </dgm:pt>
    <dgm:pt modelId="{97EA8E17-6D6B-B942-B31F-F7B6B49580E2}" type="pres">
      <dgm:prSet presAssocID="{19FA58FC-13D3-6F48-8B90-21D6EE9A5DF0}" presName="node" presStyleLbl="node1" presStyleIdx="3" presStyleCnt="4">
        <dgm:presLayoutVars>
          <dgm:bulletEnabled val="1"/>
        </dgm:presLayoutVars>
      </dgm:prSet>
      <dgm:spPr/>
    </dgm:pt>
  </dgm:ptLst>
  <dgm:cxnLst>
    <dgm:cxn modelId="{2BBC0525-CB90-9E40-8F21-337532EDBF26}" srcId="{9BCCBA57-5E71-434B-9ABD-4334B247BAF4}" destId="{19FA58FC-13D3-6F48-8B90-21D6EE9A5DF0}" srcOrd="3" destOrd="0" parTransId="{9EF45342-F0DB-3746-93EC-5F9DF0952263}" sibTransId="{AB3DFDB3-51CC-D948-84BE-B3CCCF09AD6E}"/>
    <dgm:cxn modelId="{2233D72B-CD5F-5A44-85C6-FD48C435F704}" type="presOf" srcId="{263988DF-B185-A84B-A3A2-66F4EFFBFC04}" destId="{34CC5521-DDF3-FF46-9B97-D4B9879CBC50}" srcOrd="1" destOrd="0" presId="urn:microsoft.com/office/officeart/2005/8/layout/process1"/>
    <dgm:cxn modelId="{7D781637-6709-644E-96DF-7D185B5802E9}" type="presOf" srcId="{F3799AE3-9BA3-A84F-B38F-0AA3E91930B1}" destId="{62F4F59B-2710-AD45-891B-57C8068F0C17}" srcOrd="1" destOrd="0" presId="urn:microsoft.com/office/officeart/2005/8/layout/process1"/>
    <dgm:cxn modelId="{4D102648-3770-DB4E-8953-283CB3752698}" type="presOf" srcId="{5B83EE68-0D81-8B43-A623-81E403BC98CC}" destId="{F2CD0C8F-0608-1141-AA28-047CDBEF6080}" srcOrd="0" destOrd="0" presId="urn:microsoft.com/office/officeart/2005/8/layout/process1"/>
    <dgm:cxn modelId="{4D087057-3536-494C-8B20-B729E0185E14}" srcId="{9BCCBA57-5E71-434B-9ABD-4334B247BAF4}" destId="{5B83EE68-0D81-8B43-A623-81E403BC98CC}" srcOrd="1" destOrd="0" parTransId="{3FDEF6DC-9366-BD4F-A8E5-9DBDC825EFF9}" sibTransId="{F3799AE3-9BA3-A84F-B38F-0AA3E91930B1}"/>
    <dgm:cxn modelId="{9CF3997C-F460-5749-927B-03BA305A3929}" type="presOf" srcId="{9BCCBA57-5E71-434B-9ABD-4334B247BAF4}" destId="{B8B8F505-CFCF-E24A-89DB-5949814A4C6F}" srcOrd="0" destOrd="0" presId="urn:microsoft.com/office/officeart/2005/8/layout/process1"/>
    <dgm:cxn modelId="{761E7BA7-BB12-6F48-BCD3-2BC93EEE635D}" type="presOf" srcId="{19FA58FC-13D3-6F48-8B90-21D6EE9A5DF0}" destId="{97EA8E17-6D6B-B942-B31F-F7B6B49580E2}" srcOrd="0" destOrd="0" presId="urn:microsoft.com/office/officeart/2005/8/layout/process1"/>
    <dgm:cxn modelId="{760194AF-13BE-8E48-8B27-93970267D223}" type="presOf" srcId="{263988DF-B185-A84B-A3A2-66F4EFFBFC04}" destId="{F049225B-BBB8-FA46-97A1-CE7CF0DFE1AC}" srcOrd="0" destOrd="0" presId="urn:microsoft.com/office/officeart/2005/8/layout/process1"/>
    <dgm:cxn modelId="{E2F8A0B0-FF46-214B-8AD0-80E030B8A1FD}" srcId="{9BCCBA57-5E71-434B-9ABD-4334B247BAF4}" destId="{75599961-7DEA-6B4A-B6B7-1F2305BEA81F}" srcOrd="0" destOrd="0" parTransId="{31CE53E0-A3C8-C545-8421-CDE2C1E0AEC4}" sibTransId="{3153F1A5-1FAB-594D-A01F-04F98ADD2AE5}"/>
    <dgm:cxn modelId="{FE2954C1-019D-1E47-99F2-60CD38A9D428}" type="presOf" srcId="{3153F1A5-1FAB-594D-A01F-04F98ADD2AE5}" destId="{CAF6E94D-D82E-8B44-8293-CD67D304FBDA}" srcOrd="0" destOrd="0" presId="urn:microsoft.com/office/officeart/2005/8/layout/process1"/>
    <dgm:cxn modelId="{408E27C2-9B57-D944-883B-661893F8C01E}" type="presOf" srcId="{75599961-7DEA-6B4A-B6B7-1F2305BEA81F}" destId="{E42C3DB4-43D1-D94B-A081-757267C3944E}" srcOrd="0" destOrd="0" presId="urn:microsoft.com/office/officeart/2005/8/layout/process1"/>
    <dgm:cxn modelId="{8C3E4AC7-D652-874A-947F-6989674BC325}" type="presOf" srcId="{BC96B3B7-94E2-4E45-92BC-4A2DCB9618A9}" destId="{2C575968-B7EF-D547-A649-92CE69730E07}" srcOrd="0" destOrd="0" presId="urn:microsoft.com/office/officeart/2005/8/layout/process1"/>
    <dgm:cxn modelId="{55259FC7-7059-3743-B6EE-307B69C8ACD1}" type="presOf" srcId="{3153F1A5-1FAB-594D-A01F-04F98ADD2AE5}" destId="{D1CEF70A-0FD0-ED4B-B733-543CE3AF2017}" srcOrd="1" destOrd="0" presId="urn:microsoft.com/office/officeart/2005/8/layout/process1"/>
    <dgm:cxn modelId="{6A3BBEF2-1688-884E-9316-0B349BCA8133}" srcId="{9BCCBA57-5E71-434B-9ABD-4334B247BAF4}" destId="{BC96B3B7-94E2-4E45-92BC-4A2DCB9618A9}" srcOrd="2" destOrd="0" parTransId="{3D3CFDD6-901E-654D-8CE4-AE14979B58A3}" sibTransId="{263988DF-B185-A84B-A3A2-66F4EFFBFC04}"/>
    <dgm:cxn modelId="{3F5686F9-559E-8746-9C50-C0691D5F655A}" type="presOf" srcId="{F3799AE3-9BA3-A84F-B38F-0AA3E91930B1}" destId="{CC853FAA-D91C-CB4C-AB55-16BE053DBE8A}" srcOrd="0" destOrd="0" presId="urn:microsoft.com/office/officeart/2005/8/layout/process1"/>
    <dgm:cxn modelId="{21178040-D5EC-5947-9C30-91BF9BD4F9F7}" type="presParOf" srcId="{B8B8F505-CFCF-E24A-89DB-5949814A4C6F}" destId="{E42C3DB4-43D1-D94B-A081-757267C3944E}" srcOrd="0" destOrd="0" presId="urn:microsoft.com/office/officeart/2005/8/layout/process1"/>
    <dgm:cxn modelId="{93D079B4-68A7-784B-B5F2-E768ACFA78E9}" type="presParOf" srcId="{B8B8F505-CFCF-E24A-89DB-5949814A4C6F}" destId="{CAF6E94D-D82E-8B44-8293-CD67D304FBDA}" srcOrd="1" destOrd="0" presId="urn:microsoft.com/office/officeart/2005/8/layout/process1"/>
    <dgm:cxn modelId="{A4CE0362-D354-1B42-A5E4-1F5AE32BB022}" type="presParOf" srcId="{CAF6E94D-D82E-8B44-8293-CD67D304FBDA}" destId="{D1CEF70A-0FD0-ED4B-B733-543CE3AF2017}" srcOrd="0" destOrd="0" presId="urn:microsoft.com/office/officeart/2005/8/layout/process1"/>
    <dgm:cxn modelId="{AB02610B-10ED-3F42-B67C-AD47ED1BA7AC}" type="presParOf" srcId="{B8B8F505-CFCF-E24A-89DB-5949814A4C6F}" destId="{F2CD0C8F-0608-1141-AA28-047CDBEF6080}" srcOrd="2" destOrd="0" presId="urn:microsoft.com/office/officeart/2005/8/layout/process1"/>
    <dgm:cxn modelId="{0C53D4D5-B714-5148-9FC0-CEF0CA33B16D}" type="presParOf" srcId="{B8B8F505-CFCF-E24A-89DB-5949814A4C6F}" destId="{CC853FAA-D91C-CB4C-AB55-16BE053DBE8A}" srcOrd="3" destOrd="0" presId="urn:microsoft.com/office/officeart/2005/8/layout/process1"/>
    <dgm:cxn modelId="{D1810428-C732-D04D-A428-3701769F511E}" type="presParOf" srcId="{CC853FAA-D91C-CB4C-AB55-16BE053DBE8A}" destId="{62F4F59B-2710-AD45-891B-57C8068F0C17}" srcOrd="0" destOrd="0" presId="urn:microsoft.com/office/officeart/2005/8/layout/process1"/>
    <dgm:cxn modelId="{636CA93E-3333-E34A-95FC-1EBD957FBD92}" type="presParOf" srcId="{B8B8F505-CFCF-E24A-89DB-5949814A4C6F}" destId="{2C575968-B7EF-D547-A649-92CE69730E07}" srcOrd="4" destOrd="0" presId="urn:microsoft.com/office/officeart/2005/8/layout/process1"/>
    <dgm:cxn modelId="{191351A9-8744-B448-930D-EF65851B5F57}" type="presParOf" srcId="{B8B8F505-CFCF-E24A-89DB-5949814A4C6F}" destId="{F049225B-BBB8-FA46-97A1-CE7CF0DFE1AC}" srcOrd="5" destOrd="0" presId="urn:microsoft.com/office/officeart/2005/8/layout/process1"/>
    <dgm:cxn modelId="{999DFC10-00D9-534E-B0E9-B82FC3B90C5F}" type="presParOf" srcId="{F049225B-BBB8-FA46-97A1-CE7CF0DFE1AC}" destId="{34CC5521-DDF3-FF46-9B97-D4B9879CBC50}" srcOrd="0" destOrd="0" presId="urn:microsoft.com/office/officeart/2005/8/layout/process1"/>
    <dgm:cxn modelId="{F6618501-A4CE-3244-BF61-C4DE07C36AE4}" type="presParOf" srcId="{B8B8F505-CFCF-E24A-89DB-5949814A4C6F}" destId="{97EA8E17-6D6B-B942-B31F-F7B6B49580E2}"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BCCBA57-5E71-434B-9ABD-4334B247BAF4}" type="doc">
      <dgm:prSet loTypeId="urn:microsoft.com/office/officeart/2005/8/layout/process1" loCatId="" qsTypeId="urn:microsoft.com/office/officeart/2005/8/quickstyle/simple1" qsCatId="simple" csTypeId="urn:microsoft.com/office/officeart/2005/8/colors/accent1_2" csCatId="accent1" phldr="1"/>
      <dgm:spPr/>
    </dgm:pt>
    <dgm:pt modelId="{75599961-7DEA-6B4A-B6B7-1F2305BEA81F}">
      <dgm:prSet phldrT="[Text]" custT="1"/>
      <dgm:spPr>
        <a:solidFill>
          <a:schemeClr val="bg2">
            <a:lumMod val="85000"/>
          </a:schemeClr>
        </a:solidFill>
      </dgm:spPr>
      <dgm:t>
        <a:bodyPr/>
        <a:lstStyle/>
        <a:p>
          <a:r>
            <a:rPr lang="en-US" sz="1600" dirty="0"/>
            <a:t>1. Possible Data</a:t>
          </a:r>
        </a:p>
      </dgm:t>
    </dgm:pt>
    <dgm:pt modelId="{31CE53E0-A3C8-C545-8421-CDE2C1E0AEC4}" type="parTrans" cxnId="{E2F8A0B0-FF46-214B-8AD0-80E030B8A1FD}">
      <dgm:prSet/>
      <dgm:spPr/>
      <dgm:t>
        <a:bodyPr/>
        <a:lstStyle/>
        <a:p>
          <a:endParaRPr lang="en-US" sz="1600"/>
        </a:p>
      </dgm:t>
    </dgm:pt>
    <dgm:pt modelId="{3153F1A5-1FAB-594D-A01F-04F98ADD2AE5}" type="sibTrans" cxnId="{E2F8A0B0-FF46-214B-8AD0-80E030B8A1FD}">
      <dgm:prSet custT="1"/>
      <dgm:spPr/>
      <dgm:t>
        <a:bodyPr/>
        <a:lstStyle/>
        <a:p>
          <a:endParaRPr lang="en-US" sz="1600"/>
        </a:p>
      </dgm:t>
    </dgm:pt>
    <dgm:pt modelId="{5B83EE68-0D81-8B43-A623-81E403BC98CC}">
      <dgm:prSet phldrT="[Text]" custT="1"/>
      <dgm:spPr>
        <a:solidFill>
          <a:schemeClr val="accent1"/>
        </a:solidFill>
      </dgm:spPr>
      <dgm:t>
        <a:bodyPr/>
        <a:lstStyle/>
        <a:p>
          <a:r>
            <a:rPr lang="en-US" sz="1600" dirty="0"/>
            <a:t>2. Sample</a:t>
          </a:r>
        </a:p>
      </dgm:t>
    </dgm:pt>
    <dgm:pt modelId="{3FDEF6DC-9366-BD4F-A8E5-9DBDC825EFF9}" type="parTrans" cxnId="{4D087057-3536-494C-8B20-B729E0185E14}">
      <dgm:prSet/>
      <dgm:spPr/>
      <dgm:t>
        <a:bodyPr/>
        <a:lstStyle/>
        <a:p>
          <a:endParaRPr lang="en-US" sz="1600"/>
        </a:p>
      </dgm:t>
    </dgm:pt>
    <dgm:pt modelId="{F3799AE3-9BA3-A84F-B38F-0AA3E91930B1}" type="sibTrans" cxnId="{4D087057-3536-494C-8B20-B729E0185E14}">
      <dgm:prSet custT="1"/>
      <dgm:spPr/>
      <dgm:t>
        <a:bodyPr/>
        <a:lstStyle/>
        <a:p>
          <a:endParaRPr lang="en-US" sz="1600"/>
        </a:p>
      </dgm:t>
    </dgm:pt>
    <dgm:pt modelId="{BC96B3B7-94E2-4E45-92BC-4A2DCB9618A9}">
      <dgm:prSet phldrT="[Text]" custT="1"/>
      <dgm:spPr>
        <a:solidFill>
          <a:schemeClr val="bg2">
            <a:lumMod val="85000"/>
          </a:schemeClr>
        </a:solidFill>
      </dgm:spPr>
      <dgm:t>
        <a:bodyPr/>
        <a:lstStyle/>
        <a:p>
          <a:r>
            <a:rPr lang="en-US" sz="1600" dirty="0"/>
            <a:t>3. Study Population</a:t>
          </a:r>
        </a:p>
      </dgm:t>
    </dgm:pt>
    <dgm:pt modelId="{3D3CFDD6-901E-654D-8CE4-AE14979B58A3}" type="parTrans" cxnId="{6A3BBEF2-1688-884E-9316-0B349BCA8133}">
      <dgm:prSet/>
      <dgm:spPr/>
      <dgm:t>
        <a:bodyPr/>
        <a:lstStyle/>
        <a:p>
          <a:endParaRPr lang="en-US" sz="1600"/>
        </a:p>
      </dgm:t>
    </dgm:pt>
    <dgm:pt modelId="{263988DF-B185-A84B-A3A2-66F4EFFBFC04}" type="sibTrans" cxnId="{6A3BBEF2-1688-884E-9316-0B349BCA8133}">
      <dgm:prSet custT="1"/>
      <dgm:spPr/>
      <dgm:t>
        <a:bodyPr/>
        <a:lstStyle/>
        <a:p>
          <a:endParaRPr lang="en-US" sz="1600"/>
        </a:p>
      </dgm:t>
    </dgm:pt>
    <dgm:pt modelId="{19FA58FC-13D3-6F48-8B90-21D6EE9A5DF0}">
      <dgm:prSet phldrT="[Text]" custT="1"/>
      <dgm:spPr>
        <a:solidFill>
          <a:schemeClr val="bg2">
            <a:lumMod val="85000"/>
          </a:schemeClr>
        </a:solidFill>
      </dgm:spPr>
      <dgm:t>
        <a:bodyPr/>
        <a:lstStyle/>
        <a:p>
          <a:r>
            <a:rPr lang="en-US" sz="1600" dirty="0"/>
            <a:t>4. Target Population</a:t>
          </a:r>
        </a:p>
      </dgm:t>
    </dgm:pt>
    <dgm:pt modelId="{9EF45342-F0DB-3746-93EC-5F9DF0952263}" type="parTrans" cxnId="{2BBC0525-CB90-9E40-8F21-337532EDBF26}">
      <dgm:prSet/>
      <dgm:spPr/>
      <dgm:t>
        <a:bodyPr/>
        <a:lstStyle/>
        <a:p>
          <a:endParaRPr lang="en-US" sz="1600"/>
        </a:p>
      </dgm:t>
    </dgm:pt>
    <dgm:pt modelId="{AB3DFDB3-51CC-D948-84BE-B3CCCF09AD6E}" type="sibTrans" cxnId="{2BBC0525-CB90-9E40-8F21-337532EDBF26}">
      <dgm:prSet/>
      <dgm:spPr/>
      <dgm:t>
        <a:bodyPr/>
        <a:lstStyle/>
        <a:p>
          <a:endParaRPr lang="en-US" sz="1600"/>
        </a:p>
      </dgm:t>
    </dgm:pt>
    <dgm:pt modelId="{B8B8F505-CFCF-E24A-89DB-5949814A4C6F}" type="pres">
      <dgm:prSet presAssocID="{9BCCBA57-5E71-434B-9ABD-4334B247BAF4}" presName="Name0" presStyleCnt="0">
        <dgm:presLayoutVars>
          <dgm:dir/>
          <dgm:resizeHandles val="exact"/>
        </dgm:presLayoutVars>
      </dgm:prSet>
      <dgm:spPr/>
    </dgm:pt>
    <dgm:pt modelId="{E42C3DB4-43D1-D94B-A081-757267C3944E}" type="pres">
      <dgm:prSet presAssocID="{75599961-7DEA-6B4A-B6B7-1F2305BEA81F}" presName="node" presStyleLbl="node1" presStyleIdx="0" presStyleCnt="4">
        <dgm:presLayoutVars>
          <dgm:bulletEnabled val="1"/>
        </dgm:presLayoutVars>
      </dgm:prSet>
      <dgm:spPr/>
    </dgm:pt>
    <dgm:pt modelId="{CAF6E94D-D82E-8B44-8293-CD67D304FBDA}" type="pres">
      <dgm:prSet presAssocID="{3153F1A5-1FAB-594D-A01F-04F98ADD2AE5}" presName="sibTrans" presStyleLbl="sibTrans2D1" presStyleIdx="0" presStyleCnt="3"/>
      <dgm:spPr/>
    </dgm:pt>
    <dgm:pt modelId="{D1CEF70A-0FD0-ED4B-B733-543CE3AF2017}" type="pres">
      <dgm:prSet presAssocID="{3153F1A5-1FAB-594D-A01F-04F98ADD2AE5}" presName="connectorText" presStyleLbl="sibTrans2D1" presStyleIdx="0" presStyleCnt="3"/>
      <dgm:spPr/>
    </dgm:pt>
    <dgm:pt modelId="{F2CD0C8F-0608-1141-AA28-047CDBEF6080}" type="pres">
      <dgm:prSet presAssocID="{5B83EE68-0D81-8B43-A623-81E403BC98CC}" presName="node" presStyleLbl="node1" presStyleIdx="1" presStyleCnt="4" custScaleX="132281">
        <dgm:presLayoutVars>
          <dgm:bulletEnabled val="1"/>
        </dgm:presLayoutVars>
      </dgm:prSet>
      <dgm:spPr/>
    </dgm:pt>
    <dgm:pt modelId="{CC853FAA-D91C-CB4C-AB55-16BE053DBE8A}" type="pres">
      <dgm:prSet presAssocID="{F3799AE3-9BA3-A84F-B38F-0AA3E91930B1}" presName="sibTrans" presStyleLbl="sibTrans2D1" presStyleIdx="1" presStyleCnt="3"/>
      <dgm:spPr/>
    </dgm:pt>
    <dgm:pt modelId="{62F4F59B-2710-AD45-891B-57C8068F0C17}" type="pres">
      <dgm:prSet presAssocID="{F3799AE3-9BA3-A84F-B38F-0AA3E91930B1}" presName="connectorText" presStyleLbl="sibTrans2D1" presStyleIdx="1" presStyleCnt="3"/>
      <dgm:spPr/>
    </dgm:pt>
    <dgm:pt modelId="{2C575968-B7EF-D547-A649-92CE69730E07}" type="pres">
      <dgm:prSet presAssocID="{BC96B3B7-94E2-4E45-92BC-4A2DCB9618A9}" presName="node" presStyleLbl="node1" presStyleIdx="2" presStyleCnt="4">
        <dgm:presLayoutVars>
          <dgm:bulletEnabled val="1"/>
        </dgm:presLayoutVars>
      </dgm:prSet>
      <dgm:spPr/>
    </dgm:pt>
    <dgm:pt modelId="{F049225B-BBB8-FA46-97A1-CE7CF0DFE1AC}" type="pres">
      <dgm:prSet presAssocID="{263988DF-B185-A84B-A3A2-66F4EFFBFC04}" presName="sibTrans" presStyleLbl="sibTrans2D1" presStyleIdx="2" presStyleCnt="3"/>
      <dgm:spPr/>
    </dgm:pt>
    <dgm:pt modelId="{34CC5521-DDF3-FF46-9B97-D4B9879CBC50}" type="pres">
      <dgm:prSet presAssocID="{263988DF-B185-A84B-A3A2-66F4EFFBFC04}" presName="connectorText" presStyleLbl="sibTrans2D1" presStyleIdx="2" presStyleCnt="3"/>
      <dgm:spPr/>
    </dgm:pt>
    <dgm:pt modelId="{97EA8E17-6D6B-B942-B31F-F7B6B49580E2}" type="pres">
      <dgm:prSet presAssocID="{19FA58FC-13D3-6F48-8B90-21D6EE9A5DF0}" presName="node" presStyleLbl="node1" presStyleIdx="3" presStyleCnt="4">
        <dgm:presLayoutVars>
          <dgm:bulletEnabled val="1"/>
        </dgm:presLayoutVars>
      </dgm:prSet>
      <dgm:spPr/>
    </dgm:pt>
  </dgm:ptLst>
  <dgm:cxnLst>
    <dgm:cxn modelId="{2BBC0525-CB90-9E40-8F21-337532EDBF26}" srcId="{9BCCBA57-5E71-434B-9ABD-4334B247BAF4}" destId="{19FA58FC-13D3-6F48-8B90-21D6EE9A5DF0}" srcOrd="3" destOrd="0" parTransId="{9EF45342-F0DB-3746-93EC-5F9DF0952263}" sibTransId="{AB3DFDB3-51CC-D948-84BE-B3CCCF09AD6E}"/>
    <dgm:cxn modelId="{2233D72B-CD5F-5A44-85C6-FD48C435F704}" type="presOf" srcId="{263988DF-B185-A84B-A3A2-66F4EFFBFC04}" destId="{34CC5521-DDF3-FF46-9B97-D4B9879CBC50}" srcOrd="1" destOrd="0" presId="urn:microsoft.com/office/officeart/2005/8/layout/process1"/>
    <dgm:cxn modelId="{7D781637-6709-644E-96DF-7D185B5802E9}" type="presOf" srcId="{F3799AE3-9BA3-A84F-B38F-0AA3E91930B1}" destId="{62F4F59B-2710-AD45-891B-57C8068F0C17}" srcOrd="1" destOrd="0" presId="urn:microsoft.com/office/officeart/2005/8/layout/process1"/>
    <dgm:cxn modelId="{4D102648-3770-DB4E-8953-283CB3752698}" type="presOf" srcId="{5B83EE68-0D81-8B43-A623-81E403BC98CC}" destId="{F2CD0C8F-0608-1141-AA28-047CDBEF6080}" srcOrd="0" destOrd="0" presId="urn:microsoft.com/office/officeart/2005/8/layout/process1"/>
    <dgm:cxn modelId="{4D087057-3536-494C-8B20-B729E0185E14}" srcId="{9BCCBA57-5E71-434B-9ABD-4334B247BAF4}" destId="{5B83EE68-0D81-8B43-A623-81E403BC98CC}" srcOrd="1" destOrd="0" parTransId="{3FDEF6DC-9366-BD4F-A8E5-9DBDC825EFF9}" sibTransId="{F3799AE3-9BA3-A84F-B38F-0AA3E91930B1}"/>
    <dgm:cxn modelId="{9CF3997C-F460-5749-927B-03BA305A3929}" type="presOf" srcId="{9BCCBA57-5E71-434B-9ABD-4334B247BAF4}" destId="{B8B8F505-CFCF-E24A-89DB-5949814A4C6F}" srcOrd="0" destOrd="0" presId="urn:microsoft.com/office/officeart/2005/8/layout/process1"/>
    <dgm:cxn modelId="{761E7BA7-BB12-6F48-BCD3-2BC93EEE635D}" type="presOf" srcId="{19FA58FC-13D3-6F48-8B90-21D6EE9A5DF0}" destId="{97EA8E17-6D6B-B942-B31F-F7B6B49580E2}" srcOrd="0" destOrd="0" presId="urn:microsoft.com/office/officeart/2005/8/layout/process1"/>
    <dgm:cxn modelId="{760194AF-13BE-8E48-8B27-93970267D223}" type="presOf" srcId="{263988DF-B185-A84B-A3A2-66F4EFFBFC04}" destId="{F049225B-BBB8-FA46-97A1-CE7CF0DFE1AC}" srcOrd="0" destOrd="0" presId="urn:microsoft.com/office/officeart/2005/8/layout/process1"/>
    <dgm:cxn modelId="{E2F8A0B0-FF46-214B-8AD0-80E030B8A1FD}" srcId="{9BCCBA57-5E71-434B-9ABD-4334B247BAF4}" destId="{75599961-7DEA-6B4A-B6B7-1F2305BEA81F}" srcOrd="0" destOrd="0" parTransId="{31CE53E0-A3C8-C545-8421-CDE2C1E0AEC4}" sibTransId="{3153F1A5-1FAB-594D-A01F-04F98ADD2AE5}"/>
    <dgm:cxn modelId="{FE2954C1-019D-1E47-99F2-60CD38A9D428}" type="presOf" srcId="{3153F1A5-1FAB-594D-A01F-04F98ADD2AE5}" destId="{CAF6E94D-D82E-8B44-8293-CD67D304FBDA}" srcOrd="0" destOrd="0" presId="urn:microsoft.com/office/officeart/2005/8/layout/process1"/>
    <dgm:cxn modelId="{408E27C2-9B57-D944-883B-661893F8C01E}" type="presOf" srcId="{75599961-7DEA-6B4A-B6B7-1F2305BEA81F}" destId="{E42C3DB4-43D1-D94B-A081-757267C3944E}" srcOrd="0" destOrd="0" presId="urn:microsoft.com/office/officeart/2005/8/layout/process1"/>
    <dgm:cxn modelId="{8C3E4AC7-D652-874A-947F-6989674BC325}" type="presOf" srcId="{BC96B3B7-94E2-4E45-92BC-4A2DCB9618A9}" destId="{2C575968-B7EF-D547-A649-92CE69730E07}" srcOrd="0" destOrd="0" presId="urn:microsoft.com/office/officeart/2005/8/layout/process1"/>
    <dgm:cxn modelId="{55259FC7-7059-3743-B6EE-307B69C8ACD1}" type="presOf" srcId="{3153F1A5-1FAB-594D-A01F-04F98ADD2AE5}" destId="{D1CEF70A-0FD0-ED4B-B733-543CE3AF2017}" srcOrd="1" destOrd="0" presId="urn:microsoft.com/office/officeart/2005/8/layout/process1"/>
    <dgm:cxn modelId="{6A3BBEF2-1688-884E-9316-0B349BCA8133}" srcId="{9BCCBA57-5E71-434B-9ABD-4334B247BAF4}" destId="{BC96B3B7-94E2-4E45-92BC-4A2DCB9618A9}" srcOrd="2" destOrd="0" parTransId="{3D3CFDD6-901E-654D-8CE4-AE14979B58A3}" sibTransId="{263988DF-B185-A84B-A3A2-66F4EFFBFC04}"/>
    <dgm:cxn modelId="{3F5686F9-559E-8746-9C50-C0691D5F655A}" type="presOf" srcId="{F3799AE3-9BA3-A84F-B38F-0AA3E91930B1}" destId="{CC853FAA-D91C-CB4C-AB55-16BE053DBE8A}" srcOrd="0" destOrd="0" presId="urn:microsoft.com/office/officeart/2005/8/layout/process1"/>
    <dgm:cxn modelId="{21178040-D5EC-5947-9C30-91BF9BD4F9F7}" type="presParOf" srcId="{B8B8F505-CFCF-E24A-89DB-5949814A4C6F}" destId="{E42C3DB4-43D1-D94B-A081-757267C3944E}" srcOrd="0" destOrd="0" presId="urn:microsoft.com/office/officeart/2005/8/layout/process1"/>
    <dgm:cxn modelId="{93D079B4-68A7-784B-B5F2-E768ACFA78E9}" type="presParOf" srcId="{B8B8F505-CFCF-E24A-89DB-5949814A4C6F}" destId="{CAF6E94D-D82E-8B44-8293-CD67D304FBDA}" srcOrd="1" destOrd="0" presId="urn:microsoft.com/office/officeart/2005/8/layout/process1"/>
    <dgm:cxn modelId="{A4CE0362-D354-1B42-A5E4-1F5AE32BB022}" type="presParOf" srcId="{CAF6E94D-D82E-8B44-8293-CD67D304FBDA}" destId="{D1CEF70A-0FD0-ED4B-B733-543CE3AF2017}" srcOrd="0" destOrd="0" presId="urn:microsoft.com/office/officeart/2005/8/layout/process1"/>
    <dgm:cxn modelId="{AB02610B-10ED-3F42-B67C-AD47ED1BA7AC}" type="presParOf" srcId="{B8B8F505-CFCF-E24A-89DB-5949814A4C6F}" destId="{F2CD0C8F-0608-1141-AA28-047CDBEF6080}" srcOrd="2" destOrd="0" presId="urn:microsoft.com/office/officeart/2005/8/layout/process1"/>
    <dgm:cxn modelId="{0C53D4D5-B714-5148-9FC0-CEF0CA33B16D}" type="presParOf" srcId="{B8B8F505-CFCF-E24A-89DB-5949814A4C6F}" destId="{CC853FAA-D91C-CB4C-AB55-16BE053DBE8A}" srcOrd="3" destOrd="0" presId="urn:microsoft.com/office/officeart/2005/8/layout/process1"/>
    <dgm:cxn modelId="{D1810428-C732-D04D-A428-3701769F511E}" type="presParOf" srcId="{CC853FAA-D91C-CB4C-AB55-16BE053DBE8A}" destId="{62F4F59B-2710-AD45-891B-57C8068F0C17}" srcOrd="0" destOrd="0" presId="urn:microsoft.com/office/officeart/2005/8/layout/process1"/>
    <dgm:cxn modelId="{636CA93E-3333-E34A-95FC-1EBD957FBD92}" type="presParOf" srcId="{B8B8F505-CFCF-E24A-89DB-5949814A4C6F}" destId="{2C575968-B7EF-D547-A649-92CE69730E07}" srcOrd="4" destOrd="0" presId="urn:microsoft.com/office/officeart/2005/8/layout/process1"/>
    <dgm:cxn modelId="{191351A9-8744-B448-930D-EF65851B5F57}" type="presParOf" srcId="{B8B8F505-CFCF-E24A-89DB-5949814A4C6F}" destId="{F049225B-BBB8-FA46-97A1-CE7CF0DFE1AC}" srcOrd="5" destOrd="0" presId="urn:microsoft.com/office/officeart/2005/8/layout/process1"/>
    <dgm:cxn modelId="{999DFC10-00D9-534E-B0E9-B82FC3B90C5F}" type="presParOf" srcId="{F049225B-BBB8-FA46-97A1-CE7CF0DFE1AC}" destId="{34CC5521-DDF3-FF46-9B97-D4B9879CBC50}" srcOrd="0" destOrd="0" presId="urn:microsoft.com/office/officeart/2005/8/layout/process1"/>
    <dgm:cxn modelId="{F6618501-A4CE-3244-BF61-C4DE07C36AE4}" type="presParOf" srcId="{B8B8F505-CFCF-E24A-89DB-5949814A4C6F}" destId="{97EA8E17-6D6B-B942-B31F-F7B6B49580E2}"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BCCBA57-5E71-434B-9ABD-4334B247BAF4}" type="doc">
      <dgm:prSet loTypeId="urn:microsoft.com/office/officeart/2005/8/layout/process1" loCatId="" qsTypeId="urn:microsoft.com/office/officeart/2005/8/quickstyle/simple1" qsCatId="simple" csTypeId="urn:microsoft.com/office/officeart/2005/8/colors/accent1_2" csCatId="accent1" phldr="1"/>
      <dgm:spPr/>
    </dgm:pt>
    <dgm:pt modelId="{75599961-7DEA-6B4A-B6B7-1F2305BEA81F}">
      <dgm:prSet phldrT="[Text]" custT="1"/>
      <dgm:spPr>
        <a:solidFill>
          <a:schemeClr val="bg2">
            <a:lumMod val="85000"/>
          </a:schemeClr>
        </a:solidFill>
      </dgm:spPr>
      <dgm:t>
        <a:bodyPr/>
        <a:lstStyle/>
        <a:p>
          <a:r>
            <a:rPr lang="en-US" sz="1600" dirty="0"/>
            <a:t>1. Possible Data</a:t>
          </a:r>
        </a:p>
      </dgm:t>
    </dgm:pt>
    <dgm:pt modelId="{31CE53E0-A3C8-C545-8421-CDE2C1E0AEC4}" type="parTrans" cxnId="{E2F8A0B0-FF46-214B-8AD0-80E030B8A1FD}">
      <dgm:prSet/>
      <dgm:spPr/>
      <dgm:t>
        <a:bodyPr/>
        <a:lstStyle/>
        <a:p>
          <a:endParaRPr lang="en-US" sz="1600"/>
        </a:p>
      </dgm:t>
    </dgm:pt>
    <dgm:pt modelId="{3153F1A5-1FAB-594D-A01F-04F98ADD2AE5}" type="sibTrans" cxnId="{E2F8A0B0-FF46-214B-8AD0-80E030B8A1FD}">
      <dgm:prSet custT="1"/>
      <dgm:spPr/>
      <dgm:t>
        <a:bodyPr/>
        <a:lstStyle/>
        <a:p>
          <a:endParaRPr lang="en-US" sz="1600"/>
        </a:p>
      </dgm:t>
    </dgm:pt>
    <dgm:pt modelId="{5B83EE68-0D81-8B43-A623-81E403BC98CC}">
      <dgm:prSet phldrT="[Text]" custT="1"/>
      <dgm:spPr>
        <a:solidFill>
          <a:schemeClr val="bg2">
            <a:lumMod val="85000"/>
          </a:schemeClr>
        </a:solidFill>
      </dgm:spPr>
      <dgm:t>
        <a:bodyPr/>
        <a:lstStyle/>
        <a:p>
          <a:r>
            <a:rPr lang="en-US" sz="1600" dirty="0"/>
            <a:t>2. Sample</a:t>
          </a:r>
        </a:p>
      </dgm:t>
    </dgm:pt>
    <dgm:pt modelId="{3FDEF6DC-9366-BD4F-A8E5-9DBDC825EFF9}" type="parTrans" cxnId="{4D087057-3536-494C-8B20-B729E0185E14}">
      <dgm:prSet/>
      <dgm:spPr/>
      <dgm:t>
        <a:bodyPr/>
        <a:lstStyle/>
        <a:p>
          <a:endParaRPr lang="en-US" sz="1600"/>
        </a:p>
      </dgm:t>
    </dgm:pt>
    <dgm:pt modelId="{F3799AE3-9BA3-A84F-B38F-0AA3E91930B1}" type="sibTrans" cxnId="{4D087057-3536-494C-8B20-B729E0185E14}">
      <dgm:prSet custT="1"/>
      <dgm:spPr/>
      <dgm:t>
        <a:bodyPr/>
        <a:lstStyle/>
        <a:p>
          <a:endParaRPr lang="en-US" sz="1600"/>
        </a:p>
      </dgm:t>
    </dgm:pt>
    <dgm:pt modelId="{BC96B3B7-94E2-4E45-92BC-4A2DCB9618A9}">
      <dgm:prSet phldrT="[Text]" custT="1"/>
      <dgm:spPr>
        <a:solidFill>
          <a:schemeClr val="accent1"/>
        </a:solidFill>
      </dgm:spPr>
      <dgm:t>
        <a:bodyPr/>
        <a:lstStyle/>
        <a:p>
          <a:r>
            <a:rPr lang="en-US" sz="1600" dirty="0"/>
            <a:t>3. Study Population</a:t>
          </a:r>
        </a:p>
      </dgm:t>
    </dgm:pt>
    <dgm:pt modelId="{3D3CFDD6-901E-654D-8CE4-AE14979B58A3}" type="parTrans" cxnId="{6A3BBEF2-1688-884E-9316-0B349BCA8133}">
      <dgm:prSet/>
      <dgm:spPr/>
      <dgm:t>
        <a:bodyPr/>
        <a:lstStyle/>
        <a:p>
          <a:endParaRPr lang="en-US" sz="1600"/>
        </a:p>
      </dgm:t>
    </dgm:pt>
    <dgm:pt modelId="{263988DF-B185-A84B-A3A2-66F4EFFBFC04}" type="sibTrans" cxnId="{6A3BBEF2-1688-884E-9316-0B349BCA8133}">
      <dgm:prSet custT="1"/>
      <dgm:spPr/>
      <dgm:t>
        <a:bodyPr/>
        <a:lstStyle/>
        <a:p>
          <a:endParaRPr lang="en-US" sz="1600"/>
        </a:p>
      </dgm:t>
    </dgm:pt>
    <dgm:pt modelId="{19FA58FC-13D3-6F48-8B90-21D6EE9A5DF0}">
      <dgm:prSet phldrT="[Text]" custT="1"/>
      <dgm:spPr>
        <a:solidFill>
          <a:schemeClr val="bg2">
            <a:lumMod val="85000"/>
          </a:schemeClr>
        </a:solidFill>
      </dgm:spPr>
      <dgm:t>
        <a:bodyPr/>
        <a:lstStyle/>
        <a:p>
          <a:r>
            <a:rPr lang="en-US" sz="1600" dirty="0"/>
            <a:t>4. Target Population</a:t>
          </a:r>
        </a:p>
      </dgm:t>
    </dgm:pt>
    <dgm:pt modelId="{9EF45342-F0DB-3746-93EC-5F9DF0952263}" type="parTrans" cxnId="{2BBC0525-CB90-9E40-8F21-337532EDBF26}">
      <dgm:prSet/>
      <dgm:spPr/>
      <dgm:t>
        <a:bodyPr/>
        <a:lstStyle/>
        <a:p>
          <a:endParaRPr lang="en-US" sz="1600"/>
        </a:p>
      </dgm:t>
    </dgm:pt>
    <dgm:pt modelId="{AB3DFDB3-51CC-D948-84BE-B3CCCF09AD6E}" type="sibTrans" cxnId="{2BBC0525-CB90-9E40-8F21-337532EDBF26}">
      <dgm:prSet/>
      <dgm:spPr/>
      <dgm:t>
        <a:bodyPr/>
        <a:lstStyle/>
        <a:p>
          <a:endParaRPr lang="en-US" sz="1600"/>
        </a:p>
      </dgm:t>
    </dgm:pt>
    <dgm:pt modelId="{B8B8F505-CFCF-E24A-89DB-5949814A4C6F}" type="pres">
      <dgm:prSet presAssocID="{9BCCBA57-5E71-434B-9ABD-4334B247BAF4}" presName="Name0" presStyleCnt="0">
        <dgm:presLayoutVars>
          <dgm:dir/>
          <dgm:resizeHandles val="exact"/>
        </dgm:presLayoutVars>
      </dgm:prSet>
      <dgm:spPr/>
    </dgm:pt>
    <dgm:pt modelId="{E42C3DB4-43D1-D94B-A081-757267C3944E}" type="pres">
      <dgm:prSet presAssocID="{75599961-7DEA-6B4A-B6B7-1F2305BEA81F}" presName="node" presStyleLbl="node1" presStyleIdx="0" presStyleCnt="4">
        <dgm:presLayoutVars>
          <dgm:bulletEnabled val="1"/>
        </dgm:presLayoutVars>
      </dgm:prSet>
      <dgm:spPr/>
    </dgm:pt>
    <dgm:pt modelId="{CAF6E94D-D82E-8B44-8293-CD67D304FBDA}" type="pres">
      <dgm:prSet presAssocID="{3153F1A5-1FAB-594D-A01F-04F98ADD2AE5}" presName="sibTrans" presStyleLbl="sibTrans2D1" presStyleIdx="0" presStyleCnt="3"/>
      <dgm:spPr/>
    </dgm:pt>
    <dgm:pt modelId="{D1CEF70A-0FD0-ED4B-B733-543CE3AF2017}" type="pres">
      <dgm:prSet presAssocID="{3153F1A5-1FAB-594D-A01F-04F98ADD2AE5}" presName="connectorText" presStyleLbl="sibTrans2D1" presStyleIdx="0" presStyleCnt="3"/>
      <dgm:spPr/>
    </dgm:pt>
    <dgm:pt modelId="{F2CD0C8F-0608-1141-AA28-047CDBEF6080}" type="pres">
      <dgm:prSet presAssocID="{5B83EE68-0D81-8B43-A623-81E403BC98CC}" presName="node" presStyleLbl="node1" presStyleIdx="1" presStyleCnt="4" custScaleX="132281">
        <dgm:presLayoutVars>
          <dgm:bulletEnabled val="1"/>
        </dgm:presLayoutVars>
      </dgm:prSet>
      <dgm:spPr/>
    </dgm:pt>
    <dgm:pt modelId="{CC853FAA-D91C-CB4C-AB55-16BE053DBE8A}" type="pres">
      <dgm:prSet presAssocID="{F3799AE3-9BA3-A84F-B38F-0AA3E91930B1}" presName="sibTrans" presStyleLbl="sibTrans2D1" presStyleIdx="1" presStyleCnt="3"/>
      <dgm:spPr/>
    </dgm:pt>
    <dgm:pt modelId="{62F4F59B-2710-AD45-891B-57C8068F0C17}" type="pres">
      <dgm:prSet presAssocID="{F3799AE3-9BA3-A84F-B38F-0AA3E91930B1}" presName="connectorText" presStyleLbl="sibTrans2D1" presStyleIdx="1" presStyleCnt="3"/>
      <dgm:spPr/>
    </dgm:pt>
    <dgm:pt modelId="{2C575968-B7EF-D547-A649-92CE69730E07}" type="pres">
      <dgm:prSet presAssocID="{BC96B3B7-94E2-4E45-92BC-4A2DCB9618A9}" presName="node" presStyleLbl="node1" presStyleIdx="2" presStyleCnt="4">
        <dgm:presLayoutVars>
          <dgm:bulletEnabled val="1"/>
        </dgm:presLayoutVars>
      </dgm:prSet>
      <dgm:spPr/>
    </dgm:pt>
    <dgm:pt modelId="{F049225B-BBB8-FA46-97A1-CE7CF0DFE1AC}" type="pres">
      <dgm:prSet presAssocID="{263988DF-B185-A84B-A3A2-66F4EFFBFC04}" presName="sibTrans" presStyleLbl="sibTrans2D1" presStyleIdx="2" presStyleCnt="3"/>
      <dgm:spPr/>
    </dgm:pt>
    <dgm:pt modelId="{34CC5521-DDF3-FF46-9B97-D4B9879CBC50}" type="pres">
      <dgm:prSet presAssocID="{263988DF-B185-A84B-A3A2-66F4EFFBFC04}" presName="connectorText" presStyleLbl="sibTrans2D1" presStyleIdx="2" presStyleCnt="3"/>
      <dgm:spPr/>
    </dgm:pt>
    <dgm:pt modelId="{97EA8E17-6D6B-B942-B31F-F7B6B49580E2}" type="pres">
      <dgm:prSet presAssocID="{19FA58FC-13D3-6F48-8B90-21D6EE9A5DF0}" presName="node" presStyleLbl="node1" presStyleIdx="3" presStyleCnt="4">
        <dgm:presLayoutVars>
          <dgm:bulletEnabled val="1"/>
        </dgm:presLayoutVars>
      </dgm:prSet>
      <dgm:spPr/>
    </dgm:pt>
  </dgm:ptLst>
  <dgm:cxnLst>
    <dgm:cxn modelId="{2BBC0525-CB90-9E40-8F21-337532EDBF26}" srcId="{9BCCBA57-5E71-434B-9ABD-4334B247BAF4}" destId="{19FA58FC-13D3-6F48-8B90-21D6EE9A5DF0}" srcOrd="3" destOrd="0" parTransId="{9EF45342-F0DB-3746-93EC-5F9DF0952263}" sibTransId="{AB3DFDB3-51CC-D948-84BE-B3CCCF09AD6E}"/>
    <dgm:cxn modelId="{2233D72B-CD5F-5A44-85C6-FD48C435F704}" type="presOf" srcId="{263988DF-B185-A84B-A3A2-66F4EFFBFC04}" destId="{34CC5521-DDF3-FF46-9B97-D4B9879CBC50}" srcOrd="1" destOrd="0" presId="urn:microsoft.com/office/officeart/2005/8/layout/process1"/>
    <dgm:cxn modelId="{7D781637-6709-644E-96DF-7D185B5802E9}" type="presOf" srcId="{F3799AE3-9BA3-A84F-B38F-0AA3E91930B1}" destId="{62F4F59B-2710-AD45-891B-57C8068F0C17}" srcOrd="1" destOrd="0" presId="urn:microsoft.com/office/officeart/2005/8/layout/process1"/>
    <dgm:cxn modelId="{4D102648-3770-DB4E-8953-283CB3752698}" type="presOf" srcId="{5B83EE68-0D81-8B43-A623-81E403BC98CC}" destId="{F2CD0C8F-0608-1141-AA28-047CDBEF6080}" srcOrd="0" destOrd="0" presId="urn:microsoft.com/office/officeart/2005/8/layout/process1"/>
    <dgm:cxn modelId="{4D087057-3536-494C-8B20-B729E0185E14}" srcId="{9BCCBA57-5E71-434B-9ABD-4334B247BAF4}" destId="{5B83EE68-0D81-8B43-A623-81E403BC98CC}" srcOrd="1" destOrd="0" parTransId="{3FDEF6DC-9366-BD4F-A8E5-9DBDC825EFF9}" sibTransId="{F3799AE3-9BA3-A84F-B38F-0AA3E91930B1}"/>
    <dgm:cxn modelId="{9CF3997C-F460-5749-927B-03BA305A3929}" type="presOf" srcId="{9BCCBA57-5E71-434B-9ABD-4334B247BAF4}" destId="{B8B8F505-CFCF-E24A-89DB-5949814A4C6F}" srcOrd="0" destOrd="0" presId="urn:microsoft.com/office/officeart/2005/8/layout/process1"/>
    <dgm:cxn modelId="{761E7BA7-BB12-6F48-BCD3-2BC93EEE635D}" type="presOf" srcId="{19FA58FC-13D3-6F48-8B90-21D6EE9A5DF0}" destId="{97EA8E17-6D6B-B942-B31F-F7B6B49580E2}" srcOrd="0" destOrd="0" presId="urn:microsoft.com/office/officeart/2005/8/layout/process1"/>
    <dgm:cxn modelId="{760194AF-13BE-8E48-8B27-93970267D223}" type="presOf" srcId="{263988DF-B185-A84B-A3A2-66F4EFFBFC04}" destId="{F049225B-BBB8-FA46-97A1-CE7CF0DFE1AC}" srcOrd="0" destOrd="0" presId="urn:microsoft.com/office/officeart/2005/8/layout/process1"/>
    <dgm:cxn modelId="{E2F8A0B0-FF46-214B-8AD0-80E030B8A1FD}" srcId="{9BCCBA57-5E71-434B-9ABD-4334B247BAF4}" destId="{75599961-7DEA-6B4A-B6B7-1F2305BEA81F}" srcOrd="0" destOrd="0" parTransId="{31CE53E0-A3C8-C545-8421-CDE2C1E0AEC4}" sibTransId="{3153F1A5-1FAB-594D-A01F-04F98ADD2AE5}"/>
    <dgm:cxn modelId="{FE2954C1-019D-1E47-99F2-60CD38A9D428}" type="presOf" srcId="{3153F1A5-1FAB-594D-A01F-04F98ADD2AE5}" destId="{CAF6E94D-D82E-8B44-8293-CD67D304FBDA}" srcOrd="0" destOrd="0" presId="urn:microsoft.com/office/officeart/2005/8/layout/process1"/>
    <dgm:cxn modelId="{408E27C2-9B57-D944-883B-661893F8C01E}" type="presOf" srcId="{75599961-7DEA-6B4A-B6B7-1F2305BEA81F}" destId="{E42C3DB4-43D1-D94B-A081-757267C3944E}" srcOrd="0" destOrd="0" presId="urn:microsoft.com/office/officeart/2005/8/layout/process1"/>
    <dgm:cxn modelId="{8C3E4AC7-D652-874A-947F-6989674BC325}" type="presOf" srcId="{BC96B3B7-94E2-4E45-92BC-4A2DCB9618A9}" destId="{2C575968-B7EF-D547-A649-92CE69730E07}" srcOrd="0" destOrd="0" presId="urn:microsoft.com/office/officeart/2005/8/layout/process1"/>
    <dgm:cxn modelId="{55259FC7-7059-3743-B6EE-307B69C8ACD1}" type="presOf" srcId="{3153F1A5-1FAB-594D-A01F-04F98ADD2AE5}" destId="{D1CEF70A-0FD0-ED4B-B733-543CE3AF2017}" srcOrd="1" destOrd="0" presId="urn:microsoft.com/office/officeart/2005/8/layout/process1"/>
    <dgm:cxn modelId="{6A3BBEF2-1688-884E-9316-0B349BCA8133}" srcId="{9BCCBA57-5E71-434B-9ABD-4334B247BAF4}" destId="{BC96B3B7-94E2-4E45-92BC-4A2DCB9618A9}" srcOrd="2" destOrd="0" parTransId="{3D3CFDD6-901E-654D-8CE4-AE14979B58A3}" sibTransId="{263988DF-B185-A84B-A3A2-66F4EFFBFC04}"/>
    <dgm:cxn modelId="{3F5686F9-559E-8746-9C50-C0691D5F655A}" type="presOf" srcId="{F3799AE3-9BA3-A84F-B38F-0AA3E91930B1}" destId="{CC853FAA-D91C-CB4C-AB55-16BE053DBE8A}" srcOrd="0" destOrd="0" presId="urn:microsoft.com/office/officeart/2005/8/layout/process1"/>
    <dgm:cxn modelId="{21178040-D5EC-5947-9C30-91BF9BD4F9F7}" type="presParOf" srcId="{B8B8F505-CFCF-E24A-89DB-5949814A4C6F}" destId="{E42C3DB4-43D1-D94B-A081-757267C3944E}" srcOrd="0" destOrd="0" presId="urn:microsoft.com/office/officeart/2005/8/layout/process1"/>
    <dgm:cxn modelId="{93D079B4-68A7-784B-B5F2-E768ACFA78E9}" type="presParOf" srcId="{B8B8F505-CFCF-E24A-89DB-5949814A4C6F}" destId="{CAF6E94D-D82E-8B44-8293-CD67D304FBDA}" srcOrd="1" destOrd="0" presId="urn:microsoft.com/office/officeart/2005/8/layout/process1"/>
    <dgm:cxn modelId="{A4CE0362-D354-1B42-A5E4-1F5AE32BB022}" type="presParOf" srcId="{CAF6E94D-D82E-8B44-8293-CD67D304FBDA}" destId="{D1CEF70A-0FD0-ED4B-B733-543CE3AF2017}" srcOrd="0" destOrd="0" presId="urn:microsoft.com/office/officeart/2005/8/layout/process1"/>
    <dgm:cxn modelId="{AB02610B-10ED-3F42-B67C-AD47ED1BA7AC}" type="presParOf" srcId="{B8B8F505-CFCF-E24A-89DB-5949814A4C6F}" destId="{F2CD0C8F-0608-1141-AA28-047CDBEF6080}" srcOrd="2" destOrd="0" presId="urn:microsoft.com/office/officeart/2005/8/layout/process1"/>
    <dgm:cxn modelId="{0C53D4D5-B714-5148-9FC0-CEF0CA33B16D}" type="presParOf" srcId="{B8B8F505-CFCF-E24A-89DB-5949814A4C6F}" destId="{CC853FAA-D91C-CB4C-AB55-16BE053DBE8A}" srcOrd="3" destOrd="0" presId="urn:microsoft.com/office/officeart/2005/8/layout/process1"/>
    <dgm:cxn modelId="{D1810428-C732-D04D-A428-3701769F511E}" type="presParOf" srcId="{CC853FAA-D91C-CB4C-AB55-16BE053DBE8A}" destId="{62F4F59B-2710-AD45-891B-57C8068F0C17}" srcOrd="0" destOrd="0" presId="urn:microsoft.com/office/officeart/2005/8/layout/process1"/>
    <dgm:cxn modelId="{636CA93E-3333-E34A-95FC-1EBD957FBD92}" type="presParOf" srcId="{B8B8F505-CFCF-E24A-89DB-5949814A4C6F}" destId="{2C575968-B7EF-D547-A649-92CE69730E07}" srcOrd="4" destOrd="0" presId="urn:microsoft.com/office/officeart/2005/8/layout/process1"/>
    <dgm:cxn modelId="{191351A9-8744-B448-930D-EF65851B5F57}" type="presParOf" srcId="{B8B8F505-CFCF-E24A-89DB-5949814A4C6F}" destId="{F049225B-BBB8-FA46-97A1-CE7CF0DFE1AC}" srcOrd="5" destOrd="0" presId="urn:microsoft.com/office/officeart/2005/8/layout/process1"/>
    <dgm:cxn modelId="{999DFC10-00D9-534E-B0E9-B82FC3B90C5F}" type="presParOf" srcId="{F049225B-BBB8-FA46-97A1-CE7CF0DFE1AC}" destId="{34CC5521-DDF3-FF46-9B97-D4B9879CBC50}" srcOrd="0" destOrd="0" presId="urn:microsoft.com/office/officeart/2005/8/layout/process1"/>
    <dgm:cxn modelId="{F6618501-A4CE-3244-BF61-C4DE07C36AE4}" type="presParOf" srcId="{B8B8F505-CFCF-E24A-89DB-5949814A4C6F}" destId="{97EA8E17-6D6B-B942-B31F-F7B6B49580E2}"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BCCBA57-5E71-434B-9ABD-4334B247BAF4}" type="doc">
      <dgm:prSet loTypeId="urn:microsoft.com/office/officeart/2005/8/layout/process1" loCatId="" qsTypeId="urn:microsoft.com/office/officeart/2005/8/quickstyle/simple1" qsCatId="simple" csTypeId="urn:microsoft.com/office/officeart/2005/8/colors/accent1_2" csCatId="accent1" phldr="1"/>
      <dgm:spPr/>
    </dgm:pt>
    <dgm:pt modelId="{75599961-7DEA-6B4A-B6B7-1F2305BEA81F}">
      <dgm:prSet phldrT="[Text]" custT="1"/>
      <dgm:spPr>
        <a:solidFill>
          <a:schemeClr val="bg2">
            <a:lumMod val="85000"/>
          </a:schemeClr>
        </a:solidFill>
      </dgm:spPr>
      <dgm:t>
        <a:bodyPr/>
        <a:lstStyle/>
        <a:p>
          <a:r>
            <a:rPr lang="en-US" sz="1600" dirty="0"/>
            <a:t>1. Possible Data</a:t>
          </a:r>
        </a:p>
      </dgm:t>
    </dgm:pt>
    <dgm:pt modelId="{31CE53E0-A3C8-C545-8421-CDE2C1E0AEC4}" type="parTrans" cxnId="{E2F8A0B0-FF46-214B-8AD0-80E030B8A1FD}">
      <dgm:prSet/>
      <dgm:spPr/>
      <dgm:t>
        <a:bodyPr/>
        <a:lstStyle/>
        <a:p>
          <a:endParaRPr lang="en-US" sz="1600"/>
        </a:p>
      </dgm:t>
    </dgm:pt>
    <dgm:pt modelId="{3153F1A5-1FAB-594D-A01F-04F98ADD2AE5}" type="sibTrans" cxnId="{E2F8A0B0-FF46-214B-8AD0-80E030B8A1FD}">
      <dgm:prSet custT="1"/>
      <dgm:spPr/>
      <dgm:t>
        <a:bodyPr/>
        <a:lstStyle/>
        <a:p>
          <a:endParaRPr lang="en-US" sz="1600"/>
        </a:p>
      </dgm:t>
    </dgm:pt>
    <dgm:pt modelId="{5B83EE68-0D81-8B43-A623-81E403BC98CC}">
      <dgm:prSet phldrT="[Text]" custT="1"/>
      <dgm:spPr>
        <a:solidFill>
          <a:schemeClr val="bg2">
            <a:lumMod val="85000"/>
          </a:schemeClr>
        </a:solidFill>
      </dgm:spPr>
      <dgm:t>
        <a:bodyPr/>
        <a:lstStyle/>
        <a:p>
          <a:r>
            <a:rPr lang="en-US" sz="1600" dirty="0"/>
            <a:t>2. Sample</a:t>
          </a:r>
        </a:p>
      </dgm:t>
    </dgm:pt>
    <dgm:pt modelId="{3FDEF6DC-9366-BD4F-A8E5-9DBDC825EFF9}" type="parTrans" cxnId="{4D087057-3536-494C-8B20-B729E0185E14}">
      <dgm:prSet/>
      <dgm:spPr/>
      <dgm:t>
        <a:bodyPr/>
        <a:lstStyle/>
        <a:p>
          <a:endParaRPr lang="en-US" sz="1600"/>
        </a:p>
      </dgm:t>
    </dgm:pt>
    <dgm:pt modelId="{F3799AE3-9BA3-A84F-B38F-0AA3E91930B1}" type="sibTrans" cxnId="{4D087057-3536-494C-8B20-B729E0185E14}">
      <dgm:prSet custT="1"/>
      <dgm:spPr/>
      <dgm:t>
        <a:bodyPr/>
        <a:lstStyle/>
        <a:p>
          <a:endParaRPr lang="en-US" sz="1600"/>
        </a:p>
      </dgm:t>
    </dgm:pt>
    <dgm:pt modelId="{BC96B3B7-94E2-4E45-92BC-4A2DCB9618A9}">
      <dgm:prSet phldrT="[Text]" custT="1"/>
      <dgm:spPr>
        <a:solidFill>
          <a:schemeClr val="bg2">
            <a:lumMod val="85000"/>
          </a:schemeClr>
        </a:solidFill>
      </dgm:spPr>
      <dgm:t>
        <a:bodyPr/>
        <a:lstStyle/>
        <a:p>
          <a:r>
            <a:rPr lang="en-US" sz="1600" dirty="0"/>
            <a:t>3. Study Population</a:t>
          </a:r>
        </a:p>
      </dgm:t>
    </dgm:pt>
    <dgm:pt modelId="{3D3CFDD6-901E-654D-8CE4-AE14979B58A3}" type="parTrans" cxnId="{6A3BBEF2-1688-884E-9316-0B349BCA8133}">
      <dgm:prSet/>
      <dgm:spPr/>
      <dgm:t>
        <a:bodyPr/>
        <a:lstStyle/>
        <a:p>
          <a:endParaRPr lang="en-US" sz="1600"/>
        </a:p>
      </dgm:t>
    </dgm:pt>
    <dgm:pt modelId="{263988DF-B185-A84B-A3A2-66F4EFFBFC04}" type="sibTrans" cxnId="{6A3BBEF2-1688-884E-9316-0B349BCA8133}">
      <dgm:prSet custT="1"/>
      <dgm:spPr/>
      <dgm:t>
        <a:bodyPr/>
        <a:lstStyle/>
        <a:p>
          <a:endParaRPr lang="en-US" sz="1600"/>
        </a:p>
      </dgm:t>
    </dgm:pt>
    <dgm:pt modelId="{19FA58FC-13D3-6F48-8B90-21D6EE9A5DF0}">
      <dgm:prSet phldrT="[Text]" custT="1"/>
      <dgm:spPr>
        <a:solidFill>
          <a:schemeClr val="accent1"/>
        </a:solidFill>
      </dgm:spPr>
      <dgm:t>
        <a:bodyPr/>
        <a:lstStyle/>
        <a:p>
          <a:r>
            <a:rPr lang="en-US" sz="1600" dirty="0"/>
            <a:t>4. Target Population</a:t>
          </a:r>
        </a:p>
      </dgm:t>
    </dgm:pt>
    <dgm:pt modelId="{9EF45342-F0DB-3746-93EC-5F9DF0952263}" type="parTrans" cxnId="{2BBC0525-CB90-9E40-8F21-337532EDBF26}">
      <dgm:prSet/>
      <dgm:spPr/>
      <dgm:t>
        <a:bodyPr/>
        <a:lstStyle/>
        <a:p>
          <a:endParaRPr lang="en-US" sz="1600"/>
        </a:p>
      </dgm:t>
    </dgm:pt>
    <dgm:pt modelId="{AB3DFDB3-51CC-D948-84BE-B3CCCF09AD6E}" type="sibTrans" cxnId="{2BBC0525-CB90-9E40-8F21-337532EDBF26}">
      <dgm:prSet/>
      <dgm:spPr/>
      <dgm:t>
        <a:bodyPr/>
        <a:lstStyle/>
        <a:p>
          <a:endParaRPr lang="en-US" sz="1600"/>
        </a:p>
      </dgm:t>
    </dgm:pt>
    <dgm:pt modelId="{B8B8F505-CFCF-E24A-89DB-5949814A4C6F}" type="pres">
      <dgm:prSet presAssocID="{9BCCBA57-5E71-434B-9ABD-4334B247BAF4}" presName="Name0" presStyleCnt="0">
        <dgm:presLayoutVars>
          <dgm:dir/>
          <dgm:resizeHandles val="exact"/>
        </dgm:presLayoutVars>
      </dgm:prSet>
      <dgm:spPr/>
    </dgm:pt>
    <dgm:pt modelId="{E42C3DB4-43D1-D94B-A081-757267C3944E}" type="pres">
      <dgm:prSet presAssocID="{75599961-7DEA-6B4A-B6B7-1F2305BEA81F}" presName="node" presStyleLbl="node1" presStyleIdx="0" presStyleCnt="4">
        <dgm:presLayoutVars>
          <dgm:bulletEnabled val="1"/>
        </dgm:presLayoutVars>
      </dgm:prSet>
      <dgm:spPr/>
    </dgm:pt>
    <dgm:pt modelId="{CAF6E94D-D82E-8B44-8293-CD67D304FBDA}" type="pres">
      <dgm:prSet presAssocID="{3153F1A5-1FAB-594D-A01F-04F98ADD2AE5}" presName="sibTrans" presStyleLbl="sibTrans2D1" presStyleIdx="0" presStyleCnt="3"/>
      <dgm:spPr/>
    </dgm:pt>
    <dgm:pt modelId="{D1CEF70A-0FD0-ED4B-B733-543CE3AF2017}" type="pres">
      <dgm:prSet presAssocID="{3153F1A5-1FAB-594D-A01F-04F98ADD2AE5}" presName="connectorText" presStyleLbl="sibTrans2D1" presStyleIdx="0" presStyleCnt="3"/>
      <dgm:spPr/>
    </dgm:pt>
    <dgm:pt modelId="{F2CD0C8F-0608-1141-AA28-047CDBEF6080}" type="pres">
      <dgm:prSet presAssocID="{5B83EE68-0D81-8B43-A623-81E403BC98CC}" presName="node" presStyleLbl="node1" presStyleIdx="1" presStyleCnt="4" custScaleX="132281">
        <dgm:presLayoutVars>
          <dgm:bulletEnabled val="1"/>
        </dgm:presLayoutVars>
      </dgm:prSet>
      <dgm:spPr/>
    </dgm:pt>
    <dgm:pt modelId="{CC853FAA-D91C-CB4C-AB55-16BE053DBE8A}" type="pres">
      <dgm:prSet presAssocID="{F3799AE3-9BA3-A84F-B38F-0AA3E91930B1}" presName="sibTrans" presStyleLbl="sibTrans2D1" presStyleIdx="1" presStyleCnt="3"/>
      <dgm:spPr/>
    </dgm:pt>
    <dgm:pt modelId="{62F4F59B-2710-AD45-891B-57C8068F0C17}" type="pres">
      <dgm:prSet presAssocID="{F3799AE3-9BA3-A84F-B38F-0AA3E91930B1}" presName="connectorText" presStyleLbl="sibTrans2D1" presStyleIdx="1" presStyleCnt="3"/>
      <dgm:spPr/>
    </dgm:pt>
    <dgm:pt modelId="{2C575968-B7EF-D547-A649-92CE69730E07}" type="pres">
      <dgm:prSet presAssocID="{BC96B3B7-94E2-4E45-92BC-4A2DCB9618A9}" presName="node" presStyleLbl="node1" presStyleIdx="2" presStyleCnt="4">
        <dgm:presLayoutVars>
          <dgm:bulletEnabled val="1"/>
        </dgm:presLayoutVars>
      </dgm:prSet>
      <dgm:spPr/>
    </dgm:pt>
    <dgm:pt modelId="{F049225B-BBB8-FA46-97A1-CE7CF0DFE1AC}" type="pres">
      <dgm:prSet presAssocID="{263988DF-B185-A84B-A3A2-66F4EFFBFC04}" presName="sibTrans" presStyleLbl="sibTrans2D1" presStyleIdx="2" presStyleCnt="3"/>
      <dgm:spPr/>
    </dgm:pt>
    <dgm:pt modelId="{34CC5521-DDF3-FF46-9B97-D4B9879CBC50}" type="pres">
      <dgm:prSet presAssocID="{263988DF-B185-A84B-A3A2-66F4EFFBFC04}" presName="connectorText" presStyleLbl="sibTrans2D1" presStyleIdx="2" presStyleCnt="3"/>
      <dgm:spPr/>
    </dgm:pt>
    <dgm:pt modelId="{97EA8E17-6D6B-B942-B31F-F7B6B49580E2}" type="pres">
      <dgm:prSet presAssocID="{19FA58FC-13D3-6F48-8B90-21D6EE9A5DF0}" presName="node" presStyleLbl="node1" presStyleIdx="3" presStyleCnt="4">
        <dgm:presLayoutVars>
          <dgm:bulletEnabled val="1"/>
        </dgm:presLayoutVars>
      </dgm:prSet>
      <dgm:spPr/>
    </dgm:pt>
  </dgm:ptLst>
  <dgm:cxnLst>
    <dgm:cxn modelId="{2BBC0525-CB90-9E40-8F21-337532EDBF26}" srcId="{9BCCBA57-5E71-434B-9ABD-4334B247BAF4}" destId="{19FA58FC-13D3-6F48-8B90-21D6EE9A5DF0}" srcOrd="3" destOrd="0" parTransId="{9EF45342-F0DB-3746-93EC-5F9DF0952263}" sibTransId="{AB3DFDB3-51CC-D948-84BE-B3CCCF09AD6E}"/>
    <dgm:cxn modelId="{2233D72B-CD5F-5A44-85C6-FD48C435F704}" type="presOf" srcId="{263988DF-B185-A84B-A3A2-66F4EFFBFC04}" destId="{34CC5521-DDF3-FF46-9B97-D4B9879CBC50}" srcOrd="1" destOrd="0" presId="urn:microsoft.com/office/officeart/2005/8/layout/process1"/>
    <dgm:cxn modelId="{7D781637-6709-644E-96DF-7D185B5802E9}" type="presOf" srcId="{F3799AE3-9BA3-A84F-B38F-0AA3E91930B1}" destId="{62F4F59B-2710-AD45-891B-57C8068F0C17}" srcOrd="1" destOrd="0" presId="urn:microsoft.com/office/officeart/2005/8/layout/process1"/>
    <dgm:cxn modelId="{4D102648-3770-DB4E-8953-283CB3752698}" type="presOf" srcId="{5B83EE68-0D81-8B43-A623-81E403BC98CC}" destId="{F2CD0C8F-0608-1141-AA28-047CDBEF6080}" srcOrd="0" destOrd="0" presId="urn:microsoft.com/office/officeart/2005/8/layout/process1"/>
    <dgm:cxn modelId="{4D087057-3536-494C-8B20-B729E0185E14}" srcId="{9BCCBA57-5E71-434B-9ABD-4334B247BAF4}" destId="{5B83EE68-0D81-8B43-A623-81E403BC98CC}" srcOrd="1" destOrd="0" parTransId="{3FDEF6DC-9366-BD4F-A8E5-9DBDC825EFF9}" sibTransId="{F3799AE3-9BA3-A84F-B38F-0AA3E91930B1}"/>
    <dgm:cxn modelId="{9CF3997C-F460-5749-927B-03BA305A3929}" type="presOf" srcId="{9BCCBA57-5E71-434B-9ABD-4334B247BAF4}" destId="{B8B8F505-CFCF-E24A-89DB-5949814A4C6F}" srcOrd="0" destOrd="0" presId="urn:microsoft.com/office/officeart/2005/8/layout/process1"/>
    <dgm:cxn modelId="{761E7BA7-BB12-6F48-BCD3-2BC93EEE635D}" type="presOf" srcId="{19FA58FC-13D3-6F48-8B90-21D6EE9A5DF0}" destId="{97EA8E17-6D6B-B942-B31F-F7B6B49580E2}" srcOrd="0" destOrd="0" presId="urn:microsoft.com/office/officeart/2005/8/layout/process1"/>
    <dgm:cxn modelId="{760194AF-13BE-8E48-8B27-93970267D223}" type="presOf" srcId="{263988DF-B185-A84B-A3A2-66F4EFFBFC04}" destId="{F049225B-BBB8-FA46-97A1-CE7CF0DFE1AC}" srcOrd="0" destOrd="0" presId="urn:microsoft.com/office/officeart/2005/8/layout/process1"/>
    <dgm:cxn modelId="{E2F8A0B0-FF46-214B-8AD0-80E030B8A1FD}" srcId="{9BCCBA57-5E71-434B-9ABD-4334B247BAF4}" destId="{75599961-7DEA-6B4A-B6B7-1F2305BEA81F}" srcOrd="0" destOrd="0" parTransId="{31CE53E0-A3C8-C545-8421-CDE2C1E0AEC4}" sibTransId="{3153F1A5-1FAB-594D-A01F-04F98ADD2AE5}"/>
    <dgm:cxn modelId="{FE2954C1-019D-1E47-99F2-60CD38A9D428}" type="presOf" srcId="{3153F1A5-1FAB-594D-A01F-04F98ADD2AE5}" destId="{CAF6E94D-D82E-8B44-8293-CD67D304FBDA}" srcOrd="0" destOrd="0" presId="urn:microsoft.com/office/officeart/2005/8/layout/process1"/>
    <dgm:cxn modelId="{408E27C2-9B57-D944-883B-661893F8C01E}" type="presOf" srcId="{75599961-7DEA-6B4A-B6B7-1F2305BEA81F}" destId="{E42C3DB4-43D1-D94B-A081-757267C3944E}" srcOrd="0" destOrd="0" presId="urn:microsoft.com/office/officeart/2005/8/layout/process1"/>
    <dgm:cxn modelId="{8C3E4AC7-D652-874A-947F-6989674BC325}" type="presOf" srcId="{BC96B3B7-94E2-4E45-92BC-4A2DCB9618A9}" destId="{2C575968-B7EF-D547-A649-92CE69730E07}" srcOrd="0" destOrd="0" presId="urn:microsoft.com/office/officeart/2005/8/layout/process1"/>
    <dgm:cxn modelId="{55259FC7-7059-3743-B6EE-307B69C8ACD1}" type="presOf" srcId="{3153F1A5-1FAB-594D-A01F-04F98ADD2AE5}" destId="{D1CEF70A-0FD0-ED4B-B733-543CE3AF2017}" srcOrd="1" destOrd="0" presId="urn:microsoft.com/office/officeart/2005/8/layout/process1"/>
    <dgm:cxn modelId="{6A3BBEF2-1688-884E-9316-0B349BCA8133}" srcId="{9BCCBA57-5E71-434B-9ABD-4334B247BAF4}" destId="{BC96B3B7-94E2-4E45-92BC-4A2DCB9618A9}" srcOrd="2" destOrd="0" parTransId="{3D3CFDD6-901E-654D-8CE4-AE14979B58A3}" sibTransId="{263988DF-B185-A84B-A3A2-66F4EFFBFC04}"/>
    <dgm:cxn modelId="{3F5686F9-559E-8746-9C50-C0691D5F655A}" type="presOf" srcId="{F3799AE3-9BA3-A84F-B38F-0AA3E91930B1}" destId="{CC853FAA-D91C-CB4C-AB55-16BE053DBE8A}" srcOrd="0" destOrd="0" presId="urn:microsoft.com/office/officeart/2005/8/layout/process1"/>
    <dgm:cxn modelId="{21178040-D5EC-5947-9C30-91BF9BD4F9F7}" type="presParOf" srcId="{B8B8F505-CFCF-E24A-89DB-5949814A4C6F}" destId="{E42C3DB4-43D1-D94B-A081-757267C3944E}" srcOrd="0" destOrd="0" presId="urn:microsoft.com/office/officeart/2005/8/layout/process1"/>
    <dgm:cxn modelId="{93D079B4-68A7-784B-B5F2-E768ACFA78E9}" type="presParOf" srcId="{B8B8F505-CFCF-E24A-89DB-5949814A4C6F}" destId="{CAF6E94D-D82E-8B44-8293-CD67D304FBDA}" srcOrd="1" destOrd="0" presId="urn:microsoft.com/office/officeart/2005/8/layout/process1"/>
    <dgm:cxn modelId="{A4CE0362-D354-1B42-A5E4-1F5AE32BB022}" type="presParOf" srcId="{CAF6E94D-D82E-8B44-8293-CD67D304FBDA}" destId="{D1CEF70A-0FD0-ED4B-B733-543CE3AF2017}" srcOrd="0" destOrd="0" presId="urn:microsoft.com/office/officeart/2005/8/layout/process1"/>
    <dgm:cxn modelId="{AB02610B-10ED-3F42-B67C-AD47ED1BA7AC}" type="presParOf" srcId="{B8B8F505-CFCF-E24A-89DB-5949814A4C6F}" destId="{F2CD0C8F-0608-1141-AA28-047CDBEF6080}" srcOrd="2" destOrd="0" presId="urn:microsoft.com/office/officeart/2005/8/layout/process1"/>
    <dgm:cxn modelId="{0C53D4D5-B714-5148-9FC0-CEF0CA33B16D}" type="presParOf" srcId="{B8B8F505-CFCF-E24A-89DB-5949814A4C6F}" destId="{CC853FAA-D91C-CB4C-AB55-16BE053DBE8A}" srcOrd="3" destOrd="0" presId="urn:microsoft.com/office/officeart/2005/8/layout/process1"/>
    <dgm:cxn modelId="{D1810428-C732-D04D-A428-3701769F511E}" type="presParOf" srcId="{CC853FAA-D91C-CB4C-AB55-16BE053DBE8A}" destId="{62F4F59B-2710-AD45-891B-57C8068F0C17}" srcOrd="0" destOrd="0" presId="urn:microsoft.com/office/officeart/2005/8/layout/process1"/>
    <dgm:cxn modelId="{636CA93E-3333-E34A-95FC-1EBD957FBD92}" type="presParOf" srcId="{B8B8F505-CFCF-E24A-89DB-5949814A4C6F}" destId="{2C575968-B7EF-D547-A649-92CE69730E07}" srcOrd="4" destOrd="0" presId="urn:microsoft.com/office/officeart/2005/8/layout/process1"/>
    <dgm:cxn modelId="{191351A9-8744-B448-930D-EF65851B5F57}" type="presParOf" srcId="{B8B8F505-CFCF-E24A-89DB-5949814A4C6F}" destId="{F049225B-BBB8-FA46-97A1-CE7CF0DFE1AC}" srcOrd="5" destOrd="0" presId="urn:microsoft.com/office/officeart/2005/8/layout/process1"/>
    <dgm:cxn modelId="{999DFC10-00D9-534E-B0E9-B82FC3B90C5F}" type="presParOf" srcId="{F049225B-BBB8-FA46-97A1-CE7CF0DFE1AC}" destId="{34CC5521-DDF3-FF46-9B97-D4B9879CBC50}" srcOrd="0" destOrd="0" presId="urn:microsoft.com/office/officeart/2005/8/layout/process1"/>
    <dgm:cxn modelId="{F6618501-A4CE-3244-BF61-C4DE07C36AE4}" type="presParOf" srcId="{B8B8F505-CFCF-E24A-89DB-5949814A4C6F}" destId="{97EA8E17-6D6B-B942-B31F-F7B6B49580E2}"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2C3DB4-43D1-D94B-A081-757267C3944E}">
      <dsp:nvSpPr>
        <dsp:cNvPr id="0" name=""/>
        <dsp:cNvSpPr/>
      </dsp:nvSpPr>
      <dsp:spPr>
        <a:xfrm>
          <a:off x="3506" y="0"/>
          <a:ext cx="1444559" cy="78085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1. Possible Data</a:t>
          </a:r>
        </a:p>
      </dsp:txBody>
      <dsp:txXfrm>
        <a:off x="26376" y="22870"/>
        <a:ext cx="1398819" cy="735113"/>
      </dsp:txXfrm>
    </dsp:sp>
    <dsp:sp modelId="{CAF6E94D-D82E-8B44-8293-CD67D304FBDA}">
      <dsp:nvSpPr>
        <dsp:cNvPr id="0" name=""/>
        <dsp:cNvSpPr/>
      </dsp:nvSpPr>
      <dsp:spPr>
        <a:xfrm>
          <a:off x="1592522"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1592522" y="282951"/>
        <a:ext cx="214372" cy="214950"/>
      </dsp:txXfrm>
    </dsp:sp>
    <dsp:sp modelId="{F2CD0C8F-0608-1141-AA28-047CDBEF6080}">
      <dsp:nvSpPr>
        <dsp:cNvPr id="0" name=""/>
        <dsp:cNvSpPr/>
      </dsp:nvSpPr>
      <dsp:spPr>
        <a:xfrm>
          <a:off x="2025890" y="0"/>
          <a:ext cx="1910877" cy="78085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2. Sample</a:t>
          </a:r>
        </a:p>
      </dsp:txBody>
      <dsp:txXfrm>
        <a:off x="2048760" y="22870"/>
        <a:ext cx="1865137" cy="735113"/>
      </dsp:txXfrm>
    </dsp:sp>
    <dsp:sp modelId="{CC853FAA-D91C-CB4C-AB55-16BE053DBE8A}">
      <dsp:nvSpPr>
        <dsp:cNvPr id="0" name=""/>
        <dsp:cNvSpPr/>
      </dsp:nvSpPr>
      <dsp:spPr>
        <a:xfrm>
          <a:off x="4081223"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081223" y="282951"/>
        <a:ext cx="214372" cy="214950"/>
      </dsp:txXfrm>
    </dsp:sp>
    <dsp:sp modelId="{2C575968-B7EF-D547-A649-92CE69730E07}">
      <dsp:nvSpPr>
        <dsp:cNvPr id="0" name=""/>
        <dsp:cNvSpPr/>
      </dsp:nvSpPr>
      <dsp:spPr>
        <a:xfrm>
          <a:off x="4514591" y="0"/>
          <a:ext cx="1444559" cy="78085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3. Study Population</a:t>
          </a:r>
        </a:p>
      </dsp:txBody>
      <dsp:txXfrm>
        <a:off x="4537461" y="22870"/>
        <a:ext cx="1398819" cy="735113"/>
      </dsp:txXfrm>
    </dsp:sp>
    <dsp:sp modelId="{F049225B-BBB8-FA46-97A1-CE7CF0DFE1AC}">
      <dsp:nvSpPr>
        <dsp:cNvPr id="0" name=""/>
        <dsp:cNvSpPr/>
      </dsp:nvSpPr>
      <dsp:spPr>
        <a:xfrm>
          <a:off x="6103606"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103606" y="282951"/>
        <a:ext cx="214372" cy="214950"/>
      </dsp:txXfrm>
    </dsp:sp>
    <dsp:sp modelId="{97EA8E17-6D6B-B942-B31F-F7B6B49580E2}">
      <dsp:nvSpPr>
        <dsp:cNvPr id="0" name=""/>
        <dsp:cNvSpPr/>
      </dsp:nvSpPr>
      <dsp:spPr>
        <a:xfrm>
          <a:off x="6536974" y="0"/>
          <a:ext cx="1444559" cy="78085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4. Target Population</a:t>
          </a:r>
        </a:p>
      </dsp:txBody>
      <dsp:txXfrm>
        <a:off x="6559844" y="22870"/>
        <a:ext cx="1398819" cy="7351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2C3DB4-43D1-D94B-A081-757267C3944E}">
      <dsp:nvSpPr>
        <dsp:cNvPr id="0" name=""/>
        <dsp:cNvSpPr/>
      </dsp:nvSpPr>
      <dsp:spPr>
        <a:xfrm>
          <a:off x="3506" y="0"/>
          <a:ext cx="1444559" cy="780853"/>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1. Possible Data</a:t>
          </a:r>
        </a:p>
      </dsp:txBody>
      <dsp:txXfrm>
        <a:off x="26376" y="22870"/>
        <a:ext cx="1398819" cy="735113"/>
      </dsp:txXfrm>
    </dsp:sp>
    <dsp:sp modelId="{CAF6E94D-D82E-8B44-8293-CD67D304FBDA}">
      <dsp:nvSpPr>
        <dsp:cNvPr id="0" name=""/>
        <dsp:cNvSpPr/>
      </dsp:nvSpPr>
      <dsp:spPr>
        <a:xfrm>
          <a:off x="1592522"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1592522" y="282951"/>
        <a:ext cx="214372" cy="214950"/>
      </dsp:txXfrm>
    </dsp:sp>
    <dsp:sp modelId="{F2CD0C8F-0608-1141-AA28-047CDBEF6080}">
      <dsp:nvSpPr>
        <dsp:cNvPr id="0" name=""/>
        <dsp:cNvSpPr/>
      </dsp:nvSpPr>
      <dsp:spPr>
        <a:xfrm>
          <a:off x="2025890" y="0"/>
          <a:ext cx="1910877" cy="780853"/>
        </a:xfrm>
        <a:prstGeom prst="roundRect">
          <a:avLst>
            <a:gd name="adj" fmla="val 10000"/>
          </a:avLst>
        </a:prstGeom>
        <a:solidFill>
          <a:schemeClr val="bg2">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2. Sample</a:t>
          </a:r>
        </a:p>
      </dsp:txBody>
      <dsp:txXfrm>
        <a:off x="2048760" y="22870"/>
        <a:ext cx="1865137" cy="735113"/>
      </dsp:txXfrm>
    </dsp:sp>
    <dsp:sp modelId="{CC853FAA-D91C-CB4C-AB55-16BE053DBE8A}">
      <dsp:nvSpPr>
        <dsp:cNvPr id="0" name=""/>
        <dsp:cNvSpPr/>
      </dsp:nvSpPr>
      <dsp:spPr>
        <a:xfrm>
          <a:off x="4081223"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081223" y="282951"/>
        <a:ext cx="214372" cy="214950"/>
      </dsp:txXfrm>
    </dsp:sp>
    <dsp:sp modelId="{2C575968-B7EF-D547-A649-92CE69730E07}">
      <dsp:nvSpPr>
        <dsp:cNvPr id="0" name=""/>
        <dsp:cNvSpPr/>
      </dsp:nvSpPr>
      <dsp:spPr>
        <a:xfrm>
          <a:off x="4514591" y="0"/>
          <a:ext cx="1444559" cy="780853"/>
        </a:xfrm>
        <a:prstGeom prst="roundRect">
          <a:avLst>
            <a:gd name="adj" fmla="val 10000"/>
          </a:avLst>
        </a:prstGeom>
        <a:solidFill>
          <a:schemeClr val="bg2">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3. Study Population</a:t>
          </a:r>
        </a:p>
      </dsp:txBody>
      <dsp:txXfrm>
        <a:off x="4537461" y="22870"/>
        <a:ext cx="1398819" cy="735113"/>
      </dsp:txXfrm>
    </dsp:sp>
    <dsp:sp modelId="{F049225B-BBB8-FA46-97A1-CE7CF0DFE1AC}">
      <dsp:nvSpPr>
        <dsp:cNvPr id="0" name=""/>
        <dsp:cNvSpPr/>
      </dsp:nvSpPr>
      <dsp:spPr>
        <a:xfrm>
          <a:off x="6103606"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103606" y="282951"/>
        <a:ext cx="214372" cy="214950"/>
      </dsp:txXfrm>
    </dsp:sp>
    <dsp:sp modelId="{97EA8E17-6D6B-B942-B31F-F7B6B49580E2}">
      <dsp:nvSpPr>
        <dsp:cNvPr id="0" name=""/>
        <dsp:cNvSpPr/>
      </dsp:nvSpPr>
      <dsp:spPr>
        <a:xfrm>
          <a:off x="6536974" y="0"/>
          <a:ext cx="1444559" cy="780853"/>
        </a:xfrm>
        <a:prstGeom prst="roundRect">
          <a:avLst>
            <a:gd name="adj" fmla="val 10000"/>
          </a:avLst>
        </a:prstGeom>
        <a:solidFill>
          <a:schemeClr val="bg2">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4. Target Population</a:t>
          </a:r>
        </a:p>
      </dsp:txBody>
      <dsp:txXfrm>
        <a:off x="6559844" y="22870"/>
        <a:ext cx="1398819" cy="73511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2C3DB4-43D1-D94B-A081-757267C3944E}">
      <dsp:nvSpPr>
        <dsp:cNvPr id="0" name=""/>
        <dsp:cNvSpPr/>
      </dsp:nvSpPr>
      <dsp:spPr>
        <a:xfrm>
          <a:off x="3506" y="0"/>
          <a:ext cx="1444559" cy="780853"/>
        </a:xfrm>
        <a:prstGeom prst="roundRect">
          <a:avLst>
            <a:gd name="adj" fmla="val 10000"/>
          </a:avLst>
        </a:prstGeom>
        <a:solidFill>
          <a:schemeClr val="bg2">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1. Possible Data</a:t>
          </a:r>
        </a:p>
      </dsp:txBody>
      <dsp:txXfrm>
        <a:off x="26376" y="22870"/>
        <a:ext cx="1398819" cy="735113"/>
      </dsp:txXfrm>
    </dsp:sp>
    <dsp:sp modelId="{CAF6E94D-D82E-8B44-8293-CD67D304FBDA}">
      <dsp:nvSpPr>
        <dsp:cNvPr id="0" name=""/>
        <dsp:cNvSpPr/>
      </dsp:nvSpPr>
      <dsp:spPr>
        <a:xfrm>
          <a:off x="1592522"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1592522" y="282951"/>
        <a:ext cx="214372" cy="214950"/>
      </dsp:txXfrm>
    </dsp:sp>
    <dsp:sp modelId="{F2CD0C8F-0608-1141-AA28-047CDBEF6080}">
      <dsp:nvSpPr>
        <dsp:cNvPr id="0" name=""/>
        <dsp:cNvSpPr/>
      </dsp:nvSpPr>
      <dsp:spPr>
        <a:xfrm>
          <a:off x="2025890" y="0"/>
          <a:ext cx="1910877" cy="780853"/>
        </a:xfrm>
        <a:prstGeom prst="roundRect">
          <a:avLst>
            <a:gd name="adj" fmla="val 10000"/>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2. Sample</a:t>
          </a:r>
        </a:p>
      </dsp:txBody>
      <dsp:txXfrm>
        <a:off x="2048760" y="22870"/>
        <a:ext cx="1865137" cy="735113"/>
      </dsp:txXfrm>
    </dsp:sp>
    <dsp:sp modelId="{CC853FAA-D91C-CB4C-AB55-16BE053DBE8A}">
      <dsp:nvSpPr>
        <dsp:cNvPr id="0" name=""/>
        <dsp:cNvSpPr/>
      </dsp:nvSpPr>
      <dsp:spPr>
        <a:xfrm>
          <a:off x="4081223"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081223" y="282951"/>
        <a:ext cx="214372" cy="214950"/>
      </dsp:txXfrm>
    </dsp:sp>
    <dsp:sp modelId="{2C575968-B7EF-D547-A649-92CE69730E07}">
      <dsp:nvSpPr>
        <dsp:cNvPr id="0" name=""/>
        <dsp:cNvSpPr/>
      </dsp:nvSpPr>
      <dsp:spPr>
        <a:xfrm>
          <a:off x="4514591" y="0"/>
          <a:ext cx="1444559" cy="780853"/>
        </a:xfrm>
        <a:prstGeom prst="roundRect">
          <a:avLst>
            <a:gd name="adj" fmla="val 10000"/>
          </a:avLst>
        </a:prstGeom>
        <a:solidFill>
          <a:schemeClr val="bg2">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3. Study Population</a:t>
          </a:r>
        </a:p>
      </dsp:txBody>
      <dsp:txXfrm>
        <a:off x="4537461" y="22870"/>
        <a:ext cx="1398819" cy="735113"/>
      </dsp:txXfrm>
    </dsp:sp>
    <dsp:sp modelId="{F049225B-BBB8-FA46-97A1-CE7CF0DFE1AC}">
      <dsp:nvSpPr>
        <dsp:cNvPr id="0" name=""/>
        <dsp:cNvSpPr/>
      </dsp:nvSpPr>
      <dsp:spPr>
        <a:xfrm>
          <a:off x="6103606"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103606" y="282951"/>
        <a:ext cx="214372" cy="214950"/>
      </dsp:txXfrm>
    </dsp:sp>
    <dsp:sp modelId="{97EA8E17-6D6B-B942-B31F-F7B6B49580E2}">
      <dsp:nvSpPr>
        <dsp:cNvPr id="0" name=""/>
        <dsp:cNvSpPr/>
      </dsp:nvSpPr>
      <dsp:spPr>
        <a:xfrm>
          <a:off x="6536974" y="0"/>
          <a:ext cx="1444559" cy="780853"/>
        </a:xfrm>
        <a:prstGeom prst="roundRect">
          <a:avLst>
            <a:gd name="adj" fmla="val 10000"/>
          </a:avLst>
        </a:prstGeom>
        <a:solidFill>
          <a:schemeClr val="bg2">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4. Target Population</a:t>
          </a:r>
        </a:p>
      </dsp:txBody>
      <dsp:txXfrm>
        <a:off x="6559844" y="22870"/>
        <a:ext cx="1398819" cy="7351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2C3DB4-43D1-D94B-A081-757267C3944E}">
      <dsp:nvSpPr>
        <dsp:cNvPr id="0" name=""/>
        <dsp:cNvSpPr/>
      </dsp:nvSpPr>
      <dsp:spPr>
        <a:xfrm>
          <a:off x="3506" y="0"/>
          <a:ext cx="1444559" cy="780853"/>
        </a:xfrm>
        <a:prstGeom prst="roundRect">
          <a:avLst>
            <a:gd name="adj" fmla="val 10000"/>
          </a:avLst>
        </a:prstGeom>
        <a:solidFill>
          <a:schemeClr val="bg2">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1. Possible Data</a:t>
          </a:r>
        </a:p>
      </dsp:txBody>
      <dsp:txXfrm>
        <a:off x="26376" y="22870"/>
        <a:ext cx="1398819" cy="735113"/>
      </dsp:txXfrm>
    </dsp:sp>
    <dsp:sp modelId="{CAF6E94D-D82E-8B44-8293-CD67D304FBDA}">
      <dsp:nvSpPr>
        <dsp:cNvPr id="0" name=""/>
        <dsp:cNvSpPr/>
      </dsp:nvSpPr>
      <dsp:spPr>
        <a:xfrm>
          <a:off x="1592522"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1592522" y="282951"/>
        <a:ext cx="214372" cy="214950"/>
      </dsp:txXfrm>
    </dsp:sp>
    <dsp:sp modelId="{F2CD0C8F-0608-1141-AA28-047CDBEF6080}">
      <dsp:nvSpPr>
        <dsp:cNvPr id="0" name=""/>
        <dsp:cNvSpPr/>
      </dsp:nvSpPr>
      <dsp:spPr>
        <a:xfrm>
          <a:off x="2025890" y="0"/>
          <a:ext cx="1910877" cy="780853"/>
        </a:xfrm>
        <a:prstGeom prst="roundRect">
          <a:avLst>
            <a:gd name="adj" fmla="val 10000"/>
          </a:avLst>
        </a:prstGeom>
        <a:solidFill>
          <a:schemeClr val="bg2">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2. Sample</a:t>
          </a:r>
        </a:p>
      </dsp:txBody>
      <dsp:txXfrm>
        <a:off x="2048760" y="22870"/>
        <a:ext cx="1865137" cy="735113"/>
      </dsp:txXfrm>
    </dsp:sp>
    <dsp:sp modelId="{CC853FAA-D91C-CB4C-AB55-16BE053DBE8A}">
      <dsp:nvSpPr>
        <dsp:cNvPr id="0" name=""/>
        <dsp:cNvSpPr/>
      </dsp:nvSpPr>
      <dsp:spPr>
        <a:xfrm>
          <a:off x="4081223"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081223" y="282951"/>
        <a:ext cx="214372" cy="214950"/>
      </dsp:txXfrm>
    </dsp:sp>
    <dsp:sp modelId="{2C575968-B7EF-D547-A649-92CE69730E07}">
      <dsp:nvSpPr>
        <dsp:cNvPr id="0" name=""/>
        <dsp:cNvSpPr/>
      </dsp:nvSpPr>
      <dsp:spPr>
        <a:xfrm>
          <a:off x="4514591" y="0"/>
          <a:ext cx="1444559" cy="780853"/>
        </a:xfrm>
        <a:prstGeom prst="roundRect">
          <a:avLst>
            <a:gd name="adj" fmla="val 10000"/>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3. Study Population</a:t>
          </a:r>
        </a:p>
      </dsp:txBody>
      <dsp:txXfrm>
        <a:off x="4537461" y="22870"/>
        <a:ext cx="1398819" cy="735113"/>
      </dsp:txXfrm>
    </dsp:sp>
    <dsp:sp modelId="{F049225B-BBB8-FA46-97A1-CE7CF0DFE1AC}">
      <dsp:nvSpPr>
        <dsp:cNvPr id="0" name=""/>
        <dsp:cNvSpPr/>
      </dsp:nvSpPr>
      <dsp:spPr>
        <a:xfrm>
          <a:off x="6103606"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103606" y="282951"/>
        <a:ext cx="214372" cy="214950"/>
      </dsp:txXfrm>
    </dsp:sp>
    <dsp:sp modelId="{97EA8E17-6D6B-B942-B31F-F7B6B49580E2}">
      <dsp:nvSpPr>
        <dsp:cNvPr id="0" name=""/>
        <dsp:cNvSpPr/>
      </dsp:nvSpPr>
      <dsp:spPr>
        <a:xfrm>
          <a:off x="6536974" y="0"/>
          <a:ext cx="1444559" cy="780853"/>
        </a:xfrm>
        <a:prstGeom prst="roundRect">
          <a:avLst>
            <a:gd name="adj" fmla="val 10000"/>
          </a:avLst>
        </a:prstGeom>
        <a:solidFill>
          <a:schemeClr val="bg2">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4. Target Population</a:t>
          </a:r>
        </a:p>
      </dsp:txBody>
      <dsp:txXfrm>
        <a:off x="6559844" y="22870"/>
        <a:ext cx="1398819" cy="7351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2C3DB4-43D1-D94B-A081-757267C3944E}">
      <dsp:nvSpPr>
        <dsp:cNvPr id="0" name=""/>
        <dsp:cNvSpPr/>
      </dsp:nvSpPr>
      <dsp:spPr>
        <a:xfrm>
          <a:off x="3506" y="0"/>
          <a:ext cx="1444559" cy="780853"/>
        </a:xfrm>
        <a:prstGeom prst="roundRect">
          <a:avLst>
            <a:gd name="adj" fmla="val 10000"/>
          </a:avLst>
        </a:prstGeom>
        <a:solidFill>
          <a:schemeClr val="bg2">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1. Possible Data</a:t>
          </a:r>
        </a:p>
      </dsp:txBody>
      <dsp:txXfrm>
        <a:off x="26376" y="22870"/>
        <a:ext cx="1398819" cy="735113"/>
      </dsp:txXfrm>
    </dsp:sp>
    <dsp:sp modelId="{CAF6E94D-D82E-8B44-8293-CD67D304FBDA}">
      <dsp:nvSpPr>
        <dsp:cNvPr id="0" name=""/>
        <dsp:cNvSpPr/>
      </dsp:nvSpPr>
      <dsp:spPr>
        <a:xfrm>
          <a:off x="1592522"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1592522" y="282951"/>
        <a:ext cx="214372" cy="214950"/>
      </dsp:txXfrm>
    </dsp:sp>
    <dsp:sp modelId="{F2CD0C8F-0608-1141-AA28-047CDBEF6080}">
      <dsp:nvSpPr>
        <dsp:cNvPr id="0" name=""/>
        <dsp:cNvSpPr/>
      </dsp:nvSpPr>
      <dsp:spPr>
        <a:xfrm>
          <a:off x="2025890" y="0"/>
          <a:ext cx="1910877" cy="780853"/>
        </a:xfrm>
        <a:prstGeom prst="roundRect">
          <a:avLst>
            <a:gd name="adj" fmla="val 10000"/>
          </a:avLst>
        </a:prstGeom>
        <a:solidFill>
          <a:schemeClr val="bg2">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2. Sample</a:t>
          </a:r>
        </a:p>
      </dsp:txBody>
      <dsp:txXfrm>
        <a:off x="2048760" y="22870"/>
        <a:ext cx="1865137" cy="735113"/>
      </dsp:txXfrm>
    </dsp:sp>
    <dsp:sp modelId="{CC853FAA-D91C-CB4C-AB55-16BE053DBE8A}">
      <dsp:nvSpPr>
        <dsp:cNvPr id="0" name=""/>
        <dsp:cNvSpPr/>
      </dsp:nvSpPr>
      <dsp:spPr>
        <a:xfrm>
          <a:off x="4081223"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081223" y="282951"/>
        <a:ext cx="214372" cy="214950"/>
      </dsp:txXfrm>
    </dsp:sp>
    <dsp:sp modelId="{2C575968-B7EF-D547-A649-92CE69730E07}">
      <dsp:nvSpPr>
        <dsp:cNvPr id="0" name=""/>
        <dsp:cNvSpPr/>
      </dsp:nvSpPr>
      <dsp:spPr>
        <a:xfrm>
          <a:off x="4514591" y="0"/>
          <a:ext cx="1444559" cy="780853"/>
        </a:xfrm>
        <a:prstGeom prst="roundRect">
          <a:avLst>
            <a:gd name="adj" fmla="val 10000"/>
          </a:avLst>
        </a:prstGeom>
        <a:solidFill>
          <a:schemeClr val="bg2">
            <a:lumMod val="8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3. Study Population</a:t>
          </a:r>
        </a:p>
      </dsp:txBody>
      <dsp:txXfrm>
        <a:off x="4537461" y="22870"/>
        <a:ext cx="1398819" cy="735113"/>
      </dsp:txXfrm>
    </dsp:sp>
    <dsp:sp modelId="{F049225B-BBB8-FA46-97A1-CE7CF0DFE1AC}">
      <dsp:nvSpPr>
        <dsp:cNvPr id="0" name=""/>
        <dsp:cNvSpPr/>
      </dsp:nvSpPr>
      <dsp:spPr>
        <a:xfrm>
          <a:off x="6103606" y="211301"/>
          <a:ext cx="306246" cy="35825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6103606" y="282951"/>
        <a:ext cx="214372" cy="214950"/>
      </dsp:txXfrm>
    </dsp:sp>
    <dsp:sp modelId="{97EA8E17-6D6B-B942-B31F-F7B6B49580E2}">
      <dsp:nvSpPr>
        <dsp:cNvPr id="0" name=""/>
        <dsp:cNvSpPr/>
      </dsp:nvSpPr>
      <dsp:spPr>
        <a:xfrm>
          <a:off x="6536974" y="0"/>
          <a:ext cx="1444559" cy="780853"/>
        </a:xfrm>
        <a:prstGeom prst="roundRect">
          <a:avLst>
            <a:gd name="adj" fmla="val 10000"/>
          </a:avLst>
        </a:prstGeom>
        <a:solidFill>
          <a:schemeClr val="accent1"/>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4. Target Population</a:t>
          </a:r>
        </a:p>
      </dsp:txBody>
      <dsp:txXfrm>
        <a:off x="6559844" y="22870"/>
        <a:ext cx="1398819" cy="73511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4AEDA3-4D28-4D47-9D7E-949733155E16}" type="datetimeFigureOut">
              <a:rPr lang="en-US" smtClean="0"/>
              <a:t>4/8/26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268B9A-8955-EA47-AD98-6734838BB900}" type="slidenum">
              <a:rPr lang="en-US" smtClean="0"/>
              <a:t>‹#›</a:t>
            </a:fld>
            <a:endParaRPr lang="en-US"/>
          </a:p>
        </p:txBody>
      </p:sp>
    </p:spTree>
    <p:extLst>
      <p:ext uri="{BB962C8B-B14F-4D97-AF65-F5344CB8AC3E}">
        <p14:creationId xmlns:p14="http://schemas.microsoft.com/office/powerpoint/2010/main" val="767116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000000"/>
                </a:solidFill>
                <a:effectLst/>
                <a:latin typeface="Times New Roman" panose="02020603050405020304" pitchFamily="18" charset="0"/>
              </a:rPr>
              <a:t>Induction is about taking particular instances and trying to work out general conclusions. For example, suppose we don’t know the customs in a community about kissing female friends on the cheek, and we have to try to work it out by observing whether people kiss once, twice, three times, or not at all. The crucial distinction is that deduction is logically certain, whereas induction is generally uncertain.</a:t>
            </a:r>
            <a:endParaRPr lang="en-US" dirty="0"/>
          </a:p>
        </p:txBody>
      </p:sp>
      <p:sp>
        <p:nvSpPr>
          <p:cNvPr id="4" name="Slide Number Placeholder 3"/>
          <p:cNvSpPr>
            <a:spLocks noGrp="1"/>
          </p:cNvSpPr>
          <p:nvPr>
            <p:ph type="sldNum" sz="quarter" idx="5"/>
          </p:nvPr>
        </p:nvSpPr>
        <p:spPr/>
        <p:txBody>
          <a:bodyPr/>
          <a:lstStyle/>
          <a:p>
            <a:fld id="{3BECBA61-C96A-B84D-871A-CC4337D88EB5}" type="slidenum">
              <a:rPr lang="en-US" smtClean="0"/>
              <a:t>5</a:t>
            </a:fld>
            <a:endParaRPr lang="en-US"/>
          </a:p>
        </p:txBody>
      </p:sp>
    </p:spTree>
    <p:extLst>
      <p:ext uri="{BB962C8B-B14F-4D97-AF65-F5344CB8AC3E}">
        <p14:creationId xmlns:p14="http://schemas.microsoft.com/office/powerpoint/2010/main" val="15125565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DCFA5-5FF9-BEA0-285F-74D1D743F2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6CB99E-65AF-2337-805A-48C9FCFD60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36FD3C-6DE8-2254-AEC7-F7CEE3EEE313}"/>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Induction is about taking particular instances and trying to work out general conclusions. For example, suppose we don’t know the customs in a community about kissing female friends on the cheek, and we have to try to work it out by observing whether people kiss once, twice, three times, or not at all. The crucial distinction is that deduction is logically certain, whereas induction is generally uncertain.</a:t>
            </a:r>
            <a:endParaRPr lang="en-US" dirty="0"/>
          </a:p>
        </p:txBody>
      </p:sp>
      <p:sp>
        <p:nvSpPr>
          <p:cNvPr id="4" name="Slide Number Placeholder 3">
            <a:extLst>
              <a:ext uri="{FF2B5EF4-FFF2-40B4-BE49-F238E27FC236}">
                <a16:creationId xmlns:a16="http://schemas.microsoft.com/office/drawing/2014/main" id="{214FDEE0-1A85-CCF6-4371-273130C0F41B}"/>
              </a:ext>
            </a:extLst>
          </p:cNvPr>
          <p:cNvSpPr>
            <a:spLocks noGrp="1"/>
          </p:cNvSpPr>
          <p:nvPr>
            <p:ph type="sldNum" sz="quarter" idx="5"/>
          </p:nvPr>
        </p:nvSpPr>
        <p:spPr/>
        <p:txBody>
          <a:bodyPr/>
          <a:lstStyle/>
          <a:p>
            <a:fld id="{3BECBA61-C96A-B84D-871A-CC4337D88EB5}" type="slidenum">
              <a:rPr lang="en-US" smtClean="0"/>
              <a:t>6</a:t>
            </a:fld>
            <a:endParaRPr lang="en-US"/>
          </a:p>
        </p:txBody>
      </p:sp>
    </p:spTree>
    <p:extLst>
      <p:ext uri="{BB962C8B-B14F-4D97-AF65-F5344CB8AC3E}">
        <p14:creationId xmlns:p14="http://schemas.microsoft.com/office/powerpoint/2010/main" val="37047625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3F9BA9-1BBE-9AD8-8800-B29BB9365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CDC5D2-E6EF-7527-F45E-7AE216573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920BB7-A35B-09EC-B04D-856959015726}"/>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Induction is about taking particular instances and trying to work out general conclusions. For example, suppose we don’t know the customs in a community about kissing female friends on the cheek, and we have to try to work it out by observing whether people kiss once, twice, three times, or not at all. The crucial distinction is that deduction is logically certain, whereas induction is generally uncertain.</a:t>
            </a:r>
            <a:endParaRPr lang="en-US" dirty="0"/>
          </a:p>
        </p:txBody>
      </p:sp>
      <p:sp>
        <p:nvSpPr>
          <p:cNvPr id="4" name="Slide Number Placeholder 3">
            <a:extLst>
              <a:ext uri="{FF2B5EF4-FFF2-40B4-BE49-F238E27FC236}">
                <a16:creationId xmlns:a16="http://schemas.microsoft.com/office/drawing/2014/main" id="{F4029C26-AE58-FE85-69A5-8D7811A68EDB}"/>
              </a:ext>
            </a:extLst>
          </p:cNvPr>
          <p:cNvSpPr>
            <a:spLocks noGrp="1"/>
          </p:cNvSpPr>
          <p:nvPr>
            <p:ph type="sldNum" sz="quarter" idx="5"/>
          </p:nvPr>
        </p:nvSpPr>
        <p:spPr/>
        <p:txBody>
          <a:bodyPr/>
          <a:lstStyle/>
          <a:p>
            <a:fld id="{3BECBA61-C96A-B84D-871A-CC4337D88EB5}" type="slidenum">
              <a:rPr lang="en-US" smtClean="0"/>
              <a:t>7</a:t>
            </a:fld>
            <a:endParaRPr lang="en-US"/>
          </a:p>
        </p:txBody>
      </p:sp>
    </p:spTree>
    <p:extLst>
      <p:ext uri="{BB962C8B-B14F-4D97-AF65-F5344CB8AC3E}">
        <p14:creationId xmlns:p14="http://schemas.microsoft.com/office/powerpoint/2010/main" val="11546273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DD453-4A10-4D0C-59C0-6B28B71F96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95D962-B176-80F5-D87A-F26A6E5E84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BC599E-948D-2ABB-BCC3-DB4A06AE743E}"/>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Induction is about taking particular instances and trying to work out general conclusions. For example, suppose we don’t know the customs in a community about kissing female friends on the cheek, and we have to try to work it out by observing whether people kiss once, twice, three times, or not at all. The crucial distinction is that deduction is logically certain, whereas induction is generally uncertain.</a:t>
            </a:r>
            <a:endParaRPr lang="en-US" dirty="0"/>
          </a:p>
        </p:txBody>
      </p:sp>
      <p:sp>
        <p:nvSpPr>
          <p:cNvPr id="4" name="Slide Number Placeholder 3">
            <a:extLst>
              <a:ext uri="{FF2B5EF4-FFF2-40B4-BE49-F238E27FC236}">
                <a16:creationId xmlns:a16="http://schemas.microsoft.com/office/drawing/2014/main" id="{CA015DC2-2554-96E7-F571-DA17AC6A39DD}"/>
              </a:ext>
            </a:extLst>
          </p:cNvPr>
          <p:cNvSpPr>
            <a:spLocks noGrp="1"/>
          </p:cNvSpPr>
          <p:nvPr>
            <p:ph type="sldNum" sz="quarter" idx="5"/>
          </p:nvPr>
        </p:nvSpPr>
        <p:spPr/>
        <p:txBody>
          <a:bodyPr/>
          <a:lstStyle/>
          <a:p>
            <a:fld id="{3BECBA61-C96A-B84D-871A-CC4337D88EB5}" type="slidenum">
              <a:rPr lang="en-US" smtClean="0"/>
              <a:t>8</a:t>
            </a:fld>
            <a:endParaRPr lang="en-US"/>
          </a:p>
        </p:txBody>
      </p:sp>
    </p:spTree>
    <p:extLst>
      <p:ext uri="{BB962C8B-B14F-4D97-AF65-F5344CB8AC3E}">
        <p14:creationId xmlns:p14="http://schemas.microsoft.com/office/powerpoint/2010/main" val="31018566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55F5C0-D0A1-4058-BA2A-E7FB810B8E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491159-FA20-0BFC-05E6-3FD0346011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8C28F-0BBC-9222-677A-D3A45DD39D08}"/>
              </a:ext>
            </a:extLst>
          </p:cNvPr>
          <p:cNvSpPr>
            <a:spLocks noGrp="1"/>
          </p:cNvSpPr>
          <p:nvPr>
            <p:ph type="body" idx="1"/>
          </p:nvPr>
        </p:nvSpPr>
        <p:spPr/>
        <p:txBody>
          <a:bodyPr/>
          <a:lstStyle/>
          <a:p>
            <a:r>
              <a:rPr lang="en-US" b="0" i="0" dirty="0">
                <a:solidFill>
                  <a:srgbClr val="000000"/>
                </a:solidFill>
                <a:effectLst/>
                <a:latin typeface="Times New Roman" panose="02020603050405020304" pitchFamily="18" charset="0"/>
              </a:rPr>
              <a:t>Induction is about taking particular instances and trying to work out general conclusions. For example, suppose we don’t know the customs in a community about kissing female friends on the cheek, and we have to try to work it out by observing whether people kiss once, twice, three times, or not at all. The crucial distinction is that deduction is logically certain, whereas induction is generally uncertain.</a:t>
            </a:r>
            <a:endParaRPr lang="en-US" dirty="0"/>
          </a:p>
        </p:txBody>
      </p:sp>
      <p:sp>
        <p:nvSpPr>
          <p:cNvPr id="4" name="Slide Number Placeholder 3">
            <a:extLst>
              <a:ext uri="{FF2B5EF4-FFF2-40B4-BE49-F238E27FC236}">
                <a16:creationId xmlns:a16="http://schemas.microsoft.com/office/drawing/2014/main" id="{75F08EEA-A6BB-CE15-5142-37259DFADAA1}"/>
              </a:ext>
            </a:extLst>
          </p:cNvPr>
          <p:cNvSpPr>
            <a:spLocks noGrp="1"/>
          </p:cNvSpPr>
          <p:nvPr>
            <p:ph type="sldNum" sz="quarter" idx="5"/>
          </p:nvPr>
        </p:nvSpPr>
        <p:spPr/>
        <p:txBody>
          <a:bodyPr/>
          <a:lstStyle/>
          <a:p>
            <a:fld id="{3BECBA61-C96A-B84D-871A-CC4337D88EB5}" type="slidenum">
              <a:rPr lang="en-US" smtClean="0"/>
              <a:t>9</a:t>
            </a:fld>
            <a:endParaRPr lang="en-US"/>
          </a:p>
        </p:txBody>
      </p:sp>
    </p:spTree>
    <p:extLst>
      <p:ext uri="{BB962C8B-B14F-4D97-AF65-F5344CB8AC3E}">
        <p14:creationId xmlns:p14="http://schemas.microsoft.com/office/powerpoint/2010/main" val="4382040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Fossil fuel use is not </a:t>
            </a:r>
            <a:r>
              <a:rPr lang="en-US" dirty="0" err="1"/>
              <a:t>reall</a:t>
            </a:r>
            <a:r>
              <a:rPr lang="en-US" dirty="0"/>
              <a:t> a dependent variable here. </a:t>
            </a:r>
          </a:p>
        </p:txBody>
      </p:sp>
      <p:sp>
        <p:nvSpPr>
          <p:cNvPr id="4" name="Slide Number Placeholder 3"/>
          <p:cNvSpPr>
            <a:spLocks noGrp="1"/>
          </p:cNvSpPr>
          <p:nvPr>
            <p:ph type="sldNum" sz="quarter" idx="5"/>
          </p:nvPr>
        </p:nvSpPr>
        <p:spPr/>
        <p:txBody>
          <a:bodyPr/>
          <a:lstStyle/>
          <a:p>
            <a:fld id="{23268B9A-8955-EA47-AD98-6734838BB900}" type="slidenum">
              <a:rPr lang="en-US" smtClean="0"/>
              <a:t>35</a:t>
            </a:fld>
            <a:endParaRPr lang="en-US"/>
          </a:p>
        </p:txBody>
      </p:sp>
    </p:spTree>
    <p:extLst>
      <p:ext uri="{BB962C8B-B14F-4D97-AF65-F5344CB8AC3E}">
        <p14:creationId xmlns:p14="http://schemas.microsoft.com/office/powerpoint/2010/main" val="3891733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summer</a:t>
            </a:r>
          </a:p>
        </p:txBody>
      </p:sp>
      <p:sp>
        <p:nvSpPr>
          <p:cNvPr id="4" name="Slide Number Placeholder 3"/>
          <p:cNvSpPr>
            <a:spLocks noGrp="1"/>
          </p:cNvSpPr>
          <p:nvPr>
            <p:ph type="sldNum" sz="quarter" idx="5"/>
          </p:nvPr>
        </p:nvSpPr>
        <p:spPr/>
        <p:txBody>
          <a:bodyPr/>
          <a:lstStyle/>
          <a:p>
            <a:fld id="{23268B9A-8955-EA47-AD98-6734838BB900}" type="slidenum">
              <a:rPr lang="en-US" smtClean="0"/>
              <a:t>36</a:t>
            </a:fld>
            <a:endParaRPr lang="en-US"/>
          </a:p>
        </p:txBody>
      </p:sp>
    </p:spTree>
    <p:extLst>
      <p:ext uri="{BB962C8B-B14F-4D97-AF65-F5344CB8AC3E}">
        <p14:creationId xmlns:p14="http://schemas.microsoft.com/office/powerpoint/2010/main" val="20725193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far we’ve been considering the numerical relationships, but causality is something we can think about for exposure as well – that is, for proportions.</a:t>
            </a:r>
          </a:p>
          <a:p>
            <a:r>
              <a:rPr lang="en-US" dirty="0"/>
              <a:t>Clearly you should all drop out.</a:t>
            </a:r>
          </a:p>
        </p:txBody>
      </p:sp>
      <p:sp>
        <p:nvSpPr>
          <p:cNvPr id="4" name="Slide Number Placeholder 3"/>
          <p:cNvSpPr>
            <a:spLocks noGrp="1"/>
          </p:cNvSpPr>
          <p:nvPr>
            <p:ph type="sldNum" sz="quarter" idx="5"/>
          </p:nvPr>
        </p:nvSpPr>
        <p:spPr/>
        <p:txBody>
          <a:bodyPr/>
          <a:lstStyle/>
          <a:p>
            <a:fld id="{23268B9A-8955-EA47-AD98-6734838BB900}" type="slidenum">
              <a:rPr lang="en-US" smtClean="0"/>
              <a:t>37</a:t>
            </a:fld>
            <a:endParaRPr lang="en-US"/>
          </a:p>
        </p:txBody>
      </p:sp>
    </p:spTree>
    <p:extLst>
      <p:ext uri="{BB962C8B-B14F-4D97-AF65-F5344CB8AC3E}">
        <p14:creationId xmlns:p14="http://schemas.microsoft.com/office/powerpoint/2010/main" val="10378738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129175-1E47-B5A0-380A-40172C176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E2CEBB-6447-BD0C-857E-8847396183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14B53E-C3A3-924C-D39C-CA79F238BFFD}"/>
              </a:ext>
            </a:extLst>
          </p:cNvPr>
          <p:cNvSpPr>
            <a:spLocks noGrp="1"/>
          </p:cNvSpPr>
          <p:nvPr>
            <p:ph type="body" idx="1"/>
          </p:nvPr>
        </p:nvSpPr>
        <p:spPr/>
        <p:txBody>
          <a:bodyPr/>
          <a:lstStyle/>
          <a:p>
            <a:r>
              <a:rPr lang="en-US" dirty="0"/>
              <a:t>So far we’ve been considering the numerical relationships, but causality is something we can think about for exposure as well – that is, for proportions.</a:t>
            </a:r>
          </a:p>
          <a:p>
            <a:r>
              <a:rPr lang="en-US" dirty="0"/>
              <a:t>Clearly you should all drop out.</a:t>
            </a:r>
          </a:p>
        </p:txBody>
      </p:sp>
      <p:sp>
        <p:nvSpPr>
          <p:cNvPr id="4" name="Slide Number Placeholder 3">
            <a:extLst>
              <a:ext uri="{FF2B5EF4-FFF2-40B4-BE49-F238E27FC236}">
                <a16:creationId xmlns:a16="http://schemas.microsoft.com/office/drawing/2014/main" id="{54F53292-05C6-E1CC-2BBA-8941491EC6AD}"/>
              </a:ext>
            </a:extLst>
          </p:cNvPr>
          <p:cNvSpPr>
            <a:spLocks noGrp="1"/>
          </p:cNvSpPr>
          <p:nvPr>
            <p:ph type="sldNum" sz="quarter" idx="5"/>
          </p:nvPr>
        </p:nvSpPr>
        <p:spPr/>
        <p:txBody>
          <a:bodyPr/>
          <a:lstStyle/>
          <a:p>
            <a:fld id="{23268B9A-8955-EA47-AD98-6734838BB900}" type="slidenum">
              <a:rPr lang="en-US" smtClean="0"/>
              <a:t>38</a:t>
            </a:fld>
            <a:endParaRPr lang="en-US"/>
          </a:p>
        </p:txBody>
      </p:sp>
    </p:spTree>
    <p:extLst>
      <p:ext uri="{BB962C8B-B14F-4D97-AF65-F5344CB8AC3E}">
        <p14:creationId xmlns:p14="http://schemas.microsoft.com/office/powerpoint/2010/main" val="4000214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3B13B-0D51-648F-61F2-5B8A53136B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2C0E05-58EF-D49F-E4FE-72CC1810FB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8BE4CD-1241-5D2F-EE73-FE5042AFC2E7}"/>
              </a:ext>
            </a:extLst>
          </p:cNvPr>
          <p:cNvSpPr>
            <a:spLocks noGrp="1"/>
          </p:cNvSpPr>
          <p:nvPr>
            <p:ph type="body" idx="1"/>
          </p:nvPr>
        </p:nvSpPr>
        <p:spPr/>
        <p:txBody>
          <a:bodyPr/>
          <a:lstStyle/>
          <a:p>
            <a:r>
              <a:rPr lang="en-US" dirty="0"/>
              <a:t>So far we’ve been considering the numerical relationships, but causality is something we can think about for exposure as well – that is, for proportions.</a:t>
            </a:r>
          </a:p>
          <a:p>
            <a:r>
              <a:rPr lang="en-US" dirty="0"/>
              <a:t>Clearly you should all drop out.</a:t>
            </a:r>
          </a:p>
        </p:txBody>
      </p:sp>
      <p:sp>
        <p:nvSpPr>
          <p:cNvPr id="4" name="Slide Number Placeholder 3">
            <a:extLst>
              <a:ext uri="{FF2B5EF4-FFF2-40B4-BE49-F238E27FC236}">
                <a16:creationId xmlns:a16="http://schemas.microsoft.com/office/drawing/2014/main" id="{2C5C1EAE-E2D9-398D-B6AA-510F1D3C2586}"/>
              </a:ext>
            </a:extLst>
          </p:cNvPr>
          <p:cNvSpPr>
            <a:spLocks noGrp="1"/>
          </p:cNvSpPr>
          <p:nvPr>
            <p:ph type="sldNum" sz="quarter" idx="5"/>
          </p:nvPr>
        </p:nvSpPr>
        <p:spPr/>
        <p:txBody>
          <a:bodyPr/>
          <a:lstStyle/>
          <a:p>
            <a:fld id="{23268B9A-8955-EA47-AD98-6734838BB900}" type="slidenum">
              <a:rPr lang="en-US" smtClean="0"/>
              <a:t>39</a:t>
            </a:fld>
            <a:endParaRPr lang="en-US"/>
          </a:p>
        </p:txBody>
      </p:sp>
    </p:spTree>
    <p:extLst>
      <p:ext uri="{BB962C8B-B14F-4D97-AF65-F5344CB8AC3E}">
        <p14:creationId xmlns:p14="http://schemas.microsoft.com/office/powerpoint/2010/main" val="506210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from Aristotle all the way to the modern day, there are many views on causation.</a:t>
            </a:r>
          </a:p>
        </p:txBody>
      </p:sp>
      <p:sp>
        <p:nvSpPr>
          <p:cNvPr id="4" name="Slide Number Placeholder 3"/>
          <p:cNvSpPr>
            <a:spLocks noGrp="1"/>
          </p:cNvSpPr>
          <p:nvPr>
            <p:ph type="sldNum" sz="quarter" idx="5"/>
          </p:nvPr>
        </p:nvSpPr>
        <p:spPr/>
        <p:txBody>
          <a:bodyPr/>
          <a:lstStyle/>
          <a:p>
            <a:fld id="{23268B9A-8955-EA47-AD98-6734838BB900}" type="slidenum">
              <a:rPr lang="en-US" smtClean="0"/>
              <a:t>40</a:t>
            </a:fld>
            <a:endParaRPr lang="en-US"/>
          </a:p>
        </p:txBody>
      </p:sp>
    </p:spTree>
    <p:extLst>
      <p:ext uri="{BB962C8B-B14F-4D97-AF65-F5344CB8AC3E}">
        <p14:creationId xmlns:p14="http://schemas.microsoft.com/office/powerpoint/2010/main" val="2120281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sounds.</a:t>
            </a:r>
          </a:p>
        </p:txBody>
      </p:sp>
      <p:sp>
        <p:nvSpPr>
          <p:cNvPr id="4" name="Slide Number Placeholder 3"/>
          <p:cNvSpPr>
            <a:spLocks noGrp="1"/>
          </p:cNvSpPr>
          <p:nvPr>
            <p:ph type="sldNum" sz="quarter" idx="5"/>
          </p:nvPr>
        </p:nvSpPr>
        <p:spPr/>
        <p:txBody>
          <a:bodyPr/>
          <a:lstStyle/>
          <a:p>
            <a:fld id="{23268B9A-8955-EA47-AD98-6734838BB900}" type="slidenum">
              <a:rPr lang="en-US" smtClean="0"/>
              <a:t>41</a:t>
            </a:fld>
            <a:endParaRPr lang="en-US"/>
          </a:p>
        </p:txBody>
      </p:sp>
    </p:spTree>
    <p:extLst>
      <p:ext uri="{BB962C8B-B14F-4D97-AF65-F5344CB8AC3E}">
        <p14:creationId xmlns:p14="http://schemas.microsoft.com/office/powerpoint/2010/main" val="23845002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268B9A-8955-EA47-AD98-6734838BB900}" type="slidenum">
              <a:rPr lang="en-US" smtClean="0"/>
              <a:t>43</a:t>
            </a:fld>
            <a:endParaRPr lang="en-US"/>
          </a:p>
        </p:txBody>
      </p:sp>
    </p:spTree>
    <p:extLst>
      <p:ext uri="{BB962C8B-B14F-4D97-AF65-F5344CB8AC3E}">
        <p14:creationId xmlns:p14="http://schemas.microsoft.com/office/powerpoint/2010/main" val="10098865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2535B2-C0AC-0C4B-B584-B21430D6E5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426F7-737E-BEB1-D112-FA9921F447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8C2E32-0BD0-5733-4155-16D414D78450}"/>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As elucidated in the second chapter, comprehending the impact of unseen confounding factors when measuring treatment effects on an outcome is challenging. One way to address this issue is through randomized controlled trials, which introduce randomness in the treatment allocation process and ensure that the resulting groups (binary  and ) are comparable, thus mitigating the confounding impact. In other words, randomization ensures exchangeability, i.e., the treatment groups are entirely interchangeable because of the randomization. Thus the average outcome of the two groups  and  remain the same. From a causal graph perspective, the randomized treatment removes the edge between the confounder  and the treatment , removing the backdoor path and the confounding association.</a:t>
            </a:r>
            <a:endParaRPr lang="en-US" dirty="0"/>
          </a:p>
        </p:txBody>
      </p:sp>
      <p:sp>
        <p:nvSpPr>
          <p:cNvPr id="4" name="Slide Number Placeholder 3">
            <a:extLst>
              <a:ext uri="{FF2B5EF4-FFF2-40B4-BE49-F238E27FC236}">
                <a16:creationId xmlns:a16="http://schemas.microsoft.com/office/drawing/2014/main" id="{B988CFC3-9337-7238-3E02-4537D3B426CF}"/>
              </a:ext>
            </a:extLst>
          </p:cNvPr>
          <p:cNvSpPr>
            <a:spLocks noGrp="1"/>
          </p:cNvSpPr>
          <p:nvPr>
            <p:ph type="sldNum" sz="quarter" idx="5"/>
          </p:nvPr>
        </p:nvSpPr>
        <p:spPr/>
        <p:txBody>
          <a:bodyPr/>
          <a:lstStyle/>
          <a:p>
            <a:fld id="{23268B9A-8955-EA47-AD98-6734838BB900}" type="slidenum">
              <a:rPr lang="en-US" smtClean="0"/>
              <a:t>44</a:t>
            </a:fld>
            <a:endParaRPr lang="en-US"/>
          </a:p>
        </p:txBody>
      </p:sp>
    </p:spTree>
    <p:extLst>
      <p:ext uri="{BB962C8B-B14F-4D97-AF65-F5344CB8AC3E}">
        <p14:creationId xmlns:p14="http://schemas.microsoft.com/office/powerpoint/2010/main" val="303059689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B0619-850A-4CC9-2EA4-1B4BEB5761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EAF1B4-964A-44B6-0D06-01F985FD00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0E8926-72F6-447A-55C7-A992B25777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A9CFDE-E097-F63E-FBFA-D3426EDB73E2}"/>
              </a:ext>
            </a:extLst>
          </p:cNvPr>
          <p:cNvSpPr>
            <a:spLocks noGrp="1"/>
          </p:cNvSpPr>
          <p:nvPr>
            <p:ph type="sldNum" sz="quarter" idx="5"/>
          </p:nvPr>
        </p:nvSpPr>
        <p:spPr/>
        <p:txBody>
          <a:bodyPr/>
          <a:lstStyle/>
          <a:p>
            <a:fld id="{23268B9A-8955-EA47-AD98-6734838BB900}" type="slidenum">
              <a:rPr lang="en-US" smtClean="0"/>
              <a:t>45</a:t>
            </a:fld>
            <a:endParaRPr lang="en-US"/>
          </a:p>
        </p:txBody>
      </p:sp>
    </p:spTree>
    <p:extLst>
      <p:ext uri="{BB962C8B-B14F-4D97-AF65-F5344CB8AC3E}">
        <p14:creationId xmlns:p14="http://schemas.microsoft.com/office/powerpoint/2010/main" val="38865012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3268B9A-8955-EA47-AD98-6734838BB900}" type="slidenum">
              <a:rPr lang="en-US" smtClean="0"/>
              <a:t>46</a:t>
            </a:fld>
            <a:endParaRPr lang="en-US"/>
          </a:p>
        </p:txBody>
      </p:sp>
    </p:spTree>
    <p:extLst>
      <p:ext uri="{BB962C8B-B14F-4D97-AF65-F5344CB8AC3E}">
        <p14:creationId xmlns:p14="http://schemas.microsoft.com/office/powerpoint/2010/main" val="17703319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5A9F9-3220-54AF-6824-660C69C258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C34BD5-63DA-57CA-06AD-B4FFD8F230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249F6A-EBE0-C5DC-11B2-68747A1A8B3E}"/>
              </a:ext>
            </a:extLst>
          </p:cNvPr>
          <p:cNvSpPr>
            <a:spLocks noGrp="1"/>
          </p:cNvSpPr>
          <p:nvPr>
            <p:ph type="body" idx="1"/>
          </p:nvPr>
        </p:nvSpPr>
        <p:spPr/>
        <p:txBody>
          <a:bodyPr/>
          <a:lstStyle/>
          <a:p>
            <a:r>
              <a:rPr lang="en-US" dirty="0"/>
              <a:t>Sampling relevant outside of RCTs as well.</a:t>
            </a:r>
          </a:p>
        </p:txBody>
      </p:sp>
      <p:sp>
        <p:nvSpPr>
          <p:cNvPr id="4" name="Slide Number Placeholder 3">
            <a:extLst>
              <a:ext uri="{FF2B5EF4-FFF2-40B4-BE49-F238E27FC236}">
                <a16:creationId xmlns:a16="http://schemas.microsoft.com/office/drawing/2014/main" id="{F922229F-ED96-043A-151E-F2A513842B2C}"/>
              </a:ext>
            </a:extLst>
          </p:cNvPr>
          <p:cNvSpPr>
            <a:spLocks noGrp="1"/>
          </p:cNvSpPr>
          <p:nvPr>
            <p:ph type="sldNum" sz="quarter" idx="5"/>
          </p:nvPr>
        </p:nvSpPr>
        <p:spPr/>
        <p:txBody>
          <a:bodyPr/>
          <a:lstStyle/>
          <a:p>
            <a:fld id="{23268B9A-8955-EA47-AD98-6734838BB900}" type="slidenum">
              <a:rPr lang="en-US" smtClean="0"/>
              <a:t>48</a:t>
            </a:fld>
            <a:endParaRPr lang="en-US"/>
          </a:p>
        </p:txBody>
      </p:sp>
    </p:spTree>
    <p:extLst>
      <p:ext uri="{BB962C8B-B14F-4D97-AF65-F5344CB8AC3E}">
        <p14:creationId xmlns:p14="http://schemas.microsoft.com/office/powerpoint/2010/main" val="228853231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8898CD-3D92-12A0-2B29-A7CF9ACB13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2CB8751-CB9D-2830-5327-2844A4F6F8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65CAD1D-6121-3AF2-BAC3-B752EBF1334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82EDCC-2670-0D26-CC6E-20A06DD0DB35}"/>
              </a:ext>
            </a:extLst>
          </p:cNvPr>
          <p:cNvSpPr>
            <a:spLocks noGrp="1"/>
          </p:cNvSpPr>
          <p:nvPr>
            <p:ph type="sldNum" sz="quarter" idx="5"/>
          </p:nvPr>
        </p:nvSpPr>
        <p:spPr/>
        <p:txBody>
          <a:bodyPr/>
          <a:lstStyle/>
          <a:p>
            <a:fld id="{23268B9A-8955-EA47-AD98-6734838BB900}" type="slidenum">
              <a:rPr lang="en-US" smtClean="0"/>
              <a:t>49</a:t>
            </a:fld>
            <a:endParaRPr lang="en-US"/>
          </a:p>
        </p:txBody>
      </p:sp>
    </p:spTree>
    <p:extLst>
      <p:ext uri="{BB962C8B-B14F-4D97-AF65-F5344CB8AC3E}">
        <p14:creationId xmlns:p14="http://schemas.microsoft.com/office/powerpoint/2010/main" val="9594406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886A85-1FAC-0624-4937-AD61F507C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5B00BE-B1E1-8741-4FCC-5A1535C69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684E2D-2934-0A64-5973-ECDC71BE0D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C93401-1E61-2566-96E6-3D2D4588DABF}"/>
              </a:ext>
            </a:extLst>
          </p:cNvPr>
          <p:cNvSpPr>
            <a:spLocks noGrp="1"/>
          </p:cNvSpPr>
          <p:nvPr>
            <p:ph type="sldNum" sz="quarter" idx="5"/>
          </p:nvPr>
        </p:nvSpPr>
        <p:spPr/>
        <p:txBody>
          <a:bodyPr/>
          <a:lstStyle/>
          <a:p>
            <a:fld id="{23268B9A-8955-EA47-AD98-6734838BB900}" type="slidenum">
              <a:rPr lang="en-US" smtClean="0"/>
              <a:t>50</a:t>
            </a:fld>
            <a:endParaRPr lang="en-US"/>
          </a:p>
        </p:txBody>
      </p:sp>
    </p:spTree>
    <p:extLst>
      <p:ext uri="{BB962C8B-B14F-4D97-AF65-F5344CB8AC3E}">
        <p14:creationId xmlns:p14="http://schemas.microsoft.com/office/powerpoint/2010/main" val="373079677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62E25-D8FA-2BA9-BFCD-D7A0B28FBC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FC0AE4-4119-8410-409B-9C0615A6FD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B3DBFE-1F61-E125-783A-6FA889A830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92EBD14-D807-443C-3557-AB0F21E7FB48}"/>
              </a:ext>
            </a:extLst>
          </p:cNvPr>
          <p:cNvSpPr>
            <a:spLocks noGrp="1"/>
          </p:cNvSpPr>
          <p:nvPr>
            <p:ph type="sldNum" sz="quarter" idx="5"/>
          </p:nvPr>
        </p:nvSpPr>
        <p:spPr/>
        <p:txBody>
          <a:bodyPr/>
          <a:lstStyle/>
          <a:p>
            <a:fld id="{23268B9A-8955-EA47-AD98-6734838BB900}" type="slidenum">
              <a:rPr lang="en-US" smtClean="0"/>
              <a:t>51</a:t>
            </a:fld>
            <a:endParaRPr lang="en-US"/>
          </a:p>
        </p:txBody>
      </p:sp>
    </p:spTree>
    <p:extLst>
      <p:ext uri="{BB962C8B-B14F-4D97-AF65-F5344CB8AC3E}">
        <p14:creationId xmlns:p14="http://schemas.microsoft.com/office/powerpoint/2010/main" val="7265549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EBF47F-E8D5-7AE1-0F6F-2FB881D1D4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EDB841-2273-319B-1F2D-A77E78E43E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2F733F-D5CC-3C94-118B-C6056A7A57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7E631B-F2D3-6CE1-ED96-4409531F2BBE}"/>
              </a:ext>
            </a:extLst>
          </p:cNvPr>
          <p:cNvSpPr>
            <a:spLocks noGrp="1"/>
          </p:cNvSpPr>
          <p:nvPr>
            <p:ph type="sldNum" sz="quarter" idx="5"/>
          </p:nvPr>
        </p:nvSpPr>
        <p:spPr/>
        <p:txBody>
          <a:bodyPr/>
          <a:lstStyle/>
          <a:p>
            <a:fld id="{23268B9A-8955-EA47-AD98-6734838BB900}" type="slidenum">
              <a:rPr lang="en-US" smtClean="0"/>
              <a:t>52</a:t>
            </a:fld>
            <a:endParaRPr lang="en-US"/>
          </a:p>
        </p:txBody>
      </p:sp>
    </p:spTree>
    <p:extLst>
      <p:ext uri="{BB962C8B-B14F-4D97-AF65-F5344CB8AC3E}">
        <p14:creationId xmlns:p14="http://schemas.microsoft.com/office/powerpoint/2010/main" val="34105004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6E046-B638-7292-F286-C65513710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2233D7-9BC4-C5C4-E73C-35D43B1845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37C761-3371-5422-1D88-DDB6A116F5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4B7D53-DC22-59D2-9F48-EE47BE1411E3}"/>
              </a:ext>
            </a:extLst>
          </p:cNvPr>
          <p:cNvSpPr>
            <a:spLocks noGrp="1"/>
          </p:cNvSpPr>
          <p:nvPr>
            <p:ph type="sldNum" sz="quarter" idx="5"/>
          </p:nvPr>
        </p:nvSpPr>
        <p:spPr/>
        <p:txBody>
          <a:bodyPr/>
          <a:lstStyle/>
          <a:p>
            <a:fld id="{23268B9A-8955-EA47-AD98-6734838BB900}" type="slidenum">
              <a:rPr lang="en-US" smtClean="0"/>
              <a:t>53</a:t>
            </a:fld>
            <a:endParaRPr lang="en-US"/>
          </a:p>
        </p:txBody>
      </p:sp>
    </p:spTree>
    <p:extLst>
      <p:ext uri="{BB962C8B-B14F-4D97-AF65-F5344CB8AC3E}">
        <p14:creationId xmlns:p14="http://schemas.microsoft.com/office/powerpoint/2010/main" val="12986692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were 10 times less likely to get the COVID infection if you had a vaccination (mRNA).</a:t>
            </a:r>
          </a:p>
          <a:p>
            <a:endParaRPr lang="en-US" dirty="0"/>
          </a:p>
        </p:txBody>
      </p:sp>
      <p:sp>
        <p:nvSpPr>
          <p:cNvPr id="4" name="Slide Number Placeholder 3"/>
          <p:cNvSpPr>
            <a:spLocks noGrp="1"/>
          </p:cNvSpPr>
          <p:nvPr>
            <p:ph type="sldNum" sz="quarter" idx="5"/>
          </p:nvPr>
        </p:nvSpPr>
        <p:spPr/>
        <p:txBody>
          <a:bodyPr/>
          <a:lstStyle/>
          <a:p>
            <a:fld id="{23268B9A-8955-EA47-AD98-6734838BB900}" type="slidenum">
              <a:rPr lang="en-US" smtClean="0"/>
              <a:t>60</a:t>
            </a:fld>
            <a:endParaRPr lang="en-US"/>
          </a:p>
        </p:txBody>
      </p:sp>
    </p:spTree>
    <p:extLst>
      <p:ext uri="{BB962C8B-B14F-4D97-AF65-F5344CB8AC3E}">
        <p14:creationId xmlns:p14="http://schemas.microsoft.com/office/powerpoint/2010/main" val="24227428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63F0C-6862-14D5-FC69-A0EDDE95BD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94E700-735E-4305-513F-0D89D77AD7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3EB0D5-2515-3FD5-7BA4-574A53AB21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599F20B-5B75-EBDF-2C0C-BB3C9A08C5B4}"/>
              </a:ext>
            </a:extLst>
          </p:cNvPr>
          <p:cNvSpPr>
            <a:spLocks noGrp="1"/>
          </p:cNvSpPr>
          <p:nvPr>
            <p:ph type="sldNum" sz="quarter" idx="5"/>
          </p:nvPr>
        </p:nvSpPr>
        <p:spPr/>
        <p:txBody>
          <a:bodyPr/>
          <a:lstStyle/>
          <a:p>
            <a:fld id="{23268B9A-8955-EA47-AD98-6734838BB900}" type="slidenum">
              <a:rPr lang="en-US" smtClean="0"/>
              <a:t>62</a:t>
            </a:fld>
            <a:endParaRPr lang="en-US"/>
          </a:p>
        </p:txBody>
      </p:sp>
    </p:spTree>
    <p:extLst>
      <p:ext uri="{BB962C8B-B14F-4D97-AF65-F5344CB8AC3E}">
        <p14:creationId xmlns:p14="http://schemas.microsoft.com/office/powerpoint/2010/main" val="36603353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A6E60-DB5F-773C-E189-A2D4148C79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49DD8-E5EB-8B87-1015-3D28806A4D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FFC364-FBDC-CFA4-45CE-F216738511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12B0415-4968-CA6C-3310-B33D4889A1D8}"/>
              </a:ext>
            </a:extLst>
          </p:cNvPr>
          <p:cNvSpPr>
            <a:spLocks noGrp="1"/>
          </p:cNvSpPr>
          <p:nvPr>
            <p:ph type="sldNum" sz="quarter" idx="5"/>
          </p:nvPr>
        </p:nvSpPr>
        <p:spPr/>
        <p:txBody>
          <a:bodyPr/>
          <a:lstStyle/>
          <a:p>
            <a:fld id="{23268B9A-8955-EA47-AD98-6734838BB900}" type="slidenum">
              <a:rPr lang="en-US" smtClean="0"/>
              <a:t>63</a:t>
            </a:fld>
            <a:endParaRPr lang="en-US"/>
          </a:p>
        </p:txBody>
      </p:sp>
    </p:spTree>
    <p:extLst>
      <p:ext uri="{BB962C8B-B14F-4D97-AF65-F5344CB8AC3E}">
        <p14:creationId xmlns:p14="http://schemas.microsoft.com/office/powerpoint/2010/main" val="11956551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F256D7-3466-8634-5023-111631B09C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AAE076-F627-820E-4CA8-11344DECA2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014534-AAC2-D110-6B2C-100EFB7A08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E638677-7150-4E7A-3FBA-C7099E3ACD2D}"/>
              </a:ext>
            </a:extLst>
          </p:cNvPr>
          <p:cNvSpPr>
            <a:spLocks noGrp="1"/>
          </p:cNvSpPr>
          <p:nvPr>
            <p:ph type="sldNum" sz="quarter" idx="5"/>
          </p:nvPr>
        </p:nvSpPr>
        <p:spPr/>
        <p:txBody>
          <a:bodyPr/>
          <a:lstStyle/>
          <a:p>
            <a:fld id="{23268B9A-8955-EA47-AD98-6734838BB900}" type="slidenum">
              <a:rPr lang="en-US" smtClean="0"/>
              <a:t>64</a:t>
            </a:fld>
            <a:endParaRPr lang="en-US"/>
          </a:p>
        </p:txBody>
      </p:sp>
    </p:spTree>
    <p:extLst>
      <p:ext uri="{BB962C8B-B14F-4D97-AF65-F5344CB8AC3E}">
        <p14:creationId xmlns:p14="http://schemas.microsoft.com/office/powerpoint/2010/main" val="27354454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6700E-303C-DF7B-E320-9C0BD4347E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D3EFDE-FD33-5D9F-9EF3-096E3F8E1E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26820D-4B30-0F64-61CA-4DDED7D8CF8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A96D4F6-DCE9-677D-841B-04A53F081AC9}"/>
              </a:ext>
            </a:extLst>
          </p:cNvPr>
          <p:cNvSpPr>
            <a:spLocks noGrp="1"/>
          </p:cNvSpPr>
          <p:nvPr>
            <p:ph type="sldNum" sz="quarter" idx="5"/>
          </p:nvPr>
        </p:nvSpPr>
        <p:spPr/>
        <p:txBody>
          <a:bodyPr/>
          <a:lstStyle/>
          <a:p>
            <a:fld id="{23268B9A-8955-EA47-AD98-6734838BB900}" type="slidenum">
              <a:rPr lang="en-US" smtClean="0"/>
              <a:t>65</a:t>
            </a:fld>
            <a:endParaRPr lang="en-US"/>
          </a:p>
        </p:txBody>
      </p:sp>
    </p:spTree>
    <p:extLst>
      <p:ext uri="{BB962C8B-B14F-4D97-AF65-F5344CB8AC3E}">
        <p14:creationId xmlns:p14="http://schemas.microsoft.com/office/powerpoint/2010/main" val="1300271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D2CC3-7153-4A65-C623-A3D53AD1D3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E4512-14B5-7348-3857-AED516E685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390167-1E8D-A4EE-24CB-B4E2C0A2FC32}"/>
              </a:ext>
            </a:extLst>
          </p:cNvPr>
          <p:cNvSpPr>
            <a:spLocks noGrp="1"/>
          </p:cNvSpPr>
          <p:nvPr>
            <p:ph type="body" idx="1"/>
          </p:nvPr>
        </p:nvSpPr>
        <p:spPr/>
        <p:txBody>
          <a:bodyPr/>
          <a:lstStyle/>
          <a:p>
            <a:r>
              <a:rPr lang="en-US" sz="1200" dirty="0"/>
              <a:t>This is also a good example of scientific malpractice as the doctor who published the article had money to gain (from test kits for a fake disease) from suggesting MMR vaccines caused autism.</a:t>
            </a:r>
          </a:p>
        </p:txBody>
      </p:sp>
      <p:sp>
        <p:nvSpPr>
          <p:cNvPr id="4" name="Slide Number Placeholder 3">
            <a:extLst>
              <a:ext uri="{FF2B5EF4-FFF2-40B4-BE49-F238E27FC236}">
                <a16:creationId xmlns:a16="http://schemas.microsoft.com/office/drawing/2014/main" id="{4F59B367-7A86-8DB3-F98B-C397112542DD}"/>
              </a:ext>
            </a:extLst>
          </p:cNvPr>
          <p:cNvSpPr>
            <a:spLocks noGrp="1"/>
          </p:cNvSpPr>
          <p:nvPr>
            <p:ph type="sldNum" sz="quarter" idx="5"/>
          </p:nvPr>
        </p:nvSpPr>
        <p:spPr/>
        <p:txBody>
          <a:bodyPr/>
          <a:lstStyle/>
          <a:p>
            <a:fld id="{23268B9A-8955-EA47-AD98-6734838BB900}" type="slidenum">
              <a:rPr lang="en-US" smtClean="0"/>
              <a:t>66</a:t>
            </a:fld>
            <a:endParaRPr lang="en-US"/>
          </a:p>
        </p:txBody>
      </p:sp>
    </p:spTree>
    <p:extLst>
      <p:ext uri="{BB962C8B-B14F-4D97-AF65-F5344CB8AC3E}">
        <p14:creationId xmlns:p14="http://schemas.microsoft.com/office/powerpoint/2010/main" val="221446223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42090A-63A3-3593-ECFB-FC80465633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74DFA-7F97-6D57-FA89-73AC33318E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88C382-7948-D2BE-0992-BAEDEE621935}"/>
              </a:ext>
            </a:extLst>
          </p:cNvPr>
          <p:cNvSpPr>
            <a:spLocks noGrp="1"/>
          </p:cNvSpPr>
          <p:nvPr>
            <p:ph type="body" idx="1"/>
          </p:nvPr>
        </p:nvSpPr>
        <p:spPr/>
        <p:txBody>
          <a:bodyPr/>
          <a:lstStyle/>
          <a:p>
            <a:r>
              <a:rPr lang="en-US" sz="1200" dirty="0"/>
              <a:t>This is also a good example of scientific malpractice as the doctor who published the article had money to gain (from test kits for a fake disease) from suggesting MMR vaccines caused autism.</a:t>
            </a:r>
          </a:p>
        </p:txBody>
      </p:sp>
      <p:sp>
        <p:nvSpPr>
          <p:cNvPr id="4" name="Slide Number Placeholder 3">
            <a:extLst>
              <a:ext uri="{FF2B5EF4-FFF2-40B4-BE49-F238E27FC236}">
                <a16:creationId xmlns:a16="http://schemas.microsoft.com/office/drawing/2014/main" id="{CF19CE14-B6AF-890F-D630-840D9736171D}"/>
              </a:ext>
            </a:extLst>
          </p:cNvPr>
          <p:cNvSpPr>
            <a:spLocks noGrp="1"/>
          </p:cNvSpPr>
          <p:nvPr>
            <p:ph type="sldNum" sz="quarter" idx="5"/>
          </p:nvPr>
        </p:nvSpPr>
        <p:spPr/>
        <p:txBody>
          <a:bodyPr/>
          <a:lstStyle/>
          <a:p>
            <a:fld id="{23268B9A-8955-EA47-AD98-6734838BB900}" type="slidenum">
              <a:rPr lang="en-US" smtClean="0"/>
              <a:t>67</a:t>
            </a:fld>
            <a:endParaRPr lang="en-US"/>
          </a:p>
        </p:txBody>
      </p:sp>
    </p:spTree>
    <p:extLst>
      <p:ext uri="{BB962C8B-B14F-4D97-AF65-F5344CB8AC3E}">
        <p14:creationId xmlns:p14="http://schemas.microsoft.com/office/powerpoint/2010/main" val="247461293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056DB2-9F5B-8C32-3DD0-262F1BB053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D93E90-E031-EA88-5A10-265C5310FF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ECF1BC-4B35-CDA9-B5C6-5C8C446595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EB51F1-D79D-045E-FE6B-CF7ACCE3A352}"/>
              </a:ext>
            </a:extLst>
          </p:cNvPr>
          <p:cNvSpPr>
            <a:spLocks noGrp="1"/>
          </p:cNvSpPr>
          <p:nvPr>
            <p:ph type="sldNum" sz="quarter" idx="5"/>
          </p:nvPr>
        </p:nvSpPr>
        <p:spPr/>
        <p:txBody>
          <a:bodyPr/>
          <a:lstStyle/>
          <a:p>
            <a:fld id="{23268B9A-8955-EA47-AD98-6734838BB900}" type="slidenum">
              <a:rPr lang="en-US" smtClean="0"/>
              <a:t>68</a:t>
            </a:fld>
            <a:endParaRPr lang="en-US"/>
          </a:p>
        </p:txBody>
      </p:sp>
    </p:spTree>
    <p:extLst>
      <p:ext uri="{BB962C8B-B14F-4D97-AF65-F5344CB8AC3E}">
        <p14:creationId xmlns:p14="http://schemas.microsoft.com/office/powerpoint/2010/main" val="32116064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then, it looks like in every major there is a bias towards women really, or at least a limited bias towards them, here we have tried to correct for a confound and found that there was a reversal of the result.</a:t>
            </a:r>
          </a:p>
          <a:p>
            <a:r>
              <a:rPr lang="en-US" i="1" dirty="0">
                <a:solidFill>
                  <a:srgbClr val="231F20"/>
                </a:solidFill>
                <a:effectLst/>
                <a:latin typeface="Helvetica" pitchFamily="2" charset="0"/>
              </a:rPr>
              <a:t>The first two majors were easy to get into. Over 50% of the men applied to</a:t>
            </a:r>
            <a:r>
              <a:rPr lang="en-US" i="0" dirty="0">
                <a:solidFill>
                  <a:srgbClr val="231F20"/>
                </a:solidFill>
                <a:effectLst/>
                <a:latin typeface="Helvetica" pitchFamily="2" charset="0"/>
              </a:rPr>
              <a:t> </a:t>
            </a:r>
            <a:r>
              <a:rPr lang="en-US" i="1" dirty="0">
                <a:solidFill>
                  <a:srgbClr val="231F20"/>
                </a:solidFill>
                <a:effectLst/>
                <a:latin typeface="Helvetica" pitchFamily="2" charset="0"/>
              </a:rPr>
              <a:t>these two majors.</a:t>
            </a:r>
            <a:endParaRPr lang="en-US" dirty="0">
              <a:solidFill>
                <a:srgbClr val="231F20"/>
              </a:solidFill>
              <a:effectLst/>
              <a:latin typeface="Helvetica" pitchFamily="2" charset="0"/>
            </a:endParaRPr>
          </a:p>
          <a:p>
            <a:r>
              <a:rPr lang="en-US" i="1" dirty="0">
                <a:solidFill>
                  <a:srgbClr val="231F20"/>
                </a:solidFill>
                <a:effectLst/>
                <a:latin typeface="Helvetica" pitchFamily="2" charset="0"/>
              </a:rPr>
              <a:t>• The other four majors were much harder to get into. Over 90% of the</a:t>
            </a:r>
            <a:r>
              <a:rPr lang="en-US" i="0" dirty="0">
                <a:solidFill>
                  <a:srgbClr val="231F20"/>
                </a:solidFill>
                <a:effectLst/>
                <a:latin typeface="Helvetica" pitchFamily="2" charset="0"/>
              </a:rPr>
              <a:t> </a:t>
            </a:r>
            <a:r>
              <a:rPr lang="en-US" i="1" dirty="0">
                <a:solidFill>
                  <a:srgbClr val="231F20"/>
                </a:solidFill>
                <a:effectLst/>
                <a:latin typeface="Helvetica" pitchFamily="2" charset="0"/>
              </a:rPr>
              <a:t>women applied to these four majors.</a:t>
            </a:r>
            <a:endParaRPr lang="en-US" dirty="0">
              <a:solidFill>
                <a:srgbClr val="231F20"/>
              </a:solidFill>
              <a:effectLst/>
              <a:latin typeface="Helvetica" pitchFamily="2" charset="0"/>
            </a:endParaRPr>
          </a:p>
          <a:p>
            <a:endParaRPr lang="en-US" dirty="0"/>
          </a:p>
        </p:txBody>
      </p:sp>
      <p:sp>
        <p:nvSpPr>
          <p:cNvPr id="4" name="Slide Number Placeholder 3"/>
          <p:cNvSpPr>
            <a:spLocks noGrp="1"/>
          </p:cNvSpPr>
          <p:nvPr>
            <p:ph type="sldNum" sz="quarter" idx="5"/>
          </p:nvPr>
        </p:nvSpPr>
        <p:spPr/>
        <p:txBody>
          <a:bodyPr/>
          <a:lstStyle/>
          <a:p>
            <a:fld id="{23268B9A-8955-EA47-AD98-6734838BB900}" type="slidenum">
              <a:rPr lang="en-US" smtClean="0"/>
              <a:t>70</a:t>
            </a:fld>
            <a:endParaRPr lang="en-US"/>
          </a:p>
        </p:txBody>
      </p:sp>
    </p:spTree>
    <p:extLst>
      <p:ext uri="{BB962C8B-B14F-4D97-AF65-F5344CB8AC3E}">
        <p14:creationId xmlns:p14="http://schemas.microsoft.com/office/powerpoint/2010/main" val="101899525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41A7E-B734-2E0F-9EAE-4731F44598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2B061C-FE2C-CCCD-7661-4D9A502AC1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62B5CC-5051-798A-F4A5-68F67167B2A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7334A4-AA5D-552F-F6D9-F2463F5448D4}"/>
              </a:ext>
            </a:extLst>
          </p:cNvPr>
          <p:cNvSpPr>
            <a:spLocks noGrp="1"/>
          </p:cNvSpPr>
          <p:nvPr>
            <p:ph type="sldNum" sz="quarter" idx="5"/>
          </p:nvPr>
        </p:nvSpPr>
        <p:spPr/>
        <p:txBody>
          <a:bodyPr/>
          <a:lstStyle/>
          <a:p>
            <a:fld id="{23268B9A-8955-EA47-AD98-6734838BB900}" type="slidenum">
              <a:rPr lang="en-US" smtClean="0"/>
              <a:t>74</a:t>
            </a:fld>
            <a:endParaRPr lang="en-US"/>
          </a:p>
        </p:txBody>
      </p:sp>
    </p:spTree>
    <p:extLst>
      <p:ext uri="{BB962C8B-B14F-4D97-AF65-F5344CB8AC3E}">
        <p14:creationId xmlns:p14="http://schemas.microsoft.com/office/powerpoint/2010/main" val="178226752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 Id="rId4" Type="http://schemas.openxmlformats.org/officeDocument/2006/relationships/image" Target="../media/image7.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g"/><Relationship Id="rId1" Type="http://schemas.openxmlformats.org/officeDocument/2006/relationships/slideMaster" Target="../slideMasters/slideMaster1.xml"/><Relationship Id="rId4" Type="http://schemas.openxmlformats.org/officeDocument/2006/relationships/image" Target="../media/image2.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1.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light blue">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896588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 illustration">
    <p:bg>
      <p:bgPr>
        <a:solidFill>
          <a:schemeClr val="tx2"/>
        </a:solidFill>
        <a:effectLst/>
      </p:bgPr>
    </p:bg>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26928" y="3030584"/>
            <a:ext cx="6065072" cy="4020392"/>
          </a:xfrm>
          <a:prstGeom prst="rect">
            <a:avLst/>
          </a:prstGeom>
        </p:spPr>
      </p:pic>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2896811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Title slide + illustration">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11" name="Afbeelding 10"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5" name="Afbeelding 4" descr="Future look.png"/>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195318" y="2513330"/>
            <a:ext cx="4710511" cy="4349289"/>
          </a:xfrm>
          <a:prstGeom prst="rect">
            <a:avLst/>
          </a:prstGeom>
        </p:spPr>
      </p:pic>
      <p:pic>
        <p:nvPicPr>
          <p:cNvPr id="6" name="Picture 5"/>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804477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Title slide light blu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6" descr="UM40_RGB_B_diap.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658525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hoto Randwij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3" y="253136"/>
            <a:ext cx="9836193" cy="2205259"/>
          </a:xfrm>
        </p:spPr>
        <p:txBody>
          <a:bodyPr>
            <a:noAutofit/>
          </a:bodyPr>
          <a:lstStyle>
            <a:lvl1pPr>
              <a:defRPr sz="7200">
                <a:solidFill>
                  <a:srgbClr val="001A3B"/>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001A3B"/>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8985238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1_Title slide photo Randwij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p:nvPr>
        </p:nvSpPr>
        <p:spPr>
          <a:xfrm>
            <a:off x="752783" y="253136"/>
            <a:ext cx="9836193" cy="2205259"/>
          </a:xfrm>
        </p:spPr>
        <p:txBody>
          <a:bodyPr>
            <a:noAutofit/>
          </a:bodyPr>
          <a:lstStyle>
            <a:lvl1pPr>
              <a:defRPr sz="7200">
                <a:solidFill>
                  <a:srgbClr val="001A3B"/>
                </a:solidFill>
              </a:defRPr>
            </a:lvl1pPr>
          </a:lstStyle>
          <a:p>
            <a:r>
              <a:rPr lang="nl-NL" dirty="0"/>
              <a:t>Titelstijl van model bewerken</a:t>
            </a:r>
          </a:p>
        </p:txBody>
      </p:sp>
      <p:sp>
        <p:nvSpPr>
          <p:cNvPr id="3" name="Subtitel 2"/>
          <p:cNvSpPr>
            <a:spLocks noGrp="1"/>
          </p:cNvSpPr>
          <p:nvPr>
            <p:ph type="subTitle" idx="1"/>
          </p:nvPr>
        </p:nvSpPr>
        <p:spPr>
          <a:xfrm>
            <a:off x="752784" y="2439519"/>
            <a:ext cx="5595491" cy="1752600"/>
          </a:xfrm>
        </p:spPr>
        <p:txBody>
          <a:bodyPr/>
          <a:lstStyle>
            <a:lvl1pPr marL="0" indent="0" algn="l">
              <a:buNone/>
              <a:defRPr sz="2667">
                <a:solidFill>
                  <a:srgbClr val="001A3B"/>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6" name="Afbeelding 10" descr="UM40_RGB_B_blauw.png"/>
          <p:cNvPicPr>
            <a:picLocks noChangeAspect="1"/>
          </p:cNvPicPr>
          <p:nvPr userDrawn="1"/>
        </p:nvPicPr>
        <p:blipFill rotWithShape="1">
          <a:blip r:embed="rId3">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3832773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dark blue">
    <p:bg>
      <p:bgPr>
        <a:solidFill>
          <a:schemeClr val="tx1"/>
        </a:solidFill>
        <a:effectLst/>
      </p:bgPr>
    </p:bg>
    <p:spTree>
      <p:nvGrpSpPr>
        <p:cNvPr id="1" name=""/>
        <p:cNvGrpSpPr/>
        <p:nvPr/>
      </p:nvGrpSpPr>
      <p:grpSpPr>
        <a:xfrm>
          <a:off x="0" y="0"/>
          <a:ext cx="0" cy="0"/>
          <a:chOff x="0" y="0"/>
          <a:chExt cx="0" cy="0"/>
        </a:xfrm>
      </p:grpSpPr>
      <p:pic>
        <p:nvPicPr>
          <p:cNvPr id="9" name="Afbeelding 8"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sp>
        <p:nvSpPr>
          <p:cNvPr id="6"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7"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11895722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slide dark blue">
    <p:bg>
      <p:bgPr>
        <a:solidFill>
          <a:schemeClr val="tx1"/>
        </a:solidFill>
        <a:effectLst/>
      </p:bgPr>
    </p:bg>
    <p:spTree>
      <p:nvGrpSpPr>
        <p:cNvPr id="1" name=""/>
        <p:cNvGrpSpPr/>
        <p:nvPr/>
      </p:nvGrpSpPr>
      <p:grpSpPr>
        <a:xfrm>
          <a:off x="0" y="0"/>
          <a:ext cx="0" cy="0"/>
          <a:chOff x="0" y="0"/>
          <a:chExt cx="0" cy="0"/>
        </a:xfrm>
      </p:grpSpPr>
      <p:pic>
        <p:nvPicPr>
          <p:cNvPr id="9" name="Afbeelding 8"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0"/>
            <a:ext cx="2120851" cy="509137"/>
          </a:xfrm>
          <a:prstGeom prst="rect">
            <a:avLst/>
          </a:prstGeom>
        </p:spPr>
      </p:pic>
      <p:sp>
        <p:nvSpPr>
          <p:cNvPr id="6"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7"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pic>
        <p:nvPicPr>
          <p:cNvPr id="8" name="Picture 7"/>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26929" y="3030584"/>
            <a:ext cx="6065071" cy="4020392"/>
          </a:xfrm>
          <a:prstGeom prst="rect">
            <a:avLst/>
          </a:prstGeom>
        </p:spPr>
      </p:pic>
    </p:spTree>
    <p:extLst>
      <p:ext uri="{BB962C8B-B14F-4D97-AF65-F5344CB8AC3E}">
        <p14:creationId xmlns:p14="http://schemas.microsoft.com/office/powerpoint/2010/main" val="27166444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lide orange">
    <p:bg>
      <p:bgPr>
        <a:solidFill>
          <a:schemeClr val="accent1"/>
        </a:solidFill>
        <a:effectLst/>
      </p:bgPr>
    </p:bg>
    <p:spTree>
      <p:nvGrpSpPr>
        <p:cNvPr id="1" name=""/>
        <p:cNvGrpSpPr/>
        <p:nvPr/>
      </p:nvGrpSpPr>
      <p:grpSpPr>
        <a:xfrm>
          <a:off x="0" y="0"/>
          <a:ext cx="0" cy="0"/>
          <a:chOff x="0" y="0"/>
          <a:chExt cx="0" cy="0"/>
        </a:xfrm>
      </p:grpSpPr>
      <p:pic>
        <p:nvPicPr>
          <p:cNvPr id="6" name="Afbeelding 5"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930"/>
          <a:stretch/>
        </p:blipFill>
        <p:spPr>
          <a:xfrm>
            <a:off x="480001" y="6174000"/>
            <a:ext cx="2104645" cy="509137"/>
          </a:xfrm>
          <a:prstGeom prst="rect">
            <a:avLst/>
          </a:prstGeom>
        </p:spPr>
      </p:pic>
      <p:sp>
        <p:nvSpPr>
          <p:cNvPr id="7"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8"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Tree>
    <p:extLst>
      <p:ext uri="{BB962C8B-B14F-4D97-AF65-F5344CB8AC3E}">
        <p14:creationId xmlns:p14="http://schemas.microsoft.com/office/powerpoint/2010/main" val="3281425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slide orange">
    <p:bg>
      <p:bgPr>
        <a:solidFill>
          <a:schemeClr val="accent1"/>
        </a:solidFill>
        <a:effectLst/>
      </p:bgPr>
    </p:bg>
    <p:spTree>
      <p:nvGrpSpPr>
        <p:cNvPr id="1" name=""/>
        <p:cNvGrpSpPr/>
        <p:nvPr/>
      </p:nvGrpSpPr>
      <p:grpSpPr>
        <a:xfrm>
          <a:off x="0" y="0"/>
          <a:ext cx="0" cy="0"/>
          <a:chOff x="0" y="0"/>
          <a:chExt cx="0" cy="0"/>
        </a:xfrm>
      </p:grpSpPr>
      <p:pic>
        <p:nvPicPr>
          <p:cNvPr id="6" name="Afbeelding 5"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0930"/>
          <a:stretch/>
        </p:blipFill>
        <p:spPr>
          <a:xfrm>
            <a:off x="480001" y="6174000"/>
            <a:ext cx="2104645" cy="509137"/>
          </a:xfrm>
          <a:prstGeom prst="rect">
            <a:avLst/>
          </a:prstGeom>
        </p:spPr>
      </p:pic>
      <p:sp>
        <p:nvSpPr>
          <p:cNvPr id="7" name="Titel 1"/>
          <p:cNvSpPr>
            <a:spLocks noGrp="1"/>
          </p:cNvSpPr>
          <p:nvPr>
            <p:ph type="ctrTitle"/>
          </p:nvPr>
        </p:nvSpPr>
        <p:spPr>
          <a:xfrm>
            <a:off x="752784" y="253136"/>
            <a:ext cx="8797789" cy="2205259"/>
          </a:xfrm>
        </p:spPr>
        <p:txBody>
          <a:bodyPr>
            <a:noAutofit/>
          </a:bodyPr>
          <a:lstStyle>
            <a:lvl1pPr>
              <a:defRPr sz="7200">
                <a:solidFill>
                  <a:srgbClr val="FFFFFF"/>
                </a:solidFill>
              </a:defRPr>
            </a:lvl1pPr>
          </a:lstStyle>
          <a:p>
            <a:r>
              <a:rPr lang="nl-NL" dirty="0"/>
              <a:t>Titelstijl van model bewerken</a:t>
            </a:r>
          </a:p>
        </p:txBody>
      </p:sp>
      <p:sp>
        <p:nvSpPr>
          <p:cNvPr id="8" name="Subtitel 2"/>
          <p:cNvSpPr>
            <a:spLocks noGrp="1"/>
          </p:cNvSpPr>
          <p:nvPr>
            <p:ph type="subTitle" idx="1"/>
          </p:nvPr>
        </p:nvSpPr>
        <p:spPr>
          <a:xfrm>
            <a:off x="752784" y="2439519"/>
            <a:ext cx="5595491" cy="1752600"/>
          </a:xfrm>
        </p:spPr>
        <p:txBody>
          <a:bodyPr/>
          <a:lstStyle>
            <a:lvl1pPr marL="0" indent="0" algn="l">
              <a:buNone/>
              <a:defRPr sz="2667">
                <a:solidFill>
                  <a:srgbClr val="FFFFFF"/>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Klik om de titelstijl van het model te bewerken</a:t>
            </a:r>
          </a:p>
        </p:txBody>
      </p:sp>
      <p:pic>
        <p:nvPicPr>
          <p:cNvPr id="5" name="Picture 4"/>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pic>
        <p:nvPicPr>
          <p:cNvPr id="9" name="Picture 8"/>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126928" y="3030584"/>
            <a:ext cx="6065072" cy="4020392"/>
          </a:xfrm>
          <a:prstGeom prst="rect">
            <a:avLst/>
          </a:prstGeom>
        </p:spPr>
      </p:pic>
    </p:spTree>
    <p:extLst>
      <p:ext uri="{BB962C8B-B14F-4D97-AF65-F5344CB8AC3E}">
        <p14:creationId xmlns:p14="http://schemas.microsoft.com/office/powerpoint/2010/main" val="42721854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ext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p>
            <a:fld id="{09B7AD4A-C94A-7B42-9E17-606C7F366C4B}" type="slidenum">
              <a:rPr lang="nl-NL" smtClean="0"/>
              <a:t>‹#›</a:t>
            </a:fld>
            <a:endParaRPr lang="nl-NL"/>
          </a:p>
        </p:txBody>
      </p:sp>
      <p:pic>
        <p:nvPicPr>
          <p:cNvPr id="7" name="Afbeelding 6"/>
          <p:cNvPicPr>
            <a:picLocks noChangeAspect="1"/>
          </p:cNvPicPr>
          <p:nvPr userDrawn="1"/>
        </p:nvPicPr>
        <p:blipFill rotWithShape="1">
          <a:blip r:embed="rId2"/>
          <a:srcRect r="19769"/>
          <a:stretch/>
        </p:blipFill>
        <p:spPr>
          <a:xfrm>
            <a:off x="480001" y="6173621"/>
            <a:ext cx="2137056" cy="506307"/>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9" name="Tijdelijke aanduiding voor datum 3"/>
          <p:cNvSpPr>
            <a:spLocks noGrp="1"/>
          </p:cNvSpPr>
          <p:nvPr>
            <p:ph type="dt" sz="half" idx="10"/>
          </p:nvPr>
        </p:nvSpPr>
        <p:spPr>
          <a:xfrm>
            <a:off x="9781607" y="6314803"/>
            <a:ext cx="1219287" cy="365125"/>
          </a:xfrm>
        </p:spPr>
        <p:txBody>
          <a:bodyPr/>
          <a:lstStyle/>
          <a:p>
            <a:endParaRPr lang="nl-NL" dirty="0"/>
          </a:p>
        </p:txBody>
      </p:sp>
    </p:spTree>
    <p:extLst>
      <p:ext uri="{BB962C8B-B14F-4D97-AF65-F5344CB8AC3E}">
        <p14:creationId xmlns:p14="http://schemas.microsoft.com/office/powerpoint/2010/main" val="38495781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ext slide dark blue">
    <p:bg>
      <p:bgPr>
        <a:solidFill>
          <a:schemeClr val="accent3"/>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lvl1pPr>
              <a:defRPr>
                <a:solidFill>
                  <a:srgbClr val="FFFFFF"/>
                </a:solidFill>
              </a:defRPr>
            </a:lvl1pPr>
          </a:lstStyle>
          <a:p>
            <a:fld id="{09B7AD4A-C94A-7B42-9E17-606C7F366C4B}" type="slidenum">
              <a:rPr lang="nl-NL" smtClean="0"/>
              <a:pPr/>
              <a:t>‹#›</a:t>
            </a:fld>
            <a:endParaRPr lang="nl-NL"/>
          </a:p>
        </p:txBody>
      </p:sp>
      <p:pic>
        <p:nvPicPr>
          <p:cNvPr id="10" name="Afbeelding 9" descr="UM40_RGB_B_diap.png"/>
          <p:cNvPicPr>
            <a:picLocks noChangeAspect="1"/>
          </p:cNvPicPr>
          <p:nvPr userDrawn="1"/>
        </p:nvPicPr>
        <p:blipFill rotWithShape="1">
          <a:blip r:embed="rId2">
            <a:extLst>
              <a:ext uri="{28A0092B-C50C-407E-A947-70E740481C1C}">
                <a14:useLocalDpi xmlns:a14="http://schemas.microsoft.com/office/drawing/2010/main" val="0"/>
              </a:ext>
            </a:extLst>
          </a:blip>
          <a:srcRect r="21235"/>
          <a:stretch/>
        </p:blipFill>
        <p:spPr>
          <a:xfrm>
            <a:off x="480001" y="6174000"/>
            <a:ext cx="2096544" cy="509137"/>
          </a:xfrm>
          <a:prstGeom prst="rect">
            <a:avLst/>
          </a:prstGeom>
        </p:spPr>
      </p:pic>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7" name="Tijdelijke aanduiding voor datum 3"/>
          <p:cNvSpPr>
            <a:spLocks noGrp="1"/>
          </p:cNvSpPr>
          <p:nvPr>
            <p:ph type="dt" sz="half" idx="10"/>
          </p:nvPr>
        </p:nvSpPr>
        <p:spPr>
          <a:xfrm>
            <a:off x="9781607" y="6314803"/>
            <a:ext cx="1219287" cy="365125"/>
          </a:xfrm>
        </p:spPr>
        <p:txBody>
          <a:bodyPr/>
          <a:lstStyle>
            <a:lvl1pPr>
              <a:defRPr>
                <a:solidFill>
                  <a:schemeClr val="bg1"/>
                </a:solidFill>
              </a:defRPr>
            </a:lvl1pPr>
          </a:lstStyle>
          <a:p>
            <a:endParaRPr lang="nl-NL" dirty="0"/>
          </a:p>
        </p:txBody>
      </p:sp>
    </p:spTree>
    <p:extLst>
      <p:ext uri="{BB962C8B-B14F-4D97-AF65-F5344CB8AC3E}">
        <p14:creationId xmlns:p14="http://schemas.microsoft.com/office/powerpoint/2010/main" val="185613710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ext slide light blue">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rgbClr val="FFFFFF"/>
                </a:solidFill>
              </a:defRPr>
            </a:lvl1pPr>
          </a:lstStyle>
          <a:p>
            <a:r>
              <a:rPr lang="nl-NL" dirty="0"/>
              <a:t>Titelstijl van model bewerken</a:t>
            </a:r>
          </a:p>
        </p:txBody>
      </p:sp>
      <p:sp>
        <p:nvSpPr>
          <p:cNvPr id="3" name="Tijdelijke aanduiding voor inhoud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6" name="Tijdelijke aanduiding voor dianummer 5"/>
          <p:cNvSpPr>
            <a:spLocks noGrp="1"/>
          </p:cNvSpPr>
          <p:nvPr>
            <p:ph type="sldNum" sz="quarter" idx="12"/>
          </p:nvPr>
        </p:nvSpPr>
        <p:spPr/>
        <p:txBody>
          <a:bodyPr/>
          <a:lstStyle>
            <a:lvl1pPr>
              <a:defRPr>
                <a:solidFill>
                  <a:srgbClr val="FFFFFF"/>
                </a:solidFill>
              </a:defRPr>
            </a:lvl1pPr>
          </a:lstStyle>
          <a:p>
            <a:fld id="{09B7AD4A-C94A-7B42-9E17-606C7F366C4B}" type="slidenum">
              <a:rPr lang="nl-NL" smtClean="0"/>
              <a:pPr/>
              <a:t>‹#›</a:t>
            </a:fld>
            <a:endParaRPr lang="nl-NL"/>
          </a:p>
        </p:txBody>
      </p:sp>
      <p:pic>
        <p:nvPicPr>
          <p:cNvPr id="10" name="Afbeelding 9" descr="UM40_RGB_B_blauw.png"/>
          <p:cNvPicPr>
            <a:picLocks noChangeAspect="1"/>
          </p:cNvPicPr>
          <p:nvPr userDrawn="1"/>
        </p:nvPicPr>
        <p:blipFill rotWithShape="1">
          <a:blip r:embed="rId2">
            <a:extLst>
              <a:ext uri="{28A0092B-C50C-407E-A947-70E740481C1C}">
                <a14:useLocalDpi xmlns:a14="http://schemas.microsoft.com/office/drawing/2010/main" val="0"/>
              </a:ext>
            </a:extLst>
          </a:blip>
          <a:srcRect r="20321"/>
          <a:stretch/>
        </p:blipFill>
        <p:spPr>
          <a:xfrm>
            <a:off x="480001" y="6174002"/>
            <a:ext cx="2120851" cy="509137"/>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7" name="Tijdelijke aanduiding voor datum 3"/>
          <p:cNvSpPr>
            <a:spLocks noGrp="1"/>
          </p:cNvSpPr>
          <p:nvPr>
            <p:ph type="dt" sz="half" idx="10"/>
          </p:nvPr>
        </p:nvSpPr>
        <p:spPr>
          <a:xfrm>
            <a:off x="9781607" y="6314803"/>
            <a:ext cx="1219287" cy="365125"/>
          </a:xfrm>
        </p:spPr>
        <p:txBody>
          <a:bodyPr/>
          <a:lstStyle>
            <a:lvl1pPr>
              <a:defRPr>
                <a:solidFill>
                  <a:schemeClr val="bg1"/>
                </a:solidFill>
              </a:defRPr>
            </a:lvl1pPr>
          </a:lstStyle>
          <a:p>
            <a:endParaRPr lang="nl-NL" dirty="0"/>
          </a:p>
        </p:txBody>
      </p:sp>
    </p:spTree>
    <p:extLst>
      <p:ext uri="{BB962C8B-B14F-4D97-AF65-F5344CB8AC3E}">
        <p14:creationId xmlns:p14="http://schemas.microsoft.com/office/powerpoint/2010/main" val="34511900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photo slide">
    <p:spTree>
      <p:nvGrpSpPr>
        <p:cNvPr id="1" name=""/>
        <p:cNvGrpSpPr/>
        <p:nvPr/>
      </p:nvGrpSpPr>
      <p:grpSpPr>
        <a:xfrm>
          <a:off x="0" y="0"/>
          <a:ext cx="0" cy="0"/>
          <a:chOff x="0" y="0"/>
          <a:chExt cx="0" cy="0"/>
        </a:xfrm>
      </p:grpSpPr>
      <p:sp>
        <p:nvSpPr>
          <p:cNvPr id="2" name="Titel 1"/>
          <p:cNvSpPr>
            <a:spLocks noGrp="1"/>
          </p:cNvSpPr>
          <p:nvPr>
            <p:ph type="title"/>
          </p:nvPr>
        </p:nvSpPr>
        <p:spPr>
          <a:xfrm>
            <a:off x="480002" y="414261"/>
            <a:ext cx="5246167" cy="1565897"/>
          </a:xfrm>
        </p:spPr>
        <p:txBody>
          <a:bodyPr/>
          <a:lstStyle/>
          <a:p>
            <a:r>
              <a:rPr lang="nl-NL" dirty="0"/>
              <a:t>Titelstijl van model bewerken</a:t>
            </a:r>
          </a:p>
        </p:txBody>
      </p:sp>
      <p:sp>
        <p:nvSpPr>
          <p:cNvPr id="3" name="Tijdelijke aanduiding voor inhoud 2"/>
          <p:cNvSpPr>
            <a:spLocks noGrp="1"/>
          </p:cNvSpPr>
          <p:nvPr>
            <p:ph idx="1"/>
          </p:nvPr>
        </p:nvSpPr>
        <p:spPr>
          <a:xfrm>
            <a:off x="480001" y="1980156"/>
            <a:ext cx="5246165" cy="3810096"/>
          </a:xfrm>
        </p:spPr>
        <p:txBody>
          <a:bodyPr/>
          <a:lstStyle>
            <a:lvl3pPr marL="954592" indent="0">
              <a:buNone/>
              <a:defRPr/>
            </a:lvl3pPr>
          </a:lstStyle>
          <a:p>
            <a:pPr lvl="0"/>
            <a:r>
              <a:rPr lang="nl-NL" dirty="0"/>
              <a:t>Klik om de tekststijl van het model te bewerken</a:t>
            </a:r>
          </a:p>
          <a:p>
            <a:pPr lvl="1"/>
            <a:r>
              <a:rPr lang="nl-NL" dirty="0"/>
              <a:t>Tweede niveau</a:t>
            </a:r>
          </a:p>
        </p:txBody>
      </p:sp>
      <p:sp>
        <p:nvSpPr>
          <p:cNvPr id="4" name="Tijdelijke aanduiding voor datum 3"/>
          <p:cNvSpPr>
            <a:spLocks noGrp="1"/>
          </p:cNvSpPr>
          <p:nvPr>
            <p:ph type="dt" sz="half" idx="10"/>
          </p:nvPr>
        </p:nvSpPr>
        <p:spPr>
          <a:xfrm>
            <a:off x="6126724" y="6318628"/>
            <a:ext cx="734312" cy="365125"/>
          </a:xfrm>
        </p:spPr>
        <p:txBody>
          <a:bodyPr/>
          <a:lstStyle/>
          <a:p>
            <a:endParaRPr lang="nl-NL"/>
          </a:p>
        </p:txBody>
      </p:sp>
      <p:sp>
        <p:nvSpPr>
          <p:cNvPr id="5" name="Tijdelijke aanduiding voor voettekst 4"/>
          <p:cNvSpPr>
            <a:spLocks noGrp="1"/>
          </p:cNvSpPr>
          <p:nvPr>
            <p:ph type="ftr" sz="quarter" idx="11"/>
          </p:nvPr>
        </p:nvSpPr>
        <p:spPr>
          <a:xfrm>
            <a:off x="6327003" y="6318628"/>
            <a:ext cx="4599935" cy="365125"/>
          </a:xfrm>
        </p:spPr>
        <p:txBody>
          <a:bodyPr/>
          <a:lstStyle/>
          <a:p>
            <a:endParaRPr lang="nl-NL"/>
          </a:p>
        </p:txBody>
      </p:sp>
      <p:sp>
        <p:nvSpPr>
          <p:cNvPr id="6" name="Tijdelijke aanduiding voor dianummer 5"/>
          <p:cNvSpPr>
            <a:spLocks noGrp="1"/>
          </p:cNvSpPr>
          <p:nvPr>
            <p:ph type="sldNum" sz="quarter" idx="12"/>
          </p:nvPr>
        </p:nvSpPr>
        <p:spPr>
          <a:xfrm>
            <a:off x="10926941" y="6318400"/>
            <a:ext cx="759969" cy="365125"/>
          </a:xfrm>
        </p:spPr>
        <p:txBody>
          <a:bodyPr/>
          <a:lstStyle/>
          <a:p>
            <a:fld id="{09B7AD4A-C94A-7B42-9E17-606C7F366C4B}" type="slidenum">
              <a:rPr lang="nl-NL" smtClean="0"/>
              <a:t>‹#›</a:t>
            </a:fld>
            <a:endParaRPr lang="nl-NL"/>
          </a:p>
        </p:txBody>
      </p:sp>
      <p:sp>
        <p:nvSpPr>
          <p:cNvPr id="8" name="Tijdelijke aanduiding voor afbeelding 7"/>
          <p:cNvSpPr>
            <a:spLocks noGrp="1"/>
          </p:cNvSpPr>
          <p:nvPr>
            <p:ph type="pic" sz="quarter" idx="13"/>
          </p:nvPr>
        </p:nvSpPr>
        <p:spPr>
          <a:xfrm>
            <a:off x="6126726" y="0"/>
            <a:ext cx="6065276" cy="6858000"/>
          </a:xfrm>
          <a:solidFill>
            <a:schemeClr val="bg1">
              <a:lumMod val="85000"/>
            </a:schemeClr>
          </a:solidFill>
        </p:spPr>
        <p:txBody>
          <a:bodyPr/>
          <a:lstStyle/>
          <a:p>
            <a:endParaRPr lang="nl-NL"/>
          </a:p>
        </p:txBody>
      </p:sp>
      <p:pic>
        <p:nvPicPr>
          <p:cNvPr id="9" name="Afbeelding 8"/>
          <p:cNvPicPr>
            <a:picLocks noChangeAspect="1"/>
          </p:cNvPicPr>
          <p:nvPr userDrawn="1"/>
        </p:nvPicPr>
        <p:blipFill rotWithShape="1">
          <a:blip r:embed="rId2"/>
          <a:srcRect r="19769"/>
          <a:stretch/>
        </p:blipFill>
        <p:spPr>
          <a:xfrm>
            <a:off x="480001" y="6173621"/>
            <a:ext cx="2137056" cy="506307"/>
          </a:xfrm>
          <a:prstGeom prst="rect">
            <a:avLst/>
          </a:prstGeom>
        </p:spPr>
      </p:pic>
    </p:spTree>
    <p:extLst>
      <p:ext uri="{BB962C8B-B14F-4D97-AF65-F5344CB8AC3E}">
        <p14:creationId xmlns:p14="http://schemas.microsoft.com/office/powerpoint/2010/main" val="15481480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Photo slide">
    <p:bg>
      <p:bgPr>
        <a:solidFill>
          <a:schemeClr val="bg1"/>
        </a:solidFill>
        <a:effectLst/>
      </p:bgPr>
    </p:bg>
    <p:spTree>
      <p:nvGrpSpPr>
        <p:cNvPr id="1" name=""/>
        <p:cNvGrpSpPr/>
        <p:nvPr/>
      </p:nvGrpSpPr>
      <p:grpSpPr>
        <a:xfrm>
          <a:off x="0" y="0"/>
          <a:ext cx="0" cy="0"/>
          <a:chOff x="0" y="0"/>
          <a:chExt cx="0" cy="0"/>
        </a:xfrm>
      </p:grpSpPr>
      <p:sp>
        <p:nvSpPr>
          <p:cNvPr id="9" name="Tijdelijke aanduiding voor afbeelding 8"/>
          <p:cNvSpPr>
            <a:spLocks noGrp="1"/>
          </p:cNvSpPr>
          <p:nvPr>
            <p:ph type="pic" sz="quarter" idx="13"/>
          </p:nvPr>
        </p:nvSpPr>
        <p:spPr>
          <a:xfrm>
            <a:off x="0" y="0"/>
            <a:ext cx="12192000" cy="6858000"/>
          </a:xfrm>
          <a:solidFill>
            <a:schemeClr val="bg2">
              <a:lumMod val="85000"/>
            </a:schemeClr>
          </a:solidFill>
        </p:spPr>
        <p:txBody>
          <a:bodyPr/>
          <a:lstStyle/>
          <a:p>
            <a:endParaRPr lang="nl-NL" dirty="0"/>
          </a:p>
        </p:txBody>
      </p:sp>
      <p:sp>
        <p:nvSpPr>
          <p:cNvPr id="5" name="Tijdelijke aanduiding voor dianummer 4"/>
          <p:cNvSpPr>
            <a:spLocks noGrp="1"/>
          </p:cNvSpPr>
          <p:nvPr>
            <p:ph type="sldNum" sz="quarter" idx="12"/>
          </p:nvPr>
        </p:nvSpPr>
        <p:spPr/>
        <p:txBody>
          <a:bodyPr/>
          <a:lstStyle/>
          <a:p>
            <a:fld id="{09B7AD4A-C94A-7B42-9E17-606C7F366C4B}" type="slidenum">
              <a:rPr lang="nl-NL" smtClean="0"/>
              <a:pPr/>
              <a:t>‹#›</a:t>
            </a:fld>
            <a:endParaRPr lang="nl-NL" dirty="0"/>
          </a:p>
        </p:txBody>
      </p:sp>
      <p:sp>
        <p:nvSpPr>
          <p:cNvPr id="11" name="Tijdelijke aanduiding voor tekst 6">
            <a:extLst>
              <a:ext uri="{FF2B5EF4-FFF2-40B4-BE49-F238E27FC236}">
                <a16:creationId xmlns:a16="http://schemas.microsoft.com/office/drawing/2014/main" id="{65C5AF04-DC40-0847-A150-8AD1FF13551E}"/>
              </a:ext>
            </a:extLst>
          </p:cNvPr>
          <p:cNvSpPr>
            <a:spLocks noGrp="1"/>
          </p:cNvSpPr>
          <p:nvPr>
            <p:ph type="body" sz="quarter" idx="15" hasCustomPrompt="1"/>
          </p:nvPr>
        </p:nvSpPr>
        <p:spPr>
          <a:xfrm>
            <a:off x="478267" y="6249250"/>
            <a:ext cx="2044800" cy="311151"/>
          </a:xfrm>
          <a:blipFill>
            <a:blip r:embed="rId2"/>
            <a:stretch>
              <a:fillRect/>
            </a:stretch>
          </a:blipFill>
        </p:spPr>
        <p:txBody>
          <a:bodyPr/>
          <a:lstStyle>
            <a:lvl1pPr marL="0" indent="0" algn="ctr">
              <a:buNone/>
              <a:defRPr sz="1067"/>
            </a:lvl1pPr>
            <a:lvl2pPr marL="478355" indent="0">
              <a:buNone/>
              <a:defRPr sz="1067"/>
            </a:lvl2pPr>
            <a:lvl3pPr marL="954592" indent="0">
              <a:buNone/>
              <a:defRPr sz="1067"/>
            </a:lvl3pPr>
            <a:lvl4pPr marL="1432948" indent="0">
              <a:buNone/>
              <a:defRPr sz="1067"/>
            </a:lvl4pPr>
            <a:lvl5pPr marL="1911302" indent="0">
              <a:buNone/>
              <a:defRPr sz="1067"/>
            </a:lvl5pPr>
          </a:lstStyle>
          <a:p>
            <a:pPr lvl="0"/>
            <a:r>
              <a:rPr lang="nl-NL" dirty="0"/>
              <a:t>  </a:t>
            </a:r>
          </a:p>
        </p:txBody>
      </p:sp>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6" name="Tijdelijke aanduiding voor datum 3"/>
          <p:cNvSpPr>
            <a:spLocks noGrp="1"/>
          </p:cNvSpPr>
          <p:nvPr>
            <p:ph type="dt" sz="half" idx="10"/>
          </p:nvPr>
        </p:nvSpPr>
        <p:spPr>
          <a:xfrm>
            <a:off x="9781607" y="6314803"/>
            <a:ext cx="1219287" cy="365125"/>
          </a:xfrm>
        </p:spPr>
        <p:txBody>
          <a:bodyPr/>
          <a:lstStyle>
            <a:lvl1pPr>
              <a:defRPr>
                <a:solidFill>
                  <a:schemeClr val="tx1"/>
                </a:solidFill>
              </a:defRPr>
            </a:lvl1pPr>
          </a:lstStyle>
          <a:p>
            <a:endParaRPr lang="nl-NL" dirty="0"/>
          </a:p>
        </p:txBody>
      </p:sp>
    </p:spTree>
    <p:extLst>
      <p:ext uri="{BB962C8B-B14F-4D97-AF65-F5344CB8AC3E}">
        <p14:creationId xmlns:p14="http://schemas.microsoft.com/office/powerpoint/2010/main" val="11114276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Titelstijl van model bewerken</a:t>
            </a:r>
          </a:p>
        </p:txBody>
      </p:sp>
      <p:sp>
        <p:nvSpPr>
          <p:cNvPr id="5" name="Tijdelijke aanduiding voor dianummer 4"/>
          <p:cNvSpPr>
            <a:spLocks noGrp="1"/>
          </p:cNvSpPr>
          <p:nvPr>
            <p:ph type="sldNum" sz="quarter" idx="12"/>
          </p:nvPr>
        </p:nvSpPr>
        <p:spPr/>
        <p:txBody>
          <a:bodyPr/>
          <a:lstStyle/>
          <a:p>
            <a:fld id="{09B7AD4A-C94A-7B42-9E17-606C7F366C4B}" type="slidenum">
              <a:rPr lang="nl-NL" smtClean="0"/>
              <a:t>‹#›</a:t>
            </a:fld>
            <a:endParaRPr lang="nl-NL"/>
          </a:p>
        </p:txBody>
      </p:sp>
      <p:sp>
        <p:nvSpPr>
          <p:cNvPr id="7" name="Tijdelijke aanduiding voor tabel 6"/>
          <p:cNvSpPr>
            <a:spLocks noGrp="1"/>
          </p:cNvSpPr>
          <p:nvPr>
            <p:ph type="tbl" sz="quarter" idx="13"/>
          </p:nvPr>
        </p:nvSpPr>
        <p:spPr>
          <a:xfrm>
            <a:off x="480486" y="1296001"/>
            <a:ext cx="11101916" cy="4309231"/>
          </a:xfrm>
        </p:spPr>
        <p:txBody>
          <a:bodyPr/>
          <a:lstStyle/>
          <a:p>
            <a:endParaRPr lang="nl-NL"/>
          </a:p>
        </p:txBody>
      </p:sp>
      <p:pic>
        <p:nvPicPr>
          <p:cNvPr id="8" name="Afbeelding 7"/>
          <p:cNvPicPr>
            <a:picLocks noChangeAspect="1"/>
          </p:cNvPicPr>
          <p:nvPr userDrawn="1"/>
        </p:nvPicPr>
        <p:blipFill rotWithShape="1">
          <a:blip r:embed="rId2"/>
          <a:srcRect r="19769"/>
          <a:stretch/>
        </p:blipFill>
        <p:spPr>
          <a:xfrm>
            <a:off x="480001" y="6173621"/>
            <a:ext cx="2137056" cy="506307"/>
          </a:xfrm>
          <a:prstGeom prst="rect">
            <a:avLst/>
          </a:prstGeom>
        </p:spPr>
      </p:pic>
      <p:pic>
        <p:nvPicPr>
          <p:cNvPr id="9" name="Picture 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698661" y="6333298"/>
            <a:ext cx="3888000" cy="190537"/>
          </a:xfrm>
          <a:prstGeom prst="rect">
            <a:avLst/>
          </a:prstGeom>
        </p:spPr>
      </p:pic>
      <p:sp>
        <p:nvSpPr>
          <p:cNvPr id="10" name="Tijdelijke aanduiding voor datum 3"/>
          <p:cNvSpPr>
            <a:spLocks noGrp="1"/>
          </p:cNvSpPr>
          <p:nvPr>
            <p:ph type="dt" sz="half" idx="10"/>
          </p:nvPr>
        </p:nvSpPr>
        <p:spPr>
          <a:xfrm>
            <a:off x="9781607" y="6314803"/>
            <a:ext cx="1219287" cy="365125"/>
          </a:xfrm>
        </p:spPr>
        <p:txBody>
          <a:bodyPr/>
          <a:lstStyle/>
          <a:p>
            <a:endParaRPr lang="nl-NL" dirty="0"/>
          </a:p>
        </p:txBody>
      </p:sp>
    </p:spTree>
    <p:extLst>
      <p:ext uri="{BB962C8B-B14F-4D97-AF65-F5344CB8AC3E}">
        <p14:creationId xmlns:p14="http://schemas.microsoft.com/office/powerpoint/2010/main" val="14038322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480001" y="414260"/>
            <a:ext cx="11102399" cy="756000"/>
          </a:xfrm>
          <a:prstGeom prst="rect">
            <a:avLst/>
          </a:prstGeom>
        </p:spPr>
        <p:txBody>
          <a:bodyPr vert="horz" lIns="0" tIns="0" rIns="0" bIns="0" rtlCol="0" anchor="t" anchorCtr="0">
            <a:normAutofit/>
          </a:bodyPr>
          <a:lstStyle/>
          <a:p>
            <a:r>
              <a:rPr lang="nl-NL" dirty="0"/>
              <a:t>Titelstijl van model bewerken</a:t>
            </a:r>
          </a:p>
        </p:txBody>
      </p:sp>
      <p:sp>
        <p:nvSpPr>
          <p:cNvPr id="3" name="Tijdelijke aanduiding voor tekst 2"/>
          <p:cNvSpPr>
            <a:spLocks noGrp="1"/>
          </p:cNvSpPr>
          <p:nvPr>
            <p:ph type="body" idx="1"/>
          </p:nvPr>
        </p:nvSpPr>
        <p:spPr>
          <a:xfrm>
            <a:off x="480001" y="1296000"/>
            <a:ext cx="11102399" cy="4445149"/>
          </a:xfrm>
          <a:prstGeom prst="rect">
            <a:avLst/>
          </a:prstGeom>
        </p:spPr>
        <p:txBody>
          <a:bodyPr vert="horz" lIns="0" tIns="0" rIns="0" bIns="0" rtlCol="0">
            <a:noAutofit/>
          </a:bodyPr>
          <a:lstStyle/>
          <a:p>
            <a:pPr lvl="0"/>
            <a:r>
              <a:rPr lang="nl-NL" dirty="0"/>
              <a:t>Klik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p>
        </p:txBody>
      </p:sp>
      <p:sp>
        <p:nvSpPr>
          <p:cNvPr id="4" name="Tijdelijke aanduiding voor datum 3"/>
          <p:cNvSpPr>
            <a:spLocks noGrp="1"/>
          </p:cNvSpPr>
          <p:nvPr>
            <p:ph type="dt" sz="half" idx="2"/>
          </p:nvPr>
        </p:nvSpPr>
        <p:spPr>
          <a:xfrm>
            <a:off x="4312625" y="6318628"/>
            <a:ext cx="1219287" cy="365125"/>
          </a:xfrm>
          <a:prstGeom prst="rect">
            <a:avLst/>
          </a:prstGeom>
        </p:spPr>
        <p:txBody>
          <a:bodyPr vert="horz" lIns="0" tIns="0" rIns="0" bIns="0" rtlCol="0" anchor="t" anchorCtr="0"/>
          <a:lstStyle>
            <a:lvl1pPr algn="r">
              <a:defRPr sz="1333">
                <a:solidFill>
                  <a:schemeClr val="tx1"/>
                </a:solidFill>
                <a:latin typeface="+mj-lt"/>
                <a:cs typeface="Verdana"/>
              </a:defRPr>
            </a:lvl1pPr>
          </a:lstStyle>
          <a:p>
            <a:endParaRPr lang="nl-NL" dirty="0"/>
          </a:p>
        </p:txBody>
      </p:sp>
      <p:sp>
        <p:nvSpPr>
          <p:cNvPr id="5" name="Tijdelijke aanduiding voor voettekst 4"/>
          <p:cNvSpPr>
            <a:spLocks noGrp="1"/>
          </p:cNvSpPr>
          <p:nvPr>
            <p:ph type="ftr" sz="quarter" idx="3"/>
          </p:nvPr>
        </p:nvSpPr>
        <p:spPr>
          <a:xfrm>
            <a:off x="5697661" y="6318628"/>
            <a:ext cx="5303544" cy="365125"/>
          </a:xfrm>
          <a:prstGeom prst="rect">
            <a:avLst/>
          </a:prstGeom>
        </p:spPr>
        <p:txBody>
          <a:bodyPr vert="horz" lIns="0" tIns="0" rIns="0" bIns="0" rtlCol="0" anchor="t" anchorCtr="0"/>
          <a:lstStyle>
            <a:lvl1pPr algn="r">
              <a:defRPr sz="1333">
                <a:solidFill>
                  <a:schemeClr val="tx1"/>
                </a:solidFill>
                <a:latin typeface="+mn-lt"/>
                <a:cs typeface="Verdana"/>
              </a:defRPr>
            </a:lvl1pPr>
          </a:lstStyle>
          <a:p>
            <a:endParaRPr lang="nl-NL" dirty="0"/>
          </a:p>
        </p:txBody>
      </p:sp>
      <p:sp>
        <p:nvSpPr>
          <p:cNvPr id="6" name="Tijdelijke aanduiding voor dianummer 5"/>
          <p:cNvSpPr>
            <a:spLocks noGrp="1"/>
          </p:cNvSpPr>
          <p:nvPr>
            <p:ph type="sldNum" sz="quarter" idx="4"/>
          </p:nvPr>
        </p:nvSpPr>
        <p:spPr>
          <a:xfrm>
            <a:off x="11088190" y="6318400"/>
            <a:ext cx="494209" cy="365125"/>
          </a:xfrm>
          <a:prstGeom prst="rect">
            <a:avLst/>
          </a:prstGeom>
        </p:spPr>
        <p:txBody>
          <a:bodyPr vert="horz" lIns="0" tIns="0" rIns="0" bIns="0" rtlCol="0" anchor="t" anchorCtr="0"/>
          <a:lstStyle>
            <a:lvl1pPr algn="r">
              <a:defRPr sz="1333">
                <a:solidFill>
                  <a:schemeClr val="tx1"/>
                </a:solidFill>
                <a:latin typeface="+mn-lt"/>
                <a:cs typeface="Verdana"/>
              </a:defRPr>
            </a:lvl1pPr>
          </a:lstStyle>
          <a:p>
            <a:fld id="{09B7AD4A-C94A-7B42-9E17-606C7F366C4B}" type="slidenum">
              <a:rPr lang="nl-NL" smtClean="0"/>
              <a:pPr/>
              <a:t>‹#›</a:t>
            </a:fld>
            <a:endParaRPr lang="nl-NL" dirty="0"/>
          </a:p>
        </p:txBody>
      </p:sp>
    </p:spTree>
    <p:extLst>
      <p:ext uri="{BB962C8B-B14F-4D97-AF65-F5344CB8AC3E}">
        <p14:creationId xmlns:p14="http://schemas.microsoft.com/office/powerpoint/2010/main" val="5403393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hf sldNum="0" hdr="0" ftr="0" dt="0"/>
  <p:txStyles>
    <p:titleStyle>
      <a:lvl1pPr algn="l" defTabSz="609585" rtl="0" eaLnBrk="1" latinLnBrk="0" hangingPunct="1">
        <a:spcBef>
          <a:spcPct val="0"/>
        </a:spcBef>
        <a:buNone/>
        <a:defRPr sz="4267" b="1" kern="1200">
          <a:solidFill>
            <a:schemeClr val="tx2"/>
          </a:solidFill>
          <a:latin typeface="+mj-lt"/>
          <a:ea typeface="+mj-ea"/>
          <a:cs typeface="Verdana"/>
        </a:defRPr>
      </a:lvl1pPr>
    </p:titleStyle>
    <p:body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14.svg"/><Relationship Id="rId7" Type="http://schemas.openxmlformats.org/officeDocument/2006/relationships/image" Target="../media/image18.svg"/><Relationship Id="rId2" Type="http://schemas.openxmlformats.org/officeDocument/2006/relationships/image" Target="../media/image13.svg"/><Relationship Id="rId1" Type="http://schemas.openxmlformats.org/officeDocument/2006/relationships/slideLayout" Target="../slideLayouts/slideLayout11.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3.xml.rels><?xml version="1.0" encoding="UTF-8" standalone="yes"?>
<Relationships xmlns="http://schemas.openxmlformats.org/package/2006/relationships"><Relationship Id="rId8" Type="http://schemas.openxmlformats.org/officeDocument/2006/relationships/image" Target="../media/image19.svg"/><Relationship Id="rId13" Type="http://schemas.openxmlformats.org/officeDocument/2006/relationships/image" Target="../media/image24.svg"/><Relationship Id="rId3" Type="http://schemas.openxmlformats.org/officeDocument/2006/relationships/image" Target="../media/image14.svg"/><Relationship Id="rId7" Type="http://schemas.openxmlformats.org/officeDocument/2006/relationships/image" Target="../media/image18.svg"/><Relationship Id="rId12" Type="http://schemas.openxmlformats.org/officeDocument/2006/relationships/image" Target="../media/image23.svg"/><Relationship Id="rId2" Type="http://schemas.openxmlformats.org/officeDocument/2006/relationships/image" Target="../media/image13.svg"/><Relationship Id="rId1" Type="http://schemas.openxmlformats.org/officeDocument/2006/relationships/slideLayout" Target="../slideLayouts/slideLayout11.xml"/><Relationship Id="rId6" Type="http://schemas.openxmlformats.org/officeDocument/2006/relationships/image" Target="../media/image17.sv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svg"/><Relationship Id="rId4" Type="http://schemas.openxmlformats.org/officeDocument/2006/relationships/image" Target="../media/image15.svg"/><Relationship Id="rId9" Type="http://schemas.openxmlformats.org/officeDocument/2006/relationships/image" Target="../media/image20.svg"/></Relationships>
</file>

<file path=ppt/slides/_rels/slide4.xml.rels><?xml version="1.0" encoding="UTF-8" standalone="yes"?>
<Relationships xmlns="http://schemas.openxmlformats.org/package/2006/relationships"><Relationship Id="rId8" Type="http://schemas.openxmlformats.org/officeDocument/2006/relationships/image" Target="../media/image31.svg"/><Relationship Id="rId13" Type="http://schemas.openxmlformats.org/officeDocument/2006/relationships/image" Target="../media/image36.svg"/><Relationship Id="rId3" Type="http://schemas.openxmlformats.org/officeDocument/2006/relationships/image" Target="../media/image26.svg"/><Relationship Id="rId7" Type="http://schemas.openxmlformats.org/officeDocument/2006/relationships/image" Target="../media/image30.svg"/><Relationship Id="rId12" Type="http://schemas.openxmlformats.org/officeDocument/2006/relationships/image" Target="../media/image35.svg"/><Relationship Id="rId2" Type="http://schemas.openxmlformats.org/officeDocument/2006/relationships/image" Target="../media/image25.svg"/><Relationship Id="rId1" Type="http://schemas.openxmlformats.org/officeDocument/2006/relationships/slideLayout" Target="../slideLayouts/slideLayout11.xml"/><Relationship Id="rId6" Type="http://schemas.openxmlformats.org/officeDocument/2006/relationships/image" Target="../media/image29.svg"/><Relationship Id="rId11" Type="http://schemas.openxmlformats.org/officeDocument/2006/relationships/image" Target="../media/image34.svg"/><Relationship Id="rId5" Type="http://schemas.openxmlformats.org/officeDocument/2006/relationships/image" Target="../media/image28.sv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svg"/></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11.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4.xml"/><Relationship Id="rId1" Type="http://schemas.openxmlformats.org/officeDocument/2006/relationships/slideLayout" Target="../slideLayouts/slideLayout11.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5.xml"/><Relationship Id="rId1" Type="http://schemas.openxmlformats.org/officeDocument/2006/relationships/slideLayout" Target="../slideLayouts/slideLayout11.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hyperlink" Target="http://www.tylervigen.com/spurious/correlation/5920_per-capita-consumption-of-margarine_correlates-with_the-divorce-rate-in-maine" TargetMode="External"/><Relationship Id="rId1" Type="http://schemas.openxmlformats.org/officeDocument/2006/relationships/slideLayout" Target="../slideLayouts/slideLayout11.xml"/><Relationship Id="rId4" Type="http://schemas.openxmlformats.org/officeDocument/2006/relationships/image" Target="../media/image4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4.png"/><Relationship Id="rId1" Type="http://schemas.openxmlformats.org/officeDocument/2006/relationships/slideLayout" Target="../slideLayouts/slideLayout11.xml"/><Relationship Id="rId4" Type="http://schemas.openxmlformats.org/officeDocument/2006/relationships/image" Target="../media/image41.png"/></Relationships>
</file>

<file path=ppt/slides/_rels/slide2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www.guessthecorrelation.com/" TargetMode="External"/><Relationship Id="rId1" Type="http://schemas.openxmlformats.org/officeDocument/2006/relationships/slideLayout" Target="../slideLayouts/slideLayout11.xml"/><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hyperlink" Target="https://www.guessthecorrelation.com/" TargetMode="External"/><Relationship Id="rId1" Type="http://schemas.openxmlformats.org/officeDocument/2006/relationships/slideLayout" Target="../slideLayouts/slideLayout11.xml"/><Relationship Id="rId4" Type="http://schemas.openxmlformats.org/officeDocument/2006/relationships/image" Target="../media/image47.png"/></Relationships>
</file>

<file path=ppt/slides/_rels/slide3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1.xml"/><Relationship Id="rId4" Type="http://schemas.openxmlformats.org/officeDocument/2006/relationships/image" Target="../media/image51.png"/></Relationships>
</file>

<file path=ppt/slides/_rels/slide3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1.xm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notesSlide" Target="../notesSlides/notesSlide11.xml"/><Relationship Id="rId1" Type="http://schemas.openxmlformats.org/officeDocument/2006/relationships/slideLayout" Target="../slideLayouts/slideLayout11.xml"/><Relationship Id="rId4" Type="http://schemas.openxmlformats.org/officeDocument/2006/relationships/image" Target="../media/image55.sv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svg"/><Relationship Id="rId1" Type="http://schemas.openxmlformats.org/officeDocument/2006/relationships/slideLayout" Target="../slideLayouts/slideLayout11.xml"/><Relationship Id="rId4" Type="http://schemas.openxmlformats.org/officeDocument/2006/relationships/image" Target="../media/image56.svg"/></Relationships>
</file>

<file path=ppt/slides/_rels/slide43.xml.rels><?xml version="1.0" encoding="UTF-8" standalone="yes"?>
<Relationships xmlns="http://schemas.openxmlformats.org/package/2006/relationships"><Relationship Id="rId8" Type="http://schemas.openxmlformats.org/officeDocument/2006/relationships/image" Target="../media/image62.svg"/><Relationship Id="rId13" Type="http://schemas.openxmlformats.org/officeDocument/2006/relationships/image" Target="../media/image67.svg"/><Relationship Id="rId3" Type="http://schemas.openxmlformats.org/officeDocument/2006/relationships/image" Target="../media/image57.svg"/><Relationship Id="rId7" Type="http://schemas.openxmlformats.org/officeDocument/2006/relationships/image" Target="../media/image61.svg"/><Relationship Id="rId12" Type="http://schemas.openxmlformats.org/officeDocument/2006/relationships/image" Target="../media/image66.svg"/><Relationship Id="rId2" Type="http://schemas.openxmlformats.org/officeDocument/2006/relationships/notesSlide" Target="../notesSlides/notesSlide13.xml"/><Relationship Id="rId16" Type="http://schemas.openxmlformats.org/officeDocument/2006/relationships/image" Target="../media/image70.svg"/><Relationship Id="rId1" Type="http://schemas.openxmlformats.org/officeDocument/2006/relationships/slideLayout" Target="../slideLayouts/slideLayout11.xml"/><Relationship Id="rId6" Type="http://schemas.openxmlformats.org/officeDocument/2006/relationships/image" Target="../media/image60.svg"/><Relationship Id="rId11" Type="http://schemas.openxmlformats.org/officeDocument/2006/relationships/image" Target="../media/image65.svg"/><Relationship Id="rId5" Type="http://schemas.openxmlformats.org/officeDocument/2006/relationships/image" Target="../media/image59.svg"/><Relationship Id="rId15" Type="http://schemas.openxmlformats.org/officeDocument/2006/relationships/image" Target="../media/image69.svg"/><Relationship Id="rId10" Type="http://schemas.openxmlformats.org/officeDocument/2006/relationships/image" Target="../media/image64.svg"/><Relationship Id="rId4" Type="http://schemas.openxmlformats.org/officeDocument/2006/relationships/image" Target="../media/image58.svg"/><Relationship Id="rId9" Type="http://schemas.openxmlformats.org/officeDocument/2006/relationships/image" Target="../media/image63.svg"/><Relationship Id="rId14" Type="http://schemas.openxmlformats.org/officeDocument/2006/relationships/image" Target="../media/image68.svg"/></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8" Type="http://schemas.openxmlformats.org/officeDocument/2006/relationships/image" Target="../media/image76.svg"/><Relationship Id="rId3" Type="http://schemas.openxmlformats.org/officeDocument/2006/relationships/image" Target="../media/image71.svg"/><Relationship Id="rId7" Type="http://schemas.openxmlformats.org/officeDocument/2006/relationships/image" Target="../media/image75.svg"/><Relationship Id="rId2" Type="http://schemas.openxmlformats.org/officeDocument/2006/relationships/notesSlide" Target="../notesSlides/notesSlide19.xml"/><Relationship Id="rId1" Type="http://schemas.openxmlformats.org/officeDocument/2006/relationships/slideLayout" Target="../slideLayouts/slideLayout11.xml"/><Relationship Id="rId6" Type="http://schemas.openxmlformats.org/officeDocument/2006/relationships/image" Target="../media/image74.svg"/><Relationship Id="rId5" Type="http://schemas.openxmlformats.org/officeDocument/2006/relationships/image" Target="../media/image73.svg"/><Relationship Id="rId4" Type="http://schemas.openxmlformats.org/officeDocument/2006/relationships/image" Target="../media/image72.svg"/></Relationships>
</file>

<file path=ppt/slides/_rels/slide51.xml.rels><?xml version="1.0" encoding="UTF-8" standalone="yes"?>
<Relationships xmlns="http://schemas.openxmlformats.org/package/2006/relationships"><Relationship Id="rId8" Type="http://schemas.openxmlformats.org/officeDocument/2006/relationships/image" Target="../media/image81.svg"/><Relationship Id="rId13" Type="http://schemas.openxmlformats.org/officeDocument/2006/relationships/image" Target="../media/image65.svg"/><Relationship Id="rId3" Type="http://schemas.openxmlformats.org/officeDocument/2006/relationships/image" Target="../media/image69.svg"/><Relationship Id="rId7" Type="http://schemas.openxmlformats.org/officeDocument/2006/relationships/image" Target="../media/image80.svg"/><Relationship Id="rId12" Type="http://schemas.openxmlformats.org/officeDocument/2006/relationships/image" Target="../media/image64.svg"/><Relationship Id="rId2" Type="http://schemas.openxmlformats.org/officeDocument/2006/relationships/notesSlide" Target="../notesSlides/notesSlide20.xml"/><Relationship Id="rId16" Type="http://schemas.openxmlformats.org/officeDocument/2006/relationships/image" Target="../media/image68.svg"/><Relationship Id="rId1" Type="http://schemas.openxmlformats.org/officeDocument/2006/relationships/slideLayout" Target="../slideLayouts/slideLayout11.xml"/><Relationship Id="rId6" Type="http://schemas.openxmlformats.org/officeDocument/2006/relationships/image" Target="../media/image79.svg"/><Relationship Id="rId11" Type="http://schemas.openxmlformats.org/officeDocument/2006/relationships/image" Target="../media/image63.svg"/><Relationship Id="rId5" Type="http://schemas.openxmlformats.org/officeDocument/2006/relationships/image" Target="../media/image78.svg"/><Relationship Id="rId15" Type="http://schemas.openxmlformats.org/officeDocument/2006/relationships/image" Target="../media/image67.svg"/><Relationship Id="rId10" Type="http://schemas.openxmlformats.org/officeDocument/2006/relationships/image" Target="../media/image83.svg"/><Relationship Id="rId4" Type="http://schemas.openxmlformats.org/officeDocument/2006/relationships/image" Target="../media/image77.svg"/><Relationship Id="rId9" Type="http://schemas.openxmlformats.org/officeDocument/2006/relationships/image" Target="../media/image82.svg"/><Relationship Id="rId14" Type="http://schemas.openxmlformats.org/officeDocument/2006/relationships/image" Target="../media/image66.svg"/></Relationships>
</file>

<file path=ppt/slides/_rels/slide52.xml.rels><?xml version="1.0" encoding="UTF-8" standalone="yes"?>
<Relationships xmlns="http://schemas.openxmlformats.org/package/2006/relationships"><Relationship Id="rId8" Type="http://schemas.openxmlformats.org/officeDocument/2006/relationships/image" Target="../media/image89.svg"/><Relationship Id="rId3" Type="http://schemas.openxmlformats.org/officeDocument/2006/relationships/image" Target="../media/image84.svg"/><Relationship Id="rId7" Type="http://schemas.openxmlformats.org/officeDocument/2006/relationships/image" Target="../media/image88.svg"/><Relationship Id="rId2" Type="http://schemas.openxmlformats.org/officeDocument/2006/relationships/notesSlide" Target="../notesSlides/notesSlide21.xml"/><Relationship Id="rId1" Type="http://schemas.openxmlformats.org/officeDocument/2006/relationships/slideLayout" Target="../slideLayouts/slideLayout11.xml"/><Relationship Id="rId6" Type="http://schemas.openxmlformats.org/officeDocument/2006/relationships/image" Target="../media/image87.svg"/><Relationship Id="rId5" Type="http://schemas.openxmlformats.org/officeDocument/2006/relationships/image" Target="../media/image86.svg"/><Relationship Id="rId4" Type="http://schemas.openxmlformats.org/officeDocument/2006/relationships/image" Target="../media/image85.svg"/></Relationships>
</file>

<file path=ppt/slides/_rels/slide53.xml.rels><?xml version="1.0" encoding="UTF-8" standalone="yes"?>
<Relationships xmlns="http://schemas.openxmlformats.org/package/2006/relationships"><Relationship Id="rId8" Type="http://schemas.openxmlformats.org/officeDocument/2006/relationships/image" Target="../media/image95.svg"/><Relationship Id="rId13" Type="http://schemas.openxmlformats.org/officeDocument/2006/relationships/image" Target="../media/image100.svg"/><Relationship Id="rId18" Type="http://schemas.openxmlformats.org/officeDocument/2006/relationships/image" Target="../media/image88.svg"/><Relationship Id="rId3" Type="http://schemas.openxmlformats.org/officeDocument/2006/relationships/image" Target="../media/image90.svg"/><Relationship Id="rId7" Type="http://schemas.openxmlformats.org/officeDocument/2006/relationships/image" Target="../media/image94.svg"/><Relationship Id="rId12" Type="http://schemas.openxmlformats.org/officeDocument/2006/relationships/image" Target="../media/image99.svg"/><Relationship Id="rId17" Type="http://schemas.openxmlformats.org/officeDocument/2006/relationships/image" Target="../media/image87.svg"/><Relationship Id="rId2" Type="http://schemas.openxmlformats.org/officeDocument/2006/relationships/notesSlide" Target="../notesSlides/notesSlide22.xml"/><Relationship Id="rId16" Type="http://schemas.openxmlformats.org/officeDocument/2006/relationships/image" Target="../media/image86.svg"/><Relationship Id="rId1" Type="http://schemas.openxmlformats.org/officeDocument/2006/relationships/slideLayout" Target="../slideLayouts/slideLayout11.xml"/><Relationship Id="rId6" Type="http://schemas.openxmlformats.org/officeDocument/2006/relationships/image" Target="../media/image93.svg"/><Relationship Id="rId11" Type="http://schemas.openxmlformats.org/officeDocument/2006/relationships/image" Target="../media/image98.svg"/><Relationship Id="rId5" Type="http://schemas.openxmlformats.org/officeDocument/2006/relationships/image" Target="../media/image92.svg"/><Relationship Id="rId15" Type="http://schemas.openxmlformats.org/officeDocument/2006/relationships/image" Target="../media/image85.svg"/><Relationship Id="rId10" Type="http://schemas.openxmlformats.org/officeDocument/2006/relationships/image" Target="../media/image97.svg"/><Relationship Id="rId19" Type="http://schemas.openxmlformats.org/officeDocument/2006/relationships/image" Target="../media/image89.svg"/><Relationship Id="rId4" Type="http://schemas.openxmlformats.org/officeDocument/2006/relationships/image" Target="../media/image91.svg"/><Relationship Id="rId9" Type="http://schemas.openxmlformats.org/officeDocument/2006/relationships/image" Target="../media/image96.svg"/><Relationship Id="rId14" Type="http://schemas.openxmlformats.org/officeDocument/2006/relationships/image" Target="../media/image84.sv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0.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2.xml.rels><?xml version="1.0" encoding="UTF-8" standalone="yes"?>
<Relationships xmlns="http://schemas.openxmlformats.org/package/2006/relationships"><Relationship Id="rId2" Type="http://schemas.openxmlformats.org/officeDocument/2006/relationships/image" Target="../media/image103.gif"/><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svg"/><Relationship Id="rId1" Type="http://schemas.openxmlformats.org/officeDocument/2006/relationships/slideLayout" Target="../slideLayouts/slideLayout11.xml"/><Relationship Id="rId4" Type="http://schemas.openxmlformats.org/officeDocument/2006/relationships/image" Target="../media/image56.svg"/></Relationships>
</file>

<file path=ppt/slides/_rels/slide74.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75.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1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2784" y="253136"/>
            <a:ext cx="9247059" cy="2205259"/>
          </a:xfrm>
        </p:spPr>
        <p:txBody>
          <a:bodyPr/>
          <a:lstStyle/>
          <a:p>
            <a:r>
              <a:rPr lang="en-US" dirty="0"/>
              <a:t>BCS1520: Statistics</a:t>
            </a:r>
          </a:p>
        </p:txBody>
      </p:sp>
      <p:sp>
        <p:nvSpPr>
          <p:cNvPr id="3" name="Subtitle 2"/>
          <p:cNvSpPr>
            <a:spLocks noGrp="1"/>
          </p:cNvSpPr>
          <p:nvPr>
            <p:ph type="subTitle" idx="1"/>
          </p:nvPr>
        </p:nvSpPr>
        <p:spPr/>
        <p:txBody>
          <a:bodyPr/>
          <a:lstStyle/>
          <a:p>
            <a:r>
              <a:rPr lang="en-US" b="1" dirty="0"/>
              <a:t>Lecture 03: </a:t>
            </a:r>
          </a:p>
          <a:p>
            <a:r>
              <a:rPr lang="en-US" b="1" dirty="0"/>
              <a:t>RCTs and Causality</a:t>
            </a:r>
          </a:p>
          <a:p>
            <a:r>
              <a:rPr lang="en-US" b="1" i="1" dirty="0"/>
              <a:t>Anirudh Wodeyar</a:t>
            </a:r>
          </a:p>
        </p:txBody>
      </p:sp>
    </p:spTree>
    <p:extLst>
      <p:ext uri="{BB962C8B-B14F-4D97-AF65-F5344CB8AC3E}">
        <p14:creationId xmlns:p14="http://schemas.microsoft.com/office/powerpoint/2010/main" val="110467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5EDE61-EA3F-E131-032C-7B512C0BBB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4EA206-8C60-17C0-C31D-F6804AFF103B}"/>
              </a:ext>
            </a:extLst>
          </p:cNvPr>
          <p:cNvSpPr>
            <a:spLocks noGrp="1"/>
          </p:cNvSpPr>
          <p:nvPr>
            <p:ph type="title"/>
          </p:nvPr>
        </p:nvSpPr>
        <p:spPr/>
        <p:txBody>
          <a:bodyPr/>
          <a:lstStyle/>
          <a:p>
            <a:r>
              <a:rPr lang="en-US" sz="4400" dirty="0"/>
              <a:t>Population and sample</a:t>
            </a:r>
            <a:endParaRPr lang="en-US" dirty="0"/>
          </a:p>
        </p:txBody>
      </p:sp>
      <p:sp>
        <p:nvSpPr>
          <p:cNvPr id="5" name="Content Placeholder 2">
            <a:extLst>
              <a:ext uri="{FF2B5EF4-FFF2-40B4-BE49-F238E27FC236}">
                <a16:creationId xmlns:a16="http://schemas.microsoft.com/office/drawing/2014/main" id="{41BE16CB-A373-0CC5-BBA9-559538202D77}"/>
              </a:ext>
            </a:extLst>
          </p:cNvPr>
          <p:cNvSpPr txBox="1">
            <a:spLocks/>
          </p:cNvSpPr>
          <p:nvPr/>
        </p:nvSpPr>
        <p:spPr>
          <a:xfrm>
            <a:off x="609600" y="1170261"/>
            <a:ext cx="10972800" cy="756000"/>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Population: a set of instances “of interest”</a:t>
            </a:r>
          </a:p>
          <a:p>
            <a:pPr marL="0" indent="0">
              <a:buFont typeface="Arial"/>
              <a:buNone/>
            </a:pPr>
            <a:r>
              <a:rPr lang="en-US" sz="2000" dirty="0"/>
              <a:t>Sample: a set of instances sampled from the population</a:t>
            </a:r>
          </a:p>
          <a:p>
            <a:pPr marL="0" indent="0">
              <a:buFont typeface="Arial"/>
              <a:buNone/>
            </a:pPr>
            <a:endParaRPr lang="en-US" sz="2000" dirty="0"/>
          </a:p>
        </p:txBody>
      </p:sp>
      <p:sp>
        <p:nvSpPr>
          <p:cNvPr id="17" name="Content Placeholder 2">
            <a:extLst>
              <a:ext uri="{FF2B5EF4-FFF2-40B4-BE49-F238E27FC236}">
                <a16:creationId xmlns:a16="http://schemas.microsoft.com/office/drawing/2014/main" id="{FC530355-4512-33F1-12EE-23B3C4649A29}"/>
              </a:ext>
            </a:extLst>
          </p:cNvPr>
          <p:cNvSpPr txBox="1">
            <a:spLocks/>
          </p:cNvSpPr>
          <p:nvPr/>
        </p:nvSpPr>
        <p:spPr>
          <a:xfrm>
            <a:off x="609600" y="2110697"/>
            <a:ext cx="11102399" cy="382668"/>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Say, we want to compute an average household income per person (incl. kids) in the Netherlands:</a:t>
            </a:r>
          </a:p>
          <a:p>
            <a:r>
              <a:rPr lang="en-US" sz="2000" dirty="0"/>
              <a:t>Population: all households in the Netherlands</a:t>
            </a:r>
          </a:p>
          <a:p>
            <a:r>
              <a:rPr lang="en-US" sz="2000" dirty="0"/>
              <a:t>Sample: </a:t>
            </a:r>
          </a:p>
        </p:txBody>
      </p:sp>
      <p:grpSp>
        <p:nvGrpSpPr>
          <p:cNvPr id="78" name="Group 77">
            <a:extLst>
              <a:ext uri="{FF2B5EF4-FFF2-40B4-BE49-F238E27FC236}">
                <a16:creationId xmlns:a16="http://schemas.microsoft.com/office/drawing/2014/main" id="{23184979-79FE-DCB7-19A3-65A8A06EF77B}"/>
              </a:ext>
            </a:extLst>
          </p:cNvPr>
          <p:cNvGrpSpPr/>
          <p:nvPr/>
        </p:nvGrpSpPr>
        <p:grpSpPr>
          <a:xfrm>
            <a:off x="5595112" y="3212292"/>
            <a:ext cx="4348979" cy="2514581"/>
            <a:chOff x="372379" y="2763663"/>
            <a:chExt cx="9380899" cy="3457179"/>
          </a:xfrm>
        </p:grpSpPr>
        <p:grpSp>
          <p:nvGrpSpPr>
            <p:cNvPr id="29" name="Group 28">
              <a:extLst>
                <a:ext uri="{FF2B5EF4-FFF2-40B4-BE49-F238E27FC236}">
                  <a16:creationId xmlns:a16="http://schemas.microsoft.com/office/drawing/2014/main" id="{280EC62E-54BA-80AC-6CA1-5EBF4FCF8DEB}"/>
                </a:ext>
              </a:extLst>
            </p:cNvPr>
            <p:cNvGrpSpPr/>
            <p:nvPr/>
          </p:nvGrpSpPr>
          <p:grpSpPr>
            <a:xfrm>
              <a:off x="372379" y="4450128"/>
              <a:ext cx="4301316" cy="1603737"/>
              <a:chOff x="1308176" y="2792386"/>
              <a:chExt cx="8338404" cy="3175987"/>
            </a:xfrm>
          </p:grpSpPr>
          <p:pic>
            <p:nvPicPr>
              <p:cNvPr id="6" name="Graphic 5" descr="Man with solid fill">
                <a:extLst>
                  <a:ext uri="{FF2B5EF4-FFF2-40B4-BE49-F238E27FC236}">
                    <a16:creationId xmlns:a16="http://schemas.microsoft.com/office/drawing/2014/main" id="{09F13771-656F-A159-5E48-C1E83D1042E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17531" y="2866697"/>
                <a:ext cx="914400" cy="914400"/>
              </a:xfrm>
              <a:prstGeom prst="rect">
                <a:avLst/>
              </a:prstGeom>
            </p:spPr>
          </p:pic>
          <p:pic>
            <p:nvPicPr>
              <p:cNvPr id="10" name="Graphic 9" descr="Man and woman with solid fill">
                <a:extLst>
                  <a:ext uri="{FF2B5EF4-FFF2-40B4-BE49-F238E27FC236}">
                    <a16:creationId xmlns:a16="http://schemas.microsoft.com/office/drawing/2014/main" id="{122B0651-BCF4-B44D-4CA2-998D24B1A06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32180" y="3158290"/>
                <a:ext cx="914400" cy="914400"/>
              </a:xfrm>
              <a:prstGeom prst="rect">
                <a:avLst/>
              </a:prstGeom>
            </p:spPr>
          </p:pic>
          <p:pic>
            <p:nvPicPr>
              <p:cNvPr id="12" name="Graphic 11" descr="Man with kid with solid fill">
                <a:extLst>
                  <a:ext uri="{FF2B5EF4-FFF2-40B4-BE49-F238E27FC236}">
                    <a16:creationId xmlns:a16="http://schemas.microsoft.com/office/drawing/2014/main" id="{56349883-5DA4-BDE0-E7B4-35641A6C763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2041" y="3352415"/>
                <a:ext cx="914400" cy="914400"/>
              </a:xfrm>
              <a:prstGeom prst="rect">
                <a:avLst/>
              </a:prstGeom>
            </p:spPr>
          </p:pic>
          <p:pic>
            <p:nvPicPr>
              <p:cNvPr id="14" name="Graphic 13" descr="Family with boy with solid fill">
                <a:extLst>
                  <a:ext uri="{FF2B5EF4-FFF2-40B4-BE49-F238E27FC236}">
                    <a16:creationId xmlns:a16="http://schemas.microsoft.com/office/drawing/2014/main" id="{378557B5-0CC4-8D91-6057-8543CE3E6A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2968" y="4364636"/>
                <a:ext cx="914400" cy="914400"/>
              </a:xfrm>
              <a:prstGeom prst="rect">
                <a:avLst/>
              </a:prstGeom>
            </p:spPr>
          </p:pic>
          <p:pic>
            <p:nvPicPr>
              <p:cNvPr id="16" name="Graphic 15" descr="Family with two children with solid fill">
                <a:extLst>
                  <a:ext uri="{FF2B5EF4-FFF2-40B4-BE49-F238E27FC236}">
                    <a16:creationId xmlns:a16="http://schemas.microsoft.com/office/drawing/2014/main" id="{4E8FF15B-FBF2-F0C3-AEB9-3D3D6A96BED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39407" y="4474540"/>
                <a:ext cx="914400" cy="914400"/>
              </a:xfrm>
              <a:prstGeom prst="rect">
                <a:avLst/>
              </a:prstGeom>
            </p:spPr>
          </p:pic>
          <p:pic>
            <p:nvPicPr>
              <p:cNvPr id="18" name="Graphic 17" descr="Man with kid with solid fill">
                <a:extLst>
                  <a:ext uri="{FF2B5EF4-FFF2-40B4-BE49-F238E27FC236}">
                    <a16:creationId xmlns:a16="http://schemas.microsoft.com/office/drawing/2014/main" id="{80D2C358-10B8-5E52-5816-9E6749D8B7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82849" y="3450236"/>
                <a:ext cx="914400" cy="914400"/>
              </a:xfrm>
              <a:prstGeom prst="rect">
                <a:avLst/>
              </a:prstGeom>
            </p:spPr>
          </p:pic>
          <p:pic>
            <p:nvPicPr>
              <p:cNvPr id="19" name="Graphic 18" descr="Family with two children with solid fill">
                <a:extLst>
                  <a:ext uri="{FF2B5EF4-FFF2-40B4-BE49-F238E27FC236}">
                    <a16:creationId xmlns:a16="http://schemas.microsoft.com/office/drawing/2014/main" id="{528EBA40-29CB-D091-AB5A-C272CAF31BC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50340" y="4474540"/>
                <a:ext cx="914400" cy="914400"/>
              </a:xfrm>
              <a:prstGeom prst="rect">
                <a:avLst/>
              </a:prstGeom>
            </p:spPr>
          </p:pic>
          <p:pic>
            <p:nvPicPr>
              <p:cNvPr id="20" name="Graphic 19" descr="Man and woman with solid fill">
                <a:extLst>
                  <a:ext uri="{FF2B5EF4-FFF2-40B4-BE49-F238E27FC236}">
                    <a16:creationId xmlns:a16="http://schemas.microsoft.com/office/drawing/2014/main" id="{8B2FE5C1-D271-5D2A-95D8-E588AFCDBF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96147" y="2792386"/>
                <a:ext cx="914400" cy="914400"/>
              </a:xfrm>
              <a:prstGeom prst="rect">
                <a:avLst/>
              </a:prstGeom>
            </p:spPr>
          </p:pic>
          <p:pic>
            <p:nvPicPr>
              <p:cNvPr id="22" name="Graphic 21" descr="Family with boy with solid fill">
                <a:extLst>
                  <a:ext uri="{FF2B5EF4-FFF2-40B4-BE49-F238E27FC236}">
                    <a16:creationId xmlns:a16="http://schemas.microsoft.com/office/drawing/2014/main" id="{5F052839-2DD6-4AE6-136E-AB51D90A88F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01402" y="5053973"/>
                <a:ext cx="914400" cy="914400"/>
              </a:xfrm>
              <a:prstGeom prst="rect">
                <a:avLst/>
              </a:prstGeom>
            </p:spPr>
          </p:pic>
          <p:pic>
            <p:nvPicPr>
              <p:cNvPr id="23" name="Graphic 22" descr="Man with solid fill">
                <a:extLst>
                  <a:ext uri="{FF2B5EF4-FFF2-40B4-BE49-F238E27FC236}">
                    <a16:creationId xmlns:a16="http://schemas.microsoft.com/office/drawing/2014/main" id="{23E4284C-8467-6FC0-8FF8-F3CE1A81484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96279" y="4230869"/>
                <a:ext cx="914400" cy="914400"/>
              </a:xfrm>
              <a:prstGeom prst="rect">
                <a:avLst/>
              </a:prstGeom>
            </p:spPr>
          </p:pic>
          <p:pic>
            <p:nvPicPr>
              <p:cNvPr id="24" name="Graphic 23" descr="Two Men with solid fill">
                <a:extLst>
                  <a:ext uri="{FF2B5EF4-FFF2-40B4-BE49-F238E27FC236}">
                    <a16:creationId xmlns:a16="http://schemas.microsoft.com/office/drawing/2014/main" id="{053158BC-D697-5002-F8D9-C6522BECCD0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48365" y="3011669"/>
                <a:ext cx="914400" cy="914400"/>
              </a:xfrm>
              <a:prstGeom prst="rect">
                <a:avLst/>
              </a:prstGeom>
            </p:spPr>
          </p:pic>
          <p:pic>
            <p:nvPicPr>
              <p:cNvPr id="25" name="Graphic 24" descr="Man and woman with solid fill">
                <a:extLst>
                  <a:ext uri="{FF2B5EF4-FFF2-40B4-BE49-F238E27FC236}">
                    <a16:creationId xmlns:a16="http://schemas.microsoft.com/office/drawing/2014/main" id="{90623469-01C3-DE21-07F2-4428855B98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9698" y="3840552"/>
                <a:ext cx="914400" cy="914400"/>
              </a:xfrm>
              <a:prstGeom prst="rect">
                <a:avLst/>
              </a:prstGeom>
            </p:spPr>
          </p:pic>
          <p:pic>
            <p:nvPicPr>
              <p:cNvPr id="26" name="Graphic 25" descr="Man and woman with solid fill">
                <a:extLst>
                  <a:ext uri="{FF2B5EF4-FFF2-40B4-BE49-F238E27FC236}">
                    <a16:creationId xmlns:a16="http://schemas.microsoft.com/office/drawing/2014/main" id="{D2309414-F8C6-9B2D-66B1-A5299C1A7D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40049" y="4865022"/>
                <a:ext cx="914400" cy="914400"/>
              </a:xfrm>
              <a:prstGeom prst="rect">
                <a:avLst/>
              </a:prstGeom>
            </p:spPr>
          </p:pic>
          <p:pic>
            <p:nvPicPr>
              <p:cNvPr id="27" name="Graphic 26" descr="Man with solid fill">
                <a:extLst>
                  <a:ext uri="{FF2B5EF4-FFF2-40B4-BE49-F238E27FC236}">
                    <a16:creationId xmlns:a16="http://schemas.microsoft.com/office/drawing/2014/main" id="{BC539A63-7789-8C94-B0CF-F67A1C9F8F5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08176" y="3548783"/>
                <a:ext cx="914400" cy="914400"/>
              </a:xfrm>
              <a:prstGeom prst="rect">
                <a:avLst/>
              </a:prstGeom>
            </p:spPr>
          </p:pic>
          <p:pic>
            <p:nvPicPr>
              <p:cNvPr id="28" name="Graphic 27" descr="Man with solid fill">
                <a:extLst>
                  <a:ext uri="{FF2B5EF4-FFF2-40B4-BE49-F238E27FC236}">
                    <a16:creationId xmlns:a16="http://schemas.microsoft.com/office/drawing/2014/main" id="{E2F776C3-C2C6-BC55-53B5-CDAA5B42A5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24751" y="3401986"/>
                <a:ext cx="914400" cy="914400"/>
              </a:xfrm>
              <a:prstGeom prst="rect">
                <a:avLst/>
              </a:prstGeom>
            </p:spPr>
          </p:pic>
        </p:grpSp>
        <p:grpSp>
          <p:nvGrpSpPr>
            <p:cNvPr id="30" name="Group 29">
              <a:extLst>
                <a:ext uri="{FF2B5EF4-FFF2-40B4-BE49-F238E27FC236}">
                  <a16:creationId xmlns:a16="http://schemas.microsoft.com/office/drawing/2014/main" id="{2B58F7A4-C3B4-30CD-904B-FC3CBEDC00E1}"/>
                </a:ext>
              </a:extLst>
            </p:cNvPr>
            <p:cNvGrpSpPr/>
            <p:nvPr/>
          </p:nvGrpSpPr>
          <p:grpSpPr>
            <a:xfrm>
              <a:off x="5227836" y="4617105"/>
              <a:ext cx="4301316" cy="1603737"/>
              <a:chOff x="1308176" y="2792386"/>
              <a:chExt cx="8338404" cy="3175987"/>
            </a:xfrm>
          </p:grpSpPr>
          <p:pic>
            <p:nvPicPr>
              <p:cNvPr id="31" name="Graphic 30" descr="Man with solid fill">
                <a:extLst>
                  <a:ext uri="{FF2B5EF4-FFF2-40B4-BE49-F238E27FC236}">
                    <a16:creationId xmlns:a16="http://schemas.microsoft.com/office/drawing/2014/main" id="{34D34882-ED9A-12CB-6288-F0A29468DE3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17531" y="2866697"/>
                <a:ext cx="914400" cy="914400"/>
              </a:xfrm>
              <a:prstGeom prst="rect">
                <a:avLst/>
              </a:prstGeom>
            </p:spPr>
          </p:pic>
          <p:pic>
            <p:nvPicPr>
              <p:cNvPr id="32" name="Graphic 31" descr="Man and woman with solid fill">
                <a:extLst>
                  <a:ext uri="{FF2B5EF4-FFF2-40B4-BE49-F238E27FC236}">
                    <a16:creationId xmlns:a16="http://schemas.microsoft.com/office/drawing/2014/main" id="{5DB9B53E-962A-8A1F-9F30-167861B2CF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32180" y="3158290"/>
                <a:ext cx="914400" cy="914400"/>
              </a:xfrm>
              <a:prstGeom prst="rect">
                <a:avLst/>
              </a:prstGeom>
            </p:spPr>
          </p:pic>
          <p:pic>
            <p:nvPicPr>
              <p:cNvPr id="33" name="Graphic 32" descr="Man with kid with solid fill">
                <a:extLst>
                  <a:ext uri="{FF2B5EF4-FFF2-40B4-BE49-F238E27FC236}">
                    <a16:creationId xmlns:a16="http://schemas.microsoft.com/office/drawing/2014/main" id="{5CD64974-95BD-36EC-1694-174C7A2343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2041" y="3352415"/>
                <a:ext cx="914400" cy="914400"/>
              </a:xfrm>
              <a:prstGeom prst="rect">
                <a:avLst/>
              </a:prstGeom>
            </p:spPr>
          </p:pic>
          <p:pic>
            <p:nvPicPr>
              <p:cNvPr id="34" name="Graphic 33" descr="Family with boy with solid fill">
                <a:extLst>
                  <a:ext uri="{FF2B5EF4-FFF2-40B4-BE49-F238E27FC236}">
                    <a16:creationId xmlns:a16="http://schemas.microsoft.com/office/drawing/2014/main" id="{22F4C1CB-4CB1-2476-7D2C-F079F7EBF5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2968" y="4364636"/>
                <a:ext cx="914400" cy="914400"/>
              </a:xfrm>
              <a:prstGeom prst="rect">
                <a:avLst/>
              </a:prstGeom>
            </p:spPr>
          </p:pic>
          <p:pic>
            <p:nvPicPr>
              <p:cNvPr id="35" name="Graphic 34" descr="Family with two children with solid fill">
                <a:extLst>
                  <a:ext uri="{FF2B5EF4-FFF2-40B4-BE49-F238E27FC236}">
                    <a16:creationId xmlns:a16="http://schemas.microsoft.com/office/drawing/2014/main" id="{77108EF4-96D8-65F8-6488-501419FE0F3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39407" y="4474540"/>
                <a:ext cx="914400" cy="914400"/>
              </a:xfrm>
              <a:prstGeom prst="rect">
                <a:avLst/>
              </a:prstGeom>
            </p:spPr>
          </p:pic>
          <p:pic>
            <p:nvPicPr>
              <p:cNvPr id="36" name="Graphic 35" descr="Man with kid with solid fill">
                <a:extLst>
                  <a:ext uri="{FF2B5EF4-FFF2-40B4-BE49-F238E27FC236}">
                    <a16:creationId xmlns:a16="http://schemas.microsoft.com/office/drawing/2014/main" id="{E9B5BA92-4E8D-F4AE-1455-3F963FA1F6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82849" y="3450236"/>
                <a:ext cx="914400" cy="914400"/>
              </a:xfrm>
              <a:prstGeom prst="rect">
                <a:avLst/>
              </a:prstGeom>
            </p:spPr>
          </p:pic>
          <p:pic>
            <p:nvPicPr>
              <p:cNvPr id="37" name="Graphic 36" descr="Family with two children with solid fill">
                <a:extLst>
                  <a:ext uri="{FF2B5EF4-FFF2-40B4-BE49-F238E27FC236}">
                    <a16:creationId xmlns:a16="http://schemas.microsoft.com/office/drawing/2014/main" id="{6A756E55-C275-22DC-3CC1-AB6D32717F0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50340" y="4474540"/>
                <a:ext cx="914400" cy="914400"/>
              </a:xfrm>
              <a:prstGeom prst="rect">
                <a:avLst/>
              </a:prstGeom>
            </p:spPr>
          </p:pic>
          <p:pic>
            <p:nvPicPr>
              <p:cNvPr id="38" name="Graphic 37" descr="Man and woman with solid fill">
                <a:extLst>
                  <a:ext uri="{FF2B5EF4-FFF2-40B4-BE49-F238E27FC236}">
                    <a16:creationId xmlns:a16="http://schemas.microsoft.com/office/drawing/2014/main" id="{0C5B08BF-357B-0AE9-C795-964150EAB13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96147" y="2792386"/>
                <a:ext cx="914400" cy="914400"/>
              </a:xfrm>
              <a:prstGeom prst="rect">
                <a:avLst/>
              </a:prstGeom>
            </p:spPr>
          </p:pic>
          <p:pic>
            <p:nvPicPr>
              <p:cNvPr id="39" name="Graphic 38" descr="Family with boy with solid fill">
                <a:extLst>
                  <a:ext uri="{FF2B5EF4-FFF2-40B4-BE49-F238E27FC236}">
                    <a16:creationId xmlns:a16="http://schemas.microsoft.com/office/drawing/2014/main" id="{F19F8C7B-BBAF-FC5D-0C34-E9C5F0CFCA0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01402" y="5053973"/>
                <a:ext cx="914400" cy="914400"/>
              </a:xfrm>
              <a:prstGeom prst="rect">
                <a:avLst/>
              </a:prstGeom>
            </p:spPr>
          </p:pic>
          <p:pic>
            <p:nvPicPr>
              <p:cNvPr id="40" name="Graphic 39" descr="Man with solid fill">
                <a:extLst>
                  <a:ext uri="{FF2B5EF4-FFF2-40B4-BE49-F238E27FC236}">
                    <a16:creationId xmlns:a16="http://schemas.microsoft.com/office/drawing/2014/main" id="{A3FBB921-7F71-2AE1-C505-63420977A94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96279" y="4230869"/>
                <a:ext cx="914400" cy="914400"/>
              </a:xfrm>
              <a:prstGeom prst="rect">
                <a:avLst/>
              </a:prstGeom>
            </p:spPr>
          </p:pic>
          <p:pic>
            <p:nvPicPr>
              <p:cNvPr id="41" name="Graphic 40" descr="Two Men with solid fill">
                <a:extLst>
                  <a:ext uri="{FF2B5EF4-FFF2-40B4-BE49-F238E27FC236}">
                    <a16:creationId xmlns:a16="http://schemas.microsoft.com/office/drawing/2014/main" id="{C4A161DC-F02E-013A-B890-15D04FC18D1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48365" y="3011669"/>
                <a:ext cx="914400" cy="914400"/>
              </a:xfrm>
              <a:prstGeom prst="rect">
                <a:avLst/>
              </a:prstGeom>
            </p:spPr>
          </p:pic>
          <p:pic>
            <p:nvPicPr>
              <p:cNvPr id="42" name="Graphic 41" descr="Man and woman with solid fill">
                <a:extLst>
                  <a:ext uri="{FF2B5EF4-FFF2-40B4-BE49-F238E27FC236}">
                    <a16:creationId xmlns:a16="http://schemas.microsoft.com/office/drawing/2014/main" id="{4A775696-D246-8F91-F988-2A4DD649F2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9698" y="3840552"/>
                <a:ext cx="914400" cy="914400"/>
              </a:xfrm>
              <a:prstGeom prst="rect">
                <a:avLst/>
              </a:prstGeom>
            </p:spPr>
          </p:pic>
          <p:pic>
            <p:nvPicPr>
              <p:cNvPr id="43" name="Graphic 42" descr="Man and woman with solid fill">
                <a:extLst>
                  <a:ext uri="{FF2B5EF4-FFF2-40B4-BE49-F238E27FC236}">
                    <a16:creationId xmlns:a16="http://schemas.microsoft.com/office/drawing/2014/main" id="{F0D41F1F-B33C-3244-BB4A-D430D34CA8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40049" y="4865022"/>
                <a:ext cx="914400" cy="914400"/>
              </a:xfrm>
              <a:prstGeom prst="rect">
                <a:avLst/>
              </a:prstGeom>
            </p:spPr>
          </p:pic>
          <p:pic>
            <p:nvPicPr>
              <p:cNvPr id="44" name="Graphic 43" descr="Man with solid fill">
                <a:extLst>
                  <a:ext uri="{FF2B5EF4-FFF2-40B4-BE49-F238E27FC236}">
                    <a16:creationId xmlns:a16="http://schemas.microsoft.com/office/drawing/2014/main" id="{D01C4383-E0A9-2889-5BE7-88C4076D2F4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08176" y="3548783"/>
                <a:ext cx="914400" cy="914400"/>
              </a:xfrm>
              <a:prstGeom prst="rect">
                <a:avLst/>
              </a:prstGeom>
            </p:spPr>
          </p:pic>
          <p:pic>
            <p:nvPicPr>
              <p:cNvPr id="45" name="Graphic 44" descr="Man with solid fill">
                <a:extLst>
                  <a:ext uri="{FF2B5EF4-FFF2-40B4-BE49-F238E27FC236}">
                    <a16:creationId xmlns:a16="http://schemas.microsoft.com/office/drawing/2014/main" id="{1CEBC075-58CE-56D4-752D-C6190AADCBA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24751" y="3401986"/>
                <a:ext cx="914400" cy="914400"/>
              </a:xfrm>
              <a:prstGeom prst="rect">
                <a:avLst/>
              </a:prstGeom>
            </p:spPr>
          </p:pic>
        </p:grpSp>
        <p:grpSp>
          <p:nvGrpSpPr>
            <p:cNvPr id="46" name="Group 45">
              <a:extLst>
                <a:ext uri="{FF2B5EF4-FFF2-40B4-BE49-F238E27FC236}">
                  <a16:creationId xmlns:a16="http://schemas.microsoft.com/office/drawing/2014/main" id="{EF3C9680-165F-FD85-D70E-68B8F57A16C0}"/>
                </a:ext>
              </a:extLst>
            </p:cNvPr>
            <p:cNvGrpSpPr/>
            <p:nvPr/>
          </p:nvGrpSpPr>
          <p:grpSpPr>
            <a:xfrm>
              <a:off x="5451962" y="2763663"/>
              <a:ext cx="4301316" cy="1603737"/>
              <a:chOff x="1308176" y="2792386"/>
              <a:chExt cx="8338404" cy="3175987"/>
            </a:xfrm>
          </p:grpSpPr>
          <p:pic>
            <p:nvPicPr>
              <p:cNvPr id="47" name="Graphic 46" descr="Man with solid fill">
                <a:extLst>
                  <a:ext uri="{FF2B5EF4-FFF2-40B4-BE49-F238E27FC236}">
                    <a16:creationId xmlns:a16="http://schemas.microsoft.com/office/drawing/2014/main" id="{AB18A7E7-6F0D-B6C4-5ACC-2A7988D10FB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17531" y="2866697"/>
                <a:ext cx="914400" cy="914400"/>
              </a:xfrm>
              <a:prstGeom prst="rect">
                <a:avLst/>
              </a:prstGeom>
            </p:spPr>
          </p:pic>
          <p:pic>
            <p:nvPicPr>
              <p:cNvPr id="48" name="Graphic 47" descr="Man and woman with solid fill">
                <a:extLst>
                  <a:ext uri="{FF2B5EF4-FFF2-40B4-BE49-F238E27FC236}">
                    <a16:creationId xmlns:a16="http://schemas.microsoft.com/office/drawing/2014/main" id="{96D839BC-DFE8-1CFE-BDFE-AB8755255EC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32180" y="3158290"/>
                <a:ext cx="914400" cy="914400"/>
              </a:xfrm>
              <a:prstGeom prst="rect">
                <a:avLst/>
              </a:prstGeom>
            </p:spPr>
          </p:pic>
          <p:pic>
            <p:nvPicPr>
              <p:cNvPr id="49" name="Graphic 48" descr="Man with kid with solid fill">
                <a:extLst>
                  <a:ext uri="{FF2B5EF4-FFF2-40B4-BE49-F238E27FC236}">
                    <a16:creationId xmlns:a16="http://schemas.microsoft.com/office/drawing/2014/main" id="{28AB56D8-F24F-DB9D-E6EB-58379864AF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2041" y="3352415"/>
                <a:ext cx="914400" cy="914400"/>
              </a:xfrm>
              <a:prstGeom prst="rect">
                <a:avLst/>
              </a:prstGeom>
            </p:spPr>
          </p:pic>
          <p:pic>
            <p:nvPicPr>
              <p:cNvPr id="50" name="Graphic 49" descr="Family with boy with solid fill">
                <a:extLst>
                  <a:ext uri="{FF2B5EF4-FFF2-40B4-BE49-F238E27FC236}">
                    <a16:creationId xmlns:a16="http://schemas.microsoft.com/office/drawing/2014/main" id="{D6D67507-6AF6-EAA2-3358-0C3606DA8B7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2968" y="4364636"/>
                <a:ext cx="914400" cy="914400"/>
              </a:xfrm>
              <a:prstGeom prst="rect">
                <a:avLst/>
              </a:prstGeom>
            </p:spPr>
          </p:pic>
          <p:pic>
            <p:nvPicPr>
              <p:cNvPr id="51" name="Graphic 50" descr="Family with two children with solid fill">
                <a:extLst>
                  <a:ext uri="{FF2B5EF4-FFF2-40B4-BE49-F238E27FC236}">
                    <a16:creationId xmlns:a16="http://schemas.microsoft.com/office/drawing/2014/main" id="{1225F2F0-EF70-5A11-9497-CE62307E744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39407" y="4474540"/>
                <a:ext cx="914400" cy="914400"/>
              </a:xfrm>
              <a:prstGeom prst="rect">
                <a:avLst/>
              </a:prstGeom>
            </p:spPr>
          </p:pic>
          <p:pic>
            <p:nvPicPr>
              <p:cNvPr id="52" name="Graphic 51" descr="Man with kid with solid fill">
                <a:extLst>
                  <a:ext uri="{FF2B5EF4-FFF2-40B4-BE49-F238E27FC236}">
                    <a16:creationId xmlns:a16="http://schemas.microsoft.com/office/drawing/2014/main" id="{0FA26EDE-EBF9-65C9-6310-62A42B2E941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82849" y="3450236"/>
                <a:ext cx="914400" cy="914400"/>
              </a:xfrm>
              <a:prstGeom prst="rect">
                <a:avLst/>
              </a:prstGeom>
            </p:spPr>
          </p:pic>
          <p:pic>
            <p:nvPicPr>
              <p:cNvPr id="53" name="Graphic 52" descr="Family with two children with solid fill">
                <a:extLst>
                  <a:ext uri="{FF2B5EF4-FFF2-40B4-BE49-F238E27FC236}">
                    <a16:creationId xmlns:a16="http://schemas.microsoft.com/office/drawing/2014/main" id="{720C914B-1FA4-E227-6CD7-9F1D2591118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50340" y="4474540"/>
                <a:ext cx="914400" cy="914400"/>
              </a:xfrm>
              <a:prstGeom prst="rect">
                <a:avLst/>
              </a:prstGeom>
            </p:spPr>
          </p:pic>
          <p:pic>
            <p:nvPicPr>
              <p:cNvPr id="54" name="Graphic 53" descr="Man and woman with solid fill">
                <a:extLst>
                  <a:ext uri="{FF2B5EF4-FFF2-40B4-BE49-F238E27FC236}">
                    <a16:creationId xmlns:a16="http://schemas.microsoft.com/office/drawing/2014/main" id="{F9B24012-5B25-3D2A-E2CC-9C6D5BDC2A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96147" y="2792386"/>
                <a:ext cx="914400" cy="914400"/>
              </a:xfrm>
              <a:prstGeom prst="rect">
                <a:avLst/>
              </a:prstGeom>
            </p:spPr>
          </p:pic>
          <p:pic>
            <p:nvPicPr>
              <p:cNvPr id="55" name="Graphic 54" descr="Family with boy with solid fill">
                <a:extLst>
                  <a:ext uri="{FF2B5EF4-FFF2-40B4-BE49-F238E27FC236}">
                    <a16:creationId xmlns:a16="http://schemas.microsoft.com/office/drawing/2014/main" id="{162FD44C-FBC8-3BFC-DDAB-B460D3FDC0C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01402" y="5053973"/>
                <a:ext cx="914400" cy="914400"/>
              </a:xfrm>
              <a:prstGeom prst="rect">
                <a:avLst/>
              </a:prstGeom>
            </p:spPr>
          </p:pic>
          <p:pic>
            <p:nvPicPr>
              <p:cNvPr id="56" name="Graphic 55" descr="Man with solid fill">
                <a:extLst>
                  <a:ext uri="{FF2B5EF4-FFF2-40B4-BE49-F238E27FC236}">
                    <a16:creationId xmlns:a16="http://schemas.microsoft.com/office/drawing/2014/main" id="{22B8EC3C-B31B-5624-DEA2-3669CCB2EEE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96279" y="4230869"/>
                <a:ext cx="914400" cy="914400"/>
              </a:xfrm>
              <a:prstGeom prst="rect">
                <a:avLst/>
              </a:prstGeom>
            </p:spPr>
          </p:pic>
          <p:pic>
            <p:nvPicPr>
              <p:cNvPr id="57" name="Graphic 56" descr="Two Men with solid fill">
                <a:extLst>
                  <a:ext uri="{FF2B5EF4-FFF2-40B4-BE49-F238E27FC236}">
                    <a16:creationId xmlns:a16="http://schemas.microsoft.com/office/drawing/2014/main" id="{0F81C381-F8A9-4987-4721-A5B7BD5B53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48365" y="3011669"/>
                <a:ext cx="914400" cy="914400"/>
              </a:xfrm>
              <a:prstGeom prst="rect">
                <a:avLst/>
              </a:prstGeom>
            </p:spPr>
          </p:pic>
          <p:pic>
            <p:nvPicPr>
              <p:cNvPr id="58" name="Graphic 57" descr="Man and woman with solid fill">
                <a:extLst>
                  <a:ext uri="{FF2B5EF4-FFF2-40B4-BE49-F238E27FC236}">
                    <a16:creationId xmlns:a16="http://schemas.microsoft.com/office/drawing/2014/main" id="{8137D98E-7231-DBE4-8150-72AFF897996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9698" y="3840552"/>
                <a:ext cx="914400" cy="914400"/>
              </a:xfrm>
              <a:prstGeom prst="rect">
                <a:avLst/>
              </a:prstGeom>
            </p:spPr>
          </p:pic>
          <p:pic>
            <p:nvPicPr>
              <p:cNvPr id="59" name="Graphic 58" descr="Man and woman with solid fill">
                <a:extLst>
                  <a:ext uri="{FF2B5EF4-FFF2-40B4-BE49-F238E27FC236}">
                    <a16:creationId xmlns:a16="http://schemas.microsoft.com/office/drawing/2014/main" id="{F81EEBB0-B73D-986E-35C8-5CCB963F9E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40049" y="4865022"/>
                <a:ext cx="914400" cy="914400"/>
              </a:xfrm>
              <a:prstGeom prst="rect">
                <a:avLst/>
              </a:prstGeom>
            </p:spPr>
          </p:pic>
          <p:pic>
            <p:nvPicPr>
              <p:cNvPr id="60" name="Graphic 59" descr="Man with solid fill">
                <a:extLst>
                  <a:ext uri="{FF2B5EF4-FFF2-40B4-BE49-F238E27FC236}">
                    <a16:creationId xmlns:a16="http://schemas.microsoft.com/office/drawing/2014/main" id="{AA29417F-D209-6A1F-BE9F-00A2540CEC5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08176" y="3548783"/>
                <a:ext cx="914400" cy="914400"/>
              </a:xfrm>
              <a:prstGeom prst="rect">
                <a:avLst/>
              </a:prstGeom>
            </p:spPr>
          </p:pic>
          <p:pic>
            <p:nvPicPr>
              <p:cNvPr id="61" name="Graphic 60" descr="Man with solid fill">
                <a:extLst>
                  <a:ext uri="{FF2B5EF4-FFF2-40B4-BE49-F238E27FC236}">
                    <a16:creationId xmlns:a16="http://schemas.microsoft.com/office/drawing/2014/main" id="{BC17BEAC-9125-C539-D3A1-A94A281603A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24751" y="3401986"/>
                <a:ext cx="914400" cy="914400"/>
              </a:xfrm>
              <a:prstGeom prst="rect">
                <a:avLst/>
              </a:prstGeom>
            </p:spPr>
          </p:pic>
        </p:grpSp>
        <p:grpSp>
          <p:nvGrpSpPr>
            <p:cNvPr id="62" name="Group 61">
              <a:extLst>
                <a:ext uri="{FF2B5EF4-FFF2-40B4-BE49-F238E27FC236}">
                  <a16:creationId xmlns:a16="http://schemas.microsoft.com/office/drawing/2014/main" id="{3FD46D97-5B88-5D5E-2A49-FDB0767DE4D2}"/>
                </a:ext>
              </a:extLst>
            </p:cNvPr>
            <p:cNvGrpSpPr/>
            <p:nvPr/>
          </p:nvGrpSpPr>
          <p:grpSpPr>
            <a:xfrm>
              <a:off x="1036647" y="3138979"/>
              <a:ext cx="4301316" cy="1603737"/>
              <a:chOff x="1308176" y="2792386"/>
              <a:chExt cx="8338404" cy="3175987"/>
            </a:xfrm>
          </p:grpSpPr>
          <p:pic>
            <p:nvPicPr>
              <p:cNvPr id="63" name="Graphic 62" descr="Man with solid fill">
                <a:extLst>
                  <a:ext uri="{FF2B5EF4-FFF2-40B4-BE49-F238E27FC236}">
                    <a16:creationId xmlns:a16="http://schemas.microsoft.com/office/drawing/2014/main" id="{0EFC43B9-88DC-7094-4E3A-E9A7141B85E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17531" y="2866697"/>
                <a:ext cx="914400" cy="914400"/>
              </a:xfrm>
              <a:prstGeom prst="rect">
                <a:avLst/>
              </a:prstGeom>
            </p:spPr>
          </p:pic>
          <p:pic>
            <p:nvPicPr>
              <p:cNvPr id="64" name="Graphic 63" descr="Man and woman with solid fill">
                <a:extLst>
                  <a:ext uri="{FF2B5EF4-FFF2-40B4-BE49-F238E27FC236}">
                    <a16:creationId xmlns:a16="http://schemas.microsoft.com/office/drawing/2014/main" id="{6DDC7273-BE6C-DF6D-21BE-EBD112774F3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32180" y="3158290"/>
                <a:ext cx="914400" cy="914400"/>
              </a:xfrm>
              <a:prstGeom prst="rect">
                <a:avLst/>
              </a:prstGeom>
            </p:spPr>
          </p:pic>
          <p:pic>
            <p:nvPicPr>
              <p:cNvPr id="65" name="Graphic 64" descr="Man with kid with solid fill">
                <a:extLst>
                  <a:ext uri="{FF2B5EF4-FFF2-40B4-BE49-F238E27FC236}">
                    <a16:creationId xmlns:a16="http://schemas.microsoft.com/office/drawing/2014/main" id="{1F3588B1-7A2C-FA44-3E13-C6A3121B34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2041" y="3352415"/>
                <a:ext cx="914400" cy="914400"/>
              </a:xfrm>
              <a:prstGeom prst="rect">
                <a:avLst/>
              </a:prstGeom>
            </p:spPr>
          </p:pic>
          <p:pic>
            <p:nvPicPr>
              <p:cNvPr id="66" name="Graphic 65" descr="Family with boy with solid fill">
                <a:extLst>
                  <a:ext uri="{FF2B5EF4-FFF2-40B4-BE49-F238E27FC236}">
                    <a16:creationId xmlns:a16="http://schemas.microsoft.com/office/drawing/2014/main" id="{C0CD87C3-67A3-4E47-3C71-95AED56AB4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2968" y="4364636"/>
                <a:ext cx="914400" cy="914400"/>
              </a:xfrm>
              <a:prstGeom prst="rect">
                <a:avLst/>
              </a:prstGeom>
            </p:spPr>
          </p:pic>
          <p:pic>
            <p:nvPicPr>
              <p:cNvPr id="67" name="Graphic 66" descr="Family with two children with solid fill">
                <a:extLst>
                  <a:ext uri="{FF2B5EF4-FFF2-40B4-BE49-F238E27FC236}">
                    <a16:creationId xmlns:a16="http://schemas.microsoft.com/office/drawing/2014/main" id="{FE2B4203-4092-C1E8-C046-978BC51245B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39407" y="4474540"/>
                <a:ext cx="914400" cy="914400"/>
              </a:xfrm>
              <a:prstGeom prst="rect">
                <a:avLst/>
              </a:prstGeom>
            </p:spPr>
          </p:pic>
          <p:pic>
            <p:nvPicPr>
              <p:cNvPr id="68" name="Graphic 67" descr="Man with kid with solid fill">
                <a:extLst>
                  <a:ext uri="{FF2B5EF4-FFF2-40B4-BE49-F238E27FC236}">
                    <a16:creationId xmlns:a16="http://schemas.microsoft.com/office/drawing/2014/main" id="{70B5B4DE-FCB6-35EB-71AA-8C8238483AF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82849" y="3450236"/>
                <a:ext cx="914400" cy="914400"/>
              </a:xfrm>
              <a:prstGeom prst="rect">
                <a:avLst/>
              </a:prstGeom>
            </p:spPr>
          </p:pic>
          <p:pic>
            <p:nvPicPr>
              <p:cNvPr id="69" name="Graphic 68" descr="Family with two children with solid fill">
                <a:extLst>
                  <a:ext uri="{FF2B5EF4-FFF2-40B4-BE49-F238E27FC236}">
                    <a16:creationId xmlns:a16="http://schemas.microsoft.com/office/drawing/2014/main" id="{92488475-17D7-597F-2D0D-AD15B0E8441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50340" y="4474540"/>
                <a:ext cx="914400" cy="914400"/>
              </a:xfrm>
              <a:prstGeom prst="rect">
                <a:avLst/>
              </a:prstGeom>
            </p:spPr>
          </p:pic>
          <p:pic>
            <p:nvPicPr>
              <p:cNvPr id="70" name="Graphic 69" descr="Man and woman with solid fill">
                <a:extLst>
                  <a:ext uri="{FF2B5EF4-FFF2-40B4-BE49-F238E27FC236}">
                    <a16:creationId xmlns:a16="http://schemas.microsoft.com/office/drawing/2014/main" id="{B6A4FF86-C64D-69CB-7B6F-2591BF3E8BA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96147" y="2792386"/>
                <a:ext cx="914400" cy="914400"/>
              </a:xfrm>
              <a:prstGeom prst="rect">
                <a:avLst/>
              </a:prstGeom>
            </p:spPr>
          </p:pic>
          <p:pic>
            <p:nvPicPr>
              <p:cNvPr id="71" name="Graphic 70" descr="Family with boy with solid fill">
                <a:extLst>
                  <a:ext uri="{FF2B5EF4-FFF2-40B4-BE49-F238E27FC236}">
                    <a16:creationId xmlns:a16="http://schemas.microsoft.com/office/drawing/2014/main" id="{0B59ACAA-C228-D682-3729-3DDAB091828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01402" y="5053973"/>
                <a:ext cx="914400" cy="914400"/>
              </a:xfrm>
              <a:prstGeom prst="rect">
                <a:avLst/>
              </a:prstGeom>
            </p:spPr>
          </p:pic>
          <p:pic>
            <p:nvPicPr>
              <p:cNvPr id="72" name="Graphic 71" descr="Man with solid fill">
                <a:extLst>
                  <a:ext uri="{FF2B5EF4-FFF2-40B4-BE49-F238E27FC236}">
                    <a16:creationId xmlns:a16="http://schemas.microsoft.com/office/drawing/2014/main" id="{CB240952-307E-5CE6-828C-541E30BC81E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96279" y="4230869"/>
                <a:ext cx="914400" cy="914400"/>
              </a:xfrm>
              <a:prstGeom prst="rect">
                <a:avLst/>
              </a:prstGeom>
            </p:spPr>
          </p:pic>
          <p:pic>
            <p:nvPicPr>
              <p:cNvPr id="73" name="Graphic 72" descr="Two Men with solid fill">
                <a:extLst>
                  <a:ext uri="{FF2B5EF4-FFF2-40B4-BE49-F238E27FC236}">
                    <a16:creationId xmlns:a16="http://schemas.microsoft.com/office/drawing/2014/main" id="{2AD297FC-1564-3E22-1617-BE246024778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48365" y="3011669"/>
                <a:ext cx="914400" cy="914400"/>
              </a:xfrm>
              <a:prstGeom prst="rect">
                <a:avLst/>
              </a:prstGeom>
            </p:spPr>
          </p:pic>
          <p:pic>
            <p:nvPicPr>
              <p:cNvPr id="74" name="Graphic 73" descr="Man and woman with solid fill">
                <a:extLst>
                  <a:ext uri="{FF2B5EF4-FFF2-40B4-BE49-F238E27FC236}">
                    <a16:creationId xmlns:a16="http://schemas.microsoft.com/office/drawing/2014/main" id="{1D8BA475-389E-2D87-AF17-1B31B7D2D1F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9698" y="3840552"/>
                <a:ext cx="914400" cy="914400"/>
              </a:xfrm>
              <a:prstGeom prst="rect">
                <a:avLst/>
              </a:prstGeom>
            </p:spPr>
          </p:pic>
          <p:pic>
            <p:nvPicPr>
              <p:cNvPr id="75" name="Graphic 74" descr="Man and woman with solid fill">
                <a:extLst>
                  <a:ext uri="{FF2B5EF4-FFF2-40B4-BE49-F238E27FC236}">
                    <a16:creationId xmlns:a16="http://schemas.microsoft.com/office/drawing/2014/main" id="{7A242FEF-2C04-1474-4B29-47B038026D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40049" y="4865022"/>
                <a:ext cx="914400" cy="914400"/>
              </a:xfrm>
              <a:prstGeom prst="rect">
                <a:avLst/>
              </a:prstGeom>
            </p:spPr>
          </p:pic>
          <p:pic>
            <p:nvPicPr>
              <p:cNvPr id="76" name="Graphic 75" descr="Man with solid fill">
                <a:extLst>
                  <a:ext uri="{FF2B5EF4-FFF2-40B4-BE49-F238E27FC236}">
                    <a16:creationId xmlns:a16="http://schemas.microsoft.com/office/drawing/2014/main" id="{13405AA0-FDC6-64A3-9A66-CB25EC9D7F1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08176" y="3548783"/>
                <a:ext cx="914400" cy="914400"/>
              </a:xfrm>
              <a:prstGeom prst="rect">
                <a:avLst/>
              </a:prstGeom>
            </p:spPr>
          </p:pic>
          <p:pic>
            <p:nvPicPr>
              <p:cNvPr id="77" name="Graphic 76" descr="Man with solid fill">
                <a:extLst>
                  <a:ext uri="{FF2B5EF4-FFF2-40B4-BE49-F238E27FC236}">
                    <a16:creationId xmlns:a16="http://schemas.microsoft.com/office/drawing/2014/main" id="{255CBFD0-5372-B284-A333-766CBD804F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24751" y="3401986"/>
                <a:ext cx="914400" cy="914400"/>
              </a:xfrm>
              <a:prstGeom prst="rect">
                <a:avLst/>
              </a:prstGeom>
            </p:spPr>
          </p:pic>
        </p:grpSp>
      </p:grpSp>
      <p:grpSp>
        <p:nvGrpSpPr>
          <p:cNvPr id="79" name="Group 78">
            <a:extLst>
              <a:ext uri="{FF2B5EF4-FFF2-40B4-BE49-F238E27FC236}">
                <a16:creationId xmlns:a16="http://schemas.microsoft.com/office/drawing/2014/main" id="{D8343F02-5CF9-F201-8CA9-3962EA89BB96}"/>
              </a:ext>
            </a:extLst>
          </p:cNvPr>
          <p:cNvGrpSpPr/>
          <p:nvPr/>
        </p:nvGrpSpPr>
        <p:grpSpPr>
          <a:xfrm>
            <a:off x="1253327" y="3449611"/>
            <a:ext cx="4348979" cy="2514581"/>
            <a:chOff x="372379" y="2763663"/>
            <a:chExt cx="9380899" cy="3457179"/>
          </a:xfrm>
        </p:grpSpPr>
        <p:grpSp>
          <p:nvGrpSpPr>
            <p:cNvPr id="80" name="Group 79">
              <a:extLst>
                <a:ext uri="{FF2B5EF4-FFF2-40B4-BE49-F238E27FC236}">
                  <a16:creationId xmlns:a16="http://schemas.microsoft.com/office/drawing/2014/main" id="{20422802-1F44-8083-C99E-338E39A58E70}"/>
                </a:ext>
              </a:extLst>
            </p:cNvPr>
            <p:cNvGrpSpPr/>
            <p:nvPr/>
          </p:nvGrpSpPr>
          <p:grpSpPr>
            <a:xfrm>
              <a:off x="372379" y="4450128"/>
              <a:ext cx="4301316" cy="1603737"/>
              <a:chOff x="1308176" y="2792386"/>
              <a:chExt cx="8338404" cy="3175987"/>
            </a:xfrm>
          </p:grpSpPr>
          <p:pic>
            <p:nvPicPr>
              <p:cNvPr id="129" name="Graphic 128" descr="Man with solid fill">
                <a:extLst>
                  <a:ext uri="{FF2B5EF4-FFF2-40B4-BE49-F238E27FC236}">
                    <a16:creationId xmlns:a16="http://schemas.microsoft.com/office/drawing/2014/main" id="{C88BBCF6-E30F-798F-25D2-79939655CD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17531" y="2866697"/>
                <a:ext cx="914400" cy="914400"/>
              </a:xfrm>
              <a:prstGeom prst="rect">
                <a:avLst/>
              </a:prstGeom>
            </p:spPr>
          </p:pic>
          <p:pic>
            <p:nvPicPr>
              <p:cNvPr id="130" name="Graphic 129" descr="Man and woman with solid fill">
                <a:extLst>
                  <a:ext uri="{FF2B5EF4-FFF2-40B4-BE49-F238E27FC236}">
                    <a16:creationId xmlns:a16="http://schemas.microsoft.com/office/drawing/2014/main" id="{B028D8BF-B618-2ECE-D767-173FF45E36A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32180" y="3158290"/>
                <a:ext cx="914400" cy="914400"/>
              </a:xfrm>
              <a:prstGeom prst="rect">
                <a:avLst/>
              </a:prstGeom>
            </p:spPr>
          </p:pic>
          <p:pic>
            <p:nvPicPr>
              <p:cNvPr id="131" name="Graphic 130" descr="Man with kid with solid fill">
                <a:extLst>
                  <a:ext uri="{FF2B5EF4-FFF2-40B4-BE49-F238E27FC236}">
                    <a16:creationId xmlns:a16="http://schemas.microsoft.com/office/drawing/2014/main" id="{24466EF4-6A4F-F066-4207-D84622C7C77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2041" y="3352415"/>
                <a:ext cx="914400" cy="914400"/>
              </a:xfrm>
              <a:prstGeom prst="rect">
                <a:avLst/>
              </a:prstGeom>
            </p:spPr>
          </p:pic>
          <p:pic>
            <p:nvPicPr>
              <p:cNvPr id="132" name="Graphic 131" descr="Family with boy with solid fill">
                <a:extLst>
                  <a:ext uri="{FF2B5EF4-FFF2-40B4-BE49-F238E27FC236}">
                    <a16:creationId xmlns:a16="http://schemas.microsoft.com/office/drawing/2014/main" id="{8848FEB5-25A0-83BA-14DA-BC14611DC76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2968" y="4364636"/>
                <a:ext cx="914400" cy="914400"/>
              </a:xfrm>
              <a:prstGeom prst="rect">
                <a:avLst/>
              </a:prstGeom>
            </p:spPr>
          </p:pic>
          <p:pic>
            <p:nvPicPr>
              <p:cNvPr id="133" name="Graphic 132" descr="Family with two children with solid fill">
                <a:extLst>
                  <a:ext uri="{FF2B5EF4-FFF2-40B4-BE49-F238E27FC236}">
                    <a16:creationId xmlns:a16="http://schemas.microsoft.com/office/drawing/2014/main" id="{366604C1-AC45-EEF6-7590-D4BAC313FE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39407" y="4474540"/>
                <a:ext cx="914400" cy="914400"/>
              </a:xfrm>
              <a:prstGeom prst="rect">
                <a:avLst/>
              </a:prstGeom>
            </p:spPr>
          </p:pic>
          <p:pic>
            <p:nvPicPr>
              <p:cNvPr id="134" name="Graphic 133" descr="Man with kid with solid fill">
                <a:extLst>
                  <a:ext uri="{FF2B5EF4-FFF2-40B4-BE49-F238E27FC236}">
                    <a16:creationId xmlns:a16="http://schemas.microsoft.com/office/drawing/2014/main" id="{DA765079-CADE-392B-174B-D85B4AF6AAB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82849" y="3450236"/>
                <a:ext cx="914400" cy="914400"/>
              </a:xfrm>
              <a:prstGeom prst="rect">
                <a:avLst/>
              </a:prstGeom>
            </p:spPr>
          </p:pic>
          <p:pic>
            <p:nvPicPr>
              <p:cNvPr id="135" name="Graphic 134" descr="Family with two children with solid fill">
                <a:extLst>
                  <a:ext uri="{FF2B5EF4-FFF2-40B4-BE49-F238E27FC236}">
                    <a16:creationId xmlns:a16="http://schemas.microsoft.com/office/drawing/2014/main" id="{7F492EFC-F122-A9C2-D6F3-FCBE87D8F75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50340" y="4474540"/>
                <a:ext cx="914400" cy="914400"/>
              </a:xfrm>
              <a:prstGeom prst="rect">
                <a:avLst/>
              </a:prstGeom>
            </p:spPr>
          </p:pic>
          <p:pic>
            <p:nvPicPr>
              <p:cNvPr id="136" name="Graphic 135" descr="Man and woman with solid fill">
                <a:extLst>
                  <a:ext uri="{FF2B5EF4-FFF2-40B4-BE49-F238E27FC236}">
                    <a16:creationId xmlns:a16="http://schemas.microsoft.com/office/drawing/2014/main" id="{2F2DA85F-D5DA-2F6C-B081-B437B9F9425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96147" y="2792386"/>
                <a:ext cx="914400" cy="914400"/>
              </a:xfrm>
              <a:prstGeom prst="rect">
                <a:avLst/>
              </a:prstGeom>
            </p:spPr>
          </p:pic>
          <p:pic>
            <p:nvPicPr>
              <p:cNvPr id="137" name="Graphic 136" descr="Family with boy with solid fill">
                <a:extLst>
                  <a:ext uri="{FF2B5EF4-FFF2-40B4-BE49-F238E27FC236}">
                    <a16:creationId xmlns:a16="http://schemas.microsoft.com/office/drawing/2014/main" id="{12C6E16F-C330-ACE0-02E5-5D6DD730E58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01402" y="5053973"/>
                <a:ext cx="914400" cy="914400"/>
              </a:xfrm>
              <a:prstGeom prst="rect">
                <a:avLst/>
              </a:prstGeom>
            </p:spPr>
          </p:pic>
          <p:pic>
            <p:nvPicPr>
              <p:cNvPr id="138" name="Graphic 137" descr="Man with solid fill">
                <a:extLst>
                  <a:ext uri="{FF2B5EF4-FFF2-40B4-BE49-F238E27FC236}">
                    <a16:creationId xmlns:a16="http://schemas.microsoft.com/office/drawing/2014/main" id="{51CCED45-03B4-6F2B-6A14-A90A1135719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96279" y="4230869"/>
                <a:ext cx="914400" cy="914400"/>
              </a:xfrm>
              <a:prstGeom prst="rect">
                <a:avLst/>
              </a:prstGeom>
            </p:spPr>
          </p:pic>
          <p:pic>
            <p:nvPicPr>
              <p:cNvPr id="139" name="Graphic 138" descr="Two Men with solid fill">
                <a:extLst>
                  <a:ext uri="{FF2B5EF4-FFF2-40B4-BE49-F238E27FC236}">
                    <a16:creationId xmlns:a16="http://schemas.microsoft.com/office/drawing/2014/main" id="{35700E40-4C0B-71B6-497F-DF283A4BAA6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48365" y="3011669"/>
                <a:ext cx="914400" cy="914400"/>
              </a:xfrm>
              <a:prstGeom prst="rect">
                <a:avLst/>
              </a:prstGeom>
            </p:spPr>
          </p:pic>
          <p:pic>
            <p:nvPicPr>
              <p:cNvPr id="140" name="Graphic 139" descr="Man and woman with solid fill">
                <a:extLst>
                  <a:ext uri="{FF2B5EF4-FFF2-40B4-BE49-F238E27FC236}">
                    <a16:creationId xmlns:a16="http://schemas.microsoft.com/office/drawing/2014/main" id="{AD1FA3DC-0274-9509-3F94-147AD443657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9698" y="3840552"/>
                <a:ext cx="914400" cy="914400"/>
              </a:xfrm>
              <a:prstGeom prst="rect">
                <a:avLst/>
              </a:prstGeom>
            </p:spPr>
          </p:pic>
          <p:pic>
            <p:nvPicPr>
              <p:cNvPr id="141" name="Graphic 140" descr="Man and woman with solid fill">
                <a:extLst>
                  <a:ext uri="{FF2B5EF4-FFF2-40B4-BE49-F238E27FC236}">
                    <a16:creationId xmlns:a16="http://schemas.microsoft.com/office/drawing/2014/main" id="{6BAF02AF-C152-BBD1-7EE9-F3B5910F60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40049" y="4865022"/>
                <a:ext cx="914400" cy="914400"/>
              </a:xfrm>
              <a:prstGeom prst="rect">
                <a:avLst/>
              </a:prstGeom>
            </p:spPr>
          </p:pic>
          <p:pic>
            <p:nvPicPr>
              <p:cNvPr id="142" name="Graphic 141" descr="Man with solid fill">
                <a:extLst>
                  <a:ext uri="{FF2B5EF4-FFF2-40B4-BE49-F238E27FC236}">
                    <a16:creationId xmlns:a16="http://schemas.microsoft.com/office/drawing/2014/main" id="{6D7EE574-0995-953C-4A47-AE8D9F3884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08176" y="3548783"/>
                <a:ext cx="914400" cy="914400"/>
              </a:xfrm>
              <a:prstGeom prst="rect">
                <a:avLst/>
              </a:prstGeom>
            </p:spPr>
          </p:pic>
          <p:pic>
            <p:nvPicPr>
              <p:cNvPr id="143" name="Graphic 142" descr="Man with solid fill">
                <a:extLst>
                  <a:ext uri="{FF2B5EF4-FFF2-40B4-BE49-F238E27FC236}">
                    <a16:creationId xmlns:a16="http://schemas.microsoft.com/office/drawing/2014/main" id="{4F507871-4095-D496-C9FA-7211AD3B59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24751" y="3401986"/>
                <a:ext cx="914400" cy="914400"/>
              </a:xfrm>
              <a:prstGeom prst="rect">
                <a:avLst/>
              </a:prstGeom>
            </p:spPr>
          </p:pic>
        </p:grpSp>
        <p:grpSp>
          <p:nvGrpSpPr>
            <p:cNvPr id="81" name="Group 80">
              <a:extLst>
                <a:ext uri="{FF2B5EF4-FFF2-40B4-BE49-F238E27FC236}">
                  <a16:creationId xmlns:a16="http://schemas.microsoft.com/office/drawing/2014/main" id="{4C138CC9-6908-BD8B-E9F7-B42F3D25B845}"/>
                </a:ext>
              </a:extLst>
            </p:cNvPr>
            <p:cNvGrpSpPr/>
            <p:nvPr/>
          </p:nvGrpSpPr>
          <p:grpSpPr>
            <a:xfrm>
              <a:off x="5227836" y="4617105"/>
              <a:ext cx="4301316" cy="1603737"/>
              <a:chOff x="1308176" y="2792386"/>
              <a:chExt cx="8338404" cy="3175987"/>
            </a:xfrm>
          </p:grpSpPr>
          <p:pic>
            <p:nvPicPr>
              <p:cNvPr id="114" name="Graphic 113" descr="Man with solid fill">
                <a:extLst>
                  <a:ext uri="{FF2B5EF4-FFF2-40B4-BE49-F238E27FC236}">
                    <a16:creationId xmlns:a16="http://schemas.microsoft.com/office/drawing/2014/main" id="{FF1938B0-DA61-B10F-25EC-BC5C81DDBCD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17531" y="2866697"/>
                <a:ext cx="914400" cy="914400"/>
              </a:xfrm>
              <a:prstGeom prst="rect">
                <a:avLst/>
              </a:prstGeom>
            </p:spPr>
          </p:pic>
          <p:pic>
            <p:nvPicPr>
              <p:cNvPr id="115" name="Graphic 114" descr="Man and woman with solid fill">
                <a:extLst>
                  <a:ext uri="{FF2B5EF4-FFF2-40B4-BE49-F238E27FC236}">
                    <a16:creationId xmlns:a16="http://schemas.microsoft.com/office/drawing/2014/main" id="{459DDB49-176C-543C-0FB3-F0FAE49C1A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32180" y="3158290"/>
                <a:ext cx="914400" cy="914400"/>
              </a:xfrm>
              <a:prstGeom prst="rect">
                <a:avLst/>
              </a:prstGeom>
            </p:spPr>
          </p:pic>
          <p:pic>
            <p:nvPicPr>
              <p:cNvPr id="116" name="Graphic 115" descr="Man with kid with solid fill">
                <a:extLst>
                  <a:ext uri="{FF2B5EF4-FFF2-40B4-BE49-F238E27FC236}">
                    <a16:creationId xmlns:a16="http://schemas.microsoft.com/office/drawing/2014/main" id="{07967C7D-70DF-E77E-BE75-3F1C951C92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2041" y="3352415"/>
                <a:ext cx="914400" cy="914400"/>
              </a:xfrm>
              <a:prstGeom prst="rect">
                <a:avLst/>
              </a:prstGeom>
            </p:spPr>
          </p:pic>
          <p:pic>
            <p:nvPicPr>
              <p:cNvPr id="117" name="Graphic 116" descr="Family with boy with solid fill">
                <a:extLst>
                  <a:ext uri="{FF2B5EF4-FFF2-40B4-BE49-F238E27FC236}">
                    <a16:creationId xmlns:a16="http://schemas.microsoft.com/office/drawing/2014/main" id="{F8BC4E8E-25B4-36A1-BDA4-EFDB8CDB0C1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2968" y="4364636"/>
                <a:ext cx="914400" cy="914400"/>
              </a:xfrm>
              <a:prstGeom prst="rect">
                <a:avLst/>
              </a:prstGeom>
            </p:spPr>
          </p:pic>
          <p:pic>
            <p:nvPicPr>
              <p:cNvPr id="118" name="Graphic 117" descr="Family with two children with solid fill">
                <a:extLst>
                  <a:ext uri="{FF2B5EF4-FFF2-40B4-BE49-F238E27FC236}">
                    <a16:creationId xmlns:a16="http://schemas.microsoft.com/office/drawing/2014/main" id="{632D32AB-D705-789C-1954-9A8EDC01915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39407" y="4474540"/>
                <a:ext cx="914400" cy="914400"/>
              </a:xfrm>
              <a:prstGeom prst="rect">
                <a:avLst/>
              </a:prstGeom>
            </p:spPr>
          </p:pic>
          <p:pic>
            <p:nvPicPr>
              <p:cNvPr id="119" name="Graphic 118" descr="Man with kid with solid fill">
                <a:extLst>
                  <a:ext uri="{FF2B5EF4-FFF2-40B4-BE49-F238E27FC236}">
                    <a16:creationId xmlns:a16="http://schemas.microsoft.com/office/drawing/2014/main" id="{64B174E8-D4BE-817E-43B3-304FBC0E33C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82849" y="3450236"/>
                <a:ext cx="914400" cy="914400"/>
              </a:xfrm>
              <a:prstGeom prst="rect">
                <a:avLst/>
              </a:prstGeom>
            </p:spPr>
          </p:pic>
          <p:pic>
            <p:nvPicPr>
              <p:cNvPr id="120" name="Graphic 119" descr="Family with two children with solid fill">
                <a:extLst>
                  <a:ext uri="{FF2B5EF4-FFF2-40B4-BE49-F238E27FC236}">
                    <a16:creationId xmlns:a16="http://schemas.microsoft.com/office/drawing/2014/main" id="{4F2D0F59-4918-3120-2581-CD439D4611F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50340" y="4474540"/>
                <a:ext cx="914400" cy="914400"/>
              </a:xfrm>
              <a:prstGeom prst="rect">
                <a:avLst/>
              </a:prstGeom>
            </p:spPr>
          </p:pic>
          <p:pic>
            <p:nvPicPr>
              <p:cNvPr id="121" name="Graphic 120" descr="Man and woman with solid fill">
                <a:extLst>
                  <a:ext uri="{FF2B5EF4-FFF2-40B4-BE49-F238E27FC236}">
                    <a16:creationId xmlns:a16="http://schemas.microsoft.com/office/drawing/2014/main" id="{F9117BA7-7E5E-D4CE-E03D-370A435B315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96147" y="2792386"/>
                <a:ext cx="914400" cy="914400"/>
              </a:xfrm>
              <a:prstGeom prst="rect">
                <a:avLst/>
              </a:prstGeom>
            </p:spPr>
          </p:pic>
          <p:pic>
            <p:nvPicPr>
              <p:cNvPr id="122" name="Graphic 121" descr="Family with boy with solid fill">
                <a:extLst>
                  <a:ext uri="{FF2B5EF4-FFF2-40B4-BE49-F238E27FC236}">
                    <a16:creationId xmlns:a16="http://schemas.microsoft.com/office/drawing/2014/main" id="{ACA696E7-5F67-C051-A77B-352F5DD0D36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01402" y="5053973"/>
                <a:ext cx="914400" cy="914400"/>
              </a:xfrm>
              <a:prstGeom prst="rect">
                <a:avLst/>
              </a:prstGeom>
            </p:spPr>
          </p:pic>
          <p:pic>
            <p:nvPicPr>
              <p:cNvPr id="123" name="Graphic 122" descr="Man with solid fill">
                <a:extLst>
                  <a:ext uri="{FF2B5EF4-FFF2-40B4-BE49-F238E27FC236}">
                    <a16:creationId xmlns:a16="http://schemas.microsoft.com/office/drawing/2014/main" id="{6DA154C8-80BA-3B92-A4E1-5E14FAD809D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96279" y="4230869"/>
                <a:ext cx="914400" cy="914400"/>
              </a:xfrm>
              <a:prstGeom prst="rect">
                <a:avLst/>
              </a:prstGeom>
            </p:spPr>
          </p:pic>
          <p:pic>
            <p:nvPicPr>
              <p:cNvPr id="124" name="Graphic 123" descr="Two Men with solid fill">
                <a:extLst>
                  <a:ext uri="{FF2B5EF4-FFF2-40B4-BE49-F238E27FC236}">
                    <a16:creationId xmlns:a16="http://schemas.microsoft.com/office/drawing/2014/main" id="{1A7E3935-EB61-507B-233C-3713A9ABBFF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48365" y="3011669"/>
                <a:ext cx="914400" cy="914400"/>
              </a:xfrm>
              <a:prstGeom prst="rect">
                <a:avLst/>
              </a:prstGeom>
            </p:spPr>
          </p:pic>
          <p:pic>
            <p:nvPicPr>
              <p:cNvPr id="125" name="Graphic 124" descr="Man and woman with solid fill">
                <a:extLst>
                  <a:ext uri="{FF2B5EF4-FFF2-40B4-BE49-F238E27FC236}">
                    <a16:creationId xmlns:a16="http://schemas.microsoft.com/office/drawing/2014/main" id="{AAE6B7D6-0FB5-0423-E04F-6A6F3D2D00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9698" y="3840552"/>
                <a:ext cx="914400" cy="914400"/>
              </a:xfrm>
              <a:prstGeom prst="rect">
                <a:avLst/>
              </a:prstGeom>
            </p:spPr>
          </p:pic>
          <p:pic>
            <p:nvPicPr>
              <p:cNvPr id="126" name="Graphic 125" descr="Man and woman with solid fill">
                <a:extLst>
                  <a:ext uri="{FF2B5EF4-FFF2-40B4-BE49-F238E27FC236}">
                    <a16:creationId xmlns:a16="http://schemas.microsoft.com/office/drawing/2014/main" id="{59B9565E-2615-5242-A5F5-87554CCC0B2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40049" y="4865022"/>
                <a:ext cx="914400" cy="914400"/>
              </a:xfrm>
              <a:prstGeom prst="rect">
                <a:avLst/>
              </a:prstGeom>
            </p:spPr>
          </p:pic>
          <p:pic>
            <p:nvPicPr>
              <p:cNvPr id="127" name="Graphic 126" descr="Man with solid fill">
                <a:extLst>
                  <a:ext uri="{FF2B5EF4-FFF2-40B4-BE49-F238E27FC236}">
                    <a16:creationId xmlns:a16="http://schemas.microsoft.com/office/drawing/2014/main" id="{091E6214-1BCA-D65D-F1A2-0F158613E4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08176" y="3548783"/>
                <a:ext cx="914400" cy="914400"/>
              </a:xfrm>
              <a:prstGeom prst="rect">
                <a:avLst/>
              </a:prstGeom>
            </p:spPr>
          </p:pic>
          <p:pic>
            <p:nvPicPr>
              <p:cNvPr id="128" name="Graphic 127" descr="Man with solid fill">
                <a:extLst>
                  <a:ext uri="{FF2B5EF4-FFF2-40B4-BE49-F238E27FC236}">
                    <a16:creationId xmlns:a16="http://schemas.microsoft.com/office/drawing/2014/main" id="{CB478582-1C77-DB36-B1EC-D79FF5A8A5A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24751" y="3401986"/>
                <a:ext cx="914400" cy="914400"/>
              </a:xfrm>
              <a:prstGeom prst="rect">
                <a:avLst/>
              </a:prstGeom>
            </p:spPr>
          </p:pic>
        </p:grpSp>
        <p:grpSp>
          <p:nvGrpSpPr>
            <p:cNvPr id="82" name="Group 81">
              <a:extLst>
                <a:ext uri="{FF2B5EF4-FFF2-40B4-BE49-F238E27FC236}">
                  <a16:creationId xmlns:a16="http://schemas.microsoft.com/office/drawing/2014/main" id="{77A18618-1EF2-D0F3-BBA1-B0CD5C4A4277}"/>
                </a:ext>
              </a:extLst>
            </p:cNvPr>
            <p:cNvGrpSpPr/>
            <p:nvPr/>
          </p:nvGrpSpPr>
          <p:grpSpPr>
            <a:xfrm>
              <a:off x="5451962" y="2763663"/>
              <a:ext cx="4301316" cy="1603737"/>
              <a:chOff x="1308176" y="2792386"/>
              <a:chExt cx="8338404" cy="3175987"/>
            </a:xfrm>
          </p:grpSpPr>
          <p:pic>
            <p:nvPicPr>
              <p:cNvPr id="99" name="Graphic 98" descr="Man with solid fill">
                <a:extLst>
                  <a:ext uri="{FF2B5EF4-FFF2-40B4-BE49-F238E27FC236}">
                    <a16:creationId xmlns:a16="http://schemas.microsoft.com/office/drawing/2014/main" id="{0378E59A-66BD-2F00-6339-AF19B40AAB9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17531" y="2866697"/>
                <a:ext cx="914400" cy="914400"/>
              </a:xfrm>
              <a:prstGeom prst="rect">
                <a:avLst/>
              </a:prstGeom>
            </p:spPr>
          </p:pic>
          <p:pic>
            <p:nvPicPr>
              <p:cNvPr id="100" name="Graphic 99" descr="Man and woman with solid fill">
                <a:extLst>
                  <a:ext uri="{FF2B5EF4-FFF2-40B4-BE49-F238E27FC236}">
                    <a16:creationId xmlns:a16="http://schemas.microsoft.com/office/drawing/2014/main" id="{EB0DD61B-30E8-8FE3-8E81-93223FBEF46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32180" y="3158290"/>
                <a:ext cx="914400" cy="914400"/>
              </a:xfrm>
              <a:prstGeom prst="rect">
                <a:avLst/>
              </a:prstGeom>
            </p:spPr>
          </p:pic>
          <p:pic>
            <p:nvPicPr>
              <p:cNvPr id="101" name="Graphic 100" descr="Man with kid with solid fill">
                <a:extLst>
                  <a:ext uri="{FF2B5EF4-FFF2-40B4-BE49-F238E27FC236}">
                    <a16:creationId xmlns:a16="http://schemas.microsoft.com/office/drawing/2014/main" id="{22550392-65CF-5500-1D72-FB26EBA767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2041" y="3352415"/>
                <a:ext cx="914400" cy="914400"/>
              </a:xfrm>
              <a:prstGeom prst="rect">
                <a:avLst/>
              </a:prstGeom>
            </p:spPr>
          </p:pic>
          <p:pic>
            <p:nvPicPr>
              <p:cNvPr id="102" name="Graphic 101" descr="Family with boy with solid fill">
                <a:extLst>
                  <a:ext uri="{FF2B5EF4-FFF2-40B4-BE49-F238E27FC236}">
                    <a16:creationId xmlns:a16="http://schemas.microsoft.com/office/drawing/2014/main" id="{5A978203-27E5-0C51-A791-36E5618511F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2968" y="4364636"/>
                <a:ext cx="914400" cy="914400"/>
              </a:xfrm>
              <a:prstGeom prst="rect">
                <a:avLst/>
              </a:prstGeom>
            </p:spPr>
          </p:pic>
          <p:pic>
            <p:nvPicPr>
              <p:cNvPr id="103" name="Graphic 102" descr="Family with two children with solid fill">
                <a:extLst>
                  <a:ext uri="{FF2B5EF4-FFF2-40B4-BE49-F238E27FC236}">
                    <a16:creationId xmlns:a16="http://schemas.microsoft.com/office/drawing/2014/main" id="{B51A50AE-11ED-AF01-C8EA-7CADEED1768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39407" y="4474540"/>
                <a:ext cx="914400" cy="914400"/>
              </a:xfrm>
              <a:prstGeom prst="rect">
                <a:avLst/>
              </a:prstGeom>
            </p:spPr>
          </p:pic>
          <p:pic>
            <p:nvPicPr>
              <p:cNvPr id="104" name="Graphic 103" descr="Man with kid with solid fill">
                <a:extLst>
                  <a:ext uri="{FF2B5EF4-FFF2-40B4-BE49-F238E27FC236}">
                    <a16:creationId xmlns:a16="http://schemas.microsoft.com/office/drawing/2014/main" id="{51B4DB46-4B84-3627-2B48-10558F9F082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82849" y="3450236"/>
                <a:ext cx="914400" cy="914400"/>
              </a:xfrm>
              <a:prstGeom prst="rect">
                <a:avLst/>
              </a:prstGeom>
            </p:spPr>
          </p:pic>
          <p:pic>
            <p:nvPicPr>
              <p:cNvPr id="105" name="Graphic 104" descr="Family with two children with solid fill">
                <a:extLst>
                  <a:ext uri="{FF2B5EF4-FFF2-40B4-BE49-F238E27FC236}">
                    <a16:creationId xmlns:a16="http://schemas.microsoft.com/office/drawing/2014/main" id="{88128B26-09E8-A686-8191-EA92B529E66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50340" y="4474540"/>
                <a:ext cx="914400" cy="914400"/>
              </a:xfrm>
              <a:prstGeom prst="rect">
                <a:avLst/>
              </a:prstGeom>
            </p:spPr>
          </p:pic>
          <p:pic>
            <p:nvPicPr>
              <p:cNvPr id="106" name="Graphic 105" descr="Man and woman with solid fill">
                <a:extLst>
                  <a:ext uri="{FF2B5EF4-FFF2-40B4-BE49-F238E27FC236}">
                    <a16:creationId xmlns:a16="http://schemas.microsoft.com/office/drawing/2014/main" id="{593D266A-03CC-F94A-AAD0-9914F059A7E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96147" y="2792386"/>
                <a:ext cx="914400" cy="914400"/>
              </a:xfrm>
              <a:prstGeom prst="rect">
                <a:avLst/>
              </a:prstGeom>
            </p:spPr>
          </p:pic>
          <p:pic>
            <p:nvPicPr>
              <p:cNvPr id="107" name="Graphic 106" descr="Family with boy with solid fill">
                <a:extLst>
                  <a:ext uri="{FF2B5EF4-FFF2-40B4-BE49-F238E27FC236}">
                    <a16:creationId xmlns:a16="http://schemas.microsoft.com/office/drawing/2014/main" id="{A3A3AAF1-B3E9-AA1C-42AD-DD076B7F090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01402" y="5053973"/>
                <a:ext cx="914400" cy="914400"/>
              </a:xfrm>
              <a:prstGeom prst="rect">
                <a:avLst/>
              </a:prstGeom>
            </p:spPr>
          </p:pic>
          <p:pic>
            <p:nvPicPr>
              <p:cNvPr id="108" name="Graphic 107" descr="Man with solid fill">
                <a:extLst>
                  <a:ext uri="{FF2B5EF4-FFF2-40B4-BE49-F238E27FC236}">
                    <a16:creationId xmlns:a16="http://schemas.microsoft.com/office/drawing/2014/main" id="{C1871C36-D97B-26EE-5654-CC9DBA0B546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96279" y="4230869"/>
                <a:ext cx="914400" cy="914400"/>
              </a:xfrm>
              <a:prstGeom prst="rect">
                <a:avLst/>
              </a:prstGeom>
            </p:spPr>
          </p:pic>
          <p:pic>
            <p:nvPicPr>
              <p:cNvPr id="109" name="Graphic 108" descr="Two Men with solid fill">
                <a:extLst>
                  <a:ext uri="{FF2B5EF4-FFF2-40B4-BE49-F238E27FC236}">
                    <a16:creationId xmlns:a16="http://schemas.microsoft.com/office/drawing/2014/main" id="{BE21AFF4-C3E4-4D35-639C-B6F36B2891A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48365" y="3011669"/>
                <a:ext cx="914400" cy="914400"/>
              </a:xfrm>
              <a:prstGeom prst="rect">
                <a:avLst/>
              </a:prstGeom>
            </p:spPr>
          </p:pic>
          <p:pic>
            <p:nvPicPr>
              <p:cNvPr id="110" name="Graphic 109" descr="Man and woman with solid fill">
                <a:extLst>
                  <a:ext uri="{FF2B5EF4-FFF2-40B4-BE49-F238E27FC236}">
                    <a16:creationId xmlns:a16="http://schemas.microsoft.com/office/drawing/2014/main" id="{BA25D9E6-130B-0B83-988F-ACDEC92CEFD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9698" y="3840552"/>
                <a:ext cx="914400" cy="914400"/>
              </a:xfrm>
              <a:prstGeom prst="rect">
                <a:avLst/>
              </a:prstGeom>
            </p:spPr>
          </p:pic>
          <p:pic>
            <p:nvPicPr>
              <p:cNvPr id="111" name="Graphic 110" descr="Man and woman with solid fill">
                <a:extLst>
                  <a:ext uri="{FF2B5EF4-FFF2-40B4-BE49-F238E27FC236}">
                    <a16:creationId xmlns:a16="http://schemas.microsoft.com/office/drawing/2014/main" id="{653F6F2B-9AF0-FED3-BC20-BC5729A9680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40049" y="4865022"/>
                <a:ext cx="914400" cy="914400"/>
              </a:xfrm>
              <a:prstGeom prst="rect">
                <a:avLst/>
              </a:prstGeom>
            </p:spPr>
          </p:pic>
          <p:pic>
            <p:nvPicPr>
              <p:cNvPr id="112" name="Graphic 111" descr="Man with solid fill">
                <a:extLst>
                  <a:ext uri="{FF2B5EF4-FFF2-40B4-BE49-F238E27FC236}">
                    <a16:creationId xmlns:a16="http://schemas.microsoft.com/office/drawing/2014/main" id="{DC06FA2A-51AF-6F87-BB24-254E0B428500}"/>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08176" y="3548783"/>
                <a:ext cx="914400" cy="914400"/>
              </a:xfrm>
              <a:prstGeom prst="rect">
                <a:avLst/>
              </a:prstGeom>
            </p:spPr>
          </p:pic>
          <p:pic>
            <p:nvPicPr>
              <p:cNvPr id="113" name="Graphic 112" descr="Man with solid fill">
                <a:extLst>
                  <a:ext uri="{FF2B5EF4-FFF2-40B4-BE49-F238E27FC236}">
                    <a16:creationId xmlns:a16="http://schemas.microsoft.com/office/drawing/2014/main" id="{0BC62DD3-E1C1-3B70-43F8-B137F0BCD5C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24751" y="3401986"/>
                <a:ext cx="914400" cy="914400"/>
              </a:xfrm>
              <a:prstGeom prst="rect">
                <a:avLst/>
              </a:prstGeom>
            </p:spPr>
          </p:pic>
        </p:grpSp>
        <p:grpSp>
          <p:nvGrpSpPr>
            <p:cNvPr id="83" name="Group 82">
              <a:extLst>
                <a:ext uri="{FF2B5EF4-FFF2-40B4-BE49-F238E27FC236}">
                  <a16:creationId xmlns:a16="http://schemas.microsoft.com/office/drawing/2014/main" id="{D9FDA36B-0D15-B477-3B46-E92B66DD7F14}"/>
                </a:ext>
              </a:extLst>
            </p:cNvPr>
            <p:cNvGrpSpPr/>
            <p:nvPr/>
          </p:nvGrpSpPr>
          <p:grpSpPr>
            <a:xfrm>
              <a:off x="1036647" y="3138979"/>
              <a:ext cx="4301316" cy="1603737"/>
              <a:chOff x="1308176" y="2792386"/>
              <a:chExt cx="8338404" cy="3175987"/>
            </a:xfrm>
          </p:grpSpPr>
          <p:pic>
            <p:nvPicPr>
              <p:cNvPr id="84" name="Graphic 83" descr="Man with solid fill">
                <a:extLst>
                  <a:ext uri="{FF2B5EF4-FFF2-40B4-BE49-F238E27FC236}">
                    <a16:creationId xmlns:a16="http://schemas.microsoft.com/office/drawing/2014/main" id="{B10627E9-96AB-8776-8A12-527A3C5E568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317531" y="2866697"/>
                <a:ext cx="914400" cy="914400"/>
              </a:xfrm>
              <a:prstGeom prst="rect">
                <a:avLst/>
              </a:prstGeom>
            </p:spPr>
          </p:pic>
          <p:pic>
            <p:nvPicPr>
              <p:cNvPr id="85" name="Graphic 84" descr="Man and woman with solid fill">
                <a:extLst>
                  <a:ext uri="{FF2B5EF4-FFF2-40B4-BE49-F238E27FC236}">
                    <a16:creationId xmlns:a16="http://schemas.microsoft.com/office/drawing/2014/main" id="{74C98E20-2063-A0F1-E4F7-FE47E5BC46D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32180" y="3158290"/>
                <a:ext cx="914400" cy="914400"/>
              </a:xfrm>
              <a:prstGeom prst="rect">
                <a:avLst/>
              </a:prstGeom>
            </p:spPr>
          </p:pic>
          <p:pic>
            <p:nvPicPr>
              <p:cNvPr id="86" name="Graphic 85" descr="Man with kid with solid fill">
                <a:extLst>
                  <a:ext uri="{FF2B5EF4-FFF2-40B4-BE49-F238E27FC236}">
                    <a16:creationId xmlns:a16="http://schemas.microsoft.com/office/drawing/2014/main" id="{19434C27-CD66-0A0D-A689-91316A07440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622041" y="3352415"/>
                <a:ext cx="914400" cy="914400"/>
              </a:xfrm>
              <a:prstGeom prst="rect">
                <a:avLst/>
              </a:prstGeom>
            </p:spPr>
          </p:pic>
          <p:pic>
            <p:nvPicPr>
              <p:cNvPr id="87" name="Graphic 86" descr="Family with boy with solid fill">
                <a:extLst>
                  <a:ext uri="{FF2B5EF4-FFF2-40B4-BE49-F238E27FC236}">
                    <a16:creationId xmlns:a16="http://schemas.microsoft.com/office/drawing/2014/main" id="{50DB6C54-1BD2-43B3-1972-E2FDDF3DE68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22968" y="4364636"/>
                <a:ext cx="914400" cy="914400"/>
              </a:xfrm>
              <a:prstGeom prst="rect">
                <a:avLst/>
              </a:prstGeom>
            </p:spPr>
          </p:pic>
          <p:pic>
            <p:nvPicPr>
              <p:cNvPr id="88" name="Graphic 87" descr="Family with two children with solid fill">
                <a:extLst>
                  <a:ext uri="{FF2B5EF4-FFF2-40B4-BE49-F238E27FC236}">
                    <a16:creationId xmlns:a16="http://schemas.microsoft.com/office/drawing/2014/main" id="{1A01BFB5-C3CA-56D6-C75E-81F0ED9D7BA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39407" y="4474540"/>
                <a:ext cx="914400" cy="914400"/>
              </a:xfrm>
              <a:prstGeom prst="rect">
                <a:avLst/>
              </a:prstGeom>
            </p:spPr>
          </p:pic>
          <p:pic>
            <p:nvPicPr>
              <p:cNvPr id="89" name="Graphic 88" descr="Man with kid with solid fill">
                <a:extLst>
                  <a:ext uri="{FF2B5EF4-FFF2-40B4-BE49-F238E27FC236}">
                    <a16:creationId xmlns:a16="http://schemas.microsoft.com/office/drawing/2014/main" id="{228A0881-7A91-6322-B8E3-A0B52977E0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082849" y="3450236"/>
                <a:ext cx="914400" cy="914400"/>
              </a:xfrm>
              <a:prstGeom prst="rect">
                <a:avLst/>
              </a:prstGeom>
            </p:spPr>
          </p:pic>
          <p:pic>
            <p:nvPicPr>
              <p:cNvPr id="90" name="Graphic 89" descr="Family with two children with solid fill">
                <a:extLst>
                  <a:ext uri="{FF2B5EF4-FFF2-40B4-BE49-F238E27FC236}">
                    <a16:creationId xmlns:a16="http://schemas.microsoft.com/office/drawing/2014/main" id="{7A84F751-ECED-3EFC-5444-83436937C00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50340" y="4474540"/>
                <a:ext cx="914400" cy="914400"/>
              </a:xfrm>
              <a:prstGeom prst="rect">
                <a:avLst/>
              </a:prstGeom>
            </p:spPr>
          </p:pic>
          <p:pic>
            <p:nvPicPr>
              <p:cNvPr id="91" name="Graphic 90" descr="Man and woman with solid fill">
                <a:extLst>
                  <a:ext uri="{FF2B5EF4-FFF2-40B4-BE49-F238E27FC236}">
                    <a16:creationId xmlns:a16="http://schemas.microsoft.com/office/drawing/2014/main" id="{8028C2D0-AF01-295C-2087-2784905345C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96147" y="2792386"/>
                <a:ext cx="914400" cy="914400"/>
              </a:xfrm>
              <a:prstGeom prst="rect">
                <a:avLst/>
              </a:prstGeom>
            </p:spPr>
          </p:pic>
          <p:pic>
            <p:nvPicPr>
              <p:cNvPr id="92" name="Graphic 91" descr="Family with boy with solid fill">
                <a:extLst>
                  <a:ext uri="{FF2B5EF4-FFF2-40B4-BE49-F238E27FC236}">
                    <a16:creationId xmlns:a16="http://schemas.microsoft.com/office/drawing/2014/main" id="{3C2AAF90-FF6C-2BB4-45D6-3FD95E48C12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701402" y="5053973"/>
                <a:ext cx="914400" cy="914400"/>
              </a:xfrm>
              <a:prstGeom prst="rect">
                <a:avLst/>
              </a:prstGeom>
            </p:spPr>
          </p:pic>
          <p:pic>
            <p:nvPicPr>
              <p:cNvPr id="93" name="Graphic 92" descr="Man with solid fill">
                <a:extLst>
                  <a:ext uri="{FF2B5EF4-FFF2-40B4-BE49-F238E27FC236}">
                    <a16:creationId xmlns:a16="http://schemas.microsoft.com/office/drawing/2014/main" id="{01D92CE6-4C1E-D665-8396-78ECC1F6B46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096279" y="4230869"/>
                <a:ext cx="914400" cy="914400"/>
              </a:xfrm>
              <a:prstGeom prst="rect">
                <a:avLst/>
              </a:prstGeom>
            </p:spPr>
          </p:pic>
          <p:pic>
            <p:nvPicPr>
              <p:cNvPr id="94" name="Graphic 93" descr="Two Men with solid fill">
                <a:extLst>
                  <a:ext uri="{FF2B5EF4-FFF2-40B4-BE49-F238E27FC236}">
                    <a16:creationId xmlns:a16="http://schemas.microsoft.com/office/drawing/2014/main" id="{B8033286-742F-C387-8B07-8C9C5614EF0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48365" y="3011669"/>
                <a:ext cx="914400" cy="914400"/>
              </a:xfrm>
              <a:prstGeom prst="rect">
                <a:avLst/>
              </a:prstGeom>
            </p:spPr>
          </p:pic>
          <p:pic>
            <p:nvPicPr>
              <p:cNvPr id="95" name="Graphic 94" descr="Man and woman with solid fill">
                <a:extLst>
                  <a:ext uri="{FF2B5EF4-FFF2-40B4-BE49-F238E27FC236}">
                    <a16:creationId xmlns:a16="http://schemas.microsoft.com/office/drawing/2014/main" id="{6524700C-CC4C-E66F-756C-A6D7CF110C8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49698" y="3840552"/>
                <a:ext cx="914400" cy="914400"/>
              </a:xfrm>
              <a:prstGeom prst="rect">
                <a:avLst/>
              </a:prstGeom>
            </p:spPr>
          </p:pic>
          <p:pic>
            <p:nvPicPr>
              <p:cNvPr id="96" name="Graphic 95" descr="Man and woman with solid fill">
                <a:extLst>
                  <a:ext uri="{FF2B5EF4-FFF2-40B4-BE49-F238E27FC236}">
                    <a16:creationId xmlns:a16="http://schemas.microsoft.com/office/drawing/2014/main" id="{293EB2B2-F65A-9207-AC23-2F5001B434C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540049" y="4865022"/>
                <a:ext cx="914400" cy="914400"/>
              </a:xfrm>
              <a:prstGeom prst="rect">
                <a:avLst/>
              </a:prstGeom>
            </p:spPr>
          </p:pic>
          <p:pic>
            <p:nvPicPr>
              <p:cNvPr id="97" name="Graphic 96" descr="Man with solid fill">
                <a:extLst>
                  <a:ext uri="{FF2B5EF4-FFF2-40B4-BE49-F238E27FC236}">
                    <a16:creationId xmlns:a16="http://schemas.microsoft.com/office/drawing/2014/main" id="{FA99C93C-1D60-9E42-7F52-C8022E74033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308176" y="3548783"/>
                <a:ext cx="914400" cy="914400"/>
              </a:xfrm>
              <a:prstGeom prst="rect">
                <a:avLst/>
              </a:prstGeom>
            </p:spPr>
          </p:pic>
          <p:pic>
            <p:nvPicPr>
              <p:cNvPr id="98" name="Graphic 97" descr="Man with solid fill">
                <a:extLst>
                  <a:ext uri="{FF2B5EF4-FFF2-40B4-BE49-F238E27FC236}">
                    <a16:creationId xmlns:a16="http://schemas.microsoft.com/office/drawing/2014/main" id="{5EA82E49-55CF-5881-4354-B71F68E25C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024751" y="3401986"/>
                <a:ext cx="914400" cy="914400"/>
              </a:xfrm>
              <a:prstGeom prst="rect">
                <a:avLst/>
              </a:prstGeom>
            </p:spPr>
          </p:pic>
        </p:grpSp>
      </p:grpSp>
    </p:spTree>
    <p:extLst>
      <p:ext uri="{BB962C8B-B14F-4D97-AF65-F5344CB8AC3E}">
        <p14:creationId xmlns:p14="http://schemas.microsoft.com/office/powerpoint/2010/main" val="1826938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6C0ECA-27E7-D36A-4264-ED0C3AB2B5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6B554D-30DA-1566-EF93-ED697787E44C}"/>
              </a:ext>
            </a:extLst>
          </p:cNvPr>
          <p:cNvSpPr>
            <a:spLocks noGrp="1"/>
          </p:cNvSpPr>
          <p:nvPr>
            <p:ph type="title"/>
          </p:nvPr>
        </p:nvSpPr>
        <p:spPr/>
        <p:txBody>
          <a:bodyPr/>
          <a:lstStyle/>
          <a:p>
            <a:r>
              <a:rPr lang="en-US" sz="4400" dirty="0"/>
              <a:t>Population and sample</a:t>
            </a:r>
            <a:endParaRPr lang="en-US" dirty="0"/>
          </a:p>
        </p:txBody>
      </p:sp>
      <p:sp>
        <p:nvSpPr>
          <p:cNvPr id="5" name="Content Placeholder 2">
            <a:extLst>
              <a:ext uri="{FF2B5EF4-FFF2-40B4-BE49-F238E27FC236}">
                <a16:creationId xmlns:a16="http://schemas.microsoft.com/office/drawing/2014/main" id="{E2B965FE-7541-68B5-7931-89458AF7F31F}"/>
              </a:ext>
            </a:extLst>
          </p:cNvPr>
          <p:cNvSpPr txBox="1">
            <a:spLocks/>
          </p:cNvSpPr>
          <p:nvPr/>
        </p:nvSpPr>
        <p:spPr>
          <a:xfrm>
            <a:off x="609600" y="1170261"/>
            <a:ext cx="10972800" cy="756000"/>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Population: a set of instances “of interest”</a:t>
            </a:r>
          </a:p>
          <a:p>
            <a:pPr marL="0" indent="0">
              <a:buFont typeface="Arial"/>
              <a:buNone/>
            </a:pPr>
            <a:r>
              <a:rPr lang="en-US" sz="2000" dirty="0"/>
              <a:t>Sample: a set of instances sampled from the population</a:t>
            </a:r>
          </a:p>
          <a:p>
            <a:pPr marL="0" indent="0">
              <a:buFont typeface="Arial"/>
              <a:buNone/>
            </a:pPr>
            <a:endParaRPr lang="en-US" sz="2000" dirty="0"/>
          </a:p>
        </p:txBody>
      </p:sp>
      <p:sp>
        <p:nvSpPr>
          <p:cNvPr id="17" name="Content Placeholder 2">
            <a:extLst>
              <a:ext uri="{FF2B5EF4-FFF2-40B4-BE49-F238E27FC236}">
                <a16:creationId xmlns:a16="http://schemas.microsoft.com/office/drawing/2014/main" id="{62CA89C7-C6B3-D49B-B24D-9AA1BD2B89C2}"/>
              </a:ext>
            </a:extLst>
          </p:cNvPr>
          <p:cNvSpPr txBox="1">
            <a:spLocks/>
          </p:cNvSpPr>
          <p:nvPr/>
        </p:nvSpPr>
        <p:spPr>
          <a:xfrm>
            <a:off x="609600" y="2110697"/>
            <a:ext cx="11102399" cy="382668"/>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Say, we want to compute an average household income per person (incl. kids) in the Netherlands:</a:t>
            </a:r>
          </a:p>
          <a:p>
            <a:r>
              <a:rPr lang="en-US" sz="2000" dirty="0"/>
              <a:t>Population: all households in the Netherlands</a:t>
            </a:r>
          </a:p>
          <a:p>
            <a:r>
              <a:rPr lang="en-US" sz="2000" b="1" dirty="0">
                <a:solidFill>
                  <a:schemeClr val="accent1"/>
                </a:solidFill>
              </a:rPr>
              <a:t>Sample: </a:t>
            </a:r>
            <a:r>
              <a:rPr lang="en-US" sz="2000" dirty="0"/>
              <a:t>households that we can reach given timeline/budget/</a:t>
            </a:r>
            <a:r>
              <a:rPr lang="nl-NL" sz="2000" dirty="0"/>
              <a:t>consent</a:t>
            </a:r>
            <a:r>
              <a:rPr lang="en-US" sz="2000" dirty="0"/>
              <a:t>/… </a:t>
            </a:r>
          </a:p>
        </p:txBody>
      </p:sp>
      <p:grpSp>
        <p:nvGrpSpPr>
          <p:cNvPr id="3" name="Group 2">
            <a:extLst>
              <a:ext uri="{FF2B5EF4-FFF2-40B4-BE49-F238E27FC236}">
                <a16:creationId xmlns:a16="http://schemas.microsoft.com/office/drawing/2014/main" id="{C04E0C8E-99F3-1E82-3320-B1B30FBC3423}"/>
              </a:ext>
            </a:extLst>
          </p:cNvPr>
          <p:cNvGrpSpPr/>
          <p:nvPr/>
        </p:nvGrpSpPr>
        <p:grpSpPr>
          <a:xfrm>
            <a:off x="1253327" y="3212292"/>
            <a:ext cx="8690764" cy="2751900"/>
            <a:chOff x="1253327" y="3212292"/>
            <a:chExt cx="8690764" cy="2751900"/>
          </a:xfrm>
        </p:grpSpPr>
        <p:pic>
          <p:nvPicPr>
            <p:cNvPr id="6" name="Graphic 5" descr="Man with solid fill">
              <a:extLst>
                <a:ext uri="{FF2B5EF4-FFF2-40B4-BE49-F238E27FC236}">
                  <a16:creationId xmlns:a16="http://schemas.microsoft.com/office/drawing/2014/main" id="{9678CBA0-23BB-C1D3-B7CC-6B2C74B3E4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36494" y="4466236"/>
              <a:ext cx="218674" cy="335842"/>
            </a:xfrm>
            <a:prstGeom prst="rect">
              <a:avLst/>
            </a:prstGeom>
          </p:spPr>
        </p:pic>
        <p:pic>
          <p:nvPicPr>
            <p:cNvPr id="10" name="Graphic 9" descr="Man and woman with solid fill">
              <a:extLst>
                <a:ext uri="{FF2B5EF4-FFF2-40B4-BE49-F238E27FC236}">
                  <a16:creationId xmlns:a16="http://schemas.microsoft.com/office/drawing/2014/main" id="{B3B89BD7-9DD6-E82C-6B81-15F9D158D4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70525" y="4573333"/>
              <a:ext cx="218674" cy="335842"/>
            </a:xfrm>
            <a:prstGeom prst="rect">
              <a:avLst/>
            </a:prstGeom>
          </p:spPr>
        </p:pic>
        <p:pic>
          <p:nvPicPr>
            <p:cNvPr id="12" name="Graphic 11" descr="Man with kid with solid fill">
              <a:extLst>
                <a:ext uri="{FF2B5EF4-FFF2-40B4-BE49-F238E27FC236}">
                  <a16:creationId xmlns:a16="http://schemas.microsoft.com/office/drawing/2014/main" id="{6DD7621E-4006-B041-1ACF-B75ED16C567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65896" y="4644631"/>
              <a:ext cx="218674" cy="335842"/>
            </a:xfrm>
            <a:prstGeom prst="rect">
              <a:avLst/>
            </a:prstGeom>
          </p:spPr>
        </p:pic>
        <p:pic>
          <p:nvPicPr>
            <p:cNvPr id="14" name="Graphic 13" descr="Family with boy with solid fill">
              <a:extLst>
                <a:ext uri="{FF2B5EF4-FFF2-40B4-BE49-F238E27FC236}">
                  <a16:creationId xmlns:a16="http://schemas.microsoft.com/office/drawing/2014/main" id="{ADD4AE64-7B37-4427-DC04-A2C0B1E131C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00854" y="5016400"/>
              <a:ext cx="218674" cy="335842"/>
            </a:xfrm>
            <a:prstGeom prst="rect">
              <a:avLst/>
            </a:prstGeom>
          </p:spPr>
        </p:pic>
        <p:pic>
          <p:nvPicPr>
            <p:cNvPr id="16" name="Graphic 15" descr="Family with two children with solid fill">
              <a:extLst>
                <a:ext uri="{FF2B5EF4-FFF2-40B4-BE49-F238E27FC236}">
                  <a16:creationId xmlns:a16="http://schemas.microsoft.com/office/drawing/2014/main" id="{12A0DC6C-7BF1-EDAC-2900-737C0C34F2D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78733" y="5056766"/>
              <a:ext cx="218674" cy="335842"/>
            </a:xfrm>
            <a:prstGeom prst="rect">
              <a:avLst/>
            </a:prstGeom>
          </p:spPr>
        </p:pic>
        <p:pic>
          <p:nvPicPr>
            <p:cNvPr id="18" name="Graphic 17" descr="Man with kid with solid fill">
              <a:extLst>
                <a:ext uri="{FF2B5EF4-FFF2-40B4-BE49-F238E27FC236}">
                  <a16:creationId xmlns:a16="http://schemas.microsoft.com/office/drawing/2014/main" id="{C0787D69-8C37-8FF4-2A23-ADB38A55A9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15241" y="4680559"/>
              <a:ext cx="218674" cy="335842"/>
            </a:xfrm>
            <a:prstGeom prst="rect">
              <a:avLst/>
            </a:prstGeom>
          </p:spPr>
        </p:pic>
        <p:pic>
          <p:nvPicPr>
            <p:cNvPr id="19" name="Graphic 18" descr="Family with two children with solid fill">
              <a:extLst>
                <a:ext uri="{FF2B5EF4-FFF2-40B4-BE49-F238E27FC236}">
                  <a16:creationId xmlns:a16="http://schemas.microsoft.com/office/drawing/2014/main" id="{AFBAC11A-14E6-3ED6-9750-791EA9706B5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40065" y="5056766"/>
              <a:ext cx="218674" cy="335842"/>
            </a:xfrm>
            <a:prstGeom prst="rect">
              <a:avLst/>
            </a:prstGeom>
          </p:spPr>
        </p:pic>
        <p:pic>
          <p:nvPicPr>
            <p:cNvPr id="20" name="Graphic 19" descr="Man and woman with solid fill">
              <a:extLst>
                <a:ext uri="{FF2B5EF4-FFF2-40B4-BE49-F238E27FC236}">
                  <a16:creationId xmlns:a16="http://schemas.microsoft.com/office/drawing/2014/main" id="{B673A96F-481C-A1CF-AFB5-E22E18B58C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53157" y="4438943"/>
              <a:ext cx="218674" cy="335842"/>
            </a:xfrm>
            <a:prstGeom prst="rect">
              <a:avLst/>
            </a:prstGeom>
          </p:spPr>
        </p:pic>
        <p:pic>
          <p:nvPicPr>
            <p:cNvPr id="22" name="Graphic 21" descr="Family with boy with solid fill">
              <a:extLst>
                <a:ext uri="{FF2B5EF4-FFF2-40B4-BE49-F238E27FC236}">
                  <a16:creationId xmlns:a16="http://schemas.microsoft.com/office/drawing/2014/main" id="{DADFC084-F0DD-B046-33BC-58FD06D89B8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06585" y="5269580"/>
              <a:ext cx="218674" cy="335842"/>
            </a:xfrm>
            <a:prstGeom prst="rect">
              <a:avLst/>
            </a:prstGeom>
          </p:spPr>
        </p:pic>
        <p:pic>
          <p:nvPicPr>
            <p:cNvPr id="23" name="Graphic 22" descr="Man with solid fill">
              <a:extLst>
                <a:ext uri="{FF2B5EF4-FFF2-40B4-BE49-F238E27FC236}">
                  <a16:creationId xmlns:a16="http://schemas.microsoft.com/office/drawing/2014/main" id="{66E97EAA-4EBC-FE4F-A18C-5624B09B32D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83583" y="4967270"/>
              <a:ext cx="218674" cy="335842"/>
            </a:xfrm>
            <a:prstGeom prst="rect">
              <a:avLst/>
            </a:prstGeom>
          </p:spPr>
        </p:pic>
        <p:pic>
          <p:nvPicPr>
            <p:cNvPr id="24" name="Graphic 23" descr="Two Men with solid fill">
              <a:extLst>
                <a:ext uri="{FF2B5EF4-FFF2-40B4-BE49-F238E27FC236}">
                  <a16:creationId xmlns:a16="http://schemas.microsoft.com/office/drawing/2014/main" id="{0201A087-4C58-4B28-CFAD-6ADF0DBAFB5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78671" y="4519481"/>
              <a:ext cx="218674" cy="335842"/>
            </a:xfrm>
            <a:prstGeom prst="rect">
              <a:avLst/>
            </a:prstGeom>
          </p:spPr>
        </p:pic>
        <p:pic>
          <p:nvPicPr>
            <p:cNvPr id="25" name="Graphic 24" descr="Man and woman with solid fill">
              <a:extLst>
                <a:ext uri="{FF2B5EF4-FFF2-40B4-BE49-F238E27FC236}">
                  <a16:creationId xmlns:a16="http://schemas.microsoft.com/office/drawing/2014/main" id="{C9D5609D-7D80-2C23-ED7D-D32D834E03B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94220" y="4823914"/>
              <a:ext cx="218674" cy="335842"/>
            </a:xfrm>
            <a:prstGeom prst="rect">
              <a:avLst/>
            </a:prstGeom>
          </p:spPr>
        </p:pic>
        <p:pic>
          <p:nvPicPr>
            <p:cNvPr id="26" name="Graphic 25" descr="Man and woman with solid fill">
              <a:extLst>
                <a:ext uri="{FF2B5EF4-FFF2-40B4-BE49-F238E27FC236}">
                  <a16:creationId xmlns:a16="http://schemas.microsoft.com/office/drawing/2014/main" id="{4C04D91B-747C-0E15-D5F1-C160FEC6989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324578" y="5200182"/>
              <a:ext cx="218674" cy="335842"/>
            </a:xfrm>
            <a:prstGeom prst="rect">
              <a:avLst/>
            </a:prstGeom>
          </p:spPr>
        </p:pic>
        <p:pic>
          <p:nvPicPr>
            <p:cNvPr id="27" name="Graphic 26" descr="Man with solid fill">
              <a:extLst>
                <a:ext uri="{FF2B5EF4-FFF2-40B4-BE49-F238E27FC236}">
                  <a16:creationId xmlns:a16="http://schemas.microsoft.com/office/drawing/2014/main" id="{A361F26C-FC76-0882-8D4D-D0614FAF707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95112" y="4716753"/>
              <a:ext cx="218674" cy="335842"/>
            </a:xfrm>
            <a:prstGeom prst="rect">
              <a:avLst/>
            </a:prstGeom>
          </p:spPr>
        </p:pic>
        <p:pic>
          <p:nvPicPr>
            <p:cNvPr id="28" name="Graphic 27" descr="Man with solid fill">
              <a:extLst>
                <a:ext uri="{FF2B5EF4-FFF2-40B4-BE49-F238E27FC236}">
                  <a16:creationId xmlns:a16="http://schemas.microsoft.com/office/drawing/2014/main" id="{81B554A6-0E36-CA4F-D03D-F9FB242CE55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05622" y="4662837"/>
              <a:ext cx="218674" cy="335842"/>
            </a:xfrm>
            <a:prstGeom prst="rect">
              <a:avLst/>
            </a:prstGeom>
          </p:spPr>
        </p:pic>
        <p:pic>
          <p:nvPicPr>
            <p:cNvPr id="31" name="Graphic 30" descr="Man with solid fill">
              <a:extLst>
                <a:ext uri="{FF2B5EF4-FFF2-40B4-BE49-F238E27FC236}">
                  <a16:creationId xmlns:a16="http://schemas.microsoft.com/office/drawing/2014/main" id="{F8786F21-5E90-6E32-6149-0E441329E34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87481" y="4587687"/>
              <a:ext cx="218674" cy="335842"/>
            </a:xfrm>
            <a:prstGeom prst="rect">
              <a:avLst/>
            </a:prstGeom>
          </p:spPr>
        </p:pic>
        <p:pic>
          <p:nvPicPr>
            <p:cNvPr id="32" name="Graphic 31" descr="Man and woman with solid fill">
              <a:extLst>
                <a:ext uri="{FF2B5EF4-FFF2-40B4-BE49-F238E27FC236}">
                  <a16:creationId xmlns:a16="http://schemas.microsoft.com/office/drawing/2014/main" id="{883AE989-F058-4A48-A85C-815ABCD9AC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21512" y="4694784"/>
              <a:ext cx="218674" cy="335842"/>
            </a:xfrm>
            <a:prstGeom prst="rect">
              <a:avLst/>
            </a:prstGeom>
          </p:spPr>
        </p:pic>
        <p:pic>
          <p:nvPicPr>
            <p:cNvPr id="33" name="Graphic 32" descr="Man with kid with solid fill">
              <a:extLst>
                <a:ext uri="{FF2B5EF4-FFF2-40B4-BE49-F238E27FC236}">
                  <a16:creationId xmlns:a16="http://schemas.microsoft.com/office/drawing/2014/main" id="{44BBCB39-4FB9-5BA6-A298-CC3F5DF1C3F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16883" y="4766082"/>
              <a:ext cx="218674" cy="335842"/>
            </a:xfrm>
            <a:prstGeom prst="rect">
              <a:avLst/>
            </a:prstGeom>
          </p:spPr>
        </p:pic>
        <p:pic>
          <p:nvPicPr>
            <p:cNvPr id="34" name="Graphic 33" descr="Family with boy with solid fill">
              <a:extLst>
                <a:ext uri="{FF2B5EF4-FFF2-40B4-BE49-F238E27FC236}">
                  <a16:creationId xmlns:a16="http://schemas.microsoft.com/office/drawing/2014/main" id="{2F675ADF-3D94-1AF9-5F46-300B56D4425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51841" y="5137851"/>
              <a:ext cx="218674" cy="335842"/>
            </a:xfrm>
            <a:prstGeom prst="rect">
              <a:avLst/>
            </a:prstGeom>
          </p:spPr>
        </p:pic>
        <p:pic>
          <p:nvPicPr>
            <p:cNvPr id="35" name="Graphic 34" descr="Family with two children with solid fill">
              <a:extLst>
                <a:ext uri="{FF2B5EF4-FFF2-40B4-BE49-F238E27FC236}">
                  <a16:creationId xmlns:a16="http://schemas.microsoft.com/office/drawing/2014/main" id="{95C1B1DF-34FD-C8DD-972F-748773E5051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929720" y="5178217"/>
              <a:ext cx="218674" cy="335842"/>
            </a:xfrm>
            <a:prstGeom prst="rect">
              <a:avLst/>
            </a:prstGeom>
          </p:spPr>
        </p:pic>
        <p:pic>
          <p:nvPicPr>
            <p:cNvPr id="36" name="Graphic 35" descr="Man with kid with solid fill">
              <a:extLst>
                <a:ext uri="{FF2B5EF4-FFF2-40B4-BE49-F238E27FC236}">
                  <a16:creationId xmlns:a16="http://schemas.microsoft.com/office/drawing/2014/main" id="{BB100278-E25E-5D94-17A7-DBE80A41793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66228" y="4802010"/>
              <a:ext cx="218674" cy="335842"/>
            </a:xfrm>
            <a:prstGeom prst="rect">
              <a:avLst/>
            </a:prstGeom>
          </p:spPr>
        </p:pic>
        <p:pic>
          <p:nvPicPr>
            <p:cNvPr id="37" name="Graphic 36" descr="Family with two children with solid fill">
              <a:extLst>
                <a:ext uri="{FF2B5EF4-FFF2-40B4-BE49-F238E27FC236}">
                  <a16:creationId xmlns:a16="http://schemas.microsoft.com/office/drawing/2014/main" id="{2366B5EE-2ABF-62A5-F7D7-6691BD2ABB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91052" y="5178217"/>
              <a:ext cx="218674" cy="335842"/>
            </a:xfrm>
            <a:prstGeom prst="rect">
              <a:avLst/>
            </a:prstGeom>
          </p:spPr>
        </p:pic>
        <p:pic>
          <p:nvPicPr>
            <p:cNvPr id="38" name="Graphic 37" descr="Man and woman with solid fill">
              <a:extLst>
                <a:ext uri="{FF2B5EF4-FFF2-40B4-BE49-F238E27FC236}">
                  <a16:creationId xmlns:a16="http://schemas.microsoft.com/office/drawing/2014/main" id="{AB7AC7FB-BF3C-3ADF-4031-F0B59D4C08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04144" y="4560394"/>
              <a:ext cx="218674" cy="335842"/>
            </a:xfrm>
            <a:prstGeom prst="rect">
              <a:avLst/>
            </a:prstGeom>
          </p:spPr>
        </p:pic>
        <p:pic>
          <p:nvPicPr>
            <p:cNvPr id="39" name="Graphic 38" descr="Family with boy with solid fill">
              <a:extLst>
                <a:ext uri="{FF2B5EF4-FFF2-40B4-BE49-F238E27FC236}">
                  <a16:creationId xmlns:a16="http://schemas.microsoft.com/office/drawing/2014/main" id="{448ED9C0-857F-A178-D83C-72DF844EC7F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657572" y="5391031"/>
              <a:ext cx="218674" cy="335842"/>
            </a:xfrm>
            <a:prstGeom prst="rect">
              <a:avLst/>
            </a:prstGeom>
          </p:spPr>
        </p:pic>
        <p:pic>
          <p:nvPicPr>
            <p:cNvPr id="40" name="Graphic 39" descr="Man with solid fill">
              <a:extLst>
                <a:ext uri="{FF2B5EF4-FFF2-40B4-BE49-F238E27FC236}">
                  <a16:creationId xmlns:a16="http://schemas.microsoft.com/office/drawing/2014/main" id="{733A0BB3-5CDE-832A-3341-64FFEA1DA7B6}"/>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034570" y="5088721"/>
              <a:ext cx="218674" cy="335842"/>
            </a:xfrm>
            <a:prstGeom prst="rect">
              <a:avLst/>
            </a:prstGeom>
          </p:spPr>
        </p:pic>
        <p:pic>
          <p:nvPicPr>
            <p:cNvPr id="41" name="Graphic 40" descr="Two Men with solid fill">
              <a:extLst>
                <a:ext uri="{FF2B5EF4-FFF2-40B4-BE49-F238E27FC236}">
                  <a16:creationId xmlns:a16="http://schemas.microsoft.com/office/drawing/2014/main" id="{AE764729-8C38-BB75-20CC-ABFFE910341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29658" y="4640932"/>
              <a:ext cx="218674" cy="335842"/>
            </a:xfrm>
            <a:prstGeom prst="rect">
              <a:avLst/>
            </a:prstGeom>
          </p:spPr>
        </p:pic>
        <p:pic>
          <p:nvPicPr>
            <p:cNvPr id="42" name="Graphic 41" descr="Man and woman with solid fill">
              <a:extLst>
                <a:ext uri="{FF2B5EF4-FFF2-40B4-BE49-F238E27FC236}">
                  <a16:creationId xmlns:a16="http://schemas.microsoft.com/office/drawing/2014/main" id="{A94BBC36-06F8-6C9B-45C6-A2CB0B7210C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45207" y="4945365"/>
              <a:ext cx="218674" cy="335842"/>
            </a:xfrm>
            <a:prstGeom prst="rect">
              <a:avLst/>
            </a:prstGeom>
          </p:spPr>
        </p:pic>
        <p:pic>
          <p:nvPicPr>
            <p:cNvPr id="43" name="Graphic 42" descr="Man and woman with solid fill">
              <a:extLst>
                <a:ext uri="{FF2B5EF4-FFF2-40B4-BE49-F238E27FC236}">
                  <a16:creationId xmlns:a16="http://schemas.microsoft.com/office/drawing/2014/main" id="{7192E470-D74D-231D-8D08-4554AB99F6B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75565" y="5321633"/>
              <a:ext cx="218674" cy="335842"/>
            </a:xfrm>
            <a:prstGeom prst="rect">
              <a:avLst/>
            </a:prstGeom>
          </p:spPr>
        </p:pic>
        <p:pic>
          <p:nvPicPr>
            <p:cNvPr id="44" name="Graphic 43" descr="Man with solid fill">
              <a:extLst>
                <a:ext uri="{FF2B5EF4-FFF2-40B4-BE49-F238E27FC236}">
                  <a16:creationId xmlns:a16="http://schemas.microsoft.com/office/drawing/2014/main" id="{5DB60264-445E-9880-4421-7D86B413D48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846099" y="4838204"/>
              <a:ext cx="218674" cy="335842"/>
            </a:xfrm>
            <a:prstGeom prst="rect">
              <a:avLst/>
            </a:prstGeom>
          </p:spPr>
        </p:pic>
        <p:pic>
          <p:nvPicPr>
            <p:cNvPr id="45" name="Graphic 44" descr="Man with solid fill">
              <a:extLst>
                <a:ext uri="{FF2B5EF4-FFF2-40B4-BE49-F238E27FC236}">
                  <a16:creationId xmlns:a16="http://schemas.microsoft.com/office/drawing/2014/main" id="{1822B4A0-EE57-B20A-A35B-BAF00E09F95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256609" y="4784288"/>
              <a:ext cx="218674" cy="335842"/>
            </a:xfrm>
            <a:prstGeom prst="rect">
              <a:avLst/>
            </a:prstGeom>
          </p:spPr>
        </p:pic>
        <p:pic>
          <p:nvPicPr>
            <p:cNvPr id="47" name="Graphic 46" descr="Man with solid fill">
              <a:extLst>
                <a:ext uri="{FF2B5EF4-FFF2-40B4-BE49-F238E27FC236}">
                  <a16:creationId xmlns:a16="http://schemas.microsoft.com/office/drawing/2014/main" id="{732993B4-9DFD-D326-EB1A-E986210F9BA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91386" y="3239585"/>
              <a:ext cx="218674" cy="335842"/>
            </a:xfrm>
            <a:prstGeom prst="rect">
              <a:avLst/>
            </a:prstGeom>
          </p:spPr>
        </p:pic>
        <p:pic>
          <p:nvPicPr>
            <p:cNvPr id="48" name="Graphic 47" descr="Man and woman with solid fill">
              <a:extLst>
                <a:ext uri="{FF2B5EF4-FFF2-40B4-BE49-F238E27FC236}">
                  <a16:creationId xmlns:a16="http://schemas.microsoft.com/office/drawing/2014/main" id="{24173252-F7EB-8ADB-50E4-396207DA114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725417" y="3346682"/>
              <a:ext cx="218674" cy="335842"/>
            </a:xfrm>
            <a:prstGeom prst="rect">
              <a:avLst/>
            </a:prstGeom>
          </p:spPr>
        </p:pic>
        <p:pic>
          <p:nvPicPr>
            <p:cNvPr id="49" name="Graphic 48" descr="Man with kid with solid fill">
              <a:extLst>
                <a:ext uri="{FF2B5EF4-FFF2-40B4-BE49-F238E27FC236}">
                  <a16:creationId xmlns:a16="http://schemas.microsoft.com/office/drawing/2014/main" id="{F91866FC-CCEC-4ABE-C7B6-03ED1FE197A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220788" y="3417980"/>
              <a:ext cx="218674" cy="335842"/>
            </a:xfrm>
            <a:prstGeom prst="rect">
              <a:avLst/>
            </a:prstGeom>
          </p:spPr>
        </p:pic>
        <p:pic>
          <p:nvPicPr>
            <p:cNvPr id="50" name="Graphic 49" descr="Family with boy with solid fill">
              <a:extLst>
                <a:ext uri="{FF2B5EF4-FFF2-40B4-BE49-F238E27FC236}">
                  <a16:creationId xmlns:a16="http://schemas.microsoft.com/office/drawing/2014/main" id="{C0482808-756D-A900-2597-DA90D044BEB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55746" y="3789749"/>
              <a:ext cx="218674" cy="335842"/>
            </a:xfrm>
            <a:prstGeom prst="rect">
              <a:avLst/>
            </a:prstGeom>
          </p:spPr>
        </p:pic>
        <p:pic>
          <p:nvPicPr>
            <p:cNvPr id="51" name="Graphic 50" descr="Family with two children with solid fill">
              <a:extLst>
                <a:ext uri="{FF2B5EF4-FFF2-40B4-BE49-F238E27FC236}">
                  <a16:creationId xmlns:a16="http://schemas.microsoft.com/office/drawing/2014/main" id="{31FC024B-61DA-DFE7-49FE-B1886D44198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033625" y="3830115"/>
              <a:ext cx="218674" cy="335842"/>
            </a:xfrm>
            <a:prstGeom prst="rect">
              <a:avLst/>
            </a:prstGeom>
          </p:spPr>
        </p:pic>
        <p:pic>
          <p:nvPicPr>
            <p:cNvPr id="52" name="Graphic 51" descr="Man with kid with solid fill">
              <a:extLst>
                <a:ext uri="{FF2B5EF4-FFF2-40B4-BE49-F238E27FC236}">
                  <a16:creationId xmlns:a16="http://schemas.microsoft.com/office/drawing/2014/main" id="{05B954D9-D4CA-006E-EE13-CF05A40C5FFA}"/>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570133" y="3453908"/>
              <a:ext cx="218674" cy="335842"/>
            </a:xfrm>
            <a:prstGeom prst="rect">
              <a:avLst/>
            </a:prstGeom>
          </p:spPr>
        </p:pic>
        <p:pic>
          <p:nvPicPr>
            <p:cNvPr id="53" name="Graphic 52" descr="Family with two children with solid fill">
              <a:extLst>
                <a:ext uri="{FF2B5EF4-FFF2-40B4-BE49-F238E27FC236}">
                  <a16:creationId xmlns:a16="http://schemas.microsoft.com/office/drawing/2014/main" id="{437B1A55-05F3-926E-8B18-2002FECCEEA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394957" y="3830115"/>
              <a:ext cx="218674" cy="335842"/>
            </a:xfrm>
            <a:prstGeom prst="rect">
              <a:avLst/>
            </a:prstGeom>
          </p:spPr>
        </p:pic>
        <p:pic>
          <p:nvPicPr>
            <p:cNvPr id="54" name="Graphic 53" descr="Man and woman with solid fill">
              <a:extLst>
                <a:ext uri="{FF2B5EF4-FFF2-40B4-BE49-F238E27FC236}">
                  <a16:creationId xmlns:a16="http://schemas.microsoft.com/office/drawing/2014/main" id="{B501CE4C-A9CD-908D-A113-8FF3995E35F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808049" y="3212292"/>
              <a:ext cx="218674" cy="335842"/>
            </a:xfrm>
            <a:prstGeom prst="rect">
              <a:avLst/>
            </a:prstGeom>
          </p:spPr>
        </p:pic>
        <p:pic>
          <p:nvPicPr>
            <p:cNvPr id="55" name="Graphic 54" descr="Family with boy with solid fill">
              <a:extLst>
                <a:ext uri="{FF2B5EF4-FFF2-40B4-BE49-F238E27FC236}">
                  <a16:creationId xmlns:a16="http://schemas.microsoft.com/office/drawing/2014/main" id="{300C77F8-AA0A-C6F6-6AD0-22562A672ED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61477" y="4042929"/>
              <a:ext cx="218674" cy="335842"/>
            </a:xfrm>
            <a:prstGeom prst="rect">
              <a:avLst/>
            </a:prstGeom>
          </p:spPr>
        </p:pic>
        <p:pic>
          <p:nvPicPr>
            <p:cNvPr id="56" name="Graphic 55" descr="Man with solid fill">
              <a:extLst>
                <a:ext uri="{FF2B5EF4-FFF2-40B4-BE49-F238E27FC236}">
                  <a16:creationId xmlns:a16="http://schemas.microsoft.com/office/drawing/2014/main" id="{3E68C88F-D672-B5A7-16EA-F12372B0B16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38475" y="3740619"/>
              <a:ext cx="218674" cy="335842"/>
            </a:xfrm>
            <a:prstGeom prst="rect">
              <a:avLst/>
            </a:prstGeom>
          </p:spPr>
        </p:pic>
        <p:pic>
          <p:nvPicPr>
            <p:cNvPr id="57" name="Graphic 56" descr="Two Men with solid fill">
              <a:extLst>
                <a:ext uri="{FF2B5EF4-FFF2-40B4-BE49-F238E27FC236}">
                  <a16:creationId xmlns:a16="http://schemas.microsoft.com/office/drawing/2014/main" id="{2906BBCB-661C-4BA7-C985-40814F88EC5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533563" y="3292830"/>
              <a:ext cx="218674" cy="335842"/>
            </a:xfrm>
            <a:prstGeom prst="rect">
              <a:avLst/>
            </a:prstGeom>
          </p:spPr>
        </p:pic>
        <p:pic>
          <p:nvPicPr>
            <p:cNvPr id="58" name="Graphic 57" descr="Man and woman with solid fill">
              <a:extLst>
                <a:ext uri="{FF2B5EF4-FFF2-40B4-BE49-F238E27FC236}">
                  <a16:creationId xmlns:a16="http://schemas.microsoft.com/office/drawing/2014/main" id="{9160B817-3800-3F03-1DA6-52525E77E5C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49112" y="3597263"/>
              <a:ext cx="218674" cy="335842"/>
            </a:xfrm>
            <a:prstGeom prst="rect">
              <a:avLst/>
            </a:prstGeom>
          </p:spPr>
        </p:pic>
        <p:pic>
          <p:nvPicPr>
            <p:cNvPr id="59" name="Graphic 58" descr="Man and woman with solid fill">
              <a:extLst>
                <a:ext uri="{FF2B5EF4-FFF2-40B4-BE49-F238E27FC236}">
                  <a16:creationId xmlns:a16="http://schemas.microsoft.com/office/drawing/2014/main" id="{EADEAAE0-3414-D9DD-A72D-A721121983D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79470" y="3973531"/>
              <a:ext cx="218674" cy="335842"/>
            </a:xfrm>
            <a:prstGeom prst="rect">
              <a:avLst/>
            </a:prstGeom>
          </p:spPr>
        </p:pic>
        <p:pic>
          <p:nvPicPr>
            <p:cNvPr id="60" name="Graphic 59" descr="Man with solid fill">
              <a:extLst>
                <a:ext uri="{FF2B5EF4-FFF2-40B4-BE49-F238E27FC236}">
                  <a16:creationId xmlns:a16="http://schemas.microsoft.com/office/drawing/2014/main" id="{ABB0C3FB-9E97-CFFD-B0AF-4E56046FAB2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50004" y="3490102"/>
              <a:ext cx="218674" cy="335842"/>
            </a:xfrm>
            <a:prstGeom prst="rect">
              <a:avLst/>
            </a:prstGeom>
          </p:spPr>
        </p:pic>
        <p:pic>
          <p:nvPicPr>
            <p:cNvPr id="61" name="Graphic 60" descr="Man with solid fill">
              <a:extLst>
                <a:ext uri="{FF2B5EF4-FFF2-40B4-BE49-F238E27FC236}">
                  <a16:creationId xmlns:a16="http://schemas.microsoft.com/office/drawing/2014/main" id="{4EF522D4-E17D-60EA-62A5-2E528FB252D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60514" y="3436186"/>
              <a:ext cx="218674" cy="335842"/>
            </a:xfrm>
            <a:prstGeom prst="rect">
              <a:avLst/>
            </a:prstGeom>
          </p:spPr>
        </p:pic>
        <p:pic>
          <p:nvPicPr>
            <p:cNvPr id="63" name="Graphic 62" descr="Man with solid fill">
              <a:extLst>
                <a:ext uri="{FF2B5EF4-FFF2-40B4-BE49-F238E27FC236}">
                  <a16:creationId xmlns:a16="http://schemas.microsoft.com/office/drawing/2014/main" id="{6DE20512-DC12-B4F3-69E5-82F371D28D7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144448" y="3512571"/>
              <a:ext cx="218674" cy="335842"/>
            </a:xfrm>
            <a:prstGeom prst="rect">
              <a:avLst/>
            </a:prstGeom>
          </p:spPr>
        </p:pic>
        <p:pic>
          <p:nvPicPr>
            <p:cNvPr id="64" name="Graphic 63" descr="Man and woman with solid fill">
              <a:extLst>
                <a:ext uri="{FF2B5EF4-FFF2-40B4-BE49-F238E27FC236}">
                  <a16:creationId xmlns:a16="http://schemas.microsoft.com/office/drawing/2014/main" id="{76EF5E45-63A1-FB77-5A34-E984E38F842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78479" y="3619668"/>
              <a:ext cx="218674" cy="335842"/>
            </a:xfrm>
            <a:prstGeom prst="rect">
              <a:avLst/>
            </a:prstGeom>
          </p:spPr>
        </p:pic>
        <p:pic>
          <p:nvPicPr>
            <p:cNvPr id="65" name="Graphic 64" descr="Man with kid with solid fill">
              <a:extLst>
                <a:ext uri="{FF2B5EF4-FFF2-40B4-BE49-F238E27FC236}">
                  <a16:creationId xmlns:a16="http://schemas.microsoft.com/office/drawing/2014/main" id="{C81DAE46-C762-7735-0453-572E37A941C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73850" y="3690966"/>
              <a:ext cx="218674" cy="335842"/>
            </a:xfrm>
            <a:prstGeom prst="rect">
              <a:avLst/>
            </a:prstGeom>
          </p:spPr>
        </p:pic>
        <p:pic>
          <p:nvPicPr>
            <p:cNvPr id="66" name="Graphic 65" descr="Family with boy with solid fill">
              <a:extLst>
                <a:ext uri="{FF2B5EF4-FFF2-40B4-BE49-F238E27FC236}">
                  <a16:creationId xmlns:a16="http://schemas.microsoft.com/office/drawing/2014/main" id="{E166FB34-43E3-AF1F-3B88-F9B0DD7CFF2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08808" y="4062735"/>
              <a:ext cx="218674" cy="335842"/>
            </a:xfrm>
            <a:prstGeom prst="rect">
              <a:avLst/>
            </a:prstGeom>
          </p:spPr>
        </p:pic>
        <p:pic>
          <p:nvPicPr>
            <p:cNvPr id="67" name="Graphic 66" descr="Family with two children with solid fill">
              <a:extLst>
                <a:ext uri="{FF2B5EF4-FFF2-40B4-BE49-F238E27FC236}">
                  <a16:creationId xmlns:a16="http://schemas.microsoft.com/office/drawing/2014/main" id="{1245F7B7-79DE-7CA1-3C22-53E99063062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86687" y="4103101"/>
              <a:ext cx="218674" cy="335842"/>
            </a:xfrm>
            <a:prstGeom prst="rect">
              <a:avLst/>
            </a:prstGeom>
          </p:spPr>
        </p:pic>
        <p:pic>
          <p:nvPicPr>
            <p:cNvPr id="68" name="Graphic 67" descr="Man with kid with solid fill">
              <a:extLst>
                <a:ext uri="{FF2B5EF4-FFF2-40B4-BE49-F238E27FC236}">
                  <a16:creationId xmlns:a16="http://schemas.microsoft.com/office/drawing/2014/main" id="{964A5850-227C-57A8-3BB0-49C88835768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23195" y="3726894"/>
              <a:ext cx="218674" cy="335842"/>
            </a:xfrm>
            <a:prstGeom prst="rect">
              <a:avLst/>
            </a:prstGeom>
          </p:spPr>
        </p:pic>
        <p:pic>
          <p:nvPicPr>
            <p:cNvPr id="69" name="Graphic 68" descr="Family with two children with solid fill">
              <a:extLst>
                <a:ext uri="{FF2B5EF4-FFF2-40B4-BE49-F238E27FC236}">
                  <a16:creationId xmlns:a16="http://schemas.microsoft.com/office/drawing/2014/main" id="{6542E1CA-CC88-0F31-3549-436D33DBAFF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48019" y="4103101"/>
              <a:ext cx="218674" cy="335842"/>
            </a:xfrm>
            <a:prstGeom prst="rect">
              <a:avLst/>
            </a:prstGeom>
          </p:spPr>
        </p:pic>
        <p:pic>
          <p:nvPicPr>
            <p:cNvPr id="70" name="Graphic 69" descr="Man and woman with solid fill">
              <a:extLst>
                <a:ext uri="{FF2B5EF4-FFF2-40B4-BE49-F238E27FC236}">
                  <a16:creationId xmlns:a16="http://schemas.microsoft.com/office/drawing/2014/main" id="{FC927BF3-8FED-3704-071B-1325048A58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61111" y="3485278"/>
              <a:ext cx="218674" cy="335842"/>
            </a:xfrm>
            <a:prstGeom prst="rect">
              <a:avLst/>
            </a:prstGeom>
          </p:spPr>
        </p:pic>
        <p:pic>
          <p:nvPicPr>
            <p:cNvPr id="71" name="Graphic 70" descr="Family with boy with solid fill">
              <a:extLst>
                <a:ext uri="{FF2B5EF4-FFF2-40B4-BE49-F238E27FC236}">
                  <a16:creationId xmlns:a16="http://schemas.microsoft.com/office/drawing/2014/main" id="{50CAA77F-E00D-E5FC-0628-01B5702F327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14539" y="4315915"/>
              <a:ext cx="218674" cy="335842"/>
            </a:xfrm>
            <a:prstGeom prst="rect">
              <a:avLst/>
            </a:prstGeom>
          </p:spPr>
        </p:pic>
        <p:pic>
          <p:nvPicPr>
            <p:cNvPr id="72" name="Graphic 71" descr="Man with solid fill">
              <a:extLst>
                <a:ext uri="{FF2B5EF4-FFF2-40B4-BE49-F238E27FC236}">
                  <a16:creationId xmlns:a16="http://schemas.microsoft.com/office/drawing/2014/main" id="{F8FD3F6A-1D0C-71CA-E733-472AA36DEB1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91537" y="4013605"/>
              <a:ext cx="218674" cy="335842"/>
            </a:xfrm>
            <a:prstGeom prst="rect">
              <a:avLst/>
            </a:prstGeom>
          </p:spPr>
        </p:pic>
        <p:pic>
          <p:nvPicPr>
            <p:cNvPr id="73" name="Graphic 72" descr="Two Men with solid fill">
              <a:extLst>
                <a:ext uri="{FF2B5EF4-FFF2-40B4-BE49-F238E27FC236}">
                  <a16:creationId xmlns:a16="http://schemas.microsoft.com/office/drawing/2014/main" id="{98D73793-5E96-FFC8-AD86-7465813426F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86625" y="3565816"/>
              <a:ext cx="218674" cy="335842"/>
            </a:xfrm>
            <a:prstGeom prst="rect">
              <a:avLst/>
            </a:prstGeom>
          </p:spPr>
        </p:pic>
        <p:pic>
          <p:nvPicPr>
            <p:cNvPr id="74" name="Graphic 73" descr="Man and woman with solid fill">
              <a:extLst>
                <a:ext uri="{FF2B5EF4-FFF2-40B4-BE49-F238E27FC236}">
                  <a16:creationId xmlns:a16="http://schemas.microsoft.com/office/drawing/2014/main" id="{1CAD13DC-F8D8-AB60-BF21-31227226E3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02174" y="3870249"/>
              <a:ext cx="218674" cy="335842"/>
            </a:xfrm>
            <a:prstGeom prst="rect">
              <a:avLst/>
            </a:prstGeom>
          </p:spPr>
        </p:pic>
        <p:pic>
          <p:nvPicPr>
            <p:cNvPr id="75" name="Graphic 74" descr="Man and woman with solid fill">
              <a:extLst>
                <a:ext uri="{FF2B5EF4-FFF2-40B4-BE49-F238E27FC236}">
                  <a16:creationId xmlns:a16="http://schemas.microsoft.com/office/drawing/2014/main" id="{B8D2A1C9-2C16-F3F9-0EDA-B27591D4C3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32532" y="4246517"/>
              <a:ext cx="218674" cy="335842"/>
            </a:xfrm>
            <a:prstGeom prst="rect">
              <a:avLst/>
            </a:prstGeom>
          </p:spPr>
        </p:pic>
        <p:pic>
          <p:nvPicPr>
            <p:cNvPr id="76" name="Graphic 75" descr="Man with solid fill">
              <a:extLst>
                <a:ext uri="{FF2B5EF4-FFF2-40B4-BE49-F238E27FC236}">
                  <a16:creationId xmlns:a16="http://schemas.microsoft.com/office/drawing/2014/main" id="{41F94962-1F83-7030-38A4-8EE507E5319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03066" y="3763088"/>
              <a:ext cx="218674" cy="335842"/>
            </a:xfrm>
            <a:prstGeom prst="rect">
              <a:avLst/>
            </a:prstGeom>
          </p:spPr>
        </p:pic>
        <p:pic>
          <p:nvPicPr>
            <p:cNvPr id="77" name="Graphic 76" descr="Man with solid fill">
              <a:extLst>
                <a:ext uri="{FF2B5EF4-FFF2-40B4-BE49-F238E27FC236}">
                  <a16:creationId xmlns:a16="http://schemas.microsoft.com/office/drawing/2014/main" id="{B541B5A4-D57E-7468-36BC-06D53FFEE8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13576" y="3709172"/>
              <a:ext cx="218674" cy="335842"/>
            </a:xfrm>
            <a:prstGeom prst="rect">
              <a:avLst/>
            </a:prstGeom>
          </p:spPr>
        </p:pic>
        <p:pic>
          <p:nvPicPr>
            <p:cNvPr id="129" name="Graphic 128" descr="Man with solid fill">
              <a:extLst>
                <a:ext uri="{FF2B5EF4-FFF2-40B4-BE49-F238E27FC236}">
                  <a16:creationId xmlns:a16="http://schemas.microsoft.com/office/drawing/2014/main" id="{5AFF8DF0-214F-9500-DB5A-6C3ECC7785B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94709" y="4703555"/>
              <a:ext cx="218674" cy="335842"/>
            </a:xfrm>
            <a:prstGeom prst="rect">
              <a:avLst/>
            </a:prstGeom>
          </p:spPr>
        </p:pic>
        <p:pic>
          <p:nvPicPr>
            <p:cNvPr id="130" name="Graphic 129" descr="Man and woman with solid fill">
              <a:extLst>
                <a:ext uri="{FF2B5EF4-FFF2-40B4-BE49-F238E27FC236}">
                  <a16:creationId xmlns:a16="http://schemas.microsoft.com/office/drawing/2014/main" id="{9AE7E0F1-F104-E29F-04A4-C2D6B32B831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028740" y="4810652"/>
              <a:ext cx="218674" cy="335842"/>
            </a:xfrm>
            <a:prstGeom prst="rect">
              <a:avLst/>
            </a:prstGeom>
          </p:spPr>
        </p:pic>
        <p:pic>
          <p:nvPicPr>
            <p:cNvPr id="131" name="Graphic 130" descr="Man with kid with solid fill">
              <a:extLst>
                <a:ext uri="{FF2B5EF4-FFF2-40B4-BE49-F238E27FC236}">
                  <a16:creationId xmlns:a16="http://schemas.microsoft.com/office/drawing/2014/main" id="{385FBC4D-44B1-23A6-6EAA-399052FE91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24111" y="4881950"/>
              <a:ext cx="218674" cy="335842"/>
            </a:xfrm>
            <a:prstGeom prst="rect">
              <a:avLst/>
            </a:prstGeom>
          </p:spPr>
        </p:pic>
        <p:pic>
          <p:nvPicPr>
            <p:cNvPr id="132" name="Graphic 131" descr="Family with boy with solid fill">
              <a:extLst>
                <a:ext uri="{FF2B5EF4-FFF2-40B4-BE49-F238E27FC236}">
                  <a16:creationId xmlns:a16="http://schemas.microsoft.com/office/drawing/2014/main" id="{BA425B18-B63B-C20A-FBD6-9B4E0744646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59069" y="5253719"/>
              <a:ext cx="218674" cy="335842"/>
            </a:xfrm>
            <a:prstGeom prst="rect">
              <a:avLst/>
            </a:prstGeom>
          </p:spPr>
        </p:pic>
        <p:pic>
          <p:nvPicPr>
            <p:cNvPr id="133" name="Graphic 132" descr="Family with two children with solid fill">
              <a:extLst>
                <a:ext uri="{FF2B5EF4-FFF2-40B4-BE49-F238E27FC236}">
                  <a16:creationId xmlns:a16="http://schemas.microsoft.com/office/drawing/2014/main" id="{D9C79CDF-8EEA-362D-8EC6-A6696819143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36948" y="5294085"/>
              <a:ext cx="218674" cy="335842"/>
            </a:xfrm>
            <a:prstGeom prst="rect">
              <a:avLst/>
            </a:prstGeom>
          </p:spPr>
        </p:pic>
        <p:pic>
          <p:nvPicPr>
            <p:cNvPr id="134" name="Graphic 133" descr="Man with kid with solid fill">
              <a:extLst>
                <a:ext uri="{FF2B5EF4-FFF2-40B4-BE49-F238E27FC236}">
                  <a16:creationId xmlns:a16="http://schemas.microsoft.com/office/drawing/2014/main" id="{30AD8C51-96AC-A5EF-EC51-C55F3DFB84A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873456" y="4917878"/>
              <a:ext cx="218674" cy="335842"/>
            </a:xfrm>
            <a:prstGeom prst="rect">
              <a:avLst/>
            </a:prstGeom>
          </p:spPr>
        </p:pic>
        <p:pic>
          <p:nvPicPr>
            <p:cNvPr id="135" name="Graphic 134" descr="Family with two children with solid fill">
              <a:extLst>
                <a:ext uri="{FF2B5EF4-FFF2-40B4-BE49-F238E27FC236}">
                  <a16:creationId xmlns:a16="http://schemas.microsoft.com/office/drawing/2014/main" id="{25E5D0E2-AF55-F42A-1417-31C3286A961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98280" y="5294085"/>
              <a:ext cx="218674" cy="335842"/>
            </a:xfrm>
            <a:prstGeom prst="rect">
              <a:avLst/>
            </a:prstGeom>
          </p:spPr>
        </p:pic>
        <p:pic>
          <p:nvPicPr>
            <p:cNvPr id="136" name="Graphic 135" descr="Man and woman with solid fill">
              <a:extLst>
                <a:ext uri="{FF2B5EF4-FFF2-40B4-BE49-F238E27FC236}">
                  <a16:creationId xmlns:a16="http://schemas.microsoft.com/office/drawing/2014/main" id="{BC14AAFA-49B4-A5C6-BB97-6FC383F6DE0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1372" y="4676262"/>
              <a:ext cx="218674" cy="335842"/>
            </a:xfrm>
            <a:prstGeom prst="rect">
              <a:avLst/>
            </a:prstGeom>
          </p:spPr>
        </p:pic>
        <p:pic>
          <p:nvPicPr>
            <p:cNvPr id="137" name="Graphic 136" descr="Family with boy with solid fill">
              <a:extLst>
                <a:ext uri="{FF2B5EF4-FFF2-40B4-BE49-F238E27FC236}">
                  <a16:creationId xmlns:a16="http://schemas.microsoft.com/office/drawing/2014/main" id="{E975872E-7D3B-FF54-E017-736098B3935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64800" y="5506899"/>
              <a:ext cx="218674" cy="335842"/>
            </a:xfrm>
            <a:prstGeom prst="rect">
              <a:avLst/>
            </a:prstGeom>
          </p:spPr>
        </p:pic>
        <p:pic>
          <p:nvPicPr>
            <p:cNvPr id="138" name="Graphic 137" descr="Man with solid fill">
              <a:extLst>
                <a:ext uri="{FF2B5EF4-FFF2-40B4-BE49-F238E27FC236}">
                  <a16:creationId xmlns:a16="http://schemas.microsoft.com/office/drawing/2014/main" id="{3F9A3D44-2055-73F4-3BF4-ADB67B27EC4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41798" y="5204589"/>
              <a:ext cx="218674" cy="335842"/>
            </a:xfrm>
            <a:prstGeom prst="rect">
              <a:avLst/>
            </a:prstGeom>
          </p:spPr>
        </p:pic>
        <p:pic>
          <p:nvPicPr>
            <p:cNvPr id="139" name="Graphic 138" descr="Two Men with solid fill">
              <a:extLst>
                <a:ext uri="{FF2B5EF4-FFF2-40B4-BE49-F238E27FC236}">
                  <a16:creationId xmlns:a16="http://schemas.microsoft.com/office/drawing/2014/main" id="{30E84262-36CF-F979-F0C2-FDCEA5C26AC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836886" y="4756800"/>
              <a:ext cx="218674" cy="335842"/>
            </a:xfrm>
            <a:prstGeom prst="rect">
              <a:avLst/>
            </a:prstGeom>
          </p:spPr>
        </p:pic>
        <p:pic>
          <p:nvPicPr>
            <p:cNvPr id="140" name="Graphic 139" descr="Man and woman with solid fill">
              <a:extLst>
                <a:ext uri="{FF2B5EF4-FFF2-40B4-BE49-F238E27FC236}">
                  <a16:creationId xmlns:a16="http://schemas.microsoft.com/office/drawing/2014/main" id="{DBB96C2B-3D41-435C-2AB8-EC1F2283B3C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52435" y="5061233"/>
              <a:ext cx="218674" cy="335842"/>
            </a:xfrm>
            <a:prstGeom prst="rect">
              <a:avLst/>
            </a:prstGeom>
          </p:spPr>
        </p:pic>
        <p:pic>
          <p:nvPicPr>
            <p:cNvPr id="141" name="Graphic 140" descr="Man and woman with solid fill">
              <a:extLst>
                <a:ext uri="{FF2B5EF4-FFF2-40B4-BE49-F238E27FC236}">
                  <a16:creationId xmlns:a16="http://schemas.microsoft.com/office/drawing/2014/main" id="{3642E019-3E86-EA26-7169-FB2197C1D2B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82793" y="5437501"/>
              <a:ext cx="218674" cy="335842"/>
            </a:xfrm>
            <a:prstGeom prst="rect">
              <a:avLst/>
            </a:prstGeom>
          </p:spPr>
        </p:pic>
        <p:pic>
          <p:nvPicPr>
            <p:cNvPr id="142" name="Graphic 141" descr="Man with solid fill">
              <a:extLst>
                <a:ext uri="{FF2B5EF4-FFF2-40B4-BE49-F238E27FC236}">
                  <a16:creationId xmlns:a16="http://schemas.microsoft.com/office/drawing/2014/main" id="{327AA9BD-7B97-94F3-2616-3E980525A9F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53327" y="4954072"/>
              <a:ext cx="218674" cy="335842"/>
            </a:xfrm>
            <a:prstGeom prst="rect">
              <a:avLst/>
            </a:prstGeom>
          </p:spPr>
        </p:pic>
        <p:pic>
          <p:nvPicPr>
            <p:cNvPr id="143" name="Graphic 142" descr="Man with solid fill">
              <a:extLst>
                <a:ext uri="{FF2B5EF4-FFF2-40B4-BE49-F238E27FC236}">
                  <a16:creationId xmlns:a16="http://schemas.microsoft.com/office/drawing/2014/main" id="{9CF73A86-D40F-1707-02AD-E0F254ABA92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63837" y="4900156"/>
              <a:ext cx="218674" cy="335842"/>
            </a:xfrm>
            <a:prstGeom prst="rect">
              <a:avLst/>
            </a:prstGeom>
          </p:spPr>
        </p:pic>
        <p:pic>
          <p:nvPicPr>
            <p:cNvPr id="114" name="Graphic 113" descr="Man with solid fill">
              <a:extLst>
                <a:ext uri="{FF2B5EF4-FFF2-40B4-BE49-F238E27FC236}">
                  <a16:creationId xmlns:a16="http://schemas.microsoft.com/office/drawing/2014/main" id="{A7875AA6-AFD2-BA76-80BC-EDAE84D61190}"/>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745696" y="4825006"/>
              <a:ext cx="218674" cy="335842"/>
            </a:xfrm>
            <a:prstGeom prst="rect">
              <a:avLst/>
            </a:prstGeom>
          </p:spPr>
        </p:pic>
        <p:pic>
          <p:nvPicPr>
            <p:cNvPr id="115" name="Graphic 114" descr="Man and woman with solid fill">
              <a:extLst>
                <a:ext uri="{FF2B5EF4-FFF2-40B4-BE49-F238E27FC236}">
                  <a16:creationId xmlns:a16="http://schemas.microsoft.com/office/drawing/2014/main" id="{F7B1F3F2-24CD-D01F-78B3-3D3716E2A5D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79727" y="4932103"/>
              <a:ext cx="218674" cy="335842"/>
            </a:xfrm>
            <a:prstGeom prst="rect">
              <a:avLst/>
            </a:prstGeom>
          </p:spPr>
        </p:pic>
        <p:pic>
          <p:nvPicPr>
            <p:cNvPr id="116" name="Graphic 115" descr="Man with kid with solid fill">
              <a:extLst>
                <a:ext uri="{FF2B5EF4-FFF2-40B4-BE49-F238E27FC236}">
                  <a16:creationId xmlns:a16="http://schemas.microsoft.com/office/drawing/2014/main" id="{91B82B42-E86F-474E-04CB-6E5F00E29A1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775098" y="5003401"/>
              <a:ext cx="218674" cy="335842"/>
            </a:xfrm>
            <a:prstGeom prst="rect">
              <a:avLst/>
            </a:prstGeom>
          </p:spPr>
        </p:pic>
        <p:pic>
          <p:nvPicPr>
            <p:cNvPr id="117" name="Graphic 116" descr="Family with boy with solid fill">
              <a:extLst>
                <a:ext uri="{FF2B5EF4-FFF2-40B4-BE49-F238E27FC236}">
                  <a16:creationId xmlns:a16="http://schemas.microsoft.com/office/drawing/2014/main" id="{F46AECC9-5612-6B72-0CC5-16CA49EE091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010056" y="5375170"/>
              <a:ext cx="218674" cy="335842"/>
            </a:xfrm>
            <a:prstGeom prst="rect">
              <a:avLst/>
            </a:prstGeom>
          </p:spPr>
        </p:pic>
        <p:pic>
          <p:nvPicPr>
            <p:cNvPr id="118" name="Graphic 117" descr="Family with two children with solid fill">
              <a:extLst>
                <a:ext uri="{FF2B5EF4-FFF2-40B4-BE49-F238E27FC236}">
                  <a16:creationId xmlns:a16="http://schemas.microsoft.com/office/drawing/2014/main" id="{2C01C763-7646-148B-F7A4-45FB7911C98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587935" y="5415536"/>
              <a:ext cx="218674" cy="335842"/>
            </a:xfrm>
            <a:prstGeom prst="rect">
              <a:avLst/>
            </a:prstGeom>
          </p:spPr>
        </p:pic>
        <p:pic>
          <p:nvPicPr>
            <p:cNvPr id="119" name="Graphic 118" descr="Man with kid with solid fill">
              <a:extLst>
                <a:ext uri="{FF2B5EF4-FFF2-40B4-BE49-F238E27FC236}">
                  <a16:creationId xmlns:a16="http://schemas.microsoft.com/office/drawing/2014/main" id="{0304E39D-D26F-F40F-1502-E3A5A7C9DCE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24443" y="5039329"/>
              <a:ext cx="218674" cy="335842"/>
            </a:xfrm>
            <a:prstGeom prst="rect">
              <a:avLst/>
            </a:prstGeom>
          </p:spPr>
        </p:pic>
        <p:pic>
          <p:nvPicPr>
            <p:cNvPr id="120" name="Graphic 119" descr="Family with two children with solid fill">
              <a:extLst>
                <a:ext uri="{FF2B5EF4-FFF2-40B4-BE49-F238E27FC236}">
                  <a16:creationId xmlns:a16="http://schemas.microsoft.com/office/drawing/2014/main" id="{0D3D3BA5-C0DD-EF21-F342-4CCCDA59535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49267" y="5415536"/>
              <a:ext cx="218674" cy="335842"/>
            </a:xfrm>
            <a:prstGeom prst="rect">
              <a:avLst/>
            </a:prstGeom>
          </p:spPr>
        </p:pic>
        <p:pic>
          <p:nvPicPr>
            <p:cNvPr id="121" name="Graphic 120" descr="Man and woman with solid fill">
              <a:extLst>
                <a:ext uri="{FF2B5EF4-FFF2-40B4-BE49-F238E27FC236}">
                  <a16:creationId xmlns:a16="http://schemas.microsoft.com/office/drawing/2014/main" id="{81BE050A-3647-661C-D872-8707F755A8C7}"/>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362359" y="4797713"/>
              <a:ext cx="218674" cy="335842"/>
            </a:xfrm>
            <a:prstGeom prst="rect">
              <a:avLst/>
            </a:prstGeom>
          </p:spPr>
        </p:pic>
        <p:pic>
          <p:nvPicPr>
            <p:cNvPr id="122" name="Graphic 121" descr="Family with boy with solid fill">
              <a:extLst>
                <a:ext uri="{FF2B5EF4-FFF2-40B4-BE49-F238E27FC236}">
                  <a16:creationId xmlns:a16="http://schemas.microsoft.com/office/drawing/2014/main" id="{A913DE1A-BDF1-30DF-EC6A-02D01C63DB6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315787" y="5628350"/>
              <a:ext cx="218674" cy="335842"/>
            </a:xfrm>
            <a:prstGeom prst="rect">
              <a:avLst/>
            </a:prstGeom>
          </p:spPr>
        </p:pic>
        <p:pic>
          <p:nvPicPr>
            <p:cNvPr id="123" name="Graphic 122" descr="Man with solid fill">
              <a:extLst>
                <a:ext uri="{FF2B5EF4-FFF2-40B4-BE49-F238E27FC236}">
                  <a16:creationId xmlns:a16="http://schemas.microsoft.com/office/drawing/2014/main" id="{4418F73C-73A8-075E-FA57-22090FEBBDC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692785" y="5326040"/>
              <a:ext cx="218674" cy="335842"/>
            </a:xfrm>
            <a:prstGeom prst="rect">
              <a:avLst/>
            </a:prstGeom>
          </p:spPr>
        </p:pic>
        <p:pic>
          <p:nvPicPr>
            <p:cNvPr id="124" name="Graphic 123" descr="Two Men with solid fill">
              <a:extLst>
                <a:ext uri="{FF2B5EF4-FFF2-40B4-BE49-F238E27FC236}">
                  <a16:creationId xmlns:a16="http://schemas.microsoft.com/office/drawing/2014/main" id="{C2D560E5-0256-C6A7-A6EB-A14449F44359}"/>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087873" y="4878251"/>
              <a:ext cx="218674" cy="335842"/>
            </a:xfrm>
            <a:prstGeom prst="rect">
              <a:avLst/>
            </a:prstGeom>
          </p:spPr>
        </p:pic>
        <p:pic>
          <p:nvPicPr>
            <p:cNvPr id="125" name="Graphic 124" descr="Man and woman with solid fill">
              <a:extLst>
                <a:ext uri="{FF2B5EF4-FFF2-40B4-BE49-F238E27FC236}">
                  <a16:creationId xmlns:a16="http://schemas.microsoft.com/office/drawing/2014/main" id="{E893D0A1-03DC-C1B2-061C-3B4F242CB15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303422" y="5182684"/>
              <a:ext cx="218674" cy="335842"/>
            </a:xfrm>
            <a:prstGeom prst="rect">
              <a:avLst/>
            </a:prstGeom>
          </p:spPr>
        </p:pic>
        <p:pic>
          <p:nvPicPr>
            <p:cNvPr id="126" name="Graphic 125" descr="Man and woman with solid fill">
              <a:extLst>
                <a:ext uri="{FF2B5EF4-FFF2-40B4-BE49-F238E27FC236}">
                  <a16:creationId xmlns:a16="http://schemas.microsoft.com/office/drawing/2014/main" id="{225611B0-91DE-C1BA-8D50-CA929AA0D5B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3780" y="5558952"/>
              <a:ext cx="218674" cy="335842"/>
            </a:xfrm>
            <a:prstGeom prst="rect">
              <a:avLst/>
            </a:prstGeom>
          </p:spPr>
        </p:pic>
        <p:pic>
          <p:nvPicPr>
            <p:cNvPr id="127" name="Graphic 126" descr="Man with solid fill">
              <a:extLst>
                <a:ext uri="{FF2B5EF4-FFF2-40B4-BE49-F238E27FC236}">
                  <a16:creationId xmlns:a16="http://schemas.microsoft.com/office/drawing/2014/main" id="{78883AFD-A929-847C-33B9-B4716F060FD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504314" y="5075523"/>
              <a:ext cx="218674" cy="335842"/>
            </a:xfrm>
            <a:prstGeom prst="rect">
              <a:avLst/>
            </a:prstGeom>
          </p:spPr>
        </p:pic>
        <p:pic>
          <p:nvPicPr>
            <p:cNvPr id="128" name="Graphic 127" descr="Man with solid fill">
              <a:extLst>
                <a:ext uri="{FF2B5EF4-FFF2-40B4-BE49-F238E27FC236}">
                  <a16:creationId xmlns:a16="http://schemas.microsoft.com/office/drawing/2014/main" id="{93AF6129-1A7D-9F77-5A76-2D3F1F5941F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914824" y="5021607"/>
              <a:ext cx="218674" cy="335842"/>
            </a:xfrm>
            <a:prstGeom prst="rect">
              <a:avLst/>
            </a:prstGeom>
          </p:spPr>
        </p:pic>
        <p:pic>
          <p:nvPicPr>
            <p:cNvPr id="99" name="Graphic 98" descr="Man with solid fill">
              <a:extLst>
                <a:ext uri="{FF2B5EF4-FFF2-40B4-BE49-F238E27FC236}">
                  <a16:creationId xmlns:a16="http://schemas.microsoft.com/office/drawing/2014/main" id="{22E3D74D-792E-0450-87EF-9746E47536B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49601" y="3476904"/>
              <a:ext cx="218674" cy="335842"/>
            </a:xfrm>
            <a:prstGeom prst="rect">
              <a:avLst/>
            </a:prstGeom>
          </p:spPr>
        </p:pic>
        <p:pic>
          <p:nvPicPr>
            <p:cNvPr id="100" name="Graphic 99" descr="Man and woman with solid fill">
              <a:extLst>
                <a:ext uri="{FF2B5EF4-FFF2-40B4-BE49-F238E27FC236}">
                  <a16:creationId xmlns:a16="http://schemas.microsoft.com/office/drawing/2014/main" id="{CDEC973C-02D5-BFCA-5910-2E94F1BB200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83632" y="3584001"/>
              <a:ext cx="218674" cy="335842"/>
            </a:xfrm>
            <a:prstGeom prst="rect">
              <a:avLst/>
            </a:prstGeom>
          </p:spPr>
        </p:pic>
        <p:pic>
          <p:nvPicPr>
            <p:cNvPr id="101" name="Graphic 100" descr="Man with kid with solid fill">
              <a:extLst>
                <a:ext uri="{FF2B5EF4-FFF2-40B4-BE49-F238E27FC236}">
                  <a16:creationId xmlns:a16="http://schemas.microsoft.com/office/drawing/2014/main" id="{739AE369-EB13-041B-EDCA-A32F1F879F6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79003" y="3655299"/>
              <a:ext cx="218674" cy="335842"/>
            </a:xfrm>
            <a:prstGeom prst="rect">
              <a:avLst/>
            </a:prstGeom>
          </p:spPr>
        </p:pic>
        <p:pic>
          <p:nvPicPr>
            <p:cNvPr id="102" name="Graphic 101" descr="Family with boy with solid fill">
              <a:extLst>
                <a:ext uri="{FF2B5EF4-FFF2-40B4-BE49-F238E27FC236}">
                  <a16:creationId xmlns:a16="http://schemas.microsoft.com/office/drawing/2014/main" id="{0439E3CF-1647-B9B9-9D8B-48AD7950C3C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13961" y="4027068"/>
              <a:ext cx="218674" cy="335842"/>
            </a:xfrm>
            <a:prstGeom prst="rect">
              <a:avLst/>
            </a:prstGeom>
          </p:spPr>
        </p:pic>
        <p:pic>
          <p:nvPicPr>
            <p:cNvPr id="103" name="Graphic 102" descr="Family with two children with solid fill">
              <a:extLst>
                <a:ext uri="{FF2B5EF4-FFF2-40B4-BE49-F238E27FC236}">
                  <a16:creationId xmlns:a16="http://schemas.microsoft.com/office/drawing/2014/main" id="{74D3D89D-F5AA-B0D3-8E53-E6DCBBFBB31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91840" y="4067434"/>
              <a:ext cx="218674" cy="335842"/>
            </a:xfrm>
            <a:prstGeom prst="rect">
              <a:avLst/>
            </a:prstGeom>
          </p:spPr>
        </p:pic>
        <p:pic>
          <p:nvPicPr>
            <p:cNvPr id="104" name="Graphic 103" descr="Man with kid with solid fill">
              <a:extLst>
                <a:ext uri="{FF2B5EF4-FFF2-40B4-BE49-F238E27FC236}">
                  <a16:creationId xmlns:a16="http://schemas.microsoft.com/office/drawing/2014/main" id="{6B26751B-6944-C4AF-D7C1-682B2BE04D4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228348" y="3691227"/>
              <a:ext cx="218674" cy="335842"/>
            </a:xfrm>
            <a:prstGeom prst="rect">
              <a:avLst/>
            </a:prstGeom>
          </p:spPr>
        </p:pic>
        <p:pic>
          <p:nvPicPr>
            <p:cNvPr id="105" name="Graphic 104" descr="Family with two children with solid fill">
              <a:extLst>
                <a:ext uri="{FF2B5EF4-FFF2-40B4-BE49-F238E27FC236}">
                  <a16:creationId xmlns:a16="http://schemas.microsoft.com/office/drawing/2014/main" id="{FBF41F46-DF64-8D00-AAE0-BB8C47AC675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053172" y="4067434"/>
              <a:ext cx="218674" cy="335842"/>
            </a:xfrm>
            <a:prstGeom prst="rect">
              <a:avLst/>
            </a:prstGeom>
          </p:spPr>
        </p:pic>
        <p:pic>
          <p:nvPicPr>
            <p:cNvPr id="106" name="Graphic 105" descr="Man and woman with solid fill">
              <a:extLst>
                <a:ext uri="{FF2B5EF4-FFF2-40B4-BE49-F238E27FC236}">
                  <a16:creationId xmlns:a16="http://schemas.microsoft.com/office/drawing/2014/main" id="{46BDA7FB-73F9-9F8C-DAB8-7F4D1552E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66264" y="3449611"/>
              <a:ext cx="218674" cy="335842"/>
            </a:xfrm>
            <a:prstGeom prst="rect">
              <a:avLst/>
            </a:prstGeom>
          </p:spPr>
        </p:pic>
        <p:pic>
          <p:nvPicPr>
            <p:cNvPr id="107" name="Graphic 106" descr="Family with boy with solid fill">
              <a:extLst>
                <a:ext uri="{FF2B5EF4-FFF2-40B4-BE49-F238E27FC236}">
                  <a16:creationId xmlns:a16="http://schemas.microsoft.com/office/drawing/2014/main" id="{20015896-47D6-C05A-6FC2-6C3D16D5DBB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19692" y="4280248"/>
              <a:ext cx="218674" cy="335842"/>
            </a:xfrm>
            <a:prstGeom prst="rect">
              <a:avLst/>
            </a:prstGeom>
          </p:spPr>
        </p:pic>
        <p:pic>
          <p:nvPicPr>
            <p:cNvPr id="108" name="Graphic 107" descr="Man with solid fill">
              <a:extLst>
                <a:ext uri="{FF2B5EF4-FFF2-40B4-BE49-F238E27FC236}">
                  <a16:creationId xmlns:a16="http://schemas.microsoft.com/office/drawing/2014/main" id="{AF8A7760-065E-0E7E-0813-B6ED2BB1AA6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96690" y="3977938"/>
              <a:ext cx="218674" cy="335842"/>
            </a:xfrm>
            <a:prstGeom prst="rect">
              <a:avLst/>
            </a:prstGeom>
          </p:spPr>
        </p:pic>
        <p:pic>
          <p:nvPicPr>
            <p:cNvPr id="109" name="Graphic 108" descr="Two Men with solid fill">
              <a:extLst>
                <a:ext uri="{FF2B5EF4-FFF2-40B4-BE49-F238E27FC236}">
                  <a16:creationId xmlns:a16="http://schemas.microsoft.com/office/drawing/2014/main" id="{6C123733-CFD3-DB2F-5A20-B9B28BEC78A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91778" y="3530149"/>
              <a:ext cx="218674" cy="335842"/>
            </a:xfrm>
            <a:prstGeom prst="rect">
              <a:avLst/>
            </a:prstGeom>
          </p:spPr>
        </p:pic>
        <p:pic>
          <p:nvPicPr>
            <p:cNvPr id="110" name="Graphic 109" descr="Man and woman with solid fill">
              <a:extLst>
                <a:ext uri="{FF2B5EF4-FFF2-40B4-BE49-F238E27FC236}">
                  <a16:creationId xmlns:a16="http://schemas.microsoft.com/office/drawing/2014/main" id="{10FA9B82-26E1-D84F-A8AD-447B3C45306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07327" y="3834582"/>
              <a:ext cx="218674" cy="335842"/>
            </a:xfrm>
            <a:prstGeom prst="rect">
              <a:avLst/>
            </a:prstGeom>
          </p:spPr>
        </p:pic>
        <p:pic>
          <p:nvPicPr>
            <p:cNvPr id="111" name="Graphic 110" descr="Man and woman with solid fill">
              <a:extLst>
                <a:ext uri="{FF2B5EF4-FFF2-40B4-BE49-F238E27FC236}">
                  <a16:creationId xmlns:a16="http://schemas.microsoft.com/office/drawing/2014/main" id="{6D0C3B6A-070E-726D-0C2A-407609E32E1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37685" y="4210850"/>
              <a:ext cx="218674" cy="335842"/>
            </a:xfrm>
            <a:prstGeom prst="rect">
              <a:avLst/>
            </a:prstGeom>
          </p:spPr>
        </p:pic>
        <p:pic>
          <p:nvPicPr>
            <p:cNvPr id="112" name="Graphic 111" descr="Man with solid fill">
              <a:extLst>
                <a:ext uri="{FF2B5EF4-FFF2-40B4-BE49-F238E27FC236}">
                  <a16:creationId xmlns:a16="http://schemas.microsoft.com/office/drawing/2014/main" id="{5A94E43C-1595-D995-80C6-FF1B8A7BD30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08219" y="3727421"/>
              <a:ext cx="218674" cy="335842"/>
            </a:xfrm>
            <a:prstGeom prst="rect">
              <a:avLst/>
            </a:prstGeom>
          </p:spPr>
        </p:pic>
        <p:pic>
          <p:nvPicPr>
            <p:cNvPr id="113" name="Graphic 112" descr="Man with solid fill">
              <a:extLst>
                <a:ext uri="{FF2B5EF4-FFF2-40B4-BE49-F238E27FC236}">
                  <a16:creationId xmlns:a16="http://schemas.microsoft.com/office/drawing/2014/main" id="{591FD33A-7DD0-A5F4-3D4D-9DF3B78391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8729" y="3673505"/>
              <a:ext cx="218674" cy="335842"/>
            </a:xfrm>
            <a:prstGeom prst="rect">
              <a:avLst/>
            </a:prstGeom>
          </p:spPr>
        </p:pic>
        <p:pic>
          <p:nvPicPr>
            <p:cNvPr id="84" name="Graphic 83" descr="Man with solid fill">
              <a:extLst>
                <a:ext uri="{FF2B5EF4-FFF2-40B4-BE49-F238E27FC236}">
                  <a16:creationId xmlns:a16="http://schemas.microsoft.com/office/drawing/2014/main" id="{A66C21A7-17CE-B024-A514-0FA4EC6203D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802663" y="3749890"/>
              <a:ext cx="218674" cy="335842"/>
            </a:xfrm>
            <a:prstGeom prst="rect">
              <a:avLst/>
            </a:prstGeom>
          </p:spPr>
        </p:pic>
        <p:pic>
          <p:nvPicPr>
            <p:cNvPr id="85" name="Graphic 84" descr="Man and woman with solid fill">
              <a:extLst>
                <a:ext uri="{FF2B5EF4-FFF2-40B4-BE49-F238E27FC236}">
                  <a16:creationId xmlns:a16="http://schemas.microsoft.com/office/drawing/2014/main" id="{0AD4A4CB-8D09-46AA-A10A-B1695D9F02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6694" y="3856987"/>
              <a:ext cx="218674" cy="335842"/>
            </a:xfrm>
            <a:prstGeom prst="rect">
              <a:avLst/>
            </a:prstGeom>
          </p:spPr>
        </p:pic>
        <p:pic>
          <p:nvPicPr>
            <p:cNvPr id="86" name="Graphic 85" descr="Man with kid with solid fill">
              <a:extLst>
                <a:ext uri="{FF2B5EF4-FFF2-40B4-BE49-F238E27FC236}">
                  <a16:creationId xmlns:a16="http://schemas.microsoft.com/office/drawing/2014/main" id="{E92C1791-1BC5-9C74-AC9E-37E97C16304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832065" y="3928285"/>
              <a:ext cx="218674" cy="335842"/>
            </a:xfrm>
            <a:prstGeom prst="rect">
              <a:avLst/>
            </a:prstGeom>
          </p:spPr>
        </p:pic>
        <p:pic>
          <p:nvPicPr>
            <p:cNvPr id="87" name="Graphic 86" descr="Family with boy with solid fill">
              <a:extLst>
                <a:ext uri="{FF2B5EF4-FFF2-40B4-BE49-F238E27FC236}">
                  <a16:creationId xmlns:a16="http://schemas.microsoft.com/office/drawing/2014/main" id="{A039D7FA-2396-3D3C-C65A-F2C8BCCD30F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67023" y="4300054"/>
              <a:ext cx="218674" cy="335842"/>
            </a:xfrm>
            <a:prstGeom prst="rect">
              <a:avLst/>
            </a:prstGeom>
          </p:spPr>
        </p:pic>
        <p:pic>
          <p:nvPicPr>
            <p:cNvPr id="88" name="Graphic 87" descr="Family with two children with solid fill">
              <a:extLst>
                <a:ext uri="{FF2B5EF4-FFF2-40B4-BE49-F238E27FC236}">
                  <a16:creationId xmlns:a16="http://schemas.microsoft.com/office/drawing/2014/main" id="{D394DEF2-2589-66A6-C46E-4DD3608DADF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644902" y="4340420"/>
              <a:ext cx="218674" cy="335842"/>
            </a:xfrm>
            <a:prstGeom prst="rect">
              <a:avLst/>
            </a:prstGeom>
          </p:spPr>
        </p:pic>
        <p:pic>
          <p:nvPicPr>
            <p:cNvPr id="89" name="Graphic 88" descr="Man with kid with solid fill">
              <a:extLst>
                <a:ext uri="{FF2B5EF4-FFF2-40B4-BE49-F238E27FC236}">
                  <a16:creationId xmlns:a16="http://schemas.microsoft.com/office/drawing/2014/main" id="{E19D3F23-FD0E-40F0-901F-91BAF2C98F1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81410" y="3964213"/>
              <a:ext cx="218674" cy="335842"/>
            </a:xfrm>
            <a:prstGeom prst="rect">
              <a:avLst/>
            </a:prstGeom>
          </p:spPr>
        </p:pic>
        <p:pic>
          <p:nvPicPr>
            <p:cNvPr id="90" name="Graphic 89" descr="Family with two children with solid fill">
              <a:extLst>
                <a:ext uri="{FF2B5EF4-FFF2-40B4-BE49-F238E27FC236}">
                  <a16:creationId xmlns:a16="http://schemas.microsoft.com/office/drawing/2014/main" id="{9A03A375-1F6E-B692-4F26-CA021538839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06234" y="4340420"/>
              <a:ext cx="218674" cy="335842"/>
            </a:xfrm>
            <a:prstGeom prst="rect">
              <a:avLst/>
            </a:prstGeom>
          </p:spPr>
        </p:pic>
        <p:pic>
          <p:nvPicPr>
            <p:cNvPr id="91" name="Graphic 90" descr="Man and woman with solid fill">
              <a:extLst>
                <a:ext uri="{FF2B5EF4-FFF2-40B4-BE49-F238E27FC236}">
                  <a16:creationId xmlns:a16="http://schemas.microsoft.com/office/drawing/2014/main" id="{04DECF05-CB81-186D-474A-FE6C8BB5DC8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419326" y="3722597"/>
              <a:ext cx="218674" cy="335842"/>
            </a:xfrm>
            <a:prstGeom prst="rect">
              <a:avLst/>
            </a:prstGeom>
          </p:spPr>
        </p:pic>
        <p:pic>
          <p:nvPicPr>
            <p:cNvPr id="92" name="Graphic 91" descr="Family with boy with solid fill">
              <a:extLst>
                <a:ext uri="{FF2B5EF4-FFF2-40B4-BE49-F238E27FC236}">
                  <a16:creationId xmlns:a16="http://schemas.microsoft.com/office/drawing/2014/main" id="{E777C032-0D88-7CF6-50A3-74E951658C2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72754" y="4553234"/>
              <a:ext cx="218674" cy="335842"/>
            </a:xfrm>
            <a:prstGeom prst="rect">
              <a:avLst/>
            </a:prstGeom>
          </p:spPr>
        </p:pic>
        <p:pic>
          <p:nvPicPr>
            <p:cNvPr id="93" name="Graphic 92" descr="Man with solid fill">
              <a:extLst>
                <a:ext uri="{FF2B5EF4-FFF2-40B4-BE49-F238E27FC236}">
                  <a16:creationId xmlns:a16="http://schemas.microsoft.com/office/drawing/2014/main" id="{B66F2892-4196-360F-B76A-71ECA5F85FF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749752" y="4250924"/>
              <a:ext cx="218674" cy="335842"/>
            </a:xfrm>
            <a:prstGeom prst="rect">
              <a:avLst/>
            </a:prstGeom>
          </p:spPr>
        </p:pic>
        <p:pic>
          <p:nvPicPr>
            <p:cNvPr id="94" name="Graphic 93" descr="Two Men with solid fill">
              <a:extLst>
                <a:ext uri="{FF2B5EF4-FFF2-40B4-BE49-F238E27FC236}">
                  <a16:creationId xmlns:a16="http://schemas.microsoft.com/office/drawing/2014/main" id="{D3168893-585F-8039-957F-BAAD0A61A46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144840" y="3803135"/>
              <a:ext cx="218674" cy="335842"/>
            </a:xfrm>
            <a:prstGeom prst="rect">
              <a:avLst/>
            </a:prstGeom>
          </p:spPr>
        </p:pic>
        <p:pic>
          <p:nvPicPr>
            <p:cNvPr id="95" name="Graphic 94" descr="Man and woman with solid fill">
              <a:extLst>
                <a:ext uri="{FF2B5EF4-FFF2-40B4-BE49-F238E27FC236}">
                  <a16:creationId xmlns:a16="http://schemas.microsoft.com/office/drawing/2014/main" id="{890901DA-572F-9FB0-1FA5-0A452F40276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360389" y="4107568"/>
              <a:ext cx="218674" cy="335842"/>
            </a:xfrm>
            <a:prstGeom prst="rect">
              <a:avLst/>
            </a:prstGeom>
          </p:spPr>
        </p:pic>
        <p:pic>
          <p:nvPicPr>
            <p:cNvPr id="96" name="Graphic 95" descr="Man and woman with solid fill">
              <a:extLst>
                <a:ext uri="{FF2B5EF4-FFF2-40B4-BE49-F238E27FC236}">
                  <a16:creationId xmlns:a16="http://schemas.microsoft.com/office/drawing/2014/main" id="{58F18D87-FC3B-5833-DDD4-811E816D52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747" y="4483836"/>
              <a:ext cx="218674" cy="335842"/>
            </a:xfrm>
            <a:prstGeom prst="rect">
              <a:avLst/>
            </a:prstGeom>
          </p:spPr>
        </p:pic>
        <p:pic>
          <p:nvPicPr>
            <p:cNvPr id="97" name="Graphic 96" descr="Man with solid fill">
              <a:extLst>
                <a:ext uri="{FF2B5EF4-FFF2-40B4-BE49-F238E27FC236}">
                  <a16:creationId xmlns:a16="http://schemas.microsoft.com/office/drawing/2014/main" id="{FEF59070-A430-1C15-C125-B2E66A5C780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61281" y="4000407"/>
              <a:ext cx="218674" cy="335842"/>
            </a:xfrm>
            <a:prstGeom prst="rect">
              <a:avLst/>
            </a:prstGeom>
          </p:spPr>
        </p:pic>
        <p:pic>
          <p:nvPicPr>
            <p:cNvPr id="98" name="Graphic 97" descr="Man with solid fill">
              <a:extLst>
                <a:ext uri="{FF2B5EF4-FFF2-40B4-BE49-F238E27FC236}">
                  <a16:creationId xmlns:a16="http://schemas.microsoft.com/office/drawing/2014/main" id="{D90359CE-762B-D8EE-284C-FC92DDBE55A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971791" y="3946491"/>
              <a:ext cx="218674" cy="335842"/>
            </a:xfrm>
            <a:prstGeom prst="rect">
              <a:avLst/>
            </a:prstGeom>
          </p:spPr>
        </p:pic>
      </p:grpSp>
      <p:sp>
        <p:nvSpPr>
          <p:cNvPr id="4" name="TextBox 3">
            <a:extLst>
              <a:ext uri="{FF2B5EF4-FFF2-40B4-BE49-F238E27FC236}">
                <a16:creationId xmlns:a16="http://schemas.microsoft.com/office/drawing/2014/main" id="{92B2D250-7463-EC47-B725-7763CBBB49CD}"/>
              </a:ext>
            </a:extLst>
          </p:cNvPr>
          <p:cNvSpPr txBox="1"/>
          <p:nvPr/>
        </p:nvSpPr>
        <p:spPr>
          <a:xfrm>
            <a:off x="794796" y="5879940"/>
            <a:ext cx="9749742" cy="369332"/>
          </a:xfrm>
          <a:prstGeom prst="rect">
            <a:avLst/>
          </a:prstGeom>
          <a:noFill/>
        </p:spPr>
        <p:txBody>
          <a:bodyPr wrap="square" rtlCol="0">
            <a:spAutoFit/>
          </a:bodyPr>
          <a:lstStyle/>
          <a:p>
            <a:pPr algn="ctr"/>
            <a:r>
              <a:rPr lang="en-US" dirty="0"/>
              <a:t>How do we make conclusions about the whole population based on the sample?</a:t>
            </a:r>
          </a:p>
        </p:txBody>
      </p:sp>
    </p:spTree>
    <p:extLst>
      <p:ext uri="{BB962C8B-B14F-4D97-AF65-F5344CB8AC3E}">
        <p14:creationId xmlns:p14="http://schemas.microsoft.com/office/powerpoint/2010/main" val="463662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26307-39E5-B531-8A43-03932C31E6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1D73CC-5827-29BC-24B5-4710182CC7CB}"/>
              </a:ext>
            </a:extLst>
          </p:cNvPr>
          <p:cNvSpPr>
            <a:spLocks noGrp="1"/>
          </p:cNvSpPr>
          <p:nvPr>
            <p:ph type="title"/>
          </p:nvPr>
        </p:nvSpPr>
        <p:spPr/>
        <p:txBody>
          <a:bodyPr/>
          <a:lstStyle/>
          <a:p>
            <a:r>
              <a:rPr lang="en-US" sz="4400" dirty="0"/>
              <a:t>Population and sample</a:t>
            </a:r>
            <a:endParaRPr lang="en-US" dirty="0"/>
          </a:p>
        </p:txBody>
      </p:sp>
      <p:sp>
        <p:nvSpPr>
          <p:cNvPr id="5" name="Content Placeholder 2">
            <a:extLst>
              <a:ext uri="{FF2B5EF4-FFF2-40B4-BE49-F238E27FC236}">
                <a16:creationId xmlns:a16="http://schemas.microsoft.com/office/drawing/2014/main" id="{03ECA697-EAA5-AE3B-07AF-082C1AF6B4C2}"/>
              </a:ext>
            </a:extLst>
          </p:cNvPr>
          <p:cNvSpPr txBox="1">
            <a:spLocks/>
          </p:cNvSpPr>
          <p:nvPr/>
        </p:nvSpPr>
        <p:spPr>
          <a:xfrm>
            <a:off x="609600" y="1170261"/>
            <a:ext cx="10972800" cy="756000"/>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Population: a set of instances “of interest”</a:t>
            </a:r>
          </a:p>
          <a:p>
            <a:pPr marL="0" indent="0">
              <a:buFont typeface="Arial"/>
              <a:buNone/>
            </a:pPr>
            <a:r>
              <a:rPr lang="en-US" sz="2000" dirty="0"/>
              <a:t>Sample: a set of instances sampled from the population</a:t>
            </a:r>
          </a:p>
          <a:p>
            <a:pPr marL="0" indent="0">
              <a:buFont typeface="Arial"/>
              <a:buNone/>
            </a:pPr>
            <a:endParaRPr lang="en-US" sz="2000" dirty="0"/>
          </a:p>
        </p:txBody>
      </p:sp>
      <p:sp>
        <p:nvSpPr>
          <p:cNvPr id="17" name="Content Placeholder 2">
            <a:extLst>
              <a:ext uri="{FF2B5EF4-FFF2-40B4-BE49-F238E27FC236}">
                <a16:creationId xmlns:a16="http://schemas.microsoft.com/office/drawing/2014/main" id="{55AADC7C-8BF7-1D5F-C07F-2412BE202796}"/>
              </a:ext>
            </a:extLst>
          </p:cNvPr>
          <p:cNvSpPr txBox="1">
            <a:spLocks/>
          </p:cNvSpPr>
          <p:nvPr/>
        </p:nvSpPr>
        <p:spPr>
          <a:xfrm>
            <a:off x="609600" y="2110697"/>
            <a:ext cx="11102399" cy="382668"/>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2000" dirty="0"/>
              <a:t>Say, we want to compute an average household income per person (incl. kids) in the Netherlands:</a:t>
            </a:r>
          </a:p>
          <a:p>
            <a:r>
              <a:rPr lang="en-US" sz="2000" dirty="0"/>
              <a:t>Population: all households in the Netherlands</a:t>
            </a:r>
          </a:p>
          <a:p>
            <a:r>
              <a:rPr lang="en-US" sz="2000" b="1" dirty="0">
                <a:solidFill>
                  <a:schemeClr val="accent1"/>
                </a:solidFill>
              </a:rPr>
              <a:t>Sample: </a:t>
            </a:r>
            <a:r>
              <a:rPr lang="en-US" sz="2000" dirty="0"/>
              <a:t>households that we can reach given timeline/budget/</a:t>
            </a:r>
            <a:r>
              <a:rPr lang="nl-NL" sz="2000" dirty="0"/>
              <a:t>consent</a:t>
            </a:r>
            <a:r>
              <a:rPr lang="en-US" sz="2000" dirty="0"/>
              <a:t>/… </a:t>
            </a:r>
          </a:p>
        </p:txBody>
      </p:sp>
      <p:sp>
        <p:nvSpPr>
          <p:cNvPr id="4" name="TextBox 3">
            <a:extLst>
              <a:ext uri="{FF2B5EF4-FFF2-40B4-BE49-F238E27FC236}">
                <a16:creationId xmlns:a16="http://schemas.microsoft.com/office/drawing/2014/main" id="{C93BF97D-6CCF-288B-E080-F4BD1D0491F0}"/>
              </a:ext>
            </a:extLst>
          </p:cNvPr>
          <p:cNvSpPr txBox="1"/>
          <p:nvPr/>
        </p:nvSpPr>
        <p:spPr>
          <a:xfrm>
            <a:off x="609600" y="4364636"/>
            <a:ext cx="9738168" cy="369332"/>
          </a:xfrm>
          <a:prstGeom prst="rect">
            <a:avLst/>
          </a:prstGeom>
          <a:noFill/>
        </p:spPr>
        <p:txBody>
          <a:bodyPr wrap="square" rtlCol="0">
            <a:spAutoFit/>
          </a:bodyPr>
          <a:lstStyle/>
          <a:p>
            <a:pPr algn="ctr"/>
            <a:r>
              <a:rPr lang="en-US" b="1" dirty="0">
                <a:solidFill>
                  <a:schemeClr val="accent1"/>
                </a:solidFill>
              </a:rPr>
              <a:t>Can we make conclusions about the whole population based on the sample? How?</a:t>
            </a:r>
          </a:p>
        </p:txBody>
      </p:sp>
      <p:grpSp>
        <p:nvGrpSpPr>
          <p:cNvPr id="7" name="Group 6">
            <a:extLst>
              <a:ext uri="{FF2B5EF4-FFF2-40B4-BE49-F238E27FC236}">
                <a16:creationId xmlns:a16="http://schemas.microsoft.com/office/drawing/2014/main" id="{3F31C76E-3403-4152-9B76-54F40841EE35}"/>
              </a:ext>
            </a:extLst>
          </p:cNvPr>
          <p:cNvGrpSpPr/>
          <p:nvPr/>
        </p:nvGrpSpPr>
        <p:grpSpPr>
          <a:xfrm>
            <a:off x="1253327" y="3212292"/>
            <a:ext cx="8690764" cy="2751900"/>
            <a:chOff x="1253327" y="3212292"/>
            <a:chExt cx="8690764" cy="2751900"/>
          </a:xfrm>
          <a:solidFill>
            <a:srgbClr val="000000">
              <a:alpha val="14000"/>
            </a:srgbClr>
          </a:solidFill>
        </p:grpSpPr>
        <p:pic>
          <p:nvPicPr>
            <p:cNvPr id="8" name="Graphic 7" descr="Man with solid fill">
              <a:extLst>
                <a:ext uri="{FF2B5EF4-FFF2-40B4-BE49-F238E27FC236}">
                  <a16:creationId xmlns:a16="http://schemas.microsoft.com/office/drawing/2014/main" id="{9988BF89-CE55-694B-0391-00541D568A9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836494" y="4466236"/>
              <a:ext cx="218674" cy="335842"/>
            </a:xfrm>
            <a:prstGeom prst="rect">
              <a:avLst/>
            </a:prstGeom>
          </p:spPr>
        </p:pic>
        <p:pic>
          <p:nvPicPr>
            <p:cNvPr id="9" name="Graphic 8" descr="Man and woman with solid fill">
              <a:extLst>
                <a:ext uri="{FF2B5EF4-FFF2-40B4-BE49-F238E27FC236}">
                  <a16:creationId xmlns:a16="http://schemas.microsoft.com/office/drawing/2014/main" id="{1B33CF86-5C1D-DD32-95D9-D403208B11E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70525" y="4573333"/>
              <a:ext cx="218674" cy="335842"/>
            </a:xfrm>
            <a:prstGeom prst="rect">
              <a:avLst/>
            </a:prstGeom>
          </p:spPr>
        </p:pic>
        <p:pic>
          <p:nvPicPr>
            <p:cNvPr id="11" name="Graphic 10" descr="Man with kid with solid fill">
              <a:extLst>
                <a:ext uri="{FF2B5EF4-FFF2-40B4-BE49-F238E27FC236}">
                  <a16:creationId xmlns:a16="http://schemas.microsoft.com/office/drawing/2014/main" id="{C3D5457D-4398-6BC1-B05C-3F0B8A7C4D0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65896" y="4644631"/>
              <a:ext cx="218674" cy="335842"/>
            </a:xfrm>
            <a:prstGeom prst="rect">
              <a:avLst/>
            </a:prstGeom>
          </p:spPr>
        </p:pic>
        <p:pic>
          <p:nvPicPr>
            <p:cNvPr id="13" name="Graphic 12" descr="Family with boy with solid fill">
              <a:extLst>
                <a:ext uri="{FF2B5EF4-FFF2-40B4-BE49-F238E27FC236}">
                  <a16:creationId xmlns:a16="http://schemas.microsoft.com/office/drawing/2014/main" id="{0E91462D-3AEA-B13B-0894-F9235AC4BE4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100854" y="5016400"/>
              <a:ext cx="218674" cy="335842"/>
            </a:xfrm>
            <a:prstGeom prst="rect">
              <a:avLst/>
            </a:prstGeom>
          </p:spPr>
        </p:pic>
        <p:pic>
          <p:nvPicPr>
            <p:cNvPr id="15" name="Graphic 14" descr="Family with two children with solid fill">
              <a:extLst>
                <a:ext uri="{FF2B5EF4-FFF2-40B4-BE49-F238E27FC236}">
                  <a16:creationId xmlns:a16="http://schemas.microsoft.com/office/drawing/2014/main" id="{FCE02853-520C-2318-0180-BAABFA9ED4F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678733" y="5056766"/>
              <a:ext cx="218674" cy="335842"/>
            </a:xfrm>
            <a:prstGeom prst="rect">
              <a:avLst/>
            </a:prstGeom>
          </p:spPr>
        </p:pic>
        <p:pic>
          <p:nvPicPr>
            <p:cNvPr id="21" name="Graphic 20" descr="Man with kid with solid fill">
              <a:extLst>
                <a:ext uri="{FF2B5EF4-FFF2-40B4-BE49-F238E27FC236}">
                  <a16:creationId xmlns:a16="http://schemas.microsoft.com/office/drawing/2014/main" id="{8AAFCB8F-B634-1DCF-82B7-899B8CDB029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15241" y="4680559"/>
              <a:ext cx="218674" cy="335842"/>
            </a:xfrm>
            <a:prstGeom prst="rect">
              <a:avLst/>
            </a:prstGeom>
          </p:spPr>
        </p:pic>
        <p:pic>
          <p:nvPicPr>
            <p:cNvPr id="29" name="Graphic 28" descr="Family with two children with solid fill">
              <a:extLst>
                <a:ext uri="{FF2B5EF4-FFF2-40B4-BE49-F238E27FC236}">
                  <a16:creationId xmlns:a16="http://schemas.microsoft.com/office/drawing/2014/main" id="{C0EA6D98-62ED-2C4A-9768-B4AC2DA696C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40065" y="5056766"/>
              <a:ext cx="218674" cy="335842"/>
            </a:xfrm>
            <a:prstGeom prst="rect">
              <a:avLst/>
            </a:prstGeom>
          </p:spPr>
        </p:pic>
        <p:pic>
          <p:nvPicPr>
            <p:cNvPr id="30" name="Graphic 29" descr="Man and woman with solid fill">
              <a:extLst>
                <a:ext uri="{FF2B5EF4-FFF2-40B4-BE49-F238E27FC236}">
                  <a16:creationId xmlns:a16="http://schemas.microsoft.com/office/drawing/2014/main" id="{2CA51BAD-4218-F1E6-13E0-3A5488E72A7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53157" y="4438943"/>
              <a:ext cx="218674" cy="335842"/>
            </a:xfrm>
            <a:prstGeom prst="rect">
              <a:avLst/>
            </a:prstGeom>
          </p:spPr>
        </p:pic>
        <p:pic>
          <p:nvPicPr>
            <p:cNvPr id="46" name="Graphic 45" descr="Family with boy with solid fill">
              <a:extLst>
                <a:ext uri="{FF2B5EF4-FFF2-40B4-BE49-F238E27FC236}">
                  <a16:creationId xmlns:a16="http://schemas.microsoft.com/office/drawing/2014/main" id="{D82C377F-E8D4-4698-17EC-39C41863C88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06585" y="5269580"/>
              <a:ext cx="218674" cy="335842"/>
            </a:xfrm>
            <a:prstGeom prst="rect">
              <a:avLst/>
            </a:prstGeom>
          </p:spPr>
        </p:pic>
        <p:pic>
          <p:nvPicPr>
            <p:cNvPr id="62" name="Graphic 61" descr="Man with solid fill">
              <a:extLst>
                <a:ext uri="{FF2B5EF4-FFF2-40B4-BE49-F238E27FC236}">
                  <a16:creationId xmlns:a16="http://schemas.microsoft.com/office/drawing/2014/main" id="{2E686856-C958-4568-F6A9-406002EFA0E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783583" y="4967270"/>
              <a:ext cx="218674" cy="335842"/>
            </a:xfrm>
            <a:prstGeom prst="rect">
              <a:avLst/>
            </a:prstGeom>
          </p:spPr>
        </p:pic>
        <p:pic>
          <p:nvPicPr>
            <p:cNvPr id="78" name="Graphic 77" descr="Two Men with solid fill">
              <a:extLst>
                <a:ext uri="{FF2B5EF4-FFF2-40B4-BE49-F238E27FC236}">
                  <a16:creationId xmlns:a16="http://schemas.microsoft.com/office/drawing/2014/main" id="{589E2574-6D0B-1881-FF49-25ACA8F45DE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178671" y="4519481"/>
              <a:ext cx="218674" cy="335842"/>
            </a:xfrm>
            <a:prstGeom prst="rect">
              <a:avLst/>
            </a:prstGeom>
          </p:spPr>
        </p:pic>
        <p:pic>
          <p:nvPicPr>
            <p:cNvPr id="79" name="Graphic 78" descr="Man and woman with solid fill">
              <a:extLst>
                <a:ext uri="{FF2B5EF4-FFF2-40B4-BE49-F238E27FC236}">
                  <a16:creationId xmlns:a16="http://schemas.microsoft.com/office/drawing/2014/main" id="{8E146583-EAB8-C964-CC59-256ED177A6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394220" y="4823914"/>
              <a:ext cx="218674" cy="335842"/>
            </a:xfrm>
            <a:prstGeom prst="rect">
              <a:avLst/>
            </a:prstGeom>
          </p:spPr>
        </p:pic>
        <p:pic>
          <p:nvPicPr>
            <p:cNvPr id="80" name="Graphic 79" descr="Man and woman with solid fill">
              <a:extLst>
                <a:ext uri="{FF2B5EF4-FFF2-40B4-BE49-F238E27FC236}">
                  <a16:creationId xmlns:a16="http://schemas.microsoft.com/office/drawing/2014/main" id="{25023E80-B0C1-ACC3-C29B-EFA568B17AD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324578" y="5200182"/>
              <a:ext cx="218674" cy="335842"/>
            </a:xfrm>
            <a:prstGeom prst="rect">
              <a:avLst/>
            </a:prstGeom>
          </p:spPr>
        </p:pic>
        <p:pic>
          <p:nvPicPr>
            <p:cNvPr id="81" name="Graphic 80" descr="Man with solid fill">
              <a:extLst>
                <a:ext uri="{FF2B5EF4-FFF2-40B4-BE49-F238E27FC236}">
                  <a16:creationId xmlns:a16="http://schemas.microsoft.com/office/drawing/2014/main" id="{6E09777B-BB92-C9C2-F93B-8E4EA7A3B0B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595112" y="4716753"/>
              <a:ext cx="218674" cy="335842"/>
            </a:xfrm>
            <a:prstGeom prst="rect">
              <a:avLst/>
            </a:prstGeom>
          </p:spPr>
        </p:pic>
        <p:pic>
          <p:nvPicPr>
            <p:cNvPr id="82" name="Graphic 81" descr="Man with solid fill">
              <a:extLst>
                <a:ext uri="{FF2B5EF4-FFF2-40B4-BE49-F238E27FC236}">
                  <a16:creationId xmlns:a16="http://schemas.microsoft.com/office/drawing/2014/main" id="{3B6D91ED-7A3F-20FB-B88B-8E3AF61135B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05622" y="4662837"/>
              <a:ext cx="218674" cy="335842"/>
            </a:xfrm>
            <a:prstGeom prst="rect">
              <a:avLst/>
            </a:prstGeom>
          </p:spPr>
        </p:pic>
        <p:pic>
          <p:nvPicPr>
            <p:cNvPr id="83" name="Graphic 82" descr="Man with solid fill">
              <a:extLst>
                <a:ext uri="{FF2B5EF4-FFF2-40B4-BE49-F238E27FC236}">
                  <a16:creationId xmlns:a16="http://schemas.microsoft.com/office/drawing/2014/main" id="{BF22984B-0D89-1E5F-2D8D-B79155FE956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87481" y="4587687"/>
              <a:ext cx="218674" cy="335842"/>
            </a:xfrm>
            <a:prstGeom prst="rect">
              <a:avLst/>
            </a:prstGeom>
          </p:spPr>
        </p:pic>
        <p:pic>
          <p:nvPicPr>
            <p:cNvPr id="144" name="Graphic 143" descr="Man and woman with solid fill">
              <a:extLst>
                <a:ext uri="{FF2B5EF4-FFF2-40B4-BE49-F238E27FC236}">
                  <a16:creationId xmlns:a16="http://schemas.microsoft.com/office/drawing/2014/main" id="{7D592071-1068-6137-2ED7-94186E00F2C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21512" y="4694784"/>
              <a:ext cx="218674" cy="335842"/>
            </a:xfrm>
            <a:prstGeom prst="rect">
              <a:avLst/>
            </a:prstGeom>
          </p:spPr>
        </p:pic>
        <p:pic>
          <p:nvPicPr>
            <p:cNvPr id="145" name="Graphic 144" descr="Man with kid with solid fill">
              <a:extLst>
                <a:ext uri="{FF2B5EF4-FFF2-40B4-BE49-F238E27FC236}">
                  <a16:creationId xmlns:a16="http://schemas.microsoft.com/office/drawing/2014/main" id="{4A479E73-EDD5-EC0C-D129-2DAE601D670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116883" y="4766082"/>
              <a:ext cx="218674" cy="335842"/>
            </a:xfrm>
            <a:prstGeom prst="rect">
              <a:avLst/>
            </a:prstGeom>
          </p:spPr>
        </p:pic>
        <p:pic>
          <p:nvPicPr>
            <p:cNvPr id="146" name="Graphic 145" descr="Family with boy with solid fill">
              <a:extLst>
                <a:ext uri="{FF2B5EF4-FFF2-40B4-BE49-F238E27FC236}">
                  <a16:creationId xmlns:a16="http://schemas.microsoft.com/office/drawing/2014/main" id="{C4C17F91-D136-D57D-8128-AB35685A190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351841" y="5137851"/>
              <a:ext cx="218674" cy="335842"/>
            </a:xfrm>
            <a:prstGeom prst="rect">
              <a:avLst/>
            </a:prstGeom>
          </p:spPr>
        </p:pic>
        <p:pic>
          <p:nvPicPr>
            <p:cNvPr id="147" name="Graphic 146" descr="Family with two children with solid fill">
              <a:extLst>
                <a:ext uri="{FF2B5EF4-FFF2-40B4-BE49-F238E27FC236}">
                  <a16:creationId xmlns:a16="http://schemas.microsoft.com/office/drawing/2014/main" id="{EED5AF16-4726-EF61-BF26-BC9BF871A3A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8929720" y="5178217"/>
              <a:ext cx="218674" cy="335842"/>
            </a:xfrm>
            <a:prstGeom prst="rect">
              <a:avLst/>
            </a:prstGeom>
          </p:spPr>
        </p:pic>
        <p:pic>
          <p:nvPicPr>
            <p:cNvPr id="148" name="Graphic 147" descr="Man with kid with solid fill">
              <a:extLst>
                <a:ext uri="{FF2B5EF4-FFF2-40B4-BE49-F238E27FC236}">
                  <a16:creationId xmlns:a16="http://schemas.microsoft.com/office/drawing/2014/main" id="{2EF978C5-7018-F067-2318-695CBD458E3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466228" y="4802010"/>
              <a:ext cx="218674" cy="335842"/>
            </a:xfrm>
            <a:prstGeom prst="rect">
              <a:avLst/>
            </a:prstGeom>
          </p:spPr>
        </p:pic>
        <p:pic>
          <p:nvPicPr>
            <p:cNvPr id="149" name="Graphic 148" descr="Family with two children with solid fill">
              <a:extLst>
                <a:ext uri="{FF2B5EF4-FFF2-40B4-BE49-F238E27FC236}">
                  <a16:creationId xmlns:a16="http://schemas.microsoft.com/office/drawing/2014/main" id="{6494993B-8A3E-D5E3-CF32-421BDB7DA8E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291052" y="5178217"/>
              <a:ext cx="218674" cy="335842"/>
            </a:xfrm>
            <a:prstGeom prst="rect">
              <a:avLst/>
            </a:prstGeom>
          </p:spPr>
        </p:pic>
        <p:pic>
          <p:nvPicPr>
            <p:cNvPr id="150" name="Graphic 149" descr="Man and woman with solid fill">
              <a:extLst>
                <a:ext uri="{FF2B5EF4-FFF2-40B4-BE49-F238E27FC236}">
                  <a16:creationId xmlns:a16="http://schemas.microsoft.com/office/drawing/2014/main" id="{39F6FF2F-C1FC-86A7-195B-AC3CD11A7C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704144" y="4560394"/>
              <a:ext cx="218674" cy="335842"/>
            </a:xfrm>
            <a:prstGeom prst="rect">
              <a:avLst/>
            </a:prstGeom>
          </p:spPr>
        </p:pic>
        <p:pic>
          <p:nvPicPr>
            <p:cNvPr id="151" name="Graphic 150" descr="Family with boy with solid fill">
              <a:extLst>
                <a:ext uri="{FF2B5EF4-FFF2-40B4-BE49-F238E27FC236}">
                  <a16:creationId xmlns:a16="http://schemas.microsoft.com/office/drawing/2014/main" id="{14B8E071-6233-4F46-138B-798D891FF0E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657572" y="5391031"/>
              <a:ext cx="218674" cy="335842"/>
            </a:xfrm>
            <a:prstGeom prst="rect">
              <a:avLst/>
            </a:prstGeom>
          </p:spPr>
        </p:pic>
        <p:pic>
          <p:nvPicPr>
            <p:cNvPr id="152" name="Graphic 151" descr="Man with solid fill">
              <a:extLst>
                <a:ext uri="{FF2B5EF4-FFF2-40B4-BE49-F238E27FC236}">
                  <a16:creationId xmlns:a16="http://schemas.microsoft.com/office/drawing/2014/main" id="{DC5F9C77-FB14-823C-71E2-84AC1627E71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034570" y="5088721"/>
              <a:ext cx="218674" cy="335842"/>
            </a:xfrm>
            <a:prstGeom prst="rect">
              <a:avLst/>
            </a:prstGeom>
          </p:spPr>
        </p:pic>
        <p:pic>
          <p:nvPicPr>
            <p:cNvPr id="153" name="Graphic 152" descr="Two Men with solid fill">
              <a:extLst>
                <a:ext uri="{FF2B5EF4-FFF2-40B4-BE49-F238E27FC236}">
                  <a16:creationId xmlns:a16="http://schemas.microsoft.com/office/drawing/2014/main" id="{F7414C01-AE03-9000-DF6F-5D718F5C151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29658" y="4640932"/>
              <a:ext cx="218674" cy="335842"/>
            </a:xfrm>
            <a:prstGeom prst="rect">
              <a:avLst/>
            </a:prstGeom>
          </p:spPr>
        </p:pic>
        <p:pic>
          <p:nvPicPr>
            <p:cNvPr id="154" name="Graphic 153" descr="Man and woman with solid fill">
              <a:extLst>
                <a:ext uri="{FF2B5EF4-FFF2-40B4-BE49-F238E27FC236}">
                  <a16:creationId xmlns:a16="http://schemas.microsoft.com/office/drawing/2014/main" id="{0E331FAE-CB15-93B2-1DD8-ECA70771639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645207" y="4945365"/>
              <a:ext cx="218674" cy="335842"/>
            </a:xfrm>
            <a:prstGeom prst="rect">
              <a:avLst/>
            </a:prstGeom>
          </p:spPr>
        </p:pic>
        <p:pic>
          <p:nvPicPr>
            <p:cNvPr id="155" name="Graphic 154" descr="Man and woman with solid fill">
              <a:extLst>
                <a:ext uri="{FF2B5EF4-FFF2-40B4-BE49-F238E27FC236}">
                  <a16:creationId xmlns:a16="http://schemas.microsoft.com/office/drawing/2014/main" id="{13791856-C9ED-EAF7-EAA9-97F79347F37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575565" y="5321633"/>
              <a:ext cx="218674" cy="335842"/>
            </a:xfrm>
            <a:prstGeom prst="rect">
              <a:avLst/>
            </a:prstGeom>
          </p:spPr>
        </p:pic>
        <p:pic>
          <p:nvPicPr>
            <p:cNvPr id="156" name="Graphic 155" descr="Man with solid fill">
              <a:extLst>
                <a:ext uri="{FF2B5EF4-FFF2-40B4-BE49-F238E27FC236}">
                  <a16:creationId xmlns:a16="http://schemas.microsoft.com/office/drawing/2014/main" id="{B88A98E3-C9B7-DF0C-FD65-F25CC94DC16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846099" y="4838204"/>
              <a:ext cx="218674" cy="335842"/>
            </a:xfrm>
            <a:prstGeom prst="rect">
              <a:avLst/>
            </a:prstGeom>
          </p:spPr>
        </p:pic>
        <p:pic>
          <p:nvPicPr>
            <p:cNvPr id="157" name="Graphic 156" descr="Man with solid fill">
              <a:extLst>
                <a:ext uri="{FF2B5EF4-FFF2-40B4-BE49-F238E27FC236}">
                  <a16:creationId xmlns:a16="http://schemas.microsoft.com/office/drawing/2014/main" id="{B0289043-AEFE-4E99-84D7-EA1A71B89BE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256609" y="4784288"/>
              <a:ext cx="218674" cy="335842"/>
            </a:xfrm>
            <a:prstGeom prst="rect">
              <a:avLst/>
            </a:prstGeom>
          </p:spPr>
        </p:pic>
        <p:pic>
          <p:nvPicPr>
            <p:cNvPr id="158" name="Graphic 157" descr="Man with solid fill">
              <a:extLst>
                <a:ext uri="{FF2B5EF4-FFF2-40B4-BE49-F238E27FC236}">
                  <a16:creationId xmlns:a16="http://schemas.microsoft.com/office/drawing/2014/main" id="{0C7D023D-67AA-385A-E75F-2F61260C33A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91386" y="3239585"/>
              <a:ext cx="218674" cy="335842"/>
            </a:xfrm>
            <a:prstGeom prst="rect">
              <a:avLst/>
            </a:prstGeom>
          </p:spPr>
        </p:pic>
        <p:pic>
          <p:nvPicPr>
            <p:cNvPr id="159" name="Graphic 158" descr="Man and woman with solid fill">
              <a:extLst>
                <a:ext uri="{FF2B5EF4-FFF2-40B4-BE49-F238E27FC236}">
                  <a16:creationId xmlns:a16="http://schemas.microsoft.com/office/drawing/2014/main" id="{E40B1DA4-F8B7-4009-2644-AA98EE0395F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725417" y="3346682"/>
              <a:ext cx="218674" cy="335842"/>
            </a:xfrm>
            <a:prstGeom prst="rect">
              <a:avLst/>
            </a:prstGeom>
          </p:spPr>
        </p:pic>
        <p:pic>
          <p:nvPicPr>
            <p:cNvPr id="160" name="Graphic 159" descr="Man with kid with solid fill">
              <a:extLst>
                <a:ext uri="{FF2B5EF4-FFF2-40B4-BE49-F238E27FC236}">
                  <a16:creationId xmlns:a16="http://schemas.microsoft.com/office/drawing/2014/main" id="{C62645E8-8EA3-8FE7-B0B0-BBEF53B7C59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220788" y="3417980"/>
              <a:ext cx="218674" cy="335842"/>
            </a:xfrm>
            <a:prstGeom prst="rect">
              <a:avLst/>
            </a:prstGeom>
          </p:spPr>
        </p:pic>
        <p:pic>
          <p:nvPicPr>
            <p:cNvPr id="161" name="Graphic 160" descr="Family with boy with solid fill">
              <a:extLst>
                <a:ext uri="{FF2B5EF4-FFF2-40B4-BE49-F238E27FC236}">
                  <a16:creationId xmlns:a16="http://schemas.microsoft.com/office/drawing/2014/main" id="{E47B4582-649E-EAF7-D0C2-083837BA809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455746" y="3789749"/>
              <a:ext cx="218674" cy="335842"/>
            </a:xfrm>
            <a:prstGeom prst="rect">
              <a:avLst/>
            </a:prstGeom>
          </p:spPr>
        </p:pic>
        <p:pic>
          <p:nvPicPr>
            <p:cNvPr id="162" name="Graphic 161" descr="Family with two children with solid fill">
              <a:extLst>
                <a:ext uri="{FF2B5EF4-FFF2-40B4-BE49-F238E27FC236}">
                  <a16:creationId xmlns:a16="http://schemas.microsoft.com/office/drawing/2014/main" id="{ACB4123C-771D-CA00-B6B2-06F1D80FC6D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033625" y="3830115"/>
              <a:ext cx="218674" cy="335842"/>
            </a:xfrm>
            <a:prstGeom prst="rect">
              <a:avLst/>
            </a:prstGeom>
          </p:spPr>
        </p:pic>
        <p:pic>
          <p:nvPicPr>
            <p:cNvPr id="163" name="Graphic 162" descr="Man with kid with solid fill">
              <a:extLst>
                <a:ext uri="{FF2B5EF4-FFF2-40B4-BE49-F238E27FC236}">
                  <a16:creationId xmlns:a16="http://schemas.microsoft.com/office/drawing/2014/main" id="{B276927F-A854-531A-F1F5-530D90FEB87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570133" y="3453908"/>
              <a:ext cx="218674" cy="335842"/>
            </a:xfrm>
            <a:prstGeom prst="rect">
              <a:avLst/>
            </a:prstGeom>
          </p:spPr>
        </p:pic>
        <p:pic>
          <p:nvPicPr>
            <p:cNvPr id="164" name="Graphic 163" descr="Family with two children with solid fill">
              <a:extLst>
                <a:ext uri="{FF2B5EF4-FFF2-40B4-BE49-F238E27FC236}">
                  <a16:creationId xmlns:a16="http://schemas.microsoft.com/office/drawing/2014/main" id="{C1E97A8A-E360-3C1B-C3C6-55BA85A665FC}"/>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394957" y="3830115"/>
              <a:ext cx="218674" cy="335842"/>
            </a:xfrm>
            <a:prstGeom prst="rect">
              <a:avLst/>
            </a:prstGeom>
          </p:spPr>
        </p:pic>
        <p:pic>
          <p:nvPicPr>
            <p:cNvPr id="165" name="Graphic 164" descr="Man and woman with solid fill">
              <a:extLst>
                <a:ext uri="{FF2B5EF4-FFF2-40B4-BE49-F238E27FC236}">
                  <a16:creationId xmlns:a16="http://schemas.microsoft.com/office/drawing/2014/main" id="{59C9B372-175F-161C-174F-35B2588A826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808049" y="3212292"/>
              <a:ext cx="218674" cy="335842"/>
            </a:xfrm>
            <a:prstGeom prst="rect">
              <a:avLst/>
            </a:prstGeom>
          </p:spPr>
        </p:pic>
        <p:pic>
          <p:nvPicPr>
            <p:cNvPr id="166" name="Graphic 165" descr="Family with boy with solid fill">
              <a:extLst>
                <a:ext uri="{FF2B5EF4-FFF2-40B4-BE49-F238E27FC236}">
                  <a16:creationId xmlns:a16="http://schemas.microsoft.com/office/drawing/2014/main" id="{9EB27F64-0239-046C-279E-7EC079653F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761477" y="4042929"/>
              <a:ext cx="218674" cy="335842"/>
            </a:xfrm>
            <a:prstGeom prst="rect">
              <a:avLst/>
            </a:prstGeom>
          </p:spPr>
        </p:pic>
        <p:pic>
          <p:nvPicPr>
            <p:cNvPr id="167" name="Graphic 166" descr="Man with solid fill">
              <a:extLst>
                <a:ext uri="{FF2B5EF4-FFF2-40B4-BE49-F238E27FC236}">
                  <a16:creationId xmlns:a16="http://schemas.microsoft.com/office/drawing/2014/main" id="{E02129ED-300D-D05E-0982-FC579479D50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138475" y="3740619"/>
              <a:ext cx="218674" cy="335842"/>
            </a:xfrm>
            <a:prstGeom prst="rect">
              <a:avLst/>
            </a:prstGeom>
          </p:spPr>
        </p:pic>
        <p:pic>
          <p:nvPicPr>
            <p:cNvPr id="168" name="Graphic 167" descr="Two Men with solid fill">
              <a:extLst>
                <a:ext uri="{FF2B5EF4-FFF2-40B4-BE49-F238E27FC236}">
                  <a16:creationId xmlns:a16="http://schemas.microsoft.com/office/drawing/2014/main" id="{8A67DBB5-56CF-D4BB-2EFC-619336B4E50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8533563" y="3292830"/>
              <a:ext cx="218674" cy="335842"/>
            </a:xfrm>
            <a:prstGeom prst="rect">
              <a:avLst/>
            </a:prstGeom>
          </p:spPr>
        </p:pic>
        <p:pic>
          <p:nvPicPr>
            <p:cNvPr id="169" name="Graphic 168" descr="Man and woman with solid fill">
              <a:extLst>
                <a:ext uri="{FF2B5EF4-FFF2-40B4-BE49-F238E27FC236}">
                  <a16:creationId xmlns:a16="http://schemas.microsoft.com/office/drawing/2014/main" id="{27AE3873-725F-AFBB-0FDE-42697CC990B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749112" y="3597263"/>
              <a:ext cx="218674" cy="335842"/>
            </a:xfrm>
            <a:prstGeom prst="rect">
              <a:avLst/>
            </a:prstGeom>
          </p:spPr>
        </p:pic>
        <p:pic>
          <p:nvPicPr>
            <p:cNvPr id="170" name="Graphic 169" descr="Man and woman with solid fill">
              <a:extLst>
                <a:ext uri="{FF2B5EF4-FFF2-40B4-BE49-F238E27FC236}">
                  <a16:creationId xmlns:a16="http://schemas.microsoft.com/office/drawing/2014/main" id="{E3F0BA94-10A6-80E9-2522-E9CA30B4FFD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679470" y="3973531"/>
              <a:ext cx="218674" cy="335842"/>
            </a:xfrm>
            <a:prstGeom prst="rect">
              <a:avLst/>
            </a:prstGeom>
          </p:spPr>
        </p:pic>
        <p:pic>
          <p:nvPicPr>
            <p:cNvPr id="171" name="Graphic 170" descr="Man with solid fill">
              <a:extLst>
                <a:ext uri="{FF2B5EF4-FFF2-40B4-BE49-F238E27FC236}">
                  <a16:creationId xmlns:a16="http://schemas.microsoft.com/office/drawing/2014/main" id="{E11B3FF8-7D2E-4A4C-7F26-7EA32CAE270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950004" y="3490102"/>
              <a:ext cx="218674" cy="335842"/>
            </a:xfrm>
            <a:prstGeom prst="rect">
              <a:avLst/>
            </a:prstGeom>
          </p:spPr>
        </p:pic>
        <p:pic>
          <p:nvPicPr>
            <p:cNvPr id="172" name="Graphic 171" descr="Man with solid fill">
              <a:extLst>
                <a:ext uri="{FF2B5EF4-FFF2-40B4-BE49-F238E27FC236}">
                  <a16:creationId xmlns:a16="http://schemas.microsoft.com/office/drawing/2014/main" id="{35113FD2-B791-6085-136E-B963F84FC8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60514" y="3436186"/>
              <a:ext cx="218674" cy="335842"/>
            </a:xfrm>
            <a:prstGeom prst="rect">
              <a:avLst/>
            </a:prstGeom>
          </p:spPr>
        </p:pic>
        <p:pic>
          <p:nvPicPr>
            <p:cNvPr id="173" name="Graphic 172" descr="Man with solid fill">
              <a:extLst>
                <a:ext uri="{FF2B5EF4-FFF2-40B4-BE49-F238E27FC236}">
                  <a16:creationId xmlns:a16="http://schemas.microsoft.com/office/drawing/2014/main" id="{60A4134C-4E77-F282-0C2F-A63274F8FDF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144448" y="3512571"/>
              <a:ext cx="218674" cy="335842"/>
            </a:xfrm>
            <a:prstGeom prst="rect">
              <a:avLst/>
            </a:prstGeom>
          </p:spPr>
        </p:pic>
        <p:pic>
          <p:nvPicPr>
            <p:cNvPr id="174" name="Graphic 173" descr="Man and woman with solid fill">
              <a:extLst>
                <a:ext uri="{FF2B5EF4-FFF2-40B4-BE49-F238E27FC236}">
                  <a16:creationId xmlns:a16="http://schemas.microsoft.com/office/drawing/2014/main" id="{1F7AE56C-ABC4-9D97-4730-D51E010C28E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78479" y="3619668"/>
              <a:ext cx="218674" cy="335842"/>
            </a:xfrm>
            <a:prstGeom prst="rect">
              <a:avLst/>
            </a:prstGeom>
          </p:spPr>
        </p:pic>
        <p:pic>
          <p:nvPicPr>
            <p:cNvPr id="175" name="Graphic 174" descr="Man with kid with solid fill">
              <a:extLst>
                <a:ext uri="{FF2B5EF4-FFF2-40B4-BE49-F238E27FC236}">
                  <a16:creationId xmlns:a16="http://schemas.microsoft.com/office/drawing/2014/main" id="{30140479-E1AE-DDDF-31CD-504D1BC92C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73850" y="3690966"/>
              <a:ext cx="218674" cy="335842"/>
            </a:xfrm>
            <a:prstGeom prst="rect">
              <a:avLst/>
            </a:prstGeom>
          </p:spPr>
        </p:pic>
        <p:pic>
          <p:nvPicPr>
            <p:cNvPr id="176" name="Graphic 175" descr="Family with boy with solid fill">
              <a:extLst>
                <a:ext uri="{FF2B5EF4-FFF2-40B4-BE49-F238E27FC236}">
                  <a16:creationId xmlns:a16="http://schemas.microsoft.com/office/drawing/2014/main" id="{0B1B4807-1267-2676-B9A7-5F343E7425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08808" y="4062735"/>
              <a:ext cx="218674" cy="335842"/>
            </a:xfrm>
            <a:prstGeom prst="rect">
              <a:avLst/>
            </a:prstGeom>
          </p:spPr>
        </p:pic>
        <p:pic>
          <p:nvPicPr>
            <p:cNvPr id="177" name="Graphic 176" descr="Family with two children with solid fill">
              <a:extLst>
                <a:ext uri="{FF2B5EF4-FFF2-40B4-BE49-F238E27FC236}">
                  <a16:creationId xmlns:a16="http://schemas.microsoft.com/office/drawing/2014/main" id="{4CED5FF8-E578-2B47-EC9E-CB4FF8E6AC7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986687" y="4103101"/>
              <a:ext cx="218674" cy="335842"/>
            </a:xfrm>
            <a:prstGeom prst="rect">
              <a:avLst/>
            </a:prstGeom>
          </p:spPr>
        </p:pic>
        <p:pic>
          <p:nvPicPr>
            <p:cNvPr id="178" name="Graphic 177" descr="Man with kid with solid fill">
              <a:extLst>
                <a:ext uri="{FF2B5EF4-FFF2-40B4-BE49-F238E27FC236}">
                  <a16:creationId xmlns:a16="http://schemas.microsoft.com/office/drawing/2014/main" id="{6E1C4727-CD80-DBB0-9474-1884C09C301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523195" y="3726894"/>
              <a:ext cx="218674" cy="335842"/>
            </a:xfrm>
            <a:prstGeom prst="rect">
              <a:avLst/>
            </a:prstGeom>
          </p:spPr>
        </p:pic>
        <p:pic>
          <p:nvPicPr>
            <p:cNvPr id="179" name="Graphic 178" descr="Family with two children with solid fill">
              <a:extLst>
                <a:ext uri="{FF2B5EF4-FFF2-40B4-BE49-F238E27FC236}">
                  <a16:creationId xmlns:a16="http://schemas.microsoft.com/office/drawing/2014/main" id="{49500D26-5EC7-CB29-151A-71D8A919B44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348019" y="4103101"/>
              <a:ext cx="218674" cy="335842"/>
            </a:xfrm>
            <a:prstGeom prst="rect">
              <a:avLst/>
            </a:prstGeom>
          </p:spPr>
        </p:pic>
        <p:pic>
          <p:nvPicPr>
            <p:cNvPr id="180" name="Graphic 179" descr="Man and woman with solid fill">
              <a:extLst>
                <a:ext uri="{FF2B5EF4-FFF2-40B4-BE49-F238E27FC236}">
                  <a16:creationId xmlns:a16="http://schemas.microsoft.com/office/drawing/2014/main" id="{7E25A013-12B4-9644-03F6-2EA614E3E8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61111" y="3485278"/>
              <a:ext cx="218674" cy="335842"/>
            </a:xfrm>
            <a:prstGeom prst="rect">
              <a:avLst/>
            </a:prstGeom>
          </p:spPr>
        </p:pic>
        <p:pic>
          <p:nvPicPr>
            <p:cNvPr id="181" name="Graphic 180" descr="Family with boy with solid fill">
              <a:extLst>
                <a:ext uri="{FF2B5EF4-FFF2-40B4-BE49-F238E27FC236}">
                  <a16:creationId xmlns:a16="http://schemas.microsoft.com/office/drawing/2014/main" id="{FF4C1295-4D44-0B14-E224-9A827E10D5B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14539" y="4315915"/>
              <a:ext cx="218674" cy="335842"/>
            </a:xfrm>
            <a:prstGeom prst="rect">
              <a:avLst/>
            </a:prstGeom>
          </p:spPr>
        </p:pic>
        <p:pic>
          <p:nvPicPr>
            <p:cNvPr id="182" name="Graphic 181" descr="Man with solid fill">
              <a:extLst>
                <a:ext uri="{FF2B5EF4-FFF2-40B4-BE49-F238E27FC236}">
                  <a16:creationId xmlns:a16="http://schemas.microsoft.com/office/drawing/2014/main" id="{5F7F0E99-BE6D-CB71-A6C7-EB4E1B58FA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091537" y="4013605"/>
              <a:ext cx="218674" cy="335842"/>
            </a:xfrm>
            <a:prstGeom prst="rect">
              <a:avLst/>
            </a:prstGeom>
          </p:spPr>
        </p:pic>
        <p:pic>
          <p:nvPicPr>
            <p:cNvPr id="183" name="Graphic 182" descr="Two Men with solid fill">
              <a:extLst>
                <a:ext uri="{FF2B5EF4-FFF2-40B4-BE49-F238E27FC236}">
                  <a16:creationId xmlns:a16="http://schemas.microsoft.com/office/drawing/2014/main" id="{FEBD621B-F6E2-1445-D455-A513DB6A544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86625" y="3565816"/>
              <a:ext cx="218674" cy="335842"/>
            </a:xfrm>
            <a:prstGeom prst="rect">
              <a:avLst/>
            </a:prstGeom>
          </p:spPr>
        </p:pic>
        <p:pic>
          <p:nvPicPr>
            <p:cNvPr id="184" name="Graphic 183" descr="Man and woman with solid fill">
              <a:extLst>
                <a:ext uri="{FF2B5EF4-FFF2-40B4-BE49-F238E27FC236}">
                  <a16:creationId xmlns:a16="http://schemas.microsoft.com/office/drawing/2014/main" id="{47B4EC76-CE6D-BBF7-62B3-43C4C887D8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02174" y="3870249"/>
              <a:ext cx="218674" cy="335842"/>
            </a:xfrm>
            <a:prstGeom prst="rect">
              <a:avLst/>
            </a:prstGeom>
          </p:spPr>
        </p:pic>
        <p:pic>
          <p:nvPicPr>
            <p:cNvPr id="185" name="Graphic 184" descr="Man and woman with solid fill">
              <a:extLst>
                <a:ext uri="{FF2B5EF4-FFF2-40B4-BE49-F238E27FC236}">
                  <a16:creationId xmlns:a16="http://schemas.microsoft.com/office/drawing/2014/main" id="{77126FAC-D5BD-310E-13F8-A4815EE0CE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632532" y="4246517"/>
              <a:ext cx="218674" cy="335842"/>
            </a:xfrm>
            <a:prstGeom prst="rect">
              <a:avLst/>
            </a:prstGeom>
          </p:spPr>
        </p:pic>
        <p:pic>
          <p:nvPicPr>
            <p:cNvPr id="186" name="Graphic 185" descr="Man with solid fill">
              <a:extLst>
                <a:ext uri="{FF2B5EF4-FFF2-40B4-BE49-F238E27FC236}">
                  <a16:creationId xmlns:a16="http://schemas.microsoft.com/office/drawing/2014/main" id="{43885A41-B7D9-F6B1-DF97-73A8D46FB8E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03066" y="3763088"/>
              <a:ext cx="218674" cy="335842"/>
            </a:xfrm>
            <a:prstGeom prst="rect">
              <a:avLst/>
            </a:prstGeom>
          </p:spPr>
        </p:pic>
        <p:pic>
          <p:nvPicPr>
            <p:cNvPr id="187" name="Graphic 186" descr="Man with solid fill">
              <a:extLst>
                <a:ext uri="{FF2B5EF4-FFF2-40B4-BE49-F238E27FC236}">
                  <a16:creationId xmlns:a16="http://schemas.microsoft.com/office/drawing/2014/main" id="{353D64FE-C2F9-C293-CF76-5BE6732089D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313576" y="3709172"/>
              <a:ext cx="218674" cy="335842"/>
            </a:xfrm>
            <a:prstGeom prst="rect">
              <a:avLst/>
            </a:prstGeom>
          </p:spPr>
        </p:pic>
        <p:pic>
          <p:nvPicPr>
            <p:cNvPr id="188" name="Graphic 187" descr="Man with solid fill">
              <a:extLst>
                <a:ext uri="{FF2B5EF4-FFF2-40B4-BE49-F238E27FC236}">
                  <a16:creationId xmlns:a16="http://schemas.microsoft.com/office/drawing/2014/main" id="{0978066F-6693-476F-201E-AEEFE0AA9C1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94709" y="4703555"/>
              <a:ext cx="218674" cy="335842"/>
            </a:xfrm>
            <a:prstGeom prst="rect">
              <a:avLst/>
            </a:prstGeom>
          </p:spPr>
        </p:pic>
        <p:pic>
          <p:nvPicPr>
            <p:cNvPr id="189" name="Graphic 188" descr="Man and woman with solid fill">
              <a:extLst>
                <a:ext uri="{FF2B5EF4-FFF2-40B4-BE49-F238E27FC236}">
                  <a16:creationId xmlns:a16="http://schemas.microsoft.com/office/drawing/2014/main" id="{0A146BDA-23B8-FF2B-E2A7-56F026E0102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028740" y="4810652"/>
              <a:ext cx="218674" cy="335842"/>
            </a:xfrm>
            <a:prstGeom prst="rect">
              <a:avLst/>
            </a:prstGeom>
          </p:spPr>
        </p:pic>
        <p:pic>
          <p:nvPicPr>
            <p:cNvPr id="190" name="Graphic 189" descr="Man with kid with solid fill">
              <a:extLst>
                <a:ext uri="{FF2B5EF4-FFF2-40B4-BE49-F238E27FC236}">
                  <a16:creationId xmlns:a16="http://schemas.microsoft.com/office/drawing/2014/main" id="{5C248183-2DDA-7F43-DCA6-5C0BB2B7B11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524111" y="4881950"/>
              <a:ext cx="218674" cy="335842"/>
            </a:xfrm>
            <a:prstGeom prst="rect">
              <a:avLst/>
            </a:prstGeom>
          </p:spPr>
        </p:pic>
        <p:pic>
          <p:nvPicPr>
            <p:cNvPr id="191" name="Graphic 190" descr="Family with boy with solid fill">
              <a:extLst>
                <a:ext uri="{FF2B5EF4-FFF2-40B4-BE49-F238E27FC236}">
                  <a16:creationId xmlns:a16="http://schemas.microsoft.com/office/drawing/2014/main" id="{5D523092-A7D8-AFED-0408-F9A5E16EB1D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759069" y="5253719"/>
              <a:ext cx="218674" cy="335842"/>
            </a:xfrm>
            <a:prstGeom prst="rect">
              <a:avLst/>
            </a:prstGeom>
          </p:spPr>
        </p:pic>
        <p:pic>
          <p:nvPicPr>
            <p:cNvPr id="192" name="Graphic 191" descr="Family with two children with solid fill">
              <a:extLst>
                <a:ext uri="{FF2B5EF4-FFF2-40B4-BE49-F238E27FC236}">
                  <a16:creationId xmlns:a16="http://schemas.microsoft.com/office/drawing/2014/main" id="{0E6EBAE1-B742-8C47-FE48-AA9854AB4C0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336948" y="5294085"/>
              <a:ext cx="218674" cy="335842"/>
            </a:xfrm>
            <a:prstGeom prst="rect">
              <a:avLst/>
            </a:prstGeom>
          </p:spPr>
        </p:pic>
        <p:pic>
          <p:nvPicPr>
            <p:cNvPr id="193" name="Graphic 192" descr="Man with kid with solid fill">
              <a:extLst>
                <a:ext uri="{FF2B5EF4-FFF2-40B4-BE49-F238E27FC236}">
                  <a16:creationId xmlns:a16="http://schemas.microsoft.com/office/drawing/2014/main" id="{6690C779-C83D-F685-2346-512705D6AD7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873456" y="4917878"/>
              <a:ext cx="218674" cy="335842"/>
            </a:xfrm>
            <a:prstGeom prst="rect">
              <a:avLst/>
            </a:prstGeom>
          </p:spPr>
        </p:pic>
        <p:pic>
          <p:nvPicPr>
            <p:cNvPr id="194" name="Graphic 193" descr="Family with two children with solid fill">
              <a:extLst>
                <a:ext uri="{FF2B5EF4-FFF2-40B4-BE49-F238E27FC236}">
                  <a16:creationId xmlns:a16="http://schemas.microsoft.com/office/drawing/2014/main" id="{9319B4A2-65F3-8595-6926-77212D15EFA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698280" y="5294085"/>
              <a:ext cx="218674" cy="335842"/>
            </a:xfrm>
            <a:prstGeom prst="rect">
              <a:avLst/>
            </a:prstGeom>
          </p:spPr>
        </p:pic>
        <p:pic>
          <p:nvPicPr>
            <p:cNvPr id="195" name="Graphic 194" descr="Man and woman with solid fill">
              <a:extLst>
                <a:ext uri="{FF2B5EF4-FFF2-40B4-BE49-F238E27FC236}">
                  <a16:creationId xmlns:a16="http://schemas.microsoft.com/office/drawing/2014/main" id="{E8B74A80-371C-704E-B926-339173BD3F4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11372" y="4676262"/>
              <a:ext cx="218674" cy="335842"/>
            </a:xfrm>
            <a:prstGeom prst="rect">
              <a:avLst/>
            </a:prstGeom>
          </p:spPr>
        </p:pic>
        <p:pic>
          <p:nvPicPr>
            <p:cNvPr id="196" name="Graphic 195" descr="Family with boy with solid fill">
              <a:extLst>
                <a:ext uri="{FF2B5EF4-FFF2-40B4-BE49-F238E27FC236}">
                  <a16:creationId xmlns:a16="http://schemas.microsoft.com/office/drawing/2014/main" id="{F73B8A4A-8B57-D9F8-003A-44E77B6DF92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064800" y="5506899"/>
              <a:ext cx="218674" cy="335842"/>
            </a:xfrm>
            <a:prstGeom prst="rect">
              <a:avLst/>
            </a:prstGeom>
          </p:spPr>
        </p:pic>
        <p:pic>
          <p:nvPicPr>
            <p:cNvPr id="197" name="Graphic 196" descr="Man with solid fill">
              <a:extLst>
                <a:ext uri="{FF2B5EF4-FFF2-40B4-BE49-F238E27FC236}">
                  <a16:creationId xmlns:a16="http://schemas.microsoft.com/office/drawing/2014/main" id="{9B57C44F-D11E-8BAB-4A77-5C216424B526}"/>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441798" y="5204589"/>
              <a:ext cx="218674" cy="335842"/>
            </a:xfrm>
            <a:prstGeom prst="rect">
              <a:avLst/>
            </a:prstGeom>
          </p:spPr>
        </p:pic>
        <p:pic>
          <p:nvPicPr>
            <p:cNvPr id="198" name="Graphic 197" descr="Two Men with solid fill">
              <a:extLst>
                <a:ext uri="{FF2B5EF4-FFF2-40B4-BE49-F238E27FC236}">
                  <a16:creationId xmlns:a16="http://schemas.microsoft.com/office/drawing/2014/main" id="{3AC8784F-4A9B-D54A-7519-97D41710365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836886" y="4756800"/>
              <a:ext cx="218674" cy="335842"/>
            </a:xfrm>
            <a:prstGeom prst="rect">
              <a:avLst/>
            </a:prstGeom>
          </p:spPr>
        </p:pic>
        <p:pic>
          <p:nvPicPr>
            <p:cNvPr id="199" name="Graphic 198" descr="Man and woman with solid fill">
              <a:extLst>
                <a:ext uri="{FF2B5EF4-FFF2-40B4-BE49-F238E27FC236}">
                  <a16:creationId xmlns:a16="http://schemas.microsoft.com/office/drawing/2014/main" id="{33E723DD-7CF6-29E1-3397-2215BA0A96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052435" y="5061233"/>
              <a:ext cx="218674" cy="335842"/>
            </a:xfrm>
            <a:prstGeom prst="rect">
              <a:avLst/>
            </a:prstGeom>
          </p:spPr>
        </p:pic>
        <p:pic>
          <p:nvPicPr>
            <p:cNvPr id="200" name="Graphic 199" descr="Man and woman with solid fill">
              <a:extLst>
                <a:ext uri="{FF2B5EF4-FFF2-40B4-BE49-F238E27FC236}">
                  <a16:creationId xmlns:a16="http://schemas.microsoft.com/office/drawing/2014/main" id="{4798566A-2551-E5C6-B4E0-E6C64D558B0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82793" y="5437501"/>
              <a:ext cx="218674" cy="335842"/>
            </a:xfrm>
            <a:prstGeom prst="rect">
              <a:avLst/>
            </a:prstGeom>
          </p:spPr>
        </p:pic>
        <p:pic>
          <p:nvPicPr>
            <p:cNvPr id="201" name="Graphic 200" descr="Man with solid fill">
              <a:extLst>
                <a:ext uri="{FF2B5EF4-FFF2-40B4-BE49-F238E27FC236}">
                  <a16:creationId xmlns:a16="http://schemas.microsoft.com/office/drawing/2014/main" id="{E844B76A-1628-6A90-6613-3998CE88423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253327" y="4954072"/>
              <a:ext cx="218674" cy="335842"/>
            </a:xfrm>
            <a:prstGeom prst="rect">
              <a:avLst/>
            </a:prstGeom>
          </p:spPr>
        </p:pic>
        <p:pic>
          <p:nvPicPr>
            <p:cNvPr id="202" name="Graphic 201" descr="Man with solid fill">
              <a:extLst>
                <a:ext uri="{FF2B5EF4-FFF2-40B4-BE49-F238E27FC236}">
                  <a16:creationId xmlns:a16="http://schemas.microsoft.com/office/drawing/2014/main" id="{49B002D8-51D4-C533-5CC4-76DB2A12385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663837" y="4900156"/>
              <a:ext cx="218674" cy="335842"/>
            </a:xfrm>
            <a:prstGeom prst="rect">
              <a:avLst/>
            </a:prstGeom>
          </p:spPr>
        </p:pic>
        <p:pic>
          <p:nvPicPr>
            <p:cNvPr id="203" name="Graphic 202" descr="Man with solid fill">
              <a:extLst>
                <a:ext uri="{FF2B5EF4-FFF2-40B4-BE49-F238E27FC236}">
                  <a16:creationId xmlns:a16="http://schemas.microsoft.com/office/drawing/2014/main" id="{A05532C3-EFF5-746E-18F9-81AC90FD5B9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745696" y="4825006"/>
              <a:ext cx="218674" cy="335842"/>
            </a:xfrm>
            <a:prstGeom prst="rect">
              <a:avLst/>
            </a:prstGeom>
          </p:spPr>
        </p:pic>
        <p:pic>
          <p:nvPicPr>
            <p:cNvPr id="204" name="Graphic 203" descr="Man and woman with solid fill">
              <a:extLst>
                <a:ext uri="{FF2B5EF4-FFF2-40B4-BE49-F238E27FC236}">
                  <a16:creationId xmlns:a16="http://schemas.microsoft.com/office/drawing/2014/main" id="{27EA7CD4-E6B7-6161-F1CA-9D880AC8108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79727" y="4932103"/>
              <a:ext cx="218674" cy="335842"/>
            </a:xfrm>
            <a:prstGeom prst="rect">
              <a:avLst/>
            </a:prstGeom>
          </p:spPr>
        </p:pic>
        <p:pic>
          <p:nvPicPr>
            <p:cNvPr id="205" name="Graphic 204" descr="Man with kid with solid fill">
              <a:extLst>
                <a:ext uri="{FF2B5EF4-FFF2-40B4-BE49-F238E27FC236}">
                  <a16:creationId xmlns:a16="http://schemas.microsoft.com/office/drawing/2014/main" id="{3A5E67EB-8D8A-77B9-7AE5-92DC2BB0F8B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775098" y="5003401"/>
              <a:ext cx="218674" cy="335842"/>
            </a:xfrm>
            <a:prstGeom prst="rect">
              <a:avLst/>
            </a:prstGeom>
          </p:spPr>
        </p:pic>
        <p:pic>
          <p:nvPicPr>
            <p:cNvPr id="206" name="Graphic 205" descr="Family with boy with solid fill">
              <a:extLst>
                <a:ext uri="{FF2B5EF4-FFF2-40B4-BE49-F238E27FC236}">
                  <a16:creationId xmlns:a16="http://schemas.microsoft.com/office/drawing/2014/main" id="{EF08BD22-CBEB-734A-3929-EAB98A4926F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010056" y="5375170"/>
              <a:ext cx="218674" cy="335842"/>
            </a:xfrm>
            <a:prstGeom prst="rect">
              <a:avLst/>
            </a:prstGeom>
          </p:spPr>
        </p:pic>
        <p:pic>
          <p:nvPicPr>
            <p:cNvPr id="207" name="Graphic 206" descr="Family with two children with solid fill">
              <a:extLst>
                <a:ext uri="{FF2B5EF4-FFF2-40B4-BE49-F238E27FC236}">
                  <a16:creationId xmlns:a16="http://schemas.microsoft.com/office/drawing/2014/main" id="{1785296B-C0CE-698D-208E-47D8DABA122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587935" y="5415536"/>
              <a:ext cx="218674" cy="335842"/>
            </a:xfrm>
            <a:prstGeom prst="rect">
              <a:avLst/>
            </a:prstGeom>
          </p:spPr>
        </p:pic>
        <p:pic>
          <p:nvPicPr>
            <p:cNvPr id="208" name="Graphic 207" descr="Man with kid with solid fill">
              <a:extLst>
                <a:ext uri="{FF2B5EF4-FFF2-40B4-BE49-F238E27FC236}">
                  <a16:creationId xmlns:a16="http://schemas.microsoft.com/office/drawing/2014/main" id="{500531C0-23FD-306B-EF0B-1C8EC0F2D94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124443" y="5039329"/>
              <a:ext cx="218674" cy="335842"/>
            </a:xfrm>
            <a:prstGeom prst="rect">
              <a:avLst/>
            </a:prstGeom>
          </p:spPr>
        </p:pic>
        <p:pic>
          <p:nvPicPr>
            <p:cNvPr id="209" name="Graphic 208" descr="Family with two children with solid fill">
              <a:extLst>
                <a:ext uri="{FF2B5EF4-FFF2-40B4-BE49-F238E27FC236}">
                  <a16:creationId xmlns:a16="http://schemas.microsoft.com/office/drawing/2014/main" id="{3700606A-DDD0-6784-CB99-BCEB5F3E491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49267" y="5415536"/>
              <a:ext cx="218674" cy="335842"/>
            </a:xfrm>
            <a:prstGeom prst="rect">
              <a:avLst/>
            </a:prstGeom>
          </p:spPr>
        </p:pic>
        <p:pic>
          <p:nvPicPr>
            <p:cNvPr id="210" name="Graphic 209" descr="Man and woman with solid fill">
              <a:extLst>
                <a:ext uri="{FF2B5EF4-FFF2-40B4-BE49-F238E27FC236}">
                  <a16:creationId xmlns:a16="http://schemas.microsoft.com/office/drawing/2014/main" id="{C445C121-4916-EB8A-8299-5D44FFBCEFB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362359" y="4797713"/>
              <a:ext cx="218674" cy="335842"/>
            </a:xfrm>
            <a:prstGeom prst="rect">
              <a:avLst/>
            </a:prstGeom>
          </p:spPr>
        </p:pic>
        <p:pic>
          <p:nvPicPr>
            <p:cNvPr id="211" name="Graphic 210" descr="Family with boy with solid fill">
              <a:extLst>
                <a:ext uri="{FF2B5EF4-FFF2-40B4-BE49-F238E27FC236}">
                  <a16:creationId xmlns:a16="http://schemas.microsoft.com/office/drawing/2014/main" id="{2A5866E2-4AA1-A6BE-83D2-CD19D9065F5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315787" y="5628350"/>
              <a:ext cx="218674" cy="335842"/>
            </a:xfrm>
            <a:prstGeom prst="rect">
              <a:avLst/>
            </a:prstGeom>
          </p:spPr>
        </p:pic>
        <p:pic>
          <p:nvPicPr>
            <p:cNvPr id="212" name="Graphic 211" descr="Man with solid fill">
              <a:extLst>
                <a:ext uri="{FF2B5EF4-FFF2-40B4-BE49-F238E27FC236}">
                  <a16:creationId xmlns:a16="http://schemas.microsoft.com/office/drawing/2014/main" id="{6D5476A6-1158-916D-3162-DCC1725A1CD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692785" y="5326040"/>
              <a:ext cx="218674" cy="335842"/>
            </a:xfrm>
            <a:prstGeom prst="rect">
              <a:avLst/>
            </a:prstGeom>
          </p:spPr>
        </p:pic>
        <p:pic>
          <p:nvPicPr>
            <p:cNvPr id="213" name="Graphic 212" descr="Two Men with solid fill">
              <a:extLst>
                <a:ext uri="{FF2B5EF4-FFF2-40B4-BE49-F238E27FC236}">
                  <a16:creationId xmlns:a16="http://schemas.microsoft.com/office/drawing/2014/main" id="{CAA6AF72-7D11-97D3-DCD0-6CC44109C98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087873" y="4878251"/>
              <a:ext cx="218674" cy="335842"/>
            </a:xfrm>
            <a:prstGeom prst="rect">
              <a:avLst/>
            </a:prstGeom>
          </p:spPr>
        </p:pic>
        <p:pic>
          <p:nvPicPr>
            <p:cNvPr id="214" name="Graphic 213" descr="Man and woman with solid fill">
              <a:extLst>
                <a:ext uri="{FF2B5EF4-FFF2-40B4-BE49-F238E27FC236}">
                  <a16:creationId xmlns:a16="http://schemas.microsoft.com/office/drawing/2014/main" id="{B7F4FE7A-5019-FC89-7F2C-3F1AD935F15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303422" y="5182684"/>
              <a:ext cx="218674" cy="335842"/>
            </a:xfrm>
            <a:prstGeom prst="rect">
              <a:avLst/>
            </a:prstGeom>
          </p:spPr>
        </p:pic>
        <p:pic>
          <p:nvPicPr>
            <p:cNvPr id="215" name="Graphic 214" descr="Man and woman with solid fill">
              <a:extLst>
                <a:ext uri="{FF2B5EF4-FFF2-40B4-BE49-F238E27FC236}">
                  <a16:creationId xmlns:a16="http://schemas.microsoft.com/office/drawing/2014/main" id="{4011E59A-496A-3507-E4A6-77554DFC2E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33780" y="5558952"/>
              <a:ext cx="218674" cy="335842"/>
            </a:xfrm>
            <a:prstGeom prst="rect">
              <a:avLst/>
            </a:prstGeom>
          </p:spPr>
        </p:pic>
        <p:pic>
          <p:nvPicPr>
            <p:cNvPr id="216" name="Graphic 215" descr="Man with solid fill">
              <a:extLst>
                <a:ext uri="{FF2B5EF4-FFF2-40B4-BE49-F238E27FC236}">
                  <a16:creationId xmlns:a16="http://schemas.microsoft.com/office/drawing/2014/main" id="{6546B99B-FD9D-2678-8F69-45C6756FA7A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504314" y="5075523"/>
              <a:ext cx="218674" cy="335842"/>
            </a:xfrm>
            <a:prstGeom prst="rect">
              <a:avLst/>
            </a:prstGeom>
          </p:spPr>
        </p:pic>
        <p:pic>
          <p:nvPicPr>
            <p:cNvPr id="217" name="Graphic 216" descr="Man with solid fill">
              <a:extLst>
                <a:ext uri="{FF2B5EF4-FFF2-40B4-BE49-F238E27FC236}">
                  <a16:creationId xmlns:a16="http://schemas.microsoft.com/office/drawing/2014/main" id="{515A4DE6-FAD9-99CA-2CF6-3FCE8F9589E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914824" y="5021607"/>
              <a:ext cx="218674" cy="335842"/>
            </a:xfrm>
            <a:prstGeom prst="rect">
              <a:avLst/>
            </a:prstGeom>
          </p:spPr>
        </p:pic>
        <p:pic>
          <p:nvPicPr>
            <p:cNvPr id="218" name="Graphic 217" descr="Man with solid fill">
              <a:extLst>
                <a:ext uri="{FF2B5EF4-FFF2-40B4-BE49-F238E27FC236}">
                  <a16:creationId xmlns:a16="http://schemas.microsoft.com/office/drawing/2014/main" id="{9CCF347B-D1FF-BE7B-1FE6-DF8395A0858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849601" y="3476904"/>
              <a:ext cx="218674" cy="335842"/>
            </a:xfrm>
            <a:prstGeom prst="rect">
              <a:avLst/>
            </a:prstGeom>
          </p:spPr>
        </p:pic>
        <p:pic>
          <p:nvPicPr>
            <p:cNvPr id="219" name="Graphic 218" descr="Man and woman with solid fill">
              <a:extLst>
                <a:ext uri="{FF2B5EF4-FFF2-40B4-BE49-F238E27FC236}">
                  <a16:creationId xmlns:a16="http://schemas.microsoft.com/office/drawing/2014/main" id="{418A91C3-33C6-2B5F-AA03-5129464E15C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83632" y="3584001"/>
              <a:ext cx="218674" cy="335842"/>
            </a:xfrm>
            <a:prstGeom prst="rect">
              <a:avLst/>
            </a:prstGeom>
          </p:spPr>
        </p:pic>
        <p:pic>
          <p:nvPicPr>
            <p:cNvPr id="220" name="Graphic 219" descr="Man with kid with solid fill">
              <a:extLst>
                <a:ext uri="{FF2B5EF4-FFF2-40B4-BE49-F238E27FC236}">
                  <a16:creationId xmlns:a16="http://schemas.microsoft.com/office/drawing/2014/main" id="{221597A3-C432-7B1E-16A2-4C5FB5DEE3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79003" y="3655299"/>
              <a:ext cx="218674" cy="335842"/>
            </a:xfrm>
            <a:prstGeom prst="rect">
              <a:avLst/>
            </a:prstGeom>
          </p:spPr>
        </p:pic>
        <p:pic>
          <p:nvPicPr>
            <p:cNvPr id="221" name="Graphic 220" descr="Family with boy with solid fill">
              <a:extLst>
                <a:ext uri="{FF2B5EF4-FFF2-40B4-BE49-F238E27FC236}">
                  <a16:creationId xmlns:a16="http://schemas.microsoft.com/office/drawing/2014/main" id="{C4B6DEA8-945D-28C2-745F-FDB7087B1CD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113961" y="4027068"/>
              <a:ext cx="218674" cy="335842"/>
            </a:xfrm>
            <a:prstGeom prst="rect">
              <a:avLst/>
            </a:prstGeom>
          </p:spPr>
        </p:pic>
        <p:pic>
          <p:nvPicPr>
            <p:cNvPr id="222" name="Graphic 221" descr="Family with two children with solid fill">
              <a:extLst>
                <a:ext uri="{FF2B5EF4-FFF2-40B4-BE49-F238E27FC236}">
                  <a16:creationId xmlns:a16="http://schemas.microsoft.com/office/drawing/2014/main" id="{581D8122-DC9F-D5D2-AC58-EA255C6B710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691840" y="4067434"/>
              <a:ext cx="218674" cy="335842"/>
            </a:xfrm>
            <a:prstGeom prst="rect">
              <a:avLst/>
            </a:prstGeom>
          </p:spPr>
        </p:pic>
        <p:pic>
          <p:nvPicPr>
            <p:cNvPr id="223" name="Graphic 222" descr="Man with kid with solid fill">
              <a:extLst>
                <a:ext uri="{FF2B5EF4-FFF2-40B4-BE49-F238E27FC236}">
                  <a16:creationId xmlns:a16="http://schemas.microsoft.com/office/drawing/2014/main" id="{DDB2C84D-156F-F40E-1D9F-2C3CC29D157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228348" y="3691227"/>
              <a:ext cx="218674" cy="335842"/>
            </a:xfrm>
            <a:prstGeom prst="rect">
              <a:avLst/>
            </a:prstGeom>
          </p:spPr>
        </p:pic>
        <p:pic>
          <p:nvPicPr>
            <p:cNvPr id="224" name="Graphic 223" descr="Family with two children with solid fill">
              <a:extLst>
                <a:ext uri="{FF2B5EF4-FFF2-40B4-BE49-F238E27FC236}">
                  <a16:creationId xmlns:a16="http://schemas.microsoft.com/office/drawing/2014/main" id="{48B8D61B-8F9D-7FC8-84A1-126376F38B02}"/>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053172" y="4067434"/>
              <a:ext cx="218674" cy="335842"/>
            </a:xfrm>
            <a:prstGeom prst="rect">
              <a:avLst/>
            </a:prstGeom>
          </p:spPr>
        </p:pic>
        <p:pic>
          <p:nvPicPr>
            <p:cNvPr id="225" name="Graphic 224" descr="Man and woman with solid fill">
              <a:extLst>
                <a:ext uri="{FF2B5EF4-FFF2-40B4-BE49-F238E27FC236}">
                  <a16:creationId xmlns:a16="http://schemas.microsoft.com/office/drawing/2014/main" id="{B60B01D2-F1C1-5B8D-9E14-9127B7D8E1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66264" y="3449611"/>
              <a:ext cx="218674" cy="335842"/>
            </a:xfrm>
            <a:prstGeom prst="rect">
              <a:avLst/>
            </a:prstGeom>
          </p:spPr>
        </p:pic>
        <p:pic>
          <p:nvPicPr>
            <p:cNvPr id="226" name="Graphic 225" descr="Family with boy with solid fill">
              <a:extLst>
                <a:ext uri="{FF2B5EF4-FFF2-40B4-BE49-F238E27FC236}">
                  <a16:creationId xmlns:a16="http://schemas.microsoft.com/office/drawing/2014/main" id="{4A559A00-8D8C-64AD-D8B9-73BDC3DA0F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19692" y="4280248"/>
              <a:ext cx="218674" cy="335842"/>
            </a:xfrm>
            <a:prstGeom prst="rect">
              <a:avLst/>
            </a:prstGeom>
          </p:spPr>
        </p:pic>
        <p:pic>
          <p:nvPicPr>
            <p:cNvPr id="227" name="Graphic 226" descr="Man with solid fill">
              <a:extLst>
                <a:ext uri="{FF2B5EF4-FFF2-40B4-BE49-F238E27FC236}">
                  <a16:creationId xmlns:a16="http://schemas.microsoft.com/office/drawing/2014/main" id="{7D6E33FE-B9CF-1C83-D036-0E6E335A85E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796690" y="3977938"/>
              <a:ext cx="218674" cy="335842"/>
            </a:xfrm>
            <a:prstGeom prst="rect">
              <a:avLst/>
            </a:prstGeom>
          </p:spPr>
        </p:pic>
        <p:pic>
          <p:nvPicPr>
            <p:cNvPr id="228" name="Graphic 227" descr="Two Men with solid fill">
              <a:extLst>
                <a:ext uri="{FF2B5EF4-FFF2-40B4-BE49-F238E27FC236}">
                  <a16:creationId xmlns:a16="http://schemas.microsoft.com/office/drawing/2014/main" id="{B07166D8-46B6-A4EE-653E-9A989688515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191778" y="3530149"/>
              <a:ext cx="218674" cy="335842"/>
            </a:xfrm>
            <a:prstGeom prst="rect">
              <a:avLst/>
            </a:prstGeom>
          </p:spPr>
        </p:pic>
        <p:pic>
          <p:nvPicPr>
            <p:cNvPr id="229" name="Graphic 228" descr="Man and woman with solid fill">
              <a:extLst>
                <a:ext uri="{FF2B5EF4-FFF2-40B4-BE49-F238E27FC236}">
                  <a16:creationId xmlns:a16="http://schemas.microsoft.com/office/drawing/2014/main" id="{4971E4D7-F03B-F7BD-434E-AE613F4A9BF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407327" y="3834582"/>
              <a:ext cx="218674" cy="335842"/>
            </a:xfrm>
            <a:prstGeom prst="rect">
              <a:avLst/>
            </a:prstGeom>
          </p:spPr>
        </p:pic>
        <p:pic>
          <p:nvPicPr>
            <p:cNvPr id="230" name="Graphic 229" descr="Man and woman with solid fill">
              <a:extLst>
                <a:ext uri="{FF2B5EF4-FFF2-40B4-BE49-F238E27FC236}">
                  <a16:creationId xmlns:a16="http://schemas.microsoft.com/office/drawing/2014/main" id="{9B2FFB4E-3AA0-B644-D9FE-42B0ABC0A7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337685" y="4210850"/>
              <a:ext cx="218674" cy="335842"/>
            </a:xfrm>
            <a:prstGeom prst="rect">
              <a:avLst/>
            </a:prstGeom>
          </p:spPr>
        </p:pic>
        <p:pic>
          <p:nvPicPr>
            <p:cNvPr id="231" name="Graphic 230" descr="Man with solid fill">
              <a:extLst>
                <a:ext uri="{FF2B5EF4-FFF2-40B4-BE49-F238E27FC236}">
                  <a16:creationId xmlns:a16="http://schemas.microsoft.com/office/drawing/2014/main" id="{2B0B8559-D3F8-C2CD-1ED0-B18336B7509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608219" y="3727421"/>
              <a:ext cx="218674" cy="335842"/>
            </a:xfrm>
            <a:prstGeom prst="rect">
              <a:avLst/>
            </a:prstGeom>
          </p:spPr>
        </p:pic>
        <p:pic>
          <p:nvPicPr>
            <p:cNvPr id="232" name="Graphic 231" descr="Man with solid fill">
              <a:extLst>
                <a:ext uri="{FF2B5EF4-FFF2-40B4-BE49-F238E27FC236}">
                  <a16:creationId xmlns:a16="http://schemas.microsoft.com/office/drawing/2014/main" id="{D1DECCC4-B328-6D43-BBA2-1B3969C06529}"/>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18729" y="3673505"/>
              <a:ext cx="218674" cy="335842"/>
            </a:xfrm>
            <a:prstGeom prst="rect">
              <a:avLst/>
            </a:prstGeom>
          </p:spPr>
        </p:pic>
        <p:pic>
          <p:nvPicPr>
            <p:cNvPr id="233" name="Graphic 232" descr="Man with solid fill">
              <a:extLst>
                <a:ext uri="{FF2B5EF4-FFF2-40B4-BE49-F238E27FC236}">
                  <a16:creationId xmlns:a16="http://schemas.microsoft.com/office/drawing/2014/main" id="{B54D0FC7-A35E-7E4F-9744-5F9B0CF5C25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802663" y="3749890"/>
              <a:ext cx="218674" cy="335842"/>
            </a:xfrm>
            <a:prstGeom prst="rect">
              <a:avLst/>
            </a:prstGeom>
          </p:spPr>
        </p:pic>
        <p:pic>
          <p:nvPicPr>
            <p:cNvPr id="234" name="Graphic 233" descr="Man and woman with solid fill">
              <a:extLst>
                <a:ext uri="{FF2B5EF4-FFF2-40B4-BE49-F238E27FC236}">
                  <a16:creationId xmlns:a16="http://schemas.microsoft.com/office/drawing/2014/main" id="{0B4DAEC4-57B5-9651-D811-F4E41F01C0B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36694" y="3856987"/>
              <a:ext cx="218674" cy="335842"/>
            </a:xfrm>
            <a:prstGeom prst="rect">
              <a:avLst/>
            </a:prstGeom>
          </p:spPr>
        </p:pic>
        <p:pic>
          <p:nvPicPr>
            <p:cNvPr id="235" name="Graphic 234" descr="Man with kid with solid fill">
              <a:extLst>
                <a:ext uri="{FF2B5EF4-FFF2-40B4-BE49-F238E27FC236}">
                  <a16:creationId xmlns:a16="http://schemas.microsoft.com/office/drawing/2014/main" id="{F2150BAD-DF45-7C8D-5A02-8947D1D9312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832065" y="3928285"/>
              <a:ext cx="218674" cy="335842"/>
            </a:xfrm>
            <a:prstGeom prst="rect">
              <a:avLst/>
            </a:prstGeom>
          </p:spPr>
        </p:pic>
        <p:pic>
          <p:nvPicPr>
            <p:cNvPr id="236" name="Graphic 235" descr="Family with boy with solid fill">
              <a:extLst>
                <a:ext uri="{FF2B5EF4-FFF2-40B4-BE49-F238E27FC236}">
                  <a16:creationId xmlns:a16="http://schemas.microsoft.com/office/drawing/2014/main" id="{0FDDC1C2-94B2-AC1E-E5B8-7A26EA8D8F3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067023" y="4300054"/>
              <a:ext cx="218674" cy="335842"/>
            </a:xfrm>
            <a:prstGeom prst="rect">
              <a:avLst/>
            </a:prstGeom>
          </p:spPr>
        </p:pic>
        <p:pic>
          <p:nvPicPr>
            <p:cNvPr id="237" name="Graphic 236" descr="Family with two children with solid fill">
              <a:extLst>
                <a:ext uri="{FF2B5EF4-FFF2-40B4-BE49-F238E27FC236}">
                  <a16:creationId xmlns:a16="http://schemas.microsoft.com/office/drawing/2014/main" id="{EA01D5A3-CFB4-6B8D-B582-83A55A0CFBA8}"/>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2644902" y="4340420"/>
              <a:ext cx="218674" cy="335842"/>
            </a:xfrm>
            <a:prstGeom prst="rect">
              <a:avLst/>
            </a:prstGeom>
          </p:spPr>
        </p:pic>
        <p:pic>
          <p:nvPicPr>
            <p:cNvPr id="238" name="Graphic 237" descr="Man with kid with solid fill">
              <a:extLst>
                <a:ext uri="{FF2B5EF4-FFF2-40B4-BE49-F238E27FC236}">
                  <a16:creationId xmlns:a16="http://schemas.microsoft.com/office/drawing/2014/main" id="{FB501AD8-D69D-B42A-BEAD-918BCE49A05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181410" y="3964213"/>
              <a:ext cx="218674" cy="335842"/>
            </a:xfrm>
            <a:prstGeom prst="rect">
              <a:avLst/>
            </a:prstGeom>
          </p:spPr>
        </p:pic>
        <p:pic>
          <p:nvPicPr>
            <p:cNvPr id="239" name="Graphic 238" descr="Family with two children with solid fill">
              <a:extLst>
                <a:ext uri="{FF2B5EF4-FFF2-40B4-BE49-F238E27FC236}">
                  <a16:creationId xmlns:a16="http://schemas.microsoft.com/office/drawing/2014/main" id="{078FF801-E111-16C0-F02B-DDA7F7672B7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006234" y="4340420"/>
              <a:ext cx="218674" cy="335842"/>
            </a:xfrm>
            <a:prstGeom prst="rect">
              <a:avLst/>
            </a:prstGeom>
          </p:spPr>
        </p:pic>
        <p:pic>
          <p:nvPicPr>
            <p:cNvPr id="240" name="Graphic 239" descr="Man and woman with solid fill">
              <a:extLst>
                <a:ext uri="{FF2B5EF4-FFF2-40B4-BE49-F238E27FC236}">
                  <a16:creationId xmlns:a16="http://schemas.microsoft.com/office/drawing/2014/main" id="{830D2BE6-F621-4976-BADA-5FA1ABB279D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419326" y="3722597"/>
              <a:ext cx="218674" cy="335842"/>
            </a:xfrm>
            <a:prstGeom prst="rect">
              <a:avLst/>
            </a:prstGeom>
          </p:spPr>
        </p:pic>
        <p:pic>
          <p:nvPicPr>
            <p:cNvPr id="241" name="Graphic 240" descr="Family with boy with solid fill">
              <a:extLst>
                <a:ext uri="{FF2B5EF4-FFF2-40B4-BE49-F238E27FC236}">
                  <a16:creationId xmlns:a16="http://schemas.microsoft.com/office/drawing/2014/main" id="{7D2D144F-F8D9-3E56-BC03-E2792851727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372754" y="4553234"/>
              <a:ext cx="218674" cy="335842"/>
            </a:xfrm>
            <a:prstGeom prst="rect">
              <a:avLst/>
            </a:prstGeom>
          </p:spPr>
        </p:pic>
        <p:pic>
          <p:nvPicPr>
            <p:cNvPr id="242" name="Graphic 241" descr="Man with solid fill">
              <a:extLst>
                <a:ext uri="{FF2B5EF4-FFF2-40B4-BE49-F238E27FC236}">
                  <a16:creationId xmlns:a16="http://schemas.microsoft.com/office/drawing/2014/main" id="{BA86D070-37D2-E4E6-2DB6-2A19C44E551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749752" y="4250924"/>
              <a:ext cx="218674" cy="335842"/>
            </a:xfrm>
            <a:prstGeom prst="rect">
              <a:avLst/>
            </a:prstGeom>
          </p:spPr>
        </p:pic>
        <p:pic>
          <p:nvPicPr>
            <p:cNvPr id="243" name="Graphic 242" descr="Two Men with solid fill">
              <a:extLst>
                <a:ext uri="{FF2B5EF4-FFF2-40B4-BE49-F238E27FC236}">
                  <a16:creationId xmlns:a16="http://schemas.microsoft.com/office/drawing/2014/main" id="{0B6269E5-9FAF-C265-E544-C143FB308856}"/>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2144840" y="3803135"/>
              <a:ext cx="218674" cy="335842"/>
            </a:xfrm>
            <a:prstGeom prst="rect">
              <a:avLst/>
            </a:prstGeom>
          </p:spPr>
        </p:pic>
        <p:pic>
          <p:nvPicPr>
            <p:cNvPr id="244" name="Graphic 243" descr="Man and woman with solid fill">
              <a:extLst>
                <a:ext uri="{FF2B5EF4-FFF2-40B4-BE49-F238E27FC236}">
                  <a16:creationId xmlns:a16="http://schemas.microsoft.com/office/drawing/2014/main" id="{D9543E92-6E02-87D1-7ACF-1636960BDF8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360389" y="4107568"/>
              <a:ext cx="218674" cy="335842"/>
            </a:xfrm>
            <a:prstGeom prst="rect">
              <a:avLst/>
            </a:prstGeom>
          </p:spPr>
        </p:pic>
        <p:pic>
          <p:nvPicPr>
            <p:cNvPr id="245" name="Graphic 244" descr="Man and woman with solid fill">
              <a:extLst>
                <a:ext uri="{FF2B5EF4-FFF2-40B4-BE49-F238E27FC236}">
                  <a16:creationId xmlns:a16="http://schemas.microsoft.com/office/drawing/2014/main" id="{7B887DD1-FB31-5669-E901-415D7FD2734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90747" y="4483836"/>
              <a:ext cx="218674" cy="335842"/>
            </a:xfrm>
            <a:prstGeom prst="rect">
              <a:avLst/>
            </a:prstGeom>
          </p:spPr>
        </p:pic>
        <p:pic>
          <p:nvPicPr>
            <p:cNvPr id="246" name="Graphic 245" descr="Man with solid fill">
              <a:extLst>
                <a:ext uri="{FF2B5EF4-FFF2-40B4-BE49-F238E27FC236}">
                  <a16:creationId xmlns:a16="http://schemas.microsoft.com/office/drawing/2014/main" id="{2BE1E3CF-8578-E999-7536-50C4D4ABB74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561281" y="4000407"/>
              <a:ext cx="218674" cy="335842"/>
            </a:xfrm>
            <a:prstGeom prst="rect">
              <a:avLst/>
            </a:prstGeom>
          </p:spPr>
        </p:pic>
        <p:pic>
          <p:nvPicPr>
            <p:cNvPr id="247" name="Graphic 246" descr="Man with solid fill">
              <a:extLst>
                <a:ext uri="{FF2B5EF4-FFF2-40B4-BE49-F238E27FC236}">
                  <a16:creationId xmlns:a16="http://schemas.microsoft.com/office/drawing/2014/main" id="{715D3B3D-863C-251A-7DC6-C012B4FF69E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971791" y="3946491"/>
              <a:ext cx="218674" cy="335842"/>
            </a:xfrm>
            <a:prstGeom prst="rect">
              <a:avLst/>
            </a:prstGeom>
          </p:spPr>
        </p:pic>
      </p:grpSp>
    </p:spTree>
    <p:extLst>
      <p:ext uri="{BB962C8B-B14F-4D97-AF65-F5344CB8AC3E}">
        <p14:creationId xmlns:p14="http://schemas.microsoft.com/office/powerpoint/2010/main" val="205598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FDD02-8ACF-58F7-0404-BEBB1FD4D5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D5BD95-52D0-3113-C698-AE32FB3184AE}"/>
              </a:ext>
            </a:extLst>
          </p:cNvPr>
          <p:cNvSpPr>
            <a:spLocks noGrp="1"/>
          </p:cNvSpPr>
          <p:nvPr>
            <p:ph type="title"/>
          </p:nvPr>
        </p:nvSpPr>
        <p:spPr/>
        <p:txBody>
          <a:bodyPr>
            <a:normAutofit/>
          </a:bodyPr>
          <a:lstStyle/>
          <a:p>
            <a:r>
              <a:rPr lang="en-US" sz="4000" dirty="0"/>
              <a:t>Population and sample</a:t>
            </a:r>
            <a:endParaRPr lang="en-US" dirty="0"/>
          </a:p>
        </p:txBody>
      </p:sp>
      <p:graphicFrame>
        <p:nvGraphicFramePr>
          <p:cNvPr id="4" name="Diagram 3">
            <a:extLst>
              <a:ext uri="{FF2B5EF4-FFF2-40B4-BE49-F238E27FC236}">
                <a16:creationId xmlns:a16="http://schemas.microsoft.com/office/drawing/2014/main" id="{9EC3BAB0-EF7A-E1C0-520D-53651DFD89BB}"/>
              </a:ext>
            </a:extLst>
          </p:cNvPr>
          <p:cNvGraphicFramePr/>
          <p:nvPr/>
        </p:nvGraphicFramePr>
        <p:xfrm>
          <a:off x="2071073" y="3429000"/>
          <a:ext cx="7985041" cy="7808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a:extLst>
              <a:ext uri="{FF2B5EF4-FFF2-40B4-BE49-F238E27FC236}">
                <a16:creationId xmlns:a16="http://schemas.microsoft.com/office/drawing/2014/main" id="{5BEB48BE-C11A-A788-496D-1BE1422AF933}"/>
              </a:ext>
            </a:extLst>
          </p:cNvPr>
          <p:cNvSpPr txBox="1">
            <a:spLocks/>
          </p:cNvSpPr>
          <p:nvPr/>
        </p:nvSpPr>
        <p:spPr>
          <a:xfrm>
            <a:off x="544788" y="1227336"/>
            <a:ext cx="11037612" cy="780853"/>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b="1" dirty="0"/>
              <a:t>Inductive inference: </a:t>
            </a:r>
            <a:r>
              <a:rPr lang="en-US" sz="2000" dirty="0"/>
              <a:t>drawing conclusions about the unknown or unobserved instances based on limited observed data.</a:t>
            </a:r>
            <a:r>
              <a:rPr lang="en-US" sz="2000" b="1" dirty="0"/>
              <a:t> </a:t>
            </a:r>
            <a:endParaRPr lang="en-US" sz="2000" dirty="0"/>
          </a:p>
        </p:txBody>
      </p:sp>
      <p:sp>
        <p:nvSpPr>
          <p:cNvPr id="9" name="Content Placeholder 2">
            <a:extLst>
              <a:ext uri="{FF2B5EF4-FFF2-40B4-BE49-F238E27FC236}">
                <a16:creationId xmlns:a16="http://schemas.microsoft.com/office/drawing/2014/main" id="{AE1DC85D-062E-5F44-1B09-824816AE5670}"/>
              </a:ext>
            </a:extLst>
          </p:cNvPr>
          <p:cNvSpPr txBox="1">
            <a:spLocks/>
          </p:cNvSpPr>
          <p:nvPr/>
        </p:nvSpPr>
        <p:spPr>
          <a:xfrm>
            <a:off x="544787" y="2065265"/>
            <a:ext cx="11037612" cy="780853"/>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dirty="0"/>
              <a:t>How can we estimate how our new video recommendation algorithm will work when we launch it for all users? </a:t>
            </a:r>
          </a:p>
        </p:txBody>
      </p:sp>
    </p:spTree>
    <p:extLst>
      <p:ext uri="{BB962C8B-B14F-4D97-AF65-F5344CB8AC3E}">
        <p14:creationId xmlns:p14="http://schemas.microsoft.com/office/powerpoint/2010/main" val="4195898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8D20B-30D9-2C7A-F552-E9DAA4BDEB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F1BC6E-705A-F014-9AB9-7A63FC302BBA}"/>
              </a:ext>
            </a:extLst>
          </p:cNvPr>
          <p:cNvSpPr>
            <a:spLocks noGrp="1"/>
          </p:cNvSpPr>
          <p:nvPr>
            <p:ph type="title"/>
          </p:nvPr>
        </p:nvSpPr>
        <p:spPr/>
        <p:txBody>
          <a:bodyPr>
            <a:normAutofit/>
          </a:bodyPr>
          <a:lstStyle/>
          <a:p>
            <a:r>
              <a:rPr lang="en-US" sz="4000" dirty="0"/>
              <a:t>Population and sample</a:t>
            </a:r>
            <a:endParaRPr lang="en-US" dirty="0"/>
          </a:p>
        </p:txBody>
      </p:sp>
      <p:graphicFrame>
        <p:nvGraphicFramePr>
          <p:cNvPr id="4" name="Diagram 3">
            <a:extLst>
              <a:ext uri="{FF2B5EF4-FFF2-40B4-BE49-F238E27FC236}">
                <a16:creationId xmlns:a16="http://schemas.microsoft.com/office/drawing/2014/main" id="{C2AAAE35-C195-6B44-A302-AB55D5E98C20}"/>
              </a:ext>
            </a:extLst>
          </p:cNvPr>
          <p:cNvGraphicFramePr/>
          <p:nvPr/>
        </p:nvGraphicFramePr>
        <p:xfrm>
          <a:off x="2071073" y="3429000"/>
          <a:ext cx="7985041" cy="7808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a:extLst>
              <a:ext uri="{FF2B5EF4-FFF2-40B4-BE49-F238E27FC236}">
                <a16:creationId xmlns:a16="http://schemas.microsoft.com/office/drawing/2014/main" id="{803B757D-5D85-C5F3-5006-62E7A0AC8BB7}"/>
              </a:ext>
            </a:extLst>
          </p:cNvPr>
          <p:cNvSpPr txBox="1">
            <a:spLocks/>
          </p:cNvSpPr>
          <p:nvPr/>
        </p:nvSpPr>
        <p:spPr>
          <a:xfrm>
            <a:off x="544788" y="1227336"/>
            <a:ext cx="11037612" cy="780853"/>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b="1" dirty="0"/>
              <a:t>Inductive inference: </a:t>
            </a:r>
            <a:r>
              <a:rPr lang="en-US" sz="2000" dirty="0"/>
              <a:t>drawing conclusions about the unknown or unobserved instances based on limited observed data.</a:t>
            </a:r>
            <a:r>
              <a:rPr lang="en-US" sz="2000" b="1" dirty="0"/>
              <a:t> </a:t>
            </a:r>
            <a:endParaRPr lang="en-US" sz="2000" dirty="0"/>
          </a:p>
        </p:txBody>
      </p:sp>
      <p:sp>
        <p:nvSpPr>
          <p:cNvPr id="9" name="Content Placeholder 2">
            <a:extLst>
              <a:ext uri="{FF2B5EF4-FFF2-40B4-BE49-F238E27FC236}">
                <a16:creationId xmlns:a16="http://schemas.microsoft.com/office/drawing/2014/main" id="{CC9A9FF7-91F7-F7E3-7BC7-33C678580B5E}"/>
              </a:ext>
            </a:extLst>
          </p:cNvPr>
          <p:cNvSpPr txBox="1">
            <a:spLocks/>
          </p:cNvSpPr>
          <p:nvPr/>
        </p:nvSpPr>
        <p:spPr>
          <a:xfrm>
            <a:off x="544787" y="2065265"/>
            <a:ext cx="11037612" cy="780853"/>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dirty="0"/>
              <a:t>How can we estimate how our new video recommendation algorithm will work when we launch it for all users? </a:t>
            </a:r>
          </a:p>
        </p:txBody>
      </p:sp>
      <p:sp>
        <p:nvSpPr>
          <p:cNvPr id="11" name="TextBox 10">
            <a:extLst>
              <a:ext uri="{FF2B5EF4-FFF2-40B4-BE49-F238E27FC236}">
                <a16:creationId xmlns:a16="http://schemas.microsoft.com/office/drawing/2014/main" id="{7DEE8E8A-F644-6727-67A4-5E1F69348DDA}"/>
              </a:ext>
            </a:extLst>
          </p:cNvPr>
          <p:cNvSpPr txBox="1"/>
          <p:nvPr/>
        </p:nvSpPr>
        <p:spPr>
          <a:xfrm>
            <a:off x="2071073" y="4331070"/>
            <a:ext cx="7985040" cy="584775"/>
          </a:xfrm>
          <a:prstGeom prst="rect">
            <a:avLst/>
          </a:prstGeom>
          <a:noFill/>
        </p:spPr>
        <p:txBody>
          <a:bodyPr wrap="square">
            <a:spAutoFit/>
          </a:bodyPr>
          <a:lstStyle/>
          <a:p>
            <a:r>
              <a:rPr lang="en-US" sz="1600" b="1" dirty="0"/>
              <a:t>All possible user interactions the algorithm could provoke and we can measure:</a:t>
            </a:r>
          </a:p>
          <a:p>
            <a:r>
              <a:rPr lang="en-US" sz="1600" b="1" dirty="0"/>
              <a:t>clicks, watch time, skips, likes, shares, across all users and videos.</a:t>
            </a:r>
          </a:p>
        </p:txBody>
      </p:sp>
    </p:spTree>
    <p:extLst>
      <p:ext uri="{BB962C8B-B14F-4D97-AF65-F5344CB8AC3E}">
        <p14:creationId xmlns:p14="http://schemas.microsoft.com/office/powerpoint/2010/main" val="1804688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AEE1F7-8F61-C25D-8ECB-D1455535A3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BC85D-0CD1-8D60-6885-439F42566CFE}"/>
              </a:ext>
            </a:extLst>
          </p:cNvPr>
          <p:cNvSpPr>
            <a:spLocks noGrp="1"/>
          </p:cNvSpPr>
          <p:nvPr>
            <p:ph type="title"/>
          </p:nvPr>
        </p:nvSpPr>
        <p:spPr/>
        <p:txBody>
          <a:bodyPr>
            <a:normAutofit/>
          </a:bodyPr>
          <a:lstStyle/>
          <a:p>
            <a:r>
              <a:rPr lang="en-US" sz="4000" dirty="0"/>
              <a:t>Population and sample</a:t>
            </a:r>
            <a:endParaRPr lang="en-US" dirty="0"/>
          </a:p>
        </p:txBody>
      </p:sp>
      <p:graphicFrame>
        <p:nvGraphicFramePr>
          <p:cNvPr id="4" name="Diagram 3">
            <a:extLst>
              <a:ext uri="{FF2B5EF4-FFF2-40B4-BE49-F238E27FC236}">
                <a16:creationId xmlns:a16="http://schemas.microsoft.com/office/drawing/2014/main" id="{1D93ABEA-4AE7-898D-2073-2DD6BC895C34}"/>
              </a:ext>
            </a:extLst>
          </p:cNvPr>
          <p:cNvGraphicFramePr/>
          <p:nvPr/>
        </p:nvGraphicFramePr>
        <p:xfrm>
          <a:off x="2071073" y="3429000"/>
          <a:ext cx="7985041" cy="7808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a:extLst>
              <a:ext uri="{FF2B5EF4-FFF2-40B4-BE49-F238E27FC236}">
                <a16:creationId xmlns:a16="http://schemas.microsoft.com/office/drawing/2014/main" id="{457AFC34-FFFA-9276-CD01-2E2BC44B8228}"/>
              </a:ext>
            </a:extLst>
          </p:cNvPr>
          <p:cNvSpPr txBox="1">
            <a:spLocks/>
          </p:cNvSpPr>
          <p:nvPr/>
        </p:nvSpPr>
        <p:spPr>
          <a:xfrm>
            <a:off x="544788" y="1227336"/>
            <a:ext cx="11037612" cy="780853"/>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b="1" dirty="0"/>
              <a:t>Inductive inference: </a:t>
            </a:r>
            <a:r>
              <a:rPr lang="en-US" sz="2000" dirty="0"/>
              <a:t>drawing conclusions about the unknown or unobserved instances based on limited observed data.</a:t>
            </a:r>
            <a:r>
              <a:rPr lang="en-US" sz="2000" b="1" dirty="0"/>
              <a:t> </a:t>
            </a:r>
            <a:endParaRPr lang="en-US" sz="2000" dirty="0"/>
          </a:p>
        </p:txBody>
      </p:sp>
      <p:sp>
        <p:nvSpPr>
          <p:cNvPr id="9" name="Content Placeholder 2">
            <a:extLst>
              <a:ext uri="{FF2B5EF4-FFF2-40B4-BE49-F238E27FC236}">
                <a16:creationId xmlns:a16="http://schemas.microsoft.com/office/drawing/2014/main" id="{4786314E-5399-8767-FAA6-9CF5A3A8F348}"/>
              </a:ext>
            </a:extLst>
          </p:cNvPr>
          <p:cNvSpPr txBox="1">
            <a:spLocks/>
          </p:cNvSpPr>
          <p:nvPr/>
        </p:nvSpPr>
        <p:spPr>
          <a:xfrm>
            <a:off x="544787" y="2065265"/>
            <a:ext cx="11037612" cy="780853"/>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dirty="0"/>
              <a:t>How can we estimate how our new video recommendation algorithm will work when we launch it for all users? </a:t>
            </a:r>
          </a:p>
        </p:txBody>
      </p:sp>
      <p:sp>
        <p:nvSpPr>
          <p:cNvPr id="11" name="TextBox 10">
            <a:extLst>
              <a:ext uri="{FF2B5EF4-FFF2-40B4-BE49-F238E27FC236}">
                <a16:creationId xmlns:a16="http://schemas.microsoft.com/office/drawing/2014/main" id="{4233046C-91CA-29E3-0C33-02402681D362}"/>
              </a:ext>
            </a:extLst>
          </p:cNvPr>
          <p:cNvSpPr txBox="1"/>
          <p:nvPr/>
        </p:nvSpPr>
        <p:spPr>
          <a:xfrm>
            <a:off x="2071073" y="4331070"/>
            <a:ext cx="7985040" cy="584775"/>
          </a:xfrm>
          <a:prstGeom prst="rect">
            <a:avLst/>
          </a:prstGeom>
          <a:noFill/>
        </p:spPr>
        <p:txBody>
          <a:bodyPr wrap="square">
            <a:spAutoFit/>
          </a:bodyPr>
          <a:lstStyle/>
          <a:p>
            <a:r>
              <a:rPr lang="en-US" sz="1600" b="1" dirty="0"/>
              <a:t>The data collected from a limited group of users: logs during online experiment on small group of users.</a:t>
            </a:r>
          </a:p>
        </p:txBody>
      </p:sp>
    </p:spTree>
    <p:extLst>
      <p:ext uri="{BB962C8B-B14F-4D97-AF65-F5344CB8AC3E}">
        <p14:creationId xmlns:p14="http://schemas.microsoft.com/office/powerpoint/2010/main" val="470277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4CF45-7D1E-9A27-E32D-6B5F5E2614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BA3AD7-06AA-DE53-455F-5EED0199B43F}"/>
              </a:ext>
            </a:extLst>
          </p:cNvPr>
          <p:cNvSpPr>
            <a:spLocks noGrp="1"/>
          </p:cNvSpPr>
          <p:nvPr>
            <p:ph type="title"/>
          </p:nvPr>
        </p:nvSpPr>
        <p:spPr/>
        <p:txBody>
          <a:bodyPr>
            <a:normAutofit/>
          </a:bodyPr>
          <a:lstStyle/>
          <a:p>
            <a:r>
              <a:rPr lang="en-US" sz="4000" dirty="0"/>
              <a:t>Population and sample</a:t>
            </a:r>
            <a:endParaRPr lang="en-US" dirty="0"/>
          </a:p>
        </p:txBody>
      </p:sp>
      <p:graphicFrame>
        <p:nvGraphicFramePr>
          <p:cNvPr id="4" name="Diagram 3">
            <a:extLst>
              <a:ext uri="{FF2B5EF4-FFF2-40B4-BE49-F238E27FC236}">
                <a16:creationId xmlns:a16="http://schemas.microsoft.com/office/drawing/2014/main" id="{249EE250-F82E-989F-C901-A59DF8850E6F}"/>
              </a:ext>
            </a:extLst>
          </p:cNvPr>
          <p:cNvGraphicFramePr/>
          <p:nvPr/>
        </p:nvGraphicFramePr>
        <p:xfrm>
          <a:off x="2071073" y="3429000"/>
          <a:ext cx="7985041" cy="7808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a:extLst>
              <a:ext uri="{FF2B5EF4-FFF2-40B4-BE49-F238E27FC236}">
                <a16:creationId xmlns:a16="http://schemas.microsoft.com/office/drawing/2014/main" id="{5BC48A61-F8EF-174F-18A2-0937D34775A7}"/>
              </a:ext>
            </a:extLst>
          </p:cNvPr>
          <p:cNvSpPr txBox="1">
            <a:spLocks/>
          </p:cNvSpPr>
          <p:nvPr/>
        </p:nvSpPr>
        <p:spPr>
          <a:xfrm>
            <a:off x="544788" y="1227336"/>
            <a:ext cx="11037612" cy="780853"/>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b="1" dirty="0"/>
              <a:t>Inductive inference: </a:t>
            </a:r>
            <a:r>
              <a:rPr lang="en-US" sz="2000" dirty="0"/>
              <a:t>drawing conclusions about the unknown or unobserved instances based on limited observed data.</a:t>
            </a:r>
            <a:r>
              <a:rPr lang="en-US" sz="2000" b="1" dirty="0"/>
              <a:t> </a:t>
            </a:r>
            <a:endParaRPr lang="en-US" sz="2000" dirty="0"/>
          </a:p>
        </p:txBody>
      </p:sp>
      <p:sp>
        <p:nvSpPr>
          <p:cNvPr id="9" name="Content Placeholder 2">
            <a:extLst>
              <a:ext uri="{FF2B5EF4-FFF2-40B4-BE49-F238E27FC236}">
                <a16:creationId xmlns:a16="http://schemas.microsoft.com/office/drawing/2014/main" id="{FCB7EDC8-4DC1-D6A7-94A2-EB66474FF3FB}"/>
              </a:ext>
            </a:extLst>
          </p:cNvPr>
          <p:cNvSpPr txBox="1">
            <a:spLocks/>
          </p:cNvSpPr>
          <p:nvPr/>
        </p:nvSpPr>
        <p:spPr>
          <a:xfrm>
            <a:off x="544787" y="2065265"/>
            <a:ext cx="11037612" cy="780853"/>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dirty="0"/>
              <a:t>How can we estimate how our new video recommendation algorithm will work when we launch it for all users? </a:t>
            </a:r>
          </a:p>
        </p:txBody>
      </p:sp>
      <p:sp>
        <p:nvSpPr>
          <p:cNvPr id="11" name="TextBox 10">
            <a:extLst>
              <a:ext uri="{FF2B5EF4-FFF2-40B4-BE49-F238E27FC236}">
                <a16:creationId xmlns:a16="http://schemas.microsoft.com/office/drawing/2014/main" id="{BA55DB5F-6FD8-6DE4-AE05-DD482DD926AA}"/>
              </a:ext>
            </a:extLst>
          </p:cNvPr>
          <p:cNvSpPr txBox="1"/>
          <p:nvPr/>
        </p:nvSpPr>
        <p:spPr>
          <a:xfrm>
            <a:off x="2071073" y="4331070"/>
            <a:ext cx="7985040" cy="584775"/>
          </a:xfrm>
          <a:prstGeom prst="rect">
            <a:avLst/>
          </a:prstGeom>
          <a:noFill/>
        </p:spPr>
        <p:txBody>
          <a:bodyPr wrap="square">
            <a:spAutoFit/>
          </a:bodyPr>
          <a:lstStyle/>
          <a:p>
            <a:r>
              <a:rPr lang="en-US" sz="1600" b="1" dirty="0"/>
              <a:t>The user population represented by the sample: statistical measures like mean session time, click-through rate, and their variability.</a:t>
            </a:r>
          </a:p>
        </p:txBody>
      </p:sp>
    </p:spTree>
    <p:extLst>
      <p:ext uri="{BB962C8B-B14F-4D97-AF65-F5344CB8AC3E}">
        <p14:creationId xmlns:p14="http://schemas.microsoft.com/office/powerpoint/2010/main" val="3790150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7E140-2863-2E8C-6AC9-E6F98714E2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433153-99ED-D41B-7694-811A2E1F6DA6}"/>
              </a:ext>
            </a:extLst>
          </p:cNvPr>
          <p:cNvSpPr>
            <a:spLocks noGrp="1"/>
          </p:cNvSpPr>
          <p:nvPr>
            <p:ph type="title"/>
          </p:nvPr>
        </p:nvSpPr>
        <p:spPr/>
        <p:txBody>
          <a:bodyPr>
            <a:normAutofit/>
          </a:bodyPr>
          <a:lstStyle/>
          <a:p>
            <a:r>
              <a:rPr lang="en-US" sz="4000" dirty="0"/>
              <a:t>Population and sample</a:t>
            </a:r>
            <a:endParaRPr lang="en-US" dirty="0"/>
          </a:p>
        </p:txBody>
      </p:sp>
      <p:graphicFrame>
        <p:nvGraphicFramePr>
          <p:cNvPr id="4" name="Diagram 3">
            <a:extLst>
              <a:ext uri="{FF2B5EF4-FFF2-40B4-BE49-F238E27FC236}">
                <a16:creationId xmlns:a16="http://schemas.microsoft.com/office/drawing/2014/main" id="{B0370831-C9C6-C2DC-2436-71AE09D2E659}"/>
              </a:ext>
            </a:extLst>
          </p:cNvPr>
          <p:cNvGraphicFramePr/>
          <p:nvPr/>
        </p:nvGraphicFramePr>
        <p:xfrm>
          <a:off x="2071073" y="3429000"/>
          <a:ext cx="7985041" cy="78085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Content Placeholder 2">
            <a:extLst>
              <a:ext uri="{FF2B5EF4-FFF2-40B4-BE49-F238E27FC236}">
                <a16:creationId xmlns:a16="http://schemas.microsoft.com/office/drawing/2014/main" id="{C4A4E6E4-7920-EAF8-30CF-A5A52008448D}"/>
              </a:ext>
            </a:extLst>
          </p:cNvPr>
          <p:cNvSpPr txBox="1">
            <a:spLocks/>
          </p:cNvSpPr>
          <p:nvPr/>
        </p:nvSpPr>
        <p:spPr>
          <a:xfrm>
            <a:off x="544788" y="1227336"/>
            <a:ext cx="11037612" cy="780853"/>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b="1" dirty="0"/>
              <a:t>Inductive inference: </a:t>
            </a:r>
            <a:r>
              <a:rPr lang="en-US" sz="2000" dirty="0"/>
              <a:t>drawing conclusions about the unknown or unobserved instances based on limited observed data.</a:t>
            </a:r>
            <a:r>
              <a:rPr lang="en-US" sz="2000" b="1" dirty="0"/>
              <a:t> </a:t>
            </a:r>
            <a:endParaRPr lang="en-US" sz="2000" dirty="0"/>
          </a:p>
        </p:txBody>
      </p:sp>
      <p:sp>
        <p:nvSpPr>
          <p:cNvPr id="9" name="Content Placeholder 2">
            <a:extLst>
              <a:ext uri="{FF2B5EF4-FFF2-40B4-BE49-F238E27FC236}">
                <a16:creationId xmlns:a16="http://schemas.microsoft.com/office/drawing/2014/main" id="{92037834-A444-1950-C47E-681D994AE162}"/>
              </a:ext>
            </a:extLst>
          </p:cNvPr>
          <p:cNvSpPr txBox="1">
            <a:spLocks/>
          </p:cNvSpPr>
          <p:nvPr/>
        </p:nvSpPr>
        <p:spPr>
          <a:xfrm>
            <a:off x="544787" y="2065265"/>
            <a:ext cx="11037612" cy="780853"/>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dirty="0"/>
              <a:t>How can we estimate how our new video recommendation algorithm will work when we launch it for all users? </a:t>
            </a:r>
          </a:p>
        </p:txBody>
      </p:sp>
      <p:sp>
        <p:nvSpPr>
          <p:cNvPr id="7" name="TextBox 6">
            <a:extLst>
              <a:ext uri="{FF2B5EF4-FFF2-40B4-BE49-F238E27FC236}">
                <a16:creationId xmlns:a16="http://schemas.microsoft.com/office/drawing/2014/main" id="{FAAB94FB-AE67-04B9-D133-04B16AC2958C}"/>
              </a:ext>
            </a:extLst>
          </p:cNvPr>
          <p:cNvSpPr txBox="1"/>
          <p:nvPr/>
        </p:nvSpPr>
        <p:spPr>
          <a:xfrm>
            <a:off x="2071073" y="4331070"/>
            <a:ext cx="7985040" cy="584775"/>
          </a:xfrm>
          <a:prstGeom prst="rect">
            <a:avLst/>
          </a:prstGeom>
          <a:noFill/>
        </p:spPr>
        <p:txBody>
          <a:bodyPr wrap="square">
            <a:spAutoFit/>
          </a:bodyPr>
          <a:lstStyle/>
          <a:p>
            <a:r>
              <a:rPr lang="en-US" sz="1600" b="1" dirty="0"/>
              <a:t>All platform users after launch: including new users, different regions, new content types, and future behavior patterns.</a:t>
            </a:r>
          </a:p>
        </p:txBody>
      </p:sp>
    </p:spTree>
    <p:extLst>
      <p:ext uri="{BB962C8B-B14F-4D97-AF65-F5344CB8AC3E}">
        <p14:creationId xmlns:p14="http://schemas.microsoft.com/office/powerpoint/2010/main" val="37271581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717812-0958-EEEA-27AC-66A96F8A5BAE}"/>
              </a:ext>
            </a:extLst>
          </p:cNvPr>
          <p:cNvSpPr>
            <a:spLocks noGrp="1"/>
          </p:cNvSpPr>
          <p:nvPr>
            <p:ph type="title"/>
          </p:nvPr>
        </p:nvSpPr>
        <p:spPr/>
        <p:txBody>
          <a:bodyPr/>
          <a:lstStyle/>
          <a:p>
            <a:r>
              <a:rPr lang="en-US" dirty="0"/>
              <a:t>What do we want from our measurements?</a:t>
            </a:r>
          </a:p>
        </p:txBody>
      </p:sp>
      <p:sp>
        <p:nvSpPr>
          <p:cNvPr id="3" name="Content Placeholder 2">
            <a:extLst>
              <a:ext uri="{FF2B5EF4-FFF2-40B4-BE49-F238E27FC236}">
                <a16:creationId xmlns:a16="http://schemas.microsoft.com/office/drawing/2014/main" id="{40D1633F-719C-8DF7-7D91-6886811F9892}"/>
              </a:ext>
            </a:extLst>
          </p:cNvPr>
          <p:cNvSpPr>
            <a:spLocks noGrp="1"/>
          </p:cNvSpPr>
          <p:nvPr>
            <p:ph idx="1"/>
          </p:nvPr>
        </p:nvSpPr>
        <p:spPr>
          <a:xfrm>
            <a:off x="480001" y="1296001"/>
            <a:ext cx="11102399" cy="1433948"/>
          </a:xfrm>
        </p:spPr>
        <p:txBody>
          <a:bodyPr/>
          <a:lstStyle/>
          <a:p>
            <a:pPr marL="0" indent="0">
              <a:buNone/>
            </a:pPr>
            <a:r>
              <a:rPr lang="en-US" sz="1800" dirty="0">
                <a:latin typeface="+mn-lt"/>
              </a:rPr>
              <a:t>For inductive inference to work, measurements (metrics and their values) must be </a:t>
            </a:r>
            <a:r>
              <a:rPr lang="en-US" sz="1800" b="1" dirty="0">
                <a:latin typeface="+mn-lt"/>
              </a:rPr>
              <a:t>reliable</a:t>
            </a:r>
            <a:r>
              <a:rPr lang="en-US" sz="1800" dirty="0">
                <a:latin typeface="+mn-lt"/>
              </a:rPr>
              <a:t> enough to generalize and </a:t>
            </a:r>
            <a:r>
              <a:rPr lang="en-US" sz="1800" b="1" dirty="0">
                <a:latin typeface="+mn-lt"/>
              </a:rPr>
              <a:t>valid</a:t>
            </a:r>
            <a:r>
              <a:rPr lang="en-US" sz="1800" dirty="0">
                <a:latin typeface="+mn-lt"/>
              </a:rPr>
              <a:t> enough to generalize to the right thing.</a:t>
            </a:r>
          </a:p>
          <a:p>
            <a:r>
              <a:rPr lang="en-US" sz="1800" dirty="0">
                <a:latin typeface="+mn-lt"/>
              </a:rPr>
              <a:t>Reliable: Low variability across instances (metrics) given same context</a:t>
            </a:r>
          </a:p>
          <a:p>
            <a:r>
              <a:rPr lang="en-US" sz="1800" dirty="0">
                <a:latin typeface="+mn-lt"/>
              </a:rPr>
              <a:t>Valid: Measuring what you intend to measure, or at least close to it. </a:t>
            </a:r>
          </a:p>
        </p:txBody>
      </p:sp>
      <p:sp>
        <p:nvSpPr>
          <p:cNvPr id="5" name="TextBox 4">
            <a:extLst>
              <a:ext uri="{FF2B5EF4-FFF2-40B4-BE49-F238E27FC236}">
                <a16:creationId xmlns:a16="http://schemas.microsoft.com/office/drawing/2014/main" id="{058D5609-3080-2286-09C9-F2BCC2FDE832}"/>
              </a:ext>
            </a:extLst>
          </p:cNvPr>
          <p:cNvSpPr txBox="1"/>
          <p:nvPr/>
        </p:nvSpPr>
        <p:spPr>
          <a:xfrm>
            <a:off x="480001" y="2855690"/>
            <a:ext cx="11234921" cy="1477328"/>
          </a:xfrm>
          <a:prstGeom prst="rect">
            <a:avLst/>
          </a:prstGeom>
          <a:noFill/>
        </p:spPr>
        <p:txBody>
          <a:bodyPr wrap="square">
            <a:spAutoFit/>
          </a:bodyPr>
          <a:lstStyle/>
          <a:p>
            <a:r>
              <a:rPr lang="en-US" b="1" dirty="0"/>
              <a:t>In our video recommendation example:</a:t>
            </a:r>
          </a:p>
          <a:p>
            <a:pPr marL="285750" indent="-285750">
              <a:buFont typeface="Arial" panose="020B0604020202020204" pitchFamily="34" charset="0"/>
              <a:buChar char="•"/>
            </a:pPr>
            <a:r>
              <a:rPr lang="en-US" b="1" dirty="0"/>
              <a:t>Reliable: </a:t>
            </a:r>
            <a:r>
              <a:rPr lang="en-US" dirty="0"/>
              <a:t>engagement metrics (e.g., watch time, click-through rate) should be stable for similar users in similar situations. Large fluctuations indicate noise rather than true performance differences.</a:t>
            </a:r>
          </a:p>
          <a:p>
            <a:pPr marL="285750" indent="-285750">
              <a:buFont typeface="Arial" panose="020B0604020202020204" pitchFamily="34" charset="0"/>
              <a:buChar char="•"/>
            </a:pPr>
            <a:r>
              <a:rPr lang="en-US" b="1" dirty="0"/>
              <a:t>Valid:</a:t>
            </a:r>
            <a:r>
              <a:rPr lang="en-US" dirty="0"/>
              <a:t> Session time may be influenced by autoplay or video length and may not fully reflect user satisfaction or content quality.</a:t>
            </a:r>
          </a:p>
        </p:txBody>
      </p:sp>
    </p:spTree>
    <p:extLst>
      <p:ext uri="{BB962C8B-B14F-4D97-AF65-F5344CB8AC3E}">
        <p14:creationId xmlns:p14="http://schemas.microsoft.com/office/powerpoint/2010/main" val="2494329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2BC4A-7152-28B5-BABE-792C6F60E3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903479-6983-4887-0630-8FBC48B6E5C5}"/>
              </a:ext>
            </a:extLst>
          </p:cNvPr>
          <p:cNvSpPr>
            <a:spLocks noGrp="1"/>
          </p:cNvSpPr>
          <p:nvPr>
            <p:ph type="title"/>
          </p:nvPr>
        </p:nvSpPr>
        <p:spPr/>
        <p:txBody>
          <a:bodyPr/>
          <a:lstStyle/>
          <a:p>
            <a:r>
              <a:rPr lang="en-US" dirty="0"/>
              <a:t>Internal validity</a:t>
            </a:r>
          </a:p>
        </p:txBody>
      </p:sp>
      <p:sp>
        <p:nvSpPr>
          <p:cNvPr id="3" name="Content Placeholder 2">
            <a:extLst>
              <a:ext uri="{FF2B5EF4-FFF2-40B4-BE49-F238E27FC236}">
                <a16:creationId xmlns:a16="http://schemas.microsoft.com/office/drawing/2014/main" id="{3837BEA3-95F3-EDE2-A576-8B2CA1FC774E}"/>
              </a:ext>
            </a:extLst>
          </p:cNvPr>
          <p:cNvSpPr>
            <a:spLocks noGrp="1"/>
          </p:cNvSpPr>
          <p:nvPr>
            <p:ph idx="1"/>
          </p:nvPr>
        </p:nvSpPr>
        <p:spPr>
          <a:xfrm>
            <a:off x="480001" y="1296001"/>
            <a:ext cx="11102399" cy="440034"/>
          </a:xfrm>
        </p:spPr>
        <p:txBody>
          <a:bodyPr/>
          <a:lstStyle/>
          <a:p>
            <a:pPr marL="0" indent="0">
              <a:buNone/>
            </a:pPr>
            <a:r>
              <a:rPr lang="en-US" sz="2800" b="1" dirty="0"/>
              <a:t>Are the observed effects (values of metrics) actually caused by what we think caused them?</a:t>
            </a:r>
            <a:endParaRPr lang="en-US" sz="2800" b="1" dirty="0">
              <a:latin typeface="+mn-lt"/>
            </a:endParaRPr>
          </a:p>
        </p:txBody>
      </p:sp>
      <p:sp>
        <p:nvSpPr>
          <p:cNvPr id="6" name="TextBox 5">
            <a:extLst>
              <a:ext uri="{FF2B5EF4-FFF2-40B4-BE49-F238E27FC236}">
                <a16:creationId xmlns:a16="http://schemas.microsoft.com/office/drawing/2014/main" id="{649B3EBC-116A-0FE6-FF01-79B0AA1B848E}"/>
              </a:ext>
            </a:extLst>
          </p:cNvPr>
          <p:cNvSpPr txBox="1"/>
          <p:nvPr/>
        </p:nvSpPr>
        <p:spPr>
          <a:xfrm>
            <a:off x="480001" y="2125104"/>
            <a:ext cx="11102398" cy="3539430"/>
          </a:xfrm>
          <a:prstGeom prst="rect">
            <a:avLst/>
          </a:prstGeom>
          <a:noFill/>
        </p:spPr>
        <p:txBody>
          <a:bodyPr wrap="square">
            <a:spAutoFit/>
          </a:bodyPr>
          <a:lstStyle/>
          <a:p>
            <a:pPr>
              <a:buNone/>
            </a:pPr>
            <a:r>
              <a:rPr lang="en-US" sz="2800" dirty="0"/>
              <a:t>Differences in watch time are due to the </a:t>
            </a:r>
            <a:r>
              <a:rPr lang="en-US" sz="2800" b="1" dirty="0"/>
              <a:t>new recommendation algorithm</a:t>
            </a:r>
            <a:r>
              <a:rPr lang="en-US" sz="2800" dirty="0"/>
              <a:t>, not:</a:t>
            </a:r>
          </a:p>
          <a:p>
            <a:pPr marL="285750" indent="-285750">
              <a:buFont typeface="Arial" panose="020B0604020202020204" pitchFamily="34" charset="0"/>
              <a:buChar char="•"/>
            </a:pPr>
            <a:r>
              <a:rPr lang="en-US" sz="2800" dirty="0"/>
              <a:t>time of day</a:t>
            </a:r>
          </a:p>
          <a:p>
            <a:pPr marL="285750" indent="-285750">
              <a:buFont typeface="Arial" panose="020B0604020202020204" pitchFamily="34" charset="0"/>
              <a:buChar char="•"/>
            </a:pPr>
            <a:r>
              <a:rPr lang="en-US" sz="2800" dirty="0"/>
              <a:t>user cohort imbalance</a:t>
            </a:r>
          </a:p>
          <a:p>
            <a:pPr marL="285750" indent="-285750">
              <a:buFont typeface="Arial" panose="020B0604020202020204" pitchFamily="34" charset="0"/>
              <a:buChar char="•"/>
            </a:pPr>
            <a:r>
              <a:rPr lang="en-US" sz="2800" dirty="0"/>
              <a:t>novelty effects</a:t>
            </a:r>
          </a:p>
          <a:p>
            <a:pPr marL="285750" indent="-285750">
              <a:buFont typeface="Arial" panose="020B0604020202020204" pitchFamily="34" charset="0"/>
              <a:buChar char="•"/>
            </a:pPr>
            <a:r>
              <a:rPr lang="en-US" sz="2800" dirty="0"/>
              <a:t>logging changes</a:t>
            </a:r>
          </a:p>
          <a:p>
            <a:pPr marL="285750" indent="-285750">
              <a:buFont typeface="Arial" panose="020B0604020202020204" pitchFamily="34" charset="0"/>
              <a:buChar char="•"/>
            </a:pPr>
            <a:endParaRPr lang="en-US" sz="2800" dirty="0"/>
          </a:p>
          <a:p>
            <a:r>
              <a:rPr lang="en-US" sz="2800" b="1" dirty="0"/>
              <a:t>How to ensure that when we conduct an online experiment? </a:t>
            </a:r>
          </a:p>
        </p:txBody>
      </p:sp>
    </p:spTree>
    <p:extLst>
      <p:ext uri="{BB962C8B-B14F-4D97-AF65-F5344CB8AC3E}">
        <p14:creationId xmlns:p14="http://schemas.microsoft.com/office/powerpoint/2010/main" val="3220840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EFC3F0-EFB3-1BEC-4FEF-59887803A967}"/>
              </a:ext>
            </a:extLst>
          </p:cNvPr>
          <p:cNvSpPr>
            <a:spLocks noGrp="1"/>
          </p:cNvSpPr>
          <p:nvPr>
            <p:ph type="title"/>
          </p:nvPr>
        </p:nvSpPr>
        <p:spPr/>
        <p:txBody>
          <a:bodyPr/>
          <a:lstStyle/>
          <a:p>
            <a:r>
              <a:rPr lang="en-US" dirty="0"/>
              <a:t>Lack of Internal Validity</a:t>
            </a:r>
          </a:p>
        </p:txBody>
      </p:sp>
      <p:sp>
        <p:nvSpPr>
          <p:cNvPr id="3" name="Content Placeholder 2">
            <a:extLst>
              <a:ext uri="{FF2B5EF4-FFF2-40B4-BE49-F238E27FC236}">
                <a16:creationId xmlns:a16="http://schemas.microsoft.com/office/drawing/2014/main" id="{05421C88-1CB3-970D-2FE4-3E30343A1E10}"/>
              </a:ext>
            </a:extLst>
          </p:cNvPr>
          <p:cNvSpPr>
            <a:spLocks noGrp="1"/>
          </p:cNvSpPr>
          <p:nvPr>
            <p:ph idx="1"/>
          </p:nvPr>
        </p:nvSpPr>
        <p:spPr/>
        <p:txBody>
          <a:bodyPr/>
          <a:lstStyle/>
          <a:p>
            <a:r>
              <a:rPr lang="en-US" sz="1800" dirty="0"/>
              <a:t>Bias in machine learning algorithms that try to sort resumes/CVs</a:t>
            </a:r>
          </a:p>
          <a:p>
            <a:r>
              <a:rPr lang="en-US" sz="1800" dirty="0"/>
              <a:t>An Instagram video gets more likes because it was posted at 9pm, not because it’s better content.</a:t>
            </a:r>
          </a:p>
          <a:p>
            <a:r>
              <a:rPr lang="en-US" sz="1800" dirty="0"/>
              <a:t>A game update seems to increase playtime, but it launched during school holidays.</a:t>
            </a:r>
          </a:p>
        </p:txBody>
      </p:sp>
      <p:pic>
        <p:nvPicPr>
          <p:cNvPr id="63490" name="Picture 2" descr="Understanding the Hawthorne Effect: Definition, Impact, and Reality">
            <a:extLst>
              <a:ext uri="{FF2B5EF4-FFF2-40B4-BE49-F238E27FC236}">
                <a16:creationId xmlns:a16="http://schemas.microsoft.com/office/drawing/2014/main" id="{7145E6B0-972B-84E3-177B-CAA3B775A4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2770" y="2499360"/>
            <a:ext cx="4800397" cy="3241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64301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34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1FE5F-0DE7-667C-6320-3D2977C87D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E6489A-7B4E-5A9D-1732-F0023D7A91FE}"/>
              </a:ext>
            </a:extLst>
          </p:cNvPr>
          <p:cNvSpPr>
            <a:spLocks noGrp="1"/>
          </p:cNvSpPr>
          <p:nvPr>
            <p:ph type="title"/>
          </p:nvPr>
        </p:nvSpPr>
        <p:spPr/>
        <p:txBody>
          <a:bodyPr/>
          <a:lstStyle/>
          <a:p>
            <a:r>
              <a:rPr lang="en-US" dirty="0"/>
              <a:t>External validity</a:t>
            </a:r>
          </a:p>
        </p:txBody>
      </p:sp>
      <p:sp>
        <p:nvSpPr>
          <p:cNvPr id="3" name="Content Placeholder 2">
            <a:extLst>
              <a:ext uri="{FF2B5EF4-FFF2-40B4-BE49-F238E27FC236}">
                <a16:creationId xmlns:a16="http://schemas.microsoft.com/office/drawing/2014/main" id="{E78F45B0-4E60-BB02-71CA-6FFE3886ADB2}"/>
              </a:ext>
            </a:extLst>
          </p:cNvPr>
          <p:cNvSpPr>
            <a:spLocks noGrp="1"/>
          </p:cNvSpPr>
          <p:nvPr>
            <p:ph idx="1"/>
          </p:nvPr>
        </p:nvSpPr>
        <p:spPr>
          <a:xfrm>
            <a:off x="480001" y="1296001"/>
            <a:ext cx="11102399" cy="440034"/>
          </a:xfrm>
        </p:spPr>
        <p:txBody>
          <a:bodyPr/>
          <a:lstStyle/>
          <a:p>
            <a:pPr marL="0" indent="0">
              <a:buNone/>
            </a:pPr>
            <a:r>
              <a:rPr lang="en-US" sz="3200" b="1" dirty="0"/>
              <a:t>Do the conclusions from this study actually generalize to target population?</a:t>
            </a:r>
            <a:endParaRPr lang="en-US" sz="3200" b="1" dirty="0">
              <a:latin typeface="+mn-lt"/>
            </a:endParaRPr>
          </a:p>
        </p:txBody>
      </p:sp>
      <p:sp>
        <p:nvSpPr>
          <p:cNvPr id="6" name="TextBox 5">
            <a:extLst>
              <a:ext uri="{FF2B5EF4-FFF2-40B4-BE49-F238E27FC236}">
                <a16:creationId xmlns:a16="http://schemas.microsoft.com/office/drawing/2014/main" id="{9754A85F-EAD1-B77E-9B4C-86E16FFBCD86}"/>
              </a:ext>
            </a:extLst>
          </p:cNvPr>
          <p:cNvSpPr txBox="1"/>
          <p:nvPr/>
        </p:nvSpPr>
        <p:spPr>
          <a:xfrm>
            <a:off x="480001" y="2264001"/>
            <a:ext cx="11102398" cy="3046988"/>
          </a:xfrm>
          <a:prstGeom prst="rect">
            <a:avLst/>
          </a:prstGeom>
          <a:noFill/>
        </p:spPr>
        <p:txBody>
          <a:bodyPr wrap="square">
            <a:spAutoFit/>
          </a:bodyPr>
          <a:lstStyle/>
          <a:p>
            <a:pPr marL="285750" indent="-285750">
              <a:buFont typeface="Arial" panose="020B0604020202020204" pitchFamily="34" charset="0"/>
              <a:buChar char="•"/>
            </a:pPr>
            <a:r>
              <a:rPr lang="en-US" sz="3200" dirty="0"/>
              <a:t>We evaluate our video recommendation algorithm on a sample of users</a:t>
            </a:r>
          </a:p>
          <a:p>
            <a:pPr marL="285750" indent="-285750">
              <a:buFont typeface="Arial" panose="020B0604020202020204" pitchFamily="34" charset="0"/>
              <a:buChar char="•"/>
            </a:pPr>
            <a:r>
              <a:rPr lang="en-US" sz="3200" dirty="0"/>
              <a:t>We expect the observed performance to generalize to all users after launch</a:t>
            </a:r>
          </a:p>
          <a:p>
            <a:endParaRPr lang="en-US" sz="3200" dirty="0"/>
          </a:p>
          <a:p>
            <a:r>
              <a:rPr lang="en-US" sz="3200" b="1" dirty="0"/>
              <a:t>How to ensure that when we conduct an online experiment? </a:t>
            </a:r>
          </a:p>
        </p:txBody>
      </p:sp>
    </p:spTree>
    <p:extLst>
      <p:ext uri="{BB962C8B-B14F-4D97-AF65-F5344CB8AC3E}">
        <p14:creationId xmlns:p14="http://schemas.microsoft.com/office/powerpoint/2010/main" val="3220557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B4BA0-FDCB-E663-CE10-7F8E9AFF80D9}"/>
              </a:ext>
            </a:extLst>
          </p:cNvPr>
          <p:cNvSpPr>
            <a:spLocks noGrp="1"/>
          </p:cNvSpPr>
          <p:nvPr>
            <p:ph type="title"/>
          </p:nvPr>
        </p:nvSpPr>
        <p:spPr/>
        <p:txBody>
          <a:bodyPr/>
          <a:lstStyle/>
          <a:p>
            <a:r>
              <a:rPr lang="en-US" dirty="0"/>
              <a:t>Lack of External Validity</a:t>
            </a:r>
          </a:p>
        </p:txBody>
      </p:sp>
      <p:sp>
        <p:nvSpPr>
          <p:cNvPr id="3" name="Content Placeholder 2">
            <a:extLst>
              <a:ext uri="{FF2B5EF4-FFF2-40B4-BE49-F238E27FC236}">
                <a16:creationId xmlns:a16="http://schemas.microsoft.com/office/drawing/2014/main" id="{0E2EA611-1944-91A2-3B6C-834537D7595D}"/>
              </a:ext>
            </a:extLst>
          </p:cNvPr>
          <p:cNvSpPr>
            <a:spLocks noGrp="1"/>
          </p:cNvSpPr>
          <p:nvPr>
            <p:ph idx="1"/>
          </p:nvPr>
        </p:nvSpPr>
        <p:spPr/>
        <p:txBody>
          <a:bodyPr/>
          <a:lstStyle/>
          <a:p>
            <a:r>
              <a:rPr lang="en-US" sz="4000" dirty="0"/>
              <a:t>If in a survey to assess dietary choices, we only polled men.</a:t>
            </a:r>
          </a:p>
          <a:p>
            <a:r>
              <a:rPr lang="en-US" sz="4000" dirty="0"/>
              <a:t>Or, if we are testing a new drug, but only tested them on mice. Might be good at judging the study population, but not the target population.</a:t>
            </a:r>
          </a:p>
          <a:p>
            <a:pPr marL="0" indent="0">
              <a:buNone/>
            </a:pPr>
            <a:endParaRPr lang="en-US" sz="1800" dirty="0"/>
          </a:p>
        </p:txBody>
      </p:sp>
    </p:spTree>
    <p:extLst>
      <p:ext uri="{BB962C8B-B14F-4D97-AF65-F5344CB8AC3E}">
        <p14:creationId xmlns:p14="http://schemas.microsoft.com/office/powerpoint/2010/main" val="20389048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E3E70-8E0F-63BB-A938-01CF1DE633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1DF01C-EBF2-5516-EFFD-D81F7844BFC2}"/>
              </a:ext>
            </a:extLst>
          </p:cNvPr>
          <p:cNvSpPr>
            <a:spLocks noGrp="1"/>
          </p:cNvSpPr>
          <p:nvPr>
            <p:ph type="title"/>
          </p:nvPr>
        </p:nvSpPr>
        <p:spPr/>
        <p:txBody>
          <a:bodyPr/>
          <a:lstStyle/>
          <a:p>
            <a:r>
              <a:rPr lang="en-US" dirty="0"/>
              <a:t>Shark attacks and Ice Cream</a:t>
            </a:r>
          </a:p>
        </p:txBody>
      </p:sp>
      <p:pic>
        <p:nvPicPr>
          <p:cNvPr id="1026" name="Picture 2" descr="Image">
            <a:extLst>
              <a:ext uri="{FF2B5EF4-FFF2-40B4-BE49-F238E27FC236}">
                <a16:creationId xmlns:a16="http://schemas.microsoft.com/office/drawing/2014/main" id="{D8C36C51-95F4-EA8D-0FD5-6E61F3759F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1838" y="1600691"/>
            <a:ext cx="4488323" cy="4488323"/>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CEA41A6-1307-B5E9-6FD1-798932AF8463}"/>
              </a:ext>
            </a:extLst>
          </p:cNvPr>
          <p:cNvSpPr txBox="1"/>
          <p:nvPr/>
        </p:nvSpPr>
        <p:spPr>
          <a:xfrm>
            <a:off x="9869214" y="6519446"/>
            <a:ext cx="2774731" cy="338554"/>
          </a:xfrm>
          <a:prstGeom prst="rect">
            <a:avLst/>
          </a:prstGeom>
          <a:noFill/>
        </p:spPr>
        <p:txBody>
          <a:bodyPr wrap="square" rtlCol="0">
            <a:spAutoFit/>
          </a:bodyPr>
          <a:lstStyle/>
          <a:p>
            <a:r>
              <a:rPr lang="en-US" sz="1600" i="1" dirty="0"/>
              <a:t>Unbiased Science Podcast</a:t>
            </a:r>
          </a:p>
        </p:txBody>
      </p:sp>
    </p:spTree>
    <p:extLst>
      <p:ext uri="{BB962C8B-B14F-4D97-AF65-F5344CB8AC3E}">
        <p14:creationId xmlns:p14="http://schemas.microsoft.com/office/powerpoint/2010/main" val="2020148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5C506-09AE-138F-BDD0-E652DE30BF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A2FE1-F44C-20D4-3829-520B89879683}"/>
              </a:ext>
            </a:extLst>
          </p:cNvPr>
          <p:cNvSpPr>
            <a:spLocks noGrp="1"/>
          </p:cNvSpPr>
          <p:nvPr>
            <p:ph type="title"/>
          </p:nvPr>
        </p:nvSpPr>
        <p:spPr/>
        <p:txBody>
          <a:bodyPr/>
          <a:lstStyle/>
          <a:p>
            <a:r>
              <a:rPr lang="nl-NL" dirty="0" err="1"/>
              <a:t>Interesting</a:t>
            </a:r>
            <a:r>
              <a:rPr lang="nl-NL" dirty="0"/>
              <a:t> </a:t>
            </a:r>
            <a:r>
              <a:rPr lang="nl-NL" dirty="0" err="1"/>
              <a:t>correlations</a:t>
            </a:r>
            <a:endParaRPr lang="en-US" dirty="0"/>
          </a:p>
        </p:txBody>
      </p:sp>
      <p:sp>
        <p:nvSpPr>
          <p:cNvPr id="6" name="TextBox 5">
            <a:extLst>
              <a:ext uri="{FF2B5EF4-FFF2-40B4-BE49-F238E27FC236}">
                <a16:creationId xmlns:a16="http://schemas.microsoft.com/office/drawing/2014/main" id="{C4423C29-6F03-ED98-4FAD-333465801317}"/>
              </a:ext>
            </a:extLst>
          </p:cNvPr>
          <p:cNvSpPr txBox="1"/>
          <p:nvPr/>
        </p:nvSpPr>
        <p:spPr>
          <a:xfrm>
            <a:off x="9280634" y="6519446"/>
            <a:ext cx="3195145" cy="338554"/>
          </a:xfrm>
          <a:prstGeom prst="rect">
            <a:avLst/>
          </a:prstGeom>
          <a:noFill/>
        </p:spPr>
        <p:txBody>
          <a:bodyPr wrap="square" rtlCol="0">
            <a:spAutoFit/>
          </a:bodyPr>
          <a:lstStyle/>
          <a:p>
            <a:r>
              <a:rPr lang="en-US" sz="1600" i="1" dirty="0">
                <a:hlinkClick r:id="rId2"/>
              </a:rPr>
              <a:t>Tyler Vigen: Spurious Correlations</a:t>
            </a:r>
            <a:endParaRPr lang="en-US" sz="1600" i="1" dirty="0"/>
          </a:p>
        </p:txBody>
      </p:sp>
      <p:pic>
        <p:nvPicPr>
          <p:cNvPr id="10" name="Picture 9">
            <a:extLst>
              <a:ext uri="{FF2B5EF4-FFF2-40B4-BE49-F238E27FC236}">
                <a16:creationId xmlns:a16="http://schemas.microsoft.com/office/drawing/2014/main" id="{D0F9B56D-13F7-2838-DDDB-226CE7B754A1}"/>
              </a:ext>
            </a:extLst>
          </p:cNvPr>
          <p:cNvPicPr>
            <a:picLocks noChangeAspect="1"/>
          </p:cNvPicPr>
          <p:nvPr/>
        </p:nvPicPr>
        <p:blipFill>
          <a:blip r:embed="rId3"/>
          <a:stretch>
            <a:fillRect/>
          </a:stretch>
        </p:blipFill>
        <p:spPr>
          <a:xfrm>
            <a:off x="1473828" y="2261767"/>
            <a:ext cx="4417914" cy="3166172"/>
          </a:xfrm>
          <a:prstGeom prst="rect">
            <a:avLst/>
          </a:prstGeom>
        </p:spPr>
      </p:pic>
      <p:pic>
        <p:nvPicPr>
          <p:cNvPr id="11" name="Content Placeholder 4" descr="A graph with a line and a line&#10;&#10;Description automatically generated">
            <a:extLst>
              <a:ext uri="{FF2B5EF4-FFF2-40B4-BE49-F238E27FC236}">
                <a16:creationId xmlns:a16="http://schemas.microsoft.com/office/drawing/2014/main" id="{158DD27D-A804-6C34-EDA6-D9C5BF03E328}"/>
              </a:ext>
            </a:extLst>
          </p:cNvPr>
          <p:cNvPicPr>
            <a:picLocks noGrp="1" noChangeAspect="1"/>
          </p:cNvPicPr>
          <p:nvPr>
            <p:ph idx="1"/>
          </p:nvPr>
        </p:nvPicPr>
        <p:blipFill>
          <a:blip r:embed="rId4"/>
          <a:stretch>
            <a:fillRect/>
          </a:stretch>
        </p:blipFill>
        <p:spPr>
          <a:xfrm>
            <a:off x="6046035" y="2261767"/>
            <a:ext cx="5266878" cy="3166172"/>
          </a:xfrm>
        </p:spPr>
      </p:pic>
      <p:sp>
        <p:nvSpPr>
          <p:cNvPr id="12" name="Content Placeholder 2">
            <a:extLst>
              <a:ext uri="{FF2B5EF4-FFF2-40B4-BE49-F238E27FC236}">
                <a16:creationId xmlns:a16="http://schemas.microsoft.com/office/drawing/2014/main" id="{16233871-482B-1117-7916-1C73BBF4068F}"/>
              </a:ext>
            </a:extLst>
          </p:cNvPr>
          <p:cNvSpPr txBox="1">
            <a:spLocks/>
          </p:cNvSpPr>
          <p:nvPr/>
        </p:nvSpPr>
        <p:spPr>
          <a:xfrm>
            <a:off x="480000" y="1191944"/>
            <a:ext cx="11102399" cy="75600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b="1" dirty="0"/>
              <a:t>What is correlation? What is causation?</a:t>
            </a:r>
          </a:p>
        </p:txBody>
      </p:sp>
    </p:spTree>
    <p:extLst>
      <p:ext uri="{BB962C8B-B14F-4D97-AF65-F5344CB8AC3E}">
        <p14:creationId xmlns:p14="http://schemas.microsoft.com/office/powerpoint/2010/main" val="2621903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F141A-108A-5CDA-8BC3-97D2F8F5D8F6}"/>
              </a:ext>
            </a:extLst>
          </p:cNvPr>
          <p:cNvSpPr>
            <a:spLocks noGrp="1"/>
          </p:cNvSpPr>
          <p:nvPr>
            <p:ph type="title"/>
          </p:nvPr>
        </p:nvSpPr>
        <p:spPr/>
        <p:txBody>
          <a:bodyPr/>
          <a:lstStyle/>
          <a:p>
            <a:r>
              <a:rPr lang="en-US" dirty="0"/>
              <a:t>Correlations types </a:t>
            </a:r>
          </a:p>
        </p:txBody>
      </p:sp>
      <p:sp>
        <p:nvSpPr>
          <p:cNvPr id="4" name="Content Placeholder 2">
            <a:extLst>
              <a:ext uri="{FF2B5EF4-FFF2-40B4-BE49-F238E27FC236}">
                <a16:creationId xmlns:a16="http://schemas.microsoft.com/office/drawing/2014/main" id="{B2E6E422-0153-6ADF-84C5-794A0886402D}"/>
              </a:ext>
            </a:extLst>
          </p:cNvPr>
          <p:cNvSpPr txBox="1">
            <a:spLocks noGrp="1"/>
          </p:cNvSpPr>
          <p:nvPr>
            <p:ph idx="1"/>
          </p:nvPr>
        </p:nvSpPr>
        <p:spPr>
          <a:xfrm>
            <a:off x="479998" y="2528144"/>
            <a:ext cx="11102399" cy="58855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800" dirty="0"/>
              <a:t>How do we quantify correlation between variables:</a:t>
            </a:r>
          </a:p>
          <a:p>
            <a:r>
              <a:rPr lang="en-US" sz="2800" dirty="0"/>
              <a:t>Pearson’s correlation: measures </a:t>
            </a:r>
            <a:r>
              <a:rPr lang="en-US" sz="2800" i="1" dirty="0"/>
              <a:t>linear</a:t>
            </a:r>
            <a:r>
              <a:rPr lang="en-US" sz="2800" dirty="0"/>
              <a:t> relationships</a:t>
            </a:r>
          </a:p>
          <a:p>
            <a:r>
              <a:rPr lang="en-US" sz="2800" dirty="0"/>
              <a:t>Spearman’s correlation: measures </a:t>
            </a:r>
            <a:r>
              <a:rPr lang="en-US" sz="2800" i="1" dirty="0"/>
              <a:t>monotonic</a:t>
            </a:r>
            <a:r>
              <a:rPr lang="en-US" sz="2800" dirty="0"/>
              <a:t> relationships using ranks</a:t>
            </a:r>
          </a:p>
        </p:txBody>
      </p:sp>
      <p:sp>
        <p:nvSpPr>
          <p:cNvPr id="3" name="Content Placeholder 2">
            <a:extLst>
              <a:ext uri="{FF2B5EF4-FFF2-40B4-BE49-F238E27FC236}">
                <a16:creationId xmlns:a16="http://schemas.microsoft.com/office/drawing/2014/main" id="{18888A3A-6A59-3C71-ACB1-9C133C283E3B}"/>
              </a:ext>
            </a:extLst>
          </p:cNvPr>
          <p:cNvSpPr txBox="1">
            <a:spLocks/>
          </p:cNvSpPr>
          <p:nvPr/>
        </p:nvSpPr>
        <p:spPr>
          <a:xfrm>
            <a:off x="479999" y="1253982"/>
            <a:ext cx="11102399" cy="58855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800" b="1" dirty="0"/>
              <a:t>Correlation is a statistical measure expressing the extent to which two variables </a:t>
            </a:r>
            <a:r>
              <a:rPr lang="en-US" sz="2800" b="1" i="1" dirty="0"/>
              <a:t>relate</a:t>
            </a:r>
            <a:r>
              <a:rPr lang="en-US" sz="2800" b="1" dirty="0"/>
              <a:t> and </a:t>
            </a:r>
            <a:r>
              <a:rPr lang="en-US" sz="2800" b="1" i="1" dirty="0"/>
              <a:t>change</a:t>
            </a:r>
            <a:r>
              <a:rPr lang="en-US" sz="2800" b="1" dirty="0"/>
              <a:t> together. </a:t>
            </a:r>
          </a:p>
        </p:txBody>
      </p:sp>
    </p:spTree>
    <p:extLst>
      <p:ext uri="{BB962C8B-B14F-4D97-AF65-F5344CB8AC3E}">
        <p14:creationId xmlns:p14="http://schemas.microsoft.com/office/powerpoint/2010/main" val="3544353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1"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E596A-258D-FC25-702F-050B754D0E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6E15D4-CC84-CCEA-C5C2-19F0B71184E1}"/>
              </a:ext>
            </a:extLst>
          </p:cNvPr>
          <p:cNvSpPr>
            <a:spLocks noGrp="1"/>
          </p:cNvSpPr>
          <p:nvPr>
            <p:ph type="title"/>
          </p:nvPr>
        </p:nvSpPr>
        <p:spPr/>
        <p:txBody>
          <a:bodyPr/>
          <a:lstStyle/>
          <a:p>
            <a:r>
              <a:rPr lang="en-US" dirty="0"/>
              <a:t>Covariance</a:t>
            </a:r>
          </a:p>
        </p:txBody>
      </p:sp>
      <p:sp>
        <p:nvSpPr>
          <p:cNvPr id="3" name="Content Placeholder 2">
            <a:extLst>
              <a:ext uri="{FF2B5EF4-FFF2-40B4-BE49-F238E27FC236}">
                <a16:creationId xmlns:a16="http://schemas.microsoft.com/office/drawing/2014/main" id="{D0EE8C1A-4021-F9D2-E314-9F64B36D94EB}"/>
              </a:ext>
            </a:extLst>
          </p:cNvPr>
          <p:cNvSpPr txBox="1">
            <a:spLocks noGrp="1"/>
          </p:cNvSpPr>
          <p:nvPr>
            <p:ph idx="1"/>
          </p:nvPr>
        </p:nvSpPr>
        <p:spPr>
          <a:xfrm>
            <a:off x="579863" y="1296000"/>
            <a:ext cx="11002537" cy="1815189"/>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nl-NL" sz="2000" dirty="0" err="1"/>
              <a:t>Co</a:t>
            </a:r>
            <a:r>
              <a:rPr lang="nl-NL" sz="2000" b="1" dirty="0" err="1"/>
              <a:t>variance</a:t>
            </a:r>
            <a:r>
              <a:rPr lang="nl-NL" sz="2000" b="1" dirty="0"/>
              <a:t>: </a:t>
            </a:r>
            <a:r>
              <a:rPr lang="en-US" sz="2000" dirty="0"/>
              <a:t>how do variables vary together?</a:t>
            </a:r>
          </a:p>
          <a:p>
            <a:r>
              <a:rPr lang="en-US" sz="2000" dirty="0"/>
              <a:t>Measures whether two variables increase or decrease </a:t>
            </a:r>
            <a:r>
              <a:rPr lang="en-US" sz="2000" b="1" dirty="0"/>
              <a:t>together</a:t>
            </a:r>
          </a:p>
          <a:p>
            <a:pPr lvl="1"/>
            <a:r>
              <a:rPr lang="en-US" sz="2000" dirty="0"/>
              <a:t>Positive: move in the same direction</a:t>
            </a:r>
          </a:p>
          <a:p>
            <a:pPr lvl="1"/>
            <a:r>
              <a:rPr lang="en-US" sz="2000" dirty="0"/>
              <a:t>Negative: move in different directions</a:t>
            </a:r>
          </a:p>
          <a:p>
            <a:pPr lvl="1"/>
            <a:r>
              <a:rPr lang="en-US" sz="2000" dirty="0"/>
              <a:t>Zero: no linear movement</a:t>
            </a:r>
          </a:p>
        </p:txBody>
      </p:sp>
      <p:sp>
        <p:nvSpPr>
          <p:cNvPr id="6" name="Content Placeholder 2">
            <a:extLst>
              <a:ext uri="{FF2B5EF4-FFF2-40B4-BE49-F238E27FC236}">
                <a16:creationId xmlns:a16="http://schemas.microsoft.com/office/drawing/2014/main" id="{D7B16568-9885-C494-B3B1-966B89704AA1}"/>
              </a:ext>
            </a:extLst>
          </p:cNvPr>
          <p:cNvSpPr txBox="1">
            <a:spLocks/>
          </p:cNvSpPr>
          <p:nvPr/>
        </p:nvSpPr>
        <p:spPr>
          <a:xfrm>
            <a:off x="594731" y="3321805"/>
            <a:ext cx="11002537" cy="1815189"/>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nl-NL" sz="2000" dirty="0" err="1"/>
              <a:t>Recap</a:t>
            </a:r>
            <a:r>
              <a:rPr lang="nl-NL" sz="2000" dirty="0"/>
              <a:t>: Sample </a:t>
            </a:r>
            <a:r>
              <a:rPr lang="nl-NL" sz="2000" dirty="0" err="1"/>
              <a:t>variance</a:t>
            </a:r>
            <a:endParaRPr lang="en-US" sz="2000" dirty="0"/>
          </a:p>
        </p:txBody>
      </p:sp>
      <p:sp>
        <p:nvSpPr>
          <p:cNvPr id="13" name="Content Placeholder 2">
            <a:extLst>
              <a:ext uri="{FF2B5EF4-FFF2-40B4-BE49-F238E27FC236}">
                <a16:creationId xmlns:a16="http://schemas.microsoft.com/office/drawing/2014/main" id="{C0CEED2D-663C-7115-7ED9-5ABEB0D97BE1}"/>
              </a:ext>
            </a:extLst>
          </p:cNvPr>
          <p:cNvSpPr txBox="1">
            <a:spLocks/>
          </p:cNvSpPr>
          <p:nvPr/>
        </p:nvSpPr>
        <p:spPr>
          <a:xfrm>
            <a:off x="594731" y="4926814"/>
            <a:ext cx="5804261"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buFont typeface="Arial"/>
              <a:buNone/>
            </a:pPr>
            <a:r>
              <a:rPr lang="en-US" sz="2000" dirty="0"/>
              <a:t>How far are </a:t>
            </a:r>
            <a:r>
              <a:rPr lang="en-US" sz="2000" b="1" dirty="0">
                <a:solidFill>
                  <a:schemeClr val="accent2"/>
                </a:solidFill>
              </a:rPr>
              <a:t>measurements</a:t>
            </a:r>
            <a:r>
              <a:rPr lang="en-US" sz="2000" dirty="0"/>
              <a:t> from </a:t>
            </a:r>
            <a:r>
              <a:rPr lang="en-US" sz="2000" b="1" dirty="0"/>
              <a:t>population mean</a:t>
            </a:r>
          </a:p>
        </p:txBody>
      </p:sp>
      <p:cxnSp>
        <p:nvCxnSpPr>
          <p:cNvPr id="14" name="Straight Arrow Connector 13">
            <a:extLst>
              <a:ext uri="{FF2B5EF4-FFF2-40B4-BE49-F238E27FC236}">
                <a16:creationId xmlns:a16="http://schemas.microsoft.com/office/drawing/2014/main" id="{087E72EC-6C8B-BD29-D12B-2AB5559D376F}"/>
              </a:ext>
            </a:extLst>
          </p:cNvPr>
          <p:cNvCxnSpPr>
            <a:cxnSpLocks/>
          </p:cNvCxnSpPr>
          <p:nvPr/>
        </p:nvCxnSpPr>
        <p:spPr>
          <a:xfrm flipV="1">
            <a:off x="3216009" y="4573523"/>
            <a:ext cx="339976" cy="35329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5" name="Straight Arrow Connector 14">
            <a:extLst>
              <a:ext uri="{FF2B5EF4-FFF2-40B4-BE49-F238E27FC236}">
                <a16:creationId xmlns:a16="http://schemas.microsoft.com/office/drawing/2014/main" id="{111D73BB-11F0-0032-E09C-B35BC53FD509}"/>
              </a:ext>
            </a:extLst>
          </p:cNvPr>
          <p:cNvCxnSpPr>
            <a:cxnSpLocks/>
          </p:cNvCxnSpPr>
          <p:nvPr/>
        </p:nvCxnSpPr>
        <p:spPr>
          <a:xfrm flipH="1" flipV="1">
            <a:off x="4175081" y="4573523"/>
            <a:ext cx="686848" cy="353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7" name="Picture 2">
            <a:extLst>
              <a:ext uri="{FF2B5EF4-FFF2-40B4-BE49-F238E27FC236}">
                <a16:creationId xmlns:a16="http://schemas.microsoft.com/office/drawing/2014/main" id="{02F6B3CF-B948-FC35-7D19-27715C210C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2878" y="4031388"/>
            <a:ext cx="2839335" cy="749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4703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P spid="1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30DBD-9E22-D580-03CE-1BA1E75E9E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462EB-2FC7-5D79-6838-1FD4272DE0DC}"/>
              </a:ext>
            </a:extLst>
          </p:cNvPr>
          <p:cNvSpPr>
            <a:spLocks noGrp="1"/>
          </p:cNvSpPr>
          <p:nvPr>
            <p:ph type="title"/>
          </p:nvPr>
        </p:nvSpPr>
        <p:spPr/>
        <p:txBody>
          <a:bodyPr/>
          <a:lstStyle/>
          <a:p>
            <a:r>
              <a:rPr lang="en-US" dirty="0"/>
              <a:t>Covariance</a:t>
            </a:r>
          </a:p>
        </p:txBody>
      </p:sp>
      <p:sp>
        <p:nvSpPr>
          <p:cNvPr id="6" name="Content Placeholder 2">
            <a:extLst>
              <a:ext uri="{FF2B5EF4-FFF2-40B4-BE49-F238E27FC236}">
                <a16:creationId xmlns:a16="http://schemas.microsoft.com/office/drawing/2014/main" id="{90F5B2F3-F8AB-4A3D-4666-8D9C69C2BD0E}"/>
              </a:ext>
            </a:extLst>
          </p:cNvPr>
          <p:cNvSpPr txBox="1">
            <a:spLocks/>
          </p:cNvSpPr>
          <p:nvPr/>
        </p:nvSpPr>
        <p:spPr>
          <a:xfrm>
            <a:off x="480001" y="1170260"/>
            <a:ext cx="11002537"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nl-NL" sz="2000" dirty="0" err="1"/>
              <a:t>Recap</a:t>
            </a:r>
            <a:r>
              <a:rPr lang="nl-NL" sz="2000" dirty="0"/>
              <a:t>: Sample </a:t>
            </a:r>
            <a:r>
              <a:rPr lang="nl-NL" sz="2000" dirty="0" err="1"/>
              <a:t>variance</a:t>
            </a:r>
            <a:endParaRPr lang="en-US" sz="2000" dirty="0"/>
          </a:p>
        </p:txBody>
      </p:sp>
      <p:sp>
        <p:nvSpPr>
          <p:cNvPr id="13" name="Content Placeholder 2">
            <a:extLst>
              <a:ext uri="{FF2B5EF4-FFF2-40B4-BE49-F238E27FC236}">
                <a16:creationId xmlns:a16="http://schemas.microsoft.com/office/drawing/2014/main" id="{015BB8F1-4DE5-7096-1D21-121DDB7616A1}"/>
              </a:ext>
            </a:extLst>
          </p:cNvPr>
          <p:cNvSpPr txBox="1">
            <a:spLocks/>
          </p:cNvSpPr>
          <p:nvPr/>
        </p:nvSpPr>
        <p:spPr>
          <a:xfrm>
            <a:off x="480001" y="2775268"/>
            <a:ext cx="5804261"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buFont typeface="Arial"/>
              <a:buNone/>
            </a:pPr>
            <a:r>
              <a:rPr lang="en-US" sz="2000" dirty="0"/>
              <a:t>How far are </a:t>
            </a:r>
            <a:r>
              <a:rPr lang="en-US" sz="2000" b="1" dirty="0">
                <a:solidFill>
                  <a:schemeClr val="accent2"/>
                </a:solidFill>
              </a:rPr>
              <a:t>measurements</a:t>
            </a:r>
            <a:r>
              <a:rPr lang="en-US" sz="2000" dirty="0"/>
              <a:t> from </a:t>
            </a:r>
            <a:r>
              <a:rPr lang="en-US" sz="2000" b="1" dirty="0"/>
              <a:t>population mean</a:t>
            </a:r>
          </a:p>
        </p:txBody>
      </p:sp>
      <p:cxnSp>
        <p:nvCxnSpPr>
          <p:cNvPr id="14" name="Straight Arrow Connector 13">
            <a:extLst>
              <a:ext uri="{FF2B5EF4-FFF2-40B4-BE49-F238E27FC236}">
                <a16:creationId xmlns:a16="http://schemas.microsoft.com/office/drawing/2014/main" id="{0476BD87-E9B1-2F53-8326-DC41FAB1356F}"/>
              </a:ext>
            </a:extLst>
          </p:cNvPr>
          <p:cNvCxnSpPr>
            <a:cxnSpLocks/>
          </p:cNvCxnSpPr>
          <p:nvPr/>
        </p:nvCxnSpPr>
        <p:spPr>
          <a:xfrm flipV="1">
            <a:off x="3101279" y="2421977"/>
            <a:ext cx="339976" cy="35329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5" name="Straight Arrow Connector 14">
            <a:extLst>
              <a:ext uri="{FF2B5EF4-FFF2-40B4-BE49-F238E27FC236}">
                <a16:creationId xmlns:a16="http://schemas.microsoft.com/office/drawing/2014/main" id="{E1746AB6-5B6F-9C23-94B7-8F6F3312BB51}"/>
              </a:ext>
            </a:extLst>
          </p:cNvPr>
          <p:cNvCxnSpPr>
            <a:cxnSpLocks/>
          </p:cNvCxnSpPr>
          <p:nvPr/>
        </p:nvCxnSpPr>
        <p:spPr>
          <a:xfrm flipH="1" flipV="1">
            <a:off x="4060351" y="2421977"/>
            <a:ext cx="686848" cy="353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7" name="Picture 2">
            <a:extLst>
              <a:ext uri="{FF2B5EF4-FFF2-40B4-BE49-F238E27FC236}">
                <a16:creationId xmlns:a16="http://schemas.microsoft.com/office/drawing/2014/main" id="{33BD6196-6F86-2EE8-3217-CE928507A6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8148" y="1879842"/>
            <a:ext cx="2839335" cy="749751"/>
          </a:xfrm>
          <a:prstGeom prst="rect">
            <a:avLst/>
          </a:prstGeom>
          <a:noFill/>
          <a:extLst>
            <a:ext uri="{909E8E84-426E-40DD-AFC4-6F175D3DCCD1}">
              <a14:hiddenFill xmlns:a14="http://schemas.microsoft.com/office/drawing/2010/main">
                <a:solidFill>
                  <a:srgbClr val="FFFFFF"/>
                </a:solidFill>
              </a14:hiddenFill>
            </a:ext>
          </a:extLst>
        </p:spPr>
      </p:pic>
      <p:sp>
        <p:nvSpPr>
          <p:cNvPr id="16" name="Content Placeholder 2">
            <a:extLst>
              <a:ext uri="{FF2B5EF4-FFF2-40B4-BE49-F238E27FC236}">
                <a16:creationId xmlns:a16="http://schemas.microsoft.com/office/drawing/2014/main" id="{3D8F370C-116E-32CE-F4BC-00210629F617}"/>
              </a:ext>
            </a:extLst>
          </p:cNvPr>
          <p:cNvSpPr txBox="1">
            <a:spLocks/>
          </p:cNvSpPr>
          <p:nvPr/>
        </p:nvSpPr>
        <p:spPr>
          <a:xfrm>
            <a:off x="480001" y="3321806"/>
            <a:ext cx="11117267"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nl-NL" sz="2000" dirty="0" err="1"/>
              <a:t>Average</a:t>
            </a:r>
            <a:r>
              <a:rPr lang="nl-NL" sz="2000" dirty="0"/>
              <a:t> </a:t>
            </a:r>
            <a:r>
              <a:rPr lang="nl-NL" sz="2000" dirty="0" err="1"/>
              <a:t>watching</a:t>
            </a:r>
            <a:r>
              <a:rPr lang="nl-NL" sz="2000" dirty="0"/>
              <a:t> </a:t>
            </a:r>
            <a:r>
              <a:rPr lang="nl-NL" sz="2000" dirty="0" err="1"/>
              <a:t>session</a:t>
            </a:r>
            <a:r>
              <a:rPr lang="nl-NL" sz="2000" dirty="0"/>
              <a:t> </a:t>
            </a:r>
            <a:r>
              <a:rPr lang="nl-NL" sz="2000" dirty="0" err="1"/>
              <a:t>length</a:t>
            </a:r>
            <a:r>
              <a:rPr lang="nl-NL" sz="2000" dirty="0"/>
              <a:t> </a:t>
            </a:r>
            <a:r>
              <a:rPr lang="nl-NL" sz="2000" dirty="0" err="1"/>
              <a:t>vs</a:t>
            </a:r>
            <a:r>
              <a:rPr lang="nl-NL" sz="2000" dirty="0"/>
              <a:t> </a:t>
            </a:r>
            <a:r>
              <a:rPr lang="nl-NL" sz="2000" dirty="0" err="1"/>
              <a:t>number</a:t>
            </a:r>
            <a:r>
              <a:rPr lang="nl-NL" sz="2000" dirty="0"/>
              <a:t> of ad clicks: </a:t>
            </a:r>
            <a:r>
              <a:rPr lang="nl-NL" sz="2000" dirty="0" err="1"/>
              <a:t>how</a:t>
            </a:r>
            <a:r>
              <a:rPr lang="nl-NL" sz="2000" dirty="0"/>
              <a:t> do we </a:t>
            </a:r>
            <a:r>
              <a:rPr lang="nl-NL" sz="2000" dirty="0" err="1"/>
              <a:t>compute</a:t>
            </a:r>
            <a:r>
              <a:rPr lang="nl-NL" sz="2000" dirty="0"/>
              <a:t> </a:t>
            </a:r>
            <a:r>
              <a:rPr lang="nl-NL" sz="2000" dirty="0" err="1"/>
              <a:t>variance</a:t>
            </a:r>
            <a:r>
              <a:rPr lang="nl-NL" sz="2000" dirty="0"/>
              <a:t> </a:t>
            </a:r>
            <a:r>
              <a:rPr lang="nl-NL" sz="2000" dirty="0" err="1"/>
              <a:t>for</a:t>
            </a:r>
            <a:r>
              <a:rPr lang="nl-NL" sz="2000" dirty="0"/>
              <a:t> </a:t>
            </a:r>
            <a:r>
              <a:rPr lang="nl-NL" sz="2000" dirty="0" err="1"/>
              <a:t>each</a:t>
            </a:r>
            <a:r>
              <a:rPr lang="nl-NL" sz="2000" dirty="0"/>
              <a:t>?</a:t>
            </a:r>
            <a:endParaRPr lang="en-US" sz="2000" dirty="0"/>
          </a:p>
        </p:txBody>
      </p:sp>
      <p:pic>
        <p:nvPicPr>
          <p:cNvPr id="30" name="Picture 29">
            <a:extLst>
              <a:ext uri="{FF2B5EF4-FFF2-40B4-BE49-F238E27FC236}">
                <a16:creationId xmlns:a16="http://schemas.microsoft.com/office/drawing/2014/main" id="{53E591BB-1FC4-DB37-32EE-DCED9377CF96}"/>
              </a:ext>
            </a:extLst>
          </p:cNvPr>
          <p:cNvPicPr>
            <a:picLocks noChangeAspect="1"/>
          </p:cNvPicPr>
          <p:nvPr/>
        </p:nvPicPr>
        <p:blipFill>
          <a:blip r:embed="rId3"/>
          <a:stretch>
            <a:fillRect/>
          </a:stretch>
        </p:blipFill>
        <p:spPr>
          <a:xfrm>
            <a:off x="3587750" y="3746500"/>
            <a:ext cx="4654913" cy="2887225"/>
          </a:xfrm>
          <a:prstGeom prst="rect">
            <a:avLst/>
          </a:prstGeom>
        </p:spPr>
      </p:pic>
    </p:spTree>
    <p:extLst>
      <p:ext uri="{BB962C8B-B14F-4D97-AF65-F5344CB8AC3E}">
        <p14:creationId xmlns:p14="http://schemas.microsoft.com/office/powerpoint/2010/main" val="5802000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0FA12-4AB4-4079-9B69-B05F952366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DCA3CA-DB57-2062-D8DC-23D65BCF583B}"/>
              </a:ext>
            </a:extLst>
          </p:cNvPr>
          <p:cNvSpPr>
            <a:spLocks noGrp="1"/>
          </p:cNvSpPr>
          <p:nvPr>
            <p:ph type="title"/>
          </p:nvPr>
        </p:nvSpPr>
        <p:spPr/>
        <p:txBody>
          <a:bodyPr/>
          <a:lstStyle/>
          <a:p>
            <a:r>
              <a:rPr lang="en-US" dirty="0"/>
              <a:t>Covariance</a:t>
            </a:r>
          </a:p>
        </p:txBody>
      </p:sp>
      <p:sp>
        <p:nvSpPr>
          <p:cNvPr id="6" name="Content Placeholder 2">
            <a:extLst>
              <a:ext uri="{FF2B5EF4-FFF2-40B4-BE49-F238E27FC236}">
                <a16:creationId xmlns:a16="http://schemas.microsoft.com/office/drawing/2014/main" id="{C37466D7-0EE0-7726-262C-44E4FFE7DDF0}"/>
              </a:ext>
            </a:extLst>
          </p:cNvPr>
          <p:cNvSpPr txBox="1">
            <a:spLocks/>
          </p:cNvSpPr>
          <p:nvPr/>
        </p:nvSpPr>
        <p:spPr>
          <a:xfrm>
            <a:off x="480001" y="1170260"/>
            <a:ext cx="11002537"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nl-NL" sz="2000" dirty="0" err="1"/>
              <a:t>Recap</a:t>
            </a:r>
            <a:r>
              <a:rPr lang="nl-NL" sz="2000" dirty="0"/>
              <a:t>: Sample </a:t>
            </a:r>
            <a:r>
              <a:rPr lang="nl-NL" sz="2000" dirty="0" err="1"/>
              <a:t>variance</a:t>
            </a:r>
            <a:endParaRPr lang="en-US" sz="2000" dirty="0"/>
          </a:p>
        </p:txBody>
      </p:sp>
      <p:sp>
        <p:nvSpPr>
          <p:cNvPr id="13" name="Content Placeholder 2">
            <a:extLst>
              <a:ext uri="{FF2B5EF4-FFF2-40B4-BE49-F238E27FC236}">
                <a16:creationId xmlns:a16="http://schemas.microsoft.com/office/drawing/2014/main" id="{849427F1-7E15-169D-2637-6DA260885EBC}"/>
              </a:ext>
            </a:extLst>
          </p:cNvPr>
          <p:cNvSpPr txBox="1">
            <a:spLocks/>
          </p:cNvSpPr>
          <p:nvPr/>
        </p:nvSpPr>
        <p:spPr>
          <a:xfrm>
            <a:off x="480001" y="2775268"/>
            <a:ext cx="5804261"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lgn="ctr">
              <a:buFont typeface="Arial"/>
              <a:buNone/>
            </a:pPr>
            <a:r>
              <a:rPr lang="en-US" sz="2000" dirty="0"/>
              <a:t>How far are </a:t>
            </a:r>
            <a:r>
              <a:rPr lang="en-US" sz="2000" b="1" dirty="0">
                <a:solidFill>
                  <a:schemeClr val="accent2"/>
                </a:solidFill>
              </a:rPr>
              <a:t>measurements</a:t>
            </a:r>
            <a:r>
              <a:rPr lang="en-US" sz="2000" dirty="0"/>
              <a:t> from </a:t>
            </a:r>
            <a:r>
              <a:rPr lang="en-US" sz="2000" b="1" dirty="0"/>
              <a:t>population mean</a:t>
            </a:r>
          </a:p>
        </p:txBody>
      </p:sp>
      <p:cxnSp>
        <p:nvCxnSpPr>
          <p:cNvPr id="14" name="Straight Arrow Connector 13">
            <a:extLst>
              <a:ext uri="{FF2B5EF4-FFF2-40B4-BE49-F238E27FC236}">
                <a16:creationId xmlns:a16="http://schemas.microsoft.com/office/drawing/2014/main" id="{0F52025A-E7D9-8323-A8A2-B9E56F927110}"/>
              </a:ext>
            </a:extLst>
          </p:cNvPr>
          <p:cNvCxnSpPr>
            <a:cxnSpLocks/>
          </p:cNvCxnSpPr>
          <p:nvPr/>
        </p:nvCxnSpPr>
        <p:spPr>
          <a:xfrm flipV="1">
            <a:off x="3101279" y="2421977"/>
            <a:ext cx="339976" cy="353291"/>
          </a:xfrm>
          <a:prstGeom prst="straightConnector1">
            <a:avLst/>
          </a:prstGeom>
          <a:ln>
            <a:tailEnd type="triangle"/>
          </a:ln>
        </p:spPr>
        <p:style>
          <a:lnRef idx="2">
            <a:schemeClr val="accent2"/>
          </a:lnRef>
          <a:fillRef idx="0">
            <a:schemeClr val="accent2"/>
          </a:fillRef>
          <a:effectRef idx="1">
            <a:schemeClr val="accent2"/>
          </a:effectRef>
          <a:fontRef idx="minor">
            <a:schemeClr val="tx1"/>
          </a:fontRef>
        </p:style>
      </p:cxnSp>
      <p:cxnSp>
        <p:nvCxnSpPr>
          <p:cNvPr id="15" name="Straight Arrow Connector 14">
            <a:extLst>
              <a:ext uri="{FF2B5EF4-FFF2-40B4-BE49-F238E27FC236}">
                <a16:creationId xmlns:a16="http://schemas.microsoft.com/office/drawing/2014/main" id="{E930B87B-A7FF-552E-9D3B-BBFBC1F50778}"/>
              </a:ext>
            </a:extLst>
          </p:cNvPr>
          <p:cNvCxnSpPr>
            <a:cxnSpLocks/>
          </p:cNvCxnSpPr>
          <p:nvPr/>
        </p:nvCxnSpPr>
        <p:spPr>
          <a:xfrm flipH="1" flipV="1">
            <a:off x="4060351" y="2421977"/>
            <a:ext cx="686848" cy="35329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pic>
        <p:nvPicPr>
          <p:cNvPr id="17" name="Picture 2">
            <a:extLst>
              <a:ext uri="{FF2B5EF4-FFF2-40B4-BE49-F238E27FC236}">
                <a16:creationId xmlns:a16="http://schemas.microsoft.com/office/drawing/2014/main" id="{1ECA8F61-5FA7-4ABA-09BD-705A4E073D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8148" y="1879842"/>
            <a:ext cx="2839335" cy="749751"/>
          </a:xfrm>
          <a:prstGeom prst="rect">
            <a:avLst/>
          </a:prstGeom>
          <a:noFill/>
          <a:extLst>
            <a:ext uri="{909E8E84-426E-40DD-AFC4-6F175D3DCCD1}">
              <a14:hiddenFill xmlns:a14="http://schemas.microsoft.com/office/drawing/2010/main">
                <a:solidFill>
                  <a:srgbClr val="FFFFFF"/>
                </a:solidFill>
              </a14:hiddenFill>
            </a:ext>
          </a:extLst>
        </p:spPr>
      </p:pic>
      <p:sp>
        <p:nvSpPr>
          <p:cNvPr id="16" name="Content Placeholder 2">
            <a:extLst>
              <a:ext uri="{FF2B5EF4-FFF2-40B4-BE49-F238E27FC236}">
                <a16:creationId xmlns:a16="http://schemas.microsoft.com/office/drawing/2014/main" id="{FA751B45-0234-A34C-0A77-14D68435B8C1}"/>
              </a:ext>
            </a:extLst>
          </p:cNvPr>
          <p:cNvSpPr txBox="1">
            <a:spLocks/>
          </p:cNvSpPr>
          <p:nvPr/>
        </p:nvSpPr>
        <p:spPr>
          <a:xfrm>
            <a:off x="480001" y="3321806"/>
            <a:ext cx="11117267" cy="42079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nl-NL" sz="2000" dirty="0" err="1"/>
              <a:t>Assume</a:t>
            </a:r>
            <a:r>
              <a:rPr lang="nl-NL" sz="2000" dirty="0"/>
              <a:t> we want </a:t>
            </a:r>
            <a:r>
              <a:rPr lang="nl-NL" sz="2000" dirty="0" err="1"/>
              <a:t>to</a:t>
            </a:r>
            <a:r>
              <a:rPr lang="nl-NL" sz="2000" dirty="0"/>
              <a:t> </a:t>
            </a:r>
            <a:r>
              <a:rPr lang="nl-NL" sz="2000" dirty="0" err="1"/>
              <a:t>compute</a:t>
            </a:r>
            <a:r>
              <a:rPr lang="nl-NL" sz="2000" dirty="0"/>
              <a:t> </a:t>
            </a:r>
            <a:r>
              <a:rPr lang="nl-NL" sz="2000" dirty="0" err="1"/>
              <a:t>variances</a:t>
            </a:r>
            <a:r>
              <a:rPr lang="nl-NL" sz="2000" dirty="0"/>
              <a:t> of </a:t>
            </a:r>
            <a:r>
              <a:rPr lang="nl-NL" sz="2000" dirty="0" err="1"/>
              <a:t>average</a:t>
            </a:r>
            <a:r>
              <a:rPr lang="nl-NL" sz="2000" dirty="0"/>
              <a:t> </a:t>
            </a:r>
            <a:r>
              <a:rPr lang="nl-NL" sz="2000" dirty="0" err="1"/>
              <a:t>session</a:t>
            </a:r>
            <a:r>
              <a:rPr lang="nl-NL" sz="2000" dirty="0"/>
              <a:t> </a:t>
            </a:r>
            <a:r>
              <a:rPr lang="nl-NL" sz="2000" dirty="0" err="1"/>
              <a:t>lengths</a:t>
            </a:r>
            <a:r>
              <a:rPr lang="nl-NL" sz="2000" dirty="0"/>
              <a:t> per user </a:t>
            </a:r>
            <a:r>
              <a:rPr lang="nl-NL" sz="2000" dirty="0" err="1"/>
              <a:t>and</a:t>
            </a:r>
            <a:r>
              <a:rPr lang="nl-NL" sz="2000" dirty="0"/>
              <a:t> </a:t>
            </a:r>
            <a:r>
              <a:rPr lang="nl-NL" sz="2000" dirty="0" err="1"/>
              <a:t>number</a:t>
            </a:r>
            <a:r>
              <a:rPr lang="nl-NL" sz="2000" dirty="0"/>
              <a:t> of ad clicks:</a:t>
            </a:r>
            <a:endParaRPr lang="en-US" sz="2000" dirty="0"/>
          </a:p>
        </p:txBody>
      </p:sp>
      <p:pic>
        <p:nvPicPr>
          <p:cNvPr id="18" name="Picture 17">
            <a:extLst>
              <a:ext uri="{FF2B5EF4-FFF2-40B4-BE49-F238E27FC236}">
                <a16:creationId xmlns:a16="http://schemas.microsoft.com/office/drawing/2014/main" id="{84D7908F-B903-E8A5-3E48-466A31CD24B1}"/>
              </a:ext>
            </a:extLst>
          </p:cNvPr>
          <p:cNvPicPr>
            <a:picLocks noChangeAspect="1"/>
          </p:cNvPicPr>
          <p:nvPr/>
        </p:nvPicPr>
        <p:blipFill>
          <a:blip r:embed="rId3"/>
          <a:stretch>
            <a:fillRect/>
          </a:stretch>
        </p:blipFill>
        <p:spPr>
          <a:xfrm>
            <a:off x="480001" y="3742602"/>
            <a:ext cx="5016500" cy="3111500"/>
          </a:xfrm>
          <a:prstGeom prst="rect">
            <a:avLst/>
          </a:prstGeom>
        </p:spPr>
      </p:pic>
      <p:cxnSp>
        <p:nvCxnSpPr>
          <p:cNvPr id="19" name="Straight Arrow Connector 18">
            <a:extLst>
              <a:ext uri="{FF2B5EF4-FFF2-40B4-BE49-F238E27FC236}">
                <a16:creationId xmlns:a16="http://schemas.microsoft.com/office/drawing/2014/main" id="{7378B707-95D9-4E6B-08B4-AD828E0F98DB}"/>
              </a:ext>
            </a:extLst>
          </p:cNvPr>
          <p:cNvCxnSpPr>
            <a:cxnSpLocks/>
          </p:cNvCxnSpPr>
          <p:nvPr/>
        </p:nvCxnSpPr>
        <p:spPr>
          <a:xfrm>
            <a:off x="1165084" y="6277303"/>
            <a:ext cx="1773236"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DEDBE629-5E2C-7F81-34F2-6133D503483B}"/>
              </a:ext>
            </a:extLst>
          </p:cNvPr>
          <p:cNvCxnSpPr>
            <a:cxnSpLocks/>
          </p:cNvCxnSpPr>
          <p:nvPr/>
        </p:nvCxnSpPr>
        <p:spPr>
          <a:xfrm>
            <a:off x="3003120" y="4131346"/>
            <a:ext cx="218302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3" name="Content Placeholder 2">
            <a:extLst>
              <a:ext uri="{FF2B5EF4-FFF2-40B4-BE49-F238E27FC236}">
                <a16:creationId xmlns:a16="http://schemas.microsoft.com/office/drawing/2014/main" id="{C7CA1E34-05D3-9679-BE81-A93F02F96B98}"/>
              </a:ext>
            </a:extLst>
          </p:cNvPr>
          <p:cNvSpPr txBox="1">
            <a:spLocks/>
          </p:cNvSpPr>
          <p:nvPr/>
        </p:nvSpPr>
        <p:spPr>
          <a:xfrm>
            <a:off x="1165084" y="5961038"/>
            <a:ext cx="667240" cy="27002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400" dirty="0"/>
              <a:t>(</a:t>
            </a:r>
            <a:r>
              <a:rPr lang="en-US" sz="1400" b="1" u="sng" dirty="0"/>
              <a:t>19</a:t>
            </a:r>
            <a:r>
              <a:rPr lang="en-US" sz="1400" b="1" dirty="0"/>
              <a:t>,</a:t>
            </a:r>
            <a:r>
              <a:rPr lang="en-US" sz="1400" dirty="0"/>
              <a:t>39)</a:t>
            </a:r>
          </a:p>
        </p:txBody>
      </p:sp>
      <p:sp>
        <p:nvSpPr>
          <p:cNvPr id="24" name="Content Placeholder 2">
            <a:extLst>
              <a:ext uri="{FF2B5EF4-FFF2-40B4-BE49-F238E27FC236}">
                <a16:creationId xmlns:a16="http://schemas.microsoft.com/office/drawing/2014/main" id="{A26A50D6-34A4-0892-1979-5E5868370814}"/>
              </a:ext>
            </a:extLst>
          </p:cNvPr>
          <p:cNvSpPr txBox="1">
            <a:spLocks/>
          </p:cNvSpPr>
          <p:nvPr/>
        </p:nvSpPr>
        <p:spPr>
          <a:xfrm>
            <a:off x="4512105" y="4201363"/>
            <a:ext cx="667240" cy="27002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400" dirty="0"/>
              <a:t>(</a:t>
            </a:r>
            <a:r>
              <a:rPr lang="en-US" sz="1400" b="1" u="sng" dirty="0"/>
              <a:t>90</a:t>
            </a:r>
            <a:r>
              <a:rPr lang="en-US" sz="1400" dirty="0"/>
              <a:t>, 121)</a:t>
            </a:r>
          </a:p>
        </p:txBody>
      </p:sp>
      <p:sp>
        <p:nvSpPr>
          <p:cNvPr id="25" name="Content Placeholder 2">
            <a:extLst>
              <a:ext uri="{FF2B5EF4-FFF2-40B4-BE49-F238E27FC236}">
                <a16:creationId xmlns:a16="http://schemas.microsoft.com/office/drawing/2014/main" id="{00ED5C62-027C-8941-5498-9AD68F7EC45C}"/>
              </a:ext>
            </a:extLst>
          </p:cNvPr>
          <p:cNvSpPr txBox="1">
            <a:spLocks/>
          </p:cNvSpPr>
          <p:nvPr/>
        </p:nvSpPr>
        <p:spPr>
          <a:xfrm>
            <a:off x="3416972" y="5494684"/>
            <a:ext cx="667240" cy="27002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400" dirty="0">
                <a:solidFill>
                  <a:schemeClr val="accent1"/>
                </a:solidFill>
              </a:rPr>
              <a:t>(</a:t>
            </a:r>
            <a:r>
              <a:rPr lang="en-US" sz="1400" b="1" u="sng" dirty="0">
                <a:solidFill>
                  <a:schemeClr val="accent1"/>
                </a:solidFill>
              </a:rPr>
              <a:t>50</a:t>
            </a:r>
            <a:r>
              <a:rPr lang="en-US" sz="1400" dirty="0">
                <a:solidFill>
                  <a:schemeClr val="accent1"/>
                </a:solidFill>
              </a:rPr>
              <a:t>, 79)</a:t>
            </a:r>
          </a:p>
        </p:txBody>
      </p:sp>
      <p:pic>
        <p:nvPicPr>
          <p:cNvPr id="30" name="Picture 29">
            <a:extLst>
              <a:ext uri="{FF2B5EF4-FFF2-40B4-BE49-F238E27FC236}">
                <a16:creationId xmlns:a16="http://schemas.microsoft.com/office/drawing/2014/main" id="{E34237C6-ECF9-2353-5FA0-305B63EDA7E2}"/>
              </a:ext>
            </a:extLst>
          </p:cNvPr>
          <p:cNvPicPr>
            <a:picLocks noChangeAspect="1"/>
          </p:cNvPicPr>
          <p:nvPr/>
        </p:nvPicPr>
        <p:blipFill>
          <a:blip r:embed="rId3"/>
          <a:stretch>
            <a:fillRect/>
          </a:stretch>
        </p:blipFill>
        <p:spPr>
          <a:xfrm>
            <a:off x="5595368" y="3742602"/>
            <a:ext cx="5016500" cy="3111500"/>
          </a:xfrm>
          <a:prstGeom prst="rect">
            <a:avLst/>
          </a:prstGeom>
        </p:spPr>
      </p:pic>
      <p:cxnSp>
        <p:nvCxnSpPr>
          <p:cNvPr id="32" name="Straight Arrow Connector 31">
            <a:extLst>
              <a:ext uri="{FF2B5EF4-FFF2-40B4-BE49-F238E27FC236}">
                <a16:creationId xmlns:a16="http://schemas.microsoft.com/office/drawing/2014/main" id="{36B494CB-DC95-045B-A824-7BB86353BB9E}"/>
              </a:ext>
            </a:extLst>
          </p:cNvPr>
          <p:cNvCxnSpPr>
            <a:cxnSpLocks/>
          </p:cNvCxnSpPr>
          <p:nvPr/>
        </p:nvCxnSpPr>
        <p:spPr>
          <a:xfrm>
            <a:off x="6206560" y="5298352"/>
            <a:ext cx="0" cy="93270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4E10994C-4A73-E27C-D629-52E9E44636A6}"/>
              </a:ext>
            </a:extLst>
          </p:cNvPr>
          <p:cNvCxnSpPr>
            <a:cxnSpLocks/>
          </p:cNvCxnSpPr>
          <p:nvPr/>
        </p:nvCxnSpPr>
        <p:spPr>
          <a:xfrm>
            <a:off x="10331657" y="4192194"/>
            <a:ext cx="0" cy="110615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35" name="Content Placeholder 2">
            <a:extLst>
              <a:ext uri="{FF2B5EF4-FFF2-40B4-BE49-F238E27FC236}">
                <a16:creationId xmlns:a16="http://schemas.microsoft.com/office/drawing/2014/main" id="{1F93727F-C23E-3369-995D-866640493D45}"/>
              </a:ext>
            </a:extLst>
          </p:cNvPr>
          <p:cNvSpPr txBox="1">
            <a:spLocks/>
          </p:cNvSpPr>
          <p:nvPr/>
        </p:nvSpPr>
        <p:spPr>
          <a:xfrm>
            <a:off x="6280451" y="5961038"/>
            <a:ext cx="667240" cy="27002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400" dirty="0"/>
              <a:t>(19, </a:t>
            </a:r>
            <a:r>
              <a:rPr lang="en-US" sz="1400" b="1" u="sng" dirty="0"/>
              <a:t>39</a:t>
            </a:r>
            <a:r>
              <a:rPr lang="en-US" sz="1400" dirty="0"/>
              <a:t>)</a:t>
            </a:r>
          </a:p>
        </p:txBody>
      </p:sp>
      <p:sp>
        <p:nvSpPr>
          <p:cNvPr id="36" name="Content Placeholder 2">
            <a:extLst>
              <a:ext uri="{FF2B5EF4-FFF2-40B4-BE49-F238E27FC236}">
                <a16:creationId xmlns:a16="http://schemas.microsoft.com/office/drawing/2014/main" id="{AFAD7B93-0D78-B9C2-9E96-59276EE28E41}"/>
              </a:ext>
            </a:extLst>
          </p:cNvPr>
          <p:cNvSpPr txBox="1">
            <a:spLocks/>
          </p:cNvSpPr>
          <p:nvPr/>
        </p:nvSpPr>
        <p:spPr>
          <a:xfrm>
            <a:off x="9627472" y="4201363"/>
            <a:ext cx="667240" cy="27002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400" dirty="0"/>
              <a:t>(90, </a:t>
            </a:r>
            <a:r>
              <a:rPr lang="en-US" sz="1400" b="1" u="sng" dirty="0"/>
              <a:t>121</a:t>
            </a:r>
            <a:r>
              <a:rPr lang="en-US" sz="1400" dirty="0"/>
              <a:t>)</a:t>
            </a:r>
          </a:p>
        </p:txBody>
      </p:sp>
      <p:sp>
        <p:nvSpPr>
          <p:cNvPr id="37" name="Content Placeholder 2">
            <a:extLst>
              <a:ext uri="{FF2B5EF4-FFF2-40B4-BE49-F238E27FC236}">
                <a16:creationId xmlns:a16="http://schemas.microsoft.com/office/drawing/2014/main" id="{008D473E-C9B1-AE7C-34BC-49764AEA664A}"/>
              </a:ext>
            </a:extLst>
          </p:cNvPr>
          <p:cNvSpPr txBox="1">
            <a:spLocks/>
          </p:cNvSpPr>
          <p:nvPr/>
        </p:nvSpPr>
        <p:spPr>
          <a:xfrm>
            <a:off x="8532339" y="5494684"/>
            <a:ext cx="667240" cy="27002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400" dirty="0">
                <a:solidFill>
                  <a:schemeClr val="accent1"/>
                </a:solidFill>
              </a:rPr>
              <a:t>(50, </a:t>
            </a:r>
            <a:r>
              <a:rPr lang="en-US" sz="1400" b="1" u="sng" dirty="0">
                <a:solidFill>
                  <a:schemeClr val="accent1"/>
                </a:solidFill>
              </a:rPr>
              <a:t>79</a:t>
            </a:r>
            <a:r>
              <a:rPr lang="en-US" sz="1400" dirty="0">
                <a:solidFill>
                  <a:schemeClr val="accent1"/>
                </a:solidFill>
              </a:rPr>
              <a:t>)</a:t>
            </a:r>
          </a:p>
        </p:txBody>
      </p:sp>
    </p:spTree>
    <p:extLst>
      <p:ext uri="{BB962C8B-B14F-4D97-AF65-F5344CB8AC3E}">
        <p14:creationId xmlns:p14="http://schemas.microsoft.com/office/powerpoint/2010/main" val="146092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24" grpId="0"/>
      <p:bldP spid="25" grpId="0"/>
      <p:bldP spid="35" grpId="0"/>
      <p:bldP spid="36" grpId="0"/>
      <p:bldP spid="3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A76DCE-6719-D40B-DAA7-D998DED74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51840C-D32F-9C9D-4966-7FC093A3CB75}"/>
              </a:ext>
            </a:extLst>
          </p:cNvPr>
          <p:cNvSpPr>
            <a:spLocks noGrp="1"/>
          </p:cNvSpPr>
          <p:nvPr>
            <p:ph type="title"/>
          </p:nvPr>
        </p:nvSpPr>
        <p:spPr/>
        <p:txBody>
          <a:bodyPr/>
          <a:lstStyle/>
          <a:p>
            <a:r>
              <a:rPr lang="en-US" dirty="0"/>
              <a:t>Covariance</a:t>
            </a:r>
          </a:p>
        </p:txBody>
      </p:sp>
      <p:sp>
        <p:nvSpPr>
          <p:cNvPr id="3" name="Content Placeholder 2">
            <a:extLst>
              <a:ext uri="{FF2B5EF4-FFF2-40B4-BE49-F238E27FC236}">
                <a16:creationId xmlns:a16="http://schemas.microsoft.com/office/drawing/2014/main" id="{7AA33787-CFCA-1DDC-F038-2456D9E6FEE1}"/>
              </a:ext>
            </a:extLst>
          </p:cNvPr>
          <p:cNvSpPr txBox="1">
            <a:spLocks noGrp="1"/>
          </p:cNvSpPr>
          <p:nvPr>
            <p:ph idx="1"/>
          </p:nvPr>
        </p:nvSpPr>
        <p:spPr>
          <a:xfrm>
            <a:off x="579863" y="1296000"/>
            <a:ext cx="11002537" cy="1815189"/>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nl-NL" sz="2000" dirty="0" err="1"/>
              <a:t>Co</a:t>
            </a:r>
            <a:r>
              <a:rPr lang="nl-NL" sz="2000" b="1" dirty="0" err="1"/>
              <a:t>variance</a:t>
            </a:r>
            <a:r>
              <a:rPr lang="nl-NL" sz="2000" b="1" dirty="0"/>
              <a:t>: </a:t>
            </a:r>
            <a:r>
              <a:rPr lang="en-US" sz="2000" dirty="0"/>
              <a:t>how do variables vary together?</a:t>
            </a:r>
          </a:p>
          <a:p>
            <a:r>
              <a:rPr lang="en-US" sz="2000" dirty="0"/>
              <a:t>Measures whether two variables increase or decrease </a:t>
            </a:r>
            <a:r>
              <a:rPr lang="en-US" sz="2000" b="1" dirty="0"/>
              <a:t>together</a:t>
            </a:r>
          </a:p>
          <a:p>
            <a:pPr lvl="1"/>
            <a:r>
              <a:rPr lang="en-US" sz="2000" b="1" dirty="0">
                <a:solidFill>
                  <a:schemeClr val="accent1"/>
                </a:solidFill>
              </a:rPr>
              <a:t>Positive: move in the same direction</a:t>
            </a:r>
          </a:p>
          <a:p>
            <a:pPr lvl="1"/>
            <a:r>
              <a:rPr lang="en-US" sz="2000" dirty="0"/>
              <a:t>Negative: move in different directions</a:t>
            </a:r>
          </a:p>
          <a:p>
            <a:pPr lvl="1"/>
            <a:r>
              <a:rPr lang="en-US" sz="2000" dirty="0"/>
              <a:t>Zero: no linear movement</a:t>
            </a:r>
          </a:p>
        </p:txBody>
      </p:sp>
      <p:pic>
        <p:nvPicPr>
          <p:cNvPr id="19" name="Picture 18">
            <a:extLst>
              <a:ext uri="{FF2B5EF4-FFF2-40B4-BE49-F238E27FC236}">
                <a16:creationId xmlns:a16="http://schemas.microsoft.com/office/drawing/2014/main" id="{211D15E5-41C6-4796-FBF1-D0D6A8433609}"/>
              </a:ext>
            </a:extLst>
          </p:cNvPr>
          <p:cNvPicPr>
            <a:picLocks noChangeAspect="1"/>
          </p:cNvPicPr>
          <p:nvPr/>
        </p:nvPicPr>
        <p:blipFill>
          <a:blip r:embed="rId2"/>
          <a:stretch>
            <a:fillRect/>
          </a:stretch>
        </p:blipFill>
        <p:spPr>
          <a:xfrm>
            <a:off x="609600" y="2955658"/>
            <a:ext cx="5016500" cy="3111500"/>
          </a:xfrm>
          <a:prstGeom prst="rect">
            <a:avLst/>
          </a:prstGeom>
        </p:spPr>
      </p:pic>
      <p:cxnSp>
        <p:nvCxnSpPr>
          <p:cNvPr id="5" name="Straight Arrow Connector 4">
            <a:extLst>
              <a:ext uri="{FF2B5EF4-FFF2-40B4-BE49-F238E27FC236}">
                <a16:creationId xmlns:a16="http://schemas.microsoft.com/office/drawing/2014/main" id="{DF36B248-FC78-24F8-0912-1F4506A8F2F4}"/>
              </a:ext>
            </a:extLst>
          </p:cNvPr>
          <p:cNvCxnSpPr/>
          <p:nvPr/>
        </p:nvCxnSpPr>
        <p:spPr>
          <a:xfrm>
            <a:off x="1294683" y="5490359"/>
            <a:ext cx="1773236"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B53B8863-A3B7-9E78-5A6A-7C0ACF1A78AD}"/>
              </a:ext>
            </a:extLst>
          </p:cNvPr>
          <p:cNvCxnSpPr>
            <a:cxnSpLocks/>
          </p:cNvCxnSpPr>
          <p:nvPr/>
        </p:nvCxnSpPr>
        <p:spPr>
          <a:xfrm>
            <a:off x="1220792" y="4511408"/>
            <a:ext cx="0" cy="93270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7B155D5C-567A-1754-6ADA-07DC5F6002E0}"/>
              </a:ext>
            </a:extLst>
          </p:cNvPr>
          <p:cNvCxnSpPr>
            <a:cxnSpLocks/>
          </p:cNvCxnSpPr>
          <p:nvPr/>
        </p:nvCxnSpPr>
        <p:spPr>
          <a:xfrm>
            <a:off x="3132719" y="3344402"/>
            <a:ext cx="218302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61289781-9773-43A4-73DD-B510B55D7C7D}"/>
              </a:ext>
            </a:extLst>
          </p:cNvPr>
          <p:cNvCxnSpPr>
            <a:cxnSpLocks/>
          </p:cNvCxnSpPr>
          <p:nvPr/>
        </p:nvCxnSpPr>
        <p:spPr>
          <a:xfrm>
            <a:off x="5345889" y="3405250"/>
            <a:ext cx="0" cy="110615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D9B04D9D-A07E-FA49-62B9-2AE21D7FCB29}"/>
              </a:ext>
            </a:extLst>
          </p:cNvPr>
          <p:cNvSpPr txBox="1">
            <a:spLocks/>
          </p:cNvSpPr>
          <p:nvPr/>
        </p:nvSpPr>
        <p:spPr>
          <a:xfrm>
            <a:off x="1294683" y="5174094"/>
            <a:ext cx="667240" cy="27002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400" dirty="0"/>
              <a:t>(19,39)</a:t>
            </a:r>
          </a:p>
        </p:txBody>
      </p:sp>
      <p:sp>
        <p:nvSpPr>
          <p:cNvPr id="21" name="Content Placeholder 2">
            <a:extLst>
              <a:ext uri="{FF2B5EF4-FFF2-40B4-BE49-F238E27FC236}">
                <a16:creationId xmlns:a16="http://schemas.microsoft.com/office/drawing/2014/main" id="{A60E68D0-9F29-4CD7-4F83-883C32B8FEEF}"/>
              </a:ext>
            </a:extLst>
          </p:cNvPr>
          <p:cNvSpPr txBox="1">
            <a:spLocks/>
          </p:cNvSpPr>
          <p:nvPr/>
        </p:nvSpPr>
        <p:spPr>
          <a:xfrm>
            <a:off x="4641704" y="3414419"/>
            <a:ext cx="667240" cy="27002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400" dirty="0"/>
              <a:t>(90, 121)</a:t>
            </a:r>
          </a:p>
        </p:txBody>
      </p:sp>
      <p:sp>
        <p:nvSpPr>
          <p:cNvPr id="22" name="Content Placeholder 2">
            <a:extLst>
              <a:ext uri="{FF2B5EF4-FFF2-40B4-BE49-F238E27FC236}">
                <a16:creationId xmlns:a16="http://schemas.microsoft.com/office/drawing/2014/main" id="{8FEFCB08-09B3-6DC1-A4EB-E35FC34E1381}"/>
              </a:ext>
            </a:extLst>
          </p:cNvPr>
          <p:cNvSpPr txBox="1">
            <a:spLocks/>
          </p:cNvSpPr>
          <p:nvPr/>
        </p:nvSpPr>
        <p:spPr>
          <a:xfrm>
            <a:off x="3546571" y="4707740"/>
            <a:ext cx="667240" cy="27002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400" b="1" dirty="0">
                <a:solidFill>
                  <a:schemeClr val="accent1"/>
                </a:solidFill>
              </a:rPr>
              <a:t>(50, 79)</a:t>
            </a:r>
          </a:p>
        </p:txBody>
      </p:sp>
    </p:spTree>
    <p:extLst>
      <p:ext uri="{BB962C8B-B14F-4D97-AF65-F5344CB8AC3E}">
        <p14:creationId xmlns:p14="http://schemas.microsoft.com/office/powerpoint/2010/main" val="3864341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D7DE7-406E-799E-93FF-67F84C3D11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ABD99D-FD76-2585-5865-20C5748F568E}"/>
              </a:ext>
            </a:extLst>
          </p:cNvPr>
          <p:cNvSpPr>
            <a:spLocks noGrp="1"/>
          </p:cNvSpPr>
          <p:nvPr>
            <p:ph type="title"/>
          </p:nvPr>
        </p:nvSpPr>
        <p:spPr/>
        <p:txBody>
          <a:bodyPr/>
          <a:lstStyle/>
          <a:p>
            <a:r>
              <a:rPr lang="en-US" dirty="0"/>
              <a:t>Covariance</a:t>
            </a:r>
          </a:p>
        </p:txBody>
      </p:sp>
      <p:sp>
        <p:nvSpPr>
          <p:cNvPr id="3" name="Content Placeholder 2">
            <a:extLst>
              <a:ext uri="{FF2B5EF4-FFF2-40B4-BE49-F238E27FC236}">
                <a16:creationId xmlns:a16="http://schemas.microsoft.com/office/drawing/2014/main" id="{B669723F-4FD2-C418-2FD6-081813C3ADB1}"/>
              </a:ext>
            </a:extLst>
          </p:cNvPr>
          <p:cNvSpPr txBox="1">
            <a:spLocks noGrp="1"/>
          </p:cNvSpPr>
          <p:nvPr>
            <p:ph idx="1"/>
          </p:nvPr>
        </p:nvSpPr>
        <p:spPr>
          <a:xfrm>
            <a:off x="579863" y="1296000"/>
            <a:ext cx="11002537" cy="1815189"/>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nl-NL" sz="2000" dirty="0" err="1"/>
              <a:t>Co</a:t>
            </a:r>
            <a:r>
              <a:rPr lang="nl-NL" sz="2000" b="1" dirty="0" err="1"/>
              <a:t>variance</a:t>
            </a:r>
            <a:r>
              <a:rPr lang="nl-NL" sz="2000" b="1" dirty="0"/>
              <a:t>: </a:t>
            </a:r>
            <a:r>
              <a:rPr lang="en-US" sz="2000" dirty="0"/>
              <a:t>how do variables vary together?</a:t>
            </a:r>
          </a:p>
          <a:p>
            <a:r>
              <a:rPr lang="en-US" sz="2000" dirty="0"/>
              <a:t>Measures whether two variables increase or decrease </a:t>
            </a:r>
            <a:r>
              <a:rPr lang="en-US" sz="2000" b="1" dirty="0"/>
              <a:t>together</a:t>
            </a:r>
          </a:p>
          <a:p>
            <a:pPr lvl="1"/>
            <a:r>
              <a:rPr lang="en-US" sz="2000" b="1" dirty="0">
                <a:solidFill>
                  <a:schemeClr val="accent1"/>
                </a:solidFill>
              </a:rPr>
              <a:t>Positive: move in the same direction</a:t>
            </a:r>
          </a:p>
          <a:p>
            <a:pPr lvl="1"/>
            <a:r>
              <a:rPr lang="en-US" sz="2000" dirty="0"/>
              <a:t>Negative: move in different directions</a:t>
            </a:r>
          </a:p>
          <a:p>
            <a:pPr lvl="1"/>
            <a:r>
              <a:rPr lang="en-US" sz="2000" dirty="0"/>
              <a:t>Zero: no linear movement</a:t>
            </a:r>
          </a:p>
        </p:txBody>
      </p:sp>
      <p:pic>
        <p:nvPicPr>
          <p:cNvPr id="19" name="Picture 18">
            <a:extLst>
              <a:ext uri="{FF2B5EF4-FFF2-40B4-BE49-F238E27FC236}">
                <a16:creationId xmlns:a16="http://schemas.microsoft.com/office/drawing/2014/main" id="{B65824A6-E4A7-8B93-4605-335AF827BB64}"/>
              </a:ext>
            </a:extLst>
          </p:cNvPr>
          <p:cNvPicPr>
            <a:picLocks noChangeAspect="1"/>
          </p:cNvPicPr>
          <p:nvPr/>
        </p:nvPicPr>
        <p:blipFill>
          <a:blip r:embed="rId2"/>
          <a:stretch>
            <a:fillRect/>
          </a:stretch>
        </p:blipFill>
        <p:spPr>
          <a:xfrm>
            <a:off x="609600" y="2955658"/>
            <a:ext cx="5016500" cy="3111500"/>
          </a:xfrm>
          <a:prstGeom prst="rect">
            <a:avLst/>
          </a:prstGeom>
        </p:spPr>
      </p:pic>
      <p:cxnSp>
        <p:nvCxnSpPr>
          <p:cNvPr id="5" name="Straight Arrow Connector 4">
            <a:extLst>
              <a:ext uri="{FF2B5EF4-FFF2-40B4-BE49-F238E27FC236}">
                <a16:creationId xmlns:a16="http://schemas.microsoft.com/office/drawing/2014/main" id="{52F9F3A5-FDF4-0750-6941-EA17E1181392}"/>
              </a:ext>
            </a:extLst>
          </p:cNvPr>
          <p:cNvCxnSpPr/>
          <p:nvPr/>
        </p:nvCxnSpPr>
        <p:spPr>
          <a:xfrm>
            <a:off x="1294683" y="5490359"/>
            <a:ext cx="1773236"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396868BA-34FB-B389-CD5E-A473B2A12DEC}"/>
              </a:ext>
            </a:extLst>
          </p:cNvPr>
          <p:cNvCxnSpPr>
            <a:cxnSpLocks/>
          </p:cNvCxnSpPr>
          <p:nvPr/>
        </p:nvCxnSpPr>
        <p:spPr>
          <a:xfrm>
            <a:off x="1220792" y="4511408"/>
            <a:ext cx="0" cy="932707"/>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1" name="Straight Arrow Connector 10">
            <a:extLst>
              <a:ext uri="{FF2B5EF4-FFF2-40B4-BE49-F238E27FC236}">
                <a16:creationId xmlns:a16="http://schemas.microsoft.com/office/drawing/2014/main" id="{84183397-0104-B218-FCB3-FE90352A4C24}"/>
              </a:ext>
            </a:extLst>
          </p:cNvPr>
          <p:cNvCxnSpPr>
            <a:cxnSpLocks/>
          </p:cNvCxnSpPr>
          <p:nvPr/>
        </p:nvCxnSpPr>
        <p:spPr>
          <a:xfrm>
            <a:off x="3132719" y="3344402"/>
            <a:ext cx="2183027" cy="0"/>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56785A90-1FC1-B3AC-46E0-BD6CA6EA5BDA}"/>
              </a:ext>
            </a:extLst>
          </p:cNvPr>
          <p:cNvCxnSpPr>
            <a:cxnSpLocks/>
          </p:cNvCxnSpPr>
          <p:nvPr/>
        </p:nvCxnSpPr>
        <p:spPr>
          <a:xfrm>
            <a:off x="5345889" y="3405250"/>
            <a:ext cx="0" cy="1106158"/>
          </a:xfrm>
          <a:prstGeom prst="straightConnector1">
            <a:avLst/>
          </a:prstGeom>
          <a:ln>
            <a:headEnd type="triangle"/>
            <a:tailEnd type="triangle"/>
          </a:ln>
        </p:spPr>
        <p:style>
          <a:lnRef idx="2">
            <a:schemeClr val="accent1"/>
          </a:lnRef>
          <a:fillRef idx="0">
            <a:schemeClr val="accent1"/>
          </a:fillRef>
          <a:effectRef idx="1">
            <a:schemeClr val="accent1"/>
          </a:effectRef>
          <a:fontRef idx="minor">
            <a:schemeClr val="tx1"/>
          </a:fontRef>
        </p:style>
      </p:cxnSp>
      <p:sp>
        <p:nvSpPr>
          <p:cNvPr id="20" name="Content Placeholder 2">
            <a:extLst>
              <a:ext uri="{FF2B5EF4-FFF2-40B4-BE49-F238E27FC236}">
                <a16:creationId xmlns:a16="http://schemas.microsoft.com/office/drawing/2014/main" id="{14916819-54C0-6877-8221-71B5287EB78B}"/>
              </a:ext>
            </a:extLst>
          </p:cNvPr>
          <p:cNvSpPr txBox="1">
            <a:spLocks/>
          </p:cNvSpPr>
          <p:nvPr/>
        </p:nvSpPr>
        <p:spPr>
          <a:xfrm>
            <a:off x="1294683" y="5174094"/>
            <a:ext cx="667240" cy="27002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400" dirty="0"/>
              <a:t>(19,39)</a:t>
            </a:r>
          </a:p>
        </p:txBody>
      </p:sp>
      <p:sp>
        <p:nvSpPr>
          <p:cNvPr id="21" name="Content Placeholder 2">
            <a:extLst>
              <a:ext uri="{FF2B5EF4-FFF2-40B4-BE49-F238E27FC236}">
                <a16:creationId xmlns:a16="http://schemas.microsoft.com/office/drawing/2014/main" id="{EA218503-42CF-B711-4B2A-FACFDECC7C49}"/>
              </a:ext>
            </a:extLst>
          </p:cNvPr>
          <p:cNvSpPr txBox="1">
            <a:spLocks/>
          </p:cNvSpPr>
          <p:nvPr/>
        </p:nvSpPr>
        <p:spPr>
          <a:xfrm>
            <a:off x="4641704" y="3414419"/>
            <a:ext cx="667240" cy="27002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400" dirty="0"/>
              <a:t>(90, 121)</a:t>
            </a:r>
          </a:p>
        </p:txBody>
      </p:sp>
      <p:sp>
        <p:nvSpPr>
          <p:cNvPr id="22" name="Content Placeholder 2">
            <a:extLst>
              <a:ext uri="{FF2B5EF4-FFF2-40B4-BE49-F238E27FC236}">
                <a16:creationId xmlns:a16="http://schemas.microsoft.com/office/drawing/2014/main" id="{9AC71332-DEEA-0060-FA22-16A530436A80}"/>
              </a:ext>
            </a:extLst>
          </p:cNvPr>
          <p:cNvSpPr txBox="1">
            <a:spLocks/>
          </p:cNvSpPr>
          <p:nvPr/>
        </p:nvSpPr>
        <p:spPr>
          <a:xfrm>
            <a:off x="3546571" y="4707740"/>
            <a:ext cx="667240" cy="27002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400" b="1" dirty="0">
                <a:solidFill>
                  <a:schemeClr val="accent1"/>
                </a:solidFill>
              </a:rPr>
              <a:t>(50, 79)</a:t>
            </a:r>
          </a:p>
        </p:txBody>
      </p:sp>
      <p:pic>
        <p:nvPicPr>
          <p:cNvPr id="24" name="Picture 23">
            <a:extLst>
              <a:ext uri="{FF2B5EF4-FFF2-40B4-BE49-F238E27FC236}">
                <a16:creationId xmlns:a16="http://schemas.microsoft.com/office/drawing/2014/main" id="{B5986D7B-4E77-890F-D489-805DDF623DD5}"/>
              </a:ext>
            </a:extLst>
          </p:cNvPr>
          <p:cNvPicPr>
            <a:picLocks noChangeAspect="1"/>
          </p:cNvPicPr>
          <p:nvPr/>
        </p:nvPicPr>
        <p:blipFill>
          <a:blip r:embed="rId3"/>
          <a:stretch>
            <a:fillRect/>
          </a:stretch>
        </p:blipFill>
        <p:spPr>
          <a:xfrm>
            <a:off x="6081131" y="3113855"/>
            <a:ext cx="4404227" cy="697443"/>
          </a:xfrm>
          <a:prstGeom prst="rect">
            <a:avLst/>
          </a:prstGeom>
        </p:spPr>
      </p:pic>
      <p:sp>
        <p:nvSpPr>
          <p:cNvPr id="26" name="TextBox 25">
            <a:extLst>
              <a:ext uri="{FF2B5EF4-FFF2-40B4-BE49-F238E27FC236}">
                <a16:creationId xmlns:a16="http://schemas.microsoft.com/office/drawing/2014/main" id="{B221DE34-AB8F-3758-A331-58B9162543BB}"/>
              </a:ext>
            </a:extLst>
          </p:cNvPr>
          <p:cNvSpPr txBox="1"/>
          <p:nvPr/>
        </p:nvSpPr>
        <p:spPr>
          <a:xfrm>
            <a:off x="6081130" y="4315296"/>
            <a:ext cx="5362725" cy="646331"/>
          </a:xfrm>
          <a:prstGeom prst="rect">
            <a:avLst/>
          </a:prstGeom>
          <a:noFill/>
        </p:spPr>
        <p:txBody>
          <a:bodyPr wrap="square" rtlCol="0">
            <a:spAutoFit/>
          </a:bodyPr>
          <a:lstStyle/>
          <a:p>
            <a:r>
              <a:rPr lang="en-US" b="1" dirty="0"/>
              <a:t>Covariance between users’ average session length and number of ad clicks for the dataset: </a:t>
            </a:r>
            <a:r>
              <a:rPr lang="en-US" dirty="0"/>
              <a:t>141.46</a:t>
            </a:r>
          </a:p>
        </p:txBody>
      </p:sp>
    </p:spTree>
    <p:extLst>
      <p:ext uri="{BB962C8B-B14F-4D97-AF65-F5344CB8AC3E}">
        <p14:creationId xmlns:p14="http://schemas.microsoft.com/office/powerpoint/2010/main" val="4039492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9D3D-3E84-9958-378F-CD6EAED9AF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B06D72-8641-4EEE-3F6C-DBDEFAC703A0}"/>
              </a:ext>
            </a:extLst>
          </p:cNvPr>
          <p:cNvSpPr>
            <a:spLocks noGrp="1"/>
          </p:cNvSpPr>
          <p:nvPr>
            <p:ph type="title"/>
          </p:nvPr>
        </p:nvSpPr>
        <p:spPr/>
        <p:txBody>
          <a:bodyPr/>
          <a:lstStyle/>
          <a:p>
            <a:r>
              <a:rPr lang="en-US" dirty="0"/>
              <a:t>Covariance</a:t>
            </a:r>
          </a:p>
        </p:txBody>
      </p:sp>
      <p:pic>
        <p:nvPicPr>
          <p:cNvPr id="24" name="Picture 23">
            <a:extLst>
              <a:ext uri="{FF2B5EF4-FFF2-40B4-BE49-F238E27FC236}">
                <a16:creationId xmlns:a16="http://schemas.microsoft.com/office/drawing/2014/main" id="{CB6F4423-3630-3BA4-4824-34D18DB3709D}"/>
              </a:ext>
            </a:extLst>
          </p:cNvPr>
          <p:cNvPicPr>
            <a:picLocks noChangeAspect="1"/>
          </p:cNvPicPr>
          <p:nvPr/>
        </p:nvPicPr>
        <p:blipFill>
          <a:blip r:embed="rId2"/>
          <a:stretch>
            <a:fillRect/>
          </a:stretch>
        </p:blipFill>
        <p:spPr>
          <a:xfrm>
            <a:off x="738423" y="1170260"/>
            <a:ext cx="4404227" cy="697443"/>
          </a:xfrm>
          <a:prstGeom prst="rect">
            <a:avLst/>
          </a:prstGeom>
        </p:spPr>
      </p:pic>
      <p:sp>
        <p:nvSpPr>
          <p:cNvPr id="25" name="TextBox 24">
            <a:extLst>
              <a:ext uri="{FF2B5EF4-FFF2-40B4-BE49-F238E27FC236}">
                <a16:creationId xmlns:a16="http://schemas.microsoft.com/office/drawing/2014/main" id="{F1C56C76-78EB-B9F8-397A-B9B021E0A3D9}"/>
              </a:ext>
            </a:extLst>
          </p:cNvPr>
          <p:cNvSpPr txBox="1"/>
          <p:nvPr/>
        </p:nvSpPr>
        <p:spPr>
          <a:xfrm>
            <a:off x="738423" y="2063646"/>
            <a:ext cx="10574011" cy="923330"/>
          </a:xfrm>
          <a:prstGeom prst="rect">
            <a:avLst/>
          </a:prstGeom>
          <a:noFill/>
        </p:spPr>
        <p:txBody>
          <a:bodyPr wrap="square" rtlCol="0">
            <a:spAutoFit/>
          </a:bodyPr>
          <a:lstStyle/>
          <a:p>
            <a:r>
              <a:rPr lang="en-US" dirty="0"/>
              <a:t>Compute covariance for:</a:t>
            </a:r>
          </a:p>
          <a:p>
            <a:r>
              <a:rPr lang="en-US" dirty="0"/>
              <a:t>x = [2, 4, 6, 9, 12]</a:t>
            </a:r>
          </a:p>
          <a:p>
            <a:r>
              <a:rPr lang="en-US" dirty="0"/>
              <a:t>y = [14, 17, 22, 43, 52]</a:t>
            </a:r>
          </a:p>
        </p:txBody>
      </p:sp>
    </p:spTree>
    <p:extLst>
      <p:ext uri="{BB962C8B-B14F-4D97-AF65-F5344CB8AC3E}">
        <p14:creationId xmlns:p14="http://schemas.microsoft.com/office/powerpoint/2010/main" val="18971471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FC7FB-9C68-E162-B002-5EA0134DAD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6D12D-2D22-CE6E-8DBD-E59751EA2D69}"/>
              </a:ext>
            </a:extLst>
          </p:cNvPr>
          <p:cNvSpPr>
            <a:spLocks noGrp="1"/>
          </p:cNvSpPr>
          <p:nvPr>
            <p:ph type="title"/>
          </p:nvPr>
        </p:nvSpPr>
        <p:spPr/>
        <p:txBody>
          <a:bodyPr/>
          <a:lstStyle/>
          <a:p>
            <a:r>
              <a:rPr lang="en-US" dirty="0"/>
              <a:t>Covariance</a:t>
            </a:r>
          </a:p>
        </p:txBody>
      </p:sp>
      <p:sp>
        <p:nvSpPr>
          <p:cNvPr id="6" name="Content Placeholder 2">
            <a:extLst>
              <a:ext uri="{FF2B5EF4-FFF2-40B4-BE49-F238E27FC236}">
                <a16:creationId xmlns:a16="http://schemas.microsoft.com/office/drawing/2014/main" id="{37D0F983-FAE9-E2B5-2A56-64E8D9B1E921}"/>
              </a:ext>
            </a:extLst>
          </p:cNvPr>
          <p:cNvSpPr txBox="1">
            <a:spLocks noGrp="1"/>
          </p:cNvSpPr>
          <p:nvPr>
            <p:ph idx="1"/>
          </p:nvPr>
        </p:nvSpPr>
        <p:spPr>
          <a:xfrm>
            <a:off x="579863" y="1296001"/>
            <a:ext cx="11002537" cy="756000"/>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b="1" dirty="0"/>
              <a:t>Main issue with covariance:</a:t>
            </a:r>
            <a:r>
              <a:rPr lang="en-US" sz="2000" dirty="0"/>
              <a:t> it depends on the scale (units) of the variables and is unbounded, making values hard to interpret and compare.</a:t>
            </a:r>
          </a:p>
        </p:txBody>
      </p:sp>
      <p:sp>
        <p:nvSpPr>
          <p:cNvPr id="7" name="TextBox 6">
            <a:extLst>
              <a:ext uri="{FF2B5EF4-FFF2-40B4-BE49-F238E27FC236}">
                <a16:creationId xmlns:a16="http://schemas.microsoft.com/office/drawing/2014/main" id="{3CAFDC4B-9598-2687-0C1E-F049D46864D0}"/>
              </a:ext>
            </a:extLst>
          </p:cNvPr>
          <p:cNvSpPr txBox="1"/>
          <p:nvPr/>
        </p:nvSpPr>
        <p:spPr>
          <a:xfrm>
            <a:off x="579863" y="2177742"/>
            <a:ext cx="2620537" cy="1477328"/>
          </a:xfrm>
          <a:prstGeom prst="rect">
            <a:avLst/>
          </a:prstGeom>
          <a:noFill/>
        </p:spPr>
        <p:txBody>
          <a:bodyPr wrap="square" rtlCol="0">
            <a:spAutoFit/>
          </a:bodyPr>
          <a:lstStyle/>
          <a:p>
            <a:r>
              <a:rPr lang="en-US" dirty="0"/>
              <a:t>Compute covariance for:</a:t>
            </a:r>
          </a:p>
          <a:p>
            <a:r>
              <a:rPr lang="en-US" dirty="0"/>
              <a:t>x = [2, 4, 6, 9, 12]</a:t>
            </a:r>
          </a:p>
          <a:p>
            <a:r>
              <a:rPr lang="en-US" dirty="0"/>
              <a:t>y = [14, 17, 22, 43, 52]</a:t>
            </a:r>
          </a:p>
          <a:p>
            <a:endParaRPr lang="en-US" dirty="0"/>
          </a:p>
          <a:p>
            <a:r>
              <a:rPr lang="en-US" dirty="0"/>
              <a:t>Answer: 65.55</a:t>
            </a:r>
          </a:p>
        </p:txBody>
      </p:sp>
      <p:sp>
        <p:nvSpPr>
          <p:cNvPr id="8" name="TextBox 7">
            <a:extLst>
              <a:ext uri="{FF2B5EF4-FFF2-40B4-BE49-F238E27FC236}">
                <a16:creationId xmlns:a16="http://schemas.microsoft.com/office/drawing/2014/main" id="{1749954F-D88B-93F6-D75F-E65B520D8003}"/>
              </a:ext>
            </a:extLst>
          </p:cNvPr>
          <p:cNvSpPr txBox="1"/>
          <p:nvPr/>
        </p:nvSpPr>
        <p:spPr>
          <a:xfrm>
            <a:off x="4052549" y="2177742"/>
            <a:ext cx="2962206" cy="1477328"/>
          </a:xfrm>
          <a:prstGeom prst="rect">
            <a:avLst/>
          </a:prstGeom>
          <a:noFill/>
        </p:spPr>
        <p:txBody>
          <a:bodyPr wrap="square" rtlCol="0">
            <a:spAutoFit/>
          </a:bodyPr>
          <a:lstStyle/>
          <a:p>
            <a:r>
              <a:rPr lang="en-US" dirty="0"/>
              <a:t>Compute covariance for:</a:t>
            </a:r>
          </a:p>
          <a:p>
            <a:r>
              <a:rPr lang="en-US" dirty="0"/>
              <a:t>x = [20, 40, 60, 90, 120]</a:t>
            </a:r>
          </a:p>
          <a:p>
            <a:r>
              <a:rPr lang="en-US" dirty="0"/>
              <a:t>y = [140, 170, 220, 430, 520]</a:t>
            </a:r>
          </a:p>
          <a:p>
            <a:endParaRPr lang="en-US" dirty="0"/>
          </a:p>
          <a:p>
            <a:r>
              <a:rPr lang="en-US" dirty="0"/>
              <a:t>Answer: 6555</a:t>
            </a:r>
          </a:p>
        </p:txBody>
      </p:sp>
      <p:sp>
        <p:nvSpPr>
          <p:cNvPr id="9" name="TextBox 8">
            <a:extLst>
              <a:ext uri="{FF2B5EF4-FFF2-40B4-BE49-F238E27FC236}">
                <a16:creationId xmlns:a16="http://schemas.microsoft.com/office/drawing/2014/main" id="{7F9012D3-7F8F-A058-8A78-5061E9C75019}"/>
              </a:ext>
            </a:extLst>
          </p:cNvPr>
          <p:cNvSpPr txBox="1"/>
          <p:nvPr/>
        </p:nvSpPr>
        <p:spPr>
          <a:xfrm>
            <a:off x="7510499" y="2177742"/>
            <a:ext cx="3775810" cy="1477328"/>
          </a:xfrm>
          <a:prstGeom prst="rect">
            <a:avLst/>
          </a:prstGeom>
          <a:noFill/>
        </p:spPr>
        <p:txBody>
          <a:bodyPr wrap="square" rtlCol="0">
            <a:spAutoFit/>
          </a:bodyPr>
          <a:lstStyle/>
          <a:p>
            <a:r>
              <a:rPr lang="en-US" dirty="0"/>
              <a:t>Compute covariance for:</a:t>
            </a:r>
          </a:p>
          <a:p>
            <a:r>
              <a:rPr lang="en-US" dirty="0"/>
              <a:t>x = [200, 400, 600, 900, 1200]</a:t>
            </a:r>
          </a:p>
          <a:p>
            <a:r>
              <a:rPr lang="en-US" dirty="0"/>
              <a:t>y = [1400, 1700, 2200, 4300, 5200]</a:t>
            </a:r>
          </a:p>
          <a:p>
            <a:endParaRPr lang="en-US" dirty="0"/>
          </a:p>
          <a:p>
            <a:r>
              <a:rPr lang="en-US" dirty="0"/>
              <a:t>Answer: 655500</a:t>
            </a:r>
          </a:p>
        </p:txBody>
      </p:sp>
      <p:sp>
        <p:nvSpPr>
          <p:cNvPr id="10" name="Content Placeholder 2">
            <a:extLst>
              <a:ext uri="{FF2B5EF4-FFF2-40B4-BE49-F238E27FC236}">
                <a16:creationId xmlns:a16="http://schemas.microsoft.com/office/drawing/2014/main" id="{16D7B0D9-F3A7-0245-4B9F-12A09EE75414}"/>
              </a:ext>
            </a:extLst>
          </p:cNvPr>
          <p:cNvSpPr txBox="1">
            <a:spLocks/>
          </p:cNvSpPr>
          <p:nvPr/>
        </p:nvSpPr>
        <p:spPr>
          <a:xfrm>
            <a:off x="579862" y="4050000"/>
            <a:ext cx="11002537" cy="352183"/>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dirty="0"/>
              <a:t>How do we obtain a bounded, unit-free measure? </a:t>
            </a:r>
            <a:r>
              <a:rPr lang="en-US" sz="2000" b="1" dirty="0"/>
              <a:t>We normalize!</a:t>
            </a:r>
          </a:p>
        </p:txBody>
      </p:sp>
    </p:spTree>
    <p:extLst>
      <p:ext uri="{BB962C8B-B14F-4D97-AF65-F5344CB8AC3E}">
        <p14:creationId xmlns:p14="http://schemas.microsoft.com/office/powerpoint/2010/main" val="4145572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p:bldP spid="9" grpId="0"/>
      <p:bldP spid="1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BCC47-64D4-3E01-2EE3-DA4A8D3DA6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954733-3226-AD47-5E34-2D639869A75E}"/>
              </a:ext>
            </a:extLst>
          </p:cNvPr>
          <p:cNvSpPr>
            <a:spLocks noGrp="1"/>
          </p:cNvSpPr>
          <p:nvPr>
            <p:ph type="title"/>
          </p:nvPr>
        </p:nvSpPr>
        <p:spPr/>
        <p:txBody>
          <a:bodyPr/>
          <a:lstStyle/>
          <a:p>
            <a:r>
              <a:rPr lang="en-US" dirty="0"/>
              <a:t>Pearsons’s correlation</a:t>
            </a:r>
          </a:p>
        </p:txBody>
      </p:sp>
      <p:sp>
        <p:nvSpPr>
          <p:cNvPr id="6" name="Content Placeholder 2">
            <a:extLst>
              <a:ext uri="{FF2B5EF4-FFF2-40B4-BE49-F238E27FC236}">
                <a16:creationId xmlns:a16="http://schemas.microsoft.com/office/drawing/2014/main" id="{ADAA0201-17AA-3C2C-4E76-EC3A6A59CD95}"/>
              </a:ext>
            </a:extLst>
          </p:cNvPr>
          <p:cNvSpPr txBox="1">
            <a:spLocks noGrp="1"/>
          </p:cNvSpPr>
          <p:nvPr>
            <p:ph idx="1"/>
          </p:nvPr>
        </p:nvSpPr>
        <p:spPr>
          <a:xfrm>
            <a:off x="579863" y="1296001"/>
            <a:ext cx="11002537" cy="1486388"/>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dirty="0"/>
              <a:t>Pearson’s correlation (Pearson’s r) measures the strength of a </a:t>
            </a:r>
            <a:r>
              <a:rPr lang="en-US" sz="2000" i="1" dirty="0"/>
              <a:t>linear relationship</a:t>
            </a:r>
            <a:r>
              <a:rPr lang="en-US" sz="2000" dirty="0"/>
              <a:t> between two paired numerical variables and is within [-1, 1]:</a:t>
            </a:r>
          </a:p>
          <a:p>
            <a:r>
              <a:rPr lang="en-US" sz="2000" dirty="0"/>
              <a:t>1: perfect positive correlation</a:t>
            </a:r>
          </a:p>
          <a:p>
            <a:r>
              <a:rPr lang="en-US" sz="2000" dirty="0"/>
              <a:t>0: no correlation</a:t>
            </a:r>
          </a:p>
          <a:p>
            <a:r>
              <a:rPr lang="en-US" sz="2000" dirty="0"/>
              <a:t>-1: perfect negative correlation </a:t>
            </a:r>
          </a:p>
        </p:txBody>
      </p:sp>
      <p:pic>
        <p:nvPicPr>
          <p:cNvPr id="12290" name="Picture 2">
            <a:extLst>
              <a:ext uri="{FF2B5EF4-FFF2-40B4-BE49-F238E27FC236}">
                <a16:creationId xmlns:a16="http://schemas.microsoft.com/office/drawing/2014/main" id="{487508AC-A0F6-CAFB-9C67-3D81C4B87A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4855" y="3280909"/>
            <a:ext cx="2790033" cy="119752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C9F90A8-127A-A804-39FC-646888105A69}"/>
              </a:ext>
            </a:extLst>
          </p:cNvPr>
          <p:cNvPicPr>
            <a:picLocks noChangeAspect="1"/>
          </p:cNvPicPr>
          <p:nvPr/>
        </p:nvPicPr>
        <p:blipFill>
          <a:blip r:embed="rId3"/>
          <a:stretch>
            <a:fillRect/>
          </a:stretch>
        </p:blipFill>
        <p:spPr>
          <a:xfrm>
            <a:off x="6629770" y="3182226"/>
            <a:ext cx="4404227" cy="697443"/>
          </a:xfrm>
          <a:prstGeom prst="rect">
            <a:avLst/>
          </a:prstGeom>
        </p:spPr>
      </p:pic>
      <p:pic>
        <p:nvPicPr>
          <p:cNvPr id="4" name="Picture 2">
            <a:extLst>
              <a:ext uri="{FF2B5EF4-FFF2-40B4-BE49-F238E27FC236}">
                <a16:creationId xmlns:a16="http://schemas.microsoft.com/office/drawing/2014/main" id="{9D341CAB-E620-E334-0D05-35CA57E52F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29770" y="3969975"/>
            <a:ext cx="2344413" cy="6190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5311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C440C-C235-AC4A-48B6-780D33C287F9}"/>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CA7A9D1-FC5B-5AD8-10BC-739E5072A91E}"/>
              </a:ext>
            </a:extLst>
          </p:cNvPr>
          <p:cNvSpPr txBox="1"/>
          <p:nvPr/>
        </p:nvSpPr>
        <p:spPr>
          <a:xfrm>
            <a:off x="714102" y="2359711"/>
            <a:ext cx="3675017" cy="923330"/>
          </a:xfrm>
          <a:prstGeom prst="rect">
            <a:avLst/>
          </a:prstGeom>
          <a:noFill/>
        </p:spPr>
        <p:txBody>
          <a:bodyPr wrap="square" rtlCol="0">
            <a:spAutoFit/>
          </a:bodyPr>
          <a:lstStyle/>
          <a:p>
            <a:r>
              <a:rPr lang="en-US" dirty="0"/>
              <a:t>Compute Pearson’s correlation:</a:t>
            </a:r>
          </a:p>
          <a:p>
            <a:r>
              <a:rPr lang="en-US" dirty="0"/>
              <a:t>x = [2, 4, 6, 9, 12, 15]</a:t>
            </a:r>
          </a:p>
          <a:p>
            <a:r>
              <a:rPr lang="en-US" dirty="0"/>
              <a:t>y = [14, 17, 22, 43, 52]</a:t>
            </a:r>
          </a:p>
        </p:txBody>
      </p:sp>
      <p:sp>
        <p:nvSpPr>
          <p:cNvPr id="8" name="TextBox 7">
            <a:extLst>
              <a:ext uri="{FF2B5EF4-FFF2-40B4-BE49-F238E27FC236}">
                <a16:creationId xmlns:a16="http://schemas.microsoft.com/office/drawing/2014/main" id="{D6E593F2-7780-BF93-DD4E-C06407159928}"/>
              </a:ext>
            </a:extLst>
          </p:cNvPr>
          <p:cNvSpPr txBox="1"/>
          <p:nvPr/>
        </p:nvSpPr>
        <p:spPr>
          <a:xfrm>
            <a:off x="5388571" y="2359711"/>
            <a:ext cx="3533360" cy="923330"/>
          </a:xfrm>
          <a:prstGeom prst="rect">
            <a:avLst/>
          </a:prstGeom>
          <a:noFill/>
        </p:spPr>
        <p:txBody>
          <a:bodyPr wrap="square" rtlCol="0">
            <a:spAutoFit/>
          </a:bodyPr>
          <a:lstStyle/>
          <a:p>
            <a:r>
              <a:rPr lang="en-US" dirty="0"/>
              <a:t>Compute Pearson’s correlation:</a:t>
            </a:r>
          </a:p>
          <a:p>
            <a:r>
              <a:rPr lang="en-US" dirty="0"/>
              <a:t>x = [20, 40, 60, 90, 120, 150]</a:t>
            </a:r>
          </a:p>
          <a:p>
            <a:r>
              <a:rPr lang="en-US" dirty="0"/>
              <a:t>y = [140, 170, 220, 430, 520]</a:t>
            </a:r>
          </a:p>
        </p:txBody>
      </p:sp>
      <p:sp>
        <p:nvSpPr>
          <p:cNvPr id="12" name="Title 1">
            <a:extLst>
              <a:ext uri="{FF2B5EF4-FFF2-40B4-BE49-F238E27FC236}">
                <a16:creationId xmlns:a16="http://schemas.microsoft.com/office/drawing/2014/main" id="{AA65410E-85FF-6160-B482-75E124AB435F}"/>
              </a:ext>
            </a:extLst>
          </p:cNvPr>
          <p:cNvSpPr txBox="1">
            <a:spLocks/>
          </p:cNvSpPr>
          <p:nvPr/>
        </p:nvSpPr>
        <p:spPr>
          <a:xfrm>
            <a:off x="480001" y="4142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Pearsons’s correlation</a:t>
            </a:r>
          </a:p>
        </p:txBody>
      </p:sp>
      <p:pic>
        <p:nvPicPr>
          <p:cNvPr id="13" name="Picture 2">
            <a:extLst>
              <a:ext uri="{FF2B5EF4-FFF2-40B4-BE49-F238E27FC236}">
                <a16:creationId xmlns:a16="http://schemas.microsoft.com/office/drawing/2014/main" id="{C9B5FC03-57DD-A764-FF74-85C0CE7B3F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102" y="1170260"/>
            <a:ext cx="1761361" cy="75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4800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A146-2A37-25EF-B5D3-14288D14A770}"/>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96DF9F2D-051C-6E32-95F9-9253C54EE863}"/>
              </a:ext>
            </a:extLst>
          </p:cNvPr>
          <p:cNvSpPr txBox="1">
            <a:spLocks/>
          </p:cNvSpPr>
          <p:nvPr/>
        </p:nvSpPr>
        <p:spPr>
          <a:xfrm>
            <a:off x="480001" y="4142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Pearsons’s correlation</a:t>
            </a:r>
          </a:p>
        </p:txBody>
      </p:sp>
      <p:sp>
        <p:nvSpPr>
          <p:cNvPr id="2" name="Content Placeholder 2">
            <a:extLst>
              <a:ext uri="{FF2B5EF4-FFF2-40B4-BE49-F238E27FC236}">
                <a16:creationId xmlns:a16="http://schemas.microsoft.com/office/drawing/2014/main" id="{3FAB81BE-DD07-705E-EE4E-22D538E915DD}"/>
              </a:ext>
            </a:extLst>
          </p:cNvPr>
          <p:cNvSpPr txBox="1">
            <a:spLocks noGrp="1"/>
          </p:cNvSpPr>
          <p:nvPr>
            <p:ph idx="1"/>
          </p:nvPr>
        </p:nvSpPr>
        <p:spPr>
          <a:xfrm>
            <a:off x="579863" y="1296001"/>
            <a:ext cx="11002537" cy="558925"/>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b="1" dirty="0"/>
              <a:t>Pearson’s correlation and scatters:</a:t>
            </a:r>
            <a:endParaRPr lang="en-US" sz="2000" dirty="0"/>
          </a:p>
          <a:p>
            <a:pPr marL="0" indent="0">
              <a:buNone/>
            </a:pPr>
            <a:r>
              <a:rPr lang="en-US" sz="2000" dirty="0"/>
              <a:t> </a:t>
            </a:r>
          </a:p>
        </p:txBody>
      </p:sp>
      <p:sp>
        <p:nvSpPr>
          <p:cNvPr id="4" name="TextBox 3">
            <a:extLst>
              <a:ext uri="{FF2B5EF4-FFF2-40B4-BE49-F238E27FC236}">
                <a16:creationId xmlns:a16="http://schemas.microsoft.com/office/drawing/2014/main" id="{CF705B5D-D699-F8C5-717E-51565FF3DD41}"/>
              </a:ext>
            </a:extLst>
          </p:cNvPr>
          <p:cNvSpPr txBox="1"/>
          <p:nvPr/>
        </p:nvSpPr>
        <p:spPr>
          <a:xfrm>
            <a:off x="3045823" y="2870075"/>
            <a:ext cx="6100354" cy="369332"/>
          </a:xfrm>
          <a:prstGeom prst="rect">
            <a:avLst/>
          </a:prstGeom>
          <a:noFill/>
        </p:spPr>
        <p:txBody>
          <a:bodyPr wrap="square">
            <a:spAutoFit/>
          </a:bodyPr>
          <a:lstStyle/>
          <a:p>
            <a:endParaRPr lang="en-US" dirty="0"/>
          </a:p>
        </p:txBody>
      </p:sp>
      <p:pic>
        <p:nvPicPr>
          <p:cNvPr id="15362" name="Picture 2" descr="Correlation: Meaning, Types, Examples &amp; Coefficient">
            <a:extLst>
              <a:ext uri="{FF2B5EF4-FFF2-40B4-BE49-F238E27FC236}">
                <a16:creationId xmlns:a16="http://schemas.microsoft.com/office/drawing/2014/main" id="{2EC429FB-BB12-4CB0-479C-8BA0CC1FBFE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4498" b="19221"/>
          <a:stretch>
            <a:fillRect/>
          </a:stretch>
        </p:blipFill>
        <p:spPr bwMode="auto">
          <a:xfrm>
            <a:off x="798800" y="2183941"/>
            <a:ext cx="10464800" cy="29816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19243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25F518-7556-FE85-97D3-C248F6DFD8EE}"/>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AB3EF5B8-09E3-0EBD-8A55-35F2AFBF0F42}"/>
              </a:ext>
            </a:extLst>
          </p:cNvPr>
          <p:cNvSpPr txBox="1">
            <a:spLocks/>
          </p:cNvSpPr>
          <p:nvPr/>
        </p:nvSpPr>
        <p:spPr>
          <a:xfrm>
            <a:off x="480001" y="4142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Pearsons’s correlation</a:t>
            </a:r>
          </a:p>
        </p:txBody>
      </p:sp>
      <p:sp>
        <p:nvSpPr>
          <p:cNvPr id="2" name="Content Placeholder 2">
            <a:extLst>
              <a:ext uri="{FF2B5EF4-FFF2-40B4-BE49-F238E27FC236}">
                <a16:creationId xmlns:a16="http://schemas.microsoft.com/office/drawing/2014/main" id="{8E41E063-A446-5989-ACE5-0185B4610622}"/>
              </a:ext>
            </a:extLst>
          </p:cNvPr>
          <p:cNvSpPr txBox="1">
            <a:spLocks noGrp="1"/>
          </p:cNvSpPr>
          <p:nvPr>
            <p:ph idx="1"/>
          </p:nvPr>
        </p:nvSpPr>
        <p:spPr>
          <a:xfrm>
            <a:off x="579863" y="1296001"/>
            <a:ext cx="11002537" cy="558925"/>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b="1" dirty="0"/>
              <a:t>Guess the correlation game</a:t>
            </a:r>
            <a:r>
              <a:rPr lang="en-US" sz="2000" dirty="0"/>
              <a:t>: </a:t>
            </a:r>
            <a:r>
              <a:rPr lang="en-US" sz="2000" dirty="0">
                <a:hlinkClick r:id="rId2"/>
              </a:rPr>
              <a:t>https://www.guessthecorrelation.com/</a:t>
            </a:r>
            <a:r>
              <a:rPr lang="en-US" sz="2000" dirty="0"/>
              <a:t> </a:t>
            </a:r>
          </a:p>
          <a:p>
            <a:pPr marL="0" indent="0">
              <a:buNone/>
            </a:pPr>
            <a:r>
              <a:rPr lang="en-US" sz="2000" dirty="0"/>
              <a:t> </a:t>
            </a:r>
          </a:p>
        </p:txBody>
      </p:sp>
      <p:pic>
        <p:nvPicPr>
          <p:cNvPr id="11" name="Picture 10">
            <a:extLst>
              <a:ext uri="{FF2B5EF4-FFF2-40B4-BE49-F238E27FC236}">
                <a16:creationId xmlns:a16="http://schemas.microsoft.com/office/drawing/2014/main" id="{2F5DA758-1D54-C451-0723-0A689D37152A}"/>
              </a:ext>
            </a:extLst>
          </p:cNvPr>
          <p:cNvPicPr>
            <a:picLocks noChangeAspect="1"/>
          </p:cNvPicPr>
          <p:nvPr/>
        </p:nvPicPr>
        <p:blipFill>
          <a:blip r:embed="rId3"/>
          <a:stretch>
            <a:fillRect/>
          </a:stretch>
        </p:blipFill>
        <p:spPr>
          <a:xfrm>
            <a:off x="1174067" y="1980668"/>
            <a:ext cx="4241996" cy="2906553"/>
          </a:xfrm>
          <a:prstGeom prst="rect">
            <a:avLst/>
          </a:prstGeom>
        </p:spPr>
      </p:pic>
      <p:pic>
        <p:nvPicPr>
          <p:cNvPr id="3" name="Picture 2">
            <a:extLst>
              <a:ext uri="{FF2B5EF4-FFF2-40B4-BE49-F238E27FC236}">
                <a16:creationId xmlns:a16="http://schemas.microsoft.com/office/drawing/2014/main" id="{C70A4D44-5D9D-B8F3-B3C4-1828CD9209D0}"/>
              </a:ext>
            </a:extLst>
          </p:cNvPr>
          <p:cNvPicPr>
            <a:picLocks noChangeAspect="1"/>
          </p:cNvPicPr>
          <p:nvPr/>
        </p:nvPicPr>
        <p:blipFill>
          <a:blip r:embed="rId4"/>
          <a:stretch>
            <a:fillRect/>
          </a:stretch>
        </p:blipFill>
        <p:spPr>
          <a:xfrm>
            <a:off x="6031200" y="1980667"/>
            <a:ext cx="4163440" cy="2906553"/>
          </a:xfrm>
          <a:prstGeom prst="rect">
            <a:avLst/>
          </a:prstGeom>
        </p:spPr>
      </p:pic>
    </p:spTree>
    <p:extLst>
      <p:ext uri="{BB962C8B-B14F-4D97-AF65-F5344CB8AC3E}">
        <p14:creationId xmlns:p14="http://schemas.microsoft.com/office/powerpoint/2010/main" val="208096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4B7926-15FB-C2AB-C4B3-D0C6BFAC8089}"/>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E3CD9C8B-C843-5537-E667-D9C6E484508D}"/>
              </a:ext>
            </a:extLst>
          </p:cNvPr>
          <p:cNvSpPr txBox="1">
            <a:spLocks/>
          </p:cNvSpPr>
          <p:nvPr/>
        </p:nvSpPr>
        <p:spPr>
          <a:xfrm>
            <a:off x="480001" y="4142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Pearsons’s correlation</a:t>
            </a:r>
          </a:p>
        </p:txBody>
      </p:sp>
      <p:sp>
        <p:nvSpPr>
          <p:cNvPr id="2" name="Content Placeholder 2">
            <a:extLst>
              <a:ext uri="{FF2B5EF4-FFF2-40B4-BE49-F238E27FC236}">
                <a16:creationId xmlns:a16="http://schemas.microsoft.com/office/drawing/2014/main" id="{8AC385C4-54DD-0625-0041-AB98167F6096}"/>
              </a:ext>
            </a:extLst>
          </p:cNvPr>
          <p:cNvSpPr txBox="1">
            <a:spLocks noGrp="1"/>
          </p:cNvSpPr>
          <p:nvPr>
            <p:ph idx="1"/>
          </p:nvPr>
        </p:nvSpPr>
        <p:spPr>
          <a:xfrm>
            <a:off x="579863" y="1296001"/>
            <a:ext cx="11002537" cy="558925"/>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b="1" dirty="0"/>
              <a:t>Guess the correlation game</a:t>
            </a:r>
            <a:r>
              <a:rPr lang="en-US" sz="2000" dirty="0"/>
              <a:t>: </a:t>
            </a:r>
            <a:r>
              <a:rPr lang="en-US" sz="2000" dirty="0">
                <a:hlinkClick r:id="rId2"/>
              </a:rPr>
              <a:t>https://www.guessthecorrelation.com/</a:t>
            </a:r>
            <a:r>
              <a:rPr lang="en-US" sz="2000" dirty="0"/>
              <a:t> </a:t>
            </a:r>
          </a:p>
          <a:p>
            <a:pPr marL="0" indent="0">
              <a:buNone/>
            </a:pPr>
            <a:r>
              <a:rPr lang="en-US" sz="2000" dirty="0"/>
              <a:t> </a:t>
            </a:r>
          </a:p>
        </p:txBody>
      </p:sp>
      <p:pic>
        <p:nvPicPr>
          <p:cNvPr id="11" name="Picture 10">
            <a:extLst>
              <a:ext uri="{FF2B5EF4-FFF2-40B4-BE49-F238E27FC236}">
                <a16:creationId xmlns:a16="http://schemas.microsoft.com/office/drawing/2014/main" id="{BACC495F-298E-FE87-E1A7-53FF6A6532D1}"/>
              </a:ext>
            </a:extLst>
          </p:cNvPr>
          <p:cNvPicPr>
            <a:picLocks noChangeAspect="1"/>
          </p:cNvPicPr>
          <p:nvPr/>
        </p:nvPicPr>
        <p:blipFill>
          <a:blip r:embed="rId3"/>
          <a:stretch>
            <a:fillRect/>
          </a:stretch>
        </p:blipFill>
        <p:spPr>
          <a:xfrm>
            <a:off x="1174067" y="1980668"/>
            <a:ext cx="4241996" cy="2906553"/>
          </a:xfrm>
          <a:prstGeom prst="rect">
            <a:avLst/>
          </a:prstGeom>
        </p:spPr>
      </p:pic>
      <p:pic>
        <p:nvPicPr>
          <p:cNvPr id="3" name="Picture 2">
            <a:extLst>
              <a:ext uri="{FF2B5EF4-FFF2-40B4-BE49-F238E27FC236}">
                <a16:creationId xmlns:a16="http://schemas.microsoft.com/office/drawing/2014/main" id="{F0B44422-DEE9-6ECA-D93D-6F3E52D94800}"/>
              </a:ext>
            </a:extLst>
          </p:cNvPr>
          <p:cNvPicPr>
            <a:picLocks noChangeAspect="1"/>
          </p:cNvPicPr>
          <p:nvPr/>
        </p:nvPicPr>
        <p:blipFill>
          <a:blip r:embed="rId4"/>
          <a:stretch>
            <a:fillRect/>
          </a:stretch>
        </p:blipFill>
        <p:spPr>
          <a:xfrm>
            <a:off x="6031200" y="1980667"/>
            <a:ext cx="4163440" cy="2906553"/>
          </a:xfrm>
          <a:prstGeom prst="rect">
            <a:avLst/>
          </a:prstGeom>
        </p:spPr>
      </p:pic>
      <p:sp>
        <p:nvSpPr>
          <p:cNvPr id="4" name="TextBox 3">
            <a:extLst>
              <a:ext uri="{FF2B5EF4-FFF2-40B4-BE49-F238E27FC236}">
                <a16:creationId xmlns:a16="http://schemas.microsoft.com/office/drawing/2014/main" id="{8D38AFC9-9DBA-E9C3-514F-169504788288}"/>
              </a:ext>
            </a:extLst>
          </p:cNvPr>
          <p:cNvSpPr txBox="1"/>
          <p:nvPr/>
        </p:nvSpPr>
        <p:spPr>
          <a:xfrm>
            <a:off x="1648861" y="5012963"/>
            <a:ext cx="3767202" cy="369332"/>
          </a:xfrm>
          <a:prstGeom prst="rect">
            <a:avLst/>
          </a:prstGeom>
          <a:noFill/>
        </p:spPr>
        <p:txBody>
          <a:bodyPr wrap="square">
            <a:spAutoFit/>
          </a:bodyPr>
          <a:lstStyle/>
          <a:p>
            <a:r>
              <a:rPr lang="en-US" sz="1800" dirty="0"/>
              <a:t>Pearson’s correlation: 0.689</a:t>
            </a:r>
          </a:p>
        </p:txBody>
      </p:sp>
      <p:sp>
        <p:nvSpPr>
          <p:cNvPr id="5" name="TextBox 4">
            <a:extLst>
              <a:ext uri="{FF2B5EF4-FFF2-40B4-BE49-F238E27FC236}">
                <a16:creationId xmlns:a16="http://schemas.microsoft.com/office/drawing/2014/main" id="{E736ADA2-34BC-479E-5D92-AA3F45D668DF}"/>
              </a:ext>
            </a:extLst>
          </p:cNvPr>
          <p:cNvSpPr txBox="1"/>
          <p:nvPr/>
        </p:nvSpPr>
        <p:spPr>
          <a:xfrm>
            <a:off x="6229319" y="5012963"/>
            <a:ext cx="3767202" cy="369332"/>
          </a:xfrm>
          <a:prstGeom prst="rect">
            <a:avLst/>
          </a:prstGeom>
          <a:noFill/>
        </p:spPr>
        <p:txBody>
          <a:bodyPr wrap="square">
            <a:spAutoFit/>
          </a:bodyPr>
          <a:lstStyle/>
          <a:p>
            <a:r>
              <a:rPr lang="en-US" sz="1800" dirty="0"/>
              <a:t>Pearson’s correlation: 0.338</a:t>
            </a:r>
          </a:p>
        </p:txBody>
      </p:sp>
    </p:spTree>
    <p:extLst>
      <p:ext uri="{BB962C8B-B14F-4D97-AF65-F5344CB8AC3E}">
        <p14:creationId xmlns:p14="http://schemas.microsoft.com/office/powerpoint/2010/main" val="36039113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CED10E-0EEC-732D-2412-4B3C411319D3}"/>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71BFC585-98CF-D369-050F-2E68FD7CC758}"/>
              </a:ext>
            </a:extLst>
          </p:cNvPr>
          <p:cNvSpPr txBox="1">
            <a:spLocks/>
          </p:cNvSpPr>
          <p:nvPr/>
        </p:nvSpPr>
        <p:spPr>
          <a:xfrm>
            <a:off x="480001" y="4142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Pearsons’s correlation</a:t>
            </a:r>
          </a:p>
        </p:txBody>
      </p:sp>
      <p:sp>
        <p:nvSpPr>
          <p:cNvPr id="5" name="Content Placeholder 2">
            <a:extLst>
              <a:ext uri="{FF2B5EF4-FFF2-40B4-BE49-F238E27FC236}">
                <a16:creationId xmlns:a16="http://schemas.microsoft.com/office/drawing/2014/main" id="{5EFC3A48-2361-6F2E-9B29-4AC8D97DAB0A}"/>
              </a:ext>
            </a:extLst>
          </p:cNvPr>
          <p:cNvSpPr txBox="1">
            <a:spLocks noGrp="1"/>
          </p:cNvSpPr>
          <p:nvPr>
            <p:ph idx="1"/>
          </p:nvPr>
        </p:nvSpPr>
        <p:spPr>
          <a:xfrm>
            <a:off x="579863" y="1296001"/>
            <a:ext cx="11002537" cy="756000"/>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dirty="0"/>
              <a:t>Pearson’s correlation (Pearson’s r) measures the strength of a </a:t>
            </a:r>
            <a:r>
              <a:rPr lang="en-US" sz="2000" b="1" i="1" dirty="0">
                <a:solidFill>
                  <a:schemeClr val="accent1"/>
                </a:solidFill>
              </a:rPr>
              <a:t>linear relationship </a:t>
            </a:r>
            <a:r>
              <a:rPr lang="en-US" sz="2000" dirty="0"/>
              <a:t>between two paired numerical variables</a:t>
            </a:r>
          </a:p>
        </p:txBody>
      </p:sp>
      <p:pic>
        <p:nvPicPr>
          <p:cNvPr id="2" name="Picture 1">
            <a:extLst>
              <a:ext uri="{FF2B5EF4-FFF2-40B4-BE49-F238E27FC236}">
                <a16:creationId xmlns:a16="http://schemas.microsoft.com/office/drawing/2014/main" id="{1576AAAC-D2C4-CC30-2215-73F4F3F71C3B}"/>
              </a:ext>
            </a:extLst>
          </p:cNvPr>
          <p:cNvPicPr>
            <a:picLocks noChangeAspect="1"/>
          </p:cNvPicPr>
          <p:nvPr/>
        </p:nvPicPr>
        <p:blipFill>
          <a:blip r:embed="rId2"/>
          <a:stretch>
            <a:fillRect/>
          </a:stretch>
        </p:blipFill>
        <p:spPr>
          <a:xfrm>
            <a:off x="1117796" y="2655447"/>
            <a:ext cx="4241996" cy="2906553"/>
          </a:xfrm>
          <a:prstGeom prst="rect">
            <a:avLst/>
          </a:prstGeom>
        </p:spPr>
      </p:pic>
      <p:pic>
        <p:nvPicPr>
          <p:cNvPr id="3" name="Picture 2">
            <a:extLst>
              <a:ext uri="{FF2B5EF4-FFF2-40B4-BE49-F238E27FC236}">
                <a16:creationId xmlns:a16="http://schemas.microsoft.com/office/drawing/2014/main" id="{00DA81A4-56F0-2548-AF00-9C4DA9BE01BD}"/>
              </a:ext>
            </a:extLst>
          </p:cNvPr>
          <p:cNvPicPr>
            <a:picLocks noChangeAspect="1"/>
          </p:cNvPicPr>
          <p:nvPr/>
        </p:nvPicPr>
        <p:blipFill>
          <a:blip r:embed="rId3"/>
          <a:stretch>
            <a:fillRect/>
          </a:stretch>
        </p:blipFill>
        <p:spPr>
          <a:xfrm>
            <a:off x="5974929" y="2655446"/>
            <a:ext cx="4163440" cy="2906553"/>
          </a:xfrm>
          <a:prstGeom prst="rect">
            <a:avLst/>
          </a:prstGeom>
        </p:spPr>
      </p:pic>
      <p:sp>
        <p:nvSpPr>
          <p:cNvPr id="4" name="TextBox 3">
            <a:extLst>
              <a:ext uri="{FF2B5EF4-FFF2-40B4-BE49-F238E27FC236}">
                <a16:creationId xmlns:a16="http://schemas.microsoft.com/office/drawing/2014/main" id="{07ACDD19-33B4-BF2C-107F-CE14CC529DDA}"/>
              </a:ext>
            </a:extLst>
          </p:cNvPr>
          <p:cNvSpPr txBox="1"/>
          <p:nvPr/>
        </p:nvSpPr>
        <p:spPr>
          <a:xfrm>
            <a:off x="579862" y="2052001"/>
            <a:ext cx="10688359" cy="369332"/>
          </a:xfrm>
          <a:prstGeom prst="rect">
            <a:avLst/>
          </a:prstGeom>
          <a:noFill/>
        </p:spPr>
        <p:txBody>
          <a:bodyPr wrap="square" rtlCol="0">
            <a:spAutoFit/>
          </a:bodyPr>
          <a:lstStyle/>
          <a:p>
            <a:r>
              <a:rPr lang="en-US" b="1" dirty="0"/>
              <a:t>Pearson’s correlation is not an optimal metric when a relationship cannot be explained with a linear function </a:t>
            </a:r>
          </a:p>
        </p:txBody>
      </p:sp>
      <p:sp>
        <p:nvSpPr>
          <p:cNvPr id="6" name="TextBox 5">
            <a:extLst>
              <a:ext uri="{FF2B5EF4-FFF2-40B4-BE49-F238E27FC236}">
                <a16:creationId xmlns:a16="http://schemas.microsoft.com/office/drawing/2014/main" id="{2A3A7859-1B4B-4A42-406A-94CC97957F9B}"/>
              </a:ext>
            </a:extLst>
          </p:cNvPr>
          <p:cNvSpPr txBox="1"/>
          <p:nvPr/>
        </p:nvSpPr>
        <p:spPr>
          <a:xfrm>
            <a:off x="1592590" y="5561999"/>
            <a:ext cx="3767202" cy="369332"/>
          </a:xfrm>
          <a:prstGeom prst="rect">
            <a:avLst/>
          </a:prstGeom>
          <a:noFill/>
        </p:spPr>
        <p:txBody>
          <a:bodyPr wrap="square">
            <a:spAutoFit/>
          </a:bodyPr>
          <a:lstStyle/>
          <a:p>
            <a:r>
              <a:rPr lang="en-US" sz="1800" dirty="0"/>
              <a:t>Pearson’s correlation: 0.689</a:t>
            </a:r>
          </a:p>
        </p:txBody>
      </p:sp>
      <p:sp>
        <p:nvSpPr>
          <p:cNvPr id="10" name="TextBox 9">
            <a:extLst>
              <a:ext uri="{FF2B5EF4-FFF2-40B4-BE49-F238E27FC236}">
                <a16:creationId xmlns:a16="http://schemas.microsoft.com/office/drawing/2014/main" id="{B8E04974-6A99-854C-1595-F5E16B97792C}"/>
              </a:ext>
            </a:extLst>
          </p:cNvPr>
          <p:cNvSpPr txBox="1"/>
          <p:nvPr/>
        </p:nvSpPr>
        <p:spPr>
          <a:xfrm>
            <a:off x="6173048" y="5561999"/>
            <a:ext cx="3767202" cy="369332"/>
          </a:xfrm>
          <a:prstGeom prst="rect">
            <a:avLst/>
          </a:prstGeom>
          <a:noFill/>
        </p:spPr>
        <p:txBody>
          <a:bodyPr wrap="square">
            <a:spAutoFit/>
          </a:bodyPr>
          <a:lstStyle/>
          <a:p>
            <a:r>
              <a:rPr lang="en-US" sz="1800" dirty="0"/>
              <a:t>Pearson’s correlation: 0.338</a:t>
            </a:r>
          </a:p>
        </p:txBody>
      </p:sp>
    </p:spTree>
    <p:extLst>
      <p:ext uri="{BB962C8B-B14F-4D97-AF65-F5344CB8AC3E}">
        <p14:creationId xmlns:p14="http://schemas.microsoft.com/office/powerpoint/2010/main" val="14888096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25E71-F225-92C3-291D-CEF3E84F964A}"/>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A05E993E-6649-7288-6FB9-3C2F829A7E94}"/>
              </a:ext>
            </a:extLst>
          </p:cNvPr>
          <p:cNvSpPr txBox="1">
            <a:spLocks/>
          </p:cNvSpPr>
          <p:nvPr/>
        </p:nvSpPr>
        <p:spPr>
          <a:xfrm>
            <a:off x="480001" y="4142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Spearman’s Correlation</a:t>
            </a:r>
          </a:p>
        </p:txBody>
      </p:sp>
      <p:sp>
        <p:nvSpPr>
          <p:cNvPr id="15" name="Content Placeholder 2">
            <a:extLst>
              <a:ext uri="{FF2B5EF4-FFF2-40B4-BE49-F238E27FC236}">
                <a16:creationId xmlns:a16="http://schemas.microsoft.com/office/drawing/2014/main" id="{057DDDE9-225B-91AC-F34A-38171C9462F5}"/>
              </a:ext>
            </a:extLst>
          </p:cNvPr>
          <p:cNvSpPr txBox="1">
            <a:spLocks noGrp="1"/>
          </p:cNvSpPr>
          <p:nvPr>
            <p:ph idx="1"/>
          </p:nvPr>
        </p:nvSpPr>
        <p:spPr>
          <a:xfrm>
            <a:off x="579863" y="1296001"/>
            <a:ext cx="11002537" cy="756000"/>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3600" dirty="0"/>
              <a:t>Spearman’s rank correlation (Spearman’s ⍴) is computed by:</a:t>
            </a:r>
          </a:p>
          <a:p>
            <a:pPr marL="457200" indent="-457200">
              <a:buFont typeface="+mj-lt"/>
              <a:buAutoNum type="arabicPeriod"/>
            </a:pPr>
            <a:r>
              <a:rPr lang="en-US" sz="3600" dirty="0"/>
              <a:t>replacing the original values of each variable with their ranks</a:t>
            </a:r>
          </a:p>
          <a:p>
            <a:pPr marL="457200" indent="-457200">
              <a:buFont typeface="+mj-lt"/>
              <a:buAutoNum type="arabicPeriod"/>
            </a:pPr>
            <a:r>
              <a:rPr lang="en-US" sz="3600" dirty="0"/>
              <a:t>computing Pearson’s correlation on those ranks.</a:t>
            </a:r>
          </a:p>
        </p:txBody>
      </p:sp>
      <p:pic>
        <p:nvPicPr>
          <p:cNvPr id="20482" name="Picture 2">
            <a:extLst>
              <a:ext uri="{FF2B5EF4-FFF2-40B4-BE49-F238E27FC236}">
                <a16:creationId xmlns:a16="http://schemas.microsoft.com/office/drawing/2014/main" id="{BC536685-E90D-7273-F0AE-0AAC29B066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7175" y="4442174"/>
            <a:ext cx="4637649" cy="727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23743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727A3-09DE-767C-0457-EB16F267D214}"/>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7B2D07BF-0738-89C0-A8D8-1F628E2C77DF}"/>
              </a:ext>
            </a:extLst>
          </p:cNvPr>
          <p:cNvSpPr txBox="1">
            <a:spLocks/>
          </p:cNvSpPr>
          <p:nvPr/>
        </p:nvSpPr>
        <p:spPr>
          <a:xfrm>
            <a:off x="480001" y="4142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Spearman’s Correlation</a:t>
            </a:r>
          </a:p>
        </p:txBody>
      </p:sp>
      <p:sp>
        <p:nvSpPr>
          <p:cNvPr id="15" name="Content Placeholder 2">
            <a:extLst>
              <a:ext uri="{FF2B5EF4-FFF2-40B4-BE49-F238E27FC236}">
                <a16:creationId xmlns:a16="http://schemas.microsoft.com/office/drawing/2014/main" id="{EBACE7CD-2065-1139-B36A-00ED31268625}"/>
              </a:ext>
            </a:extLst>
          </p:cNvPr>
          <p:cNvSpPr txBox="1">
            <a:spLocks noGrp="1"/>
          </p:cNvSpPr>
          <p:nvPr>
            <p:ph idx="1"/>
          </p:nvPr>
        </p:nvSpPr>
        <p:spPr>
          <a:xfrm>
            <a:off x="579863" y="1296001"/>
            <a:ext cx="11002537" cy="756000"/>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dirty="0"/>
              <a:t>Spearman’s rank correlation (Spearman’s ⍴) is computed by:</a:t>
            </a:r>
          </a:p>
          <a:p>
            <a:pPr marL="457200" indent="-457200">
              <a:buFont typeface="+mj-lt"/>
              <a:buAutoNum type="arabicPeriod"/>
            </a:pPr>
            <a:r>
              <a:rPr lang="en-US" sz="2000" dirty="0"/>
              <a:t>replacing the original values of each variable with their ranks</a:t>
            </a:r>
          </a:p>
          <a:p>
            <a:pPr marL="457200" indent="-457200">
              <a:buFont typeface="+mj-lt"/>
              <a:buAutoNum type="arabicPeriod"/>
            </a:pPr>
            <a:r>
              <a:rPr lang="en-US" sz="2000" dirty="0"/>
              <a:t>computing Pearson’s correlation on those ranks.</a:t>
            </a:r>
          </a:p>
        </p:txBody>
      </p:sp>
      <p:sp>
        <p:nvSpPr>
          <p:cNvPr id="18" name="TextBox 17">
            <a:extLst>
              <a:ext uri="{FF2B5EF4-FFF2-40B4-BE49-F238E27FC236}">
                <a16:creationId xmlns:a16="http://schemas.microsoft.com/office/drawing/2014/main" id="{0BA2343F-FAB1-1815-44C3-4338D8875752}"/>
              </a:ext>
            </a:extLst>
          </p:cNvPr>
          <p:cNvSpPr txBox="1"/>
          <p:nvPr/>
        </p:nvSpPr>
        <p:spPr>
          <a:xfrm>
            <a:off x="705084" y="3842655"/>
            <a:ext cx="6392402" cy="2031325"/>
          </a:xfrm>
          <a:prstGeom prst="rect">
            <a:avLst/>
          </a:prstGeom>
          <a:noFill/>
        </p:spPr>
        <p:txBody>
          <a:bodyPr wrap="square">
            <a:spAutoFit/>
          </a:bodyPr>
          <a:lstStyle/>
          <a:p>
            <a:r>
              <a:rPr lang="en-US" dirty="0"/>
              <a:t>x = [3, 1, 13, 7, 9, 10, 4]</a:t>
            </a:r>
          </a:p>
          <a:p>
            <a:r>
              <a:rPr lang="en-US" dirty="0"/>
              <a:t>y = [81, 1, 28561, 2401, 6561, 10000, 256]</a:t>
            </a:r>
          </a:p>
          <a:p>
            <a:endParaRPr lang="en-US" dirty="0"/>
          </a:p>
          <a:p>
            <a:pPr lvl="0" eaLnBrk="0" fontAlgn="base" hangingPunct="0">
              <a:spcBef>
                <a:spcPct val="0"/>
              </a:spcBef>
              <a:spcAft>
                <a:spcPct val="0"/>
              </a:spcAft>
            </a:pPr>
            <a:r>
              <a:rPr lang="en-US" altLang="en-US" dirty="0"/>
              <a:t>rank(x) = </a:t>
            </a:r>
            <a:r>
              <a:rPr lang="en-US" dirty="0"/>
              <a:t>[2, 1, 7, 4, 5, 6, 3]</a:t>
            </a:r>
          </a:p>
          <a:p>
            <a:pPr lvl="0" eaLnBrk="0" fontAlgn="base" hangingPunct="0">
              <a:spcBef>
                <a:spcPct val="0"/>
              </a:spcBef>
              <a:spcAft>
                <a:spcPct val="0"/>
              </a:spcAft>
            </a:pPr>
            <a:r>
              <a:rPr lang="en-US" altLang="en-US" dirty="0"/>
              <a:t>rank(y) = </a:t>
            </a:r>
            <a:r>
              <a:rPr lang="en-US" dirty="0"/>
              <a:t>[2, 1, 7, 4, 5, 6, 3]</a:t>
            </a:r>
          </a:p>
          <a:p>
            <a:pPr lvl="0" eaLnBrk="0" fontAlgn="base" hangingPunct="0">
              <a:spcBef>
                <a:spcPct val="0"/>
              </a:spcBef>
              <a:spcAft>
                <a:spcPct val="0"/>
              </a:spcAft>
            </a:pPr>
            <a:endParaRPr lang="en-US" altLang="en-US" dirty="0"/>
          </a:p>
          <a:p>
            <a:pPr lvl="0" eaLnBrk="0" fontAlgn="base" hangingPunct="0">
              <a:spcBef>
                <a:spcPct val="0"/>
              </a:spcBef>
              <a:spcAft>
                <a:spcPct val="0"/>
              </a:spcAft>
            </a:pPr>
            <a:r>
              <a:rPr lang="en-US" altLang="en-US" dirty="0"/>
              <a:t>Compute Spearman’s and Pearson’s correlation.</a:t>
            </a:r>
          </a:p>
        </p:txBody>
      </p:sp>
      <p:pic>
        <p:nvPicPr>
          <p:cNvPr id="20482" name="Picture 2">
            <a:extLst>
              <a:ext uri="{FF2B5EF4-FFF2-40B4-BE49-F238E27FC236}">
                <a16:creationId xmlns:a16="http://schemas.microsoft.com/office/drawing/2014/main" id="{F3FB757F-C86F-F66B-5DFB-437CC162BD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77175" y="2459503"/>
            <a:ext cx="4637649" cy="727652"/>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20">
            <a:extLst>
              <a:ext uri="{FF2B5EF4-FFF2-40B4-BE49-F238E27FC236}">
                <a16:creationId xmlns:a16="http://schemas.microsoft.com/office/drawing/2014/main" id="{56B7E465-A40D-9D25-676E-B093A9A0CAA9}"/>
              </a:ext>
            </a:extLst>
          </p:cNvPr>
          <p:cNvSpPr/>
          <p:nvPr/>
        </p:nvSpPr>
        <p:spPr>
          <a:xfrm>
            <a:off x="4501661" y="2408152"/>
            <a:ext cx="3587262" cy="321087"/>
          </a:xfrm>
          <a:prstGeom prst="rect">
            <a:avLst/>
          </a:prstGeom>
          <a:solidFill>
            <a:schemeClr val="accent1">
              <a:lumMod val="20000"/>
              <a:lumOff val="80000"/>
              <a:alpha val="30435"/>
            </a:schemeClr>
          </a:solidFill>
          <a:ln w="31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highlight>
                <a:srgbClr val="D95318"/>
              </a:highlight>
            </a:endParaRPr>
          </a:p>
        </p:txBody>
      </p:sp>
      <p:sp>
        <p:nvSpPr>
          <p:cNvPr id="22" name="Rectangle 21">
            <a:extLst>
              <a:ext uri="{FF2B5EF4-FFF2-40B4-BE49-F238E27FC236}">
                <a16:creationId xmlns:a16="http://schemas.microsoft.com/office/drawing/2014/main" id="{B4EDC514-B688-687E-E7CD-274332924277}"/>
              </a:ext>
            </a:extLst>
          </p:cNvPr>
          <p:cNvSpPr/>
          <p:nvPr/>
        </p:nvSpPr>
        <p:spPr>
          <a:xfrm>
            <a:off x="4257893" y="2772447"/>
            <a:ext cx="2087066" cy="412070"/>
          </a:xfrm>
          <a:prstGeom prst="rect">
            <a:avLst/>
          </a:prstGeom>
          <a:solidFill>
            <a:schemeClr val="tx1">
              <a:lumMod val="10000"/>
              <a:lumOff val="90000"/>
              <a:alpha val="30000"/>
            </a:schemeClr>
          </a:solidFill>
          <a:ln w="31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highlight>
                <a:srgbClr val="D95318"/>
              </a:highlight>
            </a:endParaRPr>
          </a:p>
        </p:txBody>
      </p:sp>
      <p:sp>
        <p:nvSpPr>
          <p:cNvPr id="23" name="Rectangle 22">
            <a:extLst>
              <a:ext uri="{FF2B5EF4-FFF2-40B4-BE49-F238E27FC236}">
                <a16:creationId xmlns:a16="http://schemas.microsoft.com/office/drawing/2014/main" id="{B753BD8F-970D-CB20-9A63-021895E6AEB4}"/>
              </a:ext>
            </a:extLst>
          </p:cNvPr>
          <p:cNvSpPr/>
          <p:nvPr/>
        </p:nvSpPr>
        <p:spPr>
          <a:xfrm>
            <a:off x="6371717" y="2769807"/>
            <a:ext cx="2087066" cy="412071"/>
          </a:xfrm>
          <a:prstGeom prst="rect">
            <a:avLst/>
          </a:prstGeom>
          <a:solidFill>
            <a:srgbClr val="92D050">
              <a:alpha val="15000"/>
            </a:srgbClr>
          </a:solidFill>
          <a:ln w="3175">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highlight>
                <a:srgbClr val="D95318"/>
              </a:highlight>
            </a:endParaRPr>
          </a:p>
        </p:txBody>
      </p:sp>
      <p:sp>
        <p:nvSpPr>
          <p:cNvPr id="2" name="TextBox 1">
            <a:extLst>
              <a:ext uri="{FF2B5EF4-FFF2-40B4-BE49-F238E27FC236}">
                <a16:creationId xmlns:a16="http://schemas.microsoft.com/office/drawing/2014/main" id="{0B18057C-9154-D03B-4E6C-3BA564F6E53D}"/>
              </a:ext>
            </a:extLst>
          </p:cNvPr>
          <p:cNvSpPr txBox="1"/>
          <p:nvPr/>
        </p:nvSpPr>
        <p:spPr>
          <a:xfrm>
            <a:off x="8200570" y="2328563"/>
            <a:ext cx="2714171" cy="369332"/>
          </a:xfrm>
          <a:prstGeom prst="rect">
            <a:avLst/>
          </a:prstGeom>
          <a:noFill/>
        </p:spPr>
        <p:txBody>
          <a:bodyPr wrap="square" rtlCol="0">
            <a:spAutoFit/>
          </a:bodyPr>
          <a:lstStyle/>
          <a:p>
            <a:r>
              <a:rPr lang="en-US" b="1" dirty="0">
                <a:solidFill>
                  <a:schemeClr val="accent1"/>
                </a:solidFill>
              </a:rPr>
              <a:t>Covariance of ranks</a:t>
            </a:r>
          </a:p>
        </p:txBody>
      </p:sp>
      <p:sp>
        <p:nvSpPr>
          <p:cNvPr id="3" name="TextBox 2">
            <a:extLst>
              <a:ext uri="{FF2B5EF4-FFF2-40B4-BE49-F238E27FC236}">
                <a16:creationId xmlns:a16="http://schemas.microsoft.com/office/drawing/2014/main" id="{3103D502-5B55-E5C5-5EC6-E3F25E49ADC6}"/>
              </a:ext>
            </a:extLst>
          </p:cNvPr>
          <p:cNvSpPr txBox="1"/>
          <p:nvPr/>
        </p:nvSpPr>
        <p:spPr>
          <a:xfrm>
            <a:off x="4257894" y="3238506"/>
            <a:ext cx="2087066" cy="369332"/>
          </a:xfrm>
          <a:prstGeom prst="rect">
            <a:avLst/>
          </a:prstGeom>
          <a:noFill/>
        </p:spPr>
        <p:txBody>
          <a:bodyPr wrap="square" rtlCol="0">
            <a:spAutoFit/>
          </a:bodyPr>
          <a:lstStyle/>
          <a:p>
            <a:r>
              <a:rPr lang="en-US" b="1" dirty="0">
                <a:solidFill>
                  <a:schemeClr val="tx2"/>
                </a:solidFill>
              </a:rPr>
              <a:t>x ranks std</a:t>
            </a:r>
          </a:p>
        </p:txBody>
      </p:sp>
      <p:sp>
        <p:nvSpPr>
          <p:cNvPr id="4" name="TextBox 3">
            <a:extLst>
              <a:ext uri="{FF2B5EF4-FFF2-40B4-BE49-F238E27FC236}">
                <a16:creationId xmlns:a16="http://schemas.microsoft.com/office/drawing/2014/main" id="{08194A0E-69A4-16B2-C5D8-6453808407E2}"/>
              </a:ext>
            </a:extLst>
          </p:cNvPr>
          <p:cNvSpPr txBox="1"/>
          <p:nvPr/>
        </p:nvSpPr>
        <p:spPr>
          <a:xfrm>
            <a:off x="6344959" y="3238506"/>
            <a:ext cx="2087066" cy="369332"/>
          </a:xfrm>
          <a:prstGeom prst="rect">
            <a:avLst/>
          </a:prstGeom>
          <a:noFill/>
        </p:spPr>
        <p:txBody>
          <a:bodyPr wrap="square" rtlCol="0">
            <a:spAutoFit/>
          </a:bodyPr>
          <a:lstStyle/>
          <a:p>
            <a:r>
              <a:rPr lang="en-US" b="1" dirty="0">
                <a:solidFill>
                  <a:srgbClr val="00B050"/>
                </a:solidFill>
              </a:rPr>
              <a:t>y ranks std</a:t>
            </a:r>
          </a:p>
        </p:txBody>
      </p:sp>
    </p:spTree>
    <p:extLst>
      <p:ext uri="{BB962C8B-B14F-4D97-AF65-F5344CB8AC3E}">
        <p14:creationId xmlns:p14="http://schemas.microsoft.com/office/powerpoint/2010/main" val="430105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7C7B5-F41E-5E21-49CA-2F36D6C3C85E}"/>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7F0554F1-5C91-BA66-DCCE-124FF2E311F3}"/>
              </a:ext>
            </a:extLst>
          </p:cNvPr>
          <p:cNvSpPr txBox="1">
            <a:spLocks/>
          </p:cNvSpPr>
          <p:nvPr/>
        </p:nvSpPr>
        <p:spPr>
          <a:xfrm>
            <a:off x="480001" y="4142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Correlations</a:t>
            </a:r>
          </a:p>
        </p:txBody>
      </p:sp>
      <p:sp>
        <p:nvSpPr>
          <p:cNvPr id="2" name="Content Placeholder 2">
            <a:extLst>
              <a:ext uri="{FF2B5EF4-FFF2-40B4-BE49-F238E27FC236}">
                <a16:creationId xmlns:a16="http://schemas.microsoft.com/office/drawing/2014/main" id="{C9169937-E1BB-B7E9-C2C8-4A85958781D7}"/>
              </a:ext>
            </a:extLst>
          </p:cNvPr>
          <p:cNvSpPr txBox="1">
            <a:spLocks noGrp="1"/>
          </p:cNvSpPr>
          <p:nvPr>
            <p:ph idx="1"/>
          </p:nvPr>
        </p:nvSpPr>
        <p:spPr>
          <a:xfrm>
            <a:off x="579863" y="1296001"/>
            <a:ext cx="11002537" cy="558925"/>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b="1" dirty="0"/>
              <a:t>Guess the correlations:</a:t>
            </a:r>
            <a:endParaRPr lang="en-US" sz="2000" dirty="0"/>
          </a:p>
          <a:p>
            <a:pPr marL="0" indent="0">
              <a:buNone/>
            </a:pPr>
            <a:r>
              <a:rPr lang="en-US" sz="2000" dirty="0"/>
              <a:t> </a:t>
            </a:r>
          </a:p>
        </p:txBody>
      </p:sp>
      <p:pic>
        <p:nvPicPr>
          <p:cNvPr id="5" name="Picture 4">
            <a:extLst>
              <a:ext uri="{FF2B5EF4-FFF2-40B4-BE49-F238E27FC236}">
                <a16:creationId xmlns:a16="http://schemas.microsoft.com/office/drawing/2014/main" id="{BD04CD2D-D550-EB12-E9FC-E4EE5CF92511}"/>
              </a:ext>
            </a:extLst>
          </p:cNvPr>
          <p:cNvPicPr>
            <a:picLocks noChangeAspect="1"/>
          </p:cNvPicPr>
          <p:nvPr/>
        </p:nvPicPr>
        <p:blipFill>
          <a:blip r:embed="rId2"/>
          <a:stretch>
            <a:fillRect/>
          </a:stretch>
        </p:blipFill>
        <p:spPr>
          <a:xfrm>
            <a:off x="579863" y="1980667"/>
            <a:ext cx="3416717" cy="2480283"/>
          </a:xfrm>
          <a:prstGeom prst="rect">
            <a:avLst/>
          </a:prstGeom>
        </p:spPr>
      </p:pic>
      <p:pic>
        <p:nvPicPr>
          <p:cNvPr id="9" name="Picture 8">
            <a:extLst>
              <a:ext uri="{FF2B5EF4-FFF2-40B4-BE49-F238E27FC236}">
                <a16:creationId xmlns:a16="http://schemas.microsoft.com/office/drawing/2014/main" id="{25E81152-CF4E-BA25-6082-BD6B7EA0690E}"/>
              </a:ext>
            </a:extLst>
          </p:cNvPr>
          <p:cNvPicPr>
            <a:picLocks noChangeAspect="1"/>
          </p:cNvPicPr>
          <p:nvPr/>
        </p:nvPicPr>
        <p:blipFill>
          <a:blip r:embed="rId3"/>
          <a:stretch>
            <a:fillRect/>
          </a:stretch>
        </p:blipFill>
        <p:spPr>
          <a:xfrm>
            <a:off x="4207595" y="1980667"/>
            <a:ext cx="3517952" cy="2480283"/>
          </a:xfrm>
          <a:prstGeom prst="rect">
            <a:avLst/>
          </a:prstGeom>
        </p:spPr>
      </p:pic>
      <p:pic>
        <p:nvPicPr>
          <p:cNvPr id="10" name="Picture 9">
            <a:extLst>
              <a:ext uri="{FF2B5EF4-FFF2-40B4-BE49-F238E27FC236}">
                <a16:creationId xmlns:a16="http://schemas.microsoft.com/office/drawing/2014/main" id="{BB293C4B-F05B-ED41-B46B-8B1A4CC8F2AF}"/>
              </a:ext>
            </a:extLst>
          </p:cNvPr>
          <p:cNvPicPr>
            <a:picLocks noChangeAspect="1"/>
          </p:cNvPicPr>
          <p:nvPr/>
        </p:nvPicPr>
        <p:blipFill>
          <a:blip r:embed="rId4"/>
          <a:stretch>
            <a:fillRect/>
          </a:stretch>
        </p:blipFill>
        <p:spPr>
          <a:xfrm>
            <a:off x="7938392" y="1980667"/>
            <a:ext cx="3482418" cy="2480283"/>
          </a:xfrm>
          <a:prstGeom prst="rect">
            <a:avLst/>
          </a:prstGeom>
        </p:spPr>
      </p:pic>
    </p:spTree>
    <p:extLst>
      <p:ext uri="{BB962C8B-B14F-4D97-AF65-F5344CB8AC3E}">
        <p14:creationId xmlns:p14="http://schemas.microsoft.com/office/powerpoint/2010/main" val="266282999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1EBFD-E2CC-DDDB-5536-8B647F87251D}"/>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8520E3DD-B3A0-D2B6-81E6-EF938A4FEA3B}"/>
              </a:ext>
            </a:extLst>
          </p:cNvPr>
          <p:cNvSpPr txBox="1">
            <a:spLocks/>
          </p:cNvSpPr>
          <p:nvPr/>
        </p:nvSpPr>
        <p:spPr>
          <a:xfrm>
            <a:off x="480001" y="414260"/>
            <a:ext cx="11102399" cy="756000"/>
          </a:xfrm>
          <a:prstGeom prst="rect">
            <a:avLst/>
          </a:prstGeom>
        </p:spPr>
        <p:txBody>
          <a:bodyPr vert="horz" lIns="0" tIns="0" rIns="0" bIns="0" rtlCol="0" anchor="t" anchorCtr="0">
            <a:normAutofit/>
          </a:bodyPr>
          <a:lstStyle>
            <a:lvl1pPr algn="l" defTabSz="609585" rtl="0" eaLnBrk="1" latinLnBrk="0" hangingPunct="1">
              <a:spcBef>
                <a:spcPct val="0"/>
              </a:spcBef>
              <a:buNone/>
              <a:defRPr sz="4267" b="1" kern="1200">
                <a:solidFill>
                  <a:schemeClr val="tx2"/>
                </a:solidFill>
                <a:latin typeface="+mj-lt"/>
                <a:ea typeface="+mj-ea"/>
                <a:cs typeface="Verdana"/>
              </a:defRPr>
            </a:lvl1pPr>
          </a:lstStyle>
          <a:p>
            <a:r>
              <a:rPr lang="en-US" dirty="0"/>
              <a:t>Pearsons’s correlation</a:t>
            </a:r>
          </a:p>
        </p:txBody>
      </p:sp>
      <p:pic>
        <p:nvPicPr>
          <p:cNvPr id="7" name="Picture 6">
            <a:extLst>
              <a:ext uri="{FF2B5EF4-FFF2-40B4-BE49-F238E27FC236}">
                <a16:creationId xmlns:a16="http://schemas.microsoft.com/office/drawing/2014/main" id="{D3F3A2B7-FCF2-FE24-0B55-0E7AC3BF4A1C}"/>
              </a:ext>
            </a:extLst>
          </p:cNvPr>
          <p:cNvPicPr>
            <a:picLocks noChangeAspect="1"/>
          </p:cNvPicPr>
          <p:nvPr/>
        </p:nvPicPr>
        <p:blipFill>
          <a:blip r:embed="rId2"/>
          <a:stretch>
            <a:fillRect/>
          </a:stretch>
        </p:blipFill>
        <p:spPr>
          <a:xfrm>
            <a:off x="579863" y="2410250"/>
            <a:ext cx="3416717" cy="2480283"/>
          </a:xfrm>
          <a:prstGeom prst="rect">
            <a:avLst/>
          </a:prstGeom>
        </p:spPr>
      </p:pic>
      <p:pic>
        <p:nvPicPr>
          <p:cNvPr id="8" name="Picture 7">
            <a:extLst>
              <a:ext uri="{FF2B5EF4-FFF2-40B4-BE49-F238E27FC236}">
                <a16:creationId xmlns:a16="http://schemas.microsoft.com/office/drawing/2014/main" id="{40770C00-247D-980E-9300-73602D332341}"/>
              </a:ext>
            </a:extLst>
          </p:cNvPr>
          <p:cNvPicPr>
            <a:picLocks noChangeAspect="1"/>
          </p:cNvPicPr>
          <p:nvPr/>
        </p:nvPicPr>
        <p:blipFill>
          <a:blip r:embed="rId3"/>
          <a:stretch>
            <a:fillRect/>
          </a:stretch>
        </p:blipFill>
        <p:spPr>
          <a:xfrm>
            <a:off x="4207595" y="2410250"/>
            <a:ext cx="3517952" cy="2480283"/>
          </a:xfrm>
          <a:prstGeom prst="rect">
            <a:avLst/>
          </a:prstGeom>
        </p:spPr>
      </p:pic>
      <p:pic>
        <p:nvPicPr>
          <p:cNvPr id="9" name="Picture 8">
            <a:extLst>
              <a:ext uri="{FF2B5EF4-FFF2-40B4-BE49-F238E27FC236}">
                <a16:creationId xmlns:a16="http://schemas.microsoft.com/office/drawing/2014/main" id="{A57CFE7A-69EB-EF9C-743F-5D53EF0C1EA5}"/>
              </a:ext>
            </a:extLst>
          </p:cNvPr>
          <p:cNvPicPr>
            <a:picLocks noChangeAspect="1"/>
          </p:cNvPicPr>
          <p:nvPr/>
        </p:nvPicPr>
        <p:blipFill>
          <a:blip r:embed="rId4"/>
          <a:stretch>
            <a:fillRect/>
          </a:stretch>
        </p:blipFill>
        <p:spPr>
          <a:xfrm>
            <a:off x="7938392" y="2410250"/>
            <a:ext cx="3482418" cy="2480283"/>
          </a:xfrm>
          <a:prstGeom prst="rect">
            <a:avLst/>
          </a:prstGeom>
        </p:spPr>
      </p:pic>
      <p:sp>
        <p:nvSpPr>
          <p:cNvPr id="11" name="TextBox 10">
            <a:extLst>
              <a:ext uri="{FF2B5EF4-FFF2-40B4-BE49-F238E27FC236}">
                <a16:creationId xmlns:a16="http://schemas.microsoft.com/office/drawing/2014/main" id="{C8381F23-1B9B-798A-1ED7-B42C24028A6A}"/>
              </a:ext>
            </a:extLst>
          </p:cNvPr>
          <p:cNvSpPr txBox="1"/>
          <p:nvPr/>
        </p:nvSpPr>
        <p:spPr>
          <a:xfrm>
            <a:off x="579863" y="4911313"/>
            <a:ext cx="6464059" cy="1200329"/>
          </a:xfrm>
          <a:prstGeom prst="rect">
            <a:avLst/>
          </a:prstGeom>
          <a:noFill/>
        </p:spPr>
        <p:txBody>
          <a:bodyPr wrap="square">
            <a:spAutoFit/>
          </a:bodyPr>
          <a:lstStyle/>
          <a:p>
            <a:r>
              <a:rPr lang="en-US" sz="1800" dirty="0"/>
              <a:t>Pearson’s correlation for all plots: ~0</a:t>
            </a:r>
          </a:p>
          <a:p>
            <a:r>
              <a:rPr lang="en-US" dirty="0"/>
              <a:t>Sperman’s correlation for all plots: ~0</a:t>
            </a:r>
            <a:endParaRPr lang="en-US" sz="1800" dirty="0"/>
          </a:p>
          <a:p>
            <a:endParaRPr lang="en-US" dirty="0"/>
          </a:p>
          <a:p>
            <a:r>
              <a:rPr lang="en-US" dirty="0"/>
              <a:t>But there is clearly a pattern!</a:t>
            </a:r>
          </a:p>
        </p:txBody>
      </p:sp>
      <p:sp>
        <p:nvSpPr>
          <p:cNvPr id="15" name="Content Placeholder 2">
            <a:extLst>
              <a:ext uri="{FF2B5EF4-FFF2-40B4-BE49-F238E27FC236}">
                <a16:creationId xmlns:a16="http://schemas.microsoft.com/office/drawing/2014/main" id="{DF25F10F-FB55-9A5F-7821-F9305C4AE602}"/>
              </a:ext>
            </a:extLst>
          </p:cNvPr>
          <p:cNvSpPr txBox="1">
            <a:spLocks noGrp="1"/>
          </p:cNvSpPr>
          <p:nvPr>
            <p:ph idx="1"/>
          </p:nvPr>
        </p:nvSpPr>
        <p:spPr>
          <a:xfrm>
            <a:off x="480001" y="1296001"/>
            <a:ext cx="11102399" cy="588556"/>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dirty="0"/>
              <a:t>How do we quantify correlation between variables:</a:t>
            </a:r>
          </a:p>
          <a:p>
            <a:r>
              <a:rPr lang="en-US" sz="2000" dirty="0"/>
              <a:t>Pearson’s correlation: measures </a:t>
            </a:r>
            <a:r>
              <a:rPr lang="en-US" sz="2000" b="1" i="1" dirty="0">
                <a:solidFill>
                  <a:schemeClr val="accent1"/>
                </a:solidFill>
              </a:rPr>
              <a:t>linear</a:t>
            </a:r>
            <a:r>
              <a:rPr lang="en-US" sz="2000" dirty="0"/>
              <a:t> relationships</a:t>
            </a:r>
          </a:p>
          <a:p>
            <a:r>
              <a:rPr lang="en-US" sz="2000" dirty="0"/>
              <a:t>Spearman’s correlation: measures </a:t>
            </a:r>
            <a:r>
              <a:rPr lang="en-US" sz="2000" b="1" i="1" dirty="0">
                <a:solidFill>
                  <a:schemeClr val="accent1"/>
                </a:solidFill>
              </a:rPr>
              <a:t>monotonic</a:t>
            </a:r>
            <a:r>
              <a:rPr lang="en-US" sz="2000" dirty="0"/>
              <a:t> relationships using ranks</a:t>
            </a:r>
          </a:p>
        </p:txBody>
      </p:sp>
    </p:spTree>
    <p:extLst>
      <p:ext uri="{BB962C8B-B14F-4D97-AF65-F5344CB8AC3E}">
        <p14:creationId xmlns:p14="http://schemas.microsoft.com/office/powerpoint/2010/main" val="1381026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AD7CC-74CC-CB3F-F6CD-DDB399501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23F76D-A298-C61C-77D9-76B0998F7DD7}"/>
              </a:ext>
            </a:extLst>
          </p:cNvPr>
          <p:cNvSpPr>
            <a:spLocks noGrp="1"/>
          </p:cNvSpPr>
          <p:nvPr>
            <p:ph type="title"/>
          </p:nvPr>
        </p:nvSpPr>
        <p:spPr/>
        <p:txBody>
          <a:bodyPr/>
          <a:lstStyle/>
          <a:p>
            <a:r>
              <a:rPr lang="en-US" dirty="0"/>
              <a:t>Correlation analysis</a:t>
            </a:r>
          </a:p>
        </p:txBody>
      </p:sp>
      <p:sp>
        <p:nvSpPr>
          <p:cNvPr id="7" name="Content Placeholder 2">
            <a:extLst>
              <a:ext uri="{FF2B5EF4-FFF2-40B4-BE49-F238E27FC236}">
                <a16:creationId xmlns:a16="http://schemas.microsoft.com/office/drawing/2014/main" id="{E0FAE6AF-7717-5255-3687-E4A3F83B8DB7}"/>
              </a:ext>
            </a:extLst>
          </p:cNvPr>
          <p:cNvSpPr txBox="1">
            <a:spLocks noGrp="1"/>
          </p:cNvSpPr>
          <p:nvPr>
            <p:ph idx="1"/>
          </p:nvPr>
        </p:nvSpPr>
        <p:spPr>
          <a:xfrm>
            <a:off x="579863" y="1296000"/>
            <a:ext cx="11002537" cy="1635885"/>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b="1" dirty="0">
                <a:solidFill>
                  <a:schemeClr val="tx2"/>
                </a:solidFill>
              </a:rPr>
              <a:t>Independent variable (x): </a:t>
            </a:r>
            <a:r>
              <a:rPr lang="en-US" sz="2000" dirty="0"/>
              <a:t>variable that is fixed by design or observation and whose association with and outcome is of interest </a:t>
            </a:r>
          </a:p>
          <a:p>
            <a:pPr marL="0" indent="0">
              <a:buNone/>
            </a:pPr>
            <a:r>
              <a:rPr lang="en-US" sz="2000" b="1" dirty="0">
                <a:solidFill>
                  <a:schemeClr val="accent1"/>
                </a:solidFill>
              </a:rPr>
              <a:t>Dependent variable (y): </a:t>
            </a:r>
            <a:r>
              <a:rPr lang="en-US" sz="2000" dirty="0"/>
              <a:t>The outcome that we are probably measuring to understand how the independent variable influences it. </a:t>
            </a:r>
          </a:p>
        </p:txBody>
      </p:sp>
      <p:pic>
        <p:nvPicPr>
          <p:cNvPr id="8" name="Picture 7">
            <a:extLst>
              <a:ext uri="{FF2B5EF4-FFF2-40B4-BE49-F238E27FC236}">
                <a16:creationId xmlns:a16="http://schemas.microsoft.com/office/drawing/2014/main" id="{8DD6B2C3-051C-1180-8071-B1D7CCB5AC88}"/>
              </a:ext>
            </a:extLst>
          </p:cNvPr>
          <p:cNvPicPr>
            <a:picLocks noChangeAspect="1"/>
          </p:cNvPicPr>
          <p:nvPr/>
        </p:nvPicPr>
        <p:blipFill>
          <a:blip r:embed="rId3"/>
          <a:stretch>
            <a:fillRect/>
          </a:stretch>
        </p:blipFill>
        <p:spPr>
          <a:xfrm>
            <a:off x="1247802" y="2579687"/>
            <a:ext cx="5950857" cy="3691038"/>
          </a:xfrm>
          <a:prstGeom prst="rect">
            <a:avLst/>
          </a:prstGeom>
        </p:spPr>
      </p:pic>
      <p:sp>
        <p:nvSpPr>
          <p:cNvPr id="9" name="Rectangle 8">
            <a:extLst>
              <a:ext uri="{FF2B5EF4-FFF2-40B4-BE49-F238E27FC236}">
                <a16:creationId xmlns:a16="http://schemas.microsoft.com/office/drawing/2014/main" id="{24CD3EC4-1899-010E-C395-8E93212F8A0D}"/>
              </a:ext>
            </a:extLst>
          </p:cNvPr>
          <p:cNvSpPr/>
          <p:nvPr/>
        </p:nvSpPr>
        <p:spPr>
          <a:xfrm>
            <a:off x="1247801" y="3532239"/>
            <a:ext cx="232229" cy="1707418"/>
          </a:xfrm>
          <a:prstGeom prst="rect">
            <a:avLst/>
          </a:prstGeom>
          <a:solidFill>
            <a:schemeClr val="accent1">
              <a:alpha val="19702"/>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010D54B-BB0D-E40A-F1F2-AD6095ADA8D5}"/>
              </a:ext>
            </a:extLst>
          </p:cNvPr>
          <p:cNvSpPr/>
          <p:nvPr/>
        </p:nvSpPr>
        <p:spPr>
          <a:xfrm rot="5400000">
            <a:off x="4301139" y="5211077"/>
            <a:ext cx="232229" cy="1887068"/>
          </a:xfrm>
          <a:prstGeom prst="rect">
            <a:avLst/>
          </a:prstGeom>
          <a:solidFill>
            <a:schemeClr val="tx2">
              <a:alpha val="19702"/>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E1A3203-6B4F-00F9-A290-D6174DADD5C4}"/>
              </a:ext>
            </a:extLst>
          </p:cNvPr>
          <p:cNvSpPr txBox="1"/>
          <p:nvPr/>
        </p:nvSpPr>
        <p:spPr>
          <a:xfrm>
            <a:off x="7224412" y="2908897"/>
            <a:ext cx="4357988" cy="646331"/>
          </a:xfrm>
          <a:prstGeom prst="rect">
            <a:avLst/>
          </a:prstGeom>
          <a:noFill/>
        </p:spPr>
        <p:txBody>
          <a:bodyPr wrap="none" rtlCol="0">
            <a:spAutoFit/>
          </a:bodyPr>
          <a:lstStyle/>
          <a:p>
            <a:r>
              <a:rPr lang="en-US" dirty="0"/>
              <a:t>Pearson correlation coefficient: </a:t>
            </a:r>
            <a:r>
              <a:rPr lang="en-US" b="1" dirty="0"/>
              <a:t>0.831</a:t>
            </a:r>
          </a:p>
          <a:p>
            <a:r>
              <a:rPr lang="en-US" dirty="0"/>
              <a:t>Spearman rank correlation coefficient: </a:t>
            </a:r>
            <a:r>
              <a:rPr lang="en-US" b="1" dirty="0"/>
              <a:t>0.813</a:t>
            </a:r>
          </a:p>
        </p:txBody>
      </p:sp>
      <p:sp>
        <p:nvSpPr>
          <p:cNvPr id="16" name="TextBox 15">
            <a:extLst>
              <a:ext uri="{FF2B5EF4-FFF2-40B4-BE49-F238E27FC236}">
                <a16:creationId xmlns:a16="http://schemas.microsoft.com/office/drawing/2014/main" id="{B7A55B56-9444-9DF9-2B85-057308E30D63}"/>
              </a:ext>
            </a:extLst>
          </p:cNvPr>
          <p:cNvSpPr txBox="1"/>
          <p:nvPr/>
        </p:nvSpPr>
        <p:spPr>
          <a:xfrm>
            <a:off x="7257616" y="3838859"/>
            <a:ext cx="4357988" cy="1477328"/>
          </a:xfrm>
          <a:prstGeom prst="rect">
            <a:avLst/>
          </a:prstGeom>
          <a:noFill/>
        </p:spPr>
        <p:txBody>
          <a:bodyPr wrap="square" rtlCol="0">
            <a:spAutoFit/>
          </a:bodyPr>
          <a:lstStyle/>
          <a:p>
            <a:r>
              <a:rPr lang="en-US" dirty="0"/>
              <a:t>It is also possible to evaluate whether correlation values are statistically significant.</a:t>
            </a:r>
          </a:p>
          <a:p>
            <a:endParaRPr lang="en-US" b="1" dirty="0"/>
          </a:p>
          <a:p>
            <a:r>
              <a:rPr lang="en-US" b="1" dirty="0"/>
              <a:t>We will talk about statistical significance later in the course.</a:t>
            </a:r>
          </a:p>
        </p:txBody>
      </p:sp>
    </p:spTree>
    <p:extLst>
      <p:ext uri="{BB962C8B-B14F-4D97-AF65-F5344CB8AC3E}">
        <p14:creationId xmlns:p14="http://schemas.microsoft.com/office/powerpoint/2010/main" val="29037016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5" grpId="0"/>
      <p:bldP spid="16"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8B1BF0-6CC4-9463-F2AA-126291A352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145E45-FDC8-1534-3973-6E28DA916DEE}"/>
              </a:ext>
            </a:extLst>
          </p:cNvPr>
          <p:cNvSpPr>
            <a:spLocks noGrp="1"/>
          </p:cNvSpPr>
          <p:nvPr>
            <p:ph type="title"/>
          </p:nvPr>
        </p:nvSpPr>
        <p:spPr/>
        <p:txBody>
          <a:bodyPr/>
          <a:lstStyle/>
          <a:p>
            <a:r>
              <a:rPr lang="en-US" dirty="0"/>
              <a:t>Correlation vs Causation</a:t>
            </a:r>
          </a:p>
        </p:txBody>
      </p:sp>
      <p:pic>
        <p:nvPicPr>
          <p:cNvPr id="1026" name="Picture 2" descr="Image">
            <a:extLst>
              <a:ext uri="{FF2B5EF4-FFF2-40B4-BE49-F238E27FC236}">
                <a16:creationId xmlns:a16="http://schemas.microsoft.com/office/drawing/2014/main" id="{631D1771-CF75-3D66-D7A7-98D2D2CF82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8506" y="2768853"/>
            <a:ext cx="3814988" cy="3814988"/>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6A0E9AC6-1596-825F-8A18-886693C0B208}"/>
              </a:ext>
            </a:extLst>
          </p:cNvPr>
          <p:cNvSpPr txBox="1">
            <a:spLocks noGrp="1"/>
          </p:cNvSpPr>
          <p:nvPr>
            <p:ph idx="1"/>
          </p:nvPr>
        </p:nvSpPr>
        <p:spPr>
          <a:xfrm>
            <a:off x="579863" y="1296001"/>
            <a:ext cx="11002537" cy="756000"/>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2000" dirty="0"/>
              <a:t>Does high correlation imply causation?</a:t>
            </a:r>
          </a:p>
          <a:p>
            <a:r>
              <a:rPr lang="en-US" sz="2000" dirty="0"/>
              <a:t>Causation means that one event or variable directly produces a change in another.</a:t>
            </a:r>
          </a:p>
          <a:p>
            <a:r>
              <a:rPr lang="en-US" sz="2000" dirty="0"/>
              <a:t>Correlation only tells us that </a:t>
            </a:r>
            <a:r>
              <a:rPr lang="en-US" sz="2000" b="1" dirty="0"/>
              <a:t>two variables move together</a:t>
            </a:r>
            <a:r>
              <a:rPr lang="en-US" sz="2000" dirty="0"/>
              <a:t> (positively or negatively). It does </a:t>
            </a:r>
            <a:r>
              <a:rPr lang="en-US" sz="2000" b="1" dirty="0"/>
              <a:t>not</a:t>
            </a:r>
            <a:r>
              <a:rPr lang="en-US" sz="2000" dirty="0"/>
              <a:t> tell us </a:t>
            </a:r>
            <a:r>
              <a:rPr lang="en-US" sz="2000" i="1" dirty="0"/>
              <a:t>why</a:t>
            </a:r>
            <a:r>
              <a:rPr lang="en-US" sz="2000" dirty="0"/>
              <a:t> they move together.</a:t>
            </a:r>
          </a:p>
        </p:txBody>
      </p:sp>
    </p:spTree>
    <p:extLst>
      <p:ext uri="{BB962C8B-B14F-4D97-AF65-F5344CB8AC3E}">
        <p14:creationId xmlns:p14="http://schemas.microsoft.com/office/powerpoint/2010/main" val="380579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EC8CB-DD05-4075-F245-20B6977B817B}"/>
              </a:ext>
            </a:extLst>
          </p:cNvPr>
          <p:cNvSpPr>
            <a:spLocks noGrp="1"/>
          </p:cNvSpPr>
          <p:nvPr>
            <p:ph type="title"/>
          </p:nvPr>
        </p:nvSpPr>
        <p:spPr/>
        <p:txBody>
          <a:bodyPr>
            <a:normAutofit fontScale="90000"/>
          </a:bodyPr>
          <a:lstStyle/>
          <a:p>
            <a:r>
              <a:rPr lang="en-US" dirty="0"/>
              <a:t>Going to university increases risks of Brain Tumors</a:t>
            </a:r>
          </a:p>
        </p:txBody>
      </p:sp>
      <p:sp>
        <p:nvSpPr>
          <p:cNvPr id="3" name="Content Placeholder 2">
            <a:extLst>
              <a:ext uri="{FF2B5EF4-FFF2-40B4-BE49-F238E27FC236}">
                <a16:creationId xmlns:a16="http://schemas.microsoft.com/office/drawing/2014/main" id="{415E2807-8CCB-B76C-98C5-616C9547373C}"/>
              </a:ext>
            </a:extLst>
          </p:cNvPr>
          <p:cNvSpPr>
            <a:spLocks noGrp="1"/>
          </p:cNvSpPr>
          <p:nvPr>
            <p:ph idx="1"/>
          </p:nvPr>
        </p:nvSpPr>
        <p:spPr>
          <a:xfrm>
            <a:off x="480002" y="1296000"/>
            <a:ext cx="11280198" cy="646331"/>
          </a:xfrm>
        </p:spPr>
        <p:txBody>
          <a:bodyPr/>
          <a:lstStyle/>
          <a:p>
            <a:pPr marL="0" indent="0">
              <a:buNone/>
            </a:pPr>
            <a:r>
              <a:rPr lang="en-US" sz="1800" dirty="0"/>
              <a:t>Huge study with millions of subjects revealed that men/women with university degrees were associated with 19%/23% higher risks to get </a:t>
            </a:r>
            <a:r>
              <a:rPr lang="en-US" sz="1800" dirty="0" err="1"/>
              <a:t>tumours</a:t>
            </a:r>
            <a:r>
              <a:rPr lang="en-US" sz="1800" dirty="0"/>
              <a:t>.</a:t>
            </a:r>
          </a:p>
          <a:p>
            <a:pPr marL="0" indent="0">
              <a:buNone/>
            </a:pPr>
            <a:r>
              <a:rPr lang="en-US" sz="1800" dirty="0"/>
              <a:t> </a:t>
            </a:r>
          </a:p>
        </p:txBody>
      </p:sp>
      <p:pic>
        <p:nvPicPr>
          <p:cNvPr id="4" name="Picture 3">
            <a:extLst>
              <a:ext uri="{FF2B5EF4-FFF2-40B4-BE49-F238E27FC236}">
                <a16:creationId xmlns:a16="http://schemas.microsoft.com/office/drawing/2014/main" id="{8AA4940C-8A8F-EDDE-38B8-EAD61D94CCD7}"/>
              </a:ext>
            </a:extLst>
          </p:cNvPr>
          <p:cNvPicPr>
            <a:picLocks noChangeAspect="1"/>
          </p:cNvPicPr>
          <p:nvPr/>
        </p:nvPicPr>
        <p:blipFill>
          <a:blip r:embed="rId3"/>
          <a:stretch>
            <a:fillRect/>
          </a:stretch>
        </p:blipFill>
        <p:spPr>
          <a:xfrm>
            <a:off x="1596947" y="2806700"/>
            <a:ext cx="3758889" cy="3319816"/>
          </a:xfrm>
          <a:prstGeom prst="rect">
            <a:avLst/>
          </a:prstGeom>
        </p:spPr>
      </p:pic>
      <p:sp>
        <p:nvSpPr>
          <p:cNvPr id="6" name="TextBox 5">
            <a:extLst>
              <a:ext uri="{FF2B5EF4-FFF2-40B4-BE49-F238E27FC236}">
                <a16:creationId xmlns:a16="http://schemas.microsoft.com/office/drawing/2014/main" id="{256A9660-A1B5-1466-BC6B-52F4DAB1A5A3}"/>
              </a:ext>
            </a:extLst>
          </p:cNvPr>
          <p:cNvSpPr txBox="1"/>
          <p:nvPr/>
        </p:nvSpPr>
        <p:spPr>
          <a:xfrm>
            <a:off x="5533636" y="2806700"/>
            <a:ext cx="6048764" cy="646331"/>
          </a:xfrm>
          <a:prstGeom prst="rect">
            <a:avLst/>
          </a:prstGeom>
          <a:noFill/>
        </p:spPr>
        <p:txBody>
          <a:bodyPr wrap="square">
            <a:spAutoFit/>
          </a:bodyPr>
          <a:lstStyle/>
          <a:p>
            <a:r>
              <a:rPr lang="en-US" sz="1800" dirty="0"/>
              <a:t>“</a:t>
            </a:r>
            <a:r>
              <a:rPr lang="en-US" sz="1800" i="1" dirty="0"/>
              <a:t>Completeness of cancer registration and detection bias are potential explanations for the findings</a:t>
            </a:r>
            <a:r>
              <a:rPr lang="en-US" sz="1800" dirty="0"/>
              <a:t>”</a:t>
            </a:r>
          </a:p>
        </p:txBody>
      </p:sp>
      <p:sp>
        <p:nvSpPr>
          <p:cNvPr id="7" name="Content Placeholder 2">
            <a:extLst>
              <a:ext uri="{FF2B5EF4-FFF2-40B4-BE49-F238E27FC236}">
                <a16:creationId xmlns:a16="http://schemas.microsoft.com/office/drawing/2014/main" id="{E76707A4-CB72-EB54-BA73-E97E7F26AA23}"/>
              </a:ext>
            </a:extLst>
          </p:cNvPr>
          <p:cNvSpPr txBox="1">
            <a:spLocks/>
          </p:cNvSpPr>
          <p:nvPr/>
        </p:nvSpPr>
        <p:spPr>
          <a:xfrm>
            <a:off x="480002" y="2068071"/>
            <a:ext cx="11280198" cy="64633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800" dirty="0"/>
              <a:t>Who do you think gets better medical care?</a:t>
            </a:r>
          </a:p>
          <a:p>
            <a:pPr marL="0" indent="0">
              <a:buFont typeface="Arial"/>
              <a:buNone/>
            </a:pPr>
            <a:r>
              <a:rPr lang="en-US" sz="1800" dirty="0"/>
              <a:t> </a:t>
            </a:r>
          </a:p>
        </p:txBody>
      </p:sp>
    </p:spTree>
    <p:extLst>
      <p:ext uri="{BB962C8B-B14F-4D97-AF65-F5344CB8AC3E}">
        <p14:creationId xmlns:p14="http://schemas.microsoft.com/office/powerpoint/2010/main" val="1920035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allAtOnce"/>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0B2237-251F-0C61-4461-2FF8E74654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55037D-EF6B-C1B2-83EE-D8D271D4FEBF}"/>
              </a:ext>
            </a:extLst>
          </p:cNvPr>
          <p:cNvSpPr>
            <a:spLocks noGrp="1"/>
          </p:cNvSpPr>
          <p:nvPr>
            <p:ph type="title"/>
          </p:nvPr>
        </p:nvSpPr>
        <p:spPr/>
        <p:txBody>
          <a:bodyPr>
            <a:normAutofit/>
          </a:bodyPr>
          <a:lstStyle/>
          <a:p>
            <a:r>
              <a:rPr lang="en-US" dirty="0"/>
              <a:t>How to lose less war planes?</a:t>
            </a:r>
          </a:p>
        </p:txBody>
      </p:sp>
      <p:sp>
        <p:nvSpPr>
          <p:cNvPr id="3" name="Content Placeholder 2">
            <a:extLst>
              <a:ext uri="{FF2B5EF4-FFF2-40B4-BE49-F238E27FC236}">
                <a16:creationId xmlns:a16="http://schemas.microsoft.com/office/drawing/2014/main" id="{CDD192A0-9615-485E-AC5B-B5BF6307AE22}"/>
              </a:ext>
            </a:extLst>
          </p:cNvPr>
          <p:cNvSpPr>
            <a:spLocks noGrp="1"/>
          </p:cNvSpPr>
          <p:nvPr>
            <p:ph idx="1"/>
          </p:nvPr>
        </p:nvSpPr>
        <p:spPr>
          <a:xfrm>
            <a:off x="480002" y="1296000"/>
            <a:ext cx="11102398" cy="646331"/>
          </a:xfrm>
        </p:spPr>
        <p:txBody>
          <a:bodyPr/>
          <a:lstStyle/>
          <a:p>
            <a:pPr marL="0" indent="0">
              <a:buNone/>
            </a:pPr>
            <a:r>
              <a:rPr lang="en-US" sz="1800" dirty="0"/>
              <a:t>During World War II, the Statistical Research Group at Columbia University (New York) was </a:t>
            </a:r>
            <a:r>
              <a:rPr lang="en-US" sz="1800" b="1" dirty="0">
                <a:solidFill>
                  <a:srgbClr val="FF0000"/>
                </a:solidFill>
              </a:rPr>
              <a:t>examining the damage </a:t>
            </a:r>
            <a:r>
              <a:rPr lang="en-US" sz="1800" dirty="0"/>
              <a:t>done to aircraft that had returned from missions and had to recommend which areas should be armored better.</a:t>
            </a:r>
          </a:p>
        </p:txBody>
      </p:sp>
      <p:pic>
        <p:nvPicPr>
          <p:cNvPr id="25602" name="Picture 2">
            <a:extLst>
              <a:ext uri="{FF2B5EF4-FFF2-40B4-BE49-F238E27FC236}">
                <a16:creationId xmlns:a16="http://schemas.microsoft.com/office/drawing/2014/main" id="{2B476173-AFCF-A740-636E-1875B84C11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082" y="1978601"/>
            <a:ext cx="4632018" cy="34554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0F71EC0-372D-14A8-BC84-D3985B2B8C7C}"/>
              </a:ext>
            </a:extLst>
          </p:cNvPr>
          <p:cNvSpPr txBox="1"/>
          <p:nvPr/>
        </p:nvSpPr>
        <p:spPr>
          <a:xfrm>
            <a:off x="5358100" y="2438400"/>
            <a:ext cx="5538499" cy="2031325"/>
          </a:xfrm>
          <a:prstGeom prst="rect">
            <a:avLst/>
          </a:prstGeom>
          <a:noFill/>
        </p:spPr>
        <p:txBody>
          <a:bodyPr wrap="square">
            <a:spAutoFit/>
          </a:bodyPr>
          <a:lstStyle/>
          <a:p>
            <a:r>
              <a:rPr lang="en-US" b="1" dirty="0"/>
              <a:t>Correlation observed in the data:</a:t>
            </a:r>
            <a:br>
              <a:rPr lang="en-US" dirty="0"/>
            </a:br>
            <a:r>
              <a:rPr lang="en-US" dirty="0"/>
              <a:t>Returning planes have many bullet holes in the wings and few in the engine.</a:t>
            </a:r>
          </a:p>
          <a:p>
            <a:endParaRPr lang="en-US" sz="1800" dirty="0"/>
          </a:p>
          <a:p>
            <a:r>
              <a:rPr lang="en-US" b="1" dirty="0"/>
              <a:t>Causal claim:</a:t>
            </a:r>
            <a:br>
              <a:rPr lang="en-US" dirty="0"/>
            </a:br>
            <a:r>
              <a:rPr lang="en-US" dirty="0"/>
              <a:t>Being hit in the wings causes planes to be damaged and lost.</a:t>
            </a:r>
            <a:endParaRPr lang="en-US" sz="1800" dirty="0"/>
          </a:p>
        </p:txBody>
      </p:sp>
      <p:sp>
        <p:nvSpPr>
          <p:cNvPr id="7" name="TextBox 6">
            <a:extLst>
              <a:ext uri="{FF2B5EF4-FFF2-40B4-BE49-F238E27FC236}">
                <a16:creationId xmlns:a16="http://schemas.microsoft.com/office/drawing/2014/main" id="{098B6096-939D-8AB6-0C89-B38295AFE72A}"/>
              </a:ext>
            </a:extLst>
          </p:cNvPr>
          <p:cNvSpPr txBox="1"/>
          <p:nvPr/>
        </p:nvSpPr>
        <p:spPr>
          <a:xfrm>
            <a:off x="966731" y="5473462"/>
            <a:ext cx="4150719" cy="646331"/>
          </a:xfrm>
          <a:prstGeom prst="rect">
            <a:avLst/>
          </a:prstGeom>
          <a:noFill/>
        </p:spPr>
        <p:txBody>
          <a:bodyPr wrap="square">
            <a:spAutoFit/>
          </a:bodyPr>
          <a:lstStyle/>
          <a:p>
            <a:pPr algn="ctr"/>
            <a:r>
              <a:rPr lang="nl-NL" b="1" dirty="0">
                <a:solidFill>
                  <a:srgbClr val="FF0000"/>
                </a:solidFill>
              </a:rPr>
              <a:t>Plot of </a:t>
            </a:r>
            <a:r>
              <a:rPr lang="nl-NL" b="1" dirty="0" err="1">
                <a:solidFill>
                  <a:srgbClr val="FF0000"/>
                </a:solidFill>
              </a:rPr>
              <a:t>the</a:t>
            </a:r>
            <a:r>
              <a:rPr lang="nl-NL" b="1" dirty="0">
                <a:solidFill>
                  <a:srgbClr val="FF0000"/>
                </a:solidFill>
              </a:rPr>
              <a:t> </a:t>
            </a:r>
            <a:r>
              <a:rPr lang="en-US" sz="1800" b="1" dirty="0">
                <a:solidFill>
                  <a:srgbClr val="FF0000"/>
                </a:solidFill>
              </a:rPr>
              <a:t>damage on the </a:t>
            </a:r>
            <a:r>
              <a:rPr lang="nl-NL" b="1" dirty="0" err="1">
                <a:solidFill>
                  <a:srgbClr val="FF0000"/>
                </a:solidFill>
              </a:rPr>
              <a:t>returned</a:t>
            </a:r>
            <a:r>
              <a:rPr lang="nl-NL" b="1" dirty="0">
                <a:solidFill>
                  <a:srgbClr val="FF0000"/>
                </a:solidFill>
              </a:rPr>
              <a:t> </a:t>
            </a:r>
            <a:r>
              <a:rPr lang="en-US" sz="1800" b="1" dirty="0">
                <a:solidFill>
                  <a:srgbClr val="FF0000"/>
                </a:solidFill>
              </a:rPr>
              <a:t>planes</a:t>
            </a:r>
            <a:endParaRPr lang="en-US" dirty="0"/>
          </a:p>
        </p:txBody>
      </p:sp>
    </p:spTree>
    <p:extLst>
      <p:ext uri="{BB962C8B-B14F-4D97-AF65-F5344CB8AC3E}">
        <p14:creationId xmlns:p14="http://schemas.microsoft.com/office/powerpoint/2010/main" val="4064327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20012-DCF0-B2C5-C522-B6EB8B69E67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048D94-CC5C-F6EB-6BD6-279F8A8D761D}"/>
              </a:ext>
            </a:extLst>
          </p:cNvPr>
          <p:cNvSpPr>
            <a:spLocks noGrp="1"/>
          </p:cNvSpPr>
          <p:nvPr>
            <p:ph type="title"/>
          </p:nvPr>
        </p:nvSpPr>
        <p:spPr/>
        <p:txBody>
          <a:bodyPr>
            <a:normAutofit/>
          </a:bodyPr>
          <a:lstStyle/>
          <a:p>
            <a:r>
              <a:rPr lang="en-US" dirty="0"/>
              <a:t>How to lose less war planes?</a:t>
            </a:r>
          </a:p>
        </p:txBody>
      </p:sp>
      <p:sp>
        <p:nvSpPr>
          <p:cNvPr id="3" name="Content Placeholder 2">
            <a:extLst>
              <a:ext uri="{FF2B5EF4-FFF2-40B4-BE49-F238E27FC236}">
                <a16:creationId xmlns:a16="http://schemas.microsoft.com/office/drawing/2014/main" id="{03F4B3AA-489F-C42B-166C-A855D02243D2}"/>
              </a:ext>
            </a:extLst>
          </p:cNvPr>
          <p:cNvSpPr>
            <a:spLocks noGrp="1"/>
          </p:cNvSpPr>
          <p:nvPr>
            <p:ph idx="1"/>
          </p:nvPr>
        </p:nvSpPr>
        <p:spPr>
          <a:xfrm>
            <a:off x="480002" y="1296000"/>
            <a:ext cx="11102398" cy="646331"/>
          </a:xfrm>
        </p:spPr>
        <p:txBody>
          <a:bodyPr/>
          <a:lstStyle/>
          <a:p>
            <a:pPr marL="0" indent="0">
              <a:buNone/>
            </a:pPr>
            <a:r>
              <a:rPr lang="en-US" sz="1800" dirty="0"/>
              <a:t>During World War II, the Statistical Research Group at Columbia University (New York) was examining the damage done to aircraft that had returned from missions and had to recommend which areas should be armored better.</a:t>
            </a:r>
          </a:p>
        </p:txBody>
      </p:sp>
      <p:sp>
        <p:nvSpPr>
          <p:cNvPr id="5" name="TextBox 4">
            <a:extLst>
              <a:ext uri="{FF2B5EF4-FFF2-40B4-BE49-F238E27FC236}">
                <a16:creationId xmlns:a16="http://schemas.microsoft.com/office/drawing/2014/main" id="{650AA9CA-DB74-8A07-D449-AE7776A57E6B}"/>
              </a:ext>
            </a:extLst>
          </p:cNvPr>
          <p:cNvSpPr txBox="1"/>
          <p:nvPr/>
        </p:nvSpPr>
        <p:spPr>
          <a:xfrm>
            <a:off x="5358100" y="2438400"/>
            <a:ext cx="5538499" cy="2862322"/>
          </a:xfrm>
          <a:prstGeom prst="rect">
            <a:avLst/>
          </a:prstGeom>
          <a:noFill/>
        </p:spPr>
        <p:txBody>
          <a:bodyPr wrap="square">
            <a:spAutoFit/>
          </a:bodyPr>
          <a:lstStyle/>
          <a:p>
            <a:r>
              <a:rPr lang="en-US" b="1" dirty="0"/>
              <a:t>Correlation observed in the data:</a:t>
            </a:r>
            <a:br>
              <a:rPr lang="en-US" dirty="0"/>
            </a:br>
            <a:r>
              <a:rPr lang="en-US" dirty="0"/>
              <a:t>Returning planes have many bullet holes in the wings and few in the engine.</a:t>
            </a:r>
          </a:p>
          <a:p>
            <a:endParaRPr lang="en-US" sz="1800" dirty="0"/>
          </a:p>
          <a:p>
            <a:r>
              <a:rPr lang="en-US" b="1" dirty="0"/>
              <a:t>Causal claim:</a:t>
            </a:r>
            <a:br>
              <a:rPr lang="en-US" dirty="0"/>
            </a:br>
            <a:r>
              <a:rPr lang="en-US" dirty="0"/>
              <a:t>Being hit in the wings causes planes to be damaged and lost.</a:t>
            </a:r>
          </a:p>
          <a:p>
            <a:endParaRPr lang="en-US" sz="1800" dirty="0"/>
          </a:p>
          <a:p>
            <a:r>
              <a:rPr lang="en-US" b="1" dirty="0"/>
              <a:t>Correct causal question:</a:t>
            </a:r>
            <a:br>
              <a:rPr lang="en-US" dirty="0"/>
            </a:br>
            <a:r>
              <a:rPr lang="en-US" dirty="0"/>
              <a:t>Which bullet locations cause planes not to survive?</a:t>
            </a:r>
            <a:endParaRPr lang="en-US" sz="1800" dirty="0"/>
          </a:p>
        </p:txBody>
      </p:sp>
      <p:sp>
        <p:nvSpPr>
          <p:cNvPr id="7" name="TextBox 6">
            <a:extLst>
              <a:ext uri="{FF2B5EF4-FFF2-40B4-BE49-F238E27FC236}">
                <a16:creationId xmlns:a16="http://schemas.microsoft.com/office/drawing/2014/main" id="{2C77FCF4-8BED-6A28-160C-3C0872565CF9}"/>
              </a:ext>
            </a:extLst>
          </p:cNvPr>
          <p:cNvSpPr txBox="1"/>
          <p:nvPr/>
        </p:nvSpPr>
        <p:spPr>
          <a:xfrm>
            <a:off x="5358100" y="5434988"/>
            <a:ext cx="6098146" cy="923330"/>
          </a:xfrm>
          <a:prstGeom prst="rect">
            <a:avLst/>
          </a:prstGeom>
          <a:noFill/>
        </p:spPr>
        <p:txBody>
          <a:bodyPr wrap="square">
            <a:spAutoFit/>
          </a:bodyPr>
          <a:lstStyle/>
          <a:p>
            <a:r>
              <a:rPr lang="en-US" b="1" dirty="0">
                <a:solidFill>
                  <a:schemeClr val="tx2"/>
                </a:solidFill>
              </a:rPr>
              <a:t>Selection (survivorship) bias:</a:t>
            </a:r>
            <a:br>
              <a:rPr lang="en-US" dirty="0"/>
            </a:br>
            <a:r>
              <a:rPr lang="en-US" dirty="0"/>
              <a:t>conditioning on survival creates misleading correlations that are not causal.</a:t>
            </a:r>
            <a:endParaRPr lang="en-US" sz="1800" dirty="0"/>
          </a:p>
        </p:txBody>
      </p:sp>
      <p:pic>
        <p:nvPicPr>
          <p:cNvPr id="4" name="Picture 2">
            <a:extLst>
              <a:ext uri="{FF2B5EF4-FFF2-40B4-BE49-F238E27FC236}">
                <a16:creationId xmlns:a16="http://schemas.microsoft.com/office/drawing/2014/main" id="{57A34F59-C11D-A320-3EA8-BD81C0D1C3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6082" y="1978601"/>
            <a:ext cx="4632018" cy="3455486"/>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7DCAFABD-4102-1B13-D0C8-BE81D804E243}"/>
              </a:ext>
            </a:extLst>
          </p:cNvPr>
          <p:cNvSpPr txBox="1"/>
          <p:nvPr/>
        </p:nvSpPr>
        <p:spPr>
          <a:xfrm>
            <a:off x="966731" y="5473462"/>
            <a:ext cx="4150719" cy="646331"/>
          </a:xfrm>
          <a:prstGeom prst="rect">
            <a:avLst/>
          </a:prstGeom>
          <a:noFill/>
        </p:spPr>
        <p:txBody>
          <a:bodyPr wrap="square">
            <a:spAutoFit/>
          </a:bodyPr>
          <a:lstStyle/>
          <a:p>
            <a:pPr algn="ctr"/>
            <a:r>
              <a:rPr lang="nl-NL" b="1" dirty="0">
                <a:solidFill>
                  <a:srgbClr val="FF0000"/>
                </a:solidFill>
              </a:rPr>
              <a:t>Plot of </a:t>
            </a:r>
            <a:r>
              <a:rPr lang="nl-NL" b="1" dirty="0" err="1">
                <a:solidFill>
                  <a:srgbClr val="FF0000"/>
                </a:solidFill>
              </a:rPr>
              <a:t>the</a:t>
            </a:r>
            <a:r>
              <a:rPr lang="nl-NL" b="1" dirty="0">
                <a:solidFill>
                  <a:srgbClr val="FF0000"/>
                </a:solidFill>
              </a:rPr>
              <a:t> </a:t>
            </a:r>
            <a:r>
              <a:rPr lang="en-US" sz="1800" b="1" dirty="0">
                <a:solidFill>
                  <a:srgbClr val="FF0000"/>
                </a:solidFill>
              </a:rPr>
              <a:t>damage on the </a:t>
            </a:r>
            <a:r>
              <a:rPr lang="nl-NL" b="1" dirty="0" err="1">
                <a:solidFill>
                  <a:srgbClr val="FF0000"/>
                </a:solidFill>
              </a:rPr>
              <a:t>returned</a:t>
            </a:r>
            <a:r>
              <a:rPr lang="nl-NL" b="1" dirty="0">
                <a:solidFill>
                  <a:srgbClr val="FF0000"/>
                </a:solidFill>
              </a:rPr>
              <a:t> </a:t>
            </a:r>
            <a:r>
              <a:rPr lang="en-US" sz="1800" b="1" dirty="0">
                <a:solidFill>
                  <a:srgbClr val="FF0000"/>
                </a:solidFill>
              </a:rPr>
              <a:t>planes</a:t>
            </a:r>
            <a:endParaRPr lang="en-US" dirty="0"/>
          </a:p>
        </p:txBody>
      </p:sp>
    </p:spTree>
    <p:extLst>
      <p:ext uri="{BB962C8B-B14F-4D97-AF65-F5344CB8AC3E}">
        <p14:creationId xmlns:p14="http://schemas.microsoft.com/office/powerpoint/2010/main" val="10931953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3197F-A759-2819-B5FA-7148F5724707}"/>
              </a:ext>
            </a:extLst>
          </p:cNvPr>
          <p:cNvSpPr>
            <a:spLocks noGrp="1"/>
          </p:cNvSpPr>
          <p:nvPr>
            <p:ph type="title"/>
          </p:nvPr>
        </p:nvSpPr>
        <p:spPr/>
        <p:txBody>
          <a:bodyPr/>
          <a:lstStyle/>
          <a:p>
            <a:r>
              <a:rPr lang="en-US" dirty="0"/>
              <a:t>What is causation?</a:t>
            </a:r>
          </a:p>
        </p:txBody>
      </p:sp>
      <p:sp>
        <p:nvSpPr>
          <p:cNvPr id="3" name="Content Placeholder 2">
            <a:extLst>
              <a:ext uri="{FF2B5EF4-FFF2-40B4-BE49-F238E27FC236}">
                <a16:creationId xmlns:a16="http://schemas.microsoft.com/office/drawing/2014/main" id="{46A056AF-B71E-7BED-65DF-D22353C3D75B}"/>
              </a:ext>
            </a:extLst>
          </p:cNvPr>
          <p:cNvSpPr>
            <a:spLocks noGrp="1"/>
          </p:cNvSpPr>
          <p:nvPr>
            <p:ph idx="1"/>
          </p:nvPr>
        </p:nvSpPr>
        <p:spPr>
          <a:xfrm>
            <a:off x="480001" y="1296001"/>
            <a:ext cx="11102399" cy="1266896"/>
          </a:xfrm>
        </p:spPr>
        <p:txBody>
          <a:bodyPr/>
          <a:lstStyle/>
          <a:p>
            <a:pPr marL="0" indent="0">
              <a:buNone/>
            </a:pPr>
            <a:r>
              <a:rPr lang="en-US" sz="1800" dirty="0"/>
              <a:t>A challenging philosophical problem: starting from Aristotle…</a:t>
            </a:r>
          </a:p>
          <a:p>
            <a:r>
              <a:rPr lang="en-US" sz="1800" dirty="0"/>
              <a:t>But also, experientially easy to define, that is, we each know for ourselves when we cause something. </a:t>
            </a:r>
          </a:p>
          <a:p>
            <a:r>
              <a:rPr lang="en-US" sz="1800" dirty="0"/>
              <a:t>And that’s the definition that statistics uses: If you do something that changes something else, then that points to a causal link.</a:t>
            </a:r>
          </a:p>
        </p:txBody>
      </p:sp>
      <p:sp>
        <p:nvSpPr>
          <p:cNvPr id="4" name="Content Placeholder 2">
            <a:extLst>
              <a:ext uri="{FF2B5EF4-FFF2-40B4-BE49-F238E27FC236}">
                <a16:creationId xmlns:a16="http://schemas.microsoft.com/office/drawing/2014/main" id="{1A1B0856-5AD8-A46A-FC1A-B20CCD711281}"/>
              </a:ext>
            </a:extLst>
          </p:cNvPr>
          <p:cNvSpPr txBox="1">
            <a:spLocks/>
          </p:cNvSpPr>
          <p:nvPr/>
        </p:nvSpPr>
        <p:spPr>
          <a:xfrm>
            <a:off x="480000" y="2562897"/>
            <a:ext cx="11102399" cy="1732207"/>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1800" b="1" dirty="0"/>
              <a:t>Statistical Causation: </a:t>
            </a:r>
          </a:p>
          <a:p>
            <a:r>
              <a:rPr lang="en-US" sz="1800" dirty="0">
                <a:solidFill>
                  <a:schemeClr val="dk1"/>
                </a:solidFill>
              </a:rPr>
              <a:t>When we say that T causes Y, we do not mean that every time T occurs, then Y will too. </a:t>
            </a:r>
          </a:p>
          <a:p>
            <a:r>
              <a:rPr lang="en-US" sz="1800" dirty="0">
                <a:solidFill>
                  <a:schemeClr val="dk1"/>
                </a:solidFill>
              </a:rPr>
              <a:t>Or that Y will only occur if T occurs. </a:t>
            </a:r>
          </a:p>
          <a:p>
            <a:r>
              <a:rPr lang="en-US" sz="1800" dirty="0">
                <a:solidFill>
                  <a:schemeClr val="dk1"/>
                </a:solidFill>
              </a:rPr>
              <a:t>We simply mean that if we </a:t>
            </a:r>
            <a:r>
              <a:rPr lang="en-US" sz="1800" b="1" dirty="0">
                <a:solidFill>
                  <a:schemeClr val="dk1"/>
                </a:solidFill>
              </a:rPr>
              <a:t>intervene</a:t>
            </a:r>
            <a:r>
              <a:rPr lang="en-US" sz="1800" dirty="0">
                <a:solidFill>
                  <a:schemeClr val="dk1"/>
                </a:solidFill>
              </a:rPr>
              <a:t> and force T to occur, then Y tends to happen more often. We can never say that T caused Y in a specific case, only that T increases the proportion of times that Y happens. </a:t>
            </a:r>
            <a:endParaRPr lang="en-US" sz="1800" dirty="0"/>
          </a:p>
        </p:txBody>
      </p:sp>
      <p:pic>
        <p:nvPicPr>
          <p:cNvPr id="6" name="Graphic 5" descr="Medicine with solid fill">
            <a:extLst>
              <a:ext uri="{FF2B5EF4-FFF2-40B4-BE49-F238E27FC236}">
                <a16:creationId xmlns:a16="http://schemas.microsoft.com/office/drawing/2014/main" id="{257BA275-F78B-CB5A-9CCD-F13F11F7EB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45593" y="4476124"/>
            <a:ext cx="992691" cy="992691"/>
          </a:xfrm>
          <a:prstGeom prst="rect">
            <a:avLst/>
          </a:prstGeom>
        </p:spPr>
      </p:pic>
      <p:sp>
        <p:nvSpPr>
          <p:cNvPr id="7" name="TextBox 6">
            <a:extLst>
              <a:ext uri="{FF2B5EF4-FFF2-40B4-BE49-F238E27FC236}">
                <a16:creationId xmlns:a16="http://schemas.microsoft.com/office/drawing/2014/main" id="{068A2165-1407-80E3-20BE-B2D09AFCBEF2}"/>
              </a:ext>
            </a:extLst>
          </p:cNvPr>
          <p:cNvSpPr txBox="1"/>
          <p:nvPr/>
        </p:nvSpPr>
        <p:spPr>
          <a:xfrm>
            <a:off x="3259989" y="5468815"/>
            <a:ext cx="1963897" cy="369332"/>
          </a:xfrm>
          <a:prstGeom prst="rect">
            <a:avLst/>
          </a:prstGeom>
          <a:noFill/>
        </p:spPr>
        <p:txBody>
          <a:bodyPr wrap="square" rtlCol="0">
            <a:spAutoFit/>
          </a:bodyPr>
          <a:lstStyle/>
          <a:p>
            <a:pPr algn="ctr"/>
            <a:r>
              <a:rPr lang="en-US" dirty="0"/>
              <a:t>Treatment T</a:t>
            </a:r>
          </a:p>
        </p:txBody>
      </p:sp>
      <p:sp>
        <p:nvSpPr>
          <p:cNvPr id="8" name="TextBox 7">
            <a:extLst>
              <a:ext uri="{FF2B5EF4-FFF2-40B4-BE49-F238E27FC236}">
                <a16:creationId xmlns:a16="http://schemas.microsoft.com/office/drawing/2014/main" id="{74D1500B-52CF-4A2F-2F64-661A866EBD82}"/>
              </a:ext>
            </a:extLst>
          </p:cNvPr>
          <p:cNvSpPr txBox="1"/>
          <p:nvPr/>
        </p:nvSpPr>
        <p:spPr>
          <a:xfrm>
            <a:off x="6341441" y="5468815"/>
            <a:ext cx="1963897" cy="369332"/>
          </a:xfrm>
          <a:prstGeom prst="rect">
            <a:avLst/>
          </a:prstGeom>
          <a:noFill/>
        </p:spPr>
        <p:txBody>
          <a:bodyPr wrap="square" rtlCol="0">
            <a:spAutoFit/>
          </a:bodyPr>
          <a:lstStyle/>
          <a:p>
            <a:pPr algn="ctr"/>
            <a:r>
              <a:rPr lang="en-US" dirty="0"/>
              <a:t>Outcome Y</a:t>
            </a:r>
          </a:p>
        </p:txBody>
      </p:sp>
      <p:pic>
        <p:nvPicPr>
          <p:cNvPr id="10" name="Graphic 9" descr="Heart with pulse with solid fill">
            <a:extLst>
              <a:ext uri="{FF2B5EF4-FFF2-40B4-BE49-F238E27FC236}">
                <a16:creationId xmlns:a16="http://schemas.microsoft.com/office/drawing/2014/main" id="{E83C1DC4-2181-5EBE-26B6-901A0DC13D6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87898" y="4476124"/>
            <a:ext cx="992691" cy="992691"/>
          </a:xfrm>
          <a:prstGeom prst="rect">
            <a:avLst/>
          </a:prstGeom>
        </p:spPr>
      </p:pic>
      <p:cxnSp>
        <p:nvCxnSpPr>
          <p:cNvPr id="12" name="Straight Arrow Connector 11">
            <a:extLst>
              <a:ext uri="{FF2B5EF4-FFF2-40B4-BE49-F238E27FC236}">
                <a16:creationId xmlns:a16="http://schemas.microsoft.com/office/drawing/2014/main" id="{53F41FF9-579D-173E-7560-6F71D669285A}"/>
              </a:ext>
            </a:extLst>
          </p:cNvPr>
          <p:cNvCxnSpPr/>
          <p:nvPr/>
        </p:nvCxnSpPr>
        <p:spPr>
          <a:xfrm>
            <a:off x="5104563" y="5001567"/>
            <a:ext cx="1387928" cy="0"/>
          </a:xfrm>
          <a:prstGeom prst="straightConnector1">
            <a:avLst/>
          </a:prstGeom>
          <a:ln w="28575">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8224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BCD85-FEF9-0B10-2BC2-243FACAD39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144DB-C67D-2133-2FE6-6CBEFFC5F85F}"/>
              </a:ext>
            </a:extLst>
          </p:cNvPr>
          <p:cNvSpPr>
            <a:spLocks noGrp="1"/>
          </p:cNvSpPr>
          <p:nvPr>
            <p:ph type="title"/>
          </p:nvPr>
        </p:nvSpPr>
        <p:spPr/>
        <p:txBody>
          <a:bodyPr/>
          <a:lstStyle/>
          <a:p>
            <a:r>
              <a:rPr lang="en-US" dirty="0"/>
              <a:t>Kids and causal experimentation</a:t>
            </a:r>
          </a:p>
        </p:txBody>
      </p:sp>
      <p:sp>
        <p:nvSpPr>
          <p:cNvPr id="3" name="Content Placeholder 2">
            <a:extLst>
              <a:ext uri="{FF2B5EF4-FFF2-40B4-BE49-F238E27FC236}">
                <a16:creationId xmlns:a16="http://schemas.microsoft.com/office/drawing/2014/main" id="{9BC3F697-C915-A1DF-8FE2-D175A6F979B1}"/>
              </a:ext>
            </a:extLst>
          </p:cNvPr>
          <p:cNvSpPr>
            <a:spLocks noGrp="1"/>
          </p:cNvSpPr>
          <p:nvPr>
            <p:ph idx="1"/>
          </p:nvPr>
        </p:nvSpPr>
        <p:spPr/>
        <p:txBody>
          <a:bodyPr/>
          <a:lstStyle/>
          <a:p>
            <a:r>
              <a:rPr lang="en-US" sz="3600" dirty="0"/>
              <a:t>The idea that is at the core of intelligence: competence without comprehension as a result of causal intervention. </a:t>
            </a:r>
          </a:p>
          <a:p>
            <a:r>
              <a:rPr lang="en-US" sz="3600" dirty="0"/>
              <a:t>You do a thing and see if it changes anything. And keep doing that. </a:t>
            </a:r>
          </a:p>
          <a:p>
            <a:r>
              <a:rPr lang="en-US" sz="3600" dirty="0"/>
              <a:t>Kids are great at doing this to understand the world! </a:t>
            </a:r>
          </a:p>
        </p:txBody>
      </p:sp>
    </p:spTree>
    <p:extLst>
      <p:ext uri="{BB962C8B-B14F-4D97-AF65-F5344CB8AC3E}">
        <p14:creationId xmlns:p14="http://schemas.microsoft.com/office/powerpoint/2010/main" val="36600916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EF737-6211-1F86-03E9-53F6F138DE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7FF1C4-67A6-EA52-B26B-A0016FFA97B2}"/>
              </a:ext>
            </a:extLst>
          </p:cNvPr>
          <p:cNvSpPr>
            <a:spLocks noGrp="1"/>
          </p:cNvSpPr>
          <p:nvPr>
            <p:ph type="title"/>
          </p:nvPr>
        </p:nvSpPr>
        <p:spPr/>
        <p:txBody>
          <a:bodyPr/>
          <a:lstStyle/>
          <a:p>
            <a:r>
              <a:rPr lang="en-US" dirty="0"/>
              <a:t>What is causation?</a:t>
            </a:r>
          </a:p>
        </p:txBody>
      </p:sp>
      <p:sp>
        <p:nvSpPr>
          <p:cNvPr id="3" name="Content Placeholder 2">
            <a:extLst>
              <a:ext uri="{FF2B5EF4-FFF2-40B4-BE49-F238E27FC236}">
                <a16:creationId xmlns:a16="http://schemas.microsoft.com/office/drawing/2014/main" id="{1FAF4762-B100-AE40-3ABF-458F277E03AB}"/>
              </a:ext>
            </a:extLst>
          </p:cNvPr>
          <p:cNvSpPr>
            <a:spLocks noGrp="1"/>
          </p:cNvSpPr>
          <p:nvPr>
            <p:ph idx="1"/>
          </p:nvPr>
        </p:nvSpPr>
        <p:spPr>
          <a:xfrm>
            <a:off x="480001" y="1296000"/>
            <a:ext cx="11102399" cy="1276719"/>
          </a:xfrm>
        </p:spPr>
        <p:txBody>
          <a:bodyPr/>
          <a:lstStyle/>
          <a:p>
            <a:pPr marL="0" indent="0">
              <a:buNone/>
            </a:pPr>
            <a:r>
              <a:rPr lang="en-US" sz="1800" dirty="0"/>
              <a:t>If, for patient X, we apply Treatment T to that changes Y, </a:t>
            </a:r>
            <a:r>
              <a:rPr lang="en-US" sz="1800" i="1" dirty="0"/>
              <a:t>with some consistency</a:t>
            </a:r>
            <a:r>
              <a:rPr lang="en-US" sz="1800" dirty="0"/>
              <a:t>, then that points to a causal link.</a:t>
            </a:r>
          </a:p>
          <a:p>
            <a:r>
              <a:rPr lang="en-US" sz="1800" dirty="0"/>
              <a:t>How can we be sure though?</a:t>
            </a:r>
          </a:p>
          <a:p>
            <a:r>
              <a:rPr lang="en-US" sz="1800" dirty="0"/>
              <a:t>For example, if a medicine is prescribed and the patient is recovered, we assume the medicine caused it to happen.</a:t>
            </a:r>
          </a:p>
          <a:p>
            <a:r>
              <a:rPr lang="en-US" sz="1800" dirty="0"/>
              <a:t>But how do I know that this wouldn’t have happened anyway? </a:t>
            </a:r>
          </a:p>
        </p:txBody>
      </p:sp>
      <p:pic>
        <p:nvPicPr>
          <p:cNvPr id="4" name="Graphic 3" descr="Medicine with solid fill">
            <a:extLst>
              <a:ext uri="{FF2B5EF4-FFF2-40B4-BE49-F238E27FC236}">
                <a16:creationId xmlns:a16="http://schemas.microsoft.com/office/drawing/2014/main" id="{EFC936A7-B7AB-F184-EEC3-79B3211A175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92541" y="4535071"/>
            <a:ext cx="992691" cy="992691"/>
          </a:xfrm>
          <a:prstGeom prst="rect">
            <a:avLst/>
          </a:prstGeom>
        </p:spPr>
      </p:pic>
      <p:sp>
        <p:nvSpPr>
          <p:cNvPr id="5" name="TextBox 4">
            <a:extLst>
              <a:ext uri="{FF2B5EF4-FFF2-40B4-BE49-F238E27FC236}">
                <a16:creationId xmlns:a16="http://schemas.microsoft.com/office/drawing/2014/main" id="{8388B80D-C779-1100-371E-BF3C41178AE3}"/>
              </a:ext>
            </a:extLst>
          </p:cNvPr>
          <p:cNvSpPr txBox="1"/>
          <p:nvPr/>
        </p:nvSpPr>
        <p:spPr>
          <a:xfrm>
            <a:off x="3606937" y="5527762"/>
            <a:ext cx="1963897" cy="369332"/>
          </a:xfrm>
          <a:prstGeom prst="rect">
            <a:avLst/>
          </a:prstGeom>
          <a:noFill/>
        </p:spPr>
        <p:txBody>
          <a:bodyPr wrap="square" rtlCol="0">
            <a:spAutoFit/>
          </a:bodyPr>
          <a:lstStyle/>
          <a:p>
            <a:pPr algn="ctr"/>
            <a:r>
              <a:rPr lang="en-US" dirty="0"/>
              <a:t>Treatment T</a:t>
            </a:r>
          </a:p>
        </p:txBody>
      </p:sp>
      <p:sp>
        <p:nvSpPr>
          <p:cNvPr id="6" name="TextBox 5">
            <a:extLst>
              <a:ext uri="{FF2B5EF4-FFF2-40B4-BE49-F238E27FC236}">
                <a16:creationId xmlns:a16="http://schemas.microsoft.com/office/drawing/2014/main" id="{21E1613D-E596-DAEA-4AFB-6F863E0F2F8D}"/>
              </a:ext>
            </a:extLst>
          </p:cNvPr>
          <p:cNvSpPr txBox="1"/>
          <p:nvPr/>
        </p:nvSpPr>
        <p:spPr>
          <a:xfrm>
            <a:off x="6642753" y="5503372"/>
            <a:ext cx="1963897" cy="369332"/>
          </a:xfrm>
          <a:prstGeom prst="rect">
            <a:avLst/>
          </a:prstGeom>
          <a:noFill/>
        </p:spPr>
        <p:txBody>
          <a:bodyPr wrap="square" rtlCol="0">
            <a:spAutoFit/>
          </a:bodyPr>
          <a:lstStyle/>
          <a:p>
            <a:pPr algn="ctr"/>
            <a:r>
              <a:rPr lang="en-US" dirty="0"/>
              <a:t>Outcome Y</a:t>
            </a:r>
          </a:p>
        </p:txBody>
      </p:sp>
      <p:pic>
        <p:nvPicPr>
          <p:cNvPr id="7" name="Graphic 6" descr="Heart with pulse with solid fill">
            <a:extLst>
              <a:ext uri="{FF2B5EF4-FFF2-40B4-BE49-F238E27FC236}">
                <a16:creationId xmlns:a16="http://schemas.microsoft.com/office/drawing/2014/main" id="{6E5093B1-9774-2631-DCF4-70E33B8AE27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34846" y="4535071"/>
            <a:ext cx="992691" cy="992691"/>
          </a:xfrm>
          <a:prstGeom prst="rect">
            <a:avLst/>
          </a:prstGeom>
        </p:spPr>
      </p:pic>
      <p:cxnSp>
        <p:nvCxnSpPr>
          <p:cNvPr id="8" name="Straight Arrow Connector 7">
            <a:extLst>
              <a:ext uri="{FF2B5EF4-FFF2-40B4-BE49-F238E27FC236}">
                <a16:creationId xmlns:a16="http://schemas.microsoft.com/office/drawing/2014/main" id="{22665D19-16ED-DA55-6A93-FE9ED2E1F3B0}"/>
              </a:ext>
            </a:extLst>
          </p:cNvPr>
          <p:cNvCxnSpPr>
            <a:cxnSpLocks/>
          </p:cNvCxnSpPr>
          <p:nvPr/>
        </p:nvCxnSpPr>
        <p:spPr>
          <a:xfrm>
            <a:off x="5451511" y="5060514"/>
            <a:ext cx="1387928" cy="0"/>
          </a:xfrm>
          <a:prstGeom prst="straightConnector1">
            <a:avLst/>
          </a:prstGeom>
          <a:ln w="28575">
            <a:tailEnd type="triangle"/>
          </a:ln>
          <a:effectLst/>
        </p:spPr>
        <p:style>
          <a:lnRef idx="2">
            <a:schemeClr val="accent1"/>
          </a:lnRef>
          <a:fillRef idx="0">
            <a:schemeClr val="accent1"/>
          </a:fillRef>
          <a:effectRef idx="1">
            <a:schemeClr val="accent1"/>
          </a:effectRef>
          <a:fontRef idx="minor">
            <a:schemeClr val="tx1"/>
          </a:fontRef>
        </p:style>
      </p:cxnSp>
      <p:pic>
        <p:nvPicPr>
          <p:cNvPr id="10" name="Graphic 9" descr="Inpatient with solid fill">
            <a:extLst>
              <a:ext uri="{FF2B5EF4-FFF2-40B4-BE49-F238E27FC236}">
                <a16:creationId xmlns:a16="http://schemas.microsoft.com/office/drawing/2014/main" id="{F1B72304-56F8-E099-26E6-1705D2BD7F7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2761959"/>
            <a:ext cx="914400" cy="914400"/>
          </a:xfrm>
          <a:prstGeom prst="rect">
            <a:avLst/>
          </a:prstGeom>
        </p:spPr>
      </p:pic>
      <p:sp>
        <p:nvSpPr>
          <p:cNvPr id="11" name="TextBox 10">
            <a:extLst>
              <a:ext uri="{FF2B5EF4-FFF2-40B4-BE49-F238E27FC236}">
                <a16:creationId xmlns:a16="http://schemas.microsoft.com/office/drawing/2014/main" id="{745F146E-649B-8CAC-C6DB-36FAD0CF3508}"/>
              </a:ext>
            </a:extLst>
          </p:cNvPr>
          <p:cNvSpPr txBox="1"/>
          <p:nvPr/>
        </p:nvSpPr>
        <p:spPr>
          <a:xfrm>
            <a:off x="5556796" y="3610449"/>
            <a:ext cx="1078409" cy="369332"/>
          </a:xfrm>
          <a:prstGeom prst="rect">
            <a:avLst/>
          </a:prstGeom>
          <a:noFill/>
        </p:spPr>
        <p:txBody>
          <a:bodyPr wrap="square" rtlCol="0">
            <a:spAutoFit/>
          </a:bodyPr>
          <a:lstStyle/>
          <a:p>
            <a:pPr algn="ctr"/>
            <a:r>
              <a:rPr lang="en-US" dirty="0"/>
              <a:t>Patient X</a:t>
            </a:r>
          </a:p>
        </p:txBody>
      </p:sp>
      <p:cxnSp>
        <p:nvCxnSpPr>
          <p:cNvPr id="12" name="Straight Arrow Connector 11">
            <a:extLst>
              <a:ext uri="{FF2B5EF4-FFF2-40B4-BE49-F238E27FC236}">
                <a16:creationId xmlns:a16="http://schemas.microsoft.com/office/drawing/2014/main" id="{3BA3411E-79C2-5141-1B43-B5D66AC7A0E5}"/>
              </a:ext>
            </a:extLst>
          </p:cNvPr>
          <p:cNvCxnSpPr>
            <a:cxnSpLocks/>
            <a:stCxn id="11" idx="3"/>
          </p:cNvCxnSpPr>
          <p:nvPr/>
        </p:nvCxnSpPr>
        <p:spPr>
          <a:xfrm>
            <a:off x="6635205" y="3795115"/>
            <a:ext cx="995986" cy="798152"/>
          </a:xfrm>
          <a:prstGeom prst="straightConnector1">
            <a:avLst/>
          </a:prstGeom>
          <a:ln w="28575">
            <a:tailEnd type="triangle"/>
          </a:ln>
          <a:effectLst/>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6D0FF6C4-08CB-6DFF-9C8F-206F9DEF97A1}"/>
              </a:ext>
            </a:extLst>
          </p:cNvPr>
          <p:cNvCxnSpPr>
            <a:cxnSpLocks/>
            <a:stCxn id="11" idx="1"/>
            <a:endCxn id="4" idx="0"/>
          </p:cNvCxnSpPr>
          <p:nvPr/>
        </p:nvCxnSpPr>
        <p:spPr>
          <a:xfrm flipH="1">
            <a:off x="4588887" y="3795115"/>
            <a:ext cx="967909" cy="739956"/>
          </a:xfrm>
          <a:prstGeom prst="straightConnector1">
            <a:avLst/>
          </a:prstGeom>
          <a:ln w="28575">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44336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27958F-33AD-5EE6-96FE-BC1B3D061F5D}"/>
              </a:ext>
            </a:extLst>
          </p:cNvPr>
          <p:cNvSpPr>
            <a:spLocks noGrp="1"/>
          </p:cNvSpPr>
          <p:nvPr>
            <p:ph type="title"/>
          </p:nvPr>
        </p:nvSpPr>
        <p:spPr/>
        <p:txBody>
          <a:bodyPr/>
          <a:lstStyle/>
          <a:p>
            <a:r>
              <a:rPr lang="en-US" dirty="0"/>
              <a:t>Randomization: The Heart of Causal Analysis</a:t>
            </a:r>
          </a:p>
        </p:txBody>
      </p:sp>
      <p:sp>
        <p:nvSpPr>
          <p:cNvPr id="3" name="Content Placeholder 2">
            <a:extLst>
              <a:ext uri="{FF2B5EF4-FFF2-40B4-BE49-F238E27FC236}">
                <a16:creationId xmlns:a16="http://schemas.microsoft.com/office/drawing/2014/main" id="{D40A205B-C47B-12BC-504A-6904954DC16A}"/>
              </a:ext>
            </a:extLst>
          </p:cNvPr>
          <p:cNvSpPr>
            <a:spLocks noGrp="1"/>
          </p:cNvSpPr>
          <p:nvPr>
            <p:ph idx="1"/>
          </p:nvPr>
        </p:nvSpPr>
        <p:spPr>
          <a:xfrm>
            <a:off x="480001" y="1296000"/>
            <a:ext cx="11313070" cy="1003447"/>
          </a:xfrm>
        </p:spPr>
        <p:txBody>
          <a:bodyPr/>
          <a:lstStyle/>
          <a:p>
            <a:pPr marL="0" indent="0">
              <a:buNone/>
            </a:pPr>
            <a:r>
              <a:rPr lang="en-US" sz="1800" dirty="0"/>
              <a:t>When we randomize over who gets a treatment or not, we make the potential outcomes independent of the treatment.</a:t>
            </a:r>
          </a:p>
          <a:p>
            <a:r>
              <a:rPr lang="en-US" sz="1800" dirty="0"/>
              <a:t>This means that the group given treatment and group not given treatment are comparable.</a:t>
            </a:r>
          </a:p>
          <a:p>
            <a:r>
              <a:rPr lang="en-US" sz="1800" dirty="0"/>
              <a:t>This sounds confusing but really all it is saying is there’s no bias in who is receiving treatment.</a:t>
            </a:r>
          </a:p>
        </p:txBody>
      </p:sp>
      <p:sp>
        <p:nvSpPr>
          <p:cNvPr id="4" name="Content Placeholder 2">
            <a:extLst>
              <a:ext uri="{FF2B5EF4-FFF2-40B4-BE49-F238E27FC236}">
                <a16:creationId xmlns:a16="http://schemas.microsoft.com/office/drawing/2014/main" id="{E80C411A-C64A-FA49-AEFF-EAE99619DB9C}"/>
              </a:ext>
            </a:extLst>
          </p:cNvPr>
          <p:cNvSpPr txBox="1">
            <a:spLocks/>
          </p:cNvSpPr>
          <p:nvPr/>
        </p:nvSpPr>
        <p:spPr>
          <a:xfrm>
            <a:off x="480001" y="2384331"/>
            <a:ext cx="11313070" cy="1003447"/>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800" b="1" dirty="0"/>
              <a:t>Testing a new vaccine:</a:t>
            </a:r>
          </a:p>
          <a:p>
            <a:r>
              <a:rPr lang="en-US" sz="1800" dirty="0"/>
              <a:t>Control group: Placebo</a:t>
            </a:r>
          </a:p>
          <a:p>
            <a:r>
              <a:rPr lang="en-US" sz="1800" dirty="0"/>
              <a:t>Treatment group: New vaccine</a:t>
            </a:r>
          </a:p>
        </p:txBody>
      </p:sp>
      <p:grpSp>
        <p:nvGrpSpPr>
          <p:cNvPr id="75" name="Group 74">
            <a:extLst>
              <a:ext uri="{FF2B5EF4-FFF2-40B4-BE49-F238E27FC236}">
                <a16:creationId xmlns:a16="http://schemas.microsoft.com/office/drawing/2014/main" id="{EC14F2B1-4C9D-0776-A1A0-8BFDFABA18C4}"/>
              </a:ext>
            </a:extLst>
          </p:cNvPr>
          <p:cNvGrpSpPr/>
          <p:nvPr/>
        </p:nvGrpSpPr>
        <p:grpSpPr>
          <a:xfrm>
            <a:off x="3253577" y="3429000"/>
            <a:ext cx="4261647" cy="2748464"/>
            <a:chOff x="3253577" y="3429000"/>
            <a:chExt cx="4261647" cy="2748464"/>
          </a:xfrm>
        </p:grpSpPr>
        <p:pic>
          <p:nvPicPr>
            <p:cNvPr id="55" name="Graphic 54" descr="Man with solid fill">
              <a:extLst>
                <a:ext uri="{FF2B5EF4-FFF2-40B4-BE49-F238E27FC236}">
                  <a16:creationId xmlns:a16="http://schemas.microsoft.com/office/drawing/2014/main" id="{9E846530-FF61-5DE9-9350-5A1D28CC7A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90112" y="4713778"/>
              <a:ext cx="214283" cy="344100"/>
            </a:xfrm>
            <a:prstGeom prst="rect">
              <a:avLst/>
            </a:prstGeom>
          </p:spPr>
        </p:pic>
        <p:pic>
          <p:nvPicPr>
            <p:cNvPr id="56" name="Graphic 55" descr="Man and woman with solid fill">
              <a:extLst>
                <a:ext uri="{FF2B5EF4-FFF2-40B4-BE49-F238E27FC236}">
                  <a16:creationId xmlns:a16="http://schemas.microsoft.com/office/drawing/2014/main" id="{B2C47C70-3783-61D0-540C-C984DDA5DC5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93338" y="4823508"/>
              <a:ext cx="214283" cy="344100"/>
            </a:xfrm>
            <a:prstGeom prst="rect">
              <a:avLst/>
            </a:prstGeom>
          </p:spPr>
        </p:pic>
        <p:pic>
          <p:nvPicPr>
            <p:cNvPr id="57" name="Graphic 56" descr="Man with kid with solid fill">
              <a:extLst>
                <a:ext uri="{FF2B5EF4-FFF2-40B4-BE49-F238E27FC236}">
                  <a16:creationId xmlns:a16="http://schemas.microsoft.com/office/drawing/2014/main" id="{D1F16226-3C4D-8AB0-3538-5F6337092FF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98842" y="4896560"/>
              <a:ext cx="214283" cy="344100"/>
            </a:xfrm>
            <a:prstGeom prst="rect">
              <a:avLst/>
            </a:prstGeom>
          </p:spPr>
        </p:pic>
        <p:pic>
          <p:nvPicPr>
            <p:cNvPr id="58" name="Graphic 57" descr="Family with boy with solid fill">
              <a:extLst>
                <a:ext uri="{FF2B5EF4-FFF2-40B4-BE49-F238E27FC236}">
                  <a16:creationId xmlns:a16="http://schemas.microsoft.com/office/drawing/2014/main" id="{59B45DDB-31F4-4111-0E3F-C861474ECD5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49163" y="5277471"/>
              <a:ext cx="214283" cy="344100"/>
            </a:xfrm>
            <a:prstGeom prst="rect">
              <a:avLst/>
            </a:prstGeom>
          </p:spPr>
        </p:pic>
        <p:pic>
          <p:nvPicPr>
            <p:cNvPr id="59" name="Graphic 58" descr="Family with two children with solid fill">
              <a:extLst>
                <a:ext uri="{FF2B5EF4-FFF2-40B4-BE49-F238E27FC236}">
                  <a16:creationId xmlns:a16="http://schemas.microsoft.com/office/drawing/2014/main" id="{0B1410DA-38C8-0C2E-4897-287602C4D5B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68562" y="4151015"/>
              <a:ext cx="214283" cy="344100"/>
            </a:xfrm>
            <a:prstGeom prst="rect">
              <a:avLst/>
            </a:prstGeom>
          </p:spPr>
        </p:pic>
        <p:pic>
          <p:nvPicPr>
            <p:cNvPr id="60" name="Graphic 59" descr="Man with kid with solid fill">
              <a:extLst>
                <a:ext uri="{FF2B5EF4-FFF2-40B4-BE49-F238E27FC236}">
                  <a16:creationId xmlns:a16="http://schemas.microsoft.com/office/drawing/2014/main" id="{889D2F56-DF09-59BD-73BC-A6F7D611E3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41172" y="4933371"/>
              <a:ext cx="214283" cy="344100"/>
            </a:xfrm>
            <a:prstGeom prst="rect">
              <a:avLst/>
            </a:prstGeom>
          </p:spPr>
        </p:pic>
        <p:pic>
          <p:nvPicPr>
            <p:cNvPr id="61" name="Graphic 60" descr="Family with two children with solid fill">
              <a:extLst>
                <a:ext uri="{FF2B5EF4-FFF2-40B4-BE49-F238E27FC236}">
                  <a16:creationId xmlns:a16="http://schemas.microsoft.com/office/drawing/2014/main" id="{5C4AD0A2-1CB7-2911-CC33-EB8E82A31AD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69514" y="5318829"/>
              <a:ext cx="214283" cy="344100"/>
            </a:xfrm>
            <a:prstGeom prst="rect">
              <a:avLst/>
            </a:prstGeom>
          </p:spPr>
        </p:pic>
        <p:pic>
          <p:nvPicPr>
            <p:cNvPr id="62" name="Graphic 61" descr="Man and woman with solid fill">
              <a:extLst>
                <a:ext uri="{FF2B5EF4-FFF2-40B4-BE49-F238E27FC236}">
                  <a16:creationId xmlns:a16="http://schemas.microsoft.com/office/drawing/2014/main" id="{9E4051D9-A54D-F398-587D-3892B9AB48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94392" y="4685814"/>
              <a:ext cx="214283" cy="344100"/>
            </a:xfrm>
            <a:prstGeom prst="rect">
              <a:avLst/>
            </a:prstGeom>
          </p:spPr>
        </p:pic>
        <p:pic>
          <p:nvPicPr>
            <p:cNvPr id="63" name="Graphic 62" descr="Family with boy with solid fill">
              <a:extLst>
                <a:ext uri="{FF2B5EF4-FFF2-40B4-BE49-F238E27FC236}">
                  <a16:creationId xmlns:a16="http://schemas.microsoft.com/office/drawing/2014/main" id="{969F2C84-B3F0-637B-5935-0F2B85B84F6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04019" y="4754347"/>
              <a:ext cx="214283" cy="344100"/>
            </a:xfrm>
            <a:prstGeom prst="rect">
              <a:avLst/>
            </a:prstGeom>
          </p:spPr>
        </p:pic>
        <p:pic>
          <p:nvPicPr>
            <p:cNvPr id="64" name="Graphic 63" descr="Man with solid fill">
              <a:extLst>
                <a:ext uri="{FF2B5EF4-FFF2-40B4-BE49-F238E27FC236}">
                  <a16:creationId xmlns:a16="http://schemas.microsoft.com/office/drawing/2014/main" id="{8D39EDD1-7014-5E80-184D-471914DA97F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38263" y="5227132"/>
              <a:ext cx="214283" cy="344100"/>
            </a:xfrm>
            <a:prstGeom prst="rect">
              <a:avLst/>
            </a:prstGeom>
          </p:spPr>
        </p:pic>
        <p:pic>
          <p:nvPicPr>
            <p:cNvPr id="65" name="Graphic 64" descr="Two Men with solid fill">
              <a:extLst>
                <a:ext uri="{FF2B5EF4-FFF2-40B4-BE49-F238E27FC236}">
                  <a16:creationId xmlns:a16="http://schemas.microsoft.com/office/drawing/2014/main" id="{3FEE83BD-E652-1615-5E0D-27FF748C83B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438283" y="3676557"/>
              <a:ext cx="214283" cy="344100"/>
            </a:xfrm>
            <a:prstGeom prst="rect">
              <a:avLst/>
            </a:prstGeom>
          </p:spPr>
        </p:pic>
        <p:pic>
          <p:nvPicPr>
            <p:cNvPr id="66" name="Graphic 65" descr="Man and woman with solid fill">
              <a:extLst>
                <a:ext uri="{FF2B5EF4-FFF2-40B4-BE49-F238E27FC236}">
                  <a16:creationId xmlns:a16="http://schemas.microsoft.com/office/drawing/2014/main" id="{D73A3352-E517-F04B-8D0E-5B93113A98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60609" y="4272780"/>
              <a:ext cx="214283" cy="344100"/>
            </a:xfrm>
            <a:prstGeom prst="rect">
              <a:avLst/>
            </a:prstGeom>
          </p:spPr>
        </p:pic>
        <p:pic>
          <p:nvPicPr>
            <p:cNvPr id="67" name="Graphic 66" descr="Man and woman with solid fill">
              <a:extLst>
                <a:ext uri="{FF2B5EF4-FFF2-40B4-BE49-F238E27FC236}">
                  <a16:creationId xmlns:a16="http://schemas.microsoft.com/office/drawing/2014/main" id="{F0847BEE-2FCB-3F6D-350B-9BE55D112BA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48314" y="5465772"/>
              <a:ext cx="214283" cy="344100"/>
            </a:xfrm>
            <a:prstGeom prst="rect">
              <a:avLst/>
            </a:prstGeom>
          </p:spPr>
        </p:pic>
        <p:pic>
          <p:nvPicPr>
            <p:cNvPr id="68" name="Graphic 67" descr="Man with solid fill">
              <a:extLst>
                <a:ext uri="{FF2B5EF4-FFF2-40B4-BE49-F238E27FC236}">
                  <a16:creationId xmlns:a16="http://schemas.microsoft.com/office/drawing/2014/main" id="{4FF62131-D40A-944A-575D-289CE3F499E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53577" y="4970455"/>
              <a:ext cx="214283" cy="344100"/>
            </a:xfrm>
            <a:prstGeom prst="rect">
              <a:avLst/>
            </a:prstGeom>
          </p:spPr>
        </p:pic>
        <p:pic>
          <p:nvPicPr>
            <p:cNvPr id="69" name="Graphic 68" descr="Man with solid fill">
              <a:extLst>
                <a:ext uri="{FF2B5EF4-FFF2-40B4-BE49-F238E27FC236}">
                  <a16:creationId xmlns:a16="http://schemas.microsoft.com/office/drawing/2014/main" id="{04DC5A93-35BF-01D3-5C64-FAA5A1A9C9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5844" y="4915214"/>
              <a:ext cx="214283" cy="344100"/>
            </a:xfrm>
            <a:prstGeom prst="rect">
              <a:avLst/>
            </a:prstGeom>
          </p:spPr>
        </p:pic>
        <p:pic>
          <p:nvPicPr>
            <p:cNvPr id="40" name="Graphic 39" descr="Man with solid fill">
              <a:extLst>
                <a:ext uri="{FF2B5EF4-FFF2-40B4-BE49-F238E27FC236}">
                  <a16:creationId xmlns:a16="http://schemas.microsoft.com/office/drawing/2014/main" id="{949928D8-5784-7267-2736-C5430C558E9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95897" y="4838216"/>
              <a:ext cx="214283" cy="344100"/>
            </a:xfrm>
            <a:prstGeom prst="rect">
              <a:avLst/>
            </a:prstGeom>
          </p:spPr>
        </p:pic>
        <p:pic>
          <p:nvPicPr>
            <p:cNvPr id="41" name="Graphic 40" descr="Man and woman with solid fill">
              <a:extLst>
                <a:ext uri="{FF2B5EF4-FFF2-40B4-BE49-F238E27FC236}">
                  <a16:creationId xmlns:a16="http://schemas.microsoft.com/office/drawing/2014/main" id="{177942FA-9458-121E-307E-E0675E0643F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03815" y="3970035"/>
              <a:ext cx="214283" cy="344100"/>
            </a:xfrm>
            <a:prstGeom prst="rect">
              <a:avLst/>
            </a:prstGeom>
          </p:spPr>
        </p:pic>
        <p:pic>
          <p:nvPicPr>
            <p:cNvPr id="42" name="Graphic 41" descr="Man with kid with solid fill">
              <a:extLst>
                <a:ext uri="{FF2B5EF4-FFF2-40B4-BE49-F238E27FC236}">
                  <a16:creationId xmlns:a16="http://schemas.microsoft.com/office/drawing/2014/main" id="{F9C598E8-E268-A320-E240-63DDC31CB64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04627" y="5020998"/>
              <a:ext cx="214283" cy="344100"/>
            </a:xfrm>
            <a:prstGeom prst="rect">
              <a:avLst/>
            </a:prstGeom>
          </p:spPr>
        </p:pic>
        <p:pic>
          <p:nvPicPr>
            <p:cNvPr id="43" name="Graphic 42" descr="Family with boy with solid fill">
              <a:extLst>
                <a:ext uri="{FF2B5EF4-FFF2-40B4-BE49-F238E27FC236}">
                  <a16:creationId xmlns:a16="http://schemas.microsoft.com/office/drawing/2014/main" id="{CE79B573-1289-94E0-6B0C-464BA5B6F00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83708" y="4272293"/>
              <a:ext cx="214283" cy="344100"/>
            </a:xfrm>
            <a:prstGeom prst="rect">
              <a:avLst/>
            </a:prstGeom>
          </p:spPr>
        </p:pic>
        <p:pic>
          <p:nvPicPr>
            <p:cNvPr id="44" name="Graphic 43" descr="Family with two children with solid fill">
              <a:extLst>
                <a:ext uri="{FF2B5EF4-FFF2-40B4-BE49-F238E27FC236}">
                  <a16:creationId xmlns:a16="http://schemas.microsoft.com/office/drawing/2014/main" id="{E958DA3E-0340-D4C1-619D-58B4127202A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21223" y="5443267"/>
              <a:ext cx="214283" cy="344100"/>
            </a:xfrm>
            <a:prstGeom prst="rect">
              <a:avLst/>
            </a:prstGeom>
          </p:spPr>
        </p:pic>
        <p:pic>
          <p:nvPicPr>
            <p:cNvPr id="45" name="Graphic 44" descr="Man with kid with solid fill">
              <a:extLst>
                <a:ext uri="{FF2B5EF4-FFF2-40B4-BE49-F238E27FC236}">
                  <a16:creationId xmlns:a16="http://schemas.microsoft.com/office/drawing/2014/main" id="{0002BBE7-6BEA-1180-03C3-76335DB7D90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45680" y="3978965"/>
              <a:ext cx="214283" cy="344100"/>
            </a:xfrm>
            <a:prstGeom prst="rect">
              <a:avLst/>
            </a:prstGeom>
          </p:spPr>
        </p:pic>
        <p:pic>
          <p:nvPicPr>
            <p:cNvPr id="46" name="Graphic 45" descr="Family with two children with solid fill">
              <a:extLst>
                <a:ext uri="{FF2B5EF4-FFF2-40B4-BE49-F238E27FC236}">
                  <a16:creationId xmlns:a16="http://schemas.microsoft.com/office/drawing/2014/main" id="{D6572177-1ABF-8B47-B3CA-7BEC09C3E0A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02176" y="3615274"/>
              <a:ext cx="214283" cy="344100"/>
            </a:xfrm>
            <a:prstGeom prst="rect">
              <a:avLst/>
            </a:prstGeom>
          </p:spPr>
        </p:pic>
        <p:pic>
          <p:nvPicPr>
            <p:cNvPr id="47" name="Graphic 46" descr="Man and woman with solid fill">
              <a:extLst>
                <a:ext uri="{FF2B5EF4-FFF2-40B4-BE49-F238E27FC236}">
                  <a16:creationId xmlns:a16="http://schemas.microsoft.com/office/drawing/2014/main" id="{E6C0517E-C08E-5694-3AF2-0AF148A543E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33984" y="4091495"/>
              <a:ext cx="214283" cy="344100"/>
            </a:xfrm>
            <a:prstGeom prst="rect">
              <a:avLst/>
            </a:prstGeom>
          </p:spPr>
        </p:pic>
        <p:pic>
          <p:nvPicPr>
            <p:cNvPr id="48" name="Graphic 47" descr="Family with boy with solid fill">
              <a:extLst>
                <a:ext uri="{FF2B5EF4-FFF2-40B4-BE49-F238E27FC236}">
                  <a16:creationId xmlns:a16="http://schemas.microsoft.com/office/drawing/2014/main" id="{D063F634-C470-C578-56EB-9266C3BB7A4C}"/>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254540" y="5661314"/>
              <a:ext cx="214283" cy="344100"/>
            </a:xfrm>
            <a:prstGeom prst="rect">
              <a:avLst/>
            </a:prstGeom>
          </p:spPr>
        </p:pic>
        <p:pic>
          <p:nvPicPr>
            <p:cNvPr id="49" name="Graphic 48" descr="Man with solid fill">
              <a:extLst>
                <a:ext uri="{FF2B5EF4-FFF2-40B4-BE49-F238E27FC236}">
                  <a16:creationId xmlns:a16="http://schemas.microsoft.com/office/drawing/2014/main" id="{387B787F-107B-17A9-8FAD-607BC3912B8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44048" y="5351570"/>
              <a:ext cx="214283" cy="344100"/>
            </a:xfrm>
            <a:prstGeom prst="rect">
              <a:avLst/>
            </a:prstGeom>
          </p:spPr>
        </p:pic>
        <p:pic>
          <p:nvPicPr>
            <p:cNvPr id="50" name="Graphic 49" descr="Two Men with solid fill">
              <a:extLst>
                <a:ext uri="{FF2B5EF4-FFF2-40B4-BE49-F238E27FC236}">
                  <a16:creationId xmlns:a16="http://schemas.microsoft.com/office/drawing/2014/main" id="{790EBA74-BEBF-55BD-325F-6DB4B0803C29}"/>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69485" y="3808108"/>
              <a:ext cx="214283" cy="344100"/>
            </a:xfrm>
            <a:prstGeom prst="rect">
              <a:avLst/>
            </a:prstGeom>
          </p:spPr>
        </p:pic>
        <p:pic>
          <p:nvPicPr>
            <p:cNvPr id="51" name="Graphic 50" descr="Man and woman with solid fill">
              <a:extLst>
                <a:ext uri="{FF2B5EF4-FFF2-40B4-BE49-F238E27FC236}">
                  <a16:creationId xmlns:a16="http://schemas.microsoft.com/office/drawing/2014/main" id="{043553F3-F0F2-08D5-1D41-CA4C978CE21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2423" y="5204689"/>
              <a:ext cx="214283" cy="344100"/>
            </a:xfrm>
            <a:prstGeom prst="rect">
              <a:avLst/>
            </a:prstGeom>
          </p:spPr>
        </p:pic>
        <p:pic>
          <p:nvPicPr>
            <p:cNvPr id="52" name="Graphic 51" descr="Man and woman with solid fill">
              <a:extLst>
                <a:ext uri="{FF2B5EF4-FFF2-40B4-BE49-F238E27FC236}">
                  <a16:creationId xmlns:a16="http://schemas.microsoft.com/office/drawing/2014/main" id="{EE3FCBE5-D33C-AD1D-B4D0-9BE40170D03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06137" y="4410915"/>
              <a:ext cx="214283" cy="344100"/>
            </a:xfrm>
            <a:prstGeom prst="rect">
              <a:avLst/>
            </a:prstGeom>
          </p:spPr>
        </p:pic>
        <p:pic>
          <p:nvPicPr>
            <p:cNvPr id="53" name="Graphic 52" descr="Man with solid fill">
              <a:extLst>
                <a:ext uri="{FF2B5EF4-FFF2-40B4-BE49-F238E27FC236}">
                  <a16:creationId xmlns:a16="http://schemas.microsoft.com/office/drawing/2014/main" id="{88057E4F-D735-1D4E-C976-E632E61501A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77393" y="3659868"/>
              <a:ext cx="214283" cy="344100"/>
            </a:xfrm>
            <a:prstGeom prst="rect">
              <a:avLst/>
            </a:prstGeom>
          </p:spPr>
        </p:pic>
        <p:pic>
          <p:nvPicPr>
            <p:cNvPr id="54" name="Graphic 53" descr="Man with solid fill">
              <a:extLst>
                <a:ext uri="{FF2B5EF4-FFF2-40B4-BE49-F238E27FC236}">
                  <a16:creationId xmlns:a16="http://schemas.microsoft.com/office/drawing/2014/main" id="{E0864D57-5F66-BAC2-41ED-F1FB6FADA61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61629" y="5039652"/>
              <a:ext cx="214283" cy="344100"/>
            </a:xfrm>
            <a:prstGeom prst="rect">
              <a:avLst/>
            </a:prstGeom>
          </p:spPr>
        </p:pic>
        <p:pic>
          <p:nvPicPr>
            <p:cNvPr id="25" name="Graphic 24" descr="Man with solid fill">
              <a:extLst>
                <a:ext uri="{FF2B5EF4-FFF2-40B4-BE49-F238E27FC236}">
                  <a16:creationId xmlns:a16="http://schemas.microsoft.com/office/drawing/2014/main" id="{545A54AF-2740-BD8F-41F6-3C6E38C0B60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797715" y="3456964"/>
              <a:ext cx="214283" cy="344100"/>
            </a:xfrm>
            <a:prstGeom prst="rect">
              <a:avLst/>
            </a:prstGeom>
          </p:spPr>
        </p:pic>
        <p:pic>
          <p:nvPicPr>
            <p:cNvPr id="26" name="Graphic 25" descr="Man and woman with solid fill">
              <a:extLst>
                <a:ext uri="{FF2B5EF4-FFF2-40B4-BE49-F238E27FC236}">
                  <a16:creationId xmlns:a16="http://schemas.microsoft.com/office/drawing/2014/main" id="{F8B350B5-CB78-6773-1F03-22D8EDCEEA0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300941" y="3566694"/>
              <a:ext cx="214283" cy="344100"/>
            </a:xfrm>
            <a:prstGeom prst="rect">
              <a:avLst/>
            </a:prstGeom>
          </p:spPr>
        </p:pic>
        <p:pic>
          <p:nvPicPr>
            <p:cNvPr id="27" name="Graphic 26" descr="Man with kid with solid fill">
              <a:extLst>
                <a:ext uri="{FF2B5EF4-FFF2-40B4-BE49-F238E27FC236}">
                  <a16:creationId xmlns:a16="http://schemas.microsoft.com/office/drawing/2014/main" id="{7FA08C7E-BBCF-8C5A-AABC-DC6D5C11FAC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806445" y="3639746"/>
              <a:ext cx="214283" cy="344100"/>
            </a:xfrm>
            <a:prstGeom prst="rect">
              <a:avLst/>
            </a:prstGeom>
          </p:spPr>
        </p:pic>
        <p:pic>
          <p:nvPicPr>
            <p:cNvPr id="28" name="Graphic 27" descr="Family with boy with solid fill">
              <a:extLst>
                <a:ext uri="{FF2B5EF4-FFF2-40B4-BE49-F238E27FC236}">
                  <a16:creationId xmlns:a16="http://schemas.microsoft.com/office/drawing/2014/main" id="{4AC104EC-28AA-DE73-E7EE-B382B789EE1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369579" y="5246095"/>
              <a:ext cx="214283" cy="344100"/>
            </a:xfrm>
            <a:prstGeom prst="rect">
              <a:avLst/>
            </a:prstGeom>
          </p:spPr>
        </p:pic>
        <p:pic>
          <p:nvPicPr>
            <p:cNvPr id="29" name="Graphic 28" descr="Family with two children with solid fill">
              <a:extLst>
                <a:ext uri="{FF2B5EF4-FFF2-40B4-BE49-F238E27FC236}">
                  <a16:creationId xmlns:a16="http://schemas.microsoft.com/office/drawing/2014/main" id="{F406B814-B4A7-0876-1021-702D2D5607F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369970" y="4850616"/>
              <a:ext cx="214283" cy="344100"/>
            </a:xfrm>
            <a:prstGeom prst="rect">
              <a:avLst/>
            </a:prstGeom>
          </p:spPr>
        </p:pic>
        <p:pic>
          <p:nvPicPr>
            <p:cNvPr id="30" name="Graphic 29" descr="Man with kid with solid fill">
              <a:extLst>
                <a:ext uri="{FF2B5EF4-FFF2-40B4-BE49-F238E27FC236}">
                  <a16:creationId xmlns:a16="http://schemas.microsoft.com/office/drawing/2014/main" id="{BE5AB612-2613-8556-F0DA-49503563B6B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148775" y="3676557"/>
              <a:ext cx="214283" cy="344100"/>
            </a:xfrm>
            <a:prstGeom prst="rect">
              <a:avLst/>
            </a:prstGeom>
          </p:spPr>
        </p:pic>
        <p:pic>
          <p:nvPicPr>
            <p:cNvPr id="31" name="Graphic 30" descr="Family with two children with solid fill">
              <a:extLst>
                <a:ext uri="{FF2B5EF4-FFF2-40B4-BE49-F238E27FC236}">
                  <a16:creationId xmlns:a16="http://schemas.microsoft.com/office/drawing/2014/main" id="{BD2EC596-341F-91EB-A6A2-D9D78F4FD2C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977117" y="4062015"/>
              <a:ext cx="214283" cy="344100"/>
            </a:xfrm>
            <a:prstGeom prst="rect">
              <a:avLst/>
            </a:prstGeom>
          </p:spPr>
        </p:pic>
        <p:pic>
          <p:nvPicPr>
            <p:cNvPr id="32" name="Graphic 31" descr="Man and woman with solid fill">
              <a:extLst>
                <a:ext uri="{FF2B5EF4-FFF2-40B4-BE49-F238E27FC236}">
                  <a16:creationId xmlns:a16="http://schemas.microsoft.com/office/drawing/2014/main" id="{1849F389-B9AA-7242-1670-6DF8CCFC434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401995" y="3429000"/>
              <a:ext cx="214283" cy="344100"/>
            </a:xfrm>
            <a:prstGeom prst="rect">
              <a:avLst/>
            </a:prstGeom>
          </p:spPr>
        </p:pic>
        <p:pic>
          <p:nvPicPr>
            <p:cNvPr id="33" name="Graphic 32" descr="Family with boy with solid fill">
              <a:extLst>
                <a:ext uri="{FF2B5EF4-FFF2-40B4-BE49-F238E27FC236}">
                  <a16:creationId xmlns:a16="http://schemas.microsoft.com/office/drawing/2014/main" id="{43AE319F-9811-4DE0-AFD8-DC8F1C9DFB7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56358" y="4280062"/>
              <a:ext cx="214283" cy="344100"/>
            </a:xfrm>
            <a:prstGeom prst="rect">
              <a:avLst/>
            </a:prstGeom>
          </p:spPr>
        </p:pic>
        <p:pic>
          <p:nvPicPr>
            <p:cNvPr id="34" name="Graphic 33" descr="Man with solid fill">
              <a:extLst>
                <a:ext uri="{FF2B5EF4-FFF2-40B4-BE49-F238E27FC236}">
                  <a16:creationId xmlns:a16="http://schemas.microsoft.com/office/drawing/2014/main" id="{ECD54725-8141-E10C-3A31-CFD38FE393F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256693" y="5182364"/>
              <a:ext cx="214283" cy="344100"/>
            </a:xfrm>
            <a:prstGeom prst="rect">
              <a:avLst/>
            </a:prstGeom>
          </p:spPr>
        </p:pic>
        <p:pic>
          <p:nvPicPr>
            <p:cNvPr id="35" name="Graphic 34" descr="Two Men with solid fill">
              <a:extLst>
                <a:ext uri="{FF2B5EF4-FFF2-40B4-BE49-F238E27FC236}">
                  <a16:creationId xmlns:a16="http://schemas.microsoft.com/office/drawing/2014/main" id="{F136B635-D726-FA6C-24B2-68C7D1EC6159}"/>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680764" y="5785428"/>
              <a:ext cx="214283" cy="344100"/>
            </a:xfrm>
            <a:prstGeom prst="rect">
              <a:avLst/>
            </a:prstGeom>
          </p:spPr>
        </p:pic>
        <p:pic>
          <p:nvPicPr>
            <p:cNvPr id="36" name="Graphic 35" descr="Man and woman with solid fill">
              <a:extLst>
                <a:ext uri="{FF2B5EF4-FFF2-40B4-BE49-F238E27FC236}">
                  <a16:creationId xmlns:a16="http://schemas.microsoft.com/office/drawing/2014/main" id="{441CC0F2-66B7-0BEA-24DD-8F67A110FD3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986542" y="5404984"/>
              <a:ext cx="214283" cy="344100"/>
            </a:xfrm>
            <a:prstGeom prst="rect">
              <a:avLst/>
            </a:prstGeom>
          </p:spPr>
        </p:pic>
        <p:pic>
          <p:nvPicPr>
            <p:cNvPr id="37" name="Graphic 36" descr="Man and woman with solid fill">
              <a:extLst>
                <a:ext uri="{FF2B5EF4-FFF2-40B4-BE49-F238E27FC236}">
                  <a16:creationId xmlns:a16="http://schemas.microsoft.com/office/drawing/2014/main" id="{DD68DD90-2E8E-F863-8DA3-E51407163A7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860053" y="5833364"/>
              <a:ext cx="214283" cy="344100"/>
            </a:xfrm>
            <a:prstGeom prst="rect">
              <a:avLst/>
            </a:prstGeom>
          </p:spPr>
        </p:pic>
        <p:pic>
          <p:nvPicPr>
            <p:cNvPr id="38" name="Graphic 37" descr="Man with solid fill">
              <a:extLst>
                <a:ext uri="{FF2B5EF4-FFF2-40B4-BE49-F238E27FC236}">
                  <a16:creationId xmlns:a16="http://schemas.microsoft.com/office/drawing/2014/main" id="{9BA9DF7B-1A3C-DBD2-4DED-FA112412975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561180" y="3713641"/>
              <a:ext cx="214283" cy="344100"/>
            </a:xfrm>
            <a:prstGeom prst="rect">
              <a:avLst/>
            </a:prstGeom>
          </p:spPr>
        </p:pic>
        <p:pic>
          <p:nvPicPr>
            <p:cNvPr id="39" name="Graphic 38" descr="Man with solid fill">
              <a:extLst>
                <a:ext uri="{FF2B5EF4-FFF2-40B4-BE49-F238E27FC236}">
                  <a16:creationId xmlns:a16="http://schemas.microsoft.com/office/drawing/2014/main" id="{2DC329B5-A6B5-08FB-1899-F645EBB9F18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963447" y="3658400"/>
              <a:ext cx="214283" cy="344100"/>
            </a:xfrm>
            <a:prstGeom prst="rect">
              <a:avLst/>
            </a:prstGeom>
          </p:spPr>
        </p:pic>
        <p:pic>
          <p:nvPicPr>
            <p:cNvPr id="10" name="Graphic 9" descr="Man with solid fill">
              <a:extLst>
                <a:ext uri="{FF2B5EF4-FFF2-40B4-BE49-F238E27FC236}">
                  <a16:creationId xmlns:a16="http://schemas.microsoft.com/office/drawing/2014/main" id="{39ABDF4D-57C4-064B-6C8C-57B6B168FB30}"/>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91882" y="3736663"/>
              <a:ext cx="214283" cy="344100"/>
            </a:xfrm>
            <a:prstGeom prst="rect">
              <a:avLst/>
            </a:prstGeom>
          </p:spPr>
        </p:pic>
        <p:pic>
          <p:nvPicPr>
            <p:cNvPr id="11" name="Graphic 10" descr="Man and woman with solid fill">
              <a:extLst>
                <a:ext uri="{FF2B5EF4-FFF2-40B4-BE49-F238E27FC236}">
                  <a16:creationId xmlns:a16="http://schemas.microsoft.com/office/drawing/2014/main" id="{B143C50A-0B9D-458B-B5A9-720CDDF8784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521923" y="5683695"/>
              <a:ext cx="214283" cy="344100"/>
            </a:xfrm>
            <a:prstGeom prst="rect">
              <a:avLst/>
            </a:prstGeom>
          </p:spPr>
        </p:pic>
        <p:pic>
          <p:nvPicPr>
            <p:cNvPr id="12" name="Graphic 11" descr="Man with kid with solid fill">
              <a:extLst>
                <a:ext uri="{FF2B5EF4-FFF2-40B4-BE49-F238E27FC236}">
                  <a16:creationId xmlns:a16="http://schemas.microsoft.com/office/drawing/2014/main" id="{2E6C1E6A-C07B-0375-338E-62F4A3F366B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800612" y="3919445"/>
              <a:ext cx="214283" cy="344100"/>
            </a:xfrm>
            <a:prstGeom prst="rect">
              <a:avLst/>
            </a:prstGeom>
          </p:spPr>
        </p:pic>
        <p:pic>
          <p:nvPicPr>
            <p:cNvPr id="13" name="Graphic 12" descr="Family with boy with solid fill">
              <a:extLst>
                <a:ext uri="{FF2B5EF4-FFF2-40B4-BE49-F238E27FC236}">
                  <a16:creationId xmlns:a16="http://schemas.microsoft.com/office/drawing/2014/main" id="{09FE85B8-38DD-40BE-7E42-60EA9252584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341362" y="4735609"/>
              <a:ext cx="214283" cy="344100"/>
            </a:xfrm>
            <a:prstGeom prst="rect">
              <a:avLst/>
            </a:prstGeom>
          </p:spPr>
        </p:pic>
        <p:pic>
          <p:nvPicPr>
            <p:cNvPr id="14" name="Graphic 13" descr="Family with two children with solid fill">
              <a:extLst>
                <a:ext uri="{FF2B5EF4-FFF2-40B4-BE49-F238E27FC236}">
                  <a16:creationId xmlns:a16="http://schemas.microsoft.com/office/drawing/2014/main" id="{589FBA71-DD0A-C3C0-EC29-BB5B50898DC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617208" y="4341714"/>
              <a:ext cx="214283" cy="344100"/>
            </a:xfrm>
            <a:prstGeom prst="rect">
              <a:avLst/>
            </a:prstGeom>
          </p:spPr>
        </p:pic>
        <p:pic>
          <p:nvPicPr>
            <p:cNvPr id="15" name="Graphic 14" descr="Man with kid with solid fill">
              <a:extLst>
                <a:ext uri="{FF2B5EF4-FFF2-40B4-BE49-F238E27FC236}">
                  <a16:creationId xmlns:a16="http://schemas.microsoft.com/office/drawing/2014/main" id="{CB342789-190A-18AC-9EAC-7DB35AC6F9A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142942" y="3956256"/>
              <a:ext cx="214283" cy="344100"/>
            </a:xfrm>
            <a:prstGeom prst="rect">
              <a:avLst/>
            </a:prstGeom>
          </p:spPr>
        </p:pic>
        <p:pic>
          <p:nvPicPr>
            <p:cNvPr id="16" name="Graphic 15" descr="Family with two children with solid fill">
              <a:extLst>
                <a:ext uri="{FF2B5EF4-FFF2-40B4-BE49-F238E27FC236}">
                  <a16:creationId xmlns:a16="http://schemas.microsoft.com/office/drawing/2014/main" id="{5660F63A-32EB-8D83-8537-62AEBD64B25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650183" y="4531665"/>
              <a:ext cx="214283" cy="344100"/>
            </a:xfrm>
            <a:prstGeom prst="rect">
              <a:avLst/>
            </a:prstGeom>
          </p:spPr>
        </p:pic>
        <p:pic>
          <p:nvPicPr>
            <p:cNvPr id="17" name="Graphic 16" descr="Man and woman with solid fill">
              <a:extLst>
                <a:ext uri="{FF2B5EF4-FFF2-40B4-BE49-F238E27FC236}">
                  <a16:creationId xmlns:a16="http://schemas.microsoft.com/office/drawing/2014/main" id="{6A964A19-8480-73DE-63C1-8EEAF9FBCF6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962845" y="5046774"/>
              <a:ext cx="214283" cy="344100"/>
            </a:xfrm>
            <a:prstGeom prst="rect">
              <a:avLst/>
            </a:prstGeom>
          </p:spPr>
        </p:pic>
        <p:pic>
          <p:nvPicPr>
            <p:cNvPr id="18" name="Graphic 17" descr="Family with boy with solid fill">
              <a:extLst>
                <a:ext uri="{FF2B5EF4-FFF2-40B4-BE49-F238E27FC236}">
                  <a16:creationId xmlns:a16="http://schemas.microsoft.com/office/drawing/2014/main" id="{DC3DFB5B-5867-2D2F-CBC8-DE0EA92AA34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50525" y="4559761"/>
              <a:ext cx="214283" cy="344100"/>
            </a:xfrm>
            <a:prstGeom prst="rect">
              <a:avLst/>
            </a:prstGeom>
          </p:spPr>
        </p:pic>
        <p:pic>
          <p:nvPicPr>
            <p:cNvPr id="19" name="Graphic 18" descr="Man with solid fill">
              <a:extLst>
                <a:ext uri="{FF2B5EF4-FFF2-40B4-BE49-F238E27FC236}">
                  <a16:creationId xmlns:a16="http://schemas.microsoft.com/office/drawing/2014/main" id="{C28F0AF2-5CCB-CE4D-06AF-069B9CA3274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740033" y="4250017"/>
              <a:ext cx="214283" cy="344100"/>
            </a:xfrm>
            <a:prstGeom prst="rect">
              <a:avLst/>
            </a:prstGeom>
          </p:spPr>
        </p:pic>
        <p:pic>
          <p:nvPicPr>
            <p:cNvPr id="20" name="Graphic 19" descr="Two Men with solid fill">
              <a:extLst>
                <a:ext uri="{FF2B5EF4-FFF2-40B4-BE49-F238E27FC236}">
                  <a16:creationId xmlns:a16="http://schemas.microsoft.com/office/drawing/2014/main" id="{D02E0BE2-5CCE-3C5E-D387-F4ED8080AD3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749164" y="5728809"/>
              <a:ext cx="214283" cy="344100"/>
            </a:xfrm>
            <a:prstGeom prst="rect">
              <a:avLst/>
            </a:prstGeom>
          </p:spPr>
        </p:pic>
        <p:pic>
          <p:nvPicPr>
            <p:cNvPr id="21" name="Graphic 20" descr="Man and woman with solid fill">
              <a:extLst>
                <a:ext uri="{FF2B5EF4-FFF2-40B4-BE49-F238E27FC236}">
                  <a16:creationId xmlns:a16="http://schemas.microsoft.com/office/drawing/2014/main" id="{7BCA16BE-7D56-44DE-BE2D-167626CBA119}"/>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315702" y="5586500"/>
              <a:ext cx="214283" cy="344100"/>
            </a:xfrm>
            <a:prstGeom prst="rect">
              <a:avLst/>
            </a:prstGeom>
          </p:spPr>
        </p:pic>
        <p:pic>
          <p:nvPicPr>
            <p:cNvPr id="22" name="Graphic 21" descr="Man and woman with solid fill">
              <a:extLst>
                <a:ext uri="{FF2B5EF4-FFF2-40B4-BE49-F238E27FC236}">
                  <a16:creationId xmlns:a16="http://schemas.microsoft.com/office/drawing/2014/main" id="{79DDF16F-0AD6-9A3B-2A7D-01365658AE8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50084" y="4488657"/>
              <a:ext cx="214283" cy="344100"/>
            </a:xfrm>
            <a:prstGeom prst="rect">
              <a:avLst/>
            </a:prstGeom>
          </p:spPr>
        </p:pic>
        <p:pic>
          <p:nvPicPr>
            <p:cNvPr id="23" name="Graphic 22" descr="Man with solid fill">
              <a:extLst>
                <a:ext uri="{FF2B5EF4-FFF2-40B4-BE49-F238E27FC236}">
                  <a16:creationId xmlns:a16="http://schemas.microsoft.com/office/drawing/2014/main" id="{42A29B37-3254-8456-9C0E-305FD13E62A7}"/>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555347" y="3993340"/>
              <a:ext cx="214283" cy="344100"/>
            </a:xfrm>
            <a:prstGeom prst="rect">
              <a:avLst/>
            </a:prstGeom>
          </p:spPr>
        </p:pic>
        <p:pic>
          <p:nvPicPr>
            <p:cNvPr id="24" name="Graphic 23" descr="Man with solid fill">
              <a:extLst>
                <a:ext uri="{FF2B5EF4-FFF2-40B4-BE49-F238E27FC236}">
                  <a16:creationId xmlns:a16="http://schemas.microsoft.com/office/drawing/2014/main" id="{83B43D0A-EECE-6DB4-D191-E7FEA793DEE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957614" y="3938099"/>
              <a:ext cx="214283" cy="344100"/>
            </a:xfrm>
            <a:prstGeom prst="rect">
              <a:avLst/>
            </a:prstGeom>
          </p:spPr>
        </p:pic>
      </p:grpSp>
      <p:pic>
        <p:nvPicPr>
          <p:cNvPr id="71" name="Graphic 70" descr="Needle with solid fill">
            <a:extLst>
              <a:ext uri="{FF2B5EF4-FFF2-40B4-BE49-F238E27FC236}">
                <a16:creationId xmlns:a16="http://schemas.microsoft.com/office/drawing/2014/main" id="{9ED58108-7993-E856-E8B2-8D50D7E9902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8728863" y="4816755"/>
            <a:ext cx="622238" cy="622238"/>
          </a:xfrm>
          <a:prstGeom prst="rect">
            <a:avLst/>
          </a:prstGeom>
        </p:spPr>
      </p:pic>
      <p:pic>
        <p:nvPicPr>
          <p:cNvPr id="72" name="Graphic 71" descr="Needle with solid fill">
            <a:extLst>
              <a:ext uri="{FF2B5EF4-FFF2-40B4-BE49-F238E27FC236}">
                <a16:creationId xmlns:a16="http://schemas.microsoft.com/office/drawing/2014/main" id="{C456DFF7-7AE6-71AC-7EF4-D0FF9350BC4F}"/>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8727302" y="3582423"/>
            <a:ext cx="623799" cy="623799"/>
          </a:xfrm>
          <a:prstGeom prst="rect">
            <a:avLst/>
          </a:prstGeom>
        </p:spPr>
      </p:pic>
      <p:sp>
        <p:nvSpPr>
          <p:cNvPr id="73" name="TextBox 72">
            <a:extLst>
              <a:ext uri="{FF2B5EF4-FFF2-40B4-BE49-F238E27FC236}">
                <a16:creationId xmlns:a16="http://schemas.microsoft.com/office/drawing/2014/main" id="{E4B30835-0129-3EE7-4E67-10F3A8E9E4F0}"/>
              </a:ext>
            </a:extLst>
          </p:cNvPr>
          <p:cNvSpPr txBox="1"/>
          <p:nvPr/>
        </p:nvSpPr>
        <p:spPr>
          <a:xfrm>
            <a:off x="8200667" y="5538771"/>
            <a:ext cx="1678631" cy="276999"/>
          </a:xfrm>
          <a:prstGeom prst="rect">
            <a:avLst/>
          </a:prstGeom>
          <a:noFill/>
        </p:spPr>
        <p:txBody>
          <a:bodyPr wrap="square" rtlCol="0">
            <a:spAutoFit/>
          </a:bodyPr>
          <a:lstStyle/>
          <a:p>
            <a:pPr algn="ctr"/>
            <a:r>
              <a:rPr lang="en-US" sz="1200" b="1" dirty="0">
                <a:solidFill>
                  <a:schemeClr val="accent1"/>
                </a:solidFill>
              </a:rPr>
              <a:t>Vaccine</a:t>
            </a:r>
          </a:p>
        </p:txBody>
      </p:sp>
      <p:sp>
        <p:nvSpPr>
          <p:cNvPr id="74" name="TextBox 73">
            <a:extLst>
              <a:ext uri="{FF2B5EF4-FFF2-40B4-BE49-F238E27FC236}">
                <a16:creationId xmlns:a16="http://schemas.microsoft.com/office/drawing/2014/main" id="{BDC217C2-FFCC-E660-1F29-6EBAD4847E89}"/>
              </a:ext>
            </a:extLst>
          </p:cNvPr>
          <p:cNvSpPr txBox="1"/>
          <p:nvPr/>
        </p:nvSpPr>
        <p:spPr>
          <a:xfrm>
            <a:off x="8199887" y="4276059"/>
            <a:ext cx="1678631" cy="276999"/>
          </a:xfrm>
          <a:prstGeom prst="rect">
            <a:avLst/>
          </a:prstGeom>
          <a:noFill/>
        </p:spPr>
        <p:txBody>
          <a:bodyPr wrap="square" rtlCol="0">
            <a:spAutoFit/>
          </a:bodyPr>
          <a:lstStyle/>
          <a:p>
            <a:pPr algn="ctr"/>
            <a:r>
              <a:rPr lang="en-US" sz="1200" b="1" dirty="0">
                <a:solidFill>
                  <a:schemeClr val="tx2"/>
                </a:solidFill>
              </a:rPr>
              <a:t>Placebo (fake vaccine)</a:t>
            </a:r>
          </a:p>
        </p:txBody>
      </p:sp>
    </p:spTree>
    <p:extLst>
      <p:ext uri="{BB962C8B-B14F-4D97-AF65-F5344CB8AC3E}">
        <p14:creationId xmlns:p14="http://schemas.microsoft.com/office/powerpoint/2010/main" val="2977889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3" grpId="0"/>
      <p:bldP spid="74"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7B853-5716-78D1-6EE0-328C1A2EAC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5C0BA1-9A8E-B5BE-037A-606EDD797E7E}"/>
              </a:ext>
            </a:extLst>
          </p:cNvPr>
          <p:cNvSpPr>
            <a:spLocks noGrp="1"/>
          </p:cNvSpPr>
          <p:nvPr>
            <p:ph type="title"/>
          </p:nvPr>
        </p:nvSpPr>
        <p:spPr/>
        <p:txBody>
          <a:bodyPr>
            <a:normAutofit/>
          </a:bodyPr>
          <a:lstStyle/>
          <a:p>
            <a:r>
              <a:rPr lang="en-US" dirty="0"/>
              <a:t>Randomized Control Trials</a:t>
            </a:r>
          </a:p>
        </p:txBody>
      </p:sp>
      <p:sp>
        <p:nvSpPr>
          <p:cNvPr id="6" name="Content Placeholder 2">
            <a:extLst>
              <a:ext uri="{FF2B5EF4-FFF2-40B4-BE49-F238E27FC236}">
                <a16:creationId xmlns:a16="http://schemas.microsoft.com/office/drawing/2014/main" id="{508CBAE9-2146-8F0C-F47C-219BD1CAA3CA}"/>
              </a:ext>
            </a:extLst>
          </p:cNvPr>
          <p:cNvSpPr>
            <a:spLocks noGrp="1"/>
          </p:cNvSpPr>
          <p:nvPr>
            <p:ph idx="1"/>
          </p:nvPr>
        </p:nvSpPr>
        <p:spPr>
          <a:xfrm>
            <a:off x="480001" y="1296000"/>
            <a:ext cx="11313070" cy="289913"/>
          </a:xfrm>
        </p:spPr>
        <p:txBody>
          <a:bodyPr/>
          <a:lstStyle/>
          <a:p>
            <a:pPr marL="0" indent="0">
              <a:buNone/>
            </a:pPr>
            <a:r>
              <a:rPr lang="en-US" sz="1800" b="1" dirty="0"/>
              <a:t>As a Computer Scientist, why do I care about Randomized Control Trials for vaccination? </a:t>
            </a:r>
          </a:p>
        </p:txBody>
      </p:sp>
      <p:pic>
        <p:nvPicPr>
          <p:cNvPr id="7" name="Picture 6">
            <a:extLst>
              <a:ext uri="{FF2B5EF4-FFF2-40B4-BE49-F238E27FC236}">
                <a16:creationId xmlns:a16="http://schemas.microsoft.com/office/drawing/2014/main" id="{F887ED48-64A1-222B-0DD1-C4C8EF168B1F}"/>
              </a:ext>
            </a:extLst>
          </p:cNvPr>
          <p:cNvPicPr>
            <a:picLocks noChangeAspect="1"/>
          </p:cNvPicPr>
          <p:nvPr/>
        </p:nvPicPr>
        <p:blipFill>
          <a:blip r:embed="rId3"/>
          <a:stretch>
            <a:fillRect/>
          </a:stretch>
        </p:blipFill>
        <p:spPr>
          <a:xfrm>
            <a:off x="3120571" y="2483724"/>
            <a:ext cx="5950857" cy="3691038"/>
          </a:xfrm>
          <a:prstGeom prst="rect">
            <a:avLst/>
          </a:prstGeom>
        </p:spPr>
      </p:pic>
      <p:sp>
        <p:nvSpPr>
          <p:cNvPr id="11" name="TextBox 10">
            <a:extLst>
              <a:ext uri="{FF2B5EF4-FFF2-40B4-BE49-F238E27FC236}">
                <a16:creationId xmlns:a16="http://schemas.microsoft.com/office/drawing/2014/main" id="{BEDB397A-B98E-A2EA-0D26-215526F8B1B3}"/>
              </a:ext>
            </a:extLst>
          </p:cNvPr>
          <p:cNvSpPr txBox="1"/>
          <p:nvPr/>
        </p:nvSpPr>
        <p:spPr>
          <a:xfrm>
            <a:off x="480000" y="1711653"/>
            <a:ext cx="10035599" cy="646331"/>
          </a:xfrm>
          <a:prstGeom prst="rect">
            <a:avLst/>
          </a:prstGeom>
          <a:noFill/>
        </p:spPr>
        <p:txBody>
          <a:bodyPr wrap="square">
            <a:spAutoFit/>
          </a:bodyPr>
          <a:lstStyle/>
          <a:p>
            <a:pPr marL="0" indent="0">
              <a:buNone/>
            </a:pPr>
            <a:r>
              <a:rPr lang="en-US" sz="1800" dirty="0"/>
              <a:t>Because </a:t>
            </a:r>
            <a:r>
              <a:rPr lang="en-US" dirty="0"/>
              <a:t>you will likely need to </a:t>
            </a:r>
            <a:r>
              <a:rPr lang="en-US" sz="1800" dirty="0"/>
              <a:t>test new </a:t>
            </a:r>
            <a:r>
              <a:rPr lang="en-US" dirty="0"/>
              <a:t>hypotheses (algorithm versions, methods, etc.) </a:t>
            </a:r>
            <a:r>
              <a:rPr lang="en-US" sz="1800" dirty="0"/>
              <a:t>, and for this we need RCT-like procedures (online experiments, A/B tests, hypothesis testing, etc.)</a:t>
            </a:r>
          </a:p>
        </p:txBody>
      </p:sp>
    </p:spTree>
    <p:extLst>
      <p:ext uri="{BB962C8B-B14F-4D97-AF65-F5344CB8AC3E}">
        <p14:creationId xmlns:p14="http://schemas.microsoft.com/office/powerpoint/2010/main" val="2469490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1"/>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4E9916-D4F8-B27E-AE9A-1E6CEEC24C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C8365B-7ABD-840C-ECA1-B859BB4BF41E}"/>
              </a:ext>
            </a:extLst>
          </p:cNvPr>
          <p:cNvSpPr>
            <a:spLocks noGrp="1"/>
          </p:cNvSpPr>
          <p:nvPr>
            <p:ph type="title"/>
          </p:nvPr>
        </p:nvSpPr>
        <p:spPr/>
        <p:txBody>
          <a:bodyPr>
            <a:normAutofit/>
          </a:bodyPr>
          <a:lstStyle/>
          <a:p>
            <a:r>
              <a:rPr lang="en-US" dirty="0"/>
              <a:t>Randomized Control Trials</a:t>
            </a:r>
          </a:p>
        </p:txBody>
      </p:sp>
      <p:sp>
        <p:nvSpPr>
          <p:cNvPr id="3" name="Content Placeholder 2">
            <a:extLst>
              <a:ext uri="{FF2B5EF4-FFF2-40B4-BE49-F238E27FC236}">
                <a16:creationId xmlns:a16="http://schemas.microsoft.com/office/drawing/2014/main" id="{06E34336-B563-6997-6977-4734F55FBB13}"/>
              </a:ext>
            </a:extLst>
          </p:cNvPr>
          <p:cNvSpPr>
            <a:spLocks noGrp="1"/>
          </p:cNvSpPr>
          <p:nvPr>
            <p:ph idx="1"/>
          </p:nvPr>
        </p:nvSpPr>
        <p:spPr/>
        <p:txBody>
          <a:bodyPr/>
          <a:lstStyle/>
          <a:p>
            <a:pPr marL="742950" indent="-742950">
              <a:buFont typeface="+mj-lt"/>
              <a:buAutoNum type="arabicPeriod"/>
            </a:pPr>
            <a:r>
              <a:rPr lang="en-US" sz="1800" dirty="0"/>
              <a:t>Controls.</a:t>
            </a:r>
          </a:p>
          <a:p>
            <a:pPr marL="742950" indent="-742950">
              <a:buFont typeface="+mj-lt"/>
              <a:buAutoNum type="arabicPeriod"/>
            </a:pPr>
            <a:r>
              <a:rPr lang="en-US" sz="1800" dirty="0"/>
              <a:t>Allocation of Treatment. </a:t>
            </a:r>
          </a:p>
          <a:p>
            <a:pPr marL="742950" indent="-742950">
              <a:buFont typeface="+mj-lt"/>
              <a:buAutoNum type="arabicPeriod"/>
            </a:pPr>
            <a:r>
              <a:rPr lang="en-US" sz="1800" dirty="0"/>
              <a:t>People should be counted in the groups they were assigned to.</a:t>
            </a:r>
          </a:p>
          <a:p>
            <a:pPr marL="742950" indent="-742950">
              <a:buFont typeface="+mj-lt"/>
              <a:buAutoNum type="arabicPeriod"/>
            </a:pPr>
            <a:r>
              <a:rPr lang="en-US" sz="1800" dirty="0"/>
              <a:t>People should be blinded to their group.</a:t>
            </a:r>
          </a:p>
          <a:p>
            <a:pPr marL="742950" indent="-742950">
              <a:buFont typeface="+mj-lt"/>
              <a:buAutoNum type="arabicPeriod"/>
            </a:pPr>
            <a:r>
              <a:rPr lang="en-US" sz="1800" dirty="0"/>
              <a:t>Groups should be equally treated. </a:t>
            </a:r>
          </a:p>
          <a:p>
            <a:pPr marL="742950" indent="-742950">
              <a:buFont typeface="+mj-lt"/>
              <a:buAutoNum type="arabicPeriod"/>
            </a:pPr>
            <a:r>
              <a:rPr lang="en-US" sz="1800" dirty="0"/>
              <a:t>People doing the final assessment shouldn’t know which group the subjects are in. </a:t>
            </a:r>
          </a:p>
          <a:p>
            <a:pPr marL="742950" indent="-742950">
              <a:buFont typeface="+mj-lt"/>
              <a:buAutoNum type="arabicPeriod"/>
            </a:pPr>
            <a:r>
              <a:rPr lang="en-US" sz="1800" dirty="0"/>
              <a:t>Measure everyone.</a:t>
            </a:r>
          </a:p>
        </p:txBody>
      </p:sp>
    </p:spTree>
    <p:extLst>
      <p:ext uri="{BB962C8B-B14F-4D97-AF65-F5344CB8AC3E}">
        <p14:creationId xmlns:p14="http://schemas.microsoft.com/office/powerpoint/2010/main" val="1669948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BDE5F-27B8-D6B7-1716-BC33AF75B5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E22A0E-6ADC-5FA4-4CFC-64666C31AF4B}"/>
              </a:ext>
            </a:extLst>
          </p:cNvPr>
          <p:cNvSpPr>
            <a:spLocks noGrp="1"/>
          </p:cNvSpPr>
          <p:nvPr>
            <p:ph type="title"/>
          </p:nvPr>
        </p:nvSpPr>
        <p:spPr/>
        <p:txBody>
          <a:bodyPr>
            <a:normAutofit/>
          </a:bodyPr>
          <a:lstStyle/>
          <a:p>
            <a:r>
              <a:rPr lang="en-US" dirty="0"/>
              <a:t>Randomized Control Trials</a:t>
            </a:r>
          </a:p>
        </p:txBody>
      </p:sp>
      <p:sp>
        <p:nvSpPr>
          <p:cNvPr id="3" name="Content Placeholder 2">
            <a:extLst>
              <a:ext uri="{FF2B5EF4-FFF2-40B4-BE49-F238E27FC236}">
                <a16:creationId xmlns:a16="http://schemas.microsoft.com/office/drawing/2014/main" id="{40C077EC-F0C2-2FE6-D08F-79295F42C634}"/>
              </a:ext>
            </a:extLst>
          </p:cNvPr>
          <p:cNvSpPr>
            <a:spLocks noGrp="1"/>
          </p:cNvSpPr>
          <p:nvPr>
            <p:ph idx="1"/>
          </p:nvPr>
        </p:nvSpPr>
        <p:spPr/>
        <p:txBody>
          <a:bodyPr/>
          <a:lstStyle/>
          <a:p>
            <a:pPr marL="742950" indent="-742950">
              <a:buFont typeface="+mj-lt"/>
              <a:buAutoNum type="arabicPeriod"/>
            </a:pPr>
            <a:r>
              <a:rPr lang="en-US" sz="1800" b="1" dirty="0"/>
              <a:t>Controls:</a:t>
            </a:r>
            <a:r>
              <a:rPr lang="en-US" sz="1800" dirty="0"/>
              <a:t> We need to give the vaccine to some and not to others. This group not getting the vaccines should not know they don’t get the vaccine but a placebo.</a:t>
            </a:r>
          </a:p>
          <a:p>
            <a:pPr marL="742950" indent="-742950">
              <a:buFont typeface="+mj-lt"/>
              <a:buAutoNum type="arabicPeriod"/>
            </a:pPr>
            <a:r>
              <a:rPr lang="en-US" sz="1800" dirty="0">
                <a:solidFill>
                  <a:schemeClr val="bg1">
                    <a:lumMod val="85000"/>
                  </a:schemeClr>
                </a:solidFill>
              </a:rPr>
              <a:t>Allocation of Treatment. </a:t>
            </a:r>
          </a:p>
          <a:p>
            <a:pPr marL="742950" indent="-742950">
              <a:buFont typeface="+mj-lt"/>
              <a:buAutoNum type="arabicPeriod"/>
            </a:pPr>
            <a:r>
              <a:rPr lang="en-US" sz="1800" dirty="0">
                <a:solidFill>
                  <a:schemeClr val="bg1">
                    <a:lumMod val="85000"/>
                  </a:schemeClr>
                </a:solidFill>
              </a:rPr>
              <a:t>People should be counted in the groups they were assigned to.</a:t>
            </a:r>
          </a:p>
          <a:p>
            <a:pPr marL="742950" indent="-742950">
              <a:buFont typeface="+mj-lt"/>
              <a:buAutoNum type="arabicPeriod"/>
            </a:pPr>
            <a:r>
              <a:rPr lang="en-US" sz="1800" dirty="0">
                <a:solidFill>
                  <a:schemeClr val="bg1">
                    <a:lumMod val="85000"/>
                  </a:schemeClr>
                </a:solidFill>
              </a:rPr>
              <a:t>People should be blinded to their group.</a:t>
            </a:r>
          </a:p>
          <a:p>
            <a:pPr marL="742950" indent="-742950">
              <a:buFont typeface="+mj-lt"/>
              <a:buAutoNum type="arabicPeriod"/>
            </a:pPr>
            <a:r>
              <a:rPr lang="en-US" sz="1800" dirty="0">
                <a:solidFill>
                  <a:schemeClr val="bg1">
                    <a:lumMod val="85000"/>
                  </a:schemeClr>
                </a:solidFill>
              </a:rPr>
              <a:t>Groups should be equally treated. </a:t>
            </a:r>
          </a:p>
          <a:p>
            <a:pPr marL="742950" indent="-742950">
              <a:buFont typeface="+mj-lt"/>
              <a:buAutoNum type="arabicPeriod"/>
            </a:pPr>
            <a:r>
              <a:rPr lang="en-US" sz="1800" dirty="0">
                <a:solidFill>
                  <a:schemeClr val="bg1">
                    <a:lumMod val="85000"/>
                  </a:schemeClr>
                </a:solidFill>
              </a:rPr>
              <a:t>People doing the final assessment shouldn’t know which group the subjects are in. </a:t>
            </a:r>
          </a:p>
          <a:p>
            <a:pPr marL="742950" indent="-742950">
              <a:buFont typeface="+mj-lt"/>
              <a:buAutoNum type="arabicPeriod"/>
            </a:pPr>
            <a:r>
              <a:rPr lang="en-US" sz="1800" dirty="0">
                <a:solidFill>
                  <a:schemeClr val="bg1">
                    <a:lumMod val="85000"/>
                  </a:schemeClr>
                </a:solidFill>
              </a:rPr>
              <a:t>Measure everyone.</a:t>
            </a:r>
          </a:p>
        </p:txBody>
      </p:sp>
    </p:spTree>
    <p:extLst>
      <p:ext uri="{BB962C8B-B14F-4D97-AF65-F5344CB8AC3E}">
        <p14:creationId xmlns:p14="http://schemas.microsoft.com/office/powerpoint/2010/main" val="4371044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BF457-4E89-A5C9-F17C-7E16AA98104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771FE52-2E54-E9F1-8193-3CF75C9428D6}"/>
              </a:ext>
            </a:extLst>
          </p:cNvPr>
          <p:cNvSpPr>
            <a:spLocks noGrp="1"/>
          </p:cNvSpPr>
          <p:nvPr>
            <p:ph idx="1"/>
          </p:nvPr>
        </p:nvSpPr>
        <p:spPr/>
        <p:txBody>
          <a:bodyPr/>
          <a:lstStyle/>
          <a:p>
            <a:pPr marL="742950" indent="-742950">
              <a:buFont typeface="+mj-lt"/>
              <a:buAutoNum type="arabicPeriod"/>
            </a:pPr>
            <a:r>
              <a:rPr lang="en-US" sz="1800" dirty="0">
                <a:solidFill>
                  <a:schemeClr val="bg1">
                    <a:lumMod val="85000"/>
                  </a:schemeClr>
                </a:solidFill>
              </a:rPr>
              <a:t>Controls</a:t>
            </a:r>
          </a:p>
          <a:p>
            <a:pPr marL="742950" indent="-742950">
              <a:buFont typeface="+mj-lt"/>
              <a:buAutoNum type="arabicPeriod"/>
            </a:pPr>
            <a:r>
              <a:rPr lang="en-US" sz="1800" b="1" dirty="0"/>
              <a:t>Allocation of Treatment: </a:t>
            </a:r>
            <a:r>
              <a:rPr lang="en-US" sz="1800" dirty="0"/>
              <a:t>Randomly allocate participants to treatment and control. Accounts for unknown unknowns.</a:t>
            </a:r>
          </a:p>
          <a:p>
            <a:pPr marL="742950" indent="-742950">
              <a:buFont typeface="+mj-lt"/>
              <a:buAutoNum type="arabicPeriod"/>
            </a:pPr>
            <a:r>
              <a:rPr lang="en-US" sz="1800" dirty="0">
                <a:solidFill>
                  <a:schemeClr val="bg1">
                    <a:lumMod val="85000"/>
                  </a:schemeClr>
                </a:solidFill>
              </a:rPr>
              <a:t>People should be counted in the groups they were assigned to.</a:t>
            </a:r>
          </a:p>
          <a:p>
            <a:pPr marL="742950" indent="-742950">
              <a:buFont typeface="+mj-lt"/>
              <a:buAutoNum type="arabicPeriod"/>
            </a:pPr>
            <a:r>
              <a:rPr lang="en-US" sz="1800" dirty="0">
                <a:solidFill>
                  <a:schemeClr val="bg1">
                    <a:lumMod val="85000"/>
                  </a:schemeClr>
                </a:solidFill>
              </a:rPr>
              <a:t>People should be blinded to their group.</a:t>
            </a:r>
          </a:p>
          <a:p>
            <a:pPr marL="742950" indent="-742950">
              <a:buFont typeface="+mj-lt"/>
              <a:buAutoNum type="arabicPeriod"/>
            </a:pPr>
            <a:r>
              <a:rPr lang="en-US" sz="1800" dirty="0">
                <a:solidFill>
                  <a:schemeClr val="bg1">
                    <a:lumMod val="85000"/>
                  </a:schemeClr>
                </a:solidFill>
              </a:rPr>
              <a:t>Groups should be equally treated. </a:t>
            </a:r>
          </a:p>
          <a:p>
            <a:pPr marL="742950" indent="-742950">
              <a:buFont typeface="+mj-lt"/>
              <a:buAutoNum type="arabicPeriod"/>
            </a:pPr>
            <a:r>
              <a:rPr lang="en-US" sz="1800" dirty="0">
                <a:solidFill>
                  <a:schemeClr val="bg1">
                    <a:lumMod val="85000"/>
                  </a:schemeClr>
                </a:solidFill>
              </a:rPr>
              <a:t>People doing the final assessment shouldn’t know which group the subjects are in. </a:t>
            </a:r>
          </a:p>
          <a:p>
            <a:pPr marL="742950" indent="-742950">
              <a:buFont typeface="+mj-lt"/>
              <a:buAutoNum type="arabicPeriod"/>
            </a:pPr>
            <a:r>
              <a:rPr lang="en-US" sz="1800" dirty="0">
                <a:solidFill>
                  <a:schemeClr val="bg1">
                    <a:lumMod val="85000"/>
                  </a:schemeClr>
                </a:solidFill>
              </a:rPr>
              <a:t>Measure everyone.</a:t>
            </a:r>
          </a:p>
        </p:txBody>
      </p:sp>
      <p:sp>
        <p:nvSpPr>
          <p:cNvPr id="7" name="Title 1">
            <a:extLst>
              <a:ext uri="{FF2B5EF4-FFF2-40B4-BE49-F238E27FC236}">
                <a16:creationId xmlns:a16="http://schemas.microsoft.com/office/drawing/2014/main" id="{3197FD26-21E7-C53D-5E78-C76B0F91D482}"/>
              </a:ext>
            </a:extLst>
          </p:cNvPr>
          <p:cNvSpPr>
            <a:spLocks noGrp="1"/>
          </p:cNvSpPr>
          <p:nvPr>
            <p:ph type="title"/>
          </p:nvPr>
        </p:nvSpPr>
        <p:spPr>
          <a:xfrm>
            <a:off x="480001" y="414260"/>
            <a:ext cx="11102399" cy="756000"/>
          </a:xfrm>
        </p:spPr>
        <p:txBody>
          <a:bodyPr>
            <a:normAutofit/>
          </a:bodyPr>
          <a:lstStyle/>
          <a:p>
            <a:r>
              <a:rPr lang="en-US" dirty="0"/>
              <a:t>Randomized Control Trials</a:t>
            </a:r>
          </a:p>
        </p:txBody>
      </p:sp>
    </p:spTree>
    <p:extLst>
      <p:ext uri="{BB962C8B-B14F-4D97-AF65-F5344CB8AC3E}">
        <p14:creationId xmlns:p14="http://schemas.microsoft.com/office/powerpoint/2010/main" val="56615468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D2628-EF86-D287-C5B8-3839249D5C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0117EA-8ACD-B14C-369A-B33382B5AE81}"/>
              </a:ext>
            </a:extLst>
          </p:cNvPr>
          <p:cNvSpPr>
            <a:spLocks noGrp="1"/>
          </p:cNvSpPr>
          <p:nvPr>
            <p:ph type="title"/>
          </p:nvPr>
        </p:nvSpPr>
        <p:spPr/>
        <p:txBody>
          <a:bodyPr/>
          <a:lstStyle/>
          <a:p>
            <a:r>
              <a:rPr lang="en-US" dirty="0"/>
              <a:t>How do we allocate groups?</a:t>
            </a:r>
          </a:p>
        </p:txBody>
      </p:sp>
      <p:sp>
        <p:nvSpPr>
          <p:cNvPr id="3" name="Content Placeholder 2">
            <a:extLst>
              <a:ext uri="{FF2B5EF4-FFF2-40B4-BE49-F238E27FC236}">
                <a16:creationId xmlns:a16="http://schemas.microsoft.com/office/drawing/2014/main" id="{FB64F3E8-592F-1E24-110C-C01F07D075ED}"/>
              </a:ext>
            </a:extLst>
          </p:cNvPr>
          <p:cNvSpPr>
            <a:spLocks noGrp="1"/>
          </p:cNvSpPr>
          <p:nvPr>
            <p:ph idx="1"/>
          </p:nvPr>
        </p:nvSpPr>
        <p:spPr>
          <a:xfrm>
            <a:off x="479998" y="2774910"/>
            <a:ext cx="11102399" cy="1547213"/>
          </a:xfrm>
        </p:spPr>
        <p:txBody>
          <a:bodyPr/>
          <a:lstStyle/>
          <a:p>
            <a:pPr marL="0" indent="0">
              <a:buNone/>
            </a:pPr>
            <a:r>
              <a:rPr lang="en-US" sz="3200" dirty="0"/>
              <a:t>Sampling techniques:</a:t>
            </a:r>
          </a:p>
          <a:p>
            <a:r>
              <a:rPr lang="en-US" sz="3200" dirty="0"/>
              <a:t>Non-probability sampling: convenience, snowball, judgement, volunteer sampling</a:t>
            </a:r>
          </a:p>
          <a:p>
            <a:r>
              <a:rPr lang="en-US" sz="3200" dirty="0"/>
              <a:t>Simple Random Sampling</a:t>
            </a:r>
          </a:p>
          <a:p>
            <a:r>
              <a:rPr lang="en-US" sz="3200" dirty="0"/>
              <a:t>Stratified Sampling</a:t>
            </a:r>
          </a:p>
          <a:p>
            <a:r>
              <a:rPr lang="en-US" sz="3200" dirty="0"/>
              <a:t>…</a:t>
            </a:r>
          </a:p>
        </p:txBody>
      </p:sp>
      <p:sp>
        <p:nvSpPr>
          <p:cNvPr id="4" name="Content Placeholder 2">
            <a:extLst>
              <a:ext uri="{FF2B5EF4-FFF2-40B4-BE49-F238E27FC236}">
                <a16:creationId xmlns:a16="http://schemas.microsoft.com/office/drawing/2014/main" id="{B4B37F1A-9C67-F534-3D04-B74188A0003A}"/>
              </a:ext>
            </a:extLst>
          </p:cNvPr>
          <p:cNvSpPr txBox="1">
            <a:spLocks/>
          </p:cNvSpPr>
          <p:nvPr/>
        </p:nvSpPr>
        <p:spPr>
          <a:xfrm>
            <a:off x="479999" y="1270274"/>
            <a:ext cx="11102399" cy="449158"/>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3200" dirty="0"/>
              <a:t>Our goal is to minimize the possibility of introducing some hidden variable that affects the outcome and is different in two groups (control and treatment). </a:t>
            </a:r>
          </a:p>
        </p:txBody>
      </p:sp>
    </p:spTree>
    <p:extLst>
      <p:ext uri="{BB962C8B-B14F-4D97-AF65-F5344CB8AC3E}">
        <p14:creationId xmlns:p14="http://schemas.microsoft.com/office/powerpoint/2010/main" val="3338037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7D504-4D80-AFFA-6EDD-60A2E5447E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CABAA3-4964-8487-25CF-AA5A29FCCB71}"/>
              </a:ext>
            </a:extLst>
          </p:cNvPr>
          <p:cNvSpPr>
            <a:spLocks noGrp="1"/>
          </p:cNvSpPr>
          <p:nvPr>
            <p:ph type="title"/>
          </p:nvPr>
        </p:nvSpPr>
        <p:spPr/>
        <p:txBody>
          <a:bodyPr/>
          <a:lstStyle/>
          <a:p>
            <a:r>
              <a:rPr lang="en-US" dirty="0"/>
              <a:t>Sampling Techniques</a:t>
            </a:r>
          </a:p>
        </p:txBody>
      </p:sp>
      <p:sp>
        <p:nvSpPr>
          <p:cNvPr id="4" name="Content Placeholder 2">
            <a:extLst>
              <a:ext uri="{FF2B5EF4-FFF2-40B4-BE49-F238E27FC236}">
                <a16:creationId xmlns:a16="http://schemas.microsoft.com/office/drawing/2014/main" id="{4697D7E3-768D-BFE6-CA6B-3CF5CF9CE9F7}"/>
              </a:ext>
            </a:extLst>
          </p:cNvPr>
          <p:cNvSpPr txBox="1">
            <a:spLocks/>
          </p:cNvSpPr>
          <p:nvPr/>
        </p:nvSpPr>
        <p:spPr>
          <a:xfrm>
            <a:off x="479999" y="1270274"/>
            <a:ext cx="11102399" cy="449158"/>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3200" b="1" dirty="0"/>
              <a:t>Non-probability sampling</a:t>
            </a:r>
            <a:r>
              <a:rPr lang="en-US" sz="3200" dirty="0"/>
              <a:t>: no randomness (probability) in sampling:</a:t>
            </a:r>
          </a:p>
          <a:p>
            <a:r>
              <a:rPr lang="en-US" sz="3200" dirty="0"/>
              <a:t>Convenience sampling: use all available samples… convenient</a:t>
            </a:r>
          </a:p>
          <a:p>
            <a:r>
              <a:rPr lang="en-US" sz="3200" dirty="0"/>
              <a:t>Snowball sampling: future samples are selected based on existing samples (e.g. social network connections)</a:t>
            </a:r>
          </a:p>
          <a:p>
            <a:r>
              <a:rPr lang="en-US" sz="3200" dirty="0"/>
              <a:t>Judgement sampling: experts decide which samples to include</a:t>
            </a:r>
          </a:p>
          <a:p>
            <a:r>
              <a:rPr lang="en-US" sz="3200" dirty="0"/>
              <a:t>Volunteer sampling: when we have and need consent from volunteers (medical applications)</a:t>
            </a:r>
          </a:p>
          <a:p>
            <a:endParaRPr lang="en-US" sz="1800" dirty="0"/>
          </a:p>
        </p:txBody>
      </p:sp>
    </p:spTree>
    <p:extLst>
      <p:ext uri="{BB962C8B-B14F-4D97-AF65-F5344CB8AC3E}">
        <p14:creationId xmlns:p14="http://schemas.microsoft.com/office/powerpoint/2010/main" val="17931174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B2CC6F-EDF1-6FB7-A89E-5DEAD99750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27CD54-E38F-D3A0-77D8-F8D4645B9700}"/>
              </a:ext>
            </a:extLst>
          </p:cNvPr>
          <p:cNvSpPr>
            <a:spLocks noGrp="1"/>
          </p:cNvSpPr>
          <p:nvPr>
            <p:ph type="title"/>
          </p:nvPr>
        </p:nvSpPr>
        <p:spPr/>
        <p:txBody>
          <a:bodyPr/>
          <a:lstStyle/>
          <a:p>
            <a:r>
              <a:rPr lang="en-US" dirty="0"/>
              <a:t>Sampling Techniques</a:t>
            </a:r>
          </a:p>
        </p:txBody>
      </p:sp>
      <p:sp>
        <p:nvSpPr>
          <p:cNvPr id="4" name="Content Placeholder 2">
            <a:extLst>
              <a:ext uri="{FF2B5EF4-FFF2-40B4-BE49-F238E27FC236}">
                <a16:creationId xmlns:a16="http://schemas.microsoft.com/office/drawing/2014/main" id="{C5BD416C-C859-0512-97E3-99529FE23002}"/>
              </a:ext>
            </a:extLst>
          </p:cNvPr>
          <p:cNvSpPr txBox="1">
            <a:spLocks/>
          </p:cNvSpPr>
          <p:nvPr/>
        </p:nvSpPr>
        <p:spPr>
          <a:xfrm>
            <a:off x="479999" y="1270274"/>
            <a:ext cx="11102399" cy="449158"/>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2400" b="1" dirty="0"/>
              <a:t>Simple Random Sampling</a:t>
            </a:r>
            <a:r>
              <a:rPr lang="en-US" sz="2400" dirty="0"/>
              <a:t>: all samples are chosen randomly to be selected for each group</a:t>
            </a:r>
          </a:p>
          <a:p>
            <a:r>
              <a:rPr lang="en-US" sz="2400" b="1" dirty="0"/>
              <a:t>Stratified Sampling</a:t>
            </a:r>
            <a:r>
              <a:rPr lang="en-US" sz="2400" dirty="0"/>
              <a:t>: divide study population into categories and sample from each group separately (e.g. Adults/Kids) to ensure equal representation of each category in control and treatment groups</a:t>
            </a:r>
          </a:p>
          <a:p>
            <a:pPr marL="0" indent="0">
              <a:buNone/>
            </a:pPr>
            <a:endParaRPr lang="en-US" sz="1800" dirty="0"/>
          </a:p>
        </p:txBody>
      </p:sp>
      <p:grpSp>
        <p:nvGrpSpPr>
          <p:cNvPr id="253" name="Group 252">
            <a:extLst>
              <a:ext uri="{FF2B5EF4-FFF2-40B4-BE49-F238E27FC236}">
                <a16:creationId xmlns:a16="http://schemas.microsoft.com/office/drawing/2014/main" id="{7CD77BA5-AC53-E7A9-AE56-25740D4A010B}"/>
              </a:ext>
            </a:extLst>
          </p:cNvPr>
          <p:cNvGrpSpPr/>
          <p:nvPr/>
        </p:nvGrpSpPr>
        <p:grpSpPr>
          <a:xfrm>
            <a:off x="3096845" y="3128215"/>
            <a:ext cx="4261647" cy="2748464"/>
            <a:chOff x="3253577" y="3429000"/>
            <a:chExt cx="4261647" cy="2748464"/>
          </a:xfrm>
        </p:grpSpPr>
        <p:pic>
          <p:nvPicPr>
            <p:cNvPr id="254" name="Graphic 253" descr="Man with solid fill">
              <a:extLst>
                <a:ext uri="{FF2B5EF4-FFF2-40B4-BE49-F238E27FC236}">
                  <a16:creationId xmlns:a16="http://schemas.microsoft.com/office/drawing/2014/main" id="{B979D765-FD5C-4A9E-FA22-87B707A944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90112" y="4713778"/>
              <a:ext cx="214283" cy="344100"/>
            </a:xfrm>
            <a:prstGeom prst="rect">
              <a:avLst/>
            </a:prstGeom>
          </p:spPr>
        </p:pic>
        <p:pic>
          <p:nvPicPr>
            <p:cNvPr id="255" name="Graphic 254" descr="Man and woman with solid fill">
              <a:extLst>
                <a:ext uri="{FF2B5EF4-FFF2-40B4-BE49-F238E27FC236}">
                  <a16:creationId xmlns:a16="http://schemas.microsoft.com/office/drawing/2014/main" id="{9E85FC20-1EB7-0ACF-6820-17924B3D435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93338" y="4823508"/>
              <a:ext cx="214283" cy="344100"/>
            </a:xfrm>
            <a:prstGeom prst="rect">
              <a:avLst/>
            </a:prstGeom>
          </p:spPr>
        </p:pic>
        <p:pic>
          <p:nvPicPr>
            <p:cNvPr id="256" name="Graphic 255" descr="Man with kid with solid fill">
              <a:extLst>
                <a:ext uri="{FF2B5EF4-FFF2-40B4-BE49-F238E27FC236}">
                  <a16:creationId xmlns:a16="http://schemas.microsoft.com/office/drawing/2014/main" id="{3A78AEE7-58F5-1B2C-5457-D21EBF421DA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98842" y="4896560"/>
              <a:ext cx="214283" cy="344100"/>
            </a:xfrm>
            <a:prstGeom prst="rect">
              <a:avLst/>
            </a:prstGeom>
          </p:spPr>
        </p:pic>
        <p:pic>
          <p:nvPicPr>
            <p:cNvPr id="257" name="Graphic 256" descr="Family with boy with solid fill">
              <a:extLst>
                <a:ext uri="{FF2B5EF4-FFF2-40B4-BE49-F238E27FC236}">
                  <a16:creationId xmlns:a16="http://schemas.microsoft.com/office/drawing/2014/main" id="{C60C7A03-2A44-0E12-6714-307E938144B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49163" y="5277471"/>
              <a:ext cx="214283" cy="344100"/>
            </a:xfrm>
            <a:prstGeom prst="rect">
              <a:avLst/>
            </a:prstGeom>
          </p:spPr>
        </p:pic>
        <p:pic>
          <p:nvPicPr>
            <p:cNvPr id="258" name="Graphic 257" descr="Family with two children with solid fill">
              <a:extLst>
                <a:ext uri="{FF2B5EF4-FFF2-40B4-BE49-F238E27FC236}">
                  <a16:creationId xmlns:a16="http://schemas.microsoft.com/office/drawing/2014/main" id="{1296F0CA-8D84-839B-5A28-0D1B9279058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68562" y="4151015"/>
              <a:ext cx="214283" cy="344100"/>
            </a:xfrm>
            <a:prstGeom prst="rect">
              <a:avLst/>
            </a:prstGeom>
          </p:spPr>
        </p:pic>
        <p:pic>
          <p:nvPicPr>
            <p:cNvPr id="259" name="Graphic 258" descr="Man with kid with solid fill">
              <a:extLst>
                <a:ext uri="{FF2B5EF4-FFF2-40B4-BE49-F238E27FC236}">
                  <a16:creationId xmlns:a16="http://schemas.microsoft.com/office/drawing/2014/main" id="{1705FF72-9187-0974-D3E8-41FB199B32D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41172" y="4933371"/>
              <a:ext cx="214283" cy="344100"/>
            </a:xfrm>
            <a:prstGeom prst="rect">
              <a:avLst/>
            </a:prstGeom>
          </p:spPr>
        </p:pic>
        <p:pic>
          <p:nvPicPr>
            <p:cNvPr id="260" name="Graphic 259" descr="Family with two children with solid fill">
              <a:extLst>
                <a:ext uri="{FF2B5EF4-FFF2-40B4-BE49-F238E27FC236}">
                  <a16:creationId xmlns:a16="http://schemas.microsoft.com/office/drawing/2014/main" id="{E6793116-3B79-21DD-4A0F-68C747CD9E6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69514" y="5318829"/>
              <a:ext cx="214283" cy="344100"/>
            </a:xfrm>
            <a:prstGeom prst="rect">
              <a:avLst/>
            </a:prstGeom>
          </p:spPr>
        </p:pic>
        <p:pic>
          <p:nvPicPr>
            <p:cNvPr id="261" name="Graphic 260" descr="Man and woman with solid fill">
              <a:extLst>
                <a:ext uri="{FF2B5EF4-FFF2-40B4-BE49-F238E27FC236}">
                  <a16:creationId xmlns:a16="http://schemas.microsoft.com/office/drawing/2014/main" id="{6014074D-7068-A79E-C4D4-2A4642C3EE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94392" y="4685814"/>
              <a:ext cx="214283" cy="344100"/>
            </a:xfrm>
            <a:prstGeom prst="rect">
              <a:avLst/>
            </a:prstGeom>
          </p:spPr>
        </p:pic>
        <p:pic>
          <p:nvPicPr>
            <p:cNvPr id="262" name="Graphic 261" descr="Family with boy with solid fill">
              <a:extLst>
                <a:ext uri="{FF2B5EF4-FFF2-40B4-BE49-F238E27FC236}">
                  <a16:creationId xmlns:a16="http://schemas.microsoft.com/office/drawing/2014/main" id="{1414B3F6-7EB5-117C-5C62-AFA019452BA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04019" y="4754347"/>
              <a:ext cx="214283" cy="344100"/>
            </a:xfrm>
            <a:prstGeom prst="rect">
              <a:avLst/>
            </a:prstGeom>
          </p:spPr>
        </p:pic>
        <p:pic>
          <p:nvPicPr>
            <p:cNvPr id="263" name="Graphic 262" descr="Man with solid fill">
              <a:extLst>
                <a:ext uri="{FF2B5EF4-FFF2-40B4-BE49-F238E27FC236}">
                  <a16:creationId xmlns:a16="http://schemas.microsoft.com/office/drawing/2014/main" id="{0662F674-FFD5-86C5-A088-4439F3C5333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38263" y="5227132"/>
              <a:ext cx="214283" cy="344100"/>
            </a:xfrm>
            <a:prstGeom prst="rect">
              <a:avLst/>
            </a:prstGeom>
          </p:spPr>
        </p:pic>
        <p:pic>
          <p:nvPicPr>
            <p:cNvPr id="264" name="Graphic 263" descr="Two Men with solid fill">
              <a:extLst>
                <a:ext uri="{FF2B5EF4-FFF2-40B4-BE49-F238E27FC236}">
                  <a16:creationId xmlns:a16="http://schemas.microsoft.com/office/drawing/2014/main" id="{521C3256-5D3F-095E-01AD-B2FE282C26E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438283" y="3676557"/>
              <a:ext cx="214283" cy="344100"/>
            </a:xfrm>
            <a:prstGeom prst="rect">
              <a:avLst/>
            </a:prstGeom>
          </p:spPr>
        </p:pic>
        <p:pic>
          <p:nvPicPr>
            <p:cNvPr id="265" name="Graphic 264" descr="Man and woman with solid fill">
              <a:extLst>
                <a:ext uri="{FF2B5EF4-FFF2-40B4-BE49-F238E27FC236}">
                  <a16:creationId xmlns:a16="http://schemas.microsoft.com/office/drawing/2014/main" id="{E8261367-0C92-FB15-FD3F-AAC1C6BE42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60609" y="4272780"/>
              <a:ext cx="214283" cy="344100"/>
            </a:xfrm>
            <a:prstGeom prst="rect">
              <a:avLst/>
            </a:prstGeom>
          </p:spPr>
        </p:pic>
        <p:pic>
          <p:nvPicPr>
            <p:cNvPr id="266" name="Graphic 265" descr="Man and woman with solid fill">
              <a:extLst>
                <a:ext uri="{FF2B5EF4-FFF2-40B4-BE49-F238E27FC236}">
                  <a16:creationId xmlns:a16="http://schemas.microsoft.com/office/drawing/2014/main" id="{D905CF85-932A-B778-DF5B-1EB787688BF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48314" y="5465772"/>
              <a:ext cx="214283" cy="344100"/>
            </a:xfrm>
            <a:prstGeom prst="rect">
              <a:avLst/>
            </a:prstGeom>
          </p:spPr>
        </p:pic>
        <p:pic>
          <p:nvPicPr>
            <p:cNvPr id="267" name="Graphic 266" descr="Man with solid fill">
              <a:extLst>
                <a:ext uri="{FF2B5EF4-FFF2-40B4-BE49-F238E27FC236}">
                  <a16:creationId xmlns:a16="http://schemas.microsoft.com/office/drawing/2014/main" id="{4ACDA8FA-449D-49D7-2684-97874E7C94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53577" y="4970455"/>
              <a:ext cx="214283" cy="344100"/>
            </a:xfrm>
            <a:prstGeom prst="rect">
              <a:avLst/>
            </a:prstGeom>
          </p:spPr>
        </p:pic>
        <p:pic>
          <p:nvPicPr>
            <p:cNvPr id="268" name="Graphic 267" descr="Man with solid fill">
              <a:extLst>
                <a:ext uri="{FF2B5EF4-FFF2-40B4-BE49-F238E27FC236}">
                  <a16:creationId xmlns:a16="http://schemas.microsoft.com/office/drawing/2014/main" id="{E7F37641-AE58-BE05-FA68-C1B1ABE330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5844" y="4915214"/>
              <a:ext cx="214283" cy="344100"/>
            </a:xfrm>
            <a:prstGeom prst="rect">
              <a:avLst/>
            </a:prstGeom>
          </p:spPr>
        </p:pic>
        <p:pic>
          <p:nvPicPr>
            <p:cNvPr id="269" name="Graphic 268" descr="Man with solid fill">
              <a:extLst>
                <a:ext uri="{FF2B5EF4-FFF2-40B4-BE49-F238E27FC236}">
                  <a16:creationId xmlns:a16="http://schemas.microsoft.com/office/drawing/2014/main" id="{EA242BBA-F0F0-724B-9998-A6AAE9567ED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95897" y="4838216"/>
              <a:ext cx="214283" cy="344100"/>
            </a:xfrm>
            <a:prstGeom prst="rect">
              <a:avLst/>
            </a:prstGeom>
          </p:spPr>
        </p:pic>
        <p:pic>
          <p:nvPicPr>
            <p:cNvPr id="270" name="Graphic 269" descr="Man and woman with solid fill">
              <a:extLst>
                <a:ext uri="{FF2B5EF4-FFF2-40B4-BE49-F238E27FC236}">
                  <a16:creationId xmlns:a16="http://schemas.microsoft.com/office/drawing/2014/main" id="{E3CFE5CE-E980-DCDC-D816-1E037EE911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03815" y="3970035"/>
              <a:ext cx="214283" cy="344100"/>
            </a:xfrm>
            <a:prstGeom prst="rect">
              <a:avLst/>
            </a:prstGeom>
          </p:spPr>
        </p:pic>
        <p:pic>
          <p:nvPicPr>
            <p:cNvPr id="271" name="Graphic 270" descr="Man with kid with solid fill">
              <a:extLst>
                <a:ext uri="{FF2B5EF4-FFF2-40B4-BE49-F238E27FC236}">
                  <a16:creationId xmlns:a16="http://schemas.microsoft.com/office/drawing/2014/main" id="{AB7C1F82-DD19-3D5E-DB8B-C8C0032B3BF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04627" y="5020998"/>
              <a:ext cx="214283" cy="344100"/>
            </a:xfrm>
            <a:prstGeom prst="rect">
              <a:avLst/>
            </a:prstGeom>
          </p:spPr>
        </p:pic>
        <p:pic>
          <p:nvPicPr>
            <p:cNvPr id="272" name="Graphic 271" descr="Family with boy with solid fill">
              <a:extLst>
                <a:ext uri="{FF2B5EF4-FFF2-40B4-BE49-F238E27FC236}">
                  <a16:creationId xmlns:a16="http://schemas.microsoft.com/office/drawing/2014/main" id="{0023EC6C-9A0C-FA24-3D2F-5B68C3676C8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83708" y="4272293"/>
              <a:ext cx="214283" cy="344100"/>
            </a:xfrm>
            <a:prstGeom prst="rect">
              <a:avLst/>
            </a:prstGeom>
          </p:spPr>
        </p:pic>
        <p:pic>
          <p:nvPicPr>
            <p:cNvPr id="273" name="Graphic 272" descr="Family with two children with solid fill">
              <a:extLst>
                <a:ext uri="{FF2B5EF4-FFF2-40B4-BE49-F238E27FC236}">
                  <a16:creationId xmlns:a16="http://schemas.microsoft.com/office/drawing/2014/main" id="{82521382-688F-E26E-8AAA-B6B92F0A0AF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21223" y="5443267"/>
              <a:ext cx="214283" cy="344100"/>
            </a:xfrm>
            <a:prstGeom prst="rect">
              <a:avLst/>
            </a:prstGeom>
          </p:spPr>
        </p:pic>
        <p:pic>
          <p:nvPicPr>
            <p:cNvPr id="274" name="Graphic 273" descr="Man with kid with solid fill">
              <a:extLst>
                <a:ext uri="{FF2B5EF4-FFF2-40B4-BE49-F238E27FC236}">
                  <a16:creationId xmlns:a16="http://schemas.microsoft.com/office/drawing/2014/main" id="{6AD1C6AE-5239-5284-DB00-C8EAC7EEE59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45680" y="3978965"/>
              <a:ext cx="214283" cy="344100"/>
            </a:xfrm>
            <a:prstGeom prst="rect">
              <a:avLst/>
            </a:prstGeom>
          </p:spPr>
        </p:pic>
        <p:pic>
          <p:nvPicPr>
            <p:cNvPr id="275" name="Graphic 274" descr="Family with two children with solid fill">
              <a:extLst>
                <a:ext uri="{FF2B5EF4-FFF2-40B4-BE49-F238E27FC236}">
                  <a16:creationId xmlns:a16="http://schemas.microsoft.com/office/drawing/2014/main" id="{A0724F81-FEF8-E80A-57AE-0A323706AC9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02176" y="3615274"/>
              <a:ext cx="214283" cy="344100"/>
            </a:xfrm>
            <a:prstGeom prst="rect">
              <a:avLst/>
            </a:prstGeom>
          </p:spPr>
        </p:pic>
        <p:pic>
          <p:nvPicPr>
            <p:cNvPr id="276" name="Graphic 275" descr="Man and woman with solid fill">
              <a:extLst>
                <a:ext uri="{FF2B5EF4-FFF2-40B4-BE49-F238E27FC236}">
                  <a16:creationId xmlns:a16="http://schemas.microsoft.com/office/drawing/2014/main" id="{4EC080B6-5C0C-C0DB-4E73-7872461AF4F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33984" y="4091495"/>
              <a:ext cx="214283" cy="344100"/>
            </a:xfrm>
            <a:prstGeom prst="rect">
              <a:avLst/>
            </a:prstGeom>
          </p:spPr>
        </p:pic>
        <p:pic>
          <p:nvPicPr>
            <p:cNvPr id="277" name="Graphic 276" descr="Family with boy with solid fill">
              <a:extLst>
                <a:ext uri="{FF2B5EF4-FFF2-40B4-BE49-F238E27FC236}">
                  <a16:creationId xmlns:a16="http://schemas.microsoft.com/office/drawing/2014/main" id="{257C7C03-6B7C-0219-A51D-A54B77FDA6A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54540" y="5661314"/>
              <a:ext cx="214283" cy="344100"/>
            </a:xfrm>
            <a:prstGeom prst="rect">
              <a:avLst/>
            </a:prstGeom>
          </p:spPr>
        </p:pic>
        <p:pic>
          <p:nvPicPr>
            <p:cNvPr id="278" name="Graphic 277" descr="Man with solid fill">
              <a:extLst>
                <a:ext uri="{FF2B5EF4-FFF2-40B4-BE49-F238E27FC236}">
                  <a16:creationId xmlns:a16="http://schemas.microsoft.com/office/drawing/2014/main" id="{24157096-2D0C-3E42-08BD-45A3CB9E0F7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44048" y="5351570"/>
              <a:ext cx="214283" cy="344100"/>
            </a:xfrm>
            <a:prstGeom prst="rect">
              <a:avLst/>
            </a:prstGeom>
          </p:spPr>
        </p:pic>
        <p:pic>
          <p:nvPicPr>
            <p:cNvPr id="279" name="Graphic 278" descr="Two Men with solid fill">
              <a:extLst>
                <a:ext uri="{FF2B5EF4-FFF2-40B4-BE49-F238E27FC236}">
                  <a16:creationId xmlns:a16="http://schemas.microsoft.com/office/drawing/2014/main" id="{3CCEE571-314B-F9CC-5928-198E8945C91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69485" y="3808108"/>
              <a:ext cx="214283" cy="344100"/>
            </a:xfrm>
            <a:prstGeom prst="rect">
              <a:avLst/>
            </a:prstGeom>
          </p:spPr>
        </p:pic>
        <p:pic>
          <p:nvPicPr>
            <p:cNvPr id="280" name="Graphic 279" descr="Man and woman with solid fill">
              <a:extLst>
                <a:ext uri="{FF2B5EF4-FFF2-40B4-BE49-F238E27FC236}">
                  <a16:creationId xmlns:a16="http://schemas.microsoft.com/office/drawing/2014/main" id="{AD0728DC-2D49-C9D7-5A20-1B7B56B04A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2423" y="5204689"/>
              <a:ext cx="214283" cy="344100"/>
            </a:xfrm>
            <a:prstGeom prst="rect">
              <a:avLst/>
            </a:prstGeom>
          </p:spPr>
        </p:pic>
        <p:pic>
          <p:nvPicPr>
            <p:cNvPr id="281" name="Graphic 280" descr="Man and woman with solid fill">
              <a:extLst>
                <a:ext uri="{FF2B5EF4-FFF2-40B4-BE49-F238E27FC236}">
                  <a16:creationId xmlns:a16="http://schemas.microsoft.com/office/drawing/2014/main" id="{046F7020-3EB4-DE22-B6DC-BF4B12AC21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06137" y="4410915"/>
              <a:ext cx="214283" cy="344100"/>
            </a:xfrm>
            <a:prstGeom prst="rect">
              <a:avLst/>
            </a:prstGeom>
          </p:spPr>
        </p:pic>
        <p:pic>
          <p:nvPicPr>
            <p:cNvPr id="282" name="Graphic 281" descr="Man with solid fill">
              <a:extLst>
                <a:ext uri="{FF2B5EF4-FFF2-40B4-BE49-F238E27FC236}">
                  <a16:creationId xmlns:a16="http://schemas.microsoft.com/office/drawing/2014/main" id="{882734D1-08A9-AAB8-3CB6-A8FFAC7E50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77393" y="3659868"/>
              <a:ext cx="214283" cy="344100"/>
            </a:xfrm>
            <a:prstGeom prst="rect">
              <a:avLst/>
            </a:prstGeom>
          </p:spPr>
        </p:pic>
        <p:pic>
          <p:nvPicPr>
            <p:cNvPr id="283" name="Graphic 282" descr="Man with solid fill">
              <a:extLst>
                <a:ext uri="{FF2B5EF4-FFF2-40B4-BE49-F238E27FC236}">
                  <a16:creationId xmlns:a16="http://schemas.microsoft.com/office/drawing/2014/main" id="{1717077D-CFED-83D7-B356-B30FFB22F94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61629" y="5039652"/>
              <a:ext cx="214283" cy="344100"/>
            </a:xfrm>
            <a:prstGeom prst="rect">
              <a:avLst/>
            </a:prstGeom>
          </p:spPr>
        </p:pic>
        <p:pic>
          <p:nvPicPr>
            <p:cNvPr id="284" name="Graphic 283" descr="Man with solid fill">
              <a:extLst>
                <a:ext uri="{FF2B5EF4-FFF2-40B4-BE49-F238E27FC236}">
                  <a16:creationId xmlns:a16="http://schemas.microsoft.com/office/drawing/2014/main" id="{4F1BC4AE-1F4D-2FB9-4EC1-D09FDD8F047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97715" y="3456964"/>
              <a:ext cx="214283" cy="344100"/>
            </a:xfrm>
            <a:prstGeom prst="rect">
              <a:avLst/>
            </a:prstGeom>
          </p:spPr>
        </p:pic>
        <p:pic>
          <p:nvPicPr>
            <p:cNvPr id="285" name="Graphic 284" descr="Man and woman with solid fill">
              <a:extLst>
                <a:ext uri="{FF2B5EF4-FFF2-40B4-BE49-F238E27FC236}">
                  <a16:creationId xmlns:a16="http://schemas.microsoft.com/office/drawing/2014/main" id="{C8CF82BE-30DF-F138-A2A2-9B7C1E0F564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941" y="3566694"/>
              <a:ext cx="214283" cy="344100"/>
            </a:xfrm>
            <a:prstGeom prst="rect">
              <a:avLst/>
            </a:prstGeom>
          </p:spPr>
        </p:pic>
        <p:pic>
          <p:nvPicPr>
            <p:cNvPr id="286" name="Graphic 285" descr="Man with kid with solid fill">
              <a:extLst>
                <a:ext uri="{FF2B5EF4-FFF2-40B4-BE49-F238E27FC236}">
                  <a16:creationId xmlns:a16="http://schemas.microsoft.com/office/drawing/2014/main" id="{691F36D8-D366-05AB-03EA-37E59C25F01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06445" y="3639746"/>
              <a:ext cx="214283" cy="344100"/>
            </a:xfrm>
            <a:prstGeom prst="rect">
              <a:avLst/>
            </a:prstGeom>
          </p:spPr>
        </p:pic>
        <p:pic>
          <p:nvPicPr>
            <p:cNvPr id="287" name="Graphic 286" descr="Family with boy with solid fill">
              <a:extLst>
                <a:ext uri="{FF2B5EF4-FFF2-40B4-BE49-F238E27FC236}">
                  <a16:creationId xmlns:a16="http://schemas.microsoft.com/office/drawing/2014/main" id="{D4C9B171-B5F2-7678-1DEF-EB64ECADD89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69579" y="5246095"/>
              <a:ext cx="214283" cy="344100"/>
            </a:xfrm>
            <a:prstGeom prst="rect">
              <a:avLst/>
            </a:prstGeom>
          </p:spPr>
        </p:pic>
        <p:pic>
          <p:nvPicPr>
            <p:cNvPr id="288" name="Graphic 287" descr="Family with two children with solid fill">
              <a:extLst>
                <a:ext uri="{FF2B5EF4-FFF2-40B4-BE49-F238E27FC236}">
                  <a16:creationId xmlns:a16="http://schemas.microsoft.com/office/drawing/2014/main" id="{AA47808F-DD97-322B-912D-30E39A0984F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69970" y="4850616"/>
              <a:ext cx="214283" cy="344100"/>
            </a:xfrm>
            <a:prstGeom prst="rect">
              <a:avLst/>
            </a:prstGeom>
          </p:spPr>
        </p:pic>
        <p:pic>
          <p:nvPicPr>
            <p:cNvPr id="289" name="Graphic 288" descr="Man with kid with solid fill">
              <a:extLst>
                <a:ext uri="{FF2B5EF4-FFF2-40B4-BE49-F238E27FC236}">
                  <a16:creationId xmlns:a16="http://schemas.microsoft.com/office/drawing/2014/main" id="{553B5A70-F5BF-1EC6-8F01-0A2BE4D8895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48775" y="3676557"/>
              <a:ext cx="214283" cy="344100"/>
            </a:xfrm>
            <a:prstGeom prst="rect">
              <a:avLst/>
            </a:prstGeom>
          </p:spPr>
        </p:pic>
        <p:pic>
          <p:nvPicPr>
            <p:cNvPr id="290" name="Graphic 289" descr="Family with two children with solid fill">
              <a:extLst>
                <a:ext uri="{FF2B5EF4-FFF2-40B4-BE49-F238E27FC236}">
                  <a16:creationId xmlns:a16="http://schemas.microsoft.com/office/drawing/2014/main" id="{013ACACF-55F8-524A-6026-AB237DFEA7D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77117" y="4062015"/>
              <a:ext cx="214283" cy="344100"/>
            </a:xfrm>
            <a:prstGeom prst="rect">
              <a:avLst/>
            </a:prstGeom>
          </p:spPr>
        </p:pic>
        <p:pic>
          <p:nvPicPr>
            <p:cNvPr id="291" name="Graphic 290" descr="Man and woman with solid fill">
              <a:extLst>
                <a:ext uri="{FF2B5EF4-FFF2-40B4-BE49-F238E27FC236}">
                  <a16:creationId xmlns:a16="http://schemas.microsoft.com/office/drawing/2014/main" id="{35C840E9-36D8-0303-A18E-2F67C266A9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01995" y="3429000"/>
              <a:ext cx="214283" cy="344100"/>
            </a:xfrm>
            <a:prstGeom prst="rect">
              <a:avLst/>
            </a:prstGeom>
          </p:spPr>
        </p:pic>
        <p:pic>
          <p:nvPicPr>
            <p:cNvPr id="292" name="Graphic 291" descr="Family with boy with solid fill">
              <a:extLst>
                <a:ext uri="{FF2B5EF4-FFF2-40B4-BE49-F238E27FC236}">
                  <a16:creationId xmlns:a16="http://schemas.microsoft.com/office/drawing/2014/main" id="{60175624-D7E6-5C7B-3017-C3011DD7DE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56358" y="4280062"/>
              <a:ext cx="214283" cy="344100"/>
            </a:xfrm>
            <a:prstGeom prst="rect">
              <a:avLst/>
            </a:prstGeom>
          </p:spPr>
        </p:pic>
        <p:pic>
          <p:nvPicPr>
            <p:cNvPr id="293" name="Graphic 292" descr="Man with solid fill">
              <a:extLst>
                <a:ext uri="{FF2B5EF4-FFF2-40B4-BE49-F238E27FC236}">
                  <a16:creationId xmlns:a16="http://schemas.microsoft.com/office/drawing/2014/main" id="{CF73818F-EF0D-761B-FA4D-28C6F881A68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56693" y="5182364"/>
              <a:ext cx="214283" cy="344100"/>
            </a:xfrm>
            <a:prstGeom prst="rect">
              <a:avLst/>
            </a:prstGeom>
          </p:spPr>
        </p:pic>
        <p:pic>
          <p:nvPicPr>
            <p:cNvPr id="294" name="Graphic 293" descr="Two Men with solid fill">
              <a:extLst>
                <a:ext uri="{FF2B5EF4-FFF2-40B4-BE49-F238E27FC236}">
                  <a16:creationId xmlns:a16="http://schemas.microsoft.com/office/drawing/2014/main" id="{F2005D1A-6D95-47C6-1D7F-CC58985A8EC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80764" y="5785428"/>
              <a:ext cx="214283" cy="344100"/>
            </a:xfrm>
            <a:prstGeom prst="rect">
              <a:avLst/>
            </a:prstGeom>
          </p:spPr>
        </p:pic>
        <p:pic>
          <p:nvPicPr>
            <p:cNvPr id="295" name="Graphic 294" descr="Man and woman with solid fill">
              <a:extLst>
                <a:ext uri="{FF2B5EF4-FFF2-40B4-BE49-F238E27FC236}">
                  <a16:creationId xmlns:a16="http://schemas.microsoft.com/office/drawing/2014/main" id="{B7D3C9FB-F5F6-12DA-1424-94858C005FA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6542" y="5404984"/>
              <a:ext cx="214283" cy="344100"/>
            </a:xfrm>
            <a:prstGeom prst="rect">
              <a:avLst/>
            </a:prstGeom>
          </p:spPr>
        </p:pic>
        <p:pic>
          <p:nvPicPr>
            <p:cNvPr id="296" name="Graphic 295" descr="Man and woman with solid fill">
              <a:extLst>
                <a:ext uri="{FF2B5EF4-FFF2-40B4-BE49-F238E27FC236}">
                  <a16:creationId xmlns:a16="http://schemas.microsoft.com/office/drawing/2014/main" id="{2D0AF6A7-80EC-F5FA-7AE5-F108748459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60053" y="5833364"/>
              <a:ext cx="214283" cy="344100"/>
            </a:xfrm>
            <a:prstGeom prst="rect">
              <a:avLst/>
            </a:prstGeom>
          </p:spPr>
        </p:pic>
        <p:pic>
          <p:nvPicPr>
            <p:cNvPr id="297" name="Graphic 296" descr="Man with solid fill">
              <a:extLst>
                <a:ext uri="{FF2B5EF4-FFF2-40B4-BE49-F238E27FC236}">
                  <a16:creationId xmlns:a16="http://schemas.microsoft.com/office/drawing/2014/main" id="{CCC08A29-7FDC-8152-BC34-3BED016487A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61180" y="3713641"/>
              <a:ext cx="214283" cy="344100"/>
            </a:xfrm>
            <a:prstGeom prst="rect">
              <a:avLst/>
            </a:prstGeom>
          </p:spPr>
        </p:pic>
        <p:pic>
          <p:nvPicPr>
            <p:cNvPr id="298" name="Graphic 297" descr="Man with solid fill">
              <a:extLst>
                <a:ext uri="{FF2B5EF4-FFF2-40B4-BE49-F238E27FC236}">
                  <a16:creationId xmlns:a16="http://schemas.microsoft.com/office/drawing/2014/main" id="{DBCB5A43-9E18-C1ED-84FD-96C3637ABA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63447" y="3658400"/>
              <a:ext cx="214283" cy="344100"/>
            </a:xfrm>
            <a:prstGeom prst="rect">
              <a:avLst/>
            </a:prstGeom>
          </p:spPr>
        </p:pic>
        <p:pic>
          <p:nvPicPr>
            <p:cNvPr id="299" name="Graphic 298" descr="Man with solid fill">
              <a:extLst>
                <a:ext uri="{FF2B5EF4-FFF2-40B4-BE49-F238E27FC236}">
                  <a16:creationId xmlns:a16="http://schemas.microsoft.com/office/drawing/2014/main" id="{060F568D-FF74-C875-2238-70B2001D08F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91882" y="3736663"/>
              <a:ext cx="214283" cy="344100"/>
            </a:xfrm>
            <a:prstGeom prst="rect">
              <a:avLst/>
            </a:prstGeom>
          </p:spPr>
        </p:pic>
        <p:pic>
          <p:nvPicPr>
            <p:cNvPr id="300" name="Graphic 299" descr="Man and woman with solid fill">
              <a:extLst>
                <a:ext uri="{FF2B5EF4-FFF2-40B4-BE49-F238E27FC236}">
                  <a16:creationId xmlns:a16="http://schemas.microsoft.com/office/drawing/2014/main" id="{F1F3114D-E327-F59A-6D58-E33A45C55D9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21923" y="5683695"/>
              <a:ext cx="214283" cy="344100"/>
            </a:xfrm>
            <a:prstGeom prst="rect">
              <a:avLst/>
            </a:prstGeom>
          </p:spPr>
        </p:pic>
        <p:pic>
          <p:nvPicPr>
            <p:cNvPr id="301" name="Graphic 300" descr="Man with kid with solid fill">
              <a:extLst>
                <a:ext uri="{FF2B5EF4-FFF2-40B4-BE49-F238E27FC236}">
                  <a16:creationId xmlns:a16="http://schemas.microsoft.com/office/drawing/2014/main" id="{0B0C7173-7C5D-C481-CF41-6C4DF735B61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00612" y="3919445"/>
              <a:ext cx="214283" cy="344100"/>
            </a:xfrm>
            <a:prstGeom prst="rect">
              <a:avLst/>
            </a:prstGeom>
          </p:spPr>
        </p:pic>
        <p:pic>
          <p:nvPicPr>
            <p:cNvPr id="302" name="Graphic 301" descr="Family with boy with solid fill">
              <a:extLst>
                <a:ext uri="{FF2B5EF4-FFF2-40B4-BE49-F238E27FC236}">
                  <a16:creationId xmlns:a16="http://schemas.microsoft.com/office/drawing/2014/main" id="{A9673926-39C2-02AA-A72C-DEBE15FB36C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41362" y="4735609"/>
              <a:ext cx="214283" cy="344100"/>
            </a:xfrm>
            <a:prstGeom prst="rect">
              <a:avLst/>
            </a:prstGeom>
          </p:spPr>
        </p:pic>
        <p:pic>
          <p:nvPicPr>
            <p:cNvPr id="303" name="Graphic 302" descr="Family with two children with solid fill">
              <a:extLst>
                <a:ext uri="{FF2B5EF4-FFF2-40B4-BE49-F238E27FC236}">
                  <a16:creationId xmlns:a16="http://schemas.microsoft.com/office/drawing/2014/main" id="{E53B3011-C407-6B99-523A-0669D9112B4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17208" y="4341714"/>
              <a:ext cx="214283" cy="344100"/>
            </a:xfrm>
            <a:prstGeom prst="rect">
              <a:avLst/>
            </a:prstGeom>
          </p:spPr>
        </p:pic>
        <p:pic>
          <p:nvPicPr>
            <p:cNvPr id="304" name="Graphic 303" descr="Man with kid with solid fill">
              <a:extLst>
                <a:ext uri="{FF2B5EF4-FFF2-40B4-BE49-F238E27FC236}">
                  <a16:creationId xmlns:a16="http://schemas.microsoft.com/office/drawing/2014/main" id="{AF008EEF-1309-7028-2E87-EF5A0602DC9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42942" y="3956256"/>
              <a:ext cx="214283" cy="344100"/>
            </a:xfrm>
            <a:prstGeom prst="rect">
              <a:avLst/>
            </a:prstGeom>
          </p:spPr>
        </p:pic>
        <p:pic>
          <p:nvPicPr>
            <p:cNvPr id="305" name="Graphic 304" descr="Family with two children with solid fill">
              <a:extLst>
                <a:ext uri="{FF2B5EF4-FFF2-40B4-BE49-F238E27FC236}">
                  <a16:creationId xmlns:a16="http://schemas.microsoft.com/office/drawing/2014/main" id="{E910513D-26D0-6C47-5BB2-A1D2208FC79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50183" y="4531665"/>
              <a:ext cx="214283" cy="344100"/>
            </a:xfrm>
            <a:prstGeom prst="rect">
              <a:avLst/>
            </a:prstGeom>
          </p:spPr>
        </p:pic>
        <p:pic>
          <p:nvPicPr>
            <p:cNvPr id="306" name="Graphic 305" descr="Man and woman with solid fill">
              <a:extLst>
                <a:ext uri="{FF2B5EF4-FFF2-40B4-BE49-F238E27FC236}">
                  <a16:creationId xmlns:a16="http://schemas.microsoft.com/office/drawing/2014/main" id="{D5BD7E36-D327-0170-7B34-4F10BFCFF99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62845" y="5046774"/>
              <a:ext cx="214283" cy="344100"/>
            </a:xfrm>
            <a:prstGeom prst="rect">
              <a:avLst/>
            </a:prstGeom>
          </p:spPr>
        </p:pic>
        <p:pic>
          <p:nvPicPr>
            <p:cNvPr id="307" name="Graphic 306" descr="Family with boy with solid fill">
              <a:extLst>
                <a:ext uri="{FF2B5EF4-FFF2-40B4-BE49-F238E27FC236}">
                  <a16:creationId xmlns:a16="http://schemas.microsoft.com/office/drawing/2014/main" id="{F1D263F1-9CF8-17F2-D9A3-C696C6D3296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50525" y="4559761"/>
              <a:ext cx="214283" cy="344100"/>
            </a:xfrm>
            <a:prstGeom prst="rect">
              <a:avLst/>
            </a:prstGeom>
          </p:spPr>
        </p:pic>
        <p:pic>
          <p:nvPicPr>
            <p:cNvPr id="308" name="Graphic 307" descr="Man with solid fill">
              <a:extLst>
                <a:ext uri="{FF2B5EF4-FFF2-40B4-BE49-F238E27FC236}">
                  <a16:creationId xmlns:a16="http://schemas.microsoft.com/office/drawing/2014/main" id="{52CCC45C-39A3-E4AC-0B71-6D338A6C033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40033" y="4250017"/>
              <a:ext cx="214283" cy="344100"/>
            </a:xfrm>
            <a:prstGeom prst="rect">
              <a:avLst/>
            </a:prstGeom>
          </p:spPr>
        </p:pic>
        <p:pic>
          <p:nvPicPr>
            <p:cNvPr id="309" name="Graphic 308" descr="Two Men with solid fill">
              <a:extLst>
                <a:ext uri="{FF2B5EF4-FFF2-40B4-BE49-F238E27FC236}">
                  <a16:creationId xmlns:a16="http://schemas.microsoft.com/office/drawing/2014/main" id="{850EDE64-866E-ACF5-03AE-DB1685A6B01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749164" y="5728809"/>
              <a:ext cx="214283" cy="344100"/>
            </a:xfrm>
            <a:prstGeom prst="rect">
              <a:avLst/>
            </a:prstGeom>
          </p:spPr>
        </p:pic>
        <p:pic>
          <p:nvPicPr>
            <p:cNvPr id="310" name="Graphic 309" descr="Man and woman with solid fill">
              <a:extLst>
                <a:ext uri="{FF2B5EF4-FFF2-40B4-BE49-F238E27FC236}">
                  <a16:creationId xmlns:a16="http://schemas.microsoft.com/office/drawing/2014/main" id="{8E6203C9-EBD0-A6CD-E1F6-227DE7CECEE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15702" y="5586500"/>
              <a:ext cx="214283" cy="344100"/>
            </a:xfrm>
            <a:prstGeom prst="rect">
              <a:avLst/>
            </a:prstGeom>
          </p:spPr>
        </p:pic>
        <p:pic>
          <p:nvPicPr>
            <p:cNvPr id="311" name="Graphic 310" descr="Man and woman with solid fill">
              <a:extLst>
                <a:ext uri="{FF2B5EF4-FFF2-40B4-BE49-F238E27FC236}">
                  <a16:creationId xmlns:a16="http://schemas.microsoft.com/office/drawing/2014/main" id="{A8EF7457-3874-D569-9063-0DDBAA7E42C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50084" y="4488657"/>
              <a:ext cx="214283" cy="344100"/>
            </a:xfrm>
            <a:prstGeom prst="rect">
              <a:avLst/>
            </a:prstGeom>
          </p:spPr>
        </p:pic>
        <p:pic>
          <p:nvPicPr>
            <p:cNvPr id="312" name="Graphic 311" descr="Man with solid fill">
              <a:extLst>
                <a:ext uri="{FF2B5EF4-FFF2-40B4-BE49-F238E27FC236}">
                  <a16:creationId xmlns:a16="http://schemas.microsoft.com/office/drawing/2014/main" id="{BF70C931-105E-B586-1B27-5FDC73409CE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55347" y="3993340"/>
              <a:ext cx="214283" cy="344100"/>
            </a:xfrm>
            <a:prstGeom prst="rect">
              <a:avLst/>
            </a:prstGeom>
          </p:spPr>
        </p:pic>
        <p:pic>
          <p:nvPicPr>
            <p:cNvPr id="313" name="Graphic 312" descr="Man with solid fill">
              <a:extLst>
                <a:ext uri="{FF2B5EF4-FFF2-40B4-BE49-F238E27FC236}">
                  <a16:creationId xmlns:a16="http://schemas.microsoft.com/office/drawing/2014/main" id="{A745D037-A280-7B3D-7EF9-FF78527DF3A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57614" y="3938099"/>
              <a:ext cx="214283" cy="344100"/>
            </a:xfrm>
            <a:prstGeom prst="rect">
              <a:avLst/>
            </a:prstGeom>
          </p:spPr>
        </p:pic>
      </p:grpSp>
    </p:spTree>
    <p:extLst>
      <p:ext uri="{BB962C8B-B14F-4D97-AF65-F5344CB8AC3E}">
        <p14:creationId xmlns:p14="http://schemas.microsoft.com/office/powerpoint/2010/main" val="310273148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4AF4E-B081-4EF8-6DF9-AB6497C09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BA1565-FF59-3E7E-7E5F-76A555739E3F}"/>
              </a:ext>
            </a:extLst>
          </p:cNvPr>
          <p:cNvSpPr>
            <a:spLocks noGrp="1"/>
          </p:cNvSpPr>
          <p:nvPr>
            <p:ph type="title"/>
          </p:nvPr>
        </p:nvSpPr>
        <p:spPr/>
        <p:txBody>
          <a:bodyPr/>
          <a:lstStyle/>
          <a:p>
            <a:r>
              <a:rPr lang="en-US" dirty="0"/>
              <a:t>Sampling Techniques</a:t>
            </a:r>
          </a:p>
        </p:txBody>
      </p:sp>
      <p:sp>
        <p:nvSpPr>
          <p:cNvPr id="4" name="Content Placeholder 2">
            <a:extLst>
              <a:ext uri="{FF2B5EF4-FFF2-40B4-BE49-F238E27FC236}">
                <a16:creationId xmlns:a16="http://schemas.microsoft.com/office/drawing/2014/main" id="{6AEB5192-6C13-7683-C485-873FAB87FA6B}"/>
              </a:ext>
            </a:extLst>
          </p:cNvPr>
          <p:cNvSpPr txBox="1">
            <a:spLocks/>
          </p:cNvSpPr>
          <p:nvPr/>
        </p:nvSpPr>
        <p:spPr>
          <a:xfrm>
            <a:off x="479999" y="1270274"/>
            <a:ext cx="11102399" cy="449158"/>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2400" b="1" dirty="0"/>
              <a:t>Simple Random Sampling</a:t>
            </a:r>
            <a:r>
              <a:rPr lang="en-US" sz="2400" dirty="0"/>
              <a:t>: all samples are chosen randomly to be selected for each group.</a:t>
            </a:r>
          </a:p>
          <a:p>
            <a:r>
              <a:rPr lang="en-US" sz="1800" b="1" dirty="0">
                <a:solidFill>
                  <a:schemeClr val="bg2">
                    <a:lumMod val="85000"/>
                  </a:schemeClr>
                </a:solidFill>
              </a:rPr>
              <a:t>Stratified Sampling</a:t>
            </a:r>
            <a:r>
              <a:rPr lang="en-US" sz="1800" dirty="0">
                <a:solidFill>
                  <a:schemeClr val="bg2">
                    <a:lumMod val="85000"/>
                  </a:schemeClr>
                </a:solidFill>
              </a:rPr>
              <a:t>: divide study population into categories and sample from each group separately (e.g. Adults/Kids) to ensure equal representation of each category in control and treatment groups</a:t>
            </a:r>
          </a:p>
          <a:p>
            <a:pPr marL="0" indent="0">
              <a:buNone/>
            </a:pPr>
            <a:endParaRPr lang="en-US" sz="1800" dirty="0"/>
          </a:p>
        </p:txBody>
      </p:sp>
      <p:pic>
        <p:nvPicPr>
          <p:cNvPr id="127" name="Graphic 126" descr="Needle with solid fill">
            <a:extLst>
              <a:ext uri="{FF2B5EF4-FFF2-40B4-BE49-F238E27FC236}">
                <a16:creationId xmlns:a16="http://schemas.microsoft.com/office/drawing/2014/main" id="{DF7DC845-E07A-E3C3-1EC8-AB15A7EBC6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271663" y="4670451"/>
            <a:ext cx="622238" cy="622238"/>
          </a:xfrm>
          <a:prstGeom prst="rect">
            <a:avLst/>
          </a:prstGeom>
        </p:spPr>
      </p:pic>
      <p:pic>
        <p:nvPicPr>
          <p:cNvPr id="128" name="Graphic 127" descr="Needle with solid fill">
            <a:extLst>
              <a:ext uri="{FF2B5EF4-FFF2-40B4-BE49-F238E27FC236}">
                <a16:creationId xmlns:a16="http://schemas.microsoft.com/office/drawing/2014/main" id="{88CC4485-F1FC-44DF-D658-70878796583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270102" y="3436119"/>
            <a:ext cx="623799" cy="623799"/>
          </a:xfrm>
          <a:prstGeom prst="rect">
            <a:avLst/>
          </a:prstGeom>
        </p:spPr>
      </p:pic>
      <p:sp>
        <p:nvSpPr>
          <p:cNvPr id="129" name="TextBox 128">
            <a:extLst>
              <a:ext uri="{FF2B5EF4-FFF2-40B4-BE49-F238E27FC236}">
                <a16:creationId xmlns:a16="http://schemas.microsoft.com/office/drawing/2014/main" id="{B7829F21-055F-9CF9-721D-1701CD10F236}"/>
              </a:ext>
            </a:extLst>
          </p:cNvPr>
          <p:cNvSpPr txBox="1"/>
          <p:nvPr/>
        </p:nvSpPr>
        <p:spPr>
          <a:xfrm>
            <a:off x="7743467" y="5392467"/>
            <a:ext cx="1678631" cy="276999"/>
          </a:xfrm>
          <a:prstGeom prst="rect">
            <a:avLst/>
          </a:prstGeom>
          <a:noFill/>
        </p:spPr>
        <p:txBody>
          <a:bodyPr wrap="square" rtlCol="0">
            <a:spAutoFit/>
          </a:bodyPr>
          <a:lstStyle/>
          <a:p>
            <a:pPr algn="ctr"/>
            <a:r>
              <a:rPr lang="en-US" sz="1200" b="1" dirty="0">
                <a:solidFill>
                  <a:schemeClr val="accent1"/>
                </a:solidFill>
              </a:rPr>
              <a:t>Vaccine</a:t>
            </a:r>
          </a:p>
        </p:txBody>
      </p:sp>
      <p:sp>
        <p:nvSpPr>
          <p:cNvPr id="130" name="TextBox 129">
            <a:extLst>
              <a:ext uri="{FF2B5EF4-FFF2-40B4-BE49-F238E27FC236}">
                <a16:creationId xmlns:a16="http://schemas.microsoft.com/office/drawing/2014/main" id="{C0494E55-F02A-E65C-3A92-C11726011AB1}"/>
              </a:ext>
            </a:extLst>
          </p:cNvPr>
          <p:cNvSpPr txBox="1"/>
          <p:nvPr/>
        </p:nvSpPr>
        <p:spPr>
          <a:xfrm>
            <a:off x="7742687" y="4129755"/>
            <a:ext cx="1678631" cy="276999"/>
          </a:xfrm>
          <a:prstGeom prst="rect">
            <a:avLst/>
          </a:prstGeom>
          <a:noFill/>
        </p:spPr>
        <p:txBody>
          <a:bodyPr wrap="square" rtlCol="0">
            <a:spAutoFit/>
          </a:bodyPr>
          <a:lstStyle/>
          <a:p>
            <a:pPr algn="ctr"/>
            <a:r>
              <a:rPr lang="en-US" sz="1200" b="1" dirty="0">
                <a:solidFill>
                  <a:schemeClr val="tx2"/>
                </a:solidFill>
              </a:rPr>
              <a:t>Placebo (fake vaccine)</a:t>
            </a:r>
          </a:p>
        </p:txBody>
      </p:sp>
      <p:grpSp>
        <p:nvGrpSpPr>
          <p:cNvPr id="131" name="Group 130">
            <a:extLst>
              <a:ext uri="{FF2B5EF4-FFF2-40B4-BE49-F238E27FC236}">
                <a16:creationId xmlns:a16="http://schemas.microsoft.com/office/drawing/2014/main" id="{451A5D44-93E6-BEFD-2920-AD76B5F361B7}"/>
              </a:ext>
            </a:extLst>
          </p:cNvPr>
          <p:cNvGrpSpPr/>
          <p:nvPr/>
        </p:nvGrpSpPr>
        <p:grpSpPr>
          <a:xfrm>
            <a:off x="3096845" y="3128215"/>
            <a:ext cx="4261647" cy="2748464"/>
            <a:chOff x="3253577" y="3429000"/>
            <a:chExt cx="4261647" cy="2748464"/>
          </a:xfrm>
        </p:grpSpPr>
        <p:pic>
          <p:nvPicPr>
            <p:cNvPr id="132" name="Graphic 131" descr="Man with solid fill">
              <a:extLst>
                <a:ext uri="{FF2B5EF4-FFF2-40B4-BE49-F238E27FC236}">
                  <a16:creationId xmlns:a16="http://schemas.microsoft.com/office/drawing/2014/main" id="{20B961A2-2929-1826-52AF-FBCD2015ED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90112" y="4713778"/>
              <a:ext cx="214283" cy="344100"/>
            </a:xfrm>
            <a:prstGeom prst="rect">
              <a:avLst/>
            </a:prstGeom>
          </p:spPr>
        </p:pic>
        <p:pic>
          <p:nvPicPr>
            <p:cNvPr id="133" name="Graphic 132" descr="Man and woman with solid fill">
              <a:extLst>
                <a:ext uri="{FF2B5EF4-FFF2-40B4-BE49-F238E27FC236}">
                  <a16:creationId xmlns:a16="http://schemas.microsoft.com/office/drawing/2014/main" id="{EF8A6FB0-A723-933F-E50A-44C674008D0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93338" y="4823508"/>
              <a:ext cx="214283" cy="344100"/>
            </a:xfrm>
            <a:prstGeom prst="rect">
              <a:avLst/>
            </a:prstGeom>
          </p:spPr>
        </p:pic>
        <p:pic>
          <p:nvPicPr>
            <p:cNvPr id="134" name="Graphic 133" descr="Man with kid with solid fill">
              <a:extLst>
                <a:ext uri="{FF2B5EF4-FFF2-40B4-BE49-F238E27FC236}">
                  <a16:creationId xmlns:a16="http://schemas.microsoft.com/office/drawing/2014/main" id="{201E3AE4-AA43-29BC-3B63-A84148DC2C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498842" y="4896560"/>
              <a:ext cx="214283" cy="344100"/>
            </a:xfrm>
            <a:prstGeom prst="rect">
              <a:avLst/>
            </a:prstGeom>
          </p:spPr>
        </p:pic>
        <p:pic>
          <p:nvPicPr>
            <p:cNvPr id="135" name="Graphic 134" descr="Family with boy with solid fill">
              <a:extLst>
                <a:ext uri="{FF2B5EF4-FFF2-40B4-BE49-F238E27FC236}">
                  <a16:creationId xmlns:a16="http://schemas.microsoft.com/office/drawing/2014/main" id="{C42AF635-3ACE-DE8E-2113-48F80A7B0528}"/>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749163" y="5277471"/>
              <a:ext cx="214283" cy="344100"/>
            </a:xfrm>
            <a:prstGeom prst="rect">
              <a:avLst/>
            </a:prstGeom>
          </p:spPr>
        </p:pic>
        <p:pic>
          <p:nvPicPr>
            <p:cNvPr id="136" name="Graphic 135" descr="Family with two children with solid fill">
              <a:extLst>
                <a:ext uri="{FF2B5EF4-FFF2-40B4-BE49-F238E27FC236}">
                  <a16:creationId xmlns:a16="http://schemas.microsoft.com/office/drawing/2014/main" id="{209B2EAA-1B61-D2F6-A72E-5035A705219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568562" y="4151015"/>
              <a:ext cx="214283" cy="344100"/>
            </a:xfrm>
            <a:prstGeom prst="rect">
              <a:avLst/>
            </a:prstGeom>
          </p:spPr>
        </p:pic>
        <p:pic>
          <p:nvPicPr>
            <p:cNvPr id="137" name="Graphic 136" descr="Man with kid with solid fill">
              <a:extLst>
                <a:ext uri="{FF2B5EF4-FFF2-40B4-BE49-F238E27FC236}">
                  <a16:creationId xmlns:a16="http://schemas.microsoft.com/office/drawing/2014/main" id="{4B88F7A5-8889-296D-3F27-0A7523AEBE3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841172" y="4933371"/>
              <a:ext cx="214283" cy="344100"/>
            </a:xfrm>
            <a:prstGeom prst="rect">
              <a:avLst/>
            </a:prstGeom>
          </p:spPr>
        </p:pic>
        <p:pic>
          <p:nvPicPr>
            <p:cNvPr id="138" name="Graphic 137" descr="Family with two children with solid fill">
              <a:extLst>
                <a:ext uri="{FF2B5EF4-FFF2-40B4-BE49-F238E27FC236}">
                  <a16:creationId xmlns:a16="http://schemas.microsoft.com/office/drawing/2014/main" id="{C3C13AF0-ECBE-7A34-560F-A52D652FBAEE}"/>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669514" y="5318829"/>
              <a:ext cx="214283" cy="344100"/>
            </a:xfrm>
            <a:prstGeom prst="rect">
              <a:avLst/>
            </a:prstGeom>
          </p:spPr>
        </p:pic>
        <p:pic>
          <p:nvPicPr>
            <p:cNvPr id="139" name="Graphic 138" descr="Man and woman with solid fill">
              <a:extLst>
                <a:ext uri="{FF2B5EF4-FFF2-40B4-BE49-F238E27FC236}">
                  <a16:creationId xmlns:a16="http://schemas.microsoft.com/office/drawing/2014/main" id="{0F716365-0C62-CA29-67E4-8D1EB07A17D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094392" y="4685814"/>
              <a:ext cx="214283" cy="344100"/>
            </a:xfrm>
            <a:prstGeom prst="rect">
              <a:avLst/>
            </a:prstGeom>
          </p:spPr>
        </p:pic>
        <p:pic>
          <p:nvPicPr>
            <p:cNvPr id="140" name="Graphic 139" descr="Family with boy with solid fill">
              <a:extLst>
                <a:ext uri="{FF2B5EF4-FFF2-40B4-BE49-F238E27FC236}">
                  <a16:creationId xmlns:a16="http://schemas.microsoft.com/office/drawing/2014/main" id="{C93DAB8D-66B6-9138-098F-A06AB26E87A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7004019" y="4754347"/>
              <a:ext cx="214283" cy="344100"/>
            </a:xfrm>
            <a:prstGeom prst="rect">
              <a:avLst/>
            </a:prstGeom>
          </p:spPr>
        </p:pic>
        <p:pic>
          <p:nvPicPr>
            <p:cNvPr id="141" name="Graphic 140" descr="Man with solid fill">
              <a:extLst>
                <a:ext uri="{FF2B5EF4-FFF2-40B4-BE49-F238E27FC236}">
                  <a16:creationId xmlns:a16="http://schemas.microsoft.com/office/drawing/2014/main" id="{B7E003EA-FCC3-4B1A-67D6-5FC55C79A16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438263" y="5227132"/>
              <a:ext cx="214283" cy="344100"/>
            </a:xfrm>
            <a:prstGeom prst="rect">
              <a:avLst/>
            </a:prstGeom>
          </p:spPr>
        </p:pic>
        <p:pic>
          <p:nvPicPr>
            <p:cNvPr id="142" name="Graphic 141" descr="Two Men with solid fill">
              <a:extLst>
                <a:ext uri="{FF2B5EF4-FFF2-40B4-BE49-F238E27FC236}">
                  <a16:creationId xmlns:a16="http://schemas.microsoft.com/office/drawing/2014/main" id="{819B2934-76D8-1C71-103B-A65BB8C5CC74}"/>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438283" y="3676557"/>
              <a:ext cx="214283" cy="344100"/>
            </a:xfrm>
            <a:prstGeom prst="rect">
              <a:avLst/>
            </a:prstGeom>
          </p:spPr>
        </p:pic>
        <p:pic>
          <p:nvPicPr>
            <p:cNvPr id="143" name="Graphic 142" descr="Man and woman with solid fill">
              <a:extLst>
                <a:ext uri="{FF2B5EF4-FFF2-40B4-BE49-F238E27FC236}">
                  <a16:creationId xmlns:a16="http://schemas.microsoft.com/office/drawing/2014/main" id="{61924FB1-80DD-D482-AB10-A35A1BA8B3B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960609" y="4272780"/>
              <a:ext cx="214283" cy="344100"/>
            </a:xfrm>
            <a:prstGeom prst="rect">
              <a:avLst/>
            </a:prstGeom>
          </p:spPr>
        </p:pic>
        <p:pic>
          <p:nvPicPr>
            <p:cNvPr id="144" name="Graphic 143" descr="Man and woman with solid fill">
              <a:extLst>
                <a:ext uri="{FF2B5EF4-FFF2-40B4-BE49-F238E27FC236}">
                  <a16:creationId xmlns:a16="http://schemas.microsoft.com/office/drawing/2014/main" id="{B959DBC2-5D43-24A0-4F9F-E95A01013B0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48314" y="5465772"/>
              <a:ext cx="214283" cy="344100"/>
            </a:xfrm>
            <a:prstGeom prst="rect">
              <a:avLst/>
            </a:prstGeom>
          </p:spPr>
        </p:pic>
        <p:pic>
          <p:nvPicPr>
            <p:cNvPr id="145" name="Graphic 144" descr="Man with solid fill">
              <a:extLst>
                <a:ext uri="{FF2B5EF4-FFF2-40B4-BE49-F238E27FC236}">
                  <a16:creationId xmlns:a16="http://schemas.microsoft.com/office/drawing/2014/main" id="{F3D3BD01-4C90-1450-114A-724D19731F9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253577" y="4970455"/>
              <a:ext cx="214283" cy="344100"/>
            </a:xfrm>
            <a:prstGeom prst="rect">
              <a:avLst/>
            </a:prstGeom>
          </p:spPr>
        </p:pic>
        <p:pic>
          <p:nvPicPr>
            <p:cNvPr id="146" name="Graphic 145" descr="Man with solid fill">
              <a:extLst>
                <a:ext uri="{FF2B5EF4-FFF2-40B4-BE49-F238E27FC236}">
                  <a16:creationId xmlns:a16="http://schemas.microsoft.com/office/drawing/2014/main" id="{E61199DD-03F1-28C4-BFA4-8E7047F23A0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655844" y="4915214"/>
              <a:ext cx="214283" cy="344100"/>
            </a:xfrm>
            <a:prstGeom prst="rect">
              <a:avLst/>
            </a:prstGeom>
          </p:spPr>
        </p:pic>
        <p:pic>
          <p:nvPicPr>
            <p:cNvPr id="147" name="Graphic 146" descr="Man with solid fill">
              <a:extLst>
                <a:ext uri="{FF2B5EF4-FFF2-40B4-BE49-F238E27FC236}">
                  <a16:creationId xmlns:a16="http://schemas.microsoft.com/office/drawing/2014/main" id="{45A0F786-D729-74F3-0823-4DB36E25A4E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95897" y="4838216"/>
              <a:ext cx="214283" cy="344100"/>
            </a:xfrm>
            <a:prstGeom prst="rect">
              <a:avLst/>
            </a:prstGeom>
          </p:spPr>
        </p:pic>
        <p:pic>
          <p:nvPicPr>
            <p:cNvPr id="148" name="Graphic 147" descr="Man and woman with solid fill">
              <a:extLst>
                <a:ext uri="{FF2B5EF4-FFF2-40B4-BE49-F238E27FC236}">
                  <a16:creationId xmlns:a16="http://schemas.microsoft.com/office/drawing/2014/main" id="{1A74F815-6186-BAD3-7D00-A2F9B84DEC5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03815" y="3970035"/>
              <a:ext cx="214283" cy="344100"/>
            </a:xfrm>
            <a:prstGeom prst="rect">
              <a:avLst/>
            </a:prstGeom>
          </p:spPr>
        </p:pic>
        <p:pic>
          <p:nvPicPr>
            <p:cNvPr id="149" name="Graphic 148" descr="Man with kid with solid fill">
              <a:extLst>
                <a:ext uri="{FF2B5EF4-FFF2-40B4-BE49-F238E27FC236}">
                  <a16:creationId xmlns:a16="http://schemas.microsoft.com/office/drawing/2014/main" id="{056F9D21-8D8A-65D9-B9DB-1D0402AB78E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704627" y="5020998"/>
              <a:ext cx="214283" cy="344100"/>
            </a:xfrm>
            <a:prstGeom prst="rect">
              <a:avLst/>
            </a:prstGeom>
          </p:spPr>
        </p:pic>
        <p:pic>
          <p:nvPicPr>
            <p:cNvPr id="150" name="Graphic 149" descr="Family with boy with solid fill">
              <a:extLst>
                <a:ext uri="{FF2B5EF4-FFF2-40B4-BE49-F238E27FC236}">
                  <a16:creationId xmlns:a16="http://schemas.microsoft.com/office/drawing/2014/main" id="{E45D3E75-61A6-0110-CFEF-BABDEF8AD7C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83708" y="4272293"/>
              <a:ext cx="214283" cy="344100"/>
            </a:xfrm>
            <a:prstGeom prst="rect">
              <a:avLst/>
            </a:prstGeom>
          </p:spPr>
        </p:pic>
        <p:pic>
          <p:nvPicPr>
            <p:cNvPr id="151" name="Graphic 150" descr="Family with two children with solid fill">
              <a:extLst>
                <a:ext uri="{FF2B5EF4-FFF2-40B4-BE49-F238E27FC236}">
                  <a16:creationId xmlns:a16="http://schemas.microsoft.com/office/drawing/2014/main" id="{EB10FD17-1465-B62F-8F72-D150CF79FF9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521223" y="5443267"/>
              <a:ext cx="214283" cy="344100"/>
            </a:xfrm>
            <a:prstGeom prst="rect">
              <a:avLst/>
            </a:prstGeom>
          </p:spPr>
        </p:pic>
        <p:pic>
          <p:nvPicPr>
            <p:cNvPr id="152" name="Graphic 151" descr="Man with kid with solid fill">
              <a:extLst>
                <a:ext uri="{FF2B5EF4-FFF2-40B4-BE49-F238E27FC236}">
                  <a16:creationId xmlns:a16="http://schemas.microsoft.com/office/drawing/2014/main" id="{98022CCF-447A-36B5-AEC0-0B4B6813232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245680" y="3978965"/>
              <a:ext cx="214283" cy="344100"/>
            </a:xfrm>
            <a:prstGeom prst="rect">
              <a:avLst/>
            </a:prstGeom>
          </p:spPr>
        </p:pic>
        <p:pic>
          <p:nvPicPr>
            <p:cNvPr id="153" name="Graphic 152" descr="Family with two children with solid fill">
              <a:extLst>
                <a:ext uri="{FF2B5EF4-FFF2-40B4-BE49-F238E27FC236}">
                  <a16:creationId xmlns:a16="http://schemas.microsoft.com/office/drawing/2014/main" id="{A0FC0EE4-3CD8-C59D-02FA-44477DF47BF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302176" y="3615274"/>
              <a:ext cx="214283" cy="344100"/>
            </a:xfrm>
            <a:prstGeom prst="rect">
              <a:avLst/>
            </a:prstGeom>
          </p:spPr>
        </p:pic>
        <p:pic>
          <p:nvPicPr>
            <p:cNvPr id="154" name="Graphic 153" descr="Man and woman with solid fill">
              <a:extLst>
                <a:ext uri="{FF2B5EF4-FFF2-40B4-BE49-F238E27FC236}">
                  <a16:creationId xmlns:a16="http://schemas.microsoft.com/office/drawing/2014/main" id="{78FAD478-F1F5-2516-98C0-AFAA577400C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433984" y="4091495"/>
              <a:ext cx="214283" cy="344100"/>
            </a:xfrm>
            <a:prstGeom prst="rect">
              <a:avLst/>
            </a:prstGeom>
          </p:spPr>
        </p:pic>
        <p:pic>
          <p:nvPicPr>
            <p:cNvPr id="155" name="Graphic 154" descr="Family with boy with solid fill">
              <a:extLst>
                <a:ext uri="{FF2B5EF4-FFF2-40B4-BE49-F238E27FC236}">
                  <a16:creationId xmlns:a16="http://schemas.microsoft.com/office/drawing/2014/main" id="{DE1ADE59-D212-E185-9607-7ABF79F45A9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254540" y="5661314"/>
              <a:ext cx="214283" cy="344100"/>
            </a:xfrm>
            <a:prstGeom prst="rect">
              <a:avLst/>
            </a:prstGeom>
          </p:spPr>
        </p:pic>
        <p:pic>
          <p:nvPicPr>
            <p:cNvPr id="156" name="Graphic 155" descr="Man with solid fill">
              <a:extLst>
                <a:ext uri="{FF2B5EF4-FFF2-40B4-BE49-F238E27FC236}">
                  <a16:creationId xmlns:a16="http://schemas.microsoft.com/office/drawing/2014/main" id="{D2098382-7572-9358-C4BE-683797F3DA0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644048" y="5351570"/>
              <a:ext cx="214283" cy="344100"/>
            </a:xfrm>
            <a:prstGeom prst="rect">
              <a:avLst/>
            </a:prstGeom>
          </p:spPr>
        </p:pic>
        <p:pic>
          <p:nvPicPr>
            <p:cNvPr id="157" name="Graphic 156" descr="Two Men with solid fill">
              <a:extLst>
                <a:ext uri="{FF2B5EF4-FFF2-40B4-BE49-F238E27FC236}">
                  <a16:creationId xmlns:a16="http://schemas.microsoft.com/office/drawing/2014/main" id="{1FD947A4-9BAD-E57F-DE8F-6AA5CD9832D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569485" y="3808108"/>
              <a:ext cx="214283" cy="344100"/>
            </a:xfrm>
            <a:prstGeom prst="rect">
              <a:avLst/>
            </a:prstGeom>
          </p:spPr>
        </p:pic>
        <p:pic>
          <p:nvPicPr>
            <p:cNvPr id="158" name="Graphic 157" descr="Man and woman with solid fill">
              <a:extLst>
                <a:ext uri="{FF2B5EF4-FFF2-40B4-BE49-F238E27FC236}">
                  <a16:creationId xmlns:a16="http://schemas.microsoft.com/office/drawing/2014/main" id="{19B93E88-3CBF-E9FA-2C68-8843DA2BA58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42423" y="5204689"/>
              <a:ext cx="214283" cy="344100"/>
            </a:xfrm>
            <a:prstGeom prst="rect">
              <a:avLst/>
            </a:prstGeom>
          </p:spPr>
        </p:pic>
        <p:pic>
          <p:nvPicPr>
            <p:cNvPr id="159" name="Graphic 158" descr="Man and woman with solid fill">
              <a:extLst>
                <a:ext uri="{FF2B5EF4-FFF2-40B4-BE49-F238E27FC236}">
                  <a16:creationId xmlns:a16="http://schemas.microsoft.com/office/drawing/2014/main" id="{9BB39361-05C8-79BC-6803-813B6B8BF2C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806137" y="4410915"/>
              <a:ext cx="214283" cy="344100"/>
            </a:xfrm>
            <a:prstGeom prst="rect">
              <a:avLst/>
            </a:prstGeom>
          </p:spPr>
        </p:pic>
        <p:pic>
          <p:nvPicPr>
            <p:cNvPr id="160" name="Graphic 159" descr="Man with solid fill">
              <a:extLst>
                <a:ext uri="{FF2B5EF4-FFF2-40B4-BE49-F238E27FC236}">
                  <a16:creationId xmlns:a16="http://schemas.microsoft.com/office/drawing/2014/main" id="{FAACC30F-D8A7-6566-E081-558FA27D5CE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77393" y="3659868"/>
              <a:ext cx="214283" cy="344100"/>
            </a:xfrm>
            <a:prstGeom prst="rect">
              <a:avLst/>
            </a:prstGeom>
          </p:spPr>
        </p:pic>
        <p:pic>
          <p:nvPicPr>
            <p:cNvPr id="161" name="Graphic 160" descr="Man with solid fill">
              <a:extLst>
                <a:ext uri="{FF2B5EF4-FFF2-40B4-BE49-F238E27FC236}">
                  <a16:creationId xmlns:a16="http://schemas.microsoft.com/office/drawing/2014/main" id="{D2D1947F-18C4-A4C6-0313-D326A5FFC1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61629" y="5039652"/>
              <a:ext cx="214283" cy="344100"/>
            </a:xfrm>
            <a:prstGeom prst="rect">
              <a:avLst/>
            </a:prstGeom>
          </p:spPr>
        </p:pic>
        <p:pic>
          <p:nvPicPr>
            <p:cNvPr id="162" name="Graphic 161" descr="Man with solid fill">
              <a:extLst>
                <a:ext uri="{FF2B5EF4-FFF2-40B4-BE49-F238E27FC236}">
                  <a16:creationId xmlns:a16="http://schemas.microsoft.com/office/drawing/2014/main" id="{E52C509F-8A64-1BDE-432B-3312E43ACAC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97715" y="3456964"/>
              <a:ext cx="214283" cy="344100"/>
            </a:xfrm>
            <a:prstGeom prst="rect">
              <a:avLst/>
            </a:prstGeom>
          </p:spPr>
        </p:pic>
        <p:pic>
          <p:nvPicPr>
            <p:cNvPr id="163" name="Graphic 162" descr="Man and woman with solid fill">
              <a:extLst>
                <a:ext uri="{FF2B5EF4-FFF2-40B4-BE49-F238E27FC236}">
                  <a16:creationId xmlns:a16="http://schemas.microsoft.com/office/drawing/2014/main" id="{B1ABD910-908B-27A3-1D03-9472DC6834D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7300941" y="3566694"/>
              <a:ext cx="214283" cy="344100"/>
            </a:xfrm>
            <a:prstGeom prst="rect">
              <a:avLst/>
            </a:prstGeom>
          </p:spPr>
        </p:pic>
        <p:pic>
          <p:nvPicPr>
            <p:cNvPr id="164" name="Graphic 163" descr="Man with kid with solid fill">
              <a:extLst>
                <a:ext uri="{FF2B5EF4-FFF2-40B4-BE49-F238E27FC236}">
                  <a16:creationId xmlns:a16="http://schemas.microsoft.com/office/drawing/2014/main" id="{64FB0F3E-9188-59CF-4148-F088650F839D}"/>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6806445" y="3639746"/>
              <a:ext cx="214283" cy="344100"/>
            </a:xfrm>
            <a:prstGeom prst="rect">
              <a:avLst/>
            </a:prstGeom>
          </p:spPr>
        </p:pic>
        <p:pic>
          <p:nvPicPr>
            <p:cNvPr id="165" name="Graphic 164" descr="Family with boy with solid fill">
              <a:extLst>
                <a:ext uri="{FF2B5EF4-FFF2-40B4-BE49-F238E27FC236}">
                  <a16:creationId xmlns:a16="http://schemas.microsoft.com/office/drawing/2014/main" id="{940E0E50-FD23-8F6D-C2CE-B8B93F3F032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369579" y="5246095"/>
              <a:ext cx="214283" cy="344100"/>
            </a:xfrm>
            <a:prstGeom prst="rect">
              <a:avLst/>
            </a:prstGeom>
          </p:spPr>
        </p:pic>
        <p:pic>
          <p:nvPicPr>
            <p:cNvPr id="166" name="Graphic 165" descr="Family with two children with solid fill">
              <a:extLst>
                <a:ext uri="{FF2B5EF4-FFF2-40B4-BE49-F238E27FC236}">
                  <a16:creationId xmlns:a16="http://schemas.microsoft.com/office/drawing/2014/main" id="{FCB66C24-5402-0422-6C1E-3A177E80F703}"/>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369970" y="4850616"/>
              <a:ext cx="214283" cy="344100"/>
            </a:xfrm>
            <a:prstGeom prst="rect">
              <a:avLst/>
            </a:prstGeom>
          </p:spPr>
        </p:pic>
        <p:pic>
          <p:nvPicPr>
            <p:cNvPr id="167" name="Graphic 166" descr="Man with kid with solid fill">
              <a:extLst>
                <a:ext uri="{FF2B5EF4-FFF2-40B4-BE49-F238E27FC236}">
                  <a16:creationId xmlns:a16="http://schemas.microsoft.com/office/drawing/2014/main" id="{9B3ABE65-45D9-AF6B-7464-37BD23C9B9E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7148775" y="3676557"/>
              <a:ext cx="214283" cy="344100"/>
            </a:xfrm>
            <a:prstGeom prst="rect">
              <a:avLst/>
            </a:prstGeom>
          </p:spPr>
        </p:pic>
        <p:pic>
          <p:nvPicPr>
            <p:cNvPr id="168" name="Graphic 167" descr="Family with two children with solid fill">
              <a:extLst>
                <a:ext uri="{FF2B5EF4-FFF2-40B4-BE49-F238E27FC236}">
                  <a16:creationId xmlns:a16="http://schemas.microsoft.com/office/drawing/2014/main" id="{02DC11C4-61E2-35E7-925E-6535BBF3EDC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977117" y="4062015"/>
              <a:ext cx="214283" cy="344100"/>
            </a:xfrm>
            <a:prstGeom prst="rect">
              <a:avLst/>
            </a:prstGeom>
          </p:spPr>
        </p:pic>
        <p:pic>
          <p:nvPicPr>
            <p:cNvPr id="169" name="Graphic 168" descr="Man and woman with solid fill">
              <a:extLst>
                <a:ext uri="{FF2B5EF4-FFF2-40B4-BE49-F238E27FC236}">
                  <a16:creationId xmlns:a16="http://schemas.microsoft.com/office/drawing/2014/main" id="{576150D4-6C69-5AA3-AEE9-FBC8E629534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6401995" y="3429000"/>
              <a:ext cx="214283" cy="344100"/>
            </a:xfrm>
            <a:prstGeom prst="rect">
              <a:avLst/>
            </a:prstGeom>
          </p:spPr>
        </p:pic>
        <p:pic>
          <p:nvPicPr>
            <p:cNvPr id="170" name="Graphic 169" descr="Family with boy with solid fill">
              <a:extLst>
                <a:ext uri="{FF2B5EF4-FFF2-40B4-BE49-F238E27FC236}">
                  <a16:creationId xmlns:a16="http://schemas.microsoft.com/office/drawing/2014/main" id="{DAC10BFF-8BFE-20CC-53AB-49EDE9BE14C8}"/>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356358" y="4280062"/>
              <a:ext cx="214283" cy="344100"/>
            </a:xfrm>
            <a:prstGeom prst="rect">
              <a:avLst/>
            </a:prstGeom>
          </p:spPr>
        </p:pic>
        <p:pic>
          <p:nvPicPr>
            <p:cNvPr id="171" name="Graphic 170" descr="Man with solid fill">
              <a:extLst>
                <a:ext uri="{FF2B5EF4-FFF2-40B4-BE49-F238E27FC236}">
                  <a16:creationId xmlns:a16="http://schemas.microsoft.com/office/drawing/2014/main" id="{794E24BB-1224-1261-33B1-ADF4C203935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256693" y="5182364"/>
              <a:ext cx="214283" cy="344100"/>
            </a:xfrm>
            <a:prstGeom prst="rect">
              <a:avLst/>
            </a:prstGeom>
          </p:spPr>
        </p:pic>
        <p:pic>
          <p:nvPicPr>
            <p:cNvPr id="172" name="Graphic 171" descr="Two Men with solid fill">
              <a:extLst>
                <a:ext uri="{FF2B5EF4-FFF2-40B4-BE49-F238E27FC236}">
                  <a16:creationId xmlns:a16="http://schemas.microsoft.com/office/drawing/2014/main" id="{92FF8992-0730-7408-D7B9-64F35369027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680764" y="5785428"/>
              <a:ext cx="214283" cy="344100"/>
            </a:xfrm>
            <a:prstGeom prst="rect">
              <a:avLst/>
            </a:prstGeom>
          </p:spPr>
        </p:pic>
        <p:pic>
          <p:nvPicPr>
            <p:cNvPr id="173" name="Graphic 172" descr="Man and woman with solid fill">
              <a:extLst>
                <a:ext uri="{FF2B5EF4-FFF2-40B4-BE49-F238E27FC236}">
                  <a16:creationId xmlns:a16="http://schemas.microsoft.com/office/drawing/2014/main" id="{8EA234F7-AA24-BCD6-3210-87CB3BCBA1B5}"/>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986542" y="5404984"/>
              <a:ext cx="214283" cy="344100"/>
            </a:xfrm>
            <a:prstGeom prst="rect">
              <a:avLst/>
            </a:prstGeom>
          </p:spPr>
        </p:pic>
        <p:pic>
          <p:nvPicPr>
            <p:cNvPr id="174" name="Graphic 173" descr="Man and woman with solid fill">
              <a:extLst>
                <a:ext uri="{FF2B5EF4-FFF2-40B4-BE49-F238E27FC236}">
                  <a16:creationId xmlns:a16="http://schemas.microsoft.com/office/drawing/2014/main" id="{73B9CFB1-DEA6-0BAA-230C-3EDD6B1F9D7A}"/>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860053" y="5833364"/>
              <a:ext cx="214283" cy="344100"/>
            </a:xfrm>
            <a:prstGeom prst="rect">
              <a:avLst/>
            </a:prstGeom>
          </p:spPr>
        </p:pic>
        <p:pic>
          <p:nvPicPr>
            <p:cNvPr id="175" name="Graphic 174" descr="Man with solid fill">
              <a:extLst>
                <a:ext uri="{FF2B5EF4-FFF2-40B4-BE49-F238E27FC236}">
                  <a16:creationId xmlns:a16="http://schemas.microsoft.com/office/drawing/2014/main" id="{BE4679C2-CCE8-92B8-4EEE-01FAC371847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561180" y="3713641"/>
              <a:ext cx="214283" cy="344100"/>
            </a:xfrm>
            <a:prstGeom prst="rect">
              <a:avLst/>
            </a:prstGeom>
          </p:spPr>
        </p:pic>
        <p:pic>
          <p:nvPicPr>
            <p:cNvPr id="176" name="Graphic 175" descr="Man with solid fill">
              <a:extLst>
                <a:ext uri="{FF2B5EF4-FFF2-40B4-BE49-F238E27FC236}">
                  <a16:creationId xmlns:a16="http://schemas.microsoft.com/office/drawing/2014/main" id="{05C25557-F800-5F62-572E-6FD595DC814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963447" y="3658400"/>
              <a:ext cx="214283" cy="344100"/>
            </a:xfrm>
            <a:prstGeom prst="rect">
              <a:avLst/>
            </a:prstGeom>
          </p:spPr>
        </p:pic>
        <p:pic>
          <p:nvPicPr>
            <p:cNvPr id="177" name="Graphic 176" descr="Man with solid fill">
              <a:extLst>
                <a:ext uri="{FF2B5EF4-FFF2-40B4-BE49-F238E27FC236}">
                  <a16:creationId xmlns:a16="http://schemas.microsoft.com/office/drawing/2014/main" id="{8E850ECE-FC30-9C1E-FD02-D07258C8B3C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791882" y="3736663"/>
              <a:ext cx="214283" cy="344100"/>
            </a:xfrm>
            <a:prstGeom prst="rect">
              <a:avLst/>
            </a:prstGeom>
          </p:spPr>
        </p:pic>
        <p:pic>
          <p:nvPicPr>
            <p:cNvPr id="178" name="Graphic 177" descr="Man and woman with solid fill">
              <a:extLst>
                <a:ext uri="{FF2B5EF4-FFF2-40B4-BE49-F238E27FC236}">
                  <a16:creationId xmlns:a16="http://schemas.microsoft.com/office/drawing/2014/main" id="{CC873031-79B7-46F7-CEE4-B6D4ECC5CB02}"/>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521923" y="5683695"/>
              <a:ext cx="214283" cy="344100"/>
            </a:xfrm>
            <a:prstGeom prst="rect">
              <a:avLst/>
            </a:prstGeom>
          </p:spPr>
        </p:pic>
        <p:pic>
          <p:nvPicPr>
            <p:cNvPr id="179" name="Graphic 178" descr="Man with kid with solid fill">
              <a:extLst>
                <a:ext uri="{FF2B5EF4-FFF2-40B4-BE49-F238E27FC236}">
                  <a16:creationId xmlns:a16="http://schemas.microsoft.com/office/drawing/2014/main" id="{5FFD70C4-F73F-36C3-C0A5-CEC218D831D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800612" y="3919445"/>
              <a:ext cx="214283" cy="344100"/>
            </a:xfrm>
            <a:prstGeom prst="rect">
              <a:avLst/>
            </a:prstGeom>
          </p:spPr>
        </p:pic>
        <p:pic>
          <p:nvPicPr>
            <p:cNvPr id="180" name="Graphic 179" descr="Family with boy with solid fill">
              <a:extLst>
                <a:ext uri="{FF2B5EF4-FFF2-40B4-BE49-F238E27FC236}">
                  <a16:creationId xmlns:a16="http://schemas.microsoft.com/office/drawing/2014/main" id="{F16674B4-958E-99A3-1797-52AB6EDCB36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341362" y="4735609"/>
              <a:ext cx="214283" cy="344100"/>
            </a:xfrm>
            <a:prstGeom prst="rect">
              <a:avLst/>
            </a:prstGeom>
          </p:spPr>
        </p:pic>
        <p:pic>
          <p:nvPicPr>
            <p:cNvPr id="181" name="Graphic 180" descr="Family with two children with solid fill">
              <a:extLst>
                <a:ext uri="{FF2B5EF4-FFF2-40B4-BE49-F238E27FC236}">
                  <a16:creationId xmlns:a16="http://schemas.microsoft.com/office/drawing/2014/main" id="{7468A23F-290F-FEB4-FF33-A4436B53682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617208" y="4341714"/>
              <a:ext cx="214283" cy="344100"/>
            </a:xfrm>
            <a:prstGeom prst="rect">
              <a:avLst/>
            </a:prstGeom>
          </p:spPr>
        </p:pic>
        <p:pic>
          <p:nvPicPr>
            <p:cNvPr id="182" name="Graphic 181" descr="Man with kid with solid fill">
              <a:extLst>
                <a:ext uri="{FF2B5EF4-FFF2-40B4-BE49-F238E27FC236}">
                  <a16:creationId xmlns:a16="http://schemas.microsoft.com/office/drawing/2014/main" id="{63A7E710-95CC-5EFC-8134-232A954337C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142942" y="3956256"/>
              <a:ext cx="214283" cy="344100"/>
            </a:xfrm>
            <a:prstGeom prst="rect">
              <a:avLst/>
            </a:prstGeom>
          </p:spPr>
        </p:pic>
        <p:pic>
          <p:nvPicPr>
            <p:cNvPr id="183" name="Graphic 182" descr="Family with two children with solid fill">
              <a:extLst>
                <a:ext uri="{FF2B5EF4-FFF2-40B4-BE49-F238E27FC236}">
                  <a16:creationId xmlns:a16="http://schemas.microsoft.com/office/drawing/2014/main" id="{80556789-DC9B-8F4A-3853-003C5FEBA98E}"/>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650183" y="4531665"/>
              <a:ext cx="214283" cy="344100"/>
            </a:xfrm>
            <a:prstGeom prst="rect">
              <a:avLst/>
            </a:prstGeom>
          </p:spPr>
        </p:pic>
        <p:pic>
          <p:nvPicPr>
            <p:cNvPr id="184" name="Graphic 183" descr="Man and woman with solid fill">
              <a:extLst>
                <a:ext uri="{FF2B5EF4-FFF2-40B4-BE49-F238E27FC236}">
                  <a16:creationId xmlns:a16="http://schemas.microsoft.com/office/drawing/2014/main" id="{AD2845CE-6989-4D4F-4E9C-CCD3E5C3F1C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962845" y="5046774"/>
              <a:ext cx="214283" cy="344100"/>
            </a:xfrm>
            <a:prstGeom prst="rect">
              <a:avLst/>
            </a:prstGeom>
          </p:spPr>
        </p:pic>
        <p:pic>
          <p:nvPicPr>
            <p:cNvPr id="185" name="Graphic 184" descr="Family with boy with solid fill">
              <a:extLst>
                <a:ext uri="{FF2B5EF4-FFF2-40B4-BE49-F238E27FC236}">
                  <a16:creationId xmlns:a16="http://schemas.microsoft.com/office/drawing/2014/main" id="{CAE46468-6E17-0083-0DD9-EF5D259420C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350525" y="4559761"/>
              <a:ext cx="214283" cy="344100"/>
            </a:xfrm>
            <a:prstGeom prst="rect">
              <a:avLst/>
            </a:prstGeom>
          </p:spPr>
        </p:pic>
        <p:pic>
          <p:nvPicPr>
            <p:cNvPr id="186" name="Graphic 185" descr="Man with solid fill">
              <a:extLst>
                <a:ext uri="{FF2B5EF4-FFF2-40B4-BE49-F238E27FC236}">
                  <a16:creationId xmlns:a16="http://schemas.microsoft.com/office/drawing/2014/main" id="{F3B4C478-DE33-32B5-A756-55924A230455}"/>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740033" y="4250017"/>
              <a:ext cx="214283" cy="344100"/>
            </a:xfrm>
            <a:prstGeom prst="rect">
              <a:avLst/>
            </a:prstGeom>
          </p:spPr>
        </p:pic>
        <p:pic>
          <p:nvPicPr>
            <p:cNvPr id="187" name="Graphic 186" descr="Two Men with solid fill">
              <a:extLst>
                <a:ext uri="{FF2B5EF4-FFF2-40B4-BE49-F238E27FC236}">
                  <a16:creationId xmlns:a16="http://schemas.microsoft.com/office/drawing/2014/main" id="{2A78FDBB-E05A-7DE7-088B-0CF33B82161D}"/>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749164" y="5728809"/>
              <a:ext cx="214283" cy="344100"/>
            </a:xfrm>
            <a:prstGeom prst="rect">
              <a:avLst/>
            </a:prstGeom>
          </p:spPr>
        </p:pic>
        <p:pic>
          <p:nvPicPr>
            <p:cNvPr id="188" name="Graphic 187" descr="Man and woman with solid fill">
              <a:extLst>
                <a:ext uri="{FF2B5EF4-FFF2-40B4-BE49-F238E27FC236}">
                  <a16:creationId xmlns:a16="http://schemas.microsoft.com/office/drawing/2014/main" id="{41DC1FF5-7443-C02A-F0E1-3751898DBCB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315702" y="5586500"/>
              <a:ext cx="214283" cy="344100"/>
            </a:xfrm>
            <a:prstGeom prst="rect">
              <a:avLst/>
            </a:prstGeom>
          </p:spPr>
        </p:pic>
        <p:pic>
          <p:nvPicPr>
            <p:cNvPr id="189" name="Graphic 188" descr="Man and woman with solid fill">
              <a:extLst>
                <a:ext uri="{FF2B5EF4-FFF2-40B4-BE49-F238E27FC236}">
                  <a16:creationId xmlns:a16="http://schemas.microsoft.com/office/drawing/2014/main" id="{4C1327CF-7FB1-2E37-D6EF-2372DBA826C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250084" y="4488657"/>
              <a:ext cx="214283" cy="344100"/>
            </a:xfrm>
            <a:prstGeom prst="rect">
              <a:avLst/>
            </a:prstGeom>
          </p:spPr>
        </p:pic>
        <p:pic>
          <p:nvPicPr>
            <p:cNvPr id="190" name="Graphic 189" descr="Man with solid fill">
              <a:extLst>
                <a:ext uri="{FF2B5EF4-FFF2-40B4-BE49-F238E27FC236}">
                  <a16:creationId xmlns:a16="http://schemas.microsoft.com/office/drawing/2014/main" id="{479F1EDD-0B2D-F112-4D64-844A721B69B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555347" y="3993340"/>
              <a:ext cx="214283" cy="344100"/>
            </a:xfrm>
            <a:prstGeom prst="rect">
              <a:avLst/>
            </a:prstGeom>
          </p:spPr>
        </p:pic>
        <p:pic>
          <p:nvPicPr>
            <p:cNvPr id="191" name="Graphic 190" descr="Man with solid fill">
              <a:extLst>
                <a:ext uri="{FF2B5EF4-FFF2-40B4-BE49-F238E27FC236}">
                  <a16:creationId xmlns:a16="http://schemas.microsoft.com/office/drawing/2014/main" id="{224593B5-C3B1-745A-EEAD-0F6F1665F1F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957614" y="3938099"/>
              <a:ext cx="214283" cy="344100"/>
            </a:xfrm>
            <a:prstGeom prst="rect">
              <a:avLst/>
            </a:prstGeom>
          </p:spPr>
        </p:pic>
      </p:grpSp>
    </p:spTree>
    <p:extLst>
      <p:ext uri="{BB962C8B-B14F-4D97-AF65-F5344CB8AC3E}">
        <p14:creationId xmlns:p14="http://schemas.microsoft.com/office/powerpoint/2010/main" val="42750205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E1504-9E7F-4C30-B56E-724B3CB6FA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8E160-92BE-9E77-0C20-00356B4B1CAF}"/>
              </a:ext>
            </a:extLst>
          </p:cNvPr>
          <p:cNvSpPr>
            <a:spLocks noGrp="1"/>
          </p:cNvSpPr>
          <p:nvPr>
            <p:ph type="title"/>
          </p:nvPr>
        </p:nvSpPr>
        <p:spPr/>
        <p:txBody>
          <a:bodyPr/>
          <a:lstStyle/>
          <a:p>
            <a:r>
              <a:rPr lang="en-US" dirty="0"/>
              <a:t>Sampling Techniques</a:t>
            </a:r>
          </a:p>
        </p:txBody>
      </p:sp>
      <p:sp>
        <p:nvSpPr>
          <p:cNvPr id="4" name="Content Placeholder 2">
            <a:extLst>
              <a:ext uri="{FF2B5EF4-FFF2-40B4-BE49-F238E27FC236}">
                <a16:creationId xmlns:a16="http://schemas.microsoft.com/office/drawing/2014/main" id="{A02B1533-4ED5-6CC8-9035-684D3ACD82C1}"/>
              </a:ext>
            </a:extLst>
          </p:cNvPr>
          <p:cNvSpPr txBox="1">
            <a:spLocks/>
          </p:cNvSpPr>
          <p:nvPr/>
        </p:nvSpPr>
        <p:spPr>
          <a:xfrm>
            <a:off x="479999" y="1270274"/>
            <a:ext cx="11102399" cy="449158"/>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1800" b="1" dirty="0">
                <a:solidFill>
                  <a:schemeClr val="bg2">
                    <a:lumMod val="85000"/>
                  </a:schemeClr>
                </a:solidFill>
              </a:rPr>
              <a:t>Simple Random Sampling</a:t>
            </a:r>
            <a:r>
              <a:rPr lang="en-US" sz="1800" dirty="0">
                <a:solidFill>
                  <a:schemeClr val="bg2">
                    <a:lumMod val="85000"/>
                  </a:schemeClr>
                </a:solidFill>
              </a:rPr>
              <a:t>: all samples are chosen randomly to be selected for each group</a:t>
            </a:r>
          </a:p>
          <a:p>
            <a:r>
              <a:rPr lang="en-US" sz="1800" b="1" dirty="0"/>
              <a:t>Stratified Sampling</a:t>
            </a:r>
            <a:r>
              <a:rPr lang="en-US" sz="1800" dirty="0"/>
              <a:t>: divide study population into categories and sample from each group separately (e.g. Adults/Kids) to ensure equal representation of each category in control and treatment groups</a:t>
            </a:r>
          </a:p>
          <a:p>
            <a:pPr marL="0" indent="0">
              <a:buNone/>
            </a:pPr>
            <a:endParaRPr lang="en-US" sz="1800" dirty="0"/>
          </a:p>
        </p:txBody>
      </p:sp>
      <p:grpSp>
        <p:nvGrpSpPr>
          <p:cNvPr id="126" name="Group 125">
            <a:extLst>
              <a:ext uri="{FF2B5EF4-FFF2-40B4-BE49-F238E27FC236}">
                <a16:creationId xmlns:a16="http://schemas.microsoft.com/office/drawing/2014/main" id="{9BA8AA07-329A-A33A-C3B0-86A3927D9785}"/>
              </a:ext>
            </a:extLst>
          </p:cNvPr>
          <p:cNvGrpSpPr/>
          <p:nvPr/>
        </p:nvGrpSpPr>
        <p:grpSpPr>
          <a:xfrm>
            <a:off x="6973505" y="3141786"/>
            <a:ext cx="4298940" cy="2617990"/>
            <a:chOff x="3207082" y="3391770"/>
            <a:chExt cx="4298940" cy="2617990"/>
          </a:xfrm>
        </p:grpSpPr>
        <p:pic>
          <p:nvPicPr>
            <p:cNvPr id="127" name="Graphic 126" descr="Man with solid fill">
              <a:extLst>
                <a:ext uri="{FF2B5EF4-FFF2-40B4-BE49-F238E27FC236}">
                  <a16:creationId xmlns:a16="http://schemas.microsoft.com/office/drawing/2014/main" id="{93A343CB-0EDE-9877-BFC1-2CE844EF1D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11143" y="5665660"/>
              <a:ext cx="214283" cy="344100"/>
            </a:xfrm>
            <a:prstGeom prst="rect">
              <a:avLst/>
            </a:prstGeom>
          </p:spPr>
        </p:pic>
        <p:pic>
          <p:nvPicPr>
            <p:cNvPr id="128" name="Graphic 127" descr="Man and woman with solid fill">
              <a:extLst>
                <a:ext uri="{FF2B5EF4-FFF2-40B4-BE49-F238E27FC236}">
                  <a16:creationId xmlns:a16="http://schemas.microsoft.com/office/drawing/2014/main" id="{498AE2FF-3D9A-C034-5DB3-1D0037DF75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47582" y="5216503"/>
              <a:ext cx="214283" cy="344100"/>
            </a:xfrm>
            <a:prstGeom prst="rect">
              <a:avLst/>
            </a:prstGeom>
          </p:spPr>
        </p:pic>
        <p:pic>
          <p:nvPicPr>
            <p:cNvPr id="129" name="Graphic 128" descr="Man with kid with solid fill">
              <a:extLst>
                <a:ext uri="{FF2B5EF4-FFF2-40B4-BE49-F238E27FC236}">
                  <a16:creationId xmlns:a16="http://schemas.microsoft.com/office/drawing/2014/main" id="{D85185E4-0605-C2F0-27A4-95AD128E84D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66364" y="3891700"/>
              <a:ext cx="214283" cy="344100"/>
            </a:xfrm>
            <a:prstGeom prst="rect">
              <a:avLst/>
            </a:prstGeom>
          </p:spPr>
        </p:pic>
        <p:pic>
          <p:nvPicPr>
            <p:cNvPr id="130" name="Graphic 129" descr="Family with boy with solid fill">
              <a:extLst>
                <a:ext uri="{FF2B5EF4-FFF2-40B4-BE49-F238E27FC236}">
                  <a16:creationId xmlns:a16="http://schemas.microsoft.com/office/drawing/2014/main" id="{F5980106-EF81-1E3A-FA75-CC9AE9715E48}"/>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87841" y="4079506"/>
              <a:ext cx="214283" cy="344100"/>
            </a:xfrm>
            <a:prstGeom prst="rect">
              <a:avLst/>
            </a:prstGeom>
          </p:spPr>
        </p:pic>
        <p:pic>
          <p:nvPicPr>
            <p:cNvPr id="131" name="Graphic 130" descr="Family with two children with solid fill">
              <a:extLst>
                <a:ext uri="{FF2B5EF4-FFF2-40B4-BE49-F238E27FC236}">
                  <a16:creationId xmlns:a16="http://schemas.microsoft.com/office/drawing/2014/main" id="{75CB29C8-2ADC-A3BB-FFD5-87F9C206FAD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74980" y="4058410"/>
              <a:ext cx="214283" cy="344100"/>
            </a:xfrm>
            <a:prstGeom prst="rect">
              <a:avLst/>
            </a:prstGeom>
          </p:spPr>
        </p:pic>
        <p:pic>
          <p:nvPicPr>
            <p:cNvPr id="132" name="Graphic 131" descr="Man with kid with solid fill">
              <a:extLst>
                <a:ext uri="{FF2B5EF4-FFF2-40B4-BE49-F238E27FC236}">
                  <a16:creationId xmlns:a16="http://schemas.microsoft.com/office/drawing/2014/main" id="{B654B4E3-2FBD-49EF-C86F-B0B464A950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69269" y="4253318"/>
              <a:ext cx="214283" cy="344100"/>
            </a:xfrm>
            <a:prstGeom prst="rect">
              <a:avLst/>
            </a:prstGeom>
          </p:spPr>
        </p:pic>
        <p:pic>
          <p:nvPicPr>
            <p:cNvPr id="133" name="Graphic 132" descr="Family with two children with solid fill">
              <a:extLst>
                <a:ext uri="{FF2B5EF4-FFF2-40B4-BE49-F238E27FC236}">
                  <a16:creationId xmlns:a16="http://schemas.microsoft.com/office/drawing/2014/main" id="{85FDFCB3-E0B8-0649-05C3-7D9393324CC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35749" y="3678984"/>
              <a:ext cx="214283" cy="344100"/>
            </a:xfrm>
            <a:prstGeom prst="rect">
              <a:avLst/>
            </a:prstGeom>
          </p:spPr>
        </p:pic>
        <p:pic>
          <p:nvPicPr>
            <p:cNvPr id="134" name="Graphic 133" descr="Man and woman with solid fill">
              <a:extLst>
                <a:ext uri="{FF2B5EF4-FFF2-40B4-BE49-F238E27FC236}">
                  <a16:creationId xmlns:a16="http://schemas.microsoft.com/office/drawing/2014/main" id="{8A751EFF-5A2C-3950-C2D7-F68312B6A5E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06954" y="5216503"/>
              <a:ext cx="214283" cy="344100"/>
            </a:xfrm>
            <a:prstGeom prst="rect">
              <a:avLst/>
            </a:prstGeom>
          </p:spPr>
        </p:pic>
        <p:pic>
          <p:nvPicPr>
            <p:cNvPr id="135" name="Graphic 134" descr="Family with boy with solid fill">
              <a:extLst>
                <a:ext uri="{FF2B5EF4-FFF2-40B4-BE49-F238E27FC236}">
                  <a16:creationId xmlns:a16="http://schemas.microsoft.com/office/drawing/2014/main" id="{23F9D61D-96F6-9CA9-0EA6-AD5626658F2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51971" y="3847697"/>
              <a:ext cx="214283" cy="344100"/>
            </a:xfrm>
            <a:prstGeom prst="rect">
              <a:avLst/>
            </a:prstGeom>
          </p:spPr>
        </p:pic>
        <p:pic>
          <p:nvPicPr>
            <p:cNvPr id="136" name="Graphic 135" descr="Man with solid fill">
              <a:extLst>
                <a:ext uri="{FF2B5EF4-FFF2-40B4-BE49-F238E27FC236}">
                  <a16:creationId xmlns:a16="http://schemas.microsoft.com/office/drawing/2014/main" id="{97B12E3D-9F83-7E85-1714-C665E5624E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38263" y="5227132"/>
              <a:ext cx="214283" cy="344100"/>
            </a:xfrm>
            <a:prstGeom prst="rect">
              <a:avLst/>
            </a:prstGeom>
          </p:spPr>
        </p:pic>
        <p:pic>
          <p:nvPicPr>
            <p:cNvPr id="137" name="Graphic 136" descr="Two Men with solid fill">
              <a:extLst>
                <a:ext uri="{FF2B5EF4-FFF2-40B4-BE49-F238E27FC236}">
                  <a16:creationId xmlns:a16="http://schemas.microsoft.com/office/drawing/2014/main" id="{C3E57D33-AEBC-7F0E-35FE-4609E7B959B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112819" y="5665660"/>
              <a:ext cx="214283" cy="344100"/>
            </a:xfrm>
            <a:prstGeom prst="rect">
              <a:avLst/>
            </a:prstGeom>
          </p:spPr>
        </p:pic>
        <p:pic>
          <p:nvPicPr>
            <p:cNvPr id="138" name="Graphic 137" descr="Man and woman with solid fill">
              <a:extLst>
                <a:ext uri="{FF2B5EF4-FFF2-40B4-BE49-F238E27FC236}">
                  <a16:creationId xmlns:a16="http://schemas.microsoft.com/office/drawing/2014/main" id="{7E74A217-F991-A649-0FD1-36A4D5D6DF6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1518" y="5216503"/>
              <a:ext cx="214283" cy="344100"/>
            </a:xfrm>
            <a:prstGeom prst="rect">
              <a:avLst/>
            </a:prstGeom>
          </p:spPr>
        </p:pic>
        <p:pic>
          <p:nvPicPr>
            <p:cNvPr id="139" name="Graphic 138" descr="Man and woman with solid fill">
              <a:extLst>
                <a:ext uri="{FF2B5EF4-FFF2-40B4-BE49-F238E27FC236}">
                  <a16:creationId xmlns:a16="http://schemas.microsoft.com/office/drawing/2014/main" id="{ED55D8A5-5E68-8EE9-A662-A714B489369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27283" y="5665660"/>
              <a:ext cx="214283" cy="344100"/>
            </a:xfrm>
            <a:prstGeom prst="rect">
              <a:avLst/>
            </a:prstGeom>
          </p:spPr>
        </p:pic>
        <p:pic>
          <p:nvPicPr>
            <p:cNvPr id="140" name="Graphic 139" descr="Man with solid fill">
              <a:extLst>
                <a:ext uri="{FF2B5EF4-FFF2-40B4-BE49-F238E27FC236}">
                  <a16:creationId xmlns:a16="http://schemas.microsoft.com/office/drawing/2014/main" id="{93218867-B2E9-01B3-9F28-FACB9F09D89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7082" y="5216503"/>
              <a:ext cx="214283" cy="344100"/>
            </a:xfrm>
            <a:prstGeom prst="rect">
              <a:avLst/>
            </a:prstGeom>
          </p:spPr>
        </p:pic>
        <p:pic>
          <p:nvPicPr>
            <p:cNvPr id="141" name="Graphic 140" descr="Man with solid fill">
              <a:extLst>
                <a:ext uri="{FF2B5EF4-FFF2-40B4-BE49-F238E27FC236}">
                  <a16:creationId xmlns:a16="http://schemas.microsoft.com/office/drawing/2014/main" id="{C6299B0F-3938-47EB-485F-F46A881EDD3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71342" y="5216503"/>
              <a:ext cx="214283" cy="344100"/>
            </a:xfrm>
            <a:prstGeom prst="rect">
              <a:avLst/>
            </a:prstGeom>
          </p:spPr>
        </p:pic>
        <p:pic>
          <p:nvPicPr>
            <p:cNvPr id="142" name="Graphic 141" descr="Man with solid fill">
              <a:extLst>
                <a:ext uri="{FF2B5EF4-FFF2-40B4-BE49-F238E27FC236}">
                  <a16:creationId xmlns:a16="http://schemas.microsoft.com/office/drawing/2014/main" id="{F4E4F963-FE54-417E-167D-ABB1EAA2F38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66758" y="5665660"/>
              <a:ext cx="214283" cy="344100"/>
            </a:xfrm>
            <a:prstGeom prst="rect">
              <a:avLst/>
            </a:prstGeom>
          </p:spPr>
        </p:pic>
        <p:pic>
          <p:nvPicPr>
            <p:cNvPr id="143" name="Graphic 142" descr="Man and woman with solid fill">
              <a:extLst>
                <a:ext uri="{FF2B5EF4-FFF2-40B4-BE49-F238E27FC236}">
                  <a16:creationId xmlns:a16="http://schemas.microsoft.com/office/drawing/2014/main" id="{3F82752A-2CE5-AE83-E079-FD8FBCA8069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13042" y="5665660"/>
              <a:ext cx="214283" cy="344100"/>
            </a:xfrm>
            <a:prstGeom prst="rect">
              <a:avLst/>
            </a:prstGeom>
          </p:spPr>
        </p:pic>
        <p:pic>
          <p:nvPicPr>
            <p:cNvPr id="144" name="Graphic 143" descr="Man with kid with solid fill">
              <a:extLst>
                <a:ext uri="{FF2B5EF4-FFF2-40B4-BE49-F238E27FC236}">
                  <a16:creationId xmlns:a16="http://schemas.microsoft.com/office/drawing/2014/main" id="{FBBC2A94-A540-D8F5-A73F-692B7FCAC0E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12702" y="3903933"/>
              <a:ext cx="214283" cy="344100"/>
            </a:xfrm>
            <a:prstGeom prst="rect">
              <a:avLst/>
            </a:prstGeom>
          </p:spPr>
        </p:pic>
        <p:pic>
          <p:nvPicPr>
            <p:cNvPr id="145" name="Graphic 144" descr="Family with boy with solid fill">
              <a:extLst>
                <a:ext uri="{FF2B5EF4-FFF2-40B4-BE49-F238E27FC236}">
                  <a16:creationId xmlns:a16="http://schemas.microsoft.com/office/drawing/2014/main" id="{9B853CE2-7D83-0ED6-5C09-0C3AFD39BC9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433159" y="3977825"/>
              <a:ext cx="214283" cy="344100"/>
            </a:xfrm>
            <a:prstGeom prst="rect">
              <a:avLst/>
            </a:prstGeom>
          </p:spPr>
        </p:pic>
        <p:pic>
          <p:nvPicPr>
            <p:cNvPr id="146" name="Graphic 145" descr="Family with two children with solid fill">
              <a:extLst>
                <a:ext uri="{FF2B5EF4-FFF2-40B4-BE49-F238E27FC236}">
                  <a16:creationId xmlns:a16="http://schemas.microsoft.com/office/drawing/2014/main" id="{EBC9F9A6-D297-2E66-2145-F446D6F3A2D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62235" y="3454035"/>
              <a:ext cx="214283" cy="344100"/>
            </a:xfrm>
            <a:prstGeom prst="rect">
              <a:avLst/>
            </a:prstGeom>
          </p:spPr>
        </p:pic>
        <p:pic>
          <p:nvPicPr>
            <p:cNvPr id="147" name="Graphic 146" descr="Man with kid with solid fill">
              <a:extLst>
                <a:ext uri="{FF2B5EF4-FFF2-40B4-BE49-F238E27FC236}">
                  <a16:creationId xmlns:a16="http://schemas.microsoft.com/office/drawing/2014/main" id="{0B13F645-0D93-B8A8-22BF-853F0D53A6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25173" y="4215533"/>
              <a:ext cx="214283" cy="344100"/>
            </a:xfrm>
            <a:prstGeom prst="rect">
              <a:avLst/>
            </a:prstGeom>
          </p:spPr>
        </p:pic>
        <p:pic>
          <p:nvPicPr>
            <p:cNvPr id="148" name="Graphic 147" descr="Family with two children with solid fill">
              <a:extLst>
                <a:ext uri="{FF2B5EF4-FFF2-40B4-BE49-F238E27FC236}">
                  <a16:creationId xmlns:a16="http://schemas.microsoft.com/office/drawing/2014/main" id="{23297DCB-686F-59F9-3167-73822041DF9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91219" y="3778967"/>
              <a:ext cx="214283" cy="344100"/>
            </a:xfrm>
            <a:prstGeom prst="rect">
              <a:avLst/>
            </a:prstGeom>
          </p:spPr>
        </p:pic>
        <p:pic>
          <p:nvPicPr>
            <p:cNvPr id="149" name="Graphic 148" descr="Man and woman with solid fill">
              <a:extLst>
                <a:ext uri="{FF2B5EF4-FFF2-40B4-BE49-F238E27FC236}">
                  <a16:creationId xmlns:a16="http://schemas.microsoft.com/office/drawing/2014/main" id="{7E59DAE3-0802-1D99-3414-517CE0D515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33245" y="5665660"/>
              <a:ext cx="214283" cy="344100"/>
            </a:xfrm>
            <a:prstGeom prst="rect">
              <a:avLst/>
            </a:prstGeom>
          </p:spPr>
        </p:pic>
        <p:pic>
          <p:nvPicPr>
            <p:cNvPr id="150" name="Graphic 149" descr="Family with boy with solid fill">
              <a:extLst>
                <a:ext uri="{FF2B5EF4-FFF2-40B4-BE49-F238E27FC236}">
                  <a16:creationId xmlns:a16="http://schemas.microsoft.com/office/drawing/2014/main" id="{B01723F2-20F6-BF6F-58CA-93B4801844C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13198" y="3755023"/>
              <a:ext cx="214283" cy="344100"/>
            </a:xfrm>
            <a:prstGeom prst="rect">
              <a:avLst/>
            </a:prstGeom>
          </p:spPr>
        </p:pic>
        <p:pic>
          <p:nvPicPr>
            <p:cNvPr id="151" name="Graphic 150" descr="Man with solid fill">
              <a:extLst>
                <a:ext uri="{FF2B5EF4-FFF2-40B4-BE49-F238E27FC236}">
                  <a16:creationId xmlns:a16="http://schemas.microsoft.com/office/drawing/2014/main" id="{2824B3B5-D065-85EE-D351-40B8827C680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43309" y="5216503"/>
              <a:ext cx="214283" cy="344100"/>
            </a:xfrm>
            <a:prstGeom prst="rect">
              <a:avLst/>
            </a:prstGeom>
          </p:spPr>
        </p:pic>
        <p:pic>
          <p:nvPicPr>
            <p:cNvPr id="152" name="Graphic 151" descr="Two Men with solid fill">
              <a:extLst>
                <a:ext uri="{FF2B5EF4-FFF2-40B4-BE49-F238E27FC236}">
                  <a16:creationId xmlns:a16="http://schemas.microsoft.com/office/drawing/2014/main" id="{D4B69762-905C-E10D-59EE-A0F067D3D11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63933" y="5216503"/>
              <a:ext cx="214283" cy="344100"/>
            </a:xfrm>
            <a:prstGeom prst="rect">
              <a:avLst/>
            </a:prstGeom>
          </p:spPr>
        </p:pic>
        <p:pic>
          <p:nvPicPr>
            <p:cNvPr id="153" name="Graphic 152" descr="Man and woman with solid fill">
              <a:extLst>
                <a:ext uri="{FF2B5EF4-FFF2-40B4-BE49-F238E27FC236}">
                  <a16:creationId xmlns:a16="http://schemas.microsoft.com/office/drawing/2014/main" id="{D9F9324A-4A03-3CD8-8B08-74FFDFBECD4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2423" y="5204689"/>
              <a:ext cx="214283" cy="344100"/>
            </a:xfrm>
            <a:prstGeom prst="rect">
              <a:avLst/>
            </a:prstGeom>
          </p:spPr>
        </p:pic>
        <p:pic>
          <p:nvPicPr>
            <p:cNvPr id="154" name="Graphic 153" descr="Man and woman with solid fill">
              <a:extLst>
                <a:ext uri="{FF2B5EF4-FFF2-40B4-BE49-F238E27FC236}">
                  <a16:creationId xmlns:a16="http://schemas.microsoft.com/office/drawing/2014/main" id="{3E840E7B-5CA7-FCF2-E548-F7D914773D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60382" y="5216503"/>
              <a:ext cx="214283" cy="344100"/>
            </a:xfrm>
            <a:prstGeom prst="rect">
              <a:avLst/>
            </a:prstGeom>
          </p:spPr>
        </p:pic>
        <p:pic>
          <p:nvPicPr>
            <p:cNvPr id="155" name="Graphic 154" descr="Man with solid fill">
              <a:extLst>
                <a:ext uri="{FF2B5EF4-FFF2-40B4-BE49-F238E27FC236}">
                  <a16:creationId xmlns:a16="http://schemas.microsoft.com/office/drawing/2014/main" id="{BC532D91-C23A-633B-BC6C-60F635DE815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51190" y="5665660"/>
              <a:ext cx="214283" cy="344100"/>
            </a:xfrm>
            <a:prstGeom prst="rect">
              <a:avLst/>
            </a:prstGeom>
          </p:spPr>
        </p:pic>
        <p:pic>
          <p:nvPicPr>
            <p:cNvPr id="156" name="Graphic 155" descr="Man with solid fill">
              <a:extLst>
                <a:ext uri="{FF2B5EF4-FFF2-40B4-BE49-F238E27FC236}">
                  <a16:creationId xmlns:a16="http://schemas.microsoft.com/office/drawing/2014/main" id="{9D7888ED-1BAA-FA76-B8C5-3288F5A7504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24742" y="5216503"/>
              <a:ext cx="214283" cy="344100"/>
            </a:xfrm>
            <a:prstGeom prst="rect">
              <a:avLst/>
            </a:prstGeom>
          </p:spPr>
        </p:pic>
        <p:pic>
          <p:nvPicPr>
            <p:cNvPr id="157" name="Graphic 156" descr="Man with solid fill">
              <a:extLst>
                <a:ext uri="{FF2B5EF4-FFF2-40B4-BE49-F238E27FC236}">
                  <a16:creationId xmlns:a16="http://schemas.microsoft.com/office/drawing/2014/main" id="{2BE4F0CD-A02E-0DFE-DFAC-607CFB88FDD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50123" y="5216503"/>
              <a:ext cx="214283" cy="344100"/>
            </a:xfrm>
            <a:prstGeom prst="rect">
              <a:avLst/>
            </a:prstGeom>
          </p:spPr>
        </p:pic>
        <p:pic>
          <p:nvPicPr>
            <p:cNvPr id="158" name="Graphic 157" descr="Man and woman with solid fill">
              <a:extLst>
                <a:ext uri="{FF2B5EF4-FFF2-40B4-BE49-F238E27FC236}">
                  <a16:creationId xmlns:a16="http://schemas.microsoft.com/office/drawing/2014/main" id="{A553B293-C9EA-C751-137B-1341E16A7A72}"/>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12006" y="5665660"/>
              <a:ext cx="214283" cy="344100"/>
            </a:xfrm>
            <a:prstGeom prst="rect">
              <a:avLst/>
            </a:prstGeom>
          </p:spPr>
        </p:pic>
        <p:pic>
          <p:nvPicPr>
            <p:cNvPr id="159" name="Graphic 158" descr="Man with kid with solid fill">
              <a:extLst>
                <a:ext uri="{FF2B5EF4-FFF2-40B4-BE49-F238E27FC236}">
                  <a16:creationId xmlns:a16="http://schemas.microsoft.com/office/drawing/2014/main" id="{475D41D8-BB55-496F-3130-89092E55125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24943" y="4001426"/>
              <a:ext cx="214283" cy="344100"/>
            </a:xfrm>
            <a:prstGeom prst="rect">
              <a:avLst/>
            </a:prstGeom>
          </p:spPr>
        </p:pic>
        <p:pic>
          <p:nvPicPr>
            <p:cNvPr id="160" name="Graphic 159" descr="Family with boy with solid fill">
              <a:extLst>
                <a:ext uri="{FF2B5EF4-FFF2-40B4-BE49-F238E27FC236}">
                  <a16:creationId xmlns:a16="http://schemas.microsoft.com/office/drawing/2014/main" id="{409A81AD-5B46-5B3A-EE86-717594883AE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27312" y="3454035"/>
              <a:ext cx="214283" cy="344100"/>
            </a:xfrm>
            <a:prstGeom prst="rect">
              <a:avLst/>
            </a:prstGeom>
          </p:spPr>
        </p:pic>
        <p:pic>
          <p:nvPicPr>
            <p:cNvPr id="161" name="Graphic 160" descr="Family with two children with solid fill">
              <a:extLst>
                <a:ext uri="{FF2B5EF4-FFF2-40B4-BE49-F238E27FC236}">
                  <a16:creationId xmlns:a16="http://schemas.microsoft.com/office/drawing/2014/main" id="{0AC34B10-B90F-04E3-EA98-A707D6BBB22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378117" y="3756316"/>
              <a:ext cx="214283" cy="344100"/>
            </a:xfrm>
            <a:prstGeom prst="rect">
              <a:avLst/>
            </a:prstGeom>
          </p:spPr>
        </p:pic>
        <p:pic>
          <p:nvPicPr>
            <p:cNvPr id="162" name="Graphic 161" descr="Man with kid with solid fill">
              <a:extLst>
                <a:ext uri="{FF2B5EF4-FFF2-40B4-BE49-F238E27FC236}">
                  <a16:creationId xmlns:a16="http://schemas.microsoft.com/office/drawing/2014/main" id="{305A5E12-C150-0152-4EF9-321E100C5BA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18740" y="4026607"/>
              <a:ext cx="214283" cy="344100"/>
            </a:xfrm>
            <a:prstGeom prst="rect">
              <a:avLst/>
            </a:prstGeom>
          </p:spPr>
        </p:pic>
        <p:pic>
          <p:nvPicPr>
            <p:cNvPr id="163" name="Graphic 162" descr="Family with two children with solid fill">
              <a:extLst>
                <a:ext uri="{FF2B5EF4-FFF2-40B4-BE49-F238E27FC236}">
                  <a16:creationId xmlns:a16="http://schemas.microsoft.com/office/drawing/2014/main" id="{1F404477-571E-7EAB-3F45-25C00E8E5D2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49410" y="4054843"/>
              <a:ext cx="214283" cy="344100"/>
            </a:xfrm>
            <a:prstGeom prst="rect">
              <a:avLst/>
            </a:prstGeom>
          </p:spPr>
        </p:pic>
        <p:pic>
          <p:nvPicPr>
            <p:cNvPr id="164" name="Graphic 163" descr="Man and woman with solid fill">
              <a:extLst>
                <a:ext uri="{FF2B5EF4-FFF2-40B4-BE49-F238E27FC236}">
                  <a16:creationId xmlns:a16="http://schemas.microsoft.com/office/drawing/2014/main" id="{5F116415-38EE-9807-41A6-651C01F1996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91649" y="5665660"/>
              <a:ext cx="214283" cy="344100"/>
            </a:xfrm>
            <a:prstGeom prst="rect">
              <a:avLst/>
            </a:prstGeom>
          </p:spPr>
        </p:pic>
        <p:pic>
          <p:nvPicPr>
            <p:cNvPr id="165" name="Graphic 164" descr="Family with boy with solid fill">
              <a:extLst>
                <a:ext uri="{FF2B5EF4-FFF2-40B4-BE49-F238E27FC236}">
                  <a16:creationId xmlns:a16="http://schemas.microsoft.com/office/drawing/2014/main" id="{603E8107-8317-CA7D-E079-9CABAD65B87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714074" y="3751902"/>
              <a:ext cx="214283" cy="344100"/>
            </a:xfrm>
            <a:prstGeom prst="rect">
              <a:avLst/>
            </a:prstGeom>
          </p:spPr>
        </p:pic>
        <p:pic>
          <p:nvPicPr>
            <p:cNvPr id="166" name="Graphic 165" descr="Man with solid fill">
              <a:extLst>
                <a:ext uri="{FF2B5EF4-FFF2-40B4-BE49-F238E27FC236}">
                  <a16:creationId xmlns:a16="http://schemas.microsoft.com/office/drawing/2014/main" id="{1D234C33-B26E-8F3E-409E-A011D83D9E3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240836" y="5665660"/>
              <a:ext cx="214283" cy="344100"/>
            </a:xfrm>
            <a:prstGeom prst="rect">
              <a:avLst/>
            </a:prstGeom>
          </p:spPr>
        </p:pic>
        <p:pic>
          <p:nvPicPr>
            <p:cNvPr id="167" name="Graphic 166" descr="Two Men with solid fill">
              <a:extLst>
                <a:ext uri="{FF2B5EF4-FFF2-40B4-BE49-F238E27FC236}">
                  <a16:creationId xmlns:a16="http://schemas.microsoft.com/office/drawing/2014/main" id="{867F9DA7-B2B3-35BD-DC16-04BBD4A219E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463788" y="5665660"/>
              <a:ext cx="214283" cy="344100"/>
            </a:xfrm>
            <a:prstGeom prst="rect">
              <a:avLst/>
            </a:prstGeom>
          </p:spPr>
        </p:pic>
        <p:pic>
          <p:nvPicPr>
            <p:cNvPr id="168" name="Graphic 167" descr="Man and woman with solid fill">
              <a:extLst>
                <a:ext uri="{FF2B5EF4-FFF2-40B4-BE49-F238E27FC236}">
                  <a16:creationId xmlns:a16="http://schemas.microsoft.com/office/drawing/2014/main" id="{0697904A-E0D5-1C55-F7CD-365D54FA360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17539" y="5216503"/>
              <a:ext cx="214283" cy="344100"/>
            </a:xfrm>
            <a:prstGeom prst="rect">
              <a:avLst/>
            </a:prstGeom>
          </p:spPr>
        </p:pic>
        <p:pic>
          <p:nvPicPr>
            <p:cNvPr id="169" name="Graphic 168" descr="Man and woman with solid fill">
              <a:extLst>
                <a:ext uri="{FF2B5EF4-FFF2-40B4-BE49-F238E27FC236}">
                  <a16:creationId xmlns:a16="http://schemas.microsoft.com/office/drawing/2014/main" id="{92599621-37DD-7B70-34F3-68243A1E99C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36067" y="5665660"/>
              <a:ext cx="214283" cy="344100"/>
            </a:xfrm>
            <a:prstGeom prst="rect">
              <a:avLst/>
            </a:prstGeom>
          </p:spPr>
        </p:pic>
        <p:pic>
          <p:nvPicPr>
            <p:cNvPr id="170" name="Graphic 169" descr="Man with solid fill">
              <a:extLst>
                <a:ext uri="{FF2B5EF4-FFF2-40B4-BE49-F238E27FC236}">
                  <a16:creationId xmlns:a16="http://schemas.microsoft.com/office/drawing/2014/main" id="{1CCBC779-6F22-DA26-B0C0-743BE9DDF25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291739" y="5216503"/>
              <a:ext cx="214283" cy="344100"/>
            </a:xfrm>
            <a:prstGeom prst="rect">
              <a:avLst/>
            </a:prstGeom>
          </p:spPr>
        </p:pic>
        <p:pic>
          <p:nvPicPr>
            <p:cNvPr id="171" name="Graphic 170" descr="Man with solid fill">
              <a:extLst>
                <a:ext uri="{FF2B5EF4-FFF2-40B4-BE49-F238E27FC236}">
                  <a16:creationId xmlns:a16="http://schemas.microsoft.com/office/drawing/2014/main" id="{81D5F254-B801-5442-0C65-BF13D26459D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451643" y="5216503"/>
              <a:ext cx="214283" cy="344100"/>
            </a:xfrm>
            <a:prstGeom prst="rect">
              <a:avLst/>
            </a:prstGeom>
          </p:spPr>
        </p:pic>
        <p:pic>
          <p:nvPicPr>
            <p:cNvPr id="172" name="Graphic 171" descr="Man with solid fill">
              <a:extLst>
                <a:ext uri="{FF2B5EF4-FFF2-40B4-BE49-F238E27FC236}">
                  <a16:creationId xmlns:a16="http://schemas.microsoft.com/office/drawing/2014/main" id="{877864B3-2D5B-0469-BF0D-FA60FC52D5E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92621" y="5665660"/>
              <a:ext cx="214283" cy="344100"/>
            </a:xfrm>
            <a:prstGeom prst="rect">
              <a:avLst/>
            </a:prstGeom>
          </p:spPr>
        </p:pic>
        <p:pic>
          <p:nvPicPr>
            <p:cNvPr id="173" name="Graphic 172" descr="Man and woman with solid fill">
              <a:extLst>
                <a:ext uri="{FF2B5EF4-FFF2-40B4-BE49-F238E27FC236}">
                  <a16:creationId xmlns:a16="http://schemas.microsoft.com/office/drawing/2014/main" id="{A717BB9A-A1BA-75B9-B743-0B0445B343B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235204" y="5216503"/>
              <a:ext cx="214283" cy="344100"/>
            </a:xfrm>
            <a:prstGeom prst="rect">
              <a:avLst/>
            </a:prstGeom>
          </p:spPr>
        </p:pic>
        <p:pic>
          <p:nvPicPr>
            <p:cNvPr id="174" name="Graphic 173" descr="Man with kid with solid fill">
              <a:extLst>
                <a:ext uri="{FF2B5EF4-FFF2-40B4-BE49-F238E27FC236}">
                  <a16:creationId xmlns:a16="http://schemas.microsoft.com/office/drawing/2014/main" id="{C96F4D06-E6EB-8EAB-7CFA-9253D35D624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88198" y="3694098"/>
              <a:ext cx="214283" cy="344100"/>
            </a:xfrm>
            <a:prstGeom prst="rect">
              <a:avLst/>
            </a:prstGeom>
          </p:spPr>
        </p:pic>
        <p:pic>
          <p:nvPicPr>
            <p:cNvPr id="175" name="Graphic 174" descr="Family with boy with solid fill">
              <a:extLst>
                <a:ext uri="{FF2B5EF4-FFF2-40B4-BE49-F238E27FC236}">
                  <a16:creationId xmlns:a16="http://schemas.microsoft.com/office/drawing/2014/main" id="{3FCC2F41-9FEB-479C-EFFA-2D7E80EC6730}"/>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365865" y="3580153"/>
              <a:ext cx="214283" cy="344100"/>
            </a:xfrm>
            <a:prstGeom prst="rect">
              <a:avLst/>
            </a:prstGeom>
          </p:spPr>
        </p:pic>
        <p:pic>
          <p:nvPicPr>
            <p:cNvPr id="176" name="Graphic 175" descr="Family with two children with solid fill">
              <a:extLst>
                <a:ext uri="{FF2B5EF4-FFF2-40B4-BE49-F238E27FC236}">
                  <a16:creationId xmlns:a16="http://schemas.microsoft.com/office/drawing/2014/main" id="{F55644BB-24B3-EAA2-A6AF-AC8DB0321A2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86674" y="3391770"/>
              <a:ext cx="214283" cy="344100"/>
            </a:xfrm>
            <a:prstGeom prst="rect">
              <a:avLst/>
            </a:prstGeom>
          </p:spPr>
        </p:pic>
        <p:pic>
          <p:nvPicPr>
            <p:cNvPr id="177" name="Graphic 176" descr="Man with kid with solid fill">
              <a:extLst>
                <a:ext uri="{FF2B5EF4-FFF2-40B4-BE49-F238E27FC236}">
                  <a16:creationId xmlns:a16="http://schemas.microsoft.com/office/drawing/2014/main" id="{9D52F414-2084-141A-8C48-FBF6E7CF26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067678" y="3678984"/>
              <a:ext cx="214283" cy="344100"/>
            </a:xfrm>
            <a:prstGeom prst="rect">
              <a:avLst/>
            </a:prstGeom>
          </p:spPr>
        </p:pic>
        <p:pic>
          <p:nvPicPr>
            <p:cNvPr id="178" name="Graphic 177" descr="Family with two children with solid fill">
              <a:extLst>
                <a:ext uri="{FF2B5EF4-FFF2-40B4-BE49-F238E27FC236}">
                  <a16:creationId xmlns:a16="http://schemas.microsoft.com/office/drawing/2014/main" id="{3C6EC7B7-29AB-217E-A1EC-D5B7DF2C024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72455" y="4345764"/>
              <a:ext cx="214283" cy="344100"/>
            </a:xfrm>
            <a:prstGeom prst="rect">
              <a:avLst/>
            </a:prstGeom>
          </p:spPr>
        </p:pic>
        <p:pic>
          <p:nvPicPr>
            <p:cNvPr id="179" name="Graphic 178" descr="Man and woman with solid fill">
              <a:extLst>
                <a:ext uri="{FF2B5EF4-FFF2-40B4-BE49-F238E27FC236}">
                  <a16:creationId xmlns:a16="http://schemas.microsoft.com/office/drawing/2014/main" id="{D3F6CB74-D932-248B-710C-34C79704555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62845" y="5216503"/>
              <a:ext cx="214283" cy="344100"/>
            </a:xfrm>
            <a:prstGeom prst="rect">
              <a:avLst/>
            </a:prstGeom>
          </p:spPr>
        </p:pic>
        <p:pic>
          <p:nvPicPr>
            <p:cNvPr id="180" name="Graphic 179" descr="Family with boy with solid fill">
              <a:extLst>
                <a:ext uri="{FF2B5EF4-FFF2-40B4-BE49-F238E27FC236}">
                  <a16:creationId xmlns:a16="http://schemas.microsoft.com/office/drawing/2014/main" id="{8DF76FCC-03C3-B9E2-2926-713594E1BA6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11956" y="3454035"/>
              <a:ext cx="214283" cy="344100"/>
            </a:xfrm>
            <a:prstGeom prst="rect">
              <a:avLst/>
            </a:prstGeom>
          </p:spPr>
        </p:pic>
        <p:pic>
          <p:nvPicPr>
            <p:cNvPr id="181" name="Graphic 180" descr="Man with solid fill">
              <a:extLst>
                <a:ext uri="{FF2B5EF4-FFF2-40B4-BE49-F238E27FC236}">
                  <a16:creationId xmlns:a16="http://schemas.microsoft.com/office/drawing/2014/main" id="{8EE86D80-8713-DA92-51FA-64ED09B0FD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4792" y="5665660"/>
              <a:ext cx="214283" cy="344100"/>
            </a:xfrm>
            <a:prstGeom prst="rect">
              <a:avLst/>
            </a:prstGeom>
          </p:spPr>
        </p:pic>
        <p:pic>
          <p:nvPicPr>
            <p:cNvPr id="182" name="Graphic 181" descr="Two Men with solid fill">
              <a:extLst>
                <a:ext uri="{FF2B5EF4-FFF2-40B4-BE49-F238E27FC236}">
                  <a16:creationId xmlns:a16="http://schemas.microsoft.com/office/drawing/2014/main" id="{AC3CB0F9-160E-2480-D0BB-F17D0100CD9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477943" y="5665660"/>
              <a:ext cx="214283" cy="344100"/>
            </a:xfrm>
            <a:prstGeom prst="rect">
              <a:avLst/>
            </a:prstGeom>
          </p:spPr>
        </p:pic>
        <p:pic>
          <p:nvPicPr>
            <p:cNvPr id="183" name="Graphic 182" descr="Man and woman with solid fill">
              <a:extLst>
                <a:ext uri="{FF2B5EF4-FFF2-40B4-BE49-F238E27FC236}">
                  <a16:creationId xmlns:a16="http://schemas.microsoft.com/office/drawing/2014/main" id="{44786855-73CA-6851-C912-2642F0F605D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41904" y="5665660"/>
              <a:ext cx="214283" cy="344100"/>
            </a:xfrm>
            <a:prstGeom prst="rect">
              <a:avLst/>
            </a:prstGeom>
          </p:spPr>
        </p:pic>
        <p:pic>
          <p:nvPicPr>
            <p:cNvPr id="184" name="Graphic 183" descr="Man and woman with solid fill">
              <a:extLst>
                <a:ext uri="{FF2B5EF4-FFF2-40B4-BE49-F238E27FC236}">
                  <a16:creationId xmlns:a16="http://schemas.microsoft.com/office/drawing/2014/main" id="{0406075E-1FD0-1026-1A5C-EB8FC86DBF1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12077" y="5216503"/>
              <a:ext cx="214283" cy="344100"/>
            </a:xfrm>
            <a:prstGeom prst="rect">
              <a:avLst/>
            </a:prstGeom>
          </p:spPr>
        </p:pic>
        <p:pic>
          <p:nvPicPr>
            <p:cNvPr id="185" name="Graphic 184" descr="Man with solid fill">
              <a:extLst>
                <a:ext uri="{FF2B5EF4-FFF2-40B4-BE49-F238E27FC236}">
                  <a16:creationId xmlns:a16="http://schemas.microsoft.com/office/drawing/2014/main" id="{08AA8A1E-B17E-9796-EFF1-8DF9FFC22E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37446" y="5665660"/>
              <a:ext cx="214283" cy="344100"/>
            </a:xfrm>
            <a:prstGeom prst="rect">
              <a:avLst/>
            </a:prstGeom>
          </p:spPr>
        </p:pic>
        <p:pic>
          <p:nvPicPr>
            <p:cNvPr id="186" name="Graphic 185" descr="Man with solid fill">
              <a:extLst>
                <a:ext uri="{FF2B5EF4-FFF2-40B4-BE49-F238E27FC236}">
                  <a16:creationId xmlns:a16="http://schemas.microsoft.com/office/drawing/2014/main" id="{BBB5222B-7CC5-C030-B364-0C6AC3FE6AF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46170" y="5665660"/>
              <a:ext cx="214283" cy="344100"/>
            </a:xfrm>
            <a:prstGeom prst="rect">
              <a:avLst/>
            </a:prstGeom>
          </p:spPr>
        </p:pic>
      </p:grpSp>
      <p:grpSp>
        <p:nvGrpSpPr>
          <p:cNvPr id="187" name="Group 186">
            <a:extLst>
              <a:ext uri="{FF2B5EF4-FFF2-40B4-BE49-F238E27FC236}">
                <a16:creationId xmlns:a16="http://schemas.microsoft.com/office/drawing/2014/main" id="{D4C2890D-4F3D-C55F-7252-3DC596B83E92}"/>
              </a:ext>
            </a:extLst>
          </p:cNvPr>
          <p:cNvGrpSpPr/>
          <p:nvPr/>
        </p:nvGrpSpPr>
        <p:grpSpPr>
          <a:xfrm>
            <a:off x="1234179" y="3179016"/>
            <a:ext cx="4261647" cy="2748464"/>
            <a:chOff x="3253577" y="3429000"/>
            <a:chExt cx="4261647" cy="2748464"/>
          </a:xfrm>
        </p:grpSpPr>
        <p:pic>
          <p:nvPicPr>
            <p:cNvPr id="188" name="Graphic 187" descr="Man with solid fill">
              <a:extLst>
                <a:ext uri="{FF2B5EF4-FFF2-40B4-BE49-F238E27FC236}">
                  <a16:creationId xmlns:a16="http://schemas.microsoft.com/office/drawing/2014/main" id="{910F5213-2262-17F1-4530-E91038C86CB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90112" y="4713778"/>
              <a:ext cx="214283" cy="344100"/>
            </a:xfrm>
            <a:prstGeom prst="rect">
              <a:avLst/>
            </a:prstGeom>
          </p:spPr>
        </p:pic>
        <p:pic>
          <p:nvPicPr>
            <p:cNvPr id="189" name="Graphic 188" descr="Man and woman with solid fill">
              <a:extLst>
                <a:ext uri="{FF2B5EF4-FFF2-40B4-BE49-F238E27FC236}">
                  <a16:creationId xmlns:a16="http://schemas.microsoft.com/office/drawing/2014/main" id="{AC0139DD-91A9-F651-8852-6ACD4270D08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93338" y="4823508"/>
              <a:ext cx="214283" cy="344100"/>
            </a:xfrm>
            <a:prstGeom prst="rect">
              <a:avLst/>
            </a:prstGeom>
          </p:spPr>
        </p:pic>
        <p:pic>
          <p:nvPicPr>
            <p:cNvPr id="190" name="Graphic 189" descr="Man with kid with solid fill">
              <a:extLst>
                <a:ext uri="{FF2B5EF4-FFF2-40B4-BE49-F238E27FC236}">
                  <a16:creationId xmlns:a16="http://schemas.microsoft.com/office/drawing/2014/main" id="{C03D032B-5958-38D0-FDEA-8CDCBE8F818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498842" y="4896560"/>
              <a:ext cx="214283" cy="344100"/>
            </a:xfrm>
            <a:prstGeom prst="rect">
              <a:avLst/>
            </a:prstGeom>
          </p:spPr>
        </p:pic>
        <p:pic>
          <p:nvPicPr>
            <p:cNvPr id="191" name="Graphic 190" descr="Family with boy with solid fill">
              <a:extLst>
                <a:ext uri="{FF2B5EF4-FFF2-40B4-BE49-F238E27FC236}">
                  <a16:creationId xmlns:a16="http://schemas.microsoft.com/office/drawing/2014/main" id="{79957AD4-1866-3495-D624-BBE7F998AA3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749163" y="5277471"/>
              <a:ext cx="214283" cy="344100"/>
            </a:xfrm>
            <a:prstGeom prst="rect">
              <a:avLst/>
            </a:prstGeom>
          </p:spPr>
        </p:pic>
        <p:pic>
          <p:nvPicPr>
            <p:cNvPr id="192" name="Graphic 191" descr="Family with two children with solid fill">
              <a:extLst>
                <a:ext uri="{FF2B5EF4-FFF2-40B4-BE49-F238E27FC236}">
                  <a16:creationId xmlns:a16="http://schemas.microsoft.com/office/drawing/2014/main" id="{48C91B07-C52C-F6D3-692F-620D1BA8A0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568562" y="4151015"/>
              <a:ext cx="214283" cy="344100"/>
            </a:xfrm>
            <a:prstGeom prst="rect">
              <a:avLst/>
            </a:prstGeom>
          </p:spPr>
        </p:pic>
        <p:pic>
          <p:nvPicPr>
            <p:cNvPr id="193" name="Graphic 192" descr="Man with kid with solid fill">
              <a:extLst>
                <a:ext uri="{FF2B5EF4-FFF2-40B4-BE49-F238E27FC236}">
                  <a16:creationId xmlns:a16="http://schemas.microsoft.com/office/drawing/2014/main" id="{8DB7600C-FD99-1EC5-0E08-54B0D5635F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41172" y="4933371"/>
              <a:ext cx="214283" cy="344100"/>
            </a:xfrm>
            <a:prstGeom prst="rect">
              <a:avLst/>
            </a:prstGeom>
          </p:spPr>
        </p:pic>
        <p:pic>
          <p:nvPicPr>
            <p:cNvPr id="194" name="Graphic 193" descr="Family with two children with solid fill">
              <a:extLst>
                <a:ext uri="{FF2B5EF4-FFF2-40B4-BE49-F238E27FC236}">
                  <a16:creationId xmlns:a16="http://schemas.microsoft.com/office/drawing/2014/main" id="{4029AFC8-723D-EBE9-691C-10BFBD24C7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69514" y="5318829"/>
              <a:ext cx="214283" cy="344100"/>
            </a:xfrm>
            <a:prstGeom prst="rect">
              <a:avLst/>
            </a:prstGeom>
          </p:spPr>
        </p:pic>
        <p:pic>
          <p:nvPicPr>
            <p:cNvPr id="195" name="Graphic 194" descr="Man and woman with solid fill">
              <a:extLst>
                <a:ext uri="{FF2B5EF4-FFF2-40B4-BE49-F238E27FC236}">
                  <a16:creationId xmlns:a16="http://schemas.microsoft.com/office/drawing/2014/main" id="{58E20920-6376-D1C3-5ABE-8B67043365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094392" y="4685814"/>
              <a:ext cx="214283" cy="344100"/>
            </a:xfrm>
            <a:prstGeom prst="rect">
              <a:avLst/>
            </a:prstGeom>
          </p:spPr>
        </p:pic>
        <p:pic>
          <p:nvPicPr>
            <p:cNvPr id="196" name="Graphic 195" descr="Family with boy with solid fill">
              <a:extLst>
                <a:ext uri="{FF2B5EF4-FFF2-40B4-BE49-F238E27FC236}">
                  <a16:creationId xmlns:a16="http://schemas.microsoft.com/office/drawing/2014/main" id="{47716098-8AD1-FF62-E2C8-468DD99E885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004019" y="4754347"/>
              <a:ext cx="214283" cy="344100"/>
            </a:xfrm>
            <a:prstGeom prst="rect">
              <a:avLst/>
            </a:prstGeom>
          </p:spPr>
        </p:pic>
        <p:pic>
          <p:nvPicPr>
            <p:cNvPr id="197" name="Graphic 196" descr="Man with solid fill">
              <a:extLst>
                <a:ext uri="{FF2B5EF4-FFF2-40B4-BE49-F238E27FC236}">
                  <a16:creationId xmlns:a16="http://schemas.microsoft.com/office/drawing/2014/main" id="{1D5577F3-EC35-F8FD-CAB8-9AEAC621B3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438263" y="5227132"/>
              <a:ext cx="214283" cy="344100"/>
            </a:xfrm>
            <a:prstGeom prst="rect">
              <a:avLst/>
            </a:prstGeom>
          </p:spPr>
        </p:pic>
        <p:pic>
          <p:nvPicPr>
            <p:cNvPr id="198" name="Graphic 197" descr="Two Men with solid fill">
              <a:extLst>
                <a:ext uri="{FF2B5EF4-FFF2-40B4-BE49-F238E27FC236}">
                  <a16:creationId xmlns:a16="http://schemas.microsoft.com/office/drawing/2014/main" id="{659F530A-88EF-B989-7DAC-FE18DB349365}"/>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438283" y="3676557"/>
              <a:ext cx="214283" cy="344100"/>
            </a:xfrm>
            <a:prstGeom prst="rect">
              <a:avLst/>
            </a:prstGeom>
          </p:spPr>
        </p:pic>
        <p:pic>
          <p:nvPicPr>
            <p:cNvPr id="199" name="Graphic 198" descr="Man and woman with solid fill">
              <a:extLst>
                <a:ext uri="{FF2B5EF4-FFF2-40B4-BE49-F238E27FC236}">
                  <a16:creationId xmlns:a16="http://schemas.microsoft.com/office/drawing/2014/main" id="{5962650A-A690-FC50-A195-F8BFFF1478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60609" y="4272780"/>
              <a:ext cx="214283" cy="344100"/>
            </a:xfrm>
            <a:prstGeom prst="rect">
              <a:avLst/>
            </a:prstGeom>
          </p:spPr>
        </p:pic>
        <p:pic>
          <p:nvPicPr>
            <p:cNvPr id="200" name="Graphic 199" descr="Man and woman with solid fill">
              <a:extLst>
                <a:ext uri="{FF2B5EF4-FFF2-40B4-BE49-F238E27FC236}">
                  <a16:creationId xmlns:a16="http://schemas.microsoft.com/office/drawing/2014/main" id="{919DD117-AAE6-5DCB-95BE-051FC49ABED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48314" y="5465772"/>
              <a:ext cx="214283" cy="344100"/>
            </a:xfrm>
            <a:prstGeom prst="rect">
              <a:avLst/>
            </a:prstGeom>
          </p:spPr>
        </p:pic>
        <p:pic>
          <p:nvPicPr>
            <p:cNvPr id="201" name="Graphic 200" descr="Man with solid fill">
              <a:extLst>
                <a:ext uri="{FF2B5EF4-FFF2-40B4-BE49-F238E27FC236}">
                  <a16:creationId xmlns:a16="http://schemas.microsoft.com/office/drawing/2014/main" id="{4CB6BEB9-3C67-A23C-8A2C-0B4F59B59E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53577" y="4970455"/>
              <a:ext cx="214283" cy="344100"/>
            </a:xfrm>
            <a:prstGeom prst="rect">
              <a:avLst/>
            </a:prstGeom>
          </p:spPr>
        </p:pic>
        <p:pic>
          <p:nvPicPr>
            <p:cNvPr id="202" name="Graphic 201" descr="Man with solid fill">
              <a:extLst>
                <a:ext uri="{FF2B5EF4-FFF2-40B4-BE49-F238E27FC236}">
                  <a16:creationId xmlns:a16="http://schemas.microsoft.com/office/drawing/2014/main" id="{1CAC93D0-6D3B-D561-5358-4A9F8156A61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5844" y="4915214"/>
              <a:ext cx="214283" cy="344100"/>
            </a:xfrm>
            <a:prstGeom prst="rect">
              <a:avLst/>
            </a:prstGeom>
          </p:spPr>
        </p:pic>
        <p:pic>
          <p:nvPicPr>
            <p:cNvPr id="203" name="Graphic 202" descr="Man with solid fill">
              <a:extLst>
                <a:ext uri="{FF2B5EF4-FFF2-40B4-BE49-F238E27FC236}">
                  <a16:creationId xmlns:a16="http://schemas.microsoft.com/office/drawing/2014/main" id="{704CBAE8-8EAD-36A9-1F4F-99213404A3E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95897" y="4838216"/>
              <a:ext cx="214283" cy="344100"/>
            </a:xfrm>
            <a:prstGeom prst="rect">
              <a:avLst/>
            </a:prstGeom>
          </p:spPr>
        </p:pic>
        <p:pic>
          <p:nvPicPr>
            <p:cNvPr id="204" name="Graphic 203" descr="Man and woman with solid fill">
              <a:extLst>
                <a:ext uri="{FF2B5EF4-FFF2-40B4-BE49-F238E27FC236}">
                  <a16:creationId xmlns:a16="http://schemas.microsoft.com/office/drawing/2014/main" id="{A24A8BB1-203C-127E-D408-66372461BE9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803815" y="3970035"/>
              <a:ext cx="214283" cy="344100"/>
            </a:xfrm>
            <a:prstGeom prst="rect">
              <a:avLst/>
            </a:prstGeom>
          </p:spPr>
        </p:pic>
        <p:pic>
          <p:nvPicPr>
            <p:cNvPr id="205" name="Graphic 204" descr="Man with kid with solid fill">
              <a:extLst>
                <a:ext uri="{FF2B5EF4-FFF2-40B4-BE49-F238E27FC236}">
                  <a16:creationId xmlns:a16="http://schemas.microsoft.com/office/drawing/2014/main" id="{C6EA91B5-C74D-638C-16B1-5AE68B78FB77}"/>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04627" y="5020998"/>
              <a:ext cx="214283" cy="344100"/>
            </a:xfrm>
            <a:prstGeom prst="rect">
              <a:avLst/>
            </a:prstGeom>
          </p:spPr>
        </p:pic>
        <p:pic>
          <p:nvPicPr>
            <p:cNvPr id="206" name="Graphic 205" descr="Family with boy with solid fill">
              <a:extLst>
                <a:ext uri="{FF2B5EF4-FFF2-40B4-BE49-F238E27FC236}">
                  <a16:creationId xmlns:a16="http://schemas.microsoft.com/office/drawing/2014/main" id="{72EC0E8D-155B-6F1F-7E13-65D1F162B63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83708" y="4272293"/>
              <a:ext cx="214283" cy="344100"/>
            </a:xfrm>
            <a:prstGeom prst="rect">
              <a:avLst/>
            </a:prstGeom>
          </p:spPr>
        </p:pic>
        <p:pic>
          <p:nvPicPr>
            <p:cNvPr id="207" name="Graphic 206" descr="Family with two children with solid fill">
              <a:extLst>
                <a:ext uri="{FF2B5EF4-FFF2-40B4-BE49-F238E27FC236}">
                  <a16:creationId xmlns:a16="http://schemas.microsoft.com/office/drawing/2014/main" id="{EDE88C3B-1CC2-800E-F347-F100DBFD135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21223" y="5443267"/>
              <a:ext cx="214283" cy="344100"/>
            </a:xfrm>
            <a:prstGeom prst="rect">
              <a:avLst/>
            </a:prstGeom>
          </p:spPr>
        </p:pic>
        <p:pic>
          <p:nvPicPr>
            <p:cNvPr id="208" name="Graphic 207" descr="Man with kid with solid fill">
              <a:extLst>
                <a:ext uri="{FF2B5EF4-FFF2-40B4-BE49-F238E27FC236}">
                  <a16:creationId xmlns:a16="http://schemas.microsoft.com/office/drawing/2014/main" id="{548D78FE-C336-1C3E-B729-AB2BCF92A6DE}"/>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245680" y="3978965"/>
              <a:ext cx="214283" cy="344100"/>
            </a:xfrm>
            <a:prstGeom prst="rect">
              <a:avLst/>
            </a:prstGeom>
          </p:spPr>
        </p:pic>
        <p:pic>
          <p:nvPicPr>
            <p:cNvPr id="209" name="Graphic 208" descr="Family with two children with solid fill">
              <a:extLst>
                <a:ext uri="{FF2B5EF4-FFF2-40B4-BE49-F238E27FC236}">
                  <a16:creationId xmlns:a16="http://schemas.microsoft.com/office/drawing/2014/main" id="{FC73E2AE-E312-9CAC-7ED6-60BE374A27F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02176" y="3615274"/>
              <a:ext cx="214283" cy="344100"/>
            </a:xfrm>
            <a:prstGeom prst="rect">
              <a:avLst/>
            </a:prstGeom>
          </p:spPr>
        </p:pic>
        <p:pic>
          <p:nvPicPr>
            <p:cNvPr id="210" name="Graphic 209" descr="Man and woman with solid fill">
              <a:extLst>
                <a:ext uri="{FF2B5EF4-FFF2-40B4-BE49-F238E27FC236}">
                  <a16:creationId xmlns:a16="http://schemas.microsoft.com/office/drawing/2014/main" id="{25BDCB81-1FB5-5799-41FB-E2ED7F3A91D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433984" y="4091495"/>
              <a:ext cx="214283" cy="344100"/>
            </a:xfrm>
            <a:prstGeom prst="rect">
              <a:avLst/>
            </a:prstGeom>
          </p:spPr>
        </p:pic>
        <p:pic>
          <p:nvPicPr>
            <p:cNvPr id="211" name="Graphic 210" descr="Family with boy with solid fill">
              <a:extLst>
                <a:ext uri="{FF2B5EF4-FFF2-40B4-BE49-F238E27FC236}">
                  <a16:creationId xmlns:a16="http://schemas.microsoft.com/office/drawing/2014/main" id="{8B1E1FEC-2850-3F33-D87A-5D4D9AD3498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254540" y="5661314"/>
              <a:ext cx="214283" cy="344100"/>
            </a:xfrm>
            <a:prstGeom prst="rect">
              <a:avLst/>
            </a:prstGeom>
          </p:spPr>
        </p:pic>
        <p:pic>
          <p:nvPicPr>
            <p:cNvPr id="212" name="Graphic 211" descr="Man with solid fill">
              <a:extLst>
                <a:ext uri="{FF2B5EF4-FFF2-40B4-BE49-F238E27FC236}">
                  <a16:creationId xmlns:a16="http://schemas.microsoft.com/office/drawing/2014/main" id="{65082D12-CE24-446F-E573-084BD2D00A2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644048" y="5351570"/>
              <a:ext cx="214283" cy="344100"/>
            </a:xfrm>
            <a:prstGeom prst="rect">
              <a:avLst/>
            </a:prstGeom>
          </p:spPr>
        </p:pic>
        <p:pic>
          <p:nvPicPr>
            <p:cNvPr id="213" name="Graphic 212" descr="Two Men with solid fill">
              <a:extLst>
                <a:ext uri="{FF2B5EF4-FFF2-40B4-BE49-F238E27FC236}">
                  <a16:creationId xmlns:a16="http://schemas.microsoft.com/office/drawing/2014/main" id="{DF088CE6-3FE2-3EC7-C2B7-40071067D1A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569485" y="3808108"/>
              <a:ext cx="214283" cy="344100"/>
            </a:xfrm>
            <a:prstGeom prst="rect">
              <a:avLst/>
            </a:prstGeom>
          </p:spPr>
        </p:pic>
        <p:pic>
          <p:nvPicPr>
            <p:cNvPr id="214" name="Graphic 213" descr="Man and woman with solid fill">
              <a:extLst>
                <a:ext uri="{FF2B5EF4-FFF2-40B4-BE49-F238E27FC236}">
                  <a16:creationId xmlns:a16="http://schemas.microsoft.com/office/drawing/2014/main" id="{D70FC6AC-7A1E-1D69-76AA-39A70B6DF3A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242423" y="5204689"/>
              <a:ext cx="214283" cy="344100"/>
            </a:xfrm>
            <a:prstGeom prst="rect">
              <a:avLst/>
            </a:prstGeom>
          </p:spPr>
        </p:pic>
        <p:pic>
          <p:nvPicPr>
            <p:cNvPr id="215" name="Graphic 214" descr="Man and woman with solid fill">
              <a:extLst>
                <a:ext uri="{FF2B5EF4-FFF2-40B4-BE49-F238E27FC236}">
                  <a16:creationId xmlns:a16="http://schemas.microsoft.com/office/drawing/2014/main" id="{5E892B6F-66D2-B07D-F0B1-C0E52971A3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06137" y="4410915"/>
              <a:ext cx="214283" cy="344100"/>
            </a:xfrm>
            <a:prstGeom prst="rect">
              <a:avLst/>
            </a:prstGeom>
          </p:spPr>
        </p:pic>
        <p:pic>
          <p:nvPicPr>
            <p:cNvPr id="216" name="Graphic 215" descr="Man with solid fill">
              <a:extLst>
                <a:ext uri="{FF2B5EF4-FFF2-40B4-BE49-F238E27FC236}">
                  <a16:creationId xmlns:a16="http://schemas.microsoft.com/office/drawing/2014/main" id="{C3A52AF1-5390-FF93-15E3-DAD2AF59584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77393" y="3659868"/>
              <a:ext cx="214283" cy="344100"/>
            </a:xfrm>
            <a:prstGeom prst="rect">
              <a:avLst/>
            </a:prstGeom>
          </p:spPr>
        </p:pic>
        <p:pic>
          <p:nvPicPr>
            <p:cNvPr id="217" name="Graphic 216" descr="Man with solid fill">
              <a:extLst>
                <a:ext uri="{FF2B5EF4-FFF2-40B4-BE49-F238E27FC236}">
                  <a16:creationId xmlns:a16="http://schemas.microsoft.com/office/drawing/2014/main" id="{9C02F40F-11FB-C4BF-6024-5B17184318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861629" y="5039652"/>
              <a:ext cx="214283" cy="344100"/>
            </a:xfrm>
            <a:prstGeom prst="rect">
              <a:avLst/>
            </a:prstGeom>
          </p:spPr>
        </p:pic>
        <p:pic>
          <p:nvPicPr>
            <p:cNvPr id="218" name="Graphic 217" descr="Man with solid fill">
              <a:extLst>
                <a:ext uri="{FF2B5EF4-FFF2-40B4-BE49-F238E27FC236}">
                  <a16:creationId xmlns:a16="http://schemas.microsoft.com/office/drawing/2014/main" id="{D486AC12-D1A8-4308-B5AE-C4A44687E898}"/>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97715" y="3456964"/>
              <a:ext cx="214283" cy="344100"/>
            </a:xfrm>
            <a:prstGeom prst="rect">
              <a:avLst/>
            </a:prstGeom>
          </p:spPr>
        </p:pic>
        <p:pic>
          <p:nvPicPr>
            <p:cNvPr id="219" name="Graphic 218" descr="Man and woman with solid fill">
              <a:extLst>
                <a:ext uri="{FF2B5EF4-FFF2-40B4-BE49-F238E27FC236}">
                  <a16:creationId xmlns:a16="http://schemas.microsoft.com/office/drawing/2014/main" id="{6231D8EB-AB84-B883-C69D-CF688274E46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300941" y="3566694"/>
              <a:ext cx="214283" cy="344100"/>
            </a:xfrm>
            <a:prstGeom prst="rect">
              <a:avLst/>
            </a:prstGeom>
          </p:spPr>
        </p:pic>
        <p:pic>
          <p:nvPicPr>
            <p:cNvPr id="220" name="Graphic 219" descr="Man with kid with solid fill">
              <a:extLst>
                <a:ext uri="{FF2B5EF4-FFF2-40B4-BE49-F238E27FC236}">
                  <a16:creationId xmlns:a16="http://schemas.microsoft.com/office/drawing/2014/main" id="{CCFCCC42-ECFE-27FF-2791-54DBA076D56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06445" y="3639746"/>
              <a:ext cx="214283" cy="344100"/>
            </a:xfrm>
            <a:prstGeom prst="rect">
              <a:avLst/>
            </a:prstGeom>
          </p:spPr>
        </p:pic>
        <p:pic>
          <p:nvPicPr>
            <p:cNvPr id="221" name="Graphic 220" descr="Family with boy with solid fill">
              <a:extLst>
                <a:ext uri="{FF2B5EF4-FFF2-40B4-BE49-F238E27FC236}">
                  <a16:creationId xmlns:a16="http://schemas.microsoft.com/office/drawing/2014/main" id="{CA9C9758-620B-B341-5FCC-D5BF16C78E7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69579" y="5246095"/>
              <a:ext cx="214283" cy="344100"/>
            </a:xfrm>
            <a:prstGeom prst="rect">
              <a:avLst/>
            </a:prstGeom>
          </p:spPr>
        </p:pic>
        <p:pic>
          <p:nvPicPr>
            <p:cNvPr id="222" name="Graphic 221" descr="Family with two children with solid fill">
              <a:extLst>
                <a:ext uri="{FF2B5EF4-FFF2-40B4-BE49-F238E27FC236}">
                  <a16:creationId xmlns:a16="http://schemas.microsoft.com/office/drawing/2014/main" id="{91A51B4A-32CD-0483-4612-2A6C4953390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369970" y="4850616"/>
              <a:ext cx="214283" cy="344100"/>
            </a:xfrm>
            <a:prstGeom prst="rect">
              <a:avLst/>
            </a:prstGeom>
          </p:spPr>
        </p:pic>
        <p:pic>
          <p:nvPicPr>
            <p:cNvPr id="223" name="Graphic 222" descr="Man with kid with solid fill">
              <a:extLst>
                <a:ext uri="{FF2B5EF4-FFF2-40B4-BE49-F238E27FC236}">
                  <a16:creationId xmlns:a16="http://schemas.microsoft.com/office/drawing/2014/main" id="{227257AD-B8F4-5E6C-905C-A736F24D341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48775" y="3676557"/>
              <a:ext cx="214283" cy="344100"/>
            </a:xfrm>
            <a:prstGeom prst="rect">
              <a:avLst/>
            </a:prstGeom>
          </p:spPr>
        </p:pic>
        <p:pic>
          <p:nvPicPr>
            <p:cNvPr id="224" name="Graphic 223" descr="Family with two children with solid fill">
              <a:extLst>
                <a:ext uri="{FF2B5EF4-FFF2-40B4-BE49-F238E27FC236}">
                  <a16:creationId xmlns:a16="http://schemas.microsoft.com/office/drawing/2014/main" id="{141C71EB-5577-67CD-5530-5453A89BA06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977117" y="4062015"/>
              <a:ext cx="214283" cy="344100"/>
            </a:xfrm>
            <a:prstGeom prst="rect">
              <a:avLst/>
            </a:prstGeom>
          </p:spPr>
        </p:pic>
        <p:pic>
          <p:nvPicPr>
            <p:cNvPr id="225" name="Graphic 224" descr="Man and woman with solid fill">
              <a:extLst>
                <a:ext uri="{FF2B5EF4-FFF2-40B4-BE49-F238E27FC236}">
                  <a16:creationId xmlns:a16="http://schemas.microsoft.com/office/drawing/2014/main" id="{A66B0190-AA15-18A9-3B67-D9895F4FD90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401995" y="3429000"/>
              <a:ext cx="214283" cy="344100"/>
            </a:xfrm>
            <a:prstGeom prst="rect">
              <a:avLst/>
            </a:prstGeom>
          </p:spPr>
        </p:pic>
        <p:pic>
          <p:nvPicPr>
            <p:cNvPr id="226" name="Graphic 225" descr="Family with boy with solid fill">
              <a:extLst>
                <a:ext uri="{FF2B5EF4-FFF2-40B4-BE49-F238E27FC236}">
                  <a16:creationId xmlns:a16="http://schemas.microsoft.com/office/drawing/2014/main" id="{1B0CC652-7736-40AF-5397-4C02D8C18C2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56358" y="4280062"/>
              <a:ext cx="214283" cy="344100"/>
            </a:xfrm>
            <a:prstGeom prst="rect">
              <a:avLst/>
            </a:prstGeom>
          </p:spPr>
        </p:pic>
        <p:pic>
          <p:nvPicPr>
            <p:cNvPr id="227" name="Graphic 226" descr="Man with solid fill">
              <a:extLst>
                <a:ext uri="{FF2B5EF4-FFF2-40B4-BE49-F238E27FC236}">
                  <a16:creationId xmlns:a16="http://schemas.microsoft.com/office/drawing/2014/main" id="{59ABEF53-CCEA-522C-ADF3-759C2CEF39E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256693" y="5182364"/>
              <a:ext cx="214283" cy="344100"/>
            </a:xfrm>
            <a:prstGeom prst="rect">
              <a:avLst/>
            </a:prstGeom>
          </p:spPr>
        </p:pic>
        <p:pic>
          <p:nvPicPr>
            <p:cNvPr id="228" name="Graphic 227" descr="Two Men with solid fill">
              <a:extLst>
                <a:ext uri="{FF2B5EF4-FFF2-40B4-BE49-F238E27FC236}">
                  <a16:creationId xmlns:a16="http://schemas.microsoft.com/office/drawing/2014/main" id="{8E7E840D-F351-95AB-22FD-3168B35D86A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680764" y="5785428"/>
              <a:ext cx="214283" cy="344100"/>
            </a:xfrm>
            <a:prstGeom prst="rect">
              <a:avLst/>
            </a:prstGeom>
          </p:spPr>
        </p:pic>
        <p:pic>
          <p:nvPicPr>
            <p:cNvPr id="229" name="Graphic 228" descr="Man and woman with solid fill">
              <a:extLst>
                <a:ext uri="{FF2B5EF4-FFF2-40B4-BE49-F238E27FC236}">
                  <a16:creationId xmlns:a16="http://schemas.microsoft.com/office/drawing/2014/main" id="{9AAD0E93-19EE-276B-3132-88900688B3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86542" y="5404984"/>
              <a:ext cx="214283" cy="344100"/>
            </a:xfrm>
            <a:prstGeom prst="rect">
              <a:avLst/>
            </a:prstGeom>
          </p:spPr>
        </p:pic>
        <p:pic>
          <p:nvPicPr>
            <p:cNvPr id="230" name="Graphic 229" descr="Man and woman with solid fill">
              <a:extLst>
                <a:ext uri="{FF2B5EF4-FFF2-40B4-BE49-F238E27FC236}">
                  <a16:creationId xmlns:a16="http://schemas.microsoft.com/office/drawing/2014/main" id="{6C7EA3BD-DAE4-E45A-6A3C-45A177B4FA2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60053" y="5833364"/>
              <a:ext cx="214283" cy="344100"/>
            </a:xfrm>
            <a:prstGeom prst="rect">
              <a:avLst/>
            </a:prstGeom>
          </p:spPr>
        </p:pic>
        <p:pic>
          <p:nvPicPr>
            <p:cNvPr id="231" name="Graphic 230" descr="Man with solid fill">
              <a:extLst>
                <a:ext uri="{FF2B5EF4-FFF2-40B4-BE49-F238E27FC236}">
                  <a16:creationId xmlns:a16="http://schemas.microsoft.com/office/drawing/2014/main" id="{DB401146-DFDA-FBC0-5C49-07F9EBFB0A2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561180" y="3713641"/>
              <a:ext cx="214283" cy="344100"/>
            </a:xfrm>
            <a:prstGeom prst="rect">
              <a:avLst/>
            </a:prstGeom>
          </p:spPr>
        </p:pic>
        <p:pic>
          <p:nvPicPr>
            <p:cNvPr id="232" name="Graphic 231" descr="Man with solid fill">
              <a:extLst>
                <a:ext uri="{FF2B5EF4-FFF2-40B4-BE49-F238E27FC236}">
                  <a16:creationId xmlns:a16="http://schemas.microsoft.com/office/drawing/2014/main" id="{1B64CFA9-A037-94BC-98D0-972808AE262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63447" y="3658400"/>
              <a:ext cx="214283" cy="344100"/>
            </a:xfrm>
            <a:prstGeom prst="rect">
              <a:avLst/>
            </a:prstGeom>
          </p:spPr>
        </p:pic>
        <p:pic>
          <p:nvPicPr>
            <p:cNvPr id="233" name="Graphic 232" descr="Man with solid fill">
              <a:extLst>
                <a:ext uri="{FF2B5EF4-FFF2-40B4-BE49-F238E27FC236}">
                  <a16:creationId xmlns:a16="http://schemas.microsoft.com/office/drawing/2014/main" id="{A23D39D0-AE1F-F9AD-5FD8-1FC7F0F7FAE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91882" y="3736663"/>
              <a:ext cx="214283" cy="344100"/>
            </a:xfrm>
            <a:prstGeom prst="rect">
              <a:avLst/>
            </a:prstGeom>
          </p:spPr>
        </p:pic>
        <p:pic>
          <p:nvPicPr>
            <p:cNvPr id="234" name="Graphic 233" descr="Man and woman with solid fill">
              <a:extLst>
                <a:ext uri="{FF2B5EF4-FFF2-40B4-BE49-F238E27FC236}">
                  <a16:creationId xmlns:a16="http://schemas.microsoft.com/office/drawing/2014/main" id="{93E84223-4697-A1C8-F17A-E45E35EF5F1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21923" y="5683695"/>
              <a:ext cx="214283" cy="344100"/>
            </a:xfrm>
            <a:prstGeom prst="rect">
              <a:avLst/>
            </a:prstGeom>
          </p:spPr>
        </p:pic>
        <p:pic>
          <p:nvPicPr>
            <p:cNvPr id="235" name="Graphic 234" descr="Man with kid with solid fill">
              <a:extLst>
                <a:ext uri="{FF2B5EF4-FFF2-40B4-BE49-F238E27FC236}">
                  <a16:creationId xmlns:a16="http://schemas.microsoft.com/office/drawing/2014/main" id="{AB79A160-25A9-61F7-1168-B74CA503DEB8}"/>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00612" y="3919445"/>
              <a:ext cx="214283" cy="344100"/>
            </a:xfrm>
            <a:prstGeom prst="rect">
              <a:avLst/>
            </a:prstGeom>
          </p:spPr>
        </p:pic>
        <p:pic>
          <p:nvPicPr>
            <p:cNvPr id="236" name="Graphic 235" descr="Family with boy with solid fill">
              <a:extLst>
                <a:ext uri="{FF2B5EF4-FFF2-40B4-BE49-F238E27FC236}">
                  <a16:creationId xmlns:a16="http://schemas.microsoft.com/office/drawing/2014/main" id="{A26C1ADE-BADF-6AAE-CFB4-091A9FB4140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341362" y="4735609"/>
              <a:ext cx="214283" cy="344100"/>
            </a:xfrm>
            <a:prstGeom prst="rect">
              <a:avLst/>
            </a:prstGeom>
          </p:spPr>
        </p:pic>
        <p:pic>
          <p:nvPicPr>
            <p:cNvPr id="237" name="Graphic 236" descr="Family with two children with solid fill">
              <a:extLst>
                <a:ext uri="{FF2B5EF4-FFF2-40B4-BE49-F238E27FC236}">
                  <a16:creationId xmlns:a16="http://schemas.microsoft.com/office/drawing/2014/main" id="{587A6894-1FDF-741D-0E8E-73A070F0EE4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17208" y="4341714"/>
              <a:ext cx="214283" cy="344100"/>
            </a:xfrm>
            <a:prstGeom prst="rect">
              <a:avLst/>
            </a:prstGeom>
          </p:spPr>
        </p:pic>
        <p:pic>
          <p:nvPicPr>
            <p:cNvPr id="238" name="Graphic 237" descr="Man with kid with solid fill">
              <a:extLst>
                <a:ext uri="{FF2B5EF4-FFF2-40B4-BE49-F238E27FC236}">
                  <a16:creationId xmlns:a16="http://schemas.microsoft.com/office/drawing/2014/main" id="{66F291F8-29EB-8774-1F85-908D607685B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142942" y="3956256"/>
              <a:ext cx="214283" cy="344100"/>
            </a:xfrm>
            <a:prstGeom prst="rect">
              <a:avLst/>
            </a:prstGeom>
          </p:spPr>
        </p:pic>
        <p:pic>
          <p:nvPicPr>
            <p:cNvPr id="239" name="Graphic 238" descr="Family with two children with solid fill">
              <a:extLst>
                <a:ext uri="{FF2B5EF4-FFF2-40B4-BE49-F238E27FC236}">
                  <a16:creationId xmlns:a16="http://schemas.microsoft.com/office/drawing/2014/main" id="{4B717D3E-9F8B-A958-B0A4-7892AB601EC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650183" y="4531665"/>
              <a:ext cx="214283" cy="344100"/>
            </a:xfrm>
            <a:prstGeom prst="rect">
              <a:avLst/>
            </a:prstGeom>
          </p:spPr>
        </p:pic>
        <p:pic>
          <p:nvPicPr>
            <p:cNvPr id="240" name="Graphic 239" descr="Man and woman with solid fill">
              <a:extLst>
                <a:ext uri="{FF2B5EF4-FFF2-40B4-BE49-F238E27FC236}">
                  <a16:creationId xmlns:a16="http://schemas.microsoft.com/office/drawing/2014/main" id="{24FE0EED-5746-C091-A11A-BCF2D30EADB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62845" y="5046774"/>
              <a:ext cx="214283" cy="344100"/>
            </a:xfrm>
            <a:prstGeom prst="rect">
              <a:avLst/>
            </a:prstGeom>
          </p:spPr>
        </p:pic>
        <p:pic>
          <p:nvPicPr>
            <p:cNvPr id="241" name="Graphic 240" descr="Family with boy with solid fill">
              <a:extLst>
                <a:ext uri="{FF2B5EF4-FFF2-40B4-BE49-F238E27FC236}">
                  <a16:creationId xmlns:a16="http://schemas.microsoft.com/office/drawing/2014/main" id="{373EF53A-C79C-3E06-10F4-A4FC6D1FF18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350525" y="4559761"/>
              <a:ext cx="214283" cy="344100"/>
            </a:xfrm>
            <a:prstGeom prst="rect">
              <a:avLst/>
            </a:prstGeom>
          </p:spPr>
        </p:pic>
        <p:pic>
          <p:nvPicPr>
            <p:cNvPr id="242" name="Graphic 241" descr="Man with solid fill">
              <a:extLst>
                <a:ext uri="{FF2B5EF4-FFF2-40B4-BE49-F238E27FC236}">
                  <a16:creationId xmlns:a16="http://schemas.microsoft.com/office/drawing/2014/main" id="{32A29B5F-531E-B1CE-2BFA-331EF77364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40033" y="4250017"/>
              <a:ext cx="214283" cy="344100"/>
            </a:xfrm>
            <a:prstGeom prst="rect">
              <a:avLst/>
            </a:prstGeom>
          </p:spPr>
        </p:pic>
        <p:pic>
          <p:nvPicPr>
            <p:cNvPr id="243" name="Graphic 242" descr="Two Men with solid fill">
              <a:extLst>
                <a:ext uri="{FF2B5EF4-FFF2-40B4-BE49-F238E27FC236}">
                  <a16:creationId xmlns:a16="http://schemas.microsoft.com/office/drawing/2014/main" id="{23410029-656F-5CF6-FE78-AAB192D6946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749164" y="5728809"/>
              <a:ext cx="214283" cy="344100"/>
            </a:xfrm>
            <a:prstGeom prst="rect">
              <a:avLst/>
            </a:prstGeom>
          </p:spPr>
        </p:pic>
        <p:pic>
          <p:nvPicPr>
            <p:cNvPr id="244" name="Graphic 243" descr="Man and woman with solid fill">
              <a:extLst>
                <a:ext uri="{FF2B5EF4-FFF2-40B4-BE49-F238E27FC236}">
                  <a16:creationId xmlns:a16="http://schemas.microsoft.com/office/drawing/2014/main" id="{F69FAB5C-27A2-6D0C-917D-BF98CBC22E3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315702" y="5586500"/>
              <a:ext cx="214283" cy="344100"/>
            </a:xfrm>
            <a:prstGeom prst="rect">
              <a:avLst/>
            </a:prstGeom>
          </p:spPr>
        </p:pic>
        <p:pic>
          <p:nvPicPr>
            <p:cNvPr id="245" name="Graphic 244" descr="Man and woman with solid fill">
              <a:extLst>
                <a:ext uri="{FF2B5EF4-FFF2-40B4-BE49-F238E27FC236}">
                  <a16:creationId xmlns:a16="http://schemas.microsoft.com/office/drawing/2014/main" id="{522934B5-BC12-6C56-E19D-3CB4F7B2364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50084" y="4488657"/>
              <a:ext cx="214283" cy="344100"/>
            </a:xfrm>
            <a:prstGeom prst="rect">
              <a:avLst/>
            </a:prstGeom>
          </p:spPr>
        </p:pic>
        <p:pic>
          <p:nvPicPr>
            <p:cNvPr id="246" name="Graphic 245" descr="Man with solid fill">
              <a:extLst>
                <a:ext uri="{FF2B5EF4-FFF2-40B4-BE49-F238E27FC236}">
                  <a16:creationId xmlns:a16="http://schemas.microsoft.com/office/drawing/2014/main" id="{C9F5CEE0-9972-B588-1C0A-C8A8CDFA0AB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555347" y="3993340"/>
              <a:ext cx="214283" cy="344100"/>
            </a:xfrm>
            <a:prstGeom prst="rect">
              <a:avLst/>
            </a:prstGeom>
          </p:spPr>
        </p:pic>
        <p:pic>
          <p:nvPicPr>
            <p:cNvPr id="247" name="Graphic 246" descr="Man with solid fill">
              <a:extLst>
                <a:ext uri="{FF2B5EF4-FFF2-40B4-BE49-F238E27FC236}">
                  <a16:creationId xmlns:a16="http://schemas.microsoft.com/office/drawing/2014/main" id="{8FFB6BDD-0AC3-256B-C03C-58CCA65234D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957614" y="3938099"/>
              <a:ext cx="214283" cy="344100"/>
            </a:xfrm>
            <a:prstGeom prst="rect">
              <a:avLst/>
            </a:prstGeom>
          </p:spPr>
        </p:pic>
      </p:grpSp>
      <p:sp>
        <p:nvSpPr>
          <p:cNvPr id="248" name="TextBox 247">
            <a:extLst>
              <a:ext uri="{FF2B5EF4-FFF2-40B4-BE49-F238E27FC236}">
                <a16:creationId xmlns:a16="http://schemas.microsoft.com/office/drawing/2014/main" id="{2521DF79-8414-89A9-6127-D18D9495B11C}"/>
              </a:ext>
            </a:extLst>
          </p:cNvPr>
          <p:cNvSpPr txBox="1"/>
          <p:nvPr/>
        </p:nvSpPr>
        <p:spPr>
          <a:xfrm>
            <a:off x="6882714" y="2619632"/>
            <a:ext cx="3422821" cy="369332"/>
          </a:xfrm>
          <a:prstGeom prst="rect">
            <a:avLst/>
          </a:prstGeom>
          <a:noFill/>
        </p:spPr>
        <p:txBody>
          <a:bodyPr wrap="square" rtlCol="0">
            <a:spAutoFit/>
          </a:bodyPr>
          <a:lstStyle/>
          <a:p>
            <a:r>
              <a:rPr lang="en-US" b="1" dirty="0"/>
              <a:t>Stratify</a:t>
            </a:r>
          </a:p>
        </p:txBody>
      </p:sp>
    </p:spTree>
    <p:extLst>
      <p:ext uri="{BB962C8B-B14F-4D97-AF65-F5344CB8AC3E}">
        <p14:creationId xmlns:p14="http://schemas.microsoft.com/office/powerpoint/2010/main" val="67050340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F34FB-62AC-4AA7-F392-0AE5EBD732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E7F98B-4902-45E2-44BC-38FB2BDDD275}"/>
              </a:ext>
            </a:extLst>
          </p:cNvPr>
          <p:cNvSpPr>
            <a:spLocks noGrp="1"/>
          </p:cNvSpPr>
          <p:nvPr>
            <p:ph type="title"/>
          </p:nvPr>
        </p:nvSpPr>
        <p:spPr/>
        <p:txBody>
          <a:bodyPr/>
          <a:lstStyle/>
          <a:p>
            <a:r>
              <a:rPr lang="en-US" dirty="0"/>
              <a:t>Sampling Techniques</a:t>
            </a:r>
          </a:p>
        </p:txBody>
      </p:sp>
      <p:sp>
        <p:nvSpPr>
          <p:cNvPr id="4" name="Content Placeholder 2">
            <a:extLst>
              <a:ext uri="{FF2B5EF4-FFF2-40B4-BE49-F238E27FC236}">
                <a16:creationId xmlns:a16="http://schemas.microsoft.com/office/drawing/2014/main" id="{14F2D596-D63F-0B94-6DB2-1FC182945C95}"/>
              </a:ext>
            </a:extLst>
          </p:cNvPr>
          <p:cNvSpPr txBox="1">
            <a:spLocks/>
          </p:cNvSpPr>
          <p:nvPr/>
        </p:nvSpPr>
        <p:spPr>
          <a:xfrm>
            <a:off x="479999" y="1270274"/>
            <a:ext cx="11102399" cy="449158"/>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1800" b="1" dirty="0">
                <a:solidFill>
                  <a:schemeClr val="bg2">
                    <a:lumMod val="85000"/>
                  </a:schemeClr>
                </a:solidFill>
              </a:rPr>
              <a:t>Simple Random Sampling</a:t>
            </a:r>
            <a:r>
              <a:rPr lang="en-US" sz="1800" dirty="0">
                <a:solidFill>
                  <a:schemeClr val="bg2">
                    <a:lumMod val="85000"/>
                  </a:schemeClr>
                </a:solidFill>
              </a:rPr>
              <a:t>: all samples are chosen randomly to be selected for each group</a:t>
            </a:r>
          </a:p>
          <a:p>
            <a:r>
              <a:rPr lang="en-US" sz="1800" b="1" dirty="0"/>
              <a:t>Stratified Sampling</a:t>
            </a:r>
            <a:r>
              <a:rPr lang="en-US" sz="1800" dirty="0"/>
              <a:t>: divide study population into categories and sample from each group separately (e.g. Adults/Kids) to ensure equal representation of each category in control and treatment groups</a:t>
            </a:r>
          </a:p>
          <a:p>
            <a:pPr marL="0" indent="0">
              <a:buNone/>
            </a:pPr>
            <a:endParaRPr lang="en-US" sz="1800" dirty="0"/>
          </a:p>
        </p:txBody>
      </p:sp>
      <p:grpSp>
        <p:nvGrpSpPr>
          <p:cNvPr id="126" name="Group 125">
            <a:extLst>
              <a:ext uri="{FF2B5EF4-FFF2-40B4-BE49-F238E27FC236}">
                <a16:creationId xmlns:a16="http://schemas.microsoft.com/office/drawing/2014/main" id="{799C840E-B5D4-FFA5-4114-55362AA2255D}"/>
              </a:ext>
            </a:extLst>
          </p:cNvPr>
          <p:cNvGrpSpPr/>
          <p:nvPr/>
        </p:nvGrpSpPr>
        <p:grpSpPr>
          <a:xfrm>
            <a:off x="6973505" y="3141786"/>
            <a:ext cx="4298940" cy="2617990"/>
            <a:chOff x="3207082" y="3391770"/>
            <a:chExt cx="4298940" cy="2617990"/>
          </a:xfrm>
        </p:grpSpPr>
        <p:pic>
          <p:nvPicPr>
            <p:cNvPr id="127" name="Graphic 126" descr="Man with solid fill">
              <a:extLst>
                <a:ext uri="{FF2B5EF4-FFF2-40B4-BE49-F238E27FC236}">
                  <a16:creationId xmlns:a16="http://schemas.microsoft.com/office/drawing/2014/main" id="{506E5B5D-2AA5-CED6-BBD4-11D0827A0CB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11143" y="5665660"/>
              <a:ext cx="214283" cy="344100"/>
            </a:xfrm>
            <a:prstGeom prst="rect">
              <a:avLst/>
            </a:prstGeom>
          </p:spPr>
        </p:pic>
        <p:pic>
          <p:nvPicPr>
            <p:cNvPr id="128" name="Graphic 127" descr="Man and woman with solid fill">
              <a:extLst>
                <a:ext uri="{FF2B5EF4-FFF2-40B4-BE49-F238E27FC236}">
                  <a16:creationId xmlns:a16="http://schemas.microsoft.com/office/drawing/2014/main" id="{3839DF9E-C3BA-D4CC-C7BF-4178D112205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047582" y="5216503"/>
              <a:ext cx="214283" cy="344100"/>
            </a:xfrm>
            <a:prstGeom prst="rect">
              <a:avLst/>
            </a:prstGeom>
          </p:spPr>
        </p:pic>
        <p:pic>
          <p:nvPicPr>
            <p:cNvPr id="129" name="Graphic 128" descr="Man with kid with solid fill">
              <a:extLst>
                <a:ext uri="{FF2B5EF4-FFF2-40B4-BE49-F238E27FC236}">
                  <a16:creationId xmlns:a16="http://schemas.microsoft.com/office/drawing/2014/main" id="{9EEEE44B-4297-6318-9CFA-7A01F5DB726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66364" y="3891700"/>
              <a:ext cx="214283" cy="344100"/>
            </a:xfrm>
            <a:prstGeom prst="rect">
              <a:avLst/>
            </a:prstGeom>
          </p:spPr>
        </p:pic>
        <p:pic>
          <p:nvPicPr>
            <p:cNvPr id="130" name="Graphic 129" descr="Family with boy with solid fill">
              <a:extLst>
                <a:ext uri="{FF2B5EF4-FFF2-40B4-BE49-F238E27FC236}">
                  <a16:creationId xmlns:a16="http://schemas.microsoft.com/office/drawing/2014/main" id="{4756818D-F677-26B1-6D99-6C829390FBA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87841" y="4079506"/>
              <a:ext cx="214283" cy="344100"/>
            </a:xfrm>
            <a:prstGeom prst="rect">
              <a:avLst/>
            </a:prstGeom>
          </p:spPr>
        </p:pic>
        <p:pic>
          <p:nvPicPr>
            <p:cNvPr id="131" name="Graphic 130" descr="Family with two children with solid fill">
              <a:extLst>
                <a:ext uri="{FF2B5EF4-FFF2-40B4-BE49-F238E27FC236}">
                  <a16:creationId xmlns:a16="http://schemas.microsoft.com/office/drawing/2014/main" id="{A2E75399-839B-5678-1D13-2DC9AD46ADF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574980" y="4058410"/>
              <a:ext cx="214283" cy="344100"/>
            </a:xfrm>
            <a:prstGeom prst="rect">
              <a:avLst/>
            </a:prstGeom>
          </p:spPr>
        </p:pic>
        <p:pic>
          <p:nvPicPr>
            <p:cNvPr id="132" name="Graphic 131" descr="Man with kid with solid fill">
              <a:extLst>
                <a:ext uri="{FF2B5EF4-FFF2-40B4-BE49-F238E27FC236}">
                  <a16:creationId xmlns:a16="http://schemas.microsoft.com/office/drawing/2014/main" id="{23E8DA45-191F-1EA4-BD07-2E3A0910DB9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69269" y="4253318"/>
              <a:ext cx="214283" cy="344100"/>
            </a:xfrm>
            <a:prstGeom prst="rect">
              <a:avLst/>
            </a:prstGeom>
          </p:spPr>
        </p:pic>
        <p:pic>
          <p:nvPicPr>
            <p:cNvPr id="133" name="Graphic 132" descr="Family with two children with solid fill">
              <a:extLst>
                <a:ext uri="{FF2B5EF4-FFF2-40B4-BE49-F238E27FC236}">
                  <a16:creationId xmlns:a16="http://schemas.microsoft.com/office/drawing/2014/main" id="{551827E7-89C9-25C1-92D1-3B4F017C1EB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035749" y="3678984"/>
              <a:ext cx="214283" cy="344100"/>
            </a:xfrm>
            <a:prstGeom prst="rect">
              <a:avLst/>
            </a:prstGeom>
          </p:spPr>
        </p:pic>
        <p:pic>
          <p:nvPicPr>
            <p:cNvPr id="134" name="Graphic 133" descr="Man and woman with solid fill">
              <a:extLst>
                <a:ext uri="{FF2B5EF4-FFF2-40B4-BE49-F238E27FC236}">
                  <a16:creationId xmlns:a16="http://schemas.microsoft.com/office/drawing/2014/main" id="{E01073B1-F388-57EF-9EF3-E55DEEA1FB6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806954" y="5216503"/>
              <a:ext cx="214283" cy="344100"/>
            </a:xfrm>
            <a:prstGeom prst="rect">
              <a:avLst/>
            </a:prstGeom>
          </p:spPr>
        </p:pic>
        <p:pic>
          <p:nvPicPr>
            <p:cNvPr id="135" name="Graphic 134" descr="Family with boy with solid fill">
              <a:extLst>
                <a:ext uri="{FF2B5EF4-FFF2-40B4-BE49-F238E27FC236}">
                  <a16:creationId xmlns:a16="http://schemas.microsoft.com/office/drawing/2014/main" id="{8241C503-F10E-B8B5-B3B1-A690E92E1EB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151971" y="3847697"/>
              <a:ext cx="214283" cy="344100"/>
            </a:xfrm>
            <a:prstGeom prst="rect">
              <a:avLst/>
            </a:prstGeom>
          </p:spPr>
        </p:pic>
        <p:pic>
          <p:nvPicPr>
            <p:cNvPr id="136" name="Graphic 135" descr="Man with solid fill">
              <a:extLst>
                <a:ext uri="{FF2B5EF4-FFF2-40B4-BE49-F238E27FC236}">
                  <a16:creationId xmlns:a16="http://schemas.microsoft.com/office/drawing/2014/main" id="{83E2189D-C0E8-2F4C-0E25-A5E7709F1D7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38263" y="5227132"/>
              <a:ext cx="214283" cy="344100"/>
            </a:xfrm>
            <a:prstGeom prst="rect">
              <a:avLst/>
            </a:prstGeom>
          </p:spPr>
        </p:pic>
        <p:pic>
          <p:nvPicPr>
            <p:cNvPr id="137" name="Graphic 136" descr="Two Men with solid fill">
              <a:extLst>
                <a:ext uri="{FF2B5EF4-FFF2-40B4-BE49-F238E27FC236}">
                  <a16:creationId xmlns:a16="http://schemas.microsoft.com/office/drawing/2014/main" id="{74E12E28-2851-7DD1-A768-52607DCFA9A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112819" y="5665660"/>
              <a:ext cx="214283" cy="344100"/>
            </a:xfrm>
            <a:prstGeom prst="rect">
              <a:avLst/>
            </a:prstGeom>
          </p:spPr>
        </p:pic>
        <p:pic>
          <p:nvPicPr>
            <p:cNvPr id="138" name="Graphic 137" descr="Man and woman with solid fill">
              <a:extLst>
                <a:ext uri="{FF2B5EF4-FFF2-40B4-BE49-F238E27FC236}">
                  <a16:creationId xmlns:a16="http://schemas.microsoft.com/office/drawing/2014/main" id="{4E5A48D0-031C-223A-C148-D695674D31C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511518" y="5216503"/>
              <a:ext cx="214283" cy="344100"/>
            </a:xfrm>
            <a:prstGeom prst="rect">
              <a:avLst/>
            </a:prstGeom>
          </p:spPr>
        </p:pic>
        <p:pic>
          <p:nvPicPr>
            <p:cNvPr id="139" name="Graphic 138" descr="Man and woman with solid fill">
              <a:extLst>
                <a:ext uri="{FF2B5EF4-FFF2-40B4-BE49-F238E27FC236}">
                  <a16:creationId xmlns:a16="http://schemas.microsoft.com/office/drawing/2014/main" id="{8E9FB807-2EA4-BB28-AC42-896DCAE188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27283" y="5665660"/>
              <a:ext cx="214283" cy="344100"/>
            </a:xfrm>
            <a:prstGeom prst="rect">
              <a:avLst/>
            </a:prstGeom>
          </p:spPr>
        </p:pic>
        <p:pic>
          <p:nvPicPr>
            <p:cNvPr id="140" name="Graphic 139" descr="Man with solid fill">
              <a:extLst>
                <a:ext uri="{FF2B5EF4-FFF2-40B4-BE49-F238E27FC236}">
                  <a16:creationId xmlns:a16="http://schemas.microsoft.com/office/drawing/2014/main" id="{B6B10CD2-59D4-EB58-B621-61CC8BB38A4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207082" y="5216503"/>
              <a:ext cx="214283" cy="344100"/>
            </a:xfrm>
            <a:prstGeom prst="rect">
              <a:avLst/>
            </a:prstGeom>
          </p:spPr>
        </p:pic>
        <p:pic>
          <p:nvPicPr>
            <p:cNvPr id="141" name="Graphic 140" descr="Man with solid fill">
              <a:extLst>
                <a:ext uri="{FF2B5EF4-FFF2-40B4-BE49-F238E27FC236}">
                  <a16:creationId xmlns:a16="http://schemas.microsoft.com/office/drawing/2014/main" id="{F554CDD1-B48C-EA9C-DCF9-D51E2BBBBC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71342" y="5216503"/>
              <a:ext cx="214283" cy="344100"/>
            </a:xfrm>
            <a:prstGeom prst="rect">
              <a:avLst/>
            </a:prstGeom>
          </p:spPr>
        </p:pic>
        <p:pic>
          <p:nvPicPr>
            <p:cNvPr id="142" name="Graphic 141" descr="Man with solid fill">
              <a:extLst>
                <a:ext uri="{FF2B5EF4-FFF2-40B4-BE49-F238E27FC236}">
                  <a16:creationId xmlns:a16="http://schemas.microsoft.com/office/drawing/2014/main" id="{7DB6A132-B44F-0198-E052-391297E0866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66758" y="5665660"/>
              <a:ext cx="214283" cy="344100"/>
            </a:xfrm>
            <a:prstGeom prst="rect">
              <a:avLst/>
            </a:prstGeom>
          </p:spPr>
        </p:pic>
        <p:pic>
          <p:nvPicPr>
            <p:cNvPr id="143" name="Graphic 142" descr="Man and woman with solid fill">
              <a:extLst>
                <a:ext uri="{FF2B5EF4-FFF2-40B4-BE49-F238E27FC236}">
                  <a16:creationId xmlns:a16="http://schemas.microsoft.com/office/drawing/2014/main" id="{DFF3D1F1-18E1-4053-3FE0-2F12E8C8F8F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13042" y="5665660"/>
              <a:ext cx="214283" cy="344100"/>
            </a:xfrm>
            <a:prstGeom prst="rect">
              <a:avLst/>
            </a:prstGeom>
          </p:spPr>
        </p:pic>
        <p:pic>
          <p:nvPicPr>
            <p:cNvPr id="144" name="Graphic 143" descr="Man with kid with solid fill">
              <a:extLst>
                <a:ext uri="{FF2B5EF4-FFF2-40B4-BE49-F238E27FC236}">
                  <a16:creationId xmlns:a16="http://schemas.microsoft.com/office/drawing/2014/main" id="{EB6237FC-6439-E866-4CCF-A79806AF602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912702" y="3903933"/>
              <a:ext cx="214283" cy="344100"/>
            </a:xfrm>
            <a:prstGeom prst="rect">
              <a:avLst/>
            </a:prstGeom>
          </p:spPr>
        </p:pic>
        <p:pic>
          <p:nvPicPr>
            <p:cNvPr id="145" name="Graphic 144" descr="Family with boy with solid fill">
              <a:extLst>
                <a:ext uri="{FF2B5EF4-FFF2-40B4-BE49-F238E27FC236}">
                  <a16:creationId xmlns:a16="http://schemas.microsoft.com/office/drawing/2014/main" id="{EE9114CB-A3D8-01B2-0ADE-4FB12A81D59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433159" y="3977825"/>
              <a:ext cx="214283" cy="344100"/>
            </a:xfrm>
            <a:prstGeom prst="rect">
              <a:avLst/>
            </a:prstGeom>
          </p:spPr>
        </p:pic>
        <p:pic>
          <p:nvPicPr>
            <p:cNvPr id="146" name="Graphic 145" descr="Family with two children with solid fill">
              <a:extLst>
                <a:ext uri="{FF2B5EF4-FFF2-40B4-BE49-F238E27FC236}">
                  <a16:creationId xmlns:a16="http://schemas.microsoft.com/office/drawing/2014/main" id="{2793D80E-D095-4B16-A037-8F5DA1425FA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662235" y="3454035"/>
              <a:ext cx="214283" cy="344100"/>
            </a:xfrm>
            <a:prstGeom prst="rect">
              <a:avLst/>
            </a:prstGeom>
          </p:spPr>
        </p:pic>
        <p:pic>
          <p:nvPicPr>
            <p:cNvPr id="147" name="Graphic 146" descr="Man with kid with solid fill">
              <a:extLst>
                <a:ext uri="{FF2B5EF4-FFF2-40B4-BE49-F238E27FC236}">
                  <a16:creationId xmlns:a16="http://schemas.microsoft.com/office/drawing/2014/main" id="{F67F83DD-7636-E184-270F-649782774E4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925173" y="4215533"/>
              <a:ext cx="214283" cy="344100"/>
            </a:xfrm>
            <a:prstGeom prst="rect">
              <a:avLst/>
            </a:prstGeom>
          </p:spPr>
        </p:pic>
        <p:pic>
          <p:nvPicPr>
            <p:cNvPr id="148" name="Graphic 147" descr="Family with two children with solid fill">
              <a:extLst>
                <a:ext uri="{FF2B5EF4-FFF2-40B4-BE49-F238E27FC236}">
                  <a16:creationId xmlns:a16="http://schemas.microsoft.com/office/drawing/2014/main" id="{E35B1E58-2EAC-99A1-10F9-D01A272FC20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791219" y="3778967"/>
              <a:ext cx="214283" cy="344100"/>
            </a:xfrm>
            <a:prstGeom prst="rect">
              <a:avLst/>
            </a:prstGeom>
          </p:spPr>
        </p:pic>
        <p:pic>
          <p:nvPicPr>
            <p:cNvPr id="149" name="Graphic 148" descr="Man and woman with solid fill">
              <a:extLst>
                <a:ext uri="{FF2B5EF4-FFF2-40B4-BE49-F238E27FC236}">
                  <a16:creationId xmlns:a16="http://schemas.microsoft.com/office/drawing/2014/main" id="{72C2582F-2EA2-755E-1D23-B1E8B8436F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33245" y="5665660"/>
              <a:ext cx="214283" cy="344100"/>
            </a:xfrm>
            <a:prstGeom prst="rect">
              <a:avLst/>
            </a:prstGeom>
          </p:spPr>
        </p:pic>
        <p:pic>
          <p:nvPicPr>
            <p:cNvPr id="150" name="Graphic 149" descr="Family with boy with solid fill">
              <a:extLst>
                <a:ext uri="{FF2B5EF4-FFF2-40B4-BE49-F238E27FC236}">
                  <a16:creationId xmlns:a16="http://schemas.microsoft.com/office/drawing/2014/main" id="{6B40C33F-B3B3-ABA4-32BA-2013C60820D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813198" y="3755023"/>
              <a:ext cx="214283" cy="344100"/>
            </a:xfrm>
            <a:prstGeom prst="rect">
              <a:avLst/>
            </a:prstGeom>
          </p:spPr>
        </p:pic>
        <p:pic>
          <p:nvPicPr>
            <p:cNvPr id="151" name="Graphic 150" descr="Man with solid fill">
              <a:extLst>
                <a:ext uri="{FF2B5EF4-FFF2-40B4-BE49-F238E27FC236}">
                  <a16:creationId xmlns:a16="http://schemas.microsoft.com/office/drawing/2014/main" id="{698C873F-C957-36E4-E6B8-015C456946F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543309" y="5216503"/>
              <a:ext cx="214283" cy="344100"/>
            </a:xfrm>
            <a:prstGeom prst="rect">
              <a:avLst/>
            </a:prstGeom>
          </p:spPr>
        </p:pic>
        <p:pic>
          <p:nvPicPr>
            <p:cNvPr id="152" name="Graphic 151" descr="Two Men with solid fill">
              <a:extLst>
                <a:ext uri="{FF2B5EF4-FFF2-40B4-BE49-F238E27FC236}">
                  <a16:creationId xmlns:a16="http://schemas.microsoft.com/office/drawing/2014/main" id="{96D59053-1C45-A140-8710-ABF368DE7C2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4763933" y="5216503"/>
              <a:ext cx="214283" cy="344100"/>
            </a:xfrm>
            <a:prstGeom prst="rect">
              <a:avLst/>
            </a:prstGeom>
          </p:spPr>
        </p:pic>
        <p:pic>
          <p:nvPicPr>
            <p:cNvPr id="153" name="Graphic 152" descr="Man and woman with solid fill">
              <a:extLst>
                <a:ext uri="{FF2B5EF4-FFF2-40B4-BE49-F238E27FC236}">
                  <a16:creationId xmlns:a16="http://schemas.microsoft.com/office/drawing/2014/main" id="{AAA9EDDA-89EE-3AC9-51D6-12BA2D1F1611}"/>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242423" y="5204689"/>
              <a:ext cx="214283" cy="344100"/>
            </a:xfrm>
            <a:prstGeom prst="rect">
              <a:avLst/>
            </a:prstGeom>
          </p:spPr>
        </p:pic>
        <p:pic>
          <p:nvPicPr>
            <p:cNvPr id="154" name="Graphic 153" descr="Man and woman with solid fill">
              <a:extLst>
                <a:ext uri="{FF2B5EF4-FFF2-40B4-BE49-F238E27FC236}">
                  <a16:creationId xmlns:a16="http://schemas.microsoft.com/office/drawing/2014/main" id="{0795BB7C-EA39-4A9C-6E1F-B23F026EE4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860382" y="5216503"/>
              <a:ext cx="214283" cy="344100"/>
            </a:xfrm>
            <a:prstGeom prst="rect">
              <a:avLst/>
            </a:prstGeom>
          </p:spPr>
        </p:pic>
        <p:pic>
          <p:nvPicPr>
            <p:cNvPr id="155" name="Graphic 154" descr="Man with solid fill">
              <a:extLst>
                <a:ext uri="{FF2B5EF4-FFF2-40B4-BE49-F238E27FC236}">
                  <a16:creationId xmlns:a16="http://schemas.microsoft.com/office/drawing/2014/main" id="{0A7B5F89-43B0-426D-2C0A-994CA102572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551190" y="5665660"/>
              <a:ext cx="214283" cy="344100"/>
            </a:xfrm>
            <a:prstGeom prst="rect">
              <a:avLst/>
            </a:prstGeom>
          </p:spPr>
        </p:pic>
        <p:pic>
          <p:nvPicPr>
            <p:cNvPr id="156" name="Graphic 155" descr="Man with solid fill">
              <a:extLst>
                <a:ext uri="{FF2B5EF4-FFF2-40B4-BE49-F238E27FC236}">
                  <a16:creationId xmlns:a16="http://schemas.microsoft.com/office/drawing/2014/main" id="{BF472713-E48F-BF6C-D449-3B7C515A0E6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24742" y="5216503"/>
              <a:ext cx="214283" cy="344100"/>
            </a:xfrm>
            <a:prstGeom prst="rect">
              <a:avLst/>
            </a:prstGeom>
          </p:spPr>
        </p:pic>
        <p:pic>
          <p:nvPicPr>
            <p:cNvPr id="157" name="Graphic 156" descr="Man with solid fill">
              <a:extLst>
                <a:ext uri="{FF2B5EF4-FFF2-40B4-BE49-F238E27FC236}">
                  <a16:creationId xmlns:a16="http://schemas.microsoft.com/office/drawing/2014/main" id="{8CA8D2BC-8D05-BD8A-4E96-FD3722621D0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50123" y="5216503"/>
              <a:ext cx="214283" cy="344100"/>
            </a:xfrm>
            <a:prstGeom prst="rect">
              <a:avLst/>
            </a:prstGeom>
          </p:spPr>
        </p:pic>
        <p:pic>
          <p:nvPicPr>
            <p:cNvPr id="158" name="Graphic 157" descr="Man and woman with solid fill">
              <a:extLst>
                <a:ext uri="{FF2B5EF4-FFF2-40B4-BE49-F238E27FC236}">
                  <a16:creationId xmlns:a16="http://schemas.microsoft.com/office/drawing/2014/main" id="{2501C41B-35FF-82C0-6F82-1D75F720FD4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712006" y="5665660"/>
              <a:ext cx="214283" cy="344100"/>
            </a:xfrm>
            <a:prstGeom prst="rect">
              <a:avLst/>
            </a:prstGeom>
          </p:spPr>
        </p:pic>
        <p:pic>
          <p:nvPicPr>
            <p:cNvPr id="159" name="Graphic 158" descr="Man with kid with solid fill">
              <a:extLst>
                <a:ext uri="{FF2B5EF4-FFF2-40B4-BE49-F238E27FC236}">
                  <a16:creationId xmlns:a16="http://schemas.microsoft.com/office/drawing/2014/main" id="{B20EF7FD-2979-7635-CBBE-C9356EFCE74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424943" y="4001426"/>
              <a:ext cx="214283" cy="344100"/>
            </a:xfrm>
            <a:prstGeom prst="rect">
              <a:avLst/>
            </a:prstGeom>
          </p:spPr>
        </p:pic>
        <p:pic>
          <p:nvPicPr>
            <p:cNvPr id="160" name="Graphic 159" descr="Family with boy with solid fill">
              <a:extLst>
                <a:ext uri="{FF2B5EF4-FFF2-40B4-BE49-F238E27FC236}">
                  <a16:creationId xmlns:a16="http://schemas.microsoft.com/office/drawing/2014/main" id="{318C59FD-D423-37A0-374D-2896890364C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627312" y="3454035"/>
              <a:ext cx="214283" cy="344100"/>
            </a:xfrm>
            <a:prstGeom prst="rect">
              <a:avLst/>
            </a:prstGeom>
          </p:spPr>
        </p:pic>
        <p:pic>
          <p:nvPicPr>
            <p:cNvPr id="161" name="Graphic 160" descr="Family with two children with solid fill">
              <a:extLst>
                <a:ext uri="{FF2B5EF4-FFF2-40B4-BE49-F238E27FC236}">
                  <a16:creationId xmlns:a16="http://schemas.microsoft.com/office/drawing/2014/main" id="{C76251AB-C732-A63B-1568-6935F0ED9C1D}"/>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378117" y="3756316"/>
              <a:ext cx="214283" cy="344100"/>
            </a:xfrm>
            <a:prstGeom prst="rect">
              <a:avLst/>
            </a:prstGeom>
          </p:spPr>
        </p:pic>
        <p:pic>
          <p:nvPicPr>
            <p:cNvPr id="162" name="Graphic 161" descr="Man with kid with solid fill">
              <a:extLst>
                <a:ext uri="{FF2B5EF4-FFF2-40B4-BE49-F238E27FC236}">
                  <a16:creationId xmlns:a16="http://schemas.microsoft.com/office/drawing/2014/main" id="{00051A4C-5644-A4BD-B26D-5BC2E10464E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18740" y="4026607"/>
              <a:ext cx="214283" cy="344100"/>
            </a:xfrm>
            <a:prstGeom prst="rect">
              <a:avLst/>
            </a:prstGeom>
          </p:spPr>
        </p:pic>
        <p:pic>
          <p:nvPicPr>
            <p:cNvPr id="163" name="Graphic 162" descr="Family with two children with solid fill">
              <a:extLst>
                <a:ext uri="{FF2B5EF4-FFF2-40B4-BE49-F238E27FC236}">
                  <a16:creationId xmlns:a16="http://schemas.microsoft.com/office/drawing/2014/main" id="{759D2F6B-3A23-034F-6304-87590B0F68E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049410" y="4054843"/>
              <a:ext cx="214283" cy="344100"/>
            </a:xfrm>
            <a:prstGeom prst="rect">
              <a:avLst/>
            </a:prstGeom>
          </p:spPr>
        </p:pic>
        <p:pic>
          <p:nvPicPr>
            <p:cNvPr id="164" name="Graphic 163" descr="Man and woman with solid fill">
              <a:extLst>
                <a:ext uri="{FF2B5EF4-FFF2-40B4-BE49-F238E27FC236}">
                  <a16:creationId xmlns:a16="http://schemas.microsoft.com/office/drawing/2014/main" id="{D0D0C444-40CF-8269-32E9-CDD98F6A827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91649" y="5665660"/>
              <a:ext cx="214283" cy="344100"/>
            </a:xfrm>
            <a:prstGeom prst="rect">
              <a:avLst/>
            </a:prstGeom>
          </p:spPr>
        </p:pic>
        <p:pic>
          <p:nvPicPr>
            <p:cNvPr id="165" name="Graphic 164" descr="Family with boy with solid fill">
              <a:extLst>
                <a:ext uri="{FF2B5EF4-FFF2-40B4-BE49-F238E27FC236}">
                  <a16:creationId xmlns:a16="http://schemas.microsoft.com/office/drawing/2014/main" id="{4DD97B1A-61BA-BDBD-A4A8-2D187B74FA0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714074" y="3751902"/>
              <a:ext cx="214283" cy="344100"/>
            </a:xfrm>
            <a:prstGeom prst="rect">
              <a:avLst/>
            </a:prstGeom>
          </p:spPr>
        </p:pic>
        <p:pic>
          <p:nvPicPr>
            <p:cNvPr id="166" name="Graphic 165" descr="Man with solid fill">
              <a:extLst>
                <a:ext uri="{FF2B5EF4-FFF2-40B4-BE49-F238E27FC236}">
                  <a16:creationId xmlns:a16="http://schemas.microsoft.com/office/drawing/2014/main" id="{5DFDF67D-6DD4-F276-B9C2-1EF5C196F90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240836" y="5665660"/>
              <a:ext cx="214283" cy="344100"/>
            </a:xfrm>
            <a:prstGeom prst="rect">
              <a:avLst/>
            </a:prstGeom>
          </p:spPr>
        </p:pic>
        <p:pic>
          <p:nvPicPr>
            <p:cNvPr id="167" name="Graphic 166" descr="Two Men with solid fill">
              <a:extLst>
                <a:ext uri="{FF2B5EF4-FFF2-40B4-BE49-F238E27FC236}">
                  <a16:creationId xmlns:a16="http://schemas.microsoft.com/office/drawing/2014/main" id="{D22D1D84-9326-FD50-D835-3D2EABBB6D2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463788" y="5665660"/>
              <a:ext cx="214283" cy="344100"/>
            </a:xfrm>
            <a:prstGeom prst="rect">
              <a:avLst/>
            </a:prstGeom>
          </p:spPr>
        </p:pic>
        <p:pic>
          <p:nvPicPr>
            <p:cNvPr id="168" name="Graphic 167" descr="Man and woman with solid fill">
              <a:extLst>
                <a:ext uri="{FF2B5EF4-FFF2-40B4-BE49-F238E27FC236}">
                  <a16:creationId xmlns:a16="http://schemas.microsoft.com/office/drawing/2014/main" id="{FE4A199B-549D-8E49-1AB6-9A7C67781287}"/>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017539" y="5216503"/>
              <a:ext cx="214283" cy="344100"/>
            </a:xfrm>
            <a:prstGeom prst="rect">
              <a:avLst/>
            </a:prstGeom>
          </p:spPr>
        </p:pic>
        <p:pic>
          <p:nvPicPr>
            <p:cNvPr id="169" name="Graphic 168" descr="Man and woman with solid fill">
              <a:extLst>
                <a:ext uri="{FF2B5EF4-FFF2-40B4-BE49-F238E27FC236}">
                  <a16:creationId xmlns:a16="http://schemas.microsoft.com/office/drawing/2014/main" id="{094E0C8E-F8AD-5DDE-1BD1-F79247AD620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36067" y="5665660"/>
              <a:ext cx="214283" cy="344100"/>
            </a:xfrm>
            <a:prstGeom prst="rect">
              <a:avLst/>
            </a:prstGeom>
          </p:spPr>
        </p:pic>
        <p:pic>
          <p:nvPicPr>
            <p:cNvPr id="170" name="Graphic 169" descr="Man with solid fill">
              <a:extLst>
                <a:ext uri="{FF2B5EF4-FFF2-40B4-BE49-F238E27FC236}">
                  <a16:creationId xmlns:a16="http://schemas.microsoft.com/office/drawing/2014/main" id="{D6C04A24-3247-55D5-DFF3-7A7116BF872A}"/>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291739" y="5216503"/>
              <a:ext cx="214283" cy="344100"/>
            </a:xfrm>
            <a:prstGeom prst="rect">
              <a:avLst/>
            </a:prstGeom>
          </p:spPr>
        </p:pic>
        <p:pic>
          <p:nvPicPr>
            <p:cNvPr id="171" name="Graphic 170" descr="Man with solid fill">
              <a:extLst>
                <a:ext uri="{FF2B5EF4-FFF2-40B4-BE49-F238E27FC236}">
                  <a16:creationId xmlns:a16="http://schemas.microsoft.com/office/drawing/2014/main" id="{4E7E88B6-2D26-8C27-32E0-742916870CD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6451643" y="5216503"/>
              <a:ext cx="214283" cy="344100"/>
            </a:xfrm>
            <a:prstGeom prst="rect">
              <a:avLst/>
            </a:prstGeom>
          </p:spPr>
        </p:pic>
        <p:pic>
          <p:nvPicPr>
            <p:cNvPr id="172" name="Graphic 171" descr="Man with solid fill">
              <a:extLst>
                <a:ext uri="{FF2B5EF4-FFF2-40B4-BE49-F238E27FC236}">
                  <a16:creationId xmlns:a16="http://schemas.microsoft.com/office/drawing/2014/main" id="{BA253880-0FC8-907E-0CF4-928549B8A5C1}"/>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892621" y="5665660"/>
              <a:ext cx="214283" cy="344100"/>
            </a:xfrm>
            <a:prstGeom prst="rect">
              <a:avLst/>
            </a:prstGeom>
          </p:spPr>
        </p:pic>
        <p:pic>
          <p:nvPicPr>
            <p:cNvPr id="173" name="Graphic 172" descr="Man and woman with solid fill">
              <a:extLst>
                <a:ext uri="{FF2B5EF4-FFF2-40B4-BE49-F238E27FC236}">
                  <a16:creationId xmlns:a16="http://schemas.microsoft.com/office/drawing/2014/main" id="{426AB66E-1EF6-1BC9-D96B-F8AD26CFFB6C}"/>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35204" y="5216503"/>
              <a:ext cx="214283" cy="344100"/>
            </a:xfrm>
            <a:prstGeom prst="rect">
              <a:avLst/>
            </a:prstGeom>
          </p:spPr>
        </p:pic>
        <p:pic>
          <p:nvPicPr>
            <p:cNvPr id="174" name="Graphic 173" descr="Man with kid with solid fill">
              <a:extLst>
                <a:ext uri="{FF2B5EF4-FFF2-40B4-BE49-F238E27FC236}">
                  <a16:creationId xmlns:a16="http://schemas.microsoft.com/office/drawing/2014/main" id="{842D2222-D27B-49D8-F115-91296DFDA92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488198" y="3694098"/>
              <a:ext cx="214283" cy="344100"/>
            </a:xfrm>
            <a:prstGeom prst="rect">
              <a:avLst/>
            </a:prstGeom>
          </p:spPr>
        </p:pic>
        <p:pic>
          <p:nvPicPr>
            <p:cNvPr id="175" name="Graphic 174" descr="Family with boy with solid fill">
              <a:extLst>
                <a:ext uri="{FF2B5EF4-FFF2-40B4-BE49-F238E27FC236}">
                  <a16:creationId xmlns:a16="http://schemas.microsoft.com/office/drawing/2014/main" id="{CB1111FE-EDB2-BF47-D355-D40EE57215E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365865" y="3580153"/>
              <a:ext cx="214283" cy="344100"/>
            </a:xfrm>
            <a:prstGeom prst="rect">
              <a:avLst/>
            </a:prstGeom>
          </p:spPr>
        </p:pic>
        <p:pic>
          <p:nvPicPr>
            <p:cNvPr id="176" name="Graphic 175" descr="Family with two children with solid fill">
              <a:extLst>
                <a:ext uri="{FF2B5EF4-FFF2-40B4-BE49-F238E27FC236}">
                  <a16:creationId xmlns:a16="http://schemas.microsoft.com/office/drawing/2014/main" id="{755A4C41-57E0-29F6-F017-4E7D4DAFE69C}"/>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3886674" y="3391770"/>
              <a:ext cx="214283" cy="344100"/>
            </a:xfrm>
            <a:prstGeom prst="rect">
              <a:avLst/>
            </a:prstGeom>
          </p:spPr>
        </p:pic>
        <p:pic>
          <p:nvPicPr>
            <p:cNvPr id="177" name="Graphic 176" descr="Man with kid with solid fill">
              <a:extLst>
                <a:ext uri="{FF2B5EF4-FFF2-40B4-BE49-F238E27FC236}">
                  <a16:creationId xmlns:a16="http://schemas.microsoft.com/office/drawing/2014/main" id="{EDA688F6-E227-5A59-E9B8-F57CF9DD845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067678" y="3678984"/>
              <a:ext cx="214283" cy="344100"/>
            </a:xfrm>
            <a:prstGeom prst="rect">
              <a:avLst/>
            </a:prstGeom>
          </p:spPr>
        </p:pic>
        <p:pic>
          <p:nvPicPr>
            <p:cNvPr id="178" name="Graphic 177" descr="Family with two children with solid fill">
              <a:extLst>
                <a:ext uri="{FF2B5EF4-FFF2-40B4-BE49-F238E27FC236}">
                  <a16:creationId xmlns:a16="http://schemas.microsoft.com/office/drawing/2014/main" id="{48DFA26C-7829-A2A8-02DD-8043100281B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772455" y="4345764"/>
              <a:ext cx="214283" cy="344100"/>
            </a:xfrm>
            <a:prstGeom prst="rect">
              <a:avLst/>
            </a:prstGeom>
          </p:spPr>
        </p:pic>
        <p:pic>
          <p:nvPicPr>
            <p:cNvPr id="179" name="Graphic 178" descr="Man and woman with solid fill">
              <a:extLst>
                <a:ext uri="{FF2B5EF4-FFF2-40B4-BE49-F238E27FC236}">
                  <a16:creationId xmlns:a16="http://schemas.microsoft.com/office/drawing/2014/main" id="{A83C316D-CFFC-AEE1-D463-8645922AED2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62845" y="5216503"/>
              <a:ext cx="214283" cy="344100"/>
            </a:xfrm>
            <a:prstGeom prst="rect">
              <a:avLst/>
            </a:prstGeom>
          </p:spPr>
        </p:pic>
        <p:pic>
          <p:nvPicPr>
            <p:cNvPr id="180" name="Graphic 179" descr="Family with boy with solid fill">
              <a:extLst>
                <a:ext uri="{FF2B5EF4-FFF2-40B4-BE49-F238E27FC236}">
                  <a16:creationId xmlns:a16="http://schemas.microsoft.com/office/drawing/2014/main" id="{3E3A31A3-C872-D8FC-7677-768FA728E45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011956" y="3454035"/>
              <a:ext cx="214283" cy="344100"/>
            </a:xfrm>
            <a:prstGeom prst="rect">
              <a:avLst/>
            </a:prstGeom>
          </p:spPr>
        </p:pic>
        <p:pic>
          <p:nvPicPr>
            <p:cNvPr id="181" name="Graphic 180" descr="Man with solid fill">
              <a:extLst>
                <a:ext uri="{FF2B5EF4-FFF2-40B4-BE49-F238E27FC236}">
                  <a16:creationId xmlns:a16="http://schemas.microsoft.com/office/drawing/2014/main" id="{3E531D20-C2EE-71BE-F283-726F2E57A3FE}"/>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654792" y="5665660"/>
              <a:ext cx="214283" cy="344100"/>
            </a:xfrm>
            <a:prstGeom prst="rect">
              <a:avLst/>
            </a:prstGeom>
          </p:spPr>
        </p:pic>
        <p:pic>
          <p:nvPicPr>
            <p:cNvPr id="182" name="Graphic 181" descr="Two Men with solid fill">
              <a:extLst>
                <a:ext uri="{FF2B5EF4-FFF2-40B4-BE49-F238E27FC236}">
                  <a16:creationId xmlns:a16="http://schemas.microsoft.com/office/drawing/2014/main" id="{6ACECCC5-5A13-90EE-57C1-701B5489628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477943" y="5665660"/>
              <a:ext cx="214283" cy="344100"/>
            </a:xfrm>
            <a:prstGeom prst="rect">
              <a:avLst/>
            </a:prstGeom>
          </p:spPr>
        </p:pic>
        <p:pic>
          <p:nvPicPr>
            <p:cNvPr id="183" name="Graphic 182" descr="Man and woman with solid fill">
              <a:extLst>
                <a:ext uri="{FF2B5EF4-FFF2-40B4-BE49-F238E27FC236}">
                  <a16:creationId xmlns:a16="http://schemas.microsoft.com/office/drawing/2014/main" id="{C38A080D-C32A-3191-5A94-9A6F54EF3FFC}"/>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741904" y="5665660"/>
              <a:ext cx="214283" cy="344100"/>
            </a:xfrm>
            <a:prstGeom prst="rect">
              <a:avLst/>
            </a:prstGeom>
          </p:spPr>
        </p:pic>
        <p:pic>
          <p:nvPicPr>
            <p:cNvPr id="184" name="Graphic 183" descr="Man and woman with solid fill">
              <a:extLst>
                <a:ext uri="{FF2B5EF4-FFF2-40B4-BE49-F238E27FC236}">
                  <a16:creationId xmlns:a16="http://schemas.microsoft.com/office/drawing/2014/main" id="{EFFFA10B-0613-95E4-0F1F-7440D87B04A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312077" y="5216503"/>
              <a:ext cx="214283" cy="344100"/>
            </a:xfrm>
            <a:prstGeom prst="rect">
              <a:avLst/>
            </a:prstGeom>
          </p:spPr>
        </p:pic>
        <p:pic>
          <p:nvPicPr>
            <p:cNvPr id="185" name="Graphic 184" descr="Man with solid fill">
              <a:extLst>
                <a:ext uri="{FF2B5EF4-FFF2-40B4-BE49-F238E27FC236}">
                  <a16:creationId xmlns:a16="http://schemas.microsoft.com/office/drawing/2014/main" id="{AB5FD0FB-9CBC-C26D-BA71-2672F10BC68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137446" y="5665660"/>
              <a:ext cx="214283" cy="344100"/>
            </a:xfrm>
            <a:prstGeom prst="rect">
              <a:avLst/>
            </a:prstGeom>
          </p:spPr>
        </p:pic>
        <p:pic>
          <p:nvPicPr>
            <p:cNvPr id="186" name="Graphic 185" descr="Man with solid fill">
              <a:extLst>
                <a:ext uri="{FF2B5EF4-FFF2-40B4-BE49-F238E27FC236}">
                  <a16:creationId xmlns:a16="http://schemas.microsoft.com/office/drawing/2014/main" id="{35B9BED3-A9A8-AE75-8E71-AB3AD09F2CB0}"/>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446170" y="5665660"/>
              <a:ext cx="214283" cy="344100"/>
            </a:xfrm>
            <a:prstGeom prst="rect">
              <a:avLst/>
            </a:prstGeom>
          </p:spPr>
        </p:pic>
      </p:grpSp>
      <p:grpSp>
        <p:nvGrpSpPr>
          <p:cNvPr id="187" name="Group 186">
            <a:extLst>
              <a:ext uri="{FF2B5EF4-FFF2-40B4-BE49-F238E27FC236}">
                <a16:creationId xmlns:a16="http://schemas.microsoft.com/office/drawing/2014/main" id="{C134C363-0DE6-6337-C49E-1044D7065197}"/>
              </a:ext>
            </a:extLst>
          </p:cNvPr>
          <p:cNvGrpSpPr/>
          <p:nvPr/>
        </p:nvGrpSpPr>
        <p:grpSpPr>
          <a:xfrm>
            <a:off x="1234179" y="3179016"/>
            <a:ext cx="4261647" cy="2748464"/>
            <a:chOff x="3253577" y="3429000"/>
            <a:chExt cx="4261647" cy="2748464"/>
          </a:xfrm>
        </p:grpSpPr>
        <p:pic>
          <p:nvPicPr>
            <p:cNvPr id="188" name="Graphic 187" descr="Man with solid fill">
              <a:extLst>
                <a:ext uri="{FF2B5EF4-FFF2-40B4-BE49-F238E27FC236}">
                  <a16:creationId xmlns:a16="http://schemas.microsoft.com/office/drawing/2014/main" id="{58DF488A-C015-64EB-4D73-E2F0BC3D778E}"/>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490112" y="4713778"/>
              <a:ext cx="214283" cy="344100"/>
            </a:xfrm>
            <a:prstGeom prst="rect">
              <a:avLst/>
            </a:prstGeom>
          </p:spPr>
        </p:pic>
        <p:pic>
          <p:nvPicPr>
            <p:cNvPr id="189" name="Graphic 188" descr="Man and woman with solid fill">
              <a:extLst>
                <a:ext uri="{FF2B5EF4-FFF2-40B4-BE49-F238E27FC236}">
                  <a16:creationId xmlns:a16="http://schemas.microsoft.com/office/drawing/2014/main" id="{E8CF66BD-CD80-3428-8046-372588DC3C38}"/>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993338" y="4823508"/>
              <a:ext cx="214283" cy="344100"/>
            </a:xfrm>
            <a:prstGeom prst="rect">
              <a:avLst/>
            </a:prstGeom>
          </p:spPr>
        </p:pic>
        <p:pic>
          <p:nvPicPr>
            <p:cNvPr id="190" name="Graphic 189" descr="Man with kid with solid fill">
              <a:extLst>
                <a:ext uri="{FF2B5EF4-FFF2-40B4-BE49-F238E27FC236}">
                  <a16:creationId xmlns:a16="http://schemas.microsoft.com/office/drawing/2014/main" id="{AB3C73F5-B913-7226-DF84-D85E2907D34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498842" y="4896560"/>
              <a:ext cx="214283" cy="344100"/>
            </a:xfrm>
            <a:prstGeom prst="rect">
              <a:avLst/>
            </a:prstGeom>
          </p:spPr>
        </p:pic>
        <p:pic>
          <p:nvPicPr>
            <p:cNvPr id="191" name="Graphic 190" descr="Family with boy with solid fill">
              <a:extLst>
                <a:ext uri="{FF2B5EF4-FFF2-40B4-BE49-F238E27FC236}">
                  <a16:creationId xmlns:a16="http://schemas.microsoft.com/office/drawing/2014/main" id="{01DAEEDD-F033-7583-2FB8-4CAE7E8049CB}"/>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3749163" y="5277471"/>
              <a:ext cx="214283" cy="344100"/>
            </a:xfrm>
            <a:prstGeom prst="rect">
              <a:avLst/>
            </a:prstGeom>
          </p:spPr>
        </p:pic>
        <p:pic>
          <p:nvPicPr>
            <p:cNvPr id="192" name="Graphic 191" descr="Family with two children with solid fill">
              <a:extLst>
                <a:ext uri="{FF2B5EF4-FFF2-40B4-BE49-F238E27FC236}">
                  <a16:creationId xmlns:a16="http://schemas.microsoft.com/office/drawing/2014/main" id="{1D489352-141D-BB97-34AE-9A05B7EDBF5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568562" y="4151015"/>
              <a:ext cx="214283" cy="344100"/>
            </a:xfrm>
            <a:prstGeom prst="rect">
              <a:avLst/>
            </a:prstGeom>
          </p:spPr>
        </p:pic>
        <p:pic>
          <p:nvPicPr>
            <p:cNvPr id="193" name="Graphic 192" descr="Man with kid with solid fill">
              <a:extLst>
                <a:ext uri="{FF2B5EF4-FFF2-40B4-BE49-F238E27FC236}">
                  <a16:creationId xmlns:a16="http://schemas.microsoft.com/office/drawing/2014/main" id="{B821CBF4-0B0C-27ED-5ED8-327130849264}"/>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841172" y="4933371"/>
              <a:ext cx="214283" cy="344100"/>
            </a:xfrm>
            <a:prstGeom prst="rect">
              <a:avLst/>
            </a:prstGeom>
          </p:spPr>
        </p:pic>
        <p:pic>
          <p:nvPicPr>
            <p:cNvPr id="194" name="Graphic 193" descr="Family with two children with solid fill">
              <a:extLst>
                <a:ext uri="{FF2B5EF4-FFF2-40B4-BE49-F238E27FC236}">
                  <a16:creationId xmlns:a16="http://schemas.microsoft.com/office/drawing/2014/main" id="{3B50AD34-BB53-D842-B03F-E1FF881EF10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669514" y="5318829"/>
              <a:ext cx="214283" cy="344100"/>
            </a:xfrm>
            <a:prstGeom prst="rect">
              <a:avLst/>
            </a:prstGeom>
          </p:spPr>
        </p:pic>
        <p:pic>
          <p:nvPicPr>
            <p:cNvPr id="195" name="Graphic 194" descr="Man and woman with solid fill">
              <a:extLst>
                <a:ext uri="{FF2B5EF4-FFF2-40B4-BE49-F238E27FC236}">
                  <a16:creationId xmlns:a16="http://schemas.microsoft.com/office/drawing/2014/main" id="{BBA0BCD8-752E-3D9B-E57D-16D98A1358B2}"/>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094392" y="4685814"/>
              <a:ext cx="214283" cy="344100"/>
            </a:xfrm>
            <a:prstGeom prst="rect">
              <a:avLst/>
            </a:prstGeom>
          </p:spPr>
        </p:pic>
        <p:pic>
          <p:nvPicPr>
            <p:cNvPr id="196" name="Graphic 195" descr="Family with boy with solid fill">
              <a:extLst>
                <a:ext uri="{FF2B5EF4-FFF2-40B4-BE49-F238E27FC236}">
                  <a16:creationId xmlns:a16="http://schemas.microsoft.com/office/drawing/2014/main" id="{47D7659C-B008-17AD-E995-4D236E0B4424}"/>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7004019" y="4754347"/>
              <a:ext cx="214283" cy="344100"/>
            </a:xfrm>
            <a:prstGeom prst="rect">
              <a:avLst/>
            </a:prstGeom>
          </p:spPr>
        </p:pic>
        <p:pic>
          <p:nvPicPr>
            <p:cNvPr id="197" name="Graphic 196" descr="Man with solid fill">
              <a:extLst>
                <a:ext uri="{FF2B5EF4-FFF2-40B4-BE49-F238E27FC236}">
                  <a16:creationId xmlns:a16="http://schemas.microsoft.com/office/drawing/2014/main" id="{CF4A6A84-D077-1C6E-F865-06FFBB8A2CD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438263" y="5227132"/>
              <a:ext cx="214283" cy="344100"/>
            </a:xfrm>
            <a:prstGeom prst="rect">
              <a:avLst/>
            </a:prstGeom>
          </p:spPr>
        </p:pic>
        <p:pic>
          <p:nvPicPr>
            <p:cNvPr id="198" name="Graphic 197" descr="Two Men with solid fill">
              <a:extLst>
                <a:ext uri="{FF2B5EF4-FFF2-40B4-BE49-F238E27FC236}">
                  <a16:creationId xmlns:a16="http://schemas.microsoft.com/office/drawing/2014/main" id="{27B118EE-27C8-FED3-9EC4-E962CD5D7838}"/>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4438283" y="3676557"/>
              <a:ext cx="214283" cy="344100"/>
            </a:xfrm>
            <a:prstGeom prst="rect">
              <a:avLst/>
            </a:prstGeom>
          </p:spPr>
        </p:pic>
        <p:pic>
          <p:nvPicPr>
            <p:cNvPr id="199" name="Graphic 198" descr="Man and woman with solid fill">
              <a:extLst>
                <a:ext uri="{FF2B5EF4-FFF2-40B4-BE49-F238E27FC236}">
                  <a16:creationId xmlns:a16="http://schemas.microsoft.com/office/drawing/2014/main" id="{217FE2D4-284E-E7B7-67EF-F02DA2C835C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960609" y="4272780"/>
              <a:ext cx="214283" cy="344100"/>
            </a:xfrm>
            <a:prstGeom prst="rect">
              <a:avLst/>
            </a:prstGeom>
          </p:spPr>
        </p:pic>
        <p:pic>
          <p:nvPicPr>
            <p:cNvPr id="200" name="Graphic 199" descr="Man and woman with solid fill">
              <a:extLst>
                <a:ext uri="{FF2B5EF4-FFF2-40B4-BE49-F238E27FC236}">
                  <a16:creationId xmlns:a16="http://schemas.microsoft.com/office/drawing/2014/main" id="{68CEDB89-48C8-C8B3-6FDB-4FCD5474DDA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948314" y="5465772"/>
              <a:ext cx="214283" cy="344100"/>
            </a:xfrm>
            <a:prstGeom prst="rect">
              <a:avLst/>
            </a:prstGeom>
          </p:spPr>
        </p:pic>
        <p:pic>
          <p:nvPicPr>
            <p:cNvPr id="201" name="Graphic 200" descr="Man with solid fill">
              <a:extLst>
                <a:ext uri="{FF2B5EF4-FFF2-40B4-BE49-F238E27FC236}">
                  <a16:creationId xmlns:a16="http://schemas.microsoft.com/office/drawing/2014/main" id="{151FE3C7-FE6B-F2F5-7B53-33BFD4F6321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253577" y="4970455"/>
              <a:ext cx="214283" cy="344100"/>
            </a:xfrm>
            <a:prstGeom prst="rect">
              <a:avLst/>
            </a:prstGeom>
          </p:spPr>
        </p:pic>
        <p:pic>
          <p:nvPicPr>
            <p:cNvPr id="202" name="Graphic 201" descr="Man with solid fill">
              <a:extLst>
                <a:ext uri="{FF2B5EF4-FFF2-40B4-BE49-F238E27FC236}">
                  <a16:creationId xmlns:a16="http://schemas.microsoft.com/office/drawing/2014/main" id="{FA7BAD85-7D84-E5CF-1662-AF78935F0DB4}"/>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655844" y="4915214"/>
              <a:ext cx="214283" cy="344100"/>
            </a:xfrm>
            <a:prstGeom prst="rect">
              <a:avLst/>
            </a:prstGeom>
          </p:spPr>
        </p:pic>
        <p:pic>
          <p:nvPicPr>
            <p:cNvPr id="203" name="Graphic 202" descr="Man with solid fill">
              <a:extLst>
                <a:ext uri="{FF2B5EF4-FFF2-40B4-BE49-F238E27FC236}">
                  <a16:creationId xmlns:a16="http://schemas.microsoft.com/office/drawing/2014/main" id="{A671E904-A09F-AA12-F7F3-67104E3C4CC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695897" y="4838216"/>
              <a:ext cx="214283" cy="344100"/>
            </a:xfrm>
            <a:prstGeom prst="rect">
              <a:avLst/>
            </a:prstGeom>
          </p:spPr>
        </p:pic>
        <p:pic>
          <p:nvPicPr>
            <p:cNvPr id="204" name="Graphic 203" descr="Man and woman with solid fill">
              <a:extLst>
                <a:ext uri="{FF2B5EF4-FFF2-40B4-BE49-F238E27FC236}">
                  <a16:creationId xmlns:a16="http://schemas.microsoft.com/office/drawing/2014/main" id="{B200BBC5-B461-4F4F-171F-9AD7722FCD44}"/>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803815" y="3970035"/>
              <a:ext cx="214283" cy="344100"/>
            </a:xfrm>
            <a:prstGeom prst="rect">
              <a:avLst/>
            </a:prstGeom>
          </p:spPr>
        </p:pic>
        <p:pic>
          <p:nvPicPr>
            <p:cNvPr id="205" name="Graphic 204" descr="Man with kid with solid fill">
              <a:extLst>
                <a:ext uri="{FF2B5EF4-FFF2-40B4-BE49-F238E27FC236}">
                  <a16:creationId xmlns:a16="http://schemas.microsoft.com/office/drawing/2014/main" id="{BC95C8C0-2EDD-8803-5332-4F7D6C6021BA}"/>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704627" y="5020998"/>
              <a:ext cx="214283" cy="344100"/>
            </a:xfrm>
            <a:prstGeom prst="rect">
              <a:avLst/>
            </a:prstGeom>
          </p:spPr>
        </p:pic>
        <p:pic>
          <p:nvPicPr>
            <p:cNvPr id="206" name="Graphic 205" descr="Family with boy with solid fill">
              <a:extLst>
                <a:ext uri="{FF2B5EF4-FFF2-40B4-BE49-F238E27FC236}">
                  <a16:creationId xmlns:a16="http://schemas.microsoft.com/office/drawing/2014/main" id="{BA851BC2-A2A2-31EA-2314-02444B9FC24C}"/>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983708" y="4272293"/>
              <a:ext cx="214283" cy="344100"/>
            </a:xfrm>
            <a:prstGeom prst="rect">
              <a:avLst/>
            </a:prstGeom>
          </p:spPr>
        </p:pic>
        <p:pic>
          <p:nvPicPr>
            <p:cNvPr id="207" name="Graphic 206" descr="Family with two children with solid fill">
              <a:extLst>
                <a:ext uri="{FF2B5EF4-FFF2-40B4-BE49-F238E27FC236}">
                  <a16:creationId xmlns:a16="http://schemas.microsoft.com/office/drawing/2014/main" id="{193ADF92-BBC0-2A73-0E4D-3BB55D5F6E41}"/>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521223" y="5443267"/>
              <a:ext cx="214283" cy="344100"/>
            </a:xfrm>
            <a:prstGeom prst="rect">
              <a:avLst/>
            </a:prstGeom>
          </p:spPr>
        </p:pic>
        <p:pic>
          <p:nvPicPr>
            <p:cNvPr id="208" name="Graphic 207" descr="Man with kid with solid fill">
              <a:extLst>
                <a:ext uri="{FF2B5EF4-FFF2-40B4-BE49-F238E27FC236}">
                  <a16:creationId xmlns:a16="http://schemas.microsoft.com/office/drawing/2014/main" id="{1B7C11E8-4630-F466-AB34-6D863E935FB0}"/>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245680" y="3978965"/>
              <a:ext cx="214283" cy="344100"/>
            </a:xfrm>
            <a:prstGeom prst="rect">
              <a:avLst/>
            </a:prstGeom>
          </p:spPr>
        </p:pic>
        <p:pic>
          <p:nvPicPr>
            <p:cNvPr id="209" name="Graphic 208" descr="Family with two children with solid fill">
              <a:extLst>
                <a:ext uri="{FF2B5EF4-FFF2-40B4-BE49-F238E27FC236}">
                  <a16:creationId xmlns:a16="http://schemas.microsoft.com/office/drawing/2014/main" id="{33C1657B-E1B3-37C3-0EE9-AFE00D25BC7D}"/>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302176" y="3615274"/>
              <a:ext cx="214283" cy="344100"/>
            </a:xfrm>
            <a:prstGeom prst="rect">
              <a:avLst/>
            </a:prstGeom>
          </p:spPr>
        </p:pic>
        <p:pic>
          <p:nvPicPr>
            <p:cNvPr id="210" name="Graphic 209" descr="Man and woman with solid fill">
              <a:extLst>
                <a:ext uri="{FF2B5EF4-FFF2-40B4-BE49-F238E27FC236}">
                  <a16:creationId xmlns:a16="http://schemas.microsoft.com/office/drawing/2014/main" id="{5A885DF6-C164-269C-686B-0F38FFAC7B9D}"/>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433984" y="4091495"/>
              <a:ext cx="214283" cy="344100"/>
            </a:xfrm>
            <a:prstGeom prst="rect">
              <a:avLst/>
            </a:prstGeom>
          </p:spPr>
        </p:pic>
        <p:pic>
          <p:nvPicPr>
            <p:cNvPr id="211" name="Graphic 210" descr="Family with boy with solid fill">
              <a:extLst>
                <a:ext uri="{FF2B5EF4-FFF2-40B4-BE49-F238E27FC236}">
                  <a16:creationId xmlns:a16="http://schemas.microsoft.com/office/drawing/2014/main" id="{48737671-0DF3-AE66-7832-0A15B215884B}"/>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254540" y="5661314"/>
              <a:ext cx="214283" cy="344100"/>
            </a:xfrm>
            <a:prstGeom prst="rect">
              <a:avLst/>
            </a:prstGeom>
          </p:spPr>
        </p:pic>
        <p:pic>
          <p:nvPicPr>
            <p:cNvPr id="212" name="Graphic 211" descr="Man with solid fill">
              <a:extLst>
                <a:ext uri="{FF2B5EF4-FFF2-40B4-BE49-F238E27FC236}">
                  <a16:creationId xmlns:a16="http://schemas.microsoft.com/office/drawing/2014/main" id="{BD1C0497-96DA-7555-3EC0-86A85E9A82B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644048" y="5351570"/>
              <a:ext cx="214283" cy="344100"/>
            </a:xfrm>
            <a:prstGeom prst="rect">
              <a:avLst/>
            </a:prstGeom>
          </p:spPr>
        </p:pic>
        <p:pic>
          <p:nvPicPr>
            <p:cNvPr id="213" name="Graphic 212" descr="Two Men with solid fill">
              <a:extLst>
                <a:ext uri="{FF2B5EF4-FFF2-40B4-BE49-F238E27FC236}">
                  <a16:creationId xmlns:a16="http://schemas.microsoft.com/office/drawing/2014/main" id="{2CAC55CA-327E-C071-C5CF-96258E0CDD42}"/>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569485" y="3808108"/>
              <a:ext cx="214283" cy="344100"/>
            </a:xfrm>
            <a:prstGeom prst="rect">
              <a:avLst/>
            </a:prstGeom>
          </p:spPr>
        </p:pic>
        <p:pic>
          <p:nvPicPr>
            <p:cNvPr id="214" name="Graphic 213" descr="Man and woman with solid fill">
              <a:extLst>
                <a:ext uri="{FF2B5EF4-FFF2-40B4-BE49-F238E27FC236}">
                  <a16:creationId xmlns:a16="http://schemas.microsoft.com/office/drawing/2014/main" id="{D5CE22BE-AAC4-2CF8-69A8-4D52974F0D61}"/>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242423" y="5204689"/>
              <a:ext cx="214283" cy="344100"/>
            </a:xfrm>
            <a:prstGeom prst="rect">
              <a:avLst/>
            </a:prstGeom>
          </p:spPr>
        </p:pic>
        <p:pic>
          <p:nvPicPr>
            <p:cNvPr id="215" name="Graphic 214" descr="Man and woman with solid fill">
              <a:extLst>
                <a:ext uri="{FF2B5EF4-FFF2-40B4-BE49-F238E27FC236}">
                  <a16:creationId xmlns:a16="http://schemas.microsoft.com/office/drawing/2014/main" id="{F2CD739D-9FDD-94E8-EA54-A0A4BC645817}"/>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806137" y="4410915"/>
              <a:ext cx="214283" cy="344100"/>
            </a:xfrm>
            <a:prstGeom prst="rect">
              <a:avLst/>
            </a:prstGeom>
          </p:spPr>
        </p:pic>
        <p:pic>
          <p:nvPicPr>
            <p:cNvPr id="216" name="Graphic 215" descr="Man with solid fill">
              <a:extLst>
                <a:ext uri="{FF2B5EF4-FFF2-40B4-BE49-F238E27FC236}">
                  <a16:creationId xmlns:a16="http://schemas.microsoft.com/office/drawing/2014/main" id="{0CCD331F-A34B-181F-4AB0-8C1262E4214C}"/>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4977393" y="3659868"/>
              <a:ext cx="214283" cy="344100"/>
            </a:xfrm>
            <a:prstGeom prst="rect">
              <a:avLst/>
            </a:prstGeom>
          </p:spPr>
        </p:pic>
        <p:pic>
          <p:nvPicPr>
            <p:cNvPr id="217" name="Graphic 216" descr="Man with solid fill">
              <a:extLst>
                <a:ext uri="{FF2B5EF4-FFF2-40B4-BE49-F238E27FC236}">
                  <a16:creationId xmlns:a16="http://schemas.microsoft.com/office/drawing/2014/main" id="{522F678A-06E1-4780-315D-32F504DABCA6}"/>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861629" y="5039652"/>
              <a:ext cx="214283" cy="344100"/>
            </a:xfrm>
            <a:prstGeom prst="rect">
              <a:avLst/>
            </a:prstGeom>
          </p:spPr>
        </p:pic>
        <p:pic>
          <p:nvPicPr>
            <p:cNvPr id="218" name="Graphic 217" descr="Man with solid fill">
              <a:extLst>
                <a:ext uri="{FF2B5EF4-FFF2-40B4-BE49-F238E27FC236}">
                  <a16:creationId xmlns:a16="http://schemas.microsoft.com/office/drawing/2014/main" id="{3F6C2E25-2FC2-3219-3625-64C9D3AFF58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797715" y="3456964"/>
              <a:ext cx="214283" cy="344100"/>
            </a:xfrm>
            <a:prstGeom prst="rect">
              <a:avLst/>
            </a:prstGeom>
          </p:spPr>
        </p:pic>
        <p:pic>
          <p:nvPicPr>
            <p:cNvPr id="219" name="Graphic 218" descr="Man and woman with solid fill">
              <a:extLst>
                <a:ext uri="{FF2B5EF4-FFF2-40B4-BE49-F238E27FC236}">
                  <a16:creationId xmlns:a16="http://schemas.microsoft.com/office/drawing/2014/main" id="{829BB908-D013-91A5-8192-FCA086A3F50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300941" y="3566694"/>
              <a:ext cx="214283" cy="344100"/>
            </a:xfrm>
            <a:prstGeom prst="rect">
              <a:avLst/>
            </a:prstGeom>
          </p:spPr>
        </p:pic>
        <p:pic>
          <p:nvPicPr>
            <p:cNvPr id="220" name="Graphic 219" descr="Man with kid with solid fill">
              <a:extLst>
                <a:ext uri="{FF2B5EF4-FFF2-40B4-BE49-F238E27FC236}">
                  <a16:creationId xmlns:a16="http://schemas.microsoft.com/office/drawing/2014/main" id="{27B2447D-99D2-B1CD-1C88-13980C2233E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6806445" y="3639746"/>
              <a:ext cx="214283" cy="344100"/>
            </a:xfrm>
            <a:prstGeom prst="rect">
              <a:avLst/>
            </a:prstGeom>
          </p:spPr>
        </p:pic>
        <p:pic>
          <p:nvPicPr>
            <p:cNvPr id="221" name="Graphic 220" descr="Family with boy with solid fill">
              <a:extLst>
                <a:ext uri="{FF2B5EF4-FFF2-40B4-BE49-F238E27FC236}">
                  <a16:creationId xmlns:a16="http://schemas.microsoft.com/office/drawing/2014/main" id="{29C2CB55-E69D-C89D-6748-11DF653BAEEB}"/>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369579" y="5246095"/>
              <a:ext cx="214283" cy="344100"/>
            </a:xfrm>
            <a:prstGeom prst="rect">
              <a:avLst/>
            </a:prstGeom>
          </p:spPr>
        </p:pic>
        <p:pic>
          <p:nvPicPr>
            <p:cNvPr id="222" name="Graphic 221" descr="Family with two children with solid fill">
              <a:extLst>
                <a:ext uri="{FF2B5EF4-FFF2-40B4-BE49-F238E27FC236}">
                  <a16:creationId xmlns:a16="http://schemas.microsoft.com/office/drawing/2014/main" id="{AE45BA3E-962B-BADD-7F8E-310DD253CDD3}"/>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369970" y="4850616"/>
              <a:ext cx="214283" cy="344100"/>
            </a:xfrm>
            <a:prstGeom prst="rect">
              <a:avLst/>
            </a:prstGeom>
          </p:spPr>
        </p:pic>
        <p:pic>
          <p:nvPicPr>
            <p:cNvPr id="223" name="Graphic 222" descr="Man with kid with solid fill">
              <a:extLst>
                <a:ext uri="{FF2B5EF4-FFF2-40B4-BE49-F238E27FC236}">
                  <a16:creationId xmlns:a16="http://schemas.microsoft.com/office/drawing/2014/main" id="{8198E27F-C7EB-6DDE-3A87-2E3F85A5223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7148775" y="3676557"/>
              <a:ext cx="214283" cy="344100"/>
            </a:xfrm>
            <a:prstGeom prst="rect">
              <a:avLst/>
            </a:prstGeom>
          </p:spPr>
        </p:pic>
        <p:pic>
          <p:nvPicPr>
            <p:cNvPr id="224" name="Graphic 223" descr="Family with two children with solid fill">
              <a:extLst>
                <a:ext uri="{FF2B5EF4-FFF2-40B4-BE49-F238E27FC236}">
                  <a16:creationId xmlns:a16="http://schemas.microsoft.com/office/drawing/2014/main" id="{95A8189A-8DE6-B772-737E-B800C8F3929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6977117" y="4062015"/>
              <a:ext cx="214283" cy="344100"/>
            </a:xfrm>
            <a:prstGeom prst="rect">
              <a:avLst/>
            </a:prstGeom>
          </p:spPr>
        </p:pic>
        <p:pic>
          <p:nvPicPr>
            <p:cNvPr id="225" name="Graphic 224" descr="Man and woman with solid fill">
              <a:extLst>
                <a:ext uri="{FF2B5EF4-FFF2-40B4-BE49-F238E27FC236}">
                  <a16:creationId xmlns:a16="http://schemas.microsoft.com/office/drawing/2014/main" id="{BA3A03FB-7738-9D33-BF46-5827E505FFBC}"/>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6401995" y="3429000"/>
              <a:ext cx="214283" cy="344100"/>
            </a:xfrm>
            <a:prstGeom prst="rect">
              <a:avLst/>
            </a:prstGeom>
          </p:spPr>
        </p:pic>
        <p:pic>
          <p:nvPicPr>
            <p:cNvPr id="226" name="Graphic 225" descr="Family with boy with solid fill">
              <a:extLst>
                <a:ext uri="{FF2B5EF4-FFF2-40B4-BE49-F238E27FC236}">
                  <a16:creationId xmlns:a16="http://schemas.microsoft.com/office/drawing/2014/main" id="{6692025B-681F-562B-2105-1C805A01C830}"/>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356358" y="4280062"/>
              <a:ext cx="214283" cy="344100"/>
            </a:xfrm>
            <a:prstGeom prst="rect">
              <a:avLst/>
            </a:prstGeom>
          </p:spPr>
        </p:pic>
        <p:pic>
          <p:nvPicPr>
            <p:cNvPr id="227" name="Graphic 226" descr="Man with solid fill">
              <a:extLst>
                <a:ext uri="{FF2B5EF4-FFF2-40B4-BE49-F238E27FC236}">
                  <a16:creationId xmlns:a16="http://schemas.microsoft.com/office/drawing/2014/main" id="{B6A56648-ACB6-498C-BACD-C00BDFE6F692}"/>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256693" y="5182364"/>
              <a:ext cx="214283" cy="344100"/>
            </a:xfrm>
            <a:prstGeom prst="rect">
              <a:avLst/>
            </a:prstGeom>
          </p:spPr>
        </p:pic>
        <p:pic>
          <p:nvPicPr>
            <p:cNvPr id="228" name="Graphic 227" descr="Two Men with solid fill">
              <a:extLst>
                <a:ext uri="{FF2B5EF4-FFF2-40B4-BE49-F238E27FC236}">
                  <a16:creationId xmlns:a16="http://schemas.microsoft.com/office/drawing/2014/main" id="{FA6E338E-6EA4-83FF-35B0-CE326A31D11F}"/>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6680764" y="5785428"/>
              <a:ext cx="214283" cy="344100"/>
            </a:xfrm>
            <a:prstGeom prst="rect">
              <a:avLst/>
            </a:prstGeom>
          </p:spPr>
        </p:pic>
        <p:pic>
          <p:nvPicPr>
            <p:cNvPr id="229" name="Graphic 228" descr="Man and woman with solid fill">
              <a:extLst>
                <a:ext uri="{FF2B5EF4-FFF2-40B4-BE49-F238E27FC236}">
                  <a16:creationId xmlns:a16="http://schemas.microsoft.com/office/drawing/2014/main" id="{DEF08742-17EC-A86B-3EC7-3B22ED5BEE2D}"/>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986542" y="5404984"/>
              <a:ext cx="214283" cy="344100"/>
            </a:xfrm>
            <a:prstGeom prst="rect">
              <a:avLst/>
            </a:prstGeom>
          </p:spPr>
        </p:pic>
        <p:pic>
          <p:nvPicPr>
            <p:cNvPr id="230" name="Graphic 229" descr="Man and woman with solid fill">
              <a:extLst>
                <a:ext uri="{FF2B5EF4-FFF2-40B4-BE49-F238E27FC236}">
                  <a16:creationId xmlns:a16="http://schemas.microsoft.com/office/drawing/2014/main" id="{F9F65A1A-2ABB-3A7A-0E2E-F9520445517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860053" y="5833364"/>
              <a:ext cx="214283" cy="344100"/>
            </a:xfrm>
            <a:prstGeom prst="rect">
              <a:avLst/>
            </a:prstGeom>
          </p:spPr>
        </p:pic>
        <p:pic>
          <p:nvPicPr>
            <p:cNvPr id="231" name="Graphic 230" descr="Man with solid fill">
              <a:extLst>
                <a:ext uri="{FF2B5EF4-FFF2-40B4-BE49-F238E27FC236}">
                  <a16:creationId xmlns:a16="http://schemas.microsoft.com/office/drawing/2014/main" id="{ECA8B00F-1BB5-22CD-E4AC-294E9C483900}"/>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561180" y="3713641"/>
              <a:ext cx="214283" cy="344100"/>
            </a:xfrm>
            <a:prstGeom prst="rect">
              <a:avLst/>
            </a:prstGeom>
          </p:spPr>
        </p:pic>
        <p:pic>
          <p:nvPicPr>
            <p:cNvPr id="232" name="Graphic 231" descr="Man with solid fill">
              <a:extLst>
                <a:ext uri="{FF2B5EF4-FFF2-40B4-BE49-F238E27FC236}">
                  <a16:creationId xmlns:a16="http://schemas.microsoft.com/office/drawing/2014/main" id="{2D89A4D3-AD26-4746-29A4-27024FF7B50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963447" y="3658400"/>
              <a:ext cx="214283" cy="344100"/>
            </a:xfrm>
            <a:prstGeom prst="rect">
              <a:avLst/>
            </a:prstGeom>
          </p:spPr>
        </p:pic>
        <p:pic>
          <p:nvPicPr>
            <p:cNvPr id="233" name="Graphic 232" descr="Man with solid fill">
              <a:extLst>
                <a:ext uri="{FF2B5EF4-FFF2-40B4-BE49-F238E27FC236}">
                  <a16:creationId xmlns:a16="http://schemas.microsoft.com/office/drawing/2014/main" id="{0BA85E1B-0677-BEBD-BDFD-D131EC0CA92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791882" y="3736663"/>
              <a:ext cx="214283" cy="344100"/>
            </a:xfrm>
            <a:prstGeom prst="rect">
              <a:avLst/>
            </a:prstGeom>
          </p:spPr>
        </p:pic>
        <p:pic>
          <p:nvPicPr>
            <p:cNvPr id="234" name="Graphic 233" descr="Man and woman with solid fill">
              <a:extLst>
                <a:ext uri="{FF2B5EF4-FFF2-40B4-BE49-F238E27FC236}">
                  <a16:creationId xmlns:a16="http://schemas.microsoft.com/office/drawing/2014/main" id="{5C3C0D6B-5D3E-A4C7-DC0E-C30FDB3EDDF9}"/>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4521923" y="5683695"/>
              <a:ext cx="214283" cy="344100"/>
            </a:xfrm>
            <a:prstGeom prst="rect">
              <a:avLst/>
            </a:prstGeom>
          </p:spPr>
        </p:pic>
        <p:pic>
          <p:nvPicPr>
            <p:cNvPr id="235" name="Graphic 234" descr="Man with kid with solid fill">
              <a:extLst>
                <a:ext uri="{FF2B5EF4-FFF2-40B4-BE49-F238E27FC236}">
                  <a16:creationId xmlns:a16="http://schemas.microsoft.com/office/drawing/2014/main" id="{E57EA84A-F977-CAD7-57D2-277065645099}"/>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4800612" y="3919445"/>
              <a:ext cx="214283" cy="344100"/>
            </a:xfrm>
            <a:prstGeom prst="rect">
              <a:avLst/>
            </a:prstGeom>
          </p:spPr>
        </p:pic>
        <p:pic>
          <p:nvPicPr>
            <p:cNvPr id="236" name="Graphic 235" descr="Family with boy with solid fill">
              <a:extLst>
                <a:ext uri="{FF2B5EF4-FFF2-40B4-BE49-F238E27FC236}">
                  <a16:creationId xmlns:a16="http://schemas.microsoft.com/office/drawing/2014/main" id="{49E4633B-12C8-382E-C88B-9E4ECC348E39}"/>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6341362" y="4735609"/>
              <a:ext cx="214283" cy="344100"/>
            </a:xfrm>
            <a:prstGeom prst="rect">
              <a:avLst/>
            </a:prstGeom>
          </p:spPr>
        </p:pic>
        <p:pic>
          <p:nvPicPr>
            <p:cNvPr id="237" name="Graphic 236" descr="Family with two children with solid fill">
              <a:extLst>
                <a:ext uri="{FF2B5EF4-FFF2-40B4-BE49-F238E27FC236}">
                  <a16:creationId xmlns:a16="http://schemas.microsoft.com/office/drawing/2014/main" id="{2D82C19E-606A-DE5C-43AB-89588A568144}"/>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4617208" y="4341714"/>
              <a:ext cx="214283" cy="344100"/>
            </a:xfrm>
            <a:prstGeom prst="rect">
              <a:avLst/>
            </a:prstGeom>
          </p:spPr>
        </p:pic>
        <p:pic>
          <p:nvPicPr>
            <p:cNvPr id="238" name="Graphic 237" descr="Man with kid with solid fill">
              <a:extLst>
                <a:ext uri="{FF2B5EF4-FFF2-40B4-BE49-F238E27FC236}">
                  <a16:creationId xmlns:a16="http://schemas.microsoft.com/office/drawing/2014/main" id="{E2A1019C-5A43-0DC3-8E2B-9567F6B11336}"/>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5142942" y="3956256"/>
              <a:ext cx="214283" cy="344100"/>
            </a:xfrm>
            <a:prstGeom prst="rect">
              <a:avLst/>
            </a:prstGeom>
          </p:spPr>
        </p:pic>
        <p:pic>
          <p:nvPicPr>
            <p:cNvPr id="239" name="Graphic 238" descr="Family with two children with solid fill">
              <a:extLst>
                <a:ext uri="{FF2B5EF4-FFF2-40B4-BE49-F238E27FC236}">
                  <a16:creationId xmlns:a16="http://schemas.microsoft.com/office/drawing/2014/main" id="{9DA65382-451E-D146-6626-B4521791EC92}"/>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5650183" y="4531665"/>
              <a:ext cx="214283" cy="344100"/>
            </a:xfrm>
            <a:prstGeom prst="rect">
              <a:avLst/>
            </a:prstGeom>
          </p:spPr>
        </p:pic>
        <p:pic>
          <p:nvPicPr>
            <p:cNvPr id="240" name="Graphic 239" descr="Man and woman with solid fill">
              <a:extLst>
                <a:ext uri="{FF2B5EF4-FFF2-40B4-BE49-F238E27FC236}">
                  <a16:creationId xmlns:a16="http://schemas.microsoft.com/office/drawing/2014/main" id="{F4BD5542-FF59-0E8C-2649-AA0354EEAFA5}"/>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3962845" y="5046774"/>
              <a:ext cx="214283" cy="344100"/>
            </a:xfrm>
            <a:prstGeom prst="rect">
              <a:avLst/>
            </a:prstGeom>
          </p:spPr>
        </p:pic>
        <p:pic>
          <p:nvPicPr>
            <p:cNvPr id="241" name="Graphic 240" descr="Family with boy with solid fill">
              <a:extLst>
                <a:ext uri="{FF2B5EF4-FFF2-40B4-BE49-F238E27FC236}">
                  <a16:creationId xmlns:a16="http://schemas.microsoft.com/office/drawing/2014/main" id="{218EC326-15F1-8790-5ABC-7C6E8E74299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350525" y="4559761"/>
              <a:ext cx="214283" cy="344100"/>
            </a:xfrm>
            <a:prstGeom prst="rect">
              <a:avLst/>
            </a:prstGeom>
          </p:spPr>
        </p:pic>
        <p:pic>
          <p:nvPicPr>
            <p:cNvPr id="242" name="Graphic 241" descr="Man with solid fill">
              <a:extLst>
                <a:ext uri="{FF2B5EF4-FFF2-40B4-BE49-F238E27FC236}">
                  <a16:creationId xmlns:a16="http://schemas.microsoft.com/office/drawing/2014/main" id="{32561391-3059-FFF3-6931-6A809A8BAC87}"/>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740033" y="4250017"/>
              <a:ext cx="214283" cy="344100"/>
            </a:xfrm>
            <a:prstGeom prst="rect">
              <a:avLst/>
            </a:prstGeom>
          </p:spPr>
        </p:pic>
        <p:pic>
          <p:nvPicPr>
            <p:cNvPr id="243" name="Graphic 242" descr="Two Men with solid fill">
              <a:extLst>
                <a:ext uri="{FF2B5EF4-FFF2-40B4-BE49-F238E27FC236}">
                  <a16:creationId xmlns:a16="http://schemas.microsoft.com/office/drawing/2014/main" id="{FAB75A53-6F1F-77F1-BE13-C01C071D481C}"/>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749164" y="5728809"/>
              <a:ext cx="214283" cy="344100"/>
            </a:xfrm>
            <a:prstGeom prst="rect">
              <a:avLst/>
            </a:prstGeom>
          </p:spPr>
        </p:pic>
        <p:pic>
          <p:nvPicPr>
            <p:cNvPr id="244" name="Graphic 243" descr="Man and woman with solid fill">
              <a:extLst>
                <a:ext uri="{FF2B5EF4-FFF2-40B4-BE49-F238E27FC236}">
                  <a16:creationId xmlns:a16="http://schemas.microsoft.com/office/drawing/2014/main" id="{D86FAF14-3221-7E38-4F1E-9581AA1E7A1F}"/>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315702" y="5586500"/>
              <a:ext cx="214283" cy="344100"/>
            </a:xfrm>
            <a:prstGeom prst="rect">
              <a:avLst/>
            </a:prstGeom>
          </p:spPr>
        </p:pic>
        <p:pic>
          <p:nvPicPr>
            <p:cNvPr id="245" name="Graphic 244" descr="Man and woman with solid fill">
              <a:extLst>
                <a:ext uri="{FF2B5EF4-FFF2-40B4-BE49-F238E27FC236}">
                  <a16:creationId xmlns:a16="http://schemas.microsoft.com/office/drawing/2014/main" id="{33B936EA-297B-D689-5C1D-0883F64ED55D}"/>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5250084" y="4488657"/>
              <a:ext cx="214283" cy="344100"/>
            </a:xfrm>
            <a:prstGeom prst="rect">
              <a:avLst/>
            </a:prstGeom>
          </p:spPr>
        </p:pic>
        <p:pic>
          <p:nvPicPr>
            <p:cNvPr id="246" name="Graphic 245" descr="Man with solid fill">
              <a:extLst>
                <a:ext uri="{FF2B5EF4-FFF2-40B4-BE49-F238E27FC236}">
                  <a16:creationId xmlns:a16="http://schemas.microsoft.com/office/drawing/2014/main" id="{B1A09DFD-048C-8196-0718-6BA675B1F22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555347" y="3993340"/>
              <a:ext cx="214283" cy="344100"/>
            </a:xfrm>
            <a:prstGeom prst="rect">
              <a:avLst/>
            </a:prstGeom>
          </p:spPr>
        </p:pic>
        <p:pic>
          <p:nvPicPr>
            <p:cNvPr id="247" name="Graphic 246" descr="Man with solid fill">
              <a:extLst>
                <a:ext uri="{FF2B5EF4-FFF2-40B4-BE49-F238E27FC236}">
                  <a16:creationId xmlns:a16="http://schemas.microsoft.com/office/drawing/2014/main" id="{03F4F15D-BF33-79A8-A48F-A400102F5003}"/>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3957614" y="3938099"/>
              <a:ext cx="214283" cy="344100"/>
            </a:xfrm>
            <a:prstGeom prst="rect">
              <a:avLst/>
            </a:prstGeom>
          </p:spPr>
        </p:pic>
      </p:grpSp>
      <p:sp>
        <p:nvSpPr>
          <p:cNvPr id="248" name="TextBox 247">
            <a:extLst>
              <a:ext uri="{FF2B5EF4-FFF2-40B4-BE49-F238E27FC236}">
                <a16:creationId xmlns:a16="http://schemas.microsoft.com/office/drawing/2014/main" id="{ECFA37C1-C9C3-1BFC-6F09-BDC666F3D5FA}"/>
              </a:ext>
            </a:extLst>
          </p:cNvPr>
          <p:cNvSpPr txBox="1"/>
          <p:nvPr/>
        </p:nvSpPr>
        <p:spPr>
          <a:xfrm>
            <a:off x="6882714" y="2619632"/>
            <a:ext cx="3422821" cy="369332"/>
          </a:xfrm>
          <a:prstGeom prst="rect">
            <a:avLst/>
          </a:prstGeom>
          <a:noFill/>
        </p:spPr>
        <p:txBody>
          <a:bodyPr wrap="square" rtlCol="0">
            <a:spAutoFit/>
          </a:bodyPr>
          <a:lstStyle/>
          <a:p>
            <a:r>
              <a:rPr lang="en-US" b="1" dirty="0"/>
              <a:t>Stratify and sample</a:t>
            </a:r>
          </a:p>
        </p:txBody>
      </p:sp>
    </p:spTree>
    <p:extLst>
      <p:ext uri="{BB962C8B-B14F-4D97-AF65-F5344CB8AC3E}">
        <p14:creationId xmlns:p14="http://schemas.microsoft.com/office/powerpoint/2010/main" val="194566073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92BF7-7C00-51BF-3585-2D971A3620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9ADA52-40F4-4543-4D5D-CEB9DAD92D8D}"/>
              </a:ext>
            </a:extLst>
          </p:cNvPr>
          <p:cNvSpPr>
            <a:spLocks noGrp="1"/>
          </p:cNvSpPr>
          <p:nvPr>
            <p:ph idx="1"/>
          </p:nvPr>
        </p:nvSpPr>
        <p:spPr/>
        <p:txBody>
          <a:bodyPr/>
          <a:lstStyle/>
          <a:p>
            <a:pPr marL="742950" indent="-742950">
              <a:buFont typeface="+mj-lt"/>
              <a:buAutoNum type="arabicPeriod"/>
            </a:pPr>
            <a:r>
              <a:rPr lang="en-US" sz="1800" dirty="0">
                <a:solidFill>
                  <a:schemeClr val="bg2">
                    <a:lumMod val="85000"/>
                  </a:schemeClr>
                </a:solidFill>
              </a:rPr>
              <a:t>Controls</a:t>
            </a:r>
          </a:p>
          <a:p>
            <a:pPr marL="742950" indent="-742950">
              <a:buFont typeface="+mj-lt"/>
              <a:buAutoNum type="arabicPeriod"/>
            </a:pPr>
            <a:r>
              <a:rPr lang="en-US" sz="1800" dirty="0">
                <a:solidFill>
                  <a:schemeClr val="bg2">
                    <a:lumMod val="85000"/>
                  </a:schemeClr>
                </a:solidFill>
              </a:rPr>
              <a:t>Allocation of Treatment</a:t>
            </a:r>
          </a:p>
          <a:p>
            <a:pPr marL="742950" indent="-742950">
              <a:buFont typeface="+mj-lt"/>
              <a:buAutoNum type="arabicPeriod"/>
            </a:pPr>
            <a:r>
              <a:rPr lang="en-US" sz="1800" b="1" dirty="0"/>
              <a:t>People should be counted in the groups they were assigned to. </a:t>
            </a:r>
            <a:r>
              <a:rPr lang="en-US" sz="1800" dirty="0"/>
              <a:t>Even if they don’t get the vaccine in the end. Measures the act of prescription (less relevant for vaccines).</a:t>
            </a:r>
          </a:p>
          <a:p>
            <a:pPr marL="742950" indent="-742950">
              <a:buFont typeface="+mj-lt"/>
              <a:buAutoNum type="arabicPeriod"/>
            </a:pPr>
            <a:r>
              <a:rPr lang="en-US" sz="1800" dirty="0">
                <a:solidFill>
                  <a:schemeClr val="bg2">
                    <a:lumMod val="85000"/>
                  </a:schemeClr>
                </a:solidFill>
              </a:rPr>
              <a:t>People should be blinded to their group.</a:t>
            </a:r>
          </a:p>
          <a:p>
            <a:pPr marL="742950" indent="-742950">
              <a:buFont typeface="+mj-lt"/>
              <a:buAutoNum type="arabicPeriod"/>
            </a:pPr>
            <a:r>
              <a:rPr lang="en-US" sz="1800" dirty="0">
                <a:solidFill>
                  <a:schemeClr val="bg2">
                    <a:lumMod val="85000"/>
                  </a:schemeClr>
                </a:solidFill>
              </a:rPr>
              <a:t>Groups should be equally treated. </a:t>
            </a:r>
          </a:p>
          <a:p>
            <a:pPr marL="742950" indent="-742950">
              <a:buFont typeface="+mj-lt"/>
              <a:buAutoNum type="arabicPeriod"/>
            </a:pPr>
            <a:r>
              <a:rPr lang="en-US" sz="1800" dirty="0">
                <a:solidFill>
                  <a:schemeClr val="bg2">
                    <a:lumMod val="85000"/>
                  </a:schemeClr>
                </a:solidFill>
              </a:rPr>
              <a:t>People doing the final assessment shouldn’t know which group the subjects are in. </a:t>
            </a:r>
          </a:p>
          <a:p>
            <a:pPr marL="742950" indent="-742950">
              <a:buFont typeface="+mj-lt"/>
              <a:buAutoNum type="arabicPeriod"/>
            </a:pPr>
            <a:r>
              <a:rPr lang="en-US" sz="1800" dirty="0">
                <a:solidFill>
                  <a:schemeClr val="bg2">
                    <a:lumMod val="85000"/>
                  </a:schemeClr>
                </a:solidFill>
              </a:rPr>
              <a:t>Measure everyone.</a:t>
            </a:r>
          </a:p>
        </p:txBody>
      </p:sp>
      <p:sp>
        <p:nvSpPr>
          <p:cNvPr id="7" name="Title 1">
            <a:extLst>
              <a:ext uri="{FF2B5EF4-FFF2-40B4-BE49-F238E27FC236}">
                <a16:creationId xmlns:a16="http://schemas.microsoft.com/office/drawing/2014/main" id="{B526A559-56DD-003A-FCC8-8845F27E2F28}"/>
              </a:ext>
            </a:extLst>
          </p:cNvPr>
          <p:cNvSpPr>
            <a:spLocks noGrp="1"/>
          </p:cNvSpPr>
          <p:nvPr>
            <p:ph type="title"/>
          </p:nvPr>
        </p:nvSpPr>
        <p:spPr>
          <a:xfrm>
            <a:off x="480001" y="414260"/>
            <a:ext cx="11102399" cy="756000"/>
          </a:xfrm>
        </p:spPr>
        <p:txBody>
          <a:bodyPr>
            <a:normAutofit/>
          </a:bodyPr>
          <a:lstStyle/>
          <a:p>
            <a:r>
              <a:rPr lang="en-US" dirty="0"/>
              <a:t>Randomized Control Trials</a:t>
            </a:r>
          </a:p>
        </p:txBody>
      </p:sp>
    </p:spTree>
    <p:extLst>
      <p:ext uri="{BB962C8B-B14F-4D97-AF65-F5344CB8AC3E}">
        <p14:creationId xmlns:p14="http://schemas.microsoft.com/office/powerpoint/2010/main" val="306143424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A22B5-5318-7EFC-08BD-E3E569FF46A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07B7BB-FB2C-0975-5BE1-139A55FAD2D8}"/>
              </a:ext>
            </a:extLst>
          </p:cNvPr>
          <p:cNvSpPr>
            <a:spLocks noGrp="1"/>
          </p:cNvSpPr>
          <p:nvPr>
            <p:ph idx="1"/>
          </p:nvPr>
        </p:nvSpPr>
        <p:spPr/>
        <p:txBody>
          <a:bodyPr/>
          <a:lstStyle/>
          <a:p>
            <a:pPr marL="742950" indent="-742950">
              <a:buFont typeface="+mj-lt"/>
              <a:buAutoNum type="arabicPeriod"/>
            </a:pPr>
            <a:r>
              <a:rPr lang="en-US" sz="1800" dirty="0">
                <a:solidFill>
                  <a:schemeClr val="bg2">
                    <a:lumMod val="85000"/>
                  </a:schemeClr>
                </a:solidFill>
              </a:rPr>
              <a:t>Controls</a:t>
            </a:r>
          </a:p>
          <a:p>
            <a:pPr marL="742950" indent="-742950">
              <a:buFont typeface="+mj-lt"/>
              <a:buAutoNum type="arabicPeriod"/>
            </a:pPr>
            <a:r>
              <a:rPr lang="en-US" sz="1800" dirty="0">
                <a:solidFill>
                  <a:schemeClr val="bg2">
                    <a:lumMod val="85000"/>
                  </a:schemeClr>
                </a:solidFill>
              </a:rPr>
              <a:t>Allocation of Treatment: Randomly allocate participants to treatment and control. (a randomized controlled trial or RCT). </a:t>
            </a:r>
          </a:p>
          <a:p>
            <a:pPr marL="742950" indent="-742950">
              <a:buFont typeface="+mj-lt"/>
              <a:buAutoNum type="arabicPeriod"/>
            </a:pPr>
            <a:r>
              <a:rPr lang="en-US" sz="1800" dirty="0">
                <a:solidFill>
                  <a:schemeClr val="bg2">
                    <a:lumMod val="85000"/>
                  </a:schemeClr>
                </a:solidFill>
              </a:rPr>
              <a:t>People should be counted in the groups they were assigned to.</a:t>
            </a:r>
          </a:p>
          <a:p>
            <a:pPr marL="742950" indent="-742950">
              <a:buFont typeface="+mj-lt"/>
              <a:buAutoNum type="arabicPeriod"/>
            </a:pPr>
            <a:r>
              <a:rPr lang="en-US" sz="1800" b="1" dirty="0"/>
              <a:t>People should be blinded to their group.</a:t>
            </a:r>
            <a:r>
              <a:rPr lang="en-US" sz="1800" dirty="0"/>
              <a:t> So that they don’t do more risky activities assuming they have immunity.</a:t>
            </a:r>
          </a:p>
          <a:p>
            <a:pPr marL="742950" indent="-742950">
              <a:buFont typeface="+mj-lt"/>
              <a:buAutoNum type="arabicPeriod"/>
            </a:pPr>
            <a:r>
              <a:rPr lang="en-US" sz="1800" dirty="0">
                <a:solidFill>
                  <a:schemeClr val="bg2">
                    <a:lumMod val="85000"/>
                  </a:schemeClr>
                </a:solidFill>
              </a:rPr>
              <a:t>Groups should be equally treated. </a:t>
            </a:r>
          </a:p>
          <a:p>
            <a:pPr marL="742950" indent="-742950">
              <a:buFont typeface="+mj-lt"/>
              <a:buAutoNum type="arabicPeriod"/>
            </a:pPr>
            <a:r>
              <a:rPr lang="en-US" sz="1800" dirty="0">
                <a:solidFill>
                  <a:schemeClr val="bg2">
                    <a:lumMod val="85000"/>
                  </a:schemeClr>
                </a:solidFill>
              </a:rPr>
              <a:t>People doing the final assessment shouldn’t know which group the subjects are in. </a:t>
            </a:r>
          </a:p>
          <a:p>
            <a:pPr marL="742950" indent="-742950">
              <a:buFont typeface="+mj-lt"/>
              <a:buAutoNum type="arabicPeriod"/>
            </a:pPr>
            <a:r>
              <a:rPr lang="en-US" sz="1800" dirty="0">
                <a:solidFill>
                  <a:schemeClr val="bg2">
                    <a:lumMod val="85000"/>
                  </a:schemeClr>
                </a:solidFill>
              </a:rPr>
              <a:t>Measure everyone.</a:t>
            </a:r>
          </a:p>
        </p:txBody>
      </p:sp>
      <p:sp>
        <p:nvSpPr>
          <p:cNvPr id="6" name="Title 1">
            <a:extLst>
              <a:ext uri="{FF2B5EF4-FFF2-40B4-BE49-F238E27FC236}">
                <a16:creationId xmlns:a16="http://schemas.microsoft.com/office/drawing/2014/main" id="{BE8EB698-CEEC-CEDF-60D0-6A4078610C6F}"/>
              </a:ext>
            </a:extLst>
          </p:cNvPr>
          <p:cNvSpPr>
            <a:spLocks noGrp="1"/>
          </p:cNvSpPr>
          <p:nvPr>
            <p:ph type="title"/>
          </p:nvPr>
        </p:nvSpPr>
        <p:spPr>
          <a:xfrm>
            <a:off x="480001" y="414260"/>
            <a:ext cx="11102399" cy="756000"/>
          </a:xfrm>
        </p:spPr>
        <p:txBody>
          <a:bodyPr>
            <a:normAutofit/>
          </a:bodyPr>
          <a:lstStyle/>
          <a:p>
            <a:r>
              <a:rPr lang="en-US" dirty="0"/>
              <a:t>Randomized Control Trials</a:t>
            </a:r>
          </a:p>
        </p:txBody>
      </p:sp>
    </p:spTree>
    <p:extLst>
      <p:ext uri="{BB962C8B-B14F-4D97-AF65-F5344CB8AC3E}">
        <p14:creationId xmlns:p14="http://schemas.microsoft.com/office/powerpoint/2010/main" val="6035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09B5B-C721-CA2A-B707-5DD600E17C5D}"/>
              </a:ext>
            </a:extLst>
          </p:cNvPr>
          <p:cNvSpPr>
            <a:spLocks noGrp="1"/>
          </p:cNvSpPr>
          <p:nvPr>
            <p:ph type="title"/>
          </p:nvPr>
        </p:nvSpPr>
        <p:spPr/>
        <p:txBody>
          <a:bodyPr/>
          <a:lstStyle/>
          <a:p>
            <a:r>
              <a:rPr lang="en-US" dirty="0"/>
              <a:t>Levels of Blinding</a:t>
            </a:r>
          </a:p>
        </p:txBody>
      </p:sp>
      <p:sp>
        <p:nvSpPr>
          <p:cNvPr id="3" name="Content Placeholder 2">
            <a:extLst>
              <a:ext uri="{FF2B5EF4-FFF2-40B4-BE49-F238E27FC236}">
                <a16:creationId xmlns:a16="http://schemas.microsoft.com/office/drawing/2014/main" id="{A1A038E5-FF39-BEFC-49BF-AF23D6859EC6}"/>
              </a:ext>
            </a:extLst>
          </p:cNvPr>
          <p:cNvSpPr>
            <a:spLocks noGrp="1"/>
          </p:cNvSpPr>
          <p:nvPr>
            <p:ph idx="1"/>
          </p:nvPr>
        </p:nvSpPr>
        <p:spPr/>
        <p:txBody>
          <a:bodyPr/>
          <a:lstStyle/>
          <a:p>
            <a:r>
              <a:rPr lang="en-US" sz="4000" dirty="0"/>
              <a:t>Single-blinding: Participants</a:t>
            </a:r>
          </a:p>
          <a:p>
            <a:r>
              <a:rPr lang="en-US" sz="4000" dirty="0"/>
              <a:t>Double-blinding: Participants + People monitoring.</a:t>
            </a:r>
          </a:p>
          <a:p>
            <a:r>
              <a:rPr lang="en-US" sz="4000" dirty="0"/>
              <a:t>Triple-Blinding: Participants + People monitoring + Statisticians.</a:t>
            </a:r>
          </a:p>
        </p:txBody>
      </p:sp>
    </p:spTree>
    <p:extLst>
      <p:ext uri="{BB962C8B-B14F-4D97-AF65-F5344CB8AC3E}">
        <p14:creationId xmlns:p14="http://schemas.microsoft.com/office/powerpoint/2010/main" val="31679311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CD7B4-6C1C-DCA3-747C-64E719AF340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B539F6-6F5A-D50E-359B-A08B7F476991}"/>
              </a:ext>
            </a:extLst>
          </p:cNvPr>
          <p:cNvSpPr>
            <a:spLocks noGrp="1"/>
          </p:cNvSpPr>
          <p:nvPr>
            <p:ph idx="1"/>
          </p:nvPr>
        </p:nvSpPr>
        <p:spPr/>
        <p:txBody>
          <a:bodyPr/>
          <a:lstStyle/>
          <a:p>
            <a:pPr marL="742950" indent="-742950">
              <a:buFont typeface="+mj-lt"/>
              <a:buAutoNum type="arabicPeriod"/>
            </a:pPr>
            <a:r>
              <a:rPr lang="en-US" sz="1800" dirty="0">
                <a:solidFill>
                  <a:schemeClr val="bg2">
                    <a:lumMod val="85000"/>
                  </a:schemeClr>
                </a:solidFill>
              </a:rPr>
              <a:t>Controls</a:t>
            </a:r>
          </a:p>
          <a:p>
            <a:pPr marL="742950" indent="-742950">
              <a:buFont typeface="+mj-lt"/>
              <a:buAutoNum type="arabicPeriod"/>
            </a:pPr>
            <a:r>
              <a:rPr lang="en-US" sz="1800" dirty="0">
                <a:solidFill>
                  <a:schemeClr val="bg2">
                    <a:lumMod val="85000"/>
                  </a:schemeClr>
                </a:solidFill>
              </a:rPr>
              <a:t>Allocation of Treatment: Randomly allocate participants to treatment and control. (a randomized controlled trial or RCT). </a:t>
            </a:r>
          </a:p>
          <a:p>
            <a:pPr marL="742950" indent="-742950">
              <a:buFont typeface="+mj-lt"/>
              <a:buAutoNum type="arabicPeriod"/>
            </a:pPr>
            <a:r>
              <a:rPr lang="en-US" sz="1800" dirty="0">
                <a:solidFill>
                  <a:schemeClr val="bg2">
                    <a:lumMod val="85000"/>
                  </a:schemeClr>
                </a:solidFill>
              </a:rPr>
              <a:t>People should be counted in the groups they were assigned to.</a:t>
            </a:r>
          </a:p>
          <a:p>
            <a:pPr marL="742950" indent="-742950">
              <a:buFont typeface="+mj-lt"/>
              <a:buAutoNum type="arabicPeriod"/>
            </a:pPr>
            <a:r>
              <a:rPr lang="en-US" sz="1800" dirty="0">
                <a:solidFill>
                  <a:schemeClr val="bg2">
                    <a:lumMod val="85000"/>
                  </a:schemeClr>
                </a:solidFill>
              </a:rPr>
              <a:t>People should be blinded to their group. </a:t>
            </a:r>
          </a:p>
          <a:p>
            <a:pPr marL="742950" indent="-742950">
              <a:buFont typeface="+mj-lt"/>
              <a:buAutoNum type="arabicPeriod"/>
            </a:pPr>
            <a:r>
              <a:rPr lang="en-US" sz="1800" b="1" dirty="0"/>
              <a:t>Groups should be equally treated.</a:t>
            </a:r>
            <a:r>
              <a:rPr lang="en-US" sz="1800" dirty="0"/>
              <a:t> People getting treatment shouldn’t be examined more or vice-versa.</a:t>
            </a:r>
          </a:p>
          <a:p>
            <a:pPr marL="742950" indent="-742950">
              <a:buFont typeface="+mj-lt"/>
              <a:buAutoNum type="arabicPeriod"/>
            </a:pPr>
            <a:r>
              <a:rPr lang="en-US" sz="1800" dirty="0">
                <a:solidFill>
                  <a:schemeClr val="bg2">
                    <a:lumMod val="85000"/>
                  </a:schemeClr>
                </a:solidFill>
              </a:rPr>
              <a:t>People doing the final assessment shouldn’t know which group the subjects are in. </a:t>
            </a:r>
          </a:p>
          <a:p>
            <a:pPr marL="742950" indent="-742950">
              <a:buFont typeface="+mj-lt"/>
              <a:buAutoNum type="arabicPeriod"/>
            </a:pPr>
            <a:r>
              <a:rPr lang="en-US" sz="1800" dirty="0">
                <a:solidFill>
                  <a:schemeClr val="bg2">
                    <a:lumMod val="85000"/>
                  </a:schemeClr>
                </a:solidFill>
              </a:rPr>
              <a:t>Measure everyone.</a:t>
            </a:r>
          </a:p>
        </p:txBody>
      </p:sp>
      <p:sp>
        <p:nvSpPr>
          <p:cNvPr id="6" name="Title 1">
            <a:extLst>
              <a:ext uri="{FF2B5EF4-FFF2-40B4-BE49-F238E27FC236}">
                <a16:creationId xmlns:a16="http://schemas.microsoft.com/office/drawing/2014/main" id="{E9DEB0A9-1014-17F7-4978-0294EA8E20E6}"/>
              </a:ext>
            </a:extLst>
          </p:cNvPr>
          <p:cNvSpPr>
            <a:spLocks noGrp="1"/>
          </p:cNvSpPr>
          <p:nvPr>
            <p:ph type="title"/>
          </p:nvPr>
        </p:nvSpPr>
        <p:spPr>
          <a:xfrm>
            <a:off x="480001" y="414260"/>
            <a:ext cx="11102399" cy="756000"/>
          </a:xfrm>
        </p:spPr>
        <p:txBody>
          <a:bodyPr>
            <a:normAutofit/>
          </a:bodyPr>
          <a:lstStyle/>
          <a:p>
            <a:r>
              <a:rPr lang="en-US" dirty="0"/>
              <a:t>Randomized Control Trials</a:t>
            </a:r>
          </a:p>
        </p:txBody>
      </p:sp>
    </p:spTree>
    <p:extLst>
      <p:ext uri="{BB962C8B-B14F-4D97-AF65-F5344CB8AC3E}">
        <p14:creationId xmlns:p14="http://schemas.microsoft.com/office/powerpoint/2010/main" val="157666426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E2C99-A468-8EA6-C284-25FB740EA2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BCF334-14F9-FD31-E23E-9CF234C172A0}"/>
              </a:ext>
            </a:extLst>
          </p:cNvPr>
          <p:cNvSpPr>
            <a:spLocks noGrp="1"/>
          </p:cNvSpPr>
          <p:nvPr>
            <p:ph idx="1"/>
          </p:nvPr>
        </p:nvSpPr>
        <p:spPr>
          <a:xfrm>
            <a:off x="480000" y="1008921"/>
            <a:ext cx="11102399" cy="4445149"/>
          </a:xfrm>
        </p:spPr>
        <p:txBody>
          <a:bodyPr/>
          <a:lstStyle/>
          <a:p>
            <a:pPr marL="742950" indent="-742950">
              <a:buFont typeface="+mj-lt"/>
              <a:buAutoNum type="arabicPeriod"/>
            </a:pPr>
            <a:r>
              <a:rPr lang="en-US" sz="1800" dirty="0">
                <a:solidFill>
                  <a:schemeClr val="bg2">
                    <a:lumMod val="85000"/>
                  </a:schemeClr>
                </a:solidFill>
              </a:rPr>
              <a:t>Controls</a:t>
            </a:r>
          </a:p>
          <a:p>
            <a:pPr marL="742950" indent="-742950">
              <a:buFont typeface="+mj-lt"/>
              <a:buAutoNum type="arabicPeriod"/>
            </a:pPr>
            <a:r>
              <a:rPr lang="en-US" sz="1800" dirty="0">
                <a:solidFill>
                  <a:schemeClr val="bg2">
                    <a:lumMod val="85000"/>
                  </a:schemeClr>
                </a:solidFill>
              </a:rPr>
              <a:t>Allocation of Treatment: Randomly allocate participants to treatment and control. (a randomized controlled trial or RCT). </a:t>
            </a:r>
          </a:p>
          <a:p>
            <a:pPr marL="742950" indent="-742950">
              <a:buFont typeface="+mj-lt"/>
              <a:buAutoNum type="arabicPeriod"/>
            </a:pPr>
            <a:r>
              <a:rPr lang="en-US" sz="1800" dirty="0">
                <a:solidFill>
                  <a:schemeClr val="bg2">
                    <a:lumMod val="85000"/>
                  </a:schemeClr>
                </a:solidFill>
              </a:rPr>
              <a:t>People should be counted in the groups they were assigned to.</a:t>
            </a:r>
          </a:p>
          <a:p>
            <a:pPr marL="742950" indent="-742950">
              <a:buFont typeface="+mj-lt"/>
              <a:buAutoNum type="arabicPeriod"/>
            </a:pPr>
            <a:r>
              <a:rPr lang="en-US" sz="1800" dirty="0">
                <a:solidFill>
                  <a:schemeClr val="bg2">
                    <a:lumMod val="85000"/>
                  </a:schemeClr>
                </a:solidFill>
              </a:rPr>
              <a:t>People should be blinded to their group. </a:t>
            </a:r>
          </a:p>
          <a:p>
            <a:pPr marL="742950" indent="-742950">
              <a:buFont typeface="+mj-lt"/>
              <a:buAutoNum type="arabicPeriod"/>
            </a:pPr>
            <a:r>
              <a:rPr lang="en-US" sz="1800" dirty="0">
                <a:solidFill>
                  <a:schemeClr val="bg2">
                    <a:lumMod val="85000"/>
                  </a:schemeClr>
                </a:solidFill>
              </a:rPr>
              <a:t>Groups should be equally treated.</a:t>
            </a:r>
          </a:p>
          <a:p>
            <a:pPr marL="742950" indent="-742950">
              <a:buFont typeface="+mj-lt"/>
              <a:buAutoNum type="arabicPeriod"/>
            </a:pPr>
            <a:r>
              <a:rPr lang="en-US" sz="1800" b="1" dirty="0"/>
              <a:t>People (clinicians, statisticians, data scientists) doing the final assessment shouldn’t know which group the subjects are in.</a:t>
            </a:r>
            <a:r>
              <a:rPr lang="en-US" sz="1800" dirty="0"/>
              <a:t> This could bias the people doing the final assessment into not paying careful attention to vaccinated. Double-blinding.</a:t>
            </a:r>
          </a:p>
          <a:p>
            <a:pPr marL="742950" indent="-742950">
              <a:buFont typeface="+mj-lt"/>
              <a:buAutoNum type="arabicPeriod"/>
            </a:pPr>
            <a:r>
              <a:rPr lang="en-US" sz="1800" dirty="0">
                <a:solidFill>
                  <a:schemeClr val="bg2">
                    <a:lumMod val="85000"/>
                  </a:schemeClr>
                </a:solidFill>
              </a:rPr>
              <a:t>Measure everyone.</a:t>
            </a:r>
          </a:p>
        </p:txBody>
      </p:sp>
      <p:sp>
        <p:nvSpPr>
          <p:cNvPr id="7" name="Title 1">
            <a:extLst>
              <a:ext uri="{FF2B5EF4-FFF2-40B4-BE49-F238E27FC236}">
                <a16:creationId xmlns:a16="http://schemas.microsoft.com/office/drawing/2014/main" id="{9BD7B021-BAA6-C095-96B2-DD96B51AF3E5}"/>
              </a:ext>
            </a:extLst>
          </p:cNvPr>
          <p:cNvSpPr>
            <a:spLocks noGrp="1"/>
          </p:cNvSpPr>
          <p:nvPr>
            <p:ph type="title"/>
          </p:nvPr>
        </p:nvSpPr>
        <p:spPr>
          <a:xfrm>
            <a:off x="480001" y="414260"/>
            <a:ext cx="11102399" cy="756000"/>
          </a:xfrm>
        </p:spPr>
        <p:txBody>
          <a:bodyPr>
            <a:normAutofit/>
          </a:bodyPr>
          <a:lstStyle/>
          <a:p>
            <a:r>
              <a:rPr lang="en-US" dirty="0"/>
              <a:t>Randomized Control Trials</a:t>
            </a:r>
          </a:p>
        </p:txBody>
      </p:sp>
    </p:spTree>
    <p:extLst>
      <p:ext uri="{BB962C8B-B14F-4D97-AF65-F5344CB8AC3E}">
        <p14:creationId xmlns:p14="http://schemas.microsoft.com/office/powerpoint/2010/main" val="421963882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B4F14-4B89-AFB0-D8D3-023DC28328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C2B8BA-F643-D756-B532-92127D1818D2}"/>
              </a:ext>
            </a:extLst>
          </p:cNvPr>
          <p:cNvSpPr>
            <a:spLocks noGrp="1"/>
          </p:cNvSpPr>
          <p:nvPr>
            <p:ph type="title"/>
          </p:nvPr>
        </p:nvSpPr>
        <p:spPr/>
        <p:txBody>
          <a:bodyPr/>
          <a:lstStyle/>
          <a:p>
            <a:r>
              <a:rPr lang="en-US" dirty="0"/>
              <a:t>Clinical Trial Principles </a:t>
            </a:r>
          </a:p>
        </p:txBody>
      </p:sp>
      <p:sp>
        <p:nvSpPr>
          <p:cNvPr id="3" name="Content Placeholder 2">
            <a:extLst>
              <a:ext uri="{FF2B5EF4-FFF2-40B4-BE49-F238E27FC236}">
                <a16:creationId xmlns:a16="http://schemas.microsoft.com/office/drawing/2014/main" id="{681AD8BE-5CF5-2C04-D217-35EBDB6F7C2A}"/>
              </a:ext>
            </a:extLst>
          </p:cNvPr>
          <p:cNvSpPr>
            <a:spLocks noGrp="1"/>
          </p:cNvSpPr>
          <p:nvPr>
            <p:ph idx="1"/>
          </p:nvPr>
        </p:nvSpPr>
        <p:spPr>
          <a:xfrm>
            <a:off x="480000" y="1008921"/>
            <a:ext cx="11102399" cy="2420079"/>
          </a:xfrm>
        </p:spPr>
        <p:txBody>
          <a:bodyPr/>
          <a:lstStyle/>
          <a:p>
            <a:pPr marL="742950" indent="-742950">
              <a:buFont typeface="+mj-lt"/>
              <a:buAutoNum type="arabicPeriod"/>
            </a:pPr>
            <a:r>
              <a:rPr lang="en-US" sz="1800" dirty="0">
                <a:solidFill>
                  <a:schemeClr val="bg2">
                    <a:lumMod val="85000"/>
                  </a:schemeClr>
                </a:solidFill>
              </a:rPr>
              <a:t>Controls</a:t>
            </a:r>
          </a:p>
          <a:p>
            <a:pPr marL="742950" indent="-742950">
              <a:buFont typeface="+mj-lt"/>
              <a:buAutoNum type="arabicPeriod"/>
            </a:pPr>
            <a:r>
              <a:rPr lang="en-US" sz="1800" dirty="0">
                <a:solidFill>
                  <a:schemeClr val="bg2">
                    <a:lumMod val="85000"/>
                  </a:schemeClr>
                </a:solidFill>
              </a:rPr>
              <a:t>Allocation of Treatment: Randomly allocate participants to treatment and control. (a randomized controlled trial or RCT). </a:t>
            </a:r>
          </a:p>
          <a:p>
            <a:pPr marL="742950" indent="-742950">
              <a:buFont typeface="+mj-lt"/>
              <a:buAutoNum type="arabicPeriod"/>
            </a:pPr>
            <a:r>
              <a:rPr lang="en-US" sz="1800" dirty="0">
                <a:solidFill>
                  <a:schemeClr val="bg2">
                    <a:lumMod val="85000"/>
                  </a:schemeClr>
                </a:solidFill>
              </a:rPr>
              <a:t>People should be counted in the groups they were assigned to.</a:t>
            </a:r>
          </a:p>
          <a:p>
            <a:pPr marL="742950" indent="-742950">
              <a:buFont typeface="+mj-lt"/>
              <a:buAutoNum type="arabicPeriod"/>
            </a:pPr>
            <a:r>
              <a:rPr lang="en-US" sz="1800" dirty="0">
                <a:solidFill>
                  <a:schemeClr val="bg2">
                    <a:lumMod val="85000"/>
                  </a:schemeClr>
                </a:solidFill>
              </a:rPr>
              <a:t>People should be blinded to their group. </a:t>
            </a:r>
          </a:p>
          <a:p>
            <a:pPr marL="742950" indent="-742950">
              <a:buFont typeface="+mj-lt"/>
              <a:buAutoNum type="arabicPeriod"/>
            </a:pPr>
            <a:r>
              <a:rPr lang="en-US" sz="1800" dirty="0">
                <a:solidFill>
                  <a:schemeClr val="bg2">
                    <a:lumMod val="85000"/>
                  </a:schemeClr>
                </a:solidFill>
              </a:rPr>
              <a:t>Groups should be equally treated.</a:t>
            </a:r>
          </a:p>
          <a:p>
            <a:pPr marL="742950" indent="-742950">
              <a:buFont typeface="+mj-lt"/>
              <a:buAutoNum type="arabicPeriod"/>
            </a:pPr>
            <a:r>
              <a:rPr lang="en-US" sz="1800" dirty="0">
                <a:solidFill>
                  <a:schemeClr val="bg2">
                    <a:lumMod val="85000"/>
                  </a:schemeClr>
                </a:solidFill>
              </a:rPr>
              <a:t>People doing the final assessment shouldn’t know which group the subjects are in. </a:t>
            </a:r>
          </a:p>
          <a:p>
            <a:pPr marL="742950" indent="-742950">
              <a:buFont typeface="+mj-lt"/>
              <a:buAutoNum type="arabicPeriod"/>
            </a:pPr>
            <a:r>
              <a:rPr lang="en-US" sz="1800" b="1" dirty="0"/>
              <a:t>Measure everyone.</a:t>
            </a:r>
            <a:r>
              <a:rPr lang="en-US" sz="1800" dirty="0"/>
              <a:t> Perhaps some people leave the study from side effects, you especially want to capture that.</a:t>
            </a:r>
          </a:p>
        </p:txBody>
      </p:sp>
    </p:spTree>
    <p:extLst>
      <p:ext uri="{BB962C8B-B14F-4D97-AF65-F5344CB8AC3E}">
        <p14:creationId xmlns:p14="http://schemas.microsoft.com/office/powerpoint/2010/main" val="19068101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25884-48C7-5BE6-6B88-337812344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14C6A-BEAD-FCD4-0F18-1343FF788E19}"/>
              </a:ext>
            </a:extLst>
          </p:cNvPr>
          <p:cNvSpPr>
            <a:spLocks noGrp="1"/>
          </p:cNvSpPr>
          <p:nvPr>
            <p:ph type="title"/>
          </p:nvPr>
        </p:nvSpPr>
        <p:spPr/>
        <p:txBody>
          <a:bodyPr/>
          <a:lstStyle/>
          <a:p>
            <a:r>
              <a:rPr lang="en-US" dirty="0"/>
              <a:t>Evaluate the effects</a:t>
            </a:r>
          </a:p>
        </p:txBody>
      </p:sp>
      <p:sp>
        <p:nvSpPr>
          <p:cNvPr id="3" name="Content Placeholder 2">
            <a:extLst>
              <a:ext uri="{FF2B5EF4-FFF2-40B4-BE49-F238E27FC236}">
                <a16:creationId xmlns:a16="http://schemas.microsoft.com/office/drawing/2014/main" id="{CF2CFEEC-5BE3-FB13-94F7-606B2529BB18}"/>
              </a:ext>
            </a:extLst>
          </p:cNvPr>
          <p:cNvSpPr txBox="1">
            <a:spLocks/>
          </p:cNvSpPr>
          <p:nvPr/>
        </p:nvSpPr>
        <p:spPr>
          <a:xfrm>
            <a:off x="480001" y="1414282"/>
            <a:ext cx="11102399" cy="1522102"/>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1800" dirty="0"/>
              <a:t>After the data is collected we can use statistical tools to analyze the results:</a:t>
            </a:r>
          </a:p>
          <a:p>
            <a:r>
              <a:rPr lang="en-US" sz="1800" dirty="0"/>
              <a:t>How do we know that the results are likely not due to chance? We use </a:t>
            </a:r>
            <a:r>
              <a:rPr lang="en-US" sz="1800" b="1" dirty="0">
                <a:solidFill>
                  <a:schemeClr val="tx2"/>
                </a:solidFill>
              </a:rPr>
              <a:t>statistical (hypothesis) testing</a:t>
            </a:r>
            <a:r>
              <a:rPr lang="en-US" sz="1800" dirty="0"/>
              <a:t> to compare </a:t>
            </a:r>
            <a:r>
              <a:rPr lang="en-US" sz="1800" b="1" dirty="0">
                <a:solidFill>
                  <a:schemeClr val="accent1"/>
                </a:solidFill>
              </a:rPr>
              <a:t>metrics</a:t>
            </a:r>
            <a:r>
              <a:rPr lang="en-US" sz="1800" dirty="0"/>
              <a:t> obtained for two samples. (We will cover some tests in the lecture on hypothesis testing)</a:t>
            </a:r>
          </a:p>
          <a:p>
            <a:pPr marL="742950" indent="-742950">
              <a:buFont typeface="+mj-lt"/>
              <a:buAutoNum type="arabicPeriod"/>
            </a:pPr>
            <a:endParaRPr lang="en-US" sz="1800" dirty="0"/>
          </a:p>
        </p:txBody>
      </p:sp>
      <p:pic>
        <p:nvPicPr>
          <p:cNvPr id="1026" name="Picture 2">
            <a:extLst>
              <a:ext uri="{FF2B5EF4-FFF2-40B4-BE49-F238E27FC236}">
                <a16:creationId xmlns:a16="http://schemas.microsoft.com/office/drawing/2014/main" id="{2F1D0263-F592-3374-251B-15E29AA81B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7706" y="2494007"/>
            <a:ext cx="5088294" cy="4363993"/>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07EE33D-8DBE-29AC-048D-30570A983B4E}"/>
              </a:ext>
            </a:extLst>
          </p:cNvPr>
          <p:cNvSpPr txBox="1"/>
          <p:nvPr/>
        </p:nvSpPr>
        <p:spPr>
          <a:xfrm>
            <a:off x="6096000" y="6443740"/>
            <a:ext cx="5865845" cy="338554"/>
          </a:xfrm>
          <a:prstGeom prst="rect">
            <a:avLst/>
          </a:prstGeom>
          <a:noFill/>
        </p:spPr>
        <p:txBody>
          <a:bodyPr wrap="square">
            <a:spAutoFit/>
          </a:bodyPr>
          <a:lstStyle/>
          <a:p>
            <a:r>
              <a:rPr lang="en-US" sz="800" b="0" i="0" dirty="0">
                <a:solidFill>
                  <a:srgbClr val="222222"/>
                </a:solidFill>
                <a:effectLst/>
                <a:latin typeface="Arial" panose="020B0604020202020204" pitchFamily="34" charset="0"/>
              </a:rPr>
              <a:t>Thomas, Stephen J., et al. "Safety and efficacy of the BNT162b2 mRNA Covid-19 vaccine through 6 months." </a:t>
            </a:r>
            <a:r>
              <a:rPr lang="en-US" sz="800" b="0" i="1" dirty="0">
                <a:solidFill>
                  <a:srgbClr val="222222"/>
                </a:solidFill>
                <a:effectLst/>
                <a:latin typeface="Arial" panose="020B0604020202020204" pitchFamily="34" charset="0"/>
              </a:rPr>
              <a:t>New England Journal of Medicine</a:t>
            </a:r>
            <a:r>
              <a:rPr lang="en-US" sz="800" b="0" i="0" dirty="0">
                <a:solidFill>
                  <a:srgbClr val="222222"/>
                </a:solidFill>
                <a:effectLst/>
                <a:latin typeface="Arial" panose="020B0604020202020204" pitchFamily="34" charset="0"/>
              </a:rPr>
              <a:t> 385.19 (2021): 1761-1773.</a:t>
            </a:r>
            <a:endParaRPr lang="en-US" sz="800" dirty="0"/>
          </a:p>
        </p:txBody>
      </p:sp>
      <p:sp>
        <p:nvSpPr>
          <p:cNvPr id="13" name="TextBox 12">
            <a:extLst>
              <a:ext uri="{FF2B5EF4-FFF2-40B4-BE49-F238E27FC236}">
                <a16:creationId xmlns:a16="http://schemas.microsoft.com/office/drawing/2014/main" id="{E8006BE1-6BC8-99D2-E145-4125910AF42F}"/>
              </a:ext>
            </a:extLst>
          </p:cNvPr>
          <p:cNvSpPr txBox="1"/>
          <p:nvPr/>
        </p:nvSpPr>
        <p:spPr>
          <a:xfrm>
            <a:off x="6249178" y="2494007"/>
            <a:ext cx="5462821" cy="1815882"/>
          </a:xfrm>
          <a:prstGeom prst="rect">
            <a:avLst/>
          </a:prstGeom>
          <a:noFill/>
        </p:spPr>
        <p:txBody>
          <a:bodyPr wrap="square">
            <a:spAutoFit/>
          </a:bodyPr>
          <a:lstStyle/>
          <a:p>
            <a:r>
              <a:rPr lang="en-US" sz="1600" b="0" i="1" dirty="0">
                <a:solidFill>
                  <a:srgbClr val="1A1A1A"/>
                </a:solidFill>
                <a:effectLst/>
              </a:rPr>
              <a:t>“Vaccine efficacy was calculated as </a:t>
            </a:r>
            <a:r>
              <a:rPr lang="en-US" sz="1600" b="1" i="1" dirty="0">
                <a:solidFill>
                  <a:schemeClr val="accent1"/>
                </a:solidFill>
                <a:effectLst/>
              </a:rPr>
              <a:t>100×(1–IRR), where IRR (incidence rate ratio) is the ratio of the rate (number per 1000 person-years of follow-up) of confirmed cases </a:t>
            </a:r>
            <a:r>
              <a:rPr lang="en-US" sz="1600" b="0" i="1" dirty="0">
                <a:solidFill>
                  <a:srgbClr val="1A1A1A"/>
                </a:solidFill>
                <a:effectLst/>
              </a:rPr>
              <a:t>of Covid-19 in the BNT162b2 group to the corresponding rate in the placebo group. </a:t>
            </a:r>
            <a:r>
              <a:rPr lang="en-US" sz="1600" b="1" i="1" dirty="0">
                <a:solidFill>
                  <a:schemeClr val="tx2"/>
                </a:solidFill>
                <a:effectLst/>
              </a:rPr>
              <a:t>The 95% confidence interval for vaccine efficacy was derived with the use of the Clopper–Pearson method, with adjustment for surveillance time.”</a:t>
            </a:r>
            <a:endParaRPr lang="en-US" sz="1600" b="1" i="1" dirty="0">
              <a:solidFill>
                <a:schemeClr val="tx2"/>
              </a:solidFill>
            </a:endParaRPr>
          </a:p>
        </p:txBody>
      </p:sp>
    </p:spTree>
    <p:extLst>
      <p:ext uri="{BB962C8B-B14F-4D97-AF65-F5344CB8AC3E}">
        <p14:creationId xmlns:p14="http://schemas.microsoft.com/office/powerpoint/2010/main" val="6896699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1EEB95-A21E-0127-74CB-0A4887E84C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F3C6F-E527-13BB-F02D-9AF2AAB4B6E6}"/>
              </a:ext>
            </a:extLst>
          </p:cNvPr>
          <p:cNvSpPr>
            <a:spLocks noGrp="1"/>
          </p:cNvSpPr>
          <p:nvPr>
            <p:ph type="title"/>
          </p:nvPr>
        </p:nvSpPr>
        <p:spPr/>
        <p:txBody>
          <a:bodyPr>
            <a:normAutofit fontScale="90000"/>
          </a:bodyPr>
          <a:lstStyle/>
          <a:p>
            <a:r>
              <a:rPr lang="en-US" dirty="0"/>
              <a:t>Can we be sure the previous plot was not due to chance?</a:t>
            </a:r>
          </a:p>
        </p:txBody>
      </p:sp>
      <p:sp>
        <p:nvSpPr>
          <p:cNvPr id="3" name="Content Placeholder 2">
            <a:extLst>
              <a:ext uri="{FF2B5EF4-FFF2-40B4-BE49-F238E27FC236}">
                <a16:creationId xmlns:a16="http://schemas.microsoft.com/office/drawing/2014/main" id="{AB7A1E1D-D51D-985C-7A1F-EDA482B5955B}"/>
              </a:ext>
            </a:extLst>
          </p:cNvPr>
          <p:cNvSpPr>
            <a:spLocks noGrp="1"/>
          </p:cNvSpPr>
          <p:nvPr>
            <p:ph idx="1"/>
          </p:nvPr>
        </p:nvSpPr>
        <p:spPr>
          <a:xfrm>
            <a:off x="480001" y="1690577"/>
            <a:ext cx="11102399" cy="1331403"/>
          </a:xfrm>
        </p:spPr>
        <p:txBody>
          <a:bodyPr/>
          <a:lstStyle/>
          <a:p>
            <a:pPr marL="0" indent="0">
              <a:buNone/>
            </a:pPr>
            <a:r>
              <a:rPr lang="en-US" sz="1800" dirty="0"/>
              <a:t>RCTs are our best attempt to remove doubt about a causal link between an intervention and an outcome.</a:t>
            </a:r>
          </a:p>
          <a:p>
            <a:r>
              <a:rPr lang="en-US" sz="1800" dirty="0"/>
              <a:t>Here, the clinical trial involved tens of thousands of participants and then the outcomes were compared using </a:t>
            </a:r>
            <a:r>
              <a:rPr lang="en-US" sz="1800" b="1" dirty="0"/>
              <a:t>proper statistical inference tools</a:t>
            </a:r>
            <a:r>
              <a:rPr lang="en-US" sz="1800" dirty="0"/>
              <a:t>.</a:t>
            </a:r>
          </a:p>
          <a:p>
            <a:r>
              <a:rPr lang="en-US" sz="1800" dirty="0"/>
              <a:t>So, we are sure </a:t>
            </a:r>
            <a:r>
              <a:rPr lang="en-US" sz="1800" b="1" dirty="0"/>
              <a:t>to certain extent </a:t>
            </a:r>
            <a:r>
              <a:rPr lang="en-US" sz="1800" dirty="0"/>
              <a:t>that this was not due to chance. </a:t>
            </a:r>
          </a:p>
        </p:txBody>
      </p:sp>
    </p:spTree>
    <p:extLst>
      <p:ext uri="{BB962C8B-B14F-4D97-AF65-F5344CB8AC3E}">
        <p14:creationId xmlns:p14="http://schemas.microsoft.com/office/powerpoint/2010/main" val="13504958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26BB70-8EFB-B226-0FE9-BFDA73A8BE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414193-5D1B-2872-2283-B7B2D0E6970E}"/>
              </a:ext>
            </a:extLst>
          </p:cNvPr>
          <p:cNvSpPr>
            <a:spLocks noGrp="1"/>
          </p:cNvSpPr>
          <p:nvPr>
            <p:ph type="title"/>
          </p:nvPr>
        </p:nvSpPr>
        <p:spPr/>
        <p:txBody>
          <a:bodyPr/>
          <a:lstStyle/>
          <a:p>
            <a:r>
              <a:rPr lang="en-US" dirty="0"/>
              <a:t>What if we can’t randomize?</a:t>
            </a:r>
          </a:p>
        </p:txBody>
      </p:sp>
      <p:sp>
        <p:nvSpPr>
          <p:cNvPr id="4" name="Content Placeholder 3">
            <a:extLst>
              <a:ext uri="{FF2B5EF4-FFF2-40B4-BE49-F238E27FC236}">
                <a16:creationId xmlns:a16="http://schemas.microsoft.com/office/drawing/2014/main" id="{AC5F3E0E-17DA-2E10-FC97-633CA67CBAFA}"/>
              </a:ext>
            </a:extLst>
          </p:cNvPr>
          <p:cNvSpPr>
            <a:spLocks noGrp="1"/>
          </p:cNvSpPr>
          <p:nvPr>
            <p:ph idx="1"/>
          </p:nvPr>
        </p:nvSpPr>
        <p:spPr/>
        <p:txBody>
          <a:bodyPr/>
          <a:lstStyle/>
          <a:p>
            <a:r>
              <a:rPr lang="en-US" sz="4400" dirty="0"/>
              <a:t>For example: we can’t randomize who gets Alzheimer’s (a neurodegenerative disease) and who doesn’t.</a:t>
            </a:r>
          </a:p>
          <a:p>
            <a:r>
              <a:rPr lang="en-US" sz="4400" dirty="0"/>
              <a:t>So then, how can we figure out what causes Alzheimer’s disease? Assume it is related to say, neurons dying in the brain. </a:t>
            </a:r>
          </a:p>
          <a:p>
            <a:endParaRPr lang="en-US" sz="1800" dirty="0"/>
          </a:p>
        </p:txBody>
      </p:sp>
    </p:spTree>
    <p:extLst>
      <p:ext uri="{BB962C8B-B14F-4D97-AF65-F5344CB8AC3E}">
        <p14:creationId xmlns:p14="http://schemas.microsoft.com/office/powerpoint/2010/main" val="359326134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873EC-987A-0F8E-6BCD-3F445A2DBD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C6ACE4-48B2-8109-B5B5-AB12EA561CE0}"/>
              </a:ext>
            </a:extLst>
          </p:cNvPr>
          <p:cNvSpPr>
            <a:spLocks noGrp="1"/>
          </p:cNvSpPr>
          <p:nvPr>
            <p:ph type="title"/>
          </p:nvPr>
        </p:nvSpPr>
        <p:spPr/>
        <p:txBody>
          <a:bodyPr/>
          <a:lstStyle/>
          <a:p>
            <a:r>
              <a:rPr lang="en-US" dirty="0"/>
              <a:t>What if we can’t randomize?</a:t>
            </a:r>
          </a:p>
        </p:txBody>
      </p:sp>
      <p:sp>
        <p:nvSpPr>
          <p:cNvPr id="4" name="Content Placeholder 3">
            <a:extLst>
              <a:ext uri="{FF2B5EF4-FFF2-40B4-BE49-F238E27FC236}">
                <a16:creationId xmlns:a16="http://schemas.microsoft.com/office/drawing/2014/main" id="{7AEFD213-DEC0-7157-FF14-540FFE95C27C}"/>
              </a:ext>
            </a:extLst>
          </p:cNvPr>
          <p:cNvSpPr>
            <a:spLocks noGrp="1"/>
          </p:cNvSpPr>
          <p:nvPr>
            <p:ph idx="1"/>
          </p:nvPr>
        </p:nvSpPr>
        <p:spPr>
          <a:xfrm>
            <a:off x="480001" y="1296001"/>
            <a:ext cx="11102399" cy="1993110"/>
          </a:xfrm>
        </p:spPr>
        <p:txBody>
          <a:bodyPr/>
          <a:lstStyle/>
          <a:p>
            <a:r>
              <a:rPr lang="en-US" sz="2800" b="1" dirty="0"/>
              <a:t>Prospective cohort study</a:t>
            </a:r>
            <a:r>
              <a:rPr lang="en-US" sz="2800" dirty="0"/>
              <a:t>: Follow people through their lives and measure neuron death through their life and assess whether they get Alzheimer’s later in life. </a:t>
            </a:r>
          </a:p>
          <a:p>
            <a:r>
              <a:rPr lang="en-US" sz="2800" b="1" dirty="0"/>
              <a:t>Retrospective cohort study</a:t>
            </a:r>
            <a:r>
              <a:rPr lang="en-US" sz="2800" dirty="0"/>
              <a:t>: Can you find ways to identify whether a group of elderly subjects, some with and some without Alzheimer’s had neuron death earlier in life? Say by looking at other medical records. </a:t>
            </a:r>
          </a:p>
          <a:p>
            <a:r>
              <a:rPr lang="en-US" sz="2800" b="1" dirty="0"/>
              <a:t>Case-control study</a:t>
            </a:r>
            <a:r>
              <a:rPr lang="en-US" sz="2800" dirty="0"/>
              <a:t>: Find subjects who have and don’t have Alzheimer’s and are matched in age, socioeconomic status and so on and assess neuron death across them.</a:t>
            </a:r>
          </a:p>
        </p:txBody>
      </p:sp>
    </p:spTree>
    <p:extLst>
      <p:ext uri="{BB962C8B-B14F-4D97-AF65-F5344CB8AC3E}">
        <p14:creationId xmlns:p14="http://schemas.microsoft.com/office/powerpoint/2010/main" val="2868425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CB5B0-C054-ECDC-79BA-CD3B3C1A5F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C0552F-4754-8D5A-4A01-98D0DA3C6376}"/>
              </a:ext>
            </a:extLst>
          </p:cNvPr>
          <p:cNvSpPr>
            <a:spLocks noGrp="1"/>
          </p:cNvSpPr>
          <p:nvPr>
            <p:ph type="title"/>
          </p:nvPr>
        </p:nvSpPr>
        <p:spPr/>
        <p:txBody>
          <a:bodyPr/>
          <a:lstStyle/>
          <a:p>
            <a:r>
              <a:rPr lang="en-US" dirty="0"/>
              <a:t>What if we can’t randomize?</a:t>
            </a:r>
          </a:p>
        </p:txBody>
      </p:sp>
      <p:sp>
        <p:nvSpPr>
          <p:cNvPr id="4" name="Content Placeholder 3">
            <a:extLst>
              <a:ext uri="{FF2B5EF4-FFF2-40B4-BE49-F238E27FC236}">
                <a16:creationId xmlns:a16="http://schemas.microsoft.com/office/drawing/2014/main" id="{DBA24850-6D51-2F8C-4DF3-0BB0A9DDC94B}"/>
              </a:ext>
            </a:extLst>
          </p:cNvPr>
          <p:cNvSpPr>
            <a:spLocks noGrp="1"/>
          </p:cNvSpPr>
          <p:nvPr>
            <p:ph idx="1"/>
          </p:nvPr>
        </p:nvSpPr>
        <p:spPr>
          <a:xfrm>
            <a:off x="480001" y="1296000"/>
            <a:ext cx="11102399" cy="1897575"/>
          </a:xfrm>
        </p:spPr>
        <p:txBody>
          <a:bodyPr/>
          <a:lstStyle/>
          <a:p>
            <a:pPr marL="0" indent="0">
              <a:buNone/>
            </a:pPr>
            <a:r>
              <a:rPr lang="en-US" sz="3200" b="1" dirty="0"/>
              <a:t>Cross-sectional study: </a:t>
            </a:r>
            <a:r>
              <a:rPr lang="en-US" sz="3200" dirty="0">
                <a:solidFill>
                  <a:schemeClr val="dk1"/>
                </a:solidFill>
              </a:rPr>
              <a:t>when analysis is based solely on the current state of individuals, without any follow-up over time or treatment assignment.</a:t>
            </a:r>
            <a:endParaRPr lang="en-US" sz="3200" dirty="0"/>
          </a:p>
          <a:p>
            <a:r>
              <a:rPr lang="en-US" sz="3200" dirty="0"/>
              <a:t>For example: Why do people in Data Analysis who know Python earn more?</a:t>
            </a:r>
          </a:p>
          <a:p>
            <a:r>
              <a:rPr lang="en-US" sz="3200" dirty="0"/>
              <a:t>We can’t randomly assign people to learn Python.</a:t>
            </a:r>
          </a:p>
          <a:p>
            <a:r>
              <a:rPr lang="en-US" sz="3200" dirty="0"/>
              <a:t>With the cross-sectional study we can measure the correlation.</a:t>
            </a:r>
          </a:p>
        </p:txBody>
      </p:sp>
    </p:spTree>
    <p:extLst>
      <p:ext uri="{BB962C8B-B14F-4D97-AF65-F5344CB8AC3E}">
        <p14:creationId xmlns:p14="http://schemas.microsoft.com/office/powerpoint/2010/main" val="18102092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02AEE-18F2-E3B5-3872-E5E139CBA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BAEF9D-AEDE-2CCE-89F6-184FF93F4C49}"/>
              </a:ext>
            </a:extLst>
          </p:cNvPr>
          <p:cNvSpPr>
            <a:spLocks noGrp="1"/>
          </p:cNvSpPr>
          <p:nvPr>
            <p:ph type="title"/>
          </p:nvPr>
        </p:nvSpPr>
        <p:spPr>
          <a:xfrm>
            <a:off x="480000" y="180343"/>
            <a:ext cx="11102399" cy="756000"/>
          </a:xfrm>
        </p:spPr>
        <p:txBody>
          <a:bodyPr>
            <a:normAutofit/>
          </a:bodyPr>
          <a:lstStyle/>
          <a:p>
            <a:r>
              <a:rPr lang="en-US" dirty="0"/>
              <a:t>Returning to the sharks and ice cream</a:t>
            </a:r>
          </a:p>
        </p:txBody>
      </p:sp>
      <p:sp>
        <p:nvSpPr>
          <p:cNvPr id="4" name="Content Placeholder 3">
            <a:extLst>
              <a:ext uri="{FF2B5EF4-FFF2-40B4-BE49-F238E27FC236}">
                <a16:creationId xmlns:a16="http://schemas.microsoft.com/office/drawing/2014/main" id="{2EB3054D-65CC-E98E-88F2-3856DBAD90E4}"/>
              </a:ext>
            </a:extLst>
          </p:cNvPr>
          <p:cNvSpPr>
            <a:spLocks noGrp="1"/>
          </p:cNvSpPr>
          <p:nvPr>
            <p:ph idx="1"/>
          </p:nvPr>
        </p:nvSpPr>
        <p:spPr>
          <a:xfrm>
            <a:off x="479999" y="1206425"/>
            <a:ext cx="11102399" cy="4445149"/>
          </a:xfrm>
        </p:spPr>
        <p:txBody>
          <a:bodyPr/>
          <a:lstStyle/>
          <a:p>
            <a:pPr marL="0" indent="0">
              <a:buNone/>
            </a:pPr>
            <a:r>
              <a:rPr lang="en-US" sz="1800" dirty="0"/>
              <a:t>There is something common and confounding in here: summer. </a:t>
            </a:r>
          </a:p>
          <a:p>
            <a:r>
              <a:rPr lang="en-US" sz="1800" dirty="0"/>
              <a:t>People are more likely to go to the beach in the summer so they are more likely to be attacked by sharks.</a:t>
            </a:r>
          </a:p>
          <a:p>
            <a:r>
              <a:rPr lang="en-US" sz="1800" dirty="0"/>
              <a:t>People are also more likely to eat ice cream in the summer. </a:t>
            </a:r>
          </a:p>
          <a:p>
            <a:r>
              <a:rPr lang="en-US" sz="1800" dirty="0"/>
              <a:t>So we could </a:t>
            </a:r>
            <a:r>
              <a:rPr lang="en-US" sz="1800" dirty="0" err="1"/>
              <a:t>analyse</a:t>
            </a:r>
            <a:r>
              <a:rPr lang="en-US" sz="1800" dirty="0"/>
              <a:t> the correlation on days with similar warm temperature. </a:t>
            </a:r>
          </a:p>
        </p:txBody>
      </p:sp>
      <p:pic>
        <p:nvPicPr>
          <p:cNvPr id="3" name="Picture 2" descr="Image">
            <a:extLst>
              <a:ext uri="{FF2B5EF4-FFF2-40B4-BE49-F238E27FC236}">
                <a16:creationId xmlns:a16="http://schemas.microsoft.com/office/drawing/2014/main" id="{1216721C-CEBB-73F1-1191-932DD09CF1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24670" y="2578996"/>
            <a:ext cx="3342660" cy="33426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05605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1812AE-8D99-69AC-4178-A22CBBE640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3A29CD-4F7C-74C9-B47D-E41E5C71E6A9}"/>
              </a:ext>
            </a:extLst>
          </p:cNvPr>
          <p:cNvSpPr>
            <a:spLocks noGrp="1"/>
          </p:cNvSpPr>
          <p:nvPr>
            <p:ph type="title"/>
          </p:nvPr>
        </p:nvSpPr>
        <p:spPr>
          <a:xfrm>
            <a:off x="480000" y="180343"/>
            <a:ext cx="11102399" cy="756000"/>
          </a:xfrm>
        </p:spPr>
        <p:txBody>
          <a:bodyPr>
            <a:normAutofit/>
          </a:bodyPr>
          <a:lstStyle/>
          <a:p>
            <a:r>
              <a:rPr lang="en-US" dirty="0"/>
              <a:t>Confounders</a:t>
            </a:r>
          </a:p>
        </p:txBody>
      </p:sp>
      <p:sp>
        <p:nvSpPr>
          <p:cNvPr id="4" name="Content Placeholder 3">
            <a:extLst>
              <a:ext uri="{FF2B5EF4-FFF2-40B4-BE49-F238E27FC236}">
                <a16:creationId xmlns:a16="http://schemas.microsoft.com/office/drawing/2014/main" id="{1A0A514A-364B-9596-41A2-E885BF26A19D}"/>
              </a:ext>
            </a:extLst>
          </p:cNvPr>
          <p:cNvSpPr>
            <a:spLocks noGrp="1"/>
          </p:cNvSpPr>
          <p:nvPr>
            <p:ph idx="1"/>
          </p:nvPr>
        </p:nvSpPr>
        <p:spPr>
          <a:xfrm>
            <a:off x="479999" y="1487387"/>
            <a:ext cx="11102399" cy="756000"/>
          </a:xfrm>
        </p:spPr>
        <p:txBody>
          <a:bodyPr/>
          <a:lstStyle/>
          <a:p>
            <a:pPr marL="0" indent="0">
              <a:buNone/>
            </a:pPr>
            <a:r>
              <a:rPr lang="en-US" sz="1800" dirty="0"/>
              <a:t>A </a:t>
            </a:r>
            <a:r>
              <a:rPr lang="en-US" sz="1800" b="1" dirty="0"/>
              <a:t>confounding variable (</a:t>
            </a:r>
            <a:r>
              <a:rPr lang="en-US" sz="1800" i="1" dirty="0"/>
              <a:t>confounding factor, confound, lurking variable, or confounder</a:t>
            </a:r>
            <a:r>
              <a:rPr lang="en-US" sz="1800" dirty="0"/>
              <a:t>), is a variable that is positively or negatively associated with both the dependent variable and an independent variable.</a:t>
            </a:r>
          </a:p>
        </p:txBody>
      </p:sp>
      <p:sp>
        <p:nvSpPr>
          <p:cNvPr id="16" name="Content Placeholder 3">
            <a:extLst>
              <a:ext uri="{FF2B5EF4-FFF2-40B4-BE49-F238E27FC236}">
                <a16:creationId xmlns:a16="http://schemas.microsoft.com/office/drawing/2014/main" id="{047F0D0E-7212-D3FC-F7E6-A4ACD09BF92A}"/>
              </a:ext>
            </a:extLst>
          </p:cNvPr>
          <p:cNvSpPr txBox="1">
            <a:spLocks/>
          </p:cNvSpPr>
          <p:nvPr/>
        </p:nvSpPr>
        <p:spPr>
          <a:xfrm>
            <a:off x="479998" y="2673000"/>
            <a:ext cx="11102399" cy="362300"/>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800" b="1" dirty="0"/>
              <a:t>Game: find a confounder!</a:t>
            </a:r>
          </a:p>
          <a:p>
            <a:pPr marL="0" indent="0">
              <a:buFont typeface="Arial"/>
              <a:buNone/>
            </a:pPr>
            <a:endParaRPr lang="en-US" sz="1800" b="1" dirty="0"/>
          </a:p>
        </p:txBody>
      </p:sp>
      <p:sp>
        <p:nvSpPr>
          <p:cNvPr id="17" name="Content Placeholder 3">
            <a:extLst>
              <a:ext uri="{FF2B5EF4-FFF2-40B4-BE49-F238E27FC236}">
                <a16:creationId xmlns:a16="http://schemas.microsoft.com/office/drawing/2014/main" id="{8D19D11F-96B8-AA24-F00F-62AAB64323B7}"/>
              </a:ext>
            </a:extLst>
          </p:cNvPr>
          <p:cNvSpPr txBox="1">
            <a:spLocks/>
          </p:cNvSpPr>
          <p:nvPr/>
        </p:nvSpPr>
        <p:spPr>
          <a:xfrm>
            <a:off x="479997" y="3102612"/>
            <a:ext cx="11102399" cy="114184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1800" b="1" dirty="0"/>
              <a:t>Independent X:</a:t>
            </a:r>
            <a:r>
              <a:rPr lang="en-US" sz="1800" dirty="0"/>
              <a:t> Use of AI coding tools</a:t>
            </a:r>
            <a:br>
              <a:rPr lang="en-US" sz="1800" dirty="0"/>
            </a:br>
            <a:r>
              <a:rPr lang="en-US" sz="1800" b="1" dirty="0"/>
              <a:t>Dependent Y:</a:t>
            </a:r>
            <a:r>
              <a:rPr lang="en-US" sz="1800" dirty="0"/>
              <a:t> Programming productivity</a:t>
            </a:r>
            <a:endParaRPr lang="en-US" sz="1800" b="1" dirty="0"/>
          </a:p>
        </p:txBody>
      </p:sp>
    </p:spTree>
    <p:extLst>
      <p:ext uri="{BB962C8B-B14F-4D97-AF65-F5344CB8AC3E}">
        <p14:creationId xmlns:p14="http://schemas.microsoft.com/office/powerpoint/2010/main" val="1091002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7"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63825-ECDE-225F-FB4B-5D3142F96B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818DEC-1563-BD43-7EED-069E79B0E3E1}"/>
              </a:ext>
            </a:extLst>
          </p:cNvPr>
          <p:cNvSpPr>
            <a:spLocks noGrp="1"/>
          </p:cNvSpPr>
          <p:nvPr>
            <p:ph type="title"/>
          </p:nvPr>
        </p:nvSpPr>
        <p:spPr>
          <a:xfrm>
            <a:off x="480000" y="180343"/>
            <a:ext cx="11102399" cy="756000"/>
          </a:xfrm>
        </p:spPr>
        <p:txBody>
          <a:bodyPr>
            <a:normAutofit/>
          </a:bodyPr>
          <a:lstStyle/>
          <a:p>
            <a:r>
              <a:rPr lang="en-US" dirty="0"/>
              <a:t>Confounders</a:t>
            </a:r>
          </a:p>
        </p:txBody>
      </p:sp>
      <p:sp>
        <p:nvSpPr>
          <p:cNvPr id="4" name="Content Placeholder 3">
            <a:extLst>
              <a:ext uri="{FF2B5EF4-FFF2-40B4-BE49-F238E27FC236}">
                <a16:creationId xmlns:a16="http://schemas.microsoft.com/office/drawing/2014/main" id="{FEE6E3AD-D494-4587-D53D-B77C4E8760D6}"/>
              </a:ext>
            </a:extLst>
          </p:cNvPr>
          <p:cNvSpPr>
            <a:spLocks noGrp="1"/>
          </p:cNvSpPr>
          <p:nvPr>
            <p:ph idx="1"/>
          </p:nvPr>
        </p:nvSpPr>
        <p:spPr>
          <a:xfrm>
            <a:off x="479999" y="1487387"/>
            <a:ext cx="11102399" cy="756000"/>
          </a:xfrm>
        </p:spPr>
        <p:txBody>
          <a:bodyPr/>
          <a:lstStyle/>
          <a:p>
            <a:pPr marL="0" indent="0">
              <a:buNone/>
            </a:pPr>
            <a:r>
              <a:rPr lang="en-US" sz="1800" dirty="0"/>
              <a:t>A </a:t>
            </a:r>
            <a:r>
              <a:rPr lang="en-US" sz="1800" b="1" dirty="0"/>
              <a:t>confounding variable (</a:t>
            </a:r>
            <a:r>
              <a:rPr lang="en-US" sz="1800" i="1" dirty="0"/>
              <a:t>confounding factor, confound, lurking variable, or confounder</a:t>
            </a:r>
            <a:r>
              <a:rPr lang="en-US" sz="1800" dirty="0"/>
              <a:t>), is a variable that is positively or negatively associated with both the dependent variable and an independent variable.</a:t>
            </a:r>
          </a:p>
        </p:txBody>
      </p:sp>
      <p:sp>
        <p:nvSpPr>
          <p:cNvPr id="16" name="Content Placeholder 3">
            <a:extLst>
              <a:ext uri="{FF2B5EF4-FFF2-40B4-BE49-F238E27FC236}">
                <a16:creationId xmlns:a16="http://schemas.microsoft.com/office/drawing/2014/main" id="{57F923DB-B350-9932-2574-4013C3F8C906}"/>
              </a:ext>
            </a:extLst>
          </p:cNvPr>
          <p:cNvSpPr txBox="1">
            <a:spLocks/>
          </p:cNvSpPr>
          <p:nvPr/>
        </p:nvSpPr>
        <p:spPr>
          <a:xfrm>
            <a:off x="479998" y="2673000"/>
            <a:ext cx="11102399" cy="362300"/>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800" b="1" dirty="0"/>
              <a:t>Game: find a confounder!</a:t>
            </a:r>
          </a:p>
          <a:p>
            <a:pPr marL="0" indent="0">
              <a:buFont typeface="Arial"/>
              <a:buNone/>
            </a:pPr>
            <a:endParaRPr lang="en-US" sz="1800" b="1" dirty="0"/>
          </a:p>
        </p:txBody>
      </p:sp>
      <p:sp>
        <p:nvSpPr>
          <p:cNvPr id="17" name="Content Placeholder 3">
            <a:extLst>
              <a:ext uri="{FF2B5EF4-FFF2-40B4-BE49-F238E27FC236}">
                <a16:creationId xmlns:a16="http://schemas.microsoft.com/office/drawing/2014/main" id="{3EB99B6D-BBC4-B2AD-8B2C-31F9AC7C930B}"/>
              </a:ext>
            </a:extLst>
          </p:cNvPr>
          <p:cNvSpPr txBox="1">
            <a:spLocks/>
          </p:cNvSpPr>
          <p:nvPr/>
        </p:nvSpPr>
        <p:spPr>
          <a:xfrm>
            <a:off x="479997" y="3102612"/>
            <a:ext cx="11102399" cy="114184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1800" b="1" dirty="0"/>
              <a:t>Independent X: </a:t>
            </a:r>
            <a:r>
              <a:rPr lang="en-US" sz="1800" dirty="0"/>
              <a:t>Video recommendation algorithm  </a:t>
            </a:r>
            <a:br>
              <a:rPr lang="en-US" sz="1800" dirty="0"/>
            </a:br>
            <a:r>
              <a:rPr lang="en-US" sz="1800" b="1" dirty="0"/>
              <a:t>Dependent Y: </a:t>
            </a:r>
            <a:r>
              <a:rPr lang="en-US" sz="1800" dirty="0"/>
              <a:t>Average session time watching videos</a:t>
            </a:r>
          </a:p>
        </p:txBody>
      </p:sp>
    </p:spTree>
    <p:extLst>
      <p:ext uri="{BB962C8B-B14F-4D97-AF65-F5344CB8AC3E}">
        <p14:creationId xmlns:p14="http://schemas.microsoft.com/office/powerpoint/2010/main" val="426893872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5EF2A-4714-F2C6-D5EE-730C5F665BC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444E51A0-4F97-6553-DAFD-9044C95DB9D2}"/>
              </a:ext>
            </a:extLst>
          </p:cNvPr>
          <p:cNvSpPr>
            <a:spLocks noGrp="1"/>
          </p:cNvSpPr>
          <p:nvPr>
            <p:ph idx="1"/>
          </p:nvPr>
        </p:nvSpPr>
        <p:spPr>
          <a:xfrm>
            <a:off x="479999" y="1487387"/>
            <a:ext cx="11102399" cy="756000"/>
          </a:xfrm>
        </p:spPr>
        <p:txBody>
          <a:bodyPr/>
          <a:lstStyle/>
          <a:p>
            <a:pPr marL="0" indent="0">
              <a:buNone/>
            </a:pPr>
            <a:r>
              <a:rPr lang="en-US" sz="1800" dirty="0"/>
              <a:t>A </a:t>
            </a:r>
            <a:r>
              <a:rPr lang="en-US" sz="1800" b="1" dirty="0"/>
              <a:t>confounding variable (</a:t>
            </a:r>
            <a:r>
              <a:rPr lang="en-US" sz="1800" i="1" dirty="0"/>
              <a:t>confounding factor, confound, lurking variable, or confounder</a:t>
            </a:r>
            <a:r>
              <a:rPr lang="en-US" sz="1800" dirty="0"/>
              <a:t>), is a variable that is positively or negatively associated with both the dependent variable and an independent variable.</a:t>
            </a:r>
          </a:p>
        </p:txBody>
      </p:sp>
      <p:sp>
        <p:nvSpPr>
          <p:cNvPr id="16" name="Content Placeholder 3">
            <a:extLst>
              <a:ext uri="{FF2B5EF4-FFF2-40B4-BE49-F238E27FC236}">
                <a16:creationId xmlns:a16="http://schemas.microsoft.com/office/drawing/2014/main" id="{B8E71E4A-C7C6-B869-3F75-9DA5F9960392}"/>
              </a:ext>
            </a:extLst>
          </p:cNvPr>
          <p:cNvSpPr txBox="1">
            <a:spLocks/>
          </p:cNvSpPr>
          <p:nvPr/>
        </p:nvSpPr>
        <p:spPr>
          <a:xfrm>
            <a:off x="479998" y="2673000"/>
            <a:ext cx="11102399" cy="362300"/>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Font typeface="Arial"/>
              <a:buNone/>
            </a:pPr>
            <a:r>
              <a:rPr lang="en-US" sz="1800" b="1" dirty="0"/>
              <a:t>Game: find a confounder!</a:t>
            </a:r>
          </a:p>
          <a:p>
            <a:pPr marL="0" indent="0">
              <a:buFont typeface="Arial"/>
              <a:buNone/>
            </a:pPr>
            <a:endParaRPr lang="en-US" sz="1800" b="1" dirty="0"/>
          </a:p>
        </p:txBody>
      </p:sp>
      <p:sp>
        <p:nvSpPr>
          <p:cNvPr id="17" name="Content Placeholder 3">
            <a:extLst>
              <a:ext uri="{FF2B5EF4-FFF2-40B4-BE49-F238E27FC236}">
                <a16:creationId xmlns:a16="http://schemas.microsoft.com/office/drawing/2014/main" id="{D6275AED-5CCA-2DEA-57A4-B457221FB069}"/>
              </a:ext>
            </a:extLst>
          </p:cNvPr>
          <p:cNvSpPr txBox="1">
            <a:spLocks/>
          </p:cNvSpPr>
          <p:nvPr/>
        </p:nvSpPr>
        <p:spPr>
          <a:xfrm>
            <a:off x="479997" y="3102612"/>
            <a:ext cx="11102399" cy="1141841"/>
          </a:xfrm>
          <a:prstGeom prst="rect">
            <a:avLst/>
          </a:prstGeom>
        </p:spPr>
        <p:txBody>
          <a:bodyPr vert="horz" lIns="0" tIns="0" rIns="0" bIns="0" rtlCol="0">
            <a:noAutofit/>
          </a:bodyPr>
          <a:lstStyle>
            <a:lvl1pPr marL="457189" indent="-457189" algn="l" defTabSz="609585" rtl="0" eaLnBrk="1" latinLnBrk="0" hangingPunct="1">
              <a:spcBef>
                <a:spcPts val="0"/>
              </a:spcBef>
              <a:buFont typeface="Arial"/>
              <a:buChar char="•"/>
              <a:defRPr sz="4267" kern="1200">
                <a:solidFill>
                  <a:schemeClr val="tx1"/>
                </a:solidFill>
                <a:latin typeface="+mj-lt"/>
                <a:ea typeface="+mn-ea"/>
                <a:cs typeface="Verdana"/>
              </a:defRPr>
            </a:lvl1pPr>
            <a:lvl2pPr marL="956709" indent="-478355" algn="l" defTabSz="609585" rtl="0" eaLnBrk="1" latinLnBrk="0" hangingPunct="1">
              <a:spcBef>
                <a:spcPts val="0"/>
              </a:spcBef>
              <a:buFont typeface="Lucida Grande"/>
              <a:buChar char="-"/>
              <a:defRPr sz="3733" kern="1200">
                <a:solidFill>
                  <a:schemeClr val="tx1"/>
                </a:solidFill>
                <a:latin typeface="+mj-lt"/>
                <a:ea typeface="+mn-ea"/>
                <a:cs typeface="Verdana"/>
              </a:defRPr>
            </a:lvl2pPr>
            <a:lvl3pPr marL="1430831" indent="-476239" algn="l" defTabSz="609585" rtl="0" eaLnBrk="1" latinLnBrk="0" hangingPunct="1">
              <a:spcBef>
                <a:spcPts val="0"/>
              </a:spcBef>
              <a:buFont typeface="Lucida Grande"/>
              <a:buChar char="-"/>
              <a:defRPr sz="3200" kern="1200">
                <a:solidFill>
                  <a:schemeClr val="tx1"/>
                </a:solidFill>
                <a:latin typeface="+mj-lt"/>
                <a:ea typeface="+mn-ea"/>
                <a:cs typeface="Verdana"/>
              </a:defRPr>
            </a:lvl3pPr>
            <a:lvl4pPr marL="1907070" indent="-474121" algn="l" defTabSz="609585" rtl="0" eaLnBrk="1" latinLnBrk="0" hangingPunct="1">
              <a:spcBef>
                <a:spcPts val="0"/>
              </a:spcBef>
              <a:buFont typeface="Lucida Grande"/>
              <a:buChar char="-"/>
              <a:defRPr sz="2667" kern="1200">
                <a:solidFill>
                  <a:schemeClr val="tx1"/>
                </a:solidFill>
                <a:latin typeface="+mj-lt"/>
                <a:ea typeface="+mn-ea"/>
                <a:cs typeface="Verdana"/>
              </a:defRPr>
            </a:lvl4pPr>
            <a:lvl5pPr marL="2391774" indent="-480472" algn="l" defTabSz="609585" rtl="0" eaLnBrk="1" latinLnBrk="0" hangingPunct="1">
              <a:spcBef>
                <a:spcPts val="0"/>
              </a:spcBef>
              <a:buFont typeface="Lucida Grande"/>
              <a:buChar char="-"/>
              <a:defRPr sz="2667" kern="1200">
                <a:solidFill>
                  <a:schemeClr val="tx1"/>
                </a:solidFill>
                <a:latin typeface="+mj-lt"/>
                <a:ea typeface="+mn-ea"/>
                <a:cs typeface="Verdana"/>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pPr marL="0" indent="0">
              <a:buNone/>
            </a:pPr>
            <a:r>
              <a:rPr lang="en-US" sz="1800" b="1" dirty="0"/>
              <a:t>Independent X: </a:t>
            </a:r>
            <a:r>
              <a:rPr lang="en-US" sz="1800" dirty="0"/>
              <a:t>Tutorials attended</a:t>
            </a:r>
            <a:br>
              <a:rPr lang="en-US" sz="1800" dirty="0"/>
            </a:br>
            <a:r>
              <a:rPr lang="en-US" sz="1800" b="1" dirty="0"/>
              <a:t>Dependent Y:</a:t>
            </a:r>
            <a:r>
              <a:rPr lang="en-US" sz="1800" dirty="0"/>
              <a:t> Final course grade</a:t>
            </a:r>
            <a:endParaRPr lang="en-US" sz="1800" b="1" dirty="0"/>
          </a:p>
        </p:txBody>
      </p:sp>
      <p:sp>
        <p:nvSpPr>
          <p:cNvPr id="6" name="Title 1">
            <a:extLst>
              <a:ext uri="{FF2B5EF4-FFF2-40B4-BE49-F238E27FC236}">
                <a16:creationId xmlns:a16="http://schemas.microsoft.com/office/drawing/2014/main" id="{901409CA-7054-BD3C-B9F7-CD1A679F3A63}"/>
              </a:ext>
            </a:extLst>
          </p:cNvPr>
          <p:cNvSpPr>
            <a:spLocks noGrp="1"/>
          </p:cNvSpPr>
          <p:nvPr>
            <p:ph type="title"/>
          </p:nvPr>
        </p:nvSpPr>
        <p:spPr>
          <a:xfrm>
            <a:off x="480000" y="180343"/>
            <a:ext cx="11102399" cy="756000"/>
          </a:xfrm>
        </p:spPr>
        <p:txBody>
          <a:bodyPr>
            <a:normAutofit/>
          </a:bodyPr>
          <a:lstStyle/>
          <a:p>
            <a:r>
              <a:rPr lang="en-US" dirty="0"/>
              <a:t>Confounders</a:t>
            </a:r>
          </a:p>
        </p:txBody>
      </p:sp>
    </p:spTree>
    <p:extLst>
      <p:ext uri="{BB962C8B-B14F-4D97-AF65-F5344CB8AC3E}">
        <p14:creationId xmlns:p14="http://schemas.microsoft.com/office/powerpoint/2010/main" val="78866580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A79F4-61BC-D435-6254-D2AE81AE431C}"/>
              </a:ext>
            </a:extLst>
          </p:cNvPr>
          <p:cNvSpPr>
            <a:spLocks noGrp="1"/>
          </p:cNvSpPr>
          <p:nvPr>
            <p:ph type="title"/>
          </p:nvPr>
        </p:nvSpPr>
        <p:spPr/>
        <p:txBody>
          <a:bodyPr/>
          <a:lstStyle/>
          <a:p>
            <a:r>
              <a:rPr lang="en-US" dirty="0"/>
              <a:t>Gender bias in Graduate Admissions</a:t>
            </a:r>
          </a:p>
        </p:txBody>
      </p:sp>
      <p:sp>
        <p:nvSpPr>
          <p:cNvPr id="3" name="Content Placeholder 2">
            <a:extLst>
              <a:ext uri="{FF2B5EF4-FFF2-40B4-BE49-F238E27FC236}">
                <a16:creationId xmlns:a16="http://schemas.microsoft.com/office/drawing/2014/main" id="{7863FE42-0540-3F8F-08E8-09E4FBB50C71}"/>
              </a:ext>
            </a:extLst>
          </p:cNvPr>
          <p:cNvSpPr>
            <a:spLocks noGrp="1"/>
          </p:cNvSpPr>
          <p:nvPr>
            <p:ph idx="1"/>
          </p:nvPr>
        </p:nvSpPr>
        <p:spPr>
          <a:xfrm>
            <a:off x="544800" y="2354022"/>
            <a:ext cx="11102399" cy="1530458"/>
          </a:xfrm>
        </p:spPr>
        <p:txBody>
          <a:bodyPr/>
          <a:lstStyle/>
          <a:p>
            <a:pPr marL="0" indent="0">
              <a:buNone/>
            </a:pPr>
            <a:r>
              <a:rPr lang="en-US" sz="1800" dirty="0"/>
              <a:t>Case study from UC, Berkeley:</a:t>
            </a:r>
          </a:p>
          <a:p>
            <a:r>
              <a:rPr lang="en-US" sz="1800" dirty="0"/>
              <a:t>8442 men and 4321 women applied to UC, Berkeley during study period</a:t>
            </a:r>
          </a:p>
          <a:p>
            <a:r>
              <a:rPr lang="en-US" sz="1800" dirty="0"/>
              <a:t>44% of men and 35% of women admitted</a:t>
            </a:r>
          </a:p>
          <a:p>
            <a:r>
              <a:rPr lang="en-US" sz="1800" dirty="0"/>
              <a:t>Seems like men are preferred.</a:t>
            </a:r>
          </a:p>
          <a:p>
            <a:endParaRPr lang="en-US" sz="1800" dirty="0"/>
          </a:p>
        </p:txBody>
      </p:sp>
      <p:sp>
        <p:nvSpPr>
          <p:cNvPr id="5" name="TextBox 4">
            <a:extLst>
              <a:ext uri="{FF2B5EF4-FFF2-40B4-BE49-F238E27FC236}">
                <a16:creationId xmlns:a16="http://schemas.microsoft.com/office/drawing/2014/main" id="{18EC825F-3832-BC44-A512-0FADCED9BF7B}"/>
              </a:ext>
            </a:extLst>
          </p:cNvPr>
          <p:cNvSpPr txBox="1"/>
          <p:nvPr/>
        </p:nvSpPr>
        <p:spPr>
          <a:xfrm>
            <a:off x="480000" y="1228238"/>
            <a:ext cx="11102398" cy="646331"/>
          </a:xfrm>
          <a:prstGeom prst="rect">
            <a:avLst/>
          </a:prstGeom>
          <a:noFill/>
        </p:spPr>
        <p:txBody>
          <a:bodyPr wrap="square">
            <a:spAutoFit/>
          </a:bodyPr>
          <a:lstStyle/>
          <a:p>
            <a:r>
              <a:rPr lang="en-US" sz="1800" b="1" dirty="0"/>
              <a:t>Controlling for confounds</a:t>
            </a:r>
            <a:r>
              <a:rPr lang="en-US" sz="1800" b="0" dirty="0"/>
              <a:t>: When there are differences between groups in observational studies, we can try adjusting for them: called controlling for the confounds/lurking factors, e.g. summer. </a:t>
            </a:r>
          </a:p>
        </p:txBody>
      </p:sp>
    </p:spTree>
    <p:extLst>
      <p:ext uri="{BB962C8B-B14F-4D97-AF65-F5344CB8AC3E}">
        <p14:creationId xmlns:p14="http://schemas.microsoft.com/office/powerpoint/2010/main" val="215285888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7F4F2-6371-1D39-B599-F88835BAD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8197474-427A-C0E3-A898-C53DCC838261}"/>
              </a:ext>
            </a:extLst>
          </p:cNvPr>
          <p:cNvSpPr>
            <a:spLocks noGrp="1"/>
          </p:cNvSpPr>
          <p:nvPr>
            <p:ph type="title"/>
          </p:nvPr>
        </p:nvSpPr>
        <p:spPr/>
        <p:txBody>
          <a:bodyPr/>
          <a:lstStyle/>
          <a:p>
            <a:r>
              <a:rPr lang="en-US" dirty="0"/>
              <a:t>Sex bias in Graduate Admissions</a:t>
            </a:r>
          </a:p>
        </p:txBody>
      </p:sp>
      <p:grpSp>
        <p:nvGrpSpPr>
          <p:cNvPr id="9" name="Group 8">
            <a:extLst>
              <a:ext uri="{FF2B5EF4-FFF2-40B4-BE49-F238E27FC236}">
                <a16:creationId xmlns:a16="http://schemas.microsoft.com/office/drawing/2014/main" id="{4C64DFF4-36C3-6FF7-775B-D3391D4DAE68}"/>
              </a:ext>
            </a:extLst>
          </p:cNvPr>
          <p:cNvGrpSpPr/>
          <p:nvPr/>
        </p:nvGrpSpPr>
        <p:grpSpPr>
          <a:xfrm>
            <a:off x="2527166" y="2147277"/>
            <a:ext cx="7353814" cy="2682354"/>
            <a:chOff x="480001" y="1562100"/>
            <a:chExt cx="10963450" cy="3962400"/>
          </a:xfrm>
        </p:grpSpPr>
        <p:pic>
          <p:nvPicPr>
            <p:cNvPr id="4" name="Picture 3">
              <a:extLst>
                <a:ext uri="{FF2B5EF4-FFF2-40B4-BE49-F238E27FC236}">
                  <a16:creationId xmlns:a16="http://schemas.microsoft.com/office/drawing/2014/main" id="{8D5839C4-031B-3B99-2160-44B1A86521A9}"/>
                </a:ext>
              </a:extLst>
            </p:cNvPr>
            <p:cNvPicPr>
              <a:picLocks noChangeAspect="1"/>
            </p:cNvPicPr>
            <p:nvPr/>
          </p:nvPicPr>
          <p:blipFill>
            <a:blip r:embed="rId3"/>
            <a:stretch>
              <a:fillRect/>
            </a:stretch>
          </p:blipFill>
          <p:spPr>
            <a:xfrm>
              <a:off x="480001" y="1562100"/>
              <a:ext cx="10963450" cy="3962400"/>
            </a:xfrm>
            <a:prstGeom prst="rect">
              <a:avLst/>
            </a:prstGeom>
          </p:spPr>
        </p:pic>
        <p:sp>
          <p:nvSpPr>
            <p:cNvPr id="3" name="Rectangle 2">
              <a:extLst>
                <a:ext uri="{FF2B5EF4-FFF2-40B4-BE49-F238E27FC236}">
                  <a16:creationId xmlns:a16="http://schemas.microsoft.com/office/drawing/2014/main" id="{98822C16-9BA5-81A5-B685-8FA986E91B92}"/>
                </a:ext>
              </a:extLst>
            </p:cNvPr>
            <p:cNvSpPr/>
            <p:nvPr/>
          </p:nvSpPr>
          <p:spPr>
            <a:xfrm>
              <a:off x="3316406" y="3111690"/>
              <a:ext cx="1146412" cy="805217"/>
            </a:xfrm>
            <a:prstGeom prst="rect">
              <a:avLst/>
            </a:prstGeom>
            <a:solidFill>
              <a:schemeClr val="accent1">
                <a:alpha val="14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B57E17E1-10E8-22A9-2353-D1E002043EFE}"/>
                </a:ext>
              </a:extLst>
            </p:cNvPr>
            <p:cNvSpPr/>
            <p:nvPr/>
          </p:nvSpPr>
          <p:spPr>
            <a:xfrm>
              <a:off x="7849737" y="3111689"/>
              <a:ext cx="1146412" cy="805217"/>
            </a:xfrm>
            <a:prstGeom prst="rect">
              <a:avLst/>
            </a:prstGeom>
            <a:solidFill>
              <a:schemeClr val="accent1">
                <a:alpha val="14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DA22BE80-07CA-64D7-23FD-A7B12F26F7A7}"/>
                </a:ext>
              </a:extLst>
            </p:cNvPr>
            <p:cNvSpPr/>
            <p:nvPr/>
          </p:nvSpPr>
          <p:spPr>
            <a:xfrm>
              <a:off x="3316406" y="3916907"/>
              <a:ext cx="1146412" cy="1549590"/>
            </a:xfrm>
            <a:prstGeom prst="rect">
              <a:avLst/>
            </a:prstGeom>
            <a:solidFill>
              <a:schemeClr val="tx2">
                <a:alpha val="14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C03BF41-F639-0998-D771-5E87A3F835FE}"/>
                </a:ext>
              </a:extLst>
            </p:cNvPr>
            <p:cNvSpPr/>
            <p:nvPr/>
          </p:nvSpPr>
          <p:spPr>
            <a:xfrm>
              <a:off x="7849737" y="3916906"/>
              <a:ext cx="1146412" cy="1549590"/>
            </a:xfrm>
            <a:prstGeom prst="rect">
              <a:avLst/>
            </a:prstGeom>
            <a:solidFill>
              <a:schemeClr val="tx2">
                <a:alpha val="14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0" name="TextBox 9">
            <a:extLst>
              <a:ext uri="{FF2B5EF4-FFF2-40B4-BE49-F238E27FC236}">
                <a16:creationId xmlns:a16="http://schemas.microsoft.com/office/drawing/2014/main" id="{9A98CB9A-7F1B-834D-F6B6-0A13AAECF032}"/>
              </a:ext>
            </a:extLst>
          </p:cNvPr>
          <p:cNvSpPr txBox="1"/>
          <p:nvPr/>
        </p:nvSpPr>
        <p:spPr>
          <a:xfrm>
            <a:off x="480000" y="1228238"/>
            <a:ext cx="11102398" cy="369332"/>
          </a:xfrm>
          <a:prstGeom prst="rect">
            <a:avLst/>
          </a:prstGeom>
          <a:noFill/>
        </p:spPr>
        <p:txBody>
          <a:bodyPr wrap="square">
            <a:spAutoFit/>
          </a:bodyPr>
          <a:lstStyle/>
          <a:p>
            <a:r>
              <a:rPr lang="en-US" sz="1800" b="1" dirty="0"/>
              <a:t>Controlling for confounds</a:t>
            </a:r>
            <a:r>
              <a:rPr lang="en-US" sz="1800" b="0" dirty="0"/>
              <a:t>: How to control for this, though?</a:t>
            </a:r>
          </a:p>
        </p:txBody>
      </p:sp>
    </p:spTree>
    <p:extLst>
      <p:ext uri="{BB962C8B-B14F-4D97-AF65-F5344CB8AC3E}">
        <p14:creationId xmlns:p14="http://schemas.microsoft.com/office/powerpoint/2010/main" val="13080719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ACF7A-B1C2-689E-BDC0-FF791CAD5A59}"/>
              </a:ext>
            </a:extLst>
          </p:cNvPr>
          <p:cNvSpPr>
            <a:spLocks noGrp="1"/>
          </p:cNvSpPr>
          <p:nvPr>
            <p:ph type="title"/>
          </p:nvPr>
        </p:nvSpPr>
        <p:spPr/>
        <p:txBody>
          <a:bodyPr/>
          <a:lstStyle/>
          <a:p>
            <a:r>
              <a:rPr lang="en-US" dirty="0"/>
              <a:t>Simpson’s Paradox</a:t>
            </a:r>
          </a:p>
        </p:txBody>
      </p:sp>
      <p:sp>
        <p:nvSpPr>
          <p:cNvPr id="3" name="Content Placeholder 2">
            <a:extLst>
              <a:ext uri="{FF2B5EF4-FFF2-40B4-BE49-F238E27FC236}">
                <a16:creationId xmlns:a16="http://schemas.microsoft.com/office/drawing/2014/main" id="{E45127E7-C651-9468-F7E2-A4C10631DEB9}"/>
              </a:ext>
            </a:extLst>
          </p:cNvPr>
          <p:cNvSpPr>
            <a:spLocks noGrp="1"/>
          </p:cNvSpPr>
          <p:nvPr>
            <p:ph idx="1"/>
          </p:nvPr>
        </p:nvSpPr>
        <p:spPr/>
        <p:txBody>
          <a:bodyPr/>
          <a:lstStyle/>
          <a:p>
            <a:pPr marL="0" indent="0">
              <a:buNone/>
            </a:pPr>
            <a:r>
              <a:rPr lang="en-US" sz="4000" dirty="0"/>
              <a:t>When relationships between percentages in subgroups can be reversed when the subgroups are combined. </a:t>
            </a:r>
          </a:p>
          <a:p>
            <a:r>
              <a:rPr lang="en-US" sz="4000" dirty="0"/>
              <a:t>In the graduate admission case, weighting by relative number of applicants within each program gives us 39% for men and 44% for women.</a:t>
            </a:r>
          </a:p>
        </p:txBody>
      </p:sp>
    </p:spTree>
    <p:extLst>
      <p:ext uri="{BB962C8B-B14F-4D97-AF65-F5344CB8AC3E}">
        <p14:creationId xmlns:p14="http://schemas.microsoft.com/office/powerpoint/2010/main" val="3183999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BED37-7465-1481-AEF2-E8AAE868CC2D}"/>
              </a:ext>
            </a:extLst>
          </p:cNvPr>
          <p:cNvSpPr>
            <a:spLocks noGrp="1"/>
          </p:cNvSpPr>
          <p:nvPr>
            <p:ph type="title"/>
          </p:nvPr>
        </p:nvSpPr>
        <p:spPr/>
        <p:txBody>
          <a:bodyPr/>
          <a:lstStyle/>
          <a:p>
            <a:r>
              <a:rPr lang="en-US" dirty="0"/>
              <a:t>Simpson’s paradox</a:t>
            </a:r>
          </a:p>
        </p:txBody>
      </p:sp>
      <p:pic>
        <p:nvPicPr>
          <p:cNvPr id="5" name="Picture 4" descr="A graph showing a number of dots&#10;&#10;Description automatically generated">
            <a:extLst>
              <a:ext uri="{FF2B5EF4-FFF2-40B4-BE49-F238E27FC236}">
                <a16:creationId xmlns:a16="http://schemas.microsoft.com/office/drawing/2014/main" id="{1A8E58B9-9E24-B2CC-9CCA-BE7B4DC7D1EF}"/>
              </a:ext>
            </a:extLst>
          </p:cNvPr>
          <p:cNvPicPr>
            <a:picLocks noChangeAspect="1"/>
          </p:cNvPicPr>
          <p:nvPr/>
        </p:nvPicPr>
        <p:blipFill>
          <a:blip r:embed="rId2"/>
          <a:stretch>
            <a:fillRect/>
          </a:stretch>
        </p:blipFill>
        <p:spPr>
          <a:xfrm>
            <a:off x="2206625" y="1170260"/>
            <a:ext cx="6991350" cy="4993822"/>
          </a:xfrm>
          <a:prstGeom prst="rect">
            <a:avLst/>
          </a:prstGeom>
        </p:spPr>
      </p:pic>
    </p:spTree>
    <p:extLst>
      <p:ext uri="{BB962C8B-B14F-4D97-AF65-F5344CB8AC3E}">
        <p14:creationId xmlns:p14="http://schemas.microsoft.com/office/powerpoint/2010/main" val="26111507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30656-2EDA-BDCB-715B-0ED8E0A939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6E9FE1-8748-1BD3-62CF-71C9A7CE8090}"/>
              </a:ext>
            </a:extLst>
          </p:cNvPr>
          <p:cNvSpPr>
            <a:spLocks noGrp="1"/>
          </p:cNvSpPr>
          <p:nvPr>
            <p:ph type="title"/>
          </p:nvPr>
        </p:nvSpPr>
        <p:spPr/>
        <p:txBody>
          <a:bodyPr/>
          <a:lstStyle/>
          <a:p>
            <a:r>
              <a:rPr lang="en-US" dirty="0"/>
              <a:t>Causation and Counterfactuals</a:t>
            </a:r>
          </a:p>
        </p:txBody>
      </p:sp>
      <p:sp>
        <p:nvSpPr>
          <p:cNvPr id="3" name="Content Placeholder 2">
            <a:extLst>
              <a:ext uri="{FF2B5EF4-FFF2-40B4-BE49-F238E27FC236}">
                <a16:creationId xmlns:a16="http://schemas.microsoft.com/office/drawing/2014/main" id="{9AFF1066-AC28-F3A7-1903-A58B0BD32C34}"/>
              </a:ext>
            </a:extLst>
          </p:cNvPr>
          <p:cNvSpPr>
            <a:spLocks noGrp="1"/>
          </p:cNvSpPr>
          <p:nvPr>
            <p:ph idx="1"/>
          </p:nvPr>
        </p:nvSpPr>
        <p:spPr>
          <a:xfrm>
            <a:off x="480001" y="1296001"/>
            <a:ext cx="11102399" cy="1060834"/>
          </a:xfrm>
        </p:spPr>
        <p:txBody>
          <a:bodyPr/>
          <a:lstStyle/>
          <a:p>
            <a:pPr marL="0" indent="0">
              <a:buNone/>
            </a:pPr>
            <a:r>
              <a:rPr lang="en-US" sz="1800" dirty="0"/>
              <a:t>But how do I know that this wouldn’t have happened anyway? </a:t>
            </a:r>
          </a:p>
          <a:p>
            <a:r>
              <a:rPr lang="en-US" sz="1800" dirty="0"/>
              <a:t>This is called a </a:t>
            </a:r>
            <a:r>
              <a:rPr lang="en-US" sz="1800" b="1" dirty="0"/>
              <a:t>counterfactual</a:t>
            </a:r>
            <a:r>
              <a:rPr lang="en-US" sz="1800" dirty="0"/>
              <a:t>: there exists a world where the patient recover even without treatment. </a:t>
            </a:r>
          </a:p>
          <a:p>
            <a:r>
              <a:rPr lang="en-US" sz="1800" dirty="0"/>
              <a:t>This defies our understanding of the world of course, but this is useful statistical reasoning.</a:t>
            </a:r>
          </a:p>
        </p:txBody>
      </p:sp>
      <p:pic>
        <p:nvPicPr>
          <p:cNvPr id="4" name="Graphic 3" descr="Medicine with solid fill">
            <a:extLst>
              <a:ext uri="{FF2B5EF4-FFF2-40B4-BE49-F238E27FC236}">
                <a16:creationId xmlns:a16="http://schemas.microsoft.com/office/drawing/2014/main" id="{2F08D44A-762E-7765-9D97-4842EC171ED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079841" y="4395371"/>
            <a:ext cx="992691" cy="992691"/>
          </a:xfrm>
          <a:prstGeom prst="rect">
            <a:avLst/>
          </a:prstGeom>
        </p:spPr>
      </p:pic>
      <p:sp>
        <p:nvSpPr>
          <p:cNvPr id="5" name="TextBox 4">
            <a:extLst>
              <a:ext uri="{FF2B5EF4-FFF2-40B4-BE49-F238E27FC236}">
                <a16:creationId xmlns:a16="http://schemas.microsoft.com/office/drawing/2014/main" id="{F6E82DE7-1ED8-EA5E-4B89-F5ECDC1636B7}"/>
              </a:ext>
            </a:extLst>
          </p:cNvPr>
          <p:cNvSpPr txBox="1"/>
          <p:nvPr/>
        </p:nvSpPr>
        <p:spPr>
          <a:xfrm>
            <a:off x="3594237" y="5388062"/>
            <a:ext cx="1963897" cy="369332"/>
          </a:xfrm>
          <a:prstGeom prst="rect">
            <a:avLst/>
          </a:prstGeom>
          <a:noFill/>
        </p:spPr>
        <p:txBody>
          <a:bodyPr wrap="square" rtlCol="0">
            <a:spAutoFit/>
          </a:bodyPr>
          <a:lstStyle/>
          <a:p>
            <a:pPr algn="ctr"/>
            <a:r>
              <a:rPr lang="en-US" dirty="0"/>
              <a:t>Treatment T</a:t>
            </a:r>
          </a:p>
        </p:txBody>
      </p:sp>
      <p:sp>
        <p:nvSpPr>
          <p:cNvPr id="6" name="TextBox 5">
            <a:extLst>
              <a:ext uri="{FF2B5EF4-FFF2-40B4-BE49-F238E27FC236}">
                <a16:creationId xmlns:a16="http://schemas.microsoft.com/office/drawing/2014/main" id="{1ECE418D-E91A-4D00-6C5C-D9E592CD199F}"/>
              </a:ext>
            </a:extLst>
          </p:cNvPr>
          <p:cNvSpPr txBox="1"/>
          <p:nvPr/>
        </p:nvSpPr>
        <p:spPr>
          <a:xfrm>
            <a:off x="6630053" y="5363672"/>
            <a:ext cx="1963897" cy="369332"/>
          </a:xfrm>
          <a:prstGeom prst="rect">
            <a:avLst/>
          </a:prstGeom>
          <a:noFill/>
        </p:spPr>
        <p:txBody>
          <a:bodyPr wrap="square" rtlCol="0">
            <a:spAutoFit/>
          </a:bodyPr>
          <a:lstStyle/>
          <a:p>
            <a:pPr algn="ctr"/>
            <a:r>
              <a:rPr lang="en-US" dirty="0"/>
              <a:t>Outcome Y</a:t>
            </a:r>
          </a:p>
        </p:txBody>
      </p:sp>
      <p:pic>
        <p:nvPicPr>
          <p:cNvPr id="7" name="Graphic 6" descr="Heart with pulse with solid fill">
            <a:extLst>
              <a:ext uri="{FF2B5EF4-FFF2-40B4-BE49-F238E27FC236}">
                <a16:creationId xmlns:a16="http://schemas.microsoft.com/office/drawing/2014/main" id="{33E58C3D-C7F6-1B41-376A-8B6CEC0BAE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122146" y="4395371"/>
            <a:ext cx="992691" cy="992691"/>
          </a:xfrm>
          <a:prstGeom prst="rect">
            <a:avLst/>
          </a:prstGeom>
        </p:spPr>
      </p:pic>
      <p:cxnSp>
        <p:nvCxnSpPr>
          <p:cNvPr id="8" name="Straight Arrow Connector 7">
            <a:extLst>
              <a:ext uri="{FF2B5EF4-FFF2-40B4-BE49-F238E27FC236}">
                <a16:creationId xmlns:a16="http://schemas.microsoft.com/office/drawing/2014/main" id="{DFD449F3-2D61-F20F-245A-071447C3B678}"/>
              </a:ext>
            </a:extLst>
          </p:cNvPr>
          <p:cNvCxnSpPr>
            <a:cxnSpLocks/>
          </p:cNvCxnSpPr>
          <p:nvPr/>
        </p:nvCxnSpPr>
        <p:spPr>
          <a:xfrm>
            <a:off x="5438811" y="4920814"/>
            <a:ext cx="1387928" cy="0"/>
          </a:xfrm>
          <a:prstGeom prst="straightConnector1">
            <a:avLst/>
          </a:prstGeom>
          <a:ln w="28575">
            <a:tailEnd type="triangle"/>
          </a:ln>
          <a:effectLst/>
        </p:spPr>
        <p:style>
          <a:lnRef idx="2">
            <a:schemeClr val="accent1"/>
          </a:lnRef>
          <a:fillRef idx="0">
            <a:schemeClr val="accent1"/>
          </a:fillRef>
          <a:effectRef idx="1">
            <a:schemeClr val="accent1"/>
          </a:effectRef>
          <a:fontRef idx="minor">
            <a:schemeClr val="tx1"/>
          </a:fontRef>
        </p:style>
      </p:cxnSp>
      <p:pic>
        <p:nvPicPr>
          <p:cNvPr id="9" name="Graphic 8" descr="Inpatient with solid fill">
            <a:extLst>
              <a:ext uri="{FF2B5EF4-FFF2-40B4-BE49-F238E27FC236}">
                <a16:creationId xmlns:a16="http://schemas.microsoft.com/office/drawing/2014/main" id="{E8D528AF-0D90-B966-FBD0-E0406E865A68}"/>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26100" y="2622259"/>
            <a:ext cx="914400" cy="914400"/>
          </a:xfrm>
          <a:prstGeom prst="rect">
            <a:avLst/>
          </a:prstGeom>
        </p:spPr>
      </p:pic>
      <p:sp>
        <p:nvSpPr>
          <p:cNvPr id="10" name="TextBox 9">
            <a:extLst>
              <a:ext uri="{FF2B5EF4-FFF2-40B4-BE49-F238E27FC236}">
                <a16:creationId xmlns:a16="http://schemas.microsoft.com/office/drawing/2014/main" id="{3F051D13-1AD6-4AF7-47CD-63421C6DE09E}"/>
              </a:ext>
            </a:extLst>
          </p:cNvPr>
          <p:cNvSpPr txBox="1"/>
          <p:nvPr/>
        </p:nvSpPr>
        <p:spPr>
          <a:xfrm>
            <a:off x="5544096" y="3470749"/>
            <a:ext cx="1078409" cy="369332"/>
          </a:xfrm>
          <a:prstGeom prst="rect">
            <a:avLst/>
          </a:prstGeom>
          <a:noFill/>
        </p:spPr>
        <p:txBody>
          <a:bodyPr wrap="square" rtlCol="0">
            <a:spAutoFit/>
          </a:bodyPr>
          <a:lstStyle/>
          <a:p>
            <a:pPr algn="ctr"/>
            <a:r>
              <a:rPr lang="en-US" dirty="0"/>
              <a:t>Patient X</a:t>
            </a:r>
          </a:p>
        </p:txBody>
      </p:sp>
      <p:cxnSp>
        <p:nvCxnSpPr>
          <p:cNvPr id="11" name="Straight Arrow Connector 10">
            <a:extLst>
              <a:ext uri="{FF2B5EF4-FFF2-40B4-BE49-F238E27FC236}">
                <a16:creationId xmlns:a16="http://schemas.microsoft.com/office/drawing/2014/main" id="{16C7CE0F-CE82-4F1F-B87D-47D6A89A7745}"/>
              </a:ext>
            </a:extLst>
          </p:cNvPr>
          <p:cNvCxnSpPr>
            <a:cxnSpLocks/>
            <a:stCxn id="10" idx="3"/>
          </p:cNvCxnSpPr>
          <p:nvPr/>
        </p:nvCxnSpPr>
        <p:spPr>
          <a:xfrm>
            <a:off x="6622505" y="3655415"/>
            <a:ext cx="995986" cy="798152"/>
          </a:xfrm>
          <a:prstGeom prst="straightConnector1">
            <a:avLst/>
          </a:prstGeom>
          <a:ln w="28575">
            <a:tailEnd type="triangle"/>
          </a:ln>
          <a:effectLst/>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B6A1FF76-1A09-8782-C57F-27BC66EB0069}"/>
              </a:ext>
            </a:extLst>
          </p:cNvPr>
          <p:cNvCxnSpPr>
            <a:cxnSpLocks/>
            <a:stCxn id="10" idx="1"/>
            <a:endCxn id="4" idx="0"/>
          </p:cNvCxnSpPr>
          <p:nvPr/>
        </p:nvCxnSpPr>
        <p:spPr>
          <a:xfrm flipH="1">
            <a:off x="4576187" y="3655415"/>
            <a:ext cx="967909" cy="739956"/>
          </a:xfrm>
          <a:prstGeom prst="straightConnector1">
            <a:avLst/>
          </a:prstGeom>
          <a:ln w="28575">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6429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22655-B525-9F4F-D2FB-7D38A77D1AC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C1007F7-E3D5-64F3-BC74-3BE1EA2D5154}"/>
              </a:ext>
            </a:extLst>
          </p:cNvPr>
          <p:cNvSpPr>
            <a:spLocks noGrp="1"/>
          </p:cNvSpPr>
          <p:nvPr>
            <p:ph idx="1"/>
          </p:nvPr>
        </p:nvSpPr>
        <p:spPr>
          <a:xfrm>
            <a:off x="480001" y="1296001"/>
            <a:ext cx="11102399" cy="1371000"/>
          </a:xfrm>
        </p:spPr>
        <p:txBody>
          <a:bodyPr/>
          <a:lstStyle/>
          <a:p>
            <a:pPr marL="0" indent="0">
              <a:buNone/>
            </a:pPr>
            <a:r>
              <a:rPr lang="en-US" sz="1800" dirty="0"/>
              <a:t>What’s the main challenge with counterfactuals?</a:t>
            </a:r>
          </a:p>
          <a:p>
            <a:r>
              <a:rPr lang="en-US" sz="1800" dirty="0"/>
              <a:t>Counterfactuals are like the metaphorical populations: useful fictions that let us make better data-driven decisions.</a:t>
            </a:r>
          </a:p>
          <a:p>
            <a:r>
              <a:rPr lang="en-US" sz="1800" dirty="0"/>
              <a:t>Defining cause based on intervention is difficult in real-life: the counterfactuals can’t actually occur, and then we need statistics.</a:t>
            </a:r>
          </a:p>
          <a:p>
            <a:r>
              <a:rPr lang="en-US" sz="1800" dirty="0"/>
              <a:t>Heavily used in Explainable AI literature in the recent years</a:t>
            </a:r>
          </a:p>
        </p:txBody>
      </p:sp>
      <p:pic>
        <p:nvPicPr>
          <p:cNvPr id="15" name="Picture 14" descr="A graph with a line&#10;&#10;AI-generated content may be incorrect.">
            <a:extLst>
              <a:ext uri="{FF2B5EF4-FFF2-40B4-BE49-F238E27FC236}">
                <a16:creationId xmlns:a16="http://schemas.microsoft.com/office/drawing/2014/main" id="{59805535-CC2F-4134-4BA8-3D5DD0630CB8}"/>
              </a:ext>
            </a:extLst>
          </p:cNvPr>
          <p:cNvPicPr>
            <a:picLocks noChangeAspect="1"/>
          </p:cNvPicPr>
          <p:nvPr/>
        </p:nvPicPr>
        <p:blipFill>
          <a:blip r:embed="rId3"/>
          <a:stretch>
            <a:fillRect/>
          </a:stretch>
        </p:blipFill>
        <p:spPr>
          <a:xfrm>
            <a:off x="1518401" y="3838438"/>
            <a:ext cx="9155197" cy="2689587"/>
          </a:xfrm>
          <a:prstGeom prst="rect">
            <a:avLst/>
          </a:prstGeom>
        </p:spPr>
      </p:pic>
      <p:sp>
        <p:nvSpPr>
          <p:cNvPr id="17" name="TextBox 16">
            <a:extLst>
              <a:ext uri="{FF2B5EF4-FFF2-40B4-BE49-F238E27FC236}">
                <a16:creationId xmlns:a16="http://schemas.microsoft.com/office/drawing/2014/main" id="{6FC5A4E4-C052-AC45-EDC3-44AE054B9589}"/>
              </a:ext>
            </a:extLst>
          </p:cNvPr>
          <p:cNvSpPr txBox="1"/>
          <p:nvPr/>
        </p:nvSpPr>
        <p:spPr>
          <a:xfrm>
            <a:off x="965200" y="3469106"/>
            <a:ext cx="6096000" cy="369332"/>
          </a:xfrm>
          <a:prstGeom prst="rect">
            <a:avLst/>
          </a:prstGeom>
          <a:noFill/>
        </p:spPr>
        <p:txBody>
          <a:bodyPr wrap="square">
            <a:spAutoFit/>
          </a:bodyPr>
          <a:lstStyle/>
          <a:p>
            <a:r>
              <a:rPr lang="en-US" sz="1800" dirty="0"/>
              <a:t>Counterfactual explanations (Explainable AI)</a:t>
            </a:r>
            <a:endParaRPr lang="en-US" dirty="0"/>
          </a:p>
        </p:txBody>
      </p:sp>
      <p:sp>
        <p:nvSpPr>
          <p:cNvPr id="6" name="Title 1">
            <a:extLst>
              <a:ext uri="{FF2B5EF4-FFF2-40B4-BE49-F238E27FC236}">
                <a16:creationId xmlns:a16="http://schemas.microsoft.com/office/drawing/2014/main" id="{E0102255-BBB2-EBD5-4A7C-361C591B3F12}"/>
              </a:ext>
            </a:extLst>
          </p:cNvPr>
          <p:cNvSpPr>
            <a:spLocks noGrp="1"/>
          </p:cNvSpPr>
          <p:nvPr>
            <p:ph type="title"/>
          </p:nvPr>
        </p:nvSpPr>
        <p:spPr>
          <a:xfrm>
            <a:off x="480001" y="414260"/>
            <a:ext cx="11102399" cy="756000"/>
          </a:xfrm>
        </p:spPr>
        <p:txBody>
          <a:bodyPr/>
          <a:lstStyle/>
          <a:p>
            <a:r>
              <a:rPr lang="en-US" dirty="0"/>
              <a:t>What is causation?</a:t>
            </a:r>
          </a:p>
        </p:txBody>
      </p:sp>
    </p:spTree>
    <p:extLst>
      <p:ext uri="{BB962C8B-B14F-4D97-AF65-F5344CB8AC3E}">
        <p14:creationId xmlns:p14="http://schemas.microsoft.com/office/powerpoint/2010/main" val="257569163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9DA14-0039-CC0D-6D95-43D879A0C582}"/>
              </a:ext>
            </a:extLst>
          </p:cNvPr>
          <p:cNvSpPr>
            <a:spLocks noGrp="1"/>
          </p:cNvSpPr>
          <p:nvPr>
            <p:ph type="title"/>
          </p:nvPr>
        </p:nvSpPr>
        <p:spPr/>
        <p:txBody>
          <a:bodyPr/>
          <a:lstStyle/>
          <a:p>
            <a:r>
              <a:rPr lang="en-US" dirty="0"/>
              <a:t>Causation</a:t>
            </a:r>
          </a:p>
        </p:txBody>
      </p:sp>
      <p:sp>
        <p:nvSpPr>
          <p:cNvPr id="3" name="Content Placeholder 2">
            <a:extLst>
              <a:ext uri="{FF2B5EF4-FFF2-40B4-BE49-F238E27FC236}">
                <a16:creationId xmlns:a16="http://schemas.microsoft.com/office/drawing/2014/main" id="{D2077951-2AB3-B294-85D1-5F298C05565F}"/>
              </a:ext>
            </a:extLst>
          </p:cNvPr>
          <p:cNvSpPr>
            <a:spLocks noGrp="1"/>
          </p:cNvSpPr>
          <p:nvPr>
            <p:ph idx="1"/>
          </p:nvPr>
        </p:nvSpPr>
        <p:spPr>
          <a:xfrm>
            <a:off x="480001" y="1296001"/>
            <a:ext cx="11102399" cy="1009318"/>
          </a:xfrm>
        </p:spPr>
        <p:txBody>
          <a:bodyPr/>
          <a:lstStyle/>
          <a:p>
            <a:pPr marL="0" indent="0">
              <a:buNone/>
            </a:pPr>
            <a:r>
              <a:rPr lang="en-US" sz="1800" dirty="0"/>
              <a:t>Good popular science book that makes a strong case for why causal analysis is the bedrock of understanding the world.</a:t>
            </a:r>
          </a:p>
        </p:txBody>
      </p:sp>
      <p:pic>
        <p:nvPicPr>
          <p:cNvPr id="4" name="Picture 3">
            <a:extLst>
              <a:ext uri="{FF2B5EF4-FFF2-40B4-BE49-F238E27FC236}">
                <a16:creationId xmlns:a16="http://schemas.microsoft.com/office/drawing/2014/main" id="{321DECE9-3D38-F0DC-168E-4C9F68933180}"/>
              </a:ext>
            </a:extLst>
          </p:cNvPr>
          <p:cNvPicPr>
            <a:picLocks noChangeAspect="1"/>
          </p:cNvPicPr>
          <p:nvPr/>
        </p:nvPicPr>
        <p:blipFill>
          <a:blip r:embed="rId2"/>
          <a:stretch>
            <a:fillRect/>
          </a:stretch>
        </p:blipFill>
        <p:spPr>
          <a:xfrm>
            <a:off x="4957292" y="2305319"/>
            <a:ext cx="2277415" cy="3130939"/>
          </a:xfrm>
          <a:prstGeom prst="rect">
            <a:avLst/>
          </a:prstGeom>
        </p:spPr>
      </p:pic>
    </p:spTree>
    <p:extLst>
      <p:ext uri="{BB962C8B-B14F-4D97-AF65-F5344CB8AC3E}">
        <p14:creationId xmlns:p14="http://schemas.microsoft.com/office/powerpoint/2010/main" val="88750319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07F444-C54E-4A39-E977-82415AAEE747}"/>
              </a:ext>
            </a:extLst>
          </p:cNvPr>
          <p:cNvSpPr>
            <a:spLocks noGrp="1"/>
          </p:cNvSpPr>
          <p:nvPr>
            <p:ph type="title"/>
          </p:nvPr>
        </p:nvSpPr>
        <p:spPr/>
        <p:txBody>
          <a:bodyPr>
            <a:normAutofit fontScale="90000"/>
          </a:bodyPr>
          <a:lstStyle/>
          <a:p>
            <a:r>
              <a:rPr lang="en-US" dirty="0"/>
              <a:t>Causal Analysis from Observational Data: </a:t>
            </a:r>
            <a:r>
              <a:rPr lang="en-US" dirty="0" err="1"/>
              <a:t>Horwick</a:t>
            </a:r>
            <a:r>
              <a:rPr lang="en-US" dirty="0"/>
              <a:t> et al.</a:t>
            </a:r>
          </a:p>
        </p:txBody>
      </p:sp>
      <p:sp>
        <p:nvSpPr>
          <p:cNvPr id="3" name="Content Placeholder 2">
            <a:extLst>
              <a:ext uri="{FF2B5EF4-FFF2-40B4-BE49-F238E27FC236}">
                <a16:creationId xmlns:a16="http://schemas.microsoft.com/office/drawing/2014/main" id="{A22EF673-1325-27EA-F07D-2975C9633EC4}"/>
              </a:ext>
            </a:extLst>
          </p:cNvPr>
          <p:cNvSpPr>
            <a:spLocks noGrp="1"/>
          </p:cNvSpPr>
          <p:nvPr>
            <p:ph idx="1"/>
          </p:nvPr>
        </p:nvSpPr>
        <p:spPr/>
        <p:txBody>
          <a:bodyPr/>
          <a:lstStyle/>
          <a:p>
            <a:pPr marL="742950" indent="-742950">
              <a:buFont typeface="+mj-lt"/>
              <a:buAutoNum type="arabicPeriod"/>
            </a:pPr>
            <a:r>
              <a:rPr lang="en-US" sz="1800" dirty="0"/>
              <a:t>Direct Evidence</a:t>
            </a:r>
          </a:p>
          <a:p>
            <a:pPr marL="1242470" lvl="1" indent="-742950">
              <a:buFont typeface="+mj-lt"/>
              <a:buAutoNum type="alphaLcParenR"/>
            </a:pPr>
            <a:r>
              <a:rPr lang="en-US" sz="1800" dirty="0"/>
              <a:t>Si</a:t>
            </a:r>
            <a:r>
              <a:rPr lang="en-US" sz="1800" dirty="0">
                <a:cs typeface="Calibri" panose="020F0502020204030204" pitchFamily="34" charset="0"/>
              </a:rPr>
              <a:t>ze of effect is so </a:t>
            </a:r>
            <a:r>
              <a:rPr lang="en-US" sz="1800" b="0" i="0" dirty="0">
                <a:solidFill>
                  <a:srgbClr val="000000"/>
                </a:solidFill>
                <a:effectLst/>
                <a:cs typeface="Calibri" panose="020F0502020204030204" pitchFamily="34" charset="0"/>
              </a:rPr>
              <a:t>so large that it </a:t>
            </a:r>
            <a:r>
              <a:rPr lang="en-US" sz="1800" b="0" i="1" dirty="0">
                <a:solidFill>
                  <a:srgbClr val="000000"/>
                </a:solidFill>
                <a:effectLst/>
                <a:cs typeface="Calibri" panose="020F0502020204030204" pitchFamily="34" charset="0"/>
              </a:rPr>
              <a:t>cannot be explained by plausible confounding</a:t>
            </a:r>
            <a:r>
              <a:rPr lang="en-US" sz="1800" b="0" i="0" dirty="0">
                <a:solidFill>
                  <a:srgbClr val="000000"/>
                </a:solidFill>
                <a:effectLst/>
                <a:cs typeface="Calibri" panose="020F0502020204030204" pitchFamily="34" charset="0"/>
              </a:rPr>
              <a:t>.</a:t>
            </a:r>
          </a:p>
          <a:p>
            <a:pPr marL="1242470" lvl="1" indent="-742950">
              <a:buFont typeface="+mj-lt"/>
              <a:buAutoNum type="alphaLcParenR"/>
            </a:pPr>
            <a:r>
              <a:rPr lang="en-US" sz="1800" b="0" i="0" dirty="0">
                <a:solidFill>
                  <a:srgbClr val="000000"/>
                </a:solidFill>
                <a:effectLst/>
                <a:cs typeface="Calibri" panose="020F0502020204030204" pitchFamily="34" charset="0"/>
              </a:rPr>
              <a:t>There is </a:t>
            </a:r>
            <a:r>
              <a:rPr lang="en-US" sz="1800" b="0" i="1" dirty="0">
                <a:solidFill>
                  <a:srgbClr val="000000"/>
                </a:solidFill>
                <a:effectLst/>
                <a:cs typeface="Calibri" panose="020F0502020204030204" pitchFamily="34" charset="0"/>
              </a:rPr>
              <a:t>appropriate temporal and/or spatial proximity</a:t>
            </a:r>
            <a:r>
              <a:rPr lang="en-US" sz="1800" b="0" i="0" dirty="0">
                <a:solidFill>
                  <a:srgbClr val="000000"/>
                </a:solidFill>
                <a:effectLst/>
                <a:cs typeface="Calibri" panose="020F0502020204030204" pitchFamily="34" charset="0"/>
              </a:rPr>
              <a:t>, in that cause precedes effect and effect occurs after a plausible interval, and/or cause occurs at the same site as the effect.</a:t>
            </a:r>
          </a:p>
          <a:p>
            <a:pPr marL="1242470" lvl="1" indent="-742950">
              <a:buFont typeface="+mj-lt"/>
              <a:buAutoNum type="alphaLcParenR"/>
            </a:pPr>
            <a:r>
              <a:rPr lang="en-US" sz="1800" b="0" i="1" dirty="0">
                <a:solidFill>
                  <a:srgbClr val="000000"/>
                </a:solidFill>
                <a:effectLst/>
                <a:cs typeface="Calibri" panose="020F0502020204030204" pitchFamily="34" charset="0"/>
              </a:rPr>
              <a:t>Dose responsiveness and reversibility</a:t>
            </a:r>
            <a:r>
              <a:rPr lang="en-US" sz="1800" b="0" i="0" dirty="0">
                <a:solidFill>
                  <a:srgbClr val="000000"/>
                </a:solidFill>
                <a:effectLst/>
                <a:cs typeface="Calibri" panose="020F0502020204030204" pitchFamily="34" charset="0"/>
              </a:rPr>
              <a:t>: the effect increases as the exposure increases, and the evidence is even stronger if the effect reduces upon reduction of the dose.</a:t>
            </a:r>
            <a:endParaRPr lang="en-US" sz="1800" b="0" i="0" dirty="0">
              <a:solidFill>
                <a:srgbClr val="000000"/>
              </a:solidFill>
              <a:effectLst/>
              <a:latin typeface="Times New Roman" panose="02020603050405020304" pitchFamily="18" charset="0"/>
            </a:endParaRPr>
          </a:p>
          <a:p>
            <a:pPr marL="1242470" lvl="1" indent="-742950"/>
            <a:endParaRPr lang="en-US" sz="1800" dirty="0"/>
          </a:p>
        </p:txBody>
      </p:sp>
    </p:spTree>
    <p:extLst>
      <p:ext uri="{BB962C8B-B14F-4D97-AF65-F5344CB8AC3E}">
        <p14:creationId xmlns:p14="http://schemas.microsoft.com/office/powerpoint/2010/main" val="3365025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064E0E1-AA01-F74C-E151-51CA0CEA2B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710769-82F4-4CF8-7BBF-CD59E810D7F1}"/>
              </a:ext>
            </a:extLst>
          </p:cNvPr>
          <p:cNvSpPr>
            <a:spLocks noGrp="1"/>
          </p:cNvSpPr>
          <p:nvPr>
            <p:ph type="title"/>
          </p:nvPr>
        </p:nvSpPr>
        <p:spPr/>
        <p:txBody>
          <a:bodyPr>
            <a:normAutofit fontScale="90000"/>
          </a:bodyPr>
          <a:lstStyle/>
          <a:p>
            <a:r>
              <a:rPr lang="en-US" dirty="0"/>
              <a:t>Causal Analysis from Observational Data: </a:t>
            </a:r>
            <a:r>
              <a:rPr lang="en-US" dirty="0" err="1"/>
              <a:t>Horwick</a:t>
            </a:r>
            <a:r>
              <a:rPr lang="en-US" dirty="0"/>
              <a:t> et al.</a:t>
            </a:r>
          </a:p>
        </p:txBody>
      </p:sp>
      <p:sp>
        <p:nvSpPr>
          <p:cNvPr id="3" name="Content Placeholder 2">
            <a:extLst>
              <a:ext uri="{FF2B5EF4-FFF2-40B4-BE49-F238E27FC236}">
                <a16:creationId xmlns:a16="http://schemas.microsoft.com/office/drawing/2014/main" id="{C36EFF1C-6223-8BB5-A3AE-63417F94C510}"/>
              </a:ext>
            </a:extLst>
          </p:cNvPr>
          <p:cNvSpPr>
            <a:spLocks noGrp="1"/>
          </p:cNvSpPr>
          <p:nvPr>
            <p:ph idx="1"/>
          </p:nvPr>
        </p:nvSpPr>
        <p:spPr/>
        <p:txBody>
          <a:bodyPr/>
          <a:lstStyle/>
          <a:p>
            <a:pPr marL="514350" indent="-514350">
              <a:buAutoNum type="arabicPeriod" startAt="2"/>
            </a:pPr>
            <a:r>
              <a:rPr lang="en-US" sz="1800" dirty="0"/>
              <a:t>Mechanistic Evidence</a:t>
            </a:r>
          </a:p>
          <a:p>
            <a:pPr marL="1013870" lvl="1" indent="-514350"/>
            <a:r>
              <a:rPr lang="en-US" sz="1800" dirty="0"/>
              <a:t>There is a </a:t>
            </a:r>
            <a:r>
              <a:rPr lang="en-US" sz="1800" i="1" dirty="0"/>
              <a:t>plausible mechanism of action</a:t>
            </a:r>
            <a:r>
              <a:rPr lang="en-US" sz="1800" dirty="0"/>
              <a:t>: this may be biological, chemical, mechanical or quantum. There is external evidence of a causal chain.</a:t>
            </a:r>
          </a:p>
          <a:p>
            <a:pPr marL="499520" lvl="1" indent="0">
              <a:buNone/>
            </a:pPr>
            <a:endParaRPr lang="en-US" sz="1800" dirty="0"/>
          </a:p>
          <a:p>
            <a:pPr marL="499520" lvl="1" indent="0">
              <a:buNone/>
            </a:pPr>
            <a:endParaRPr lang="en-US" sz="1800" dirty="0"/>
          </a:p>
          <a:p>
            <a:pPr marL="499520" lvl="1" indent="0">
              <a:buNone/>
            </a:pPr>
            <a:r>
              <a:rPr lang="en-US" sz="1800" dirty="0"/>
              <a:t>This approach relies on being able to come up with a scientific explanation based on past research and a chain of logic that leads us to believe in the causal effect from observational data. </a:t>
            </a:r>
          </a:p>
          <a:p>
            <a:pPr marL="1242470" lvl="1" indent="-742950"/>
            <a:endParaRPr lang="en-US" sz="1800" dirty="0"/>
          </a:p>
        </p:txBody>
      </p:sp>
    </p:spTree>
    <p:extLst>
      <p:ext uri="{BB962C8B-B14F-4D97-AF65-F5344CB8AC3E}">
        <p14:creationId xmlns:p14="http://schemas.microsoft.com/office/powerpoint/2010/main" val="289474914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B9869B-C679-7A3F-9014-FD6CC8FA69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6BA9B7-FD7F-868F-C633-4F2AC71CE9DE}"/>
              </a:ext>
            </a:extLst>
          </p:cNvPr>
          <p:cNvSpPr>
            <a:spLocks noGrp="1"/>
          </p:cNvSpPr>
          <p:nvPr>
            <p:ph type="title"/>
          </p:nvPr>
        </p:nvSpPr>
        <p:spPr/>
        <p:txBody>
          <a:bodyPr>
            <a:normAutofit fontScale="90000"/>
          </a:bodyPr>
          <a:lstStyle/>
          <a:p>
            <a:r>
              <a:rPr lang="en-US" dirty="0"/>
              <a:t>Causal Analysis from Observational Data: </a:t>
            </a:r>
            <a:r>
              <a:rPr lang="en-US" dirty="0" err="1"/>
              <a:t>Horwick</a:t>
            </a:r>
            <a:r>
              <a:rPr lang="en-US" dirty="0"/>
              <a:t> et al.</a:t>
            </a:r>
          </a:p>
        </p:txBody>
      </p:sp>
      <p:sp>
        <p:nvSpPr>
          <p:cNvPr id="3" name="Content Placeholder 2">
            <a:extLst>
              <a:ext uri="{FF2B5EF4-FFF2-40B4-BE49-F238E27FC236}">
                <a16:creationId xmlns:a16="http://schemas.microsoft.com/office/drawing/2014/main" id="{6A905260-8458-9110-29CA-10AC2529C23F}"/>
              </a:ext>
            </a:extLst>
          </p:cNvPr>
          <p:cNvSpPr>
            <a:spLocks noGrp="1"/>
          </p:cNvSpPr>
          <p:nvPr>
            <p:ph idx="1"/>
          </p:nvPr>
        </p:nvSpPr>
        <p:spPr/>
        <p:txBody>
          <a:bodyPr/>
          <a:lstStyle/>
          <a:p>
            <a:pPr marL="0" indent="0">
              <a:buNone/>
            </a:pPr>
            <a:r>
              <a:rPr lang="en-US" sz="1800" dirty="0"/>
              <a:t>3.	Parallel Evidence</a:t>
            </a:r>
          </a:p>
          <a:p>
            <a:pPr marL="992704" lvl="1" indent="-514350">
              <a:buFont typeface="+mj-lt"/>
              <a:buAutoNum type="alphaLcParenR"/>
            </a:pPr>
            <a:r>
              <a:rPr lang="en-US" sz="1800" b="0" i="0" dirty="0">
                <a:solidFill>
                  <a:srgbClr val="000000"/>
                </a:solidFill>
                <a:effectLst/>
              </a:rPr>
              <a:t>The effect fits with what is known already.</a:t>
            </a:r>
          </a:p>
          <a:p>
            <a:pPr marL="992704" lvl="1" indent="-514350">
              <a:buFont typeface="+mj-lt"/>
              <a:buAutoNum type="alphaLcParenR"/>
            </a:pPr>
            <a:r>
              <a:rPr lang="en-US" sz="1800" b="0" i="0" dirty="0">
                <a:solidFill>
                  <a:srgbClr val="000000"/>
                </a:solidFill>
                <a:effectLst/>
              </a:rPr>
              <a:t>The effect is found when the study is replicated.</a:t>
            </a:r>
          </a:p>
          <a:p>
            <a:pPr marL="992704" lvl="1" indent="-514350">
              <a:buFont typeface="+mj-lt"/>
              <a:buAutoNum type="alphaLcParenR"/>
            </a:pPr>
            <a:r>
              <a:rPr lang="en-US" sz="1800" b="0" i="0" dirty="0">
                <a:solidFill>
                  <a:srgbClr val="000000"/>
                </a:solidFill>
                <a:effectLst/>
              </a:rPr>
              <a:t>The effect is found in similar, but not identical, studies.</a:t>
            </a:r>
          </a:p>
          <a:p>
            <a:pPr marL="478354" lvl="1" indent="0">
              <a:buNone/>
            </a:pPr>
            <a:endParaRPr lang="en-US" sz="1800" dirty="0">
              <a:solidFill>
                <a:srgbClr val="000000"/>
              </a:solidFill>
            </a:endParaRPr>
          </a:p>
          <a:p>
            <a:pPr marL="478354" lvl="1" indent="0">
              <a:buNone/>
            </a:pPr>
            <a:r>
              <a:rPr lang="en-US" sz="1800" dirty="0"/>
              <a:t>For example, mouth ulcers have been observed to occur after aspirin is rubbed within the mouth, say to relieve tooth pain. The effect is dramatic (1a), occurs where rubbed (1b), is a plausible response to an acidic compound (2), is not contradicted by current science and is similar to the known effect of aspirin in causing stomach ulcers (3a), and has been repeatedly observed in multiple patients (3b). So five out of seven guidelines are satisfied, the remaining two have not been tested, and so it is reasonable to conclude this is a genuine adverse reaction to the drug.</a:t>
            </a:r>
            <a:endParaRPr lang="en-US" sz="1800" b="0" i="0" dirty="0">
              <a:solidFill>
                <a:srgbClr val="000000"/>
              </a:solidFill>
              <a:effectLst/>
            </a:endParaRPr>
          </a:p>
          <a:p>
            <a:pPr marL="956720" lvl="1" indent="-457200"/>
            <a:endParaRPr lang="en-US" sz="1800" dirty="0"/>
          </a:p>
          <a:p>
            <a:pPr marL="1242470" lvl="1" indent="-742950"/>
            <a:endParaRPr lang="en-US" sz="1800" dirty="0"/>
          </a:p>
        </p:txBody>
      </p:sp>
    </p:spTree>
    <p:extLst>
      <p:ext uri="{BB962C8B-B14F-4D97-AF65-F5344CB8AC3E}">
        <p14:creationId xmlns:p14="http://schemas.microsoft.com/office/powerpoint/2010/main" val="8247024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Maastricht University">
  <a:themeElements>
    <a:clrScheme name="UM">
      <a:dk1>
        <a:srgbClr val="001C3D"/>
      </a:dk1>
      <a:lt1>
        <a:srgbClr val="FFFFFF"/>
      </a:lt1>
      <a:dk2>
        <a:srgbClr val="00A2DB"/>
      </a:dk2>
      <a:lt2>
        <a:srgbClr val="FFFFFF"/>
      </a:lt2>
      <a:accent1>
        <a:srgbClr val="E84E10"/>
      </a:accent1>
      <a:accent2>
        <a:srgbClr val="00A2DB"/>
      </a:accent2>
      <a:accent3>
        <a:srgbClr val="001C3D"/>
      </a:accent3>
      <a:accent4>
        <a:srgbClr val="F3A687"/>
      </a:accent4>
      <a:accent5>
        <a:srgbClr val="7FD0ED"/>
      </a:accent5>
      <a:accent6>
        <a:srgbClr val="7F8D9E"/>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20320</TotalTime>
  <Words>5765</Words>
  <Application>Microsoft Macintosh PowerPoint</Application>
  <PresentationFormat>Widescreen</PresentationFormat>
  <Paragraphs>525</Paragraphs>
  <Slides>78</Slides>
  <Notes>32</Notes>
  <HiddenSlides>3</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78</vt:i4>
      </vt:variant>
    </vt:vector>
  </HeadingPairs>
  <TitlesOfParts>
    <vt:vector size="85" baseType="lpstr">
      <vt:lpstr>Aptos</vt:lpstr>
      <vt:lpstr>Arial</vt:lpstr>
      <vt:lpstr>Calibri</vt:lpstr>
      <vt:lpstr>Helvetica</vt:lpstr>
      <vt:lpstr>Lucida Grande</vt:lpstr>
      <vt:lpstr>Times New Roman</vt:lpstr>
      <vt:lpstr>1_Maastricht University</vt:lpstr>
      <vt:lpstr>BCS1520: Statistics</vt:lpstr>
      <vt:lpstr>Population and sample</vt:lpstr>
      <vt:lpstr>Population and sample</vt:lpstr>
      <vt:lpstr>Population and sample</vt:lpstr>
      <vt:lpstr>Population and sample</vt:lpstr>
      <vt:lpstr>Population and sample</vt:lpstr>
      <vt:lpstr>Population and sample</vt:lpstr>
      <vt:lpstr>Population and sample</vt:lpstr>
      <vt:lpstr>Population and sample</vt:lpstr>
      <vt:lpstr>What do we want from our measurements?</vt:lpstr>
      <vt:lpstr>Internal validity</vt:lpstr>
      <vt:lpstr>Lack of Internal Validity</vt:lpstr>
      <vt:lpstr>External validity</vt:lpstr>
      <vt:lpstr>Lack of External Validity</vt:lpstr>
      <vt:lpstr>Shark attacks and Ice Cream</vt:lpstr>
      <vt:lpstr>Interesting correlations</vt:lpstr>
      <vt:lpstr>Correlations types </vt:lpstr>
      <vt:lpstr>Covariance</vt:lpstr>
      <vt:lpstr>Covariance</vt:lpstr>
      <vt:lpstr>Covariance</vt:lpstr>
      <vt:lpstr>Covariance</vt:lpstr>
      <vt:lpstr>Covariance</vt:lpstr>
      <vt:lpstr>Covariance</vt:lpstr>
      <vt:lpstr>Covariance</vt:lpstr>
      <vt:lpstr>Pearsons’s correlation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Correlation analysis</vt:lpstr>
      <vt:lpstr>Correlation vs Causation</vt:lpstr>
      <vt:lpstr>Going to university increases risks of Brain Tumors</vt:lpstr>
      <vt:lpstr>How to lose less war planes?</vt:lpstr>
      <vt:lpstr>How to lose less war planes?</vt:lpstr>
      <vt:lpstr>What is causation?</vt:lpstr>
      <vt:lpstr>Kids and causal experimentation</vt:lpstr>
      <vt:lpstr>What is causation?</vt:lpstr>
      <vt:lpstr>Randomization: The Heart of Causal Analysis</vt:lpstr>
      <vt:lpstr>Randomized Control Trials</vt:lpstr>
      <vt:lpstr>Randomized Control Trials</vt:lpstr>
      <vt:lpstr>Randomized Control Trials</vt:lpstr>
      <vt:lpstr>Randomized Control Trials</vt:lpstr>
      <vt:lpstr>How do we allocate groups?</vt:lpstr>
      <vt:lpstr>Sampling Techniques</vt:lpstr>
      <vt:lpstr>Sampling Techniques</vt:lpstr>
      <vt:lpstr>Sampling Techniques</vt:lpstr>
      <vt:lpstr>Sampling Techniques</vt:lpstr>
      <vt:lpstr>Sampling Techniques</vt:lpstr>
      <vt:lpstr>Randomized Control Trials</vt:lpstr>
      <vt:lpstr>Randomized Control Trials</vt:lpstr>
      <vt:lpstr>Levels of Blinding</vt:lpstr>
      <vt:lpstr>Randomized Control Trials</vt:lpstr>
      <vt:lpstr>Randomized Control Trials</vt:lpstr>
      <vt:lpstr>Clinical Trial Principles </vt:lpstr>
      <vt:lpstr>Evaluate the effects</vt:lpstr>
      <vt:lpstr>Can we be sure the previous plot was not due to chance?</vt:lpstr>
      <vt:lpstr>What if we can’t randomize?</vt:lpstr>
      <vt:lpstr>What if we can’t randomize?</vt:lpstr>
      <vt:lpstr>What if we can’t randomize?</vt:lpstr>
      <vt:lpstr>Returning to the sharks and ice cream</vt:lpstr>
      <vt:lpstr>Confounders</vt:lpstr>
      <vt:lpstr>Confounders</vt:lpstr>
      <vt:lpstr>Confounders</vt:lpstr>
      <vt:lpstr>Gender bias in Graduate Admissions</vt:lpstr>
      <vt:lpstr>Sex bias in Graduate Admissions</vt:lpstr>
      <vt:lpstr>Simpson’s Paradox</vt:lpstr>
      <vt:lpstr>Simpson’s paradox</vt:lpstr>
      <vt:lpstr>Causation and Counterfactuals</vt:lpstr>
      <vt:lpstr>What is causation?</vt:lpstr>
      <vt:lpstr>Causation</vt:lpstr>
      <vt:lpstr>Causal Analysis from Observational Data: Horwick et al.</vt:lpstr>
      <vt:lpstr>Causal Analysis from Observational Data: Horwick et al.</vt:lpstr>
      <vt:lpstr>Causal Analysis from Observational Data: Horwick et 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Wodeyar, Anirudh (DACS)</dc:creator>
  <cp:lastModifiedBy>Wodeyar, Anirudh (DACS)</cp:lastModifiedBy>
  <cp:revision>117</cp:revision>
  <dcterms:created xsi:type="dcterms:W3CDTF">2024-09-30T12:52:51Z</dcterms:created>
  <dcterms:modified xsi:type="dcterms:W3CDTF">2026-04-08T08:34:54Z</dcterms:modified>
</cp:coreProperties>
</file>