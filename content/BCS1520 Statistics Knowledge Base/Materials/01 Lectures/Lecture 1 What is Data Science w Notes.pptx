
<file path=[Content_Types].xml><?xml version="1.0" encoding="utf-8"?>
<Types xmlns="http://schemas.openxmlformats.org/package/2006/content-types">
  <Default Extension="emf" ContentType="image/x-emf"/>
  <Default Extension="jpeg" ContentType="image/jpeg"/>
  <Default Extension="jp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webextensions/webextension1.xml" ContentType="application/vnd.ms-office.webextension+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webextensions/webextension2.xml" ContentType="application/vnd.ms-office.webextension+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webextensions/webextension3.xml" ContentType="application/vnd.ms-office.webextension+xml"/>
  <Override PartName="/ppt/webextensions/webextension4.xml" ContentType="application/vnd.ms-office.webextension+xml"/>
  <Override PartName="/ppt/webextensions/webextension5.xml" ContentType="application/vnd.ms-office.webextension+xml"/>
  <Override PartName="/ppt/notesSlides/notesSlide12.xml" ContentType="application/vnd.openxmlformats-officedocument.presentationml.notesSlide+xml"/>
  <Override PartName="/ppt/webextensions/webextension6.xml" ContentType="application/vnd.ms-office.webextension+xml"/>
  <Override PartName="/ppt/notesSlides/notesSlide13.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4.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webextensions/webextension7.xml" ContentType="application/vnd.ms-office.webextension+xml"/>
  <Override PartName="/ppt/webextensions/webextension8.xml" ContentType="application/vnd.ms-office.webextension+xml"/>
  <Override PartName="/ppt/notesSlides/notesSlide32.xml" ContentType="application/vnd.openxmlformats-officedocument.presentationml.notesSlide+xml"/>
  <Override PartName="/ppt/webextensions/webextension9.xml" ContentType="application/vnd.ms-office.webextension+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 id="2147483673" r:id="rId2"/>
  </p:sldMasterIdLst>
  <p:notesMasterIdLst>
    <p:notesMasterId r:id="rId67"/>
  </p:notesMasterIdLst>
  <p:sldIdLst>
    <p:sldId id="676" r:id="rId3"/>
    <p:sldId id="589" r:id="rId4"/>
    <p:sldId id="602" r:id="rId5"/>
    <p:sldId id="560" r:id="rId6"/>
    <p:sldId id="561" r:id="rId7"/>
    <p:sldId id="564" r:id="rId8"/>
    <p:sldId id="603" r:id="rId9"/>
    <p:sldId id="567" r:id="rId10"/>
    <p:sldId id="565" r:id="rId11"/>
    <p:sldId id="566" r:id="rId12"/>
    <p:sldId id="568" r:id="rId13"/>
    <p:sldId id="569" r:id="rId14"/>
    <p:sldId id="570" r:id="rId15"/>
    <p:sldId id="573" r:id="rId16"/>
    <p:sldId id="575" r:id="rId17"/>
    <p:sldId id="574" r:id="rId18"/>
    <p:sldId id="590" r:id="rId19"/>
    <p:sldId id="571" r:id="rId20"/>
    <p:sldId id="578" r:id="rId21"/>
    <p:sldId id="608" r:id="rId22"/>
    <p:sldId id="607" r:id="rId23"/>
    <p:sldId id="604" r:id="rId24"/>
    <p:sldId id="611" r:id="rId25"/>
    <p:sldId id="273" r:id="rId26"/>
    <p:sldId id="579" r:id="rId27"/>
    <p:sldId id="265" r:id="rId28"/>
    <p:sldId id="279" r:id="rId29"/>
    <p:sldId id="263" r:id="rId30"/>
    <p:sldId id="278" r:id="rId31"/>
    <p:sldId id="677" r:id="rId32"/>
    <p:sldId id="287" r:id="rId33"/>
    <p:sldId id="268" r:id="rId34"/>
    <p:sldId id="269" r:id="rId35"/>
    <p:sldId id="678" r:id="rId36"/>
    <p:sldId id="672" r:id="rId37"/>
    <p:sldId id="673" r:id="rId38"/>
    <p:sldId id="674" r:id="rId39"/>
    <p:sldId id="675" r:id="rId40"/>
    <p:sldId id="576" r:id="rId41"/>
    <p:sldId id="580" r:id="rId42"/>
    <p:sldId id="572" r:id="rId43"/>
    <p:sldId id="581" r:id="rId44"/>
    <p:sldId id="582" r:id="rId45"/>
    <p:sldId id="583" r:id="rId46"/>
    <p:sldId id="585" r:id="rId47"/>
    <p:sldId id="586" r:id="rId48"/>
    <p:sldId id="591" r:id="rId49"/>
    <p:sldId id="592" r:id="rId50"/>
    <p:sldId id="593" r:id="rId51"/>
    <p:sldId id="595" r:id="rId52"/>
    <p:sldId id="596" r:id="rId53"/>
    <p:sldId id="598" r:id="rId54"/>
    <p:sldId id="635" r:id="rId55"/>
    <p:sldId id="634" r:id="rId56"/>
    <p:sldId id="680" r:id="rId57"/>
    <p:sldId id="681" r:id="rId58"/>
    <p:sldId id="633" r:id="rId59"/>
    <p:sldId id="682" r:id="rId60"/>
    <p:sldId id="638" r:id="rId61"/>
    <p:sldId id="668" r:id="rId62"/>
    <p:sldId id="636" r:id="rId63"/>
    <p:sldId id="639" r:id="rId64"/>
    <p:sldId id="637" r:id="rId65"/>
    <p:sldId id="671" r:id="rId6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C4B1156A-380E-4F78-BDF5-A606A8083BF9}" styleName="Medium Style 4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2456"/>
    <p:restoredTop sz="87797"/>
  </p:normalViewPr>
  <p:slideViewPr>
    <p:cSldViewPr snapToGrid="0">
      <p:cViewPr varScale="1">
        <p:scale>
          <a:sx n="136" d="100"/>
          <a:sy n="136" d="100"/>
        </p:scale>
        <p:origin x="592" y="19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42" Type="http://schemas.openxmlformats.org/officeDocument/2006/relationships/slide" Target="slides/slide40.xml"/><Relationship Id="rId47" Type="http://schemas.openxmlformats.org/officeDocument/2006/relationships/slide" Target="slides/slide45.xml"/><Relationship Id="rId63" Type="http://schemas.openxmlformats.org/officeDocument/2006/relationships/slide" Target="slides/slide61.xml"/><Relationship Id="rId68" Type="http://schemas.openxmlformats.org/officeDocument/2006/relationships/presProps" Target="presProps.xml"/><Relationship Id="rId7" Type="http://schemas.openxmlformats.org/officeDocument/2006/relationships/slide" Target="slides/slide5.xml"/><Relationship Id="rId71"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slide" Target="slides/slide51.xml"/><Relationship Id="rId58" Type="http://schemas.openxmlformats.org/officeDocument/2006/relationships/slide" Target="slides/slide56.xml"/><Relationship Id="rId66" Type="http://schemas.openxmlformats.org/officeDocument/2006/relationships/slide" Target="slides/slide64.xml"/><Relationship Id="rId5" Type="http://schemas.openxmlformats.org/officeDocument/2006/relationships/slide" Target="slides/slide3.xml"/><Relationship Id="rId61" Type="http://schemas.openxmlformats.org/officeDocument/2006/relationships/slide" Target="slides/slide59.xml"/><Relationship Id="rId19" Type="http://schemas.openxmlformats.org/officeDocument/2006/relationships/slide" Target="slides/slide1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slide" Target="slides/slide54.xml"/><Relationship Id="rId64" Type="http://schemas.openxmlformats.org/officeDocument/2006/relationships/slide" Target="slides/slide62.xml"/><Relationship Id="rId69" Type="http://schemas.openxmlformats.org/officeDocument/2006/relationships/viewProps" Target="viewProps.xml"/><Relationship Id="rId8" Type="http://schemas.openxmlformats.org/officeDocument/2006/relationships/slide" Target="slides/slide6.xml"/><Relationship Id="rId51" Type="http://schemas.openxmlformats.org/officeDocument/2006/relationships/slide" Target="slides/slide49.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67" Type="http://schemas.openxmlformats.org/officeDocument/2006/relationships/notesMaster" Target="notesMasters/notesMaster1.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slide" Target="slides/slide60.xml"/><Relationship Id="rId7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slide" Target="slides/slide63.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s>
</file>

<file path=ppt/diagrams/_rels/data1.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image" Target="../media/image21.png"/></Relationships>
</file>

<file path=ppt/diagrams/_rels/drawing1.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image" Target="../media/image21.pn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EAFE0140-C6FD-41C7-A553-A5CAACB2DC29}" type="doc">
      <dgm:prSet loTypeId="urn:microsoft.com/office/officeart/2018/2/layout/IconVerticalSolidList" loCatId="icon" qsTypeId="urn:microsoft.com/office/officeart/2005/8/quickstyle/simple1" qsCatId="simple" csTypeId="urn:microsoft.com/office/officeart/2005/8/colors/accent1_2" csCatId="accent1" phldr="1"/>
      <dgm:spPr/>
      <dgm:t>
        <a:bodyPr/>
        <a:lstStyle/>
        <a:p>
          <a:endParaRPr lang="en-US"/>
        </a:p>
      </dgm:t>
    </dgm:pt>
    <dgm:pt modelId="{54C7EF85-208B-4179-9864-350A509FE406}">
      <dgm:prSet/>
      <dgm:spPr/>
      <dgm:t>
        <a:bodyPr/>
        <a:lstStyle/>
        <a:p>
          <a:pPr>
            <a:lnSpc>
              <a:spcPct val="100000"/>
            </a:lnSpc>
          </a:pPr>
          <a:r>
            <a:rPr lang="en-NL"/>
            <a:t>Lectures</a:t>
          </a:r>
          <a:r>
            <a:rPr lang="en-US" dirty="0"/>
            <a:t> (Concept &amp; Live analysis)</a:t>
          </a:r>
        </a:p>
      </dgm:t>
    </dgm:pt>
    <dgm:pt modelId="{0695B1CC-38B4-4C7B-B730-A3AEE4DFF881}" type="parTrans" cxnId="{A19A34E8-7D4A-4BE6-B8B5-6C6E668870FC}">
      <dgm:prSet/>
      <dgm:spPr/>
      <dgm:t>
        <a:bodyPr/>
        <a:lstStyle/>
        <a:p>
          <a:endParaRPr lang="en-US"/>
        </a:p>
      </dgm:t>
    </dgm:pt>
    <dgm:pt modelId="{36E90E1E-DD39-49AA-A347-1EEA1E224EAF}" type="sibTrans" cxnId="{A19A34E8-7D4A-4BE6-B8B5-6C6E668870FC}">
      <dgm:prSet/>
      <dgm:spPr/>
      <dgm:t>
        <a:bodyPr/>
        <a:lstStyle/>
        <a:p>
          <a:endParaRPr lang="en-US"/>
        </a:p>
      </dgm:t>
    </dgm:pt>
    <dgm:pt modelId="{0BB7B75C-62D2-4DAD-A1BC-970959327758}">
      <dgm:prSet/>
      <dgm:spPr/>
      <dgm:t>
        <a:bodyPr/>
        <a:lstStyle/>
        <a:p>
          <a:pPr>
            <a:lnSpc>
              <a:spcPct val="100000"/>
            </a:lnSpc>
          </a:pPr>
          <a:r>
            <a:rPr lang="en-NL" dirty="0"/>
            <a:t>Labs</a:t>
          </a:r>
          <a:endParaRPr lang="en-US" dirty="0"/>
        </a:p>
      </dgm:t>
    </dgm:pt>
    <dgm:pt modelId="{7F0C9765-8B07-464C-8889-A0D6849862FA}" type="parTrans" cxnId="{8405A96A-E0EE-4325-A171-8E43432F8E49}">
      <dgm:prSet/>
      <dgm:spPr/>
      <dgm:t>
        <a:bodyPr/>
        <a:lstStyle/>
        <a:p>
          <a:endParaRPr lang="en-US"/>
        </a:p>
      </dgm:t>
    </dgm:pt>
    <dgm:pt modelId="{49971263-BA89-49CE-A6FD-5A09994C0EE7}" type="sibTrans" cxnId="{8405A96A-E0EE-4325-A171-8E43432F8E49}">
      <dgm:prSet/>
      <dgm:spPr/>
      <dgm:t>
        <a:bodyPr/>
        <a:lstStyle/>
        <a:p>
          <a:endParaRPr lang="en-US"/>
        </a:p>
      </dgm:t>
    </dgm:pt>
    <dgm:pt modelId="{D4F4BECB-0904-4314-AE5C-3647612BBB6E}">
      <dgm:prSet/>
      <dgm:spPr/>
      <dgm:t>
        <a:bodyPr/>
        <a:lstStyle/>
        <a:p>
          <a:pPr>
            <a:lnSpc>
              <a:spcPct val="100000"/>
            </a:lnSpc>
          </a:pPr>
          <a:r>
            <a:rPr lang="en-US" dirty="0"/>
            <a:t>Read chapters</a:t>
          </a:r>
        </a:p>
      </dgm:t>
    </dgm:pt>
    <dgm:pt modelId="{3A4EFE83-A7B7-4CFC-BBCD-9E37F6948EAA}" type="parTrans" cxnId="{7A95A6E6-9D66-4FCC-B9CB-B44EE1F009C7}">
      <dgm:prSet/>
      <dgm:spPr/>
      <dgm:t>
        <a:bodyPr/>
        <a:lstStyle/>
        <a:p>
          <a:endParaRPr lang="en-US"/>
        </a:p>
      </dgm:t>
    </dgm:pt>
    <dgm:pt modelId="{C2D709C8-FD21-414B-B7DE-33399F62DEA3}" type="sibTrans" cxnId="{7A95A6E6-9D66-4FCC-B9CB-B44EE1F009C7}">
      <dgm:prSet/>
      <dgm:spPr/>
      <dgm:t>
        <a:bodyPr/>
        <a:lstStyle/>
        <a:p>
          <a:endParaRPr lang="en-US"/>
        </a:p>
      </dgm:t>
    </dgm:pt>
    <dgm:pt modelId="{53A38DD4-B585-413C-BE29-4BF9C90F3844}" type="pres">
      <dgm:prSet presAssocID="{EAFE0140-C6FD-41C7-A553-A5CAACB2DC29}" presName="root" presStyleCnt="0">
        <dgm:presLayoutVars>
          <dgm:dir/>
          <dgm:resizeHandles val="exact"/>
        </dgm:presLayoutVars>
      </dgm:prSet>
      <dgm:spPr/>
    </dgm:pt>
    <dgm:pt modelId="{50C18DDB-4D7A-4ADC-AE89-6364973B5B78}" type="pres">
      <dgm:prSet presAssocID="{D4F4BECB-0904-4314-AE5C-3647612BBB6E}" presName="compNode" presStyleCnt="0"/>
      <dgm:spPr/>
    </dgm:pt>
    <dgm:pt modelId="{A3A57D2F-DD1F-4DEB-BC75-0B9F164614ED}" type="pres">
      <dgm:prSet presAssocID="{D4F4BECB-0904-4314-AE5C-3647612BBB6E}" presName="bgRect" presStyleLbl="bgShp" presStyleIdx="0" presStyleCnt="3"/>
      <dgm:spPr/>
    </dgm:pt>
    <dgm:pt modelId="{939E4CEE-1525-4146-BF1A-C9643B0ACC6B}" type="pres">
      <dgm:prSet presAssocID="{D4F4BECB-0904-4314-AE5C-3647612BBB6E}" presName="iconRect" presStyleLbl="node1" presStyleIdx="0" presStyleCnt="3"/>
      <dgm:spPr>
        <a:blipFill rotWithShape="1">
          <a:blip xmlns:r="http://schemas.openxmlformats.org/officeDocument/2006/relationships" r:embed="rId1"/>
          <a:stretch>
            <a:fillRect/>
          </a:stretch>
        </a:blipFill>
        <a:ln>
          <a:noFill/>
        </a:ln>
      </dgm:spPr>
    </dgm:pt>
    <dgm:pt modelId="{35686899-AC41-4680-9FE2-4AB4B638359D}" type="pres">
      <dgm:prSet presAssocID="{D4F4BECB-0904-4314-AE5C-3647612BBB6E}" presName="spaceRect" presStyleCnt="0"/>
      <dgm:spPr/>
    </dgm:pt>
    <dgm:pt modelId="{75BC7FEA-DE8A-444E-B339-23B7D2953059}" type="pres">
      <dgm:prSet presAssocID="{D4F4BECB-0904-4314-AE5C-3647612BBB6E}" presName="parTx" presStyleLbl="revTx" presStyleIdx="0" presStyleCnt="3">
        <dgm:presLayoutVars>
          <dgm:chMax val="0"/>
          <dgm:chPref val="0"/>
        </dgm:presLayoutVars>
      </dgm:prSet>
      <dgm:spPr/>
    </dgm:pt>
    <dgm:pt modelId="{100F178A-E41C-4BE8-B1C0-C95C49A4CE00}" type="pres">
      <dgm:prSet presAssocID="{C2D709C8-FD21-414B-B7DE-33399F62DEA3}" presName="sibTrans" presStyleCnt="0"/>
      <dgm:spPr/>
    </dgm:pt>
    <dgm:pt modelId="{2237EB4D-22DC-40F5-B60E-3E08BD7D7A83}" type="pres">
      <dgm:prSet presAssocID="{54C7EF85-208B-4179-9864-350A509FE406}" presName="compNode" presStyleCnt="0"/>
      <dgm:spPr/>
    </dgm:pt>
    <dgm:pt modelId="{7EC44C3E-C5E3-4830-AF1C-379DD2509959}" type="pres">
      <dgm:prSet presAssocID="{54C7EF85-208B-4179-9864-350A509FE406}" presName="bgRect" presStyleLbl="bgShp" presStyleIdx="1" presStyleCnt="3"/>
      <dgm:spPr/>
    </dgm:pt>
    <dgm:pt modelId="{E9E859E5-9782-4573-AF4F-B487437D4EB9}" type="pres">
      <dgm:prSet presAssocID="{54C7EF85-208B-4179-9864-350A509FE406}" presName="iconRect" presStyleLbl="node1" presStyleIdx="1" presStyleCnt="3"/>
      <dgm:spPr>
        <a:blipFill>
          <a:blip xmlns:r="http://schemas.openxmlformats.org/officeDocument/2006/relationships" r:embed="rId2">
            <a:extLst>
              <a:ext uri="{28A0092B-C50C-407E-A947-70E740481C1C}">
                <a14:useLocalDpi xmlns:a14="http://schemas.microsoft.com/office/drawing/2010/main" val="0"/>
              </a:ext>
            </a:extLst>
          </a:blip>
          <a:stretch>
            <a:fillRect/>
          </a:stretch>
        </a:blipFill>
        <a:ln>
          <a:noFill/>
        </a:ln>
      </dgm:spPr>
      <dgm:extLst>
        <a:ext uri="{E40237B7-FDA0-4F09-8148-C483321AD2D9}">
          <dgm14:cNvPr xmlns:dgm14="http://schemas.microsoft.com/office/drawing/2010/diagram" id="0" name="" descr="Classroom"/>
        </a:ext>
      </dgm:extLst>
    </dgm:pt>
    <dgm:pt modelId="{6D263BEB-4693-44E8-BEE5-2DEEDB9ABE60}" type="pres">
      <dgm:prSet presAssocID="{54C7EF85-208B-4179-9864-350A509FE406}" presName="spaceRect" presStyleCnt="0"/>
      <dgm:spPr/>
    </dgm:pt>
    <dgm:pt modelId="{926BD986-0C2E-43CF-978E-4F25B814E6EA}" type="pres">
      <dgm:prSet presAssocID="{54C7EF85-208B-4179-9864-350A509FE406}" presName="parTx" presStyleLbl="revTx" presStyleIdx="1" presStyleCnt="3">
        <dgm:presLayoutVars>
          <dgm:chMax val="0"/>
          <dgm:chPref val="0"/>
        </dgm:presLayoutVars>
      </dgm:prSet>
      <dgm:spPr/>
    </dgm:pt>
    <dgm:pt modelId="{1949F1D1-25B0-4649-A5B6-836991462A75}" type="pres">
      <dgm:prSet presAssocID="{36E90E1E-DD39-49AA-A347-1EEA1E224EAF}" presName="sibTrans" presStyleCnt="0"/>
      <dgm:spPr/>
    </dgm:pt>
    <dgm:pt modelId="{6CE83A5B-82F9-4A24-8899-C1A821D10552}" type="pres">
      <dgm:prSet presAssocID="{0BB7B75C-62D2-4DAD-A1BC-970959327758}" presName="compNode" presStyleCnt="0"/>
      <dgm:spPr/>
    </dgm:pt>
    <dgm:pt modelId="{E38C131E-9F7E-4276-A9F0-0558E19B2C3E}" type="pres">
      <dgm:prSet presAssocID="{0BB7B75C-62D2-4DAD-A1BC-970959327758}" presName="bgRect" presStyleLbl="bgShp" presStyleIdx="2" presStyleCnt="3"/>
      <dgm:spPr/>
    </dgm:pt>
    <dgm:pt modelId="{0336985F-B9DE-4508-8FB9-467C65046E4F}" type="pres">
      <dgm:prSet presAssocID="{0BB7B75C-62D2-4DAD-A1BC-970959327758}" presName="iconRect" presStyleLbl="node1" presStyleIdx="2" presStyleCnt="3"/>
      <dgm:spPr>
        <a:blipFill>
          <a:blip xmlns:r="http://schemas.openxmlformats.org/officeDocument/2006/relationships" r:embed="rId3">
            <a:extLst>
              <a:ext uri="{28A0092B-C50C-407E-A947-70E740481C1C}">
                <a14:useLocalDpi xmlns:a14="http://schemas.microsoft.com/office/drawing/2010/main" val="0"/>
              </a:ext>
            </a:extLst>
          </a:blip>
          <a:stretch>
            <a:fillRect/>
          </a:stretch>
        </a:blipFill>
        <a:ln>
          <a:noFill/>
        </a:ln>
      </dgm:spPr>
      <dgm:extLst>
        <a:ext uri="{E40237B7-FDA0-4F09-8148-C483321AD2D9}">
          <dgm14:cNvPr xmlns:dgm14="http://schemas.microsoft.com/office/drawing/2010/diagram" id="0" name="" descr="Test tubes"/>
        </a:ext>
      </dgm:extLst>
    </dgm:pt>
    <dgm:pt modelId="{56399562-9F49-4380-AC64-549A6BE64C51}" type="pres">
      <dgm:prSet presAssocID="{0BB7B75C-62D2-4DAD-A1BC-970959327758}" presName="spaceRect" presStyleCnt="0"/>
      <dgm:spPr/>
    </dgm:pt>
    <dgm:pt modelId="{9757F422-7A1F-4D0B-AA20-391A355FF83F}" type="pres">
      <dgm:prSet presAssocID="{0BB7B75C-62D2-4DAD-A1BC-970959327758}" presName="parTx" presStyleLbl="revTx" presStyleIdx="2" presStyleCnt="3">
        <dgm:presLayoutVars>
          <dgm:chMax val="0"/>
          <dgm:chPref val="0"/>
        </dgm:presLayoutVars>
      </dgm:prSet>
      <dgm:spPr/>
    </dgm:pt>
  </dgm:ptLst>
  <dgm:cxnLst>
    <dgm:cxn modelId="{AF2BFE09-E53F-4BD0-9AED-0318F4E5F261}" type="presOf" srcId="{EAFE0140-C6FD-41C7-A553-A5CAACB2DC29}" destId="{53A38DD4-B585-413C-BE29-4BF9C90F3844}" srcOrd="0" destOrd="0" presId="urn:microsoft.com/office/officeart/2018/2/layout/IconVerticalSolidList"/>
    <dgm:cxn modelId="{8405A96A-E0EE-4325-A171-8E43432F8E49}" srcId="{EAFE0140-C6FD-41C7-A553-A5CAACB2DC29}" destId="{0BB7B75C-62D2-4DAD-A1BC-970959327758}" srcOrd="2" destOrd="0" parTransId="{7F0C9765-8B07-464C-8889-A0D6849862FA}" sibTransId="{49971263-BA89-49CE-A6FD-5A09994C0EE7}"/>
    <dgm:cxn modelId="{17186B6D-83F4-8F4D-A97E-5E061EE25338}" type="presOf" srcId="{54C7EF85-208B-4179-9864-350A509FE406}" destId="{926BD986-0C2E-43CF-978E-4F25B814E6EA}" srcOrd="0" destOrd="0" presId="urn:microsoft.com/office/officeart/2018/2/layout/IconVerticalSolidList"/>
    <dgm:cxn modelId="{706EEA84-8BBD-4732-8AD0-BE102DB16A1B}" type="presOf" srcId="{D4F4BECB-0904-4314-AE5C-3647612BBB6E}" destId="{75BC7FEA-DE8A-444E-B339-23B7D2953059}" srcOrd="0" destOrd="0" presId="urn:microsoft.com/office/officeart/2018/2/layout/IconVerticalSolidList"/>
    <dgm:cxn modelId="{A89911E4-F236-CD44-B324-8BF2600EE791}" type="presOf" srcId="{0BB7B75C-62D2-4DAD-A1BC-970959327758}" destId="{9757F422-7A1F-4D0B-AA20-391A355FF83F}" srcOrd="0" destOrd="0" presId="urn:microsoft.com/office/officeart/2018/2/layout/IconVerticalSolidList"/>
    <dgm:cxn modelId="{7A95A6E6-9D66-4FCC-B9CB-B44EE1F009C7}" srcId="{EAFE0140-C6FD-41C7-A553-A5CAACB2DC29}" destId="{D4F4BECB-0904-4314-AE5C-3647612BBB6E}" srcOrd="0" destOrd="0" parTransId="{3A4EFE83-A7B7-4CFC-BBCD-9E37F6948EAA}" sibTransId="{C2D709C8-FD21-414B-B7DE-33399F62DEA3}"/>
    <dgm:cxn modelId="{A19A34E8-7D4A-4BE6-B8B5-6C6E668870FC}" srcId="{EAFE0140-C6FD-41C7-A553-A5CAACB2DC29}" destId="{54C7EF85-208B-4179-9864-350A509FE406}" srcOrd="1" destOrd="0" parTransId="{0695B1CC-38B4-4C7B-B730-A3AEE4DFF881}" sibTransId="{36E90E1E-DD39-49AA-A347-1EEA1E224EAF}"/>
    <dgm:cxn modelId="{782913C0-2164-4467-B69C-90C2F4142389}" type="presParOf" srcId="{53A38DD4-B585-413C-BE29-4BF9C90F3844}" destId="{50C18DDB-4D7A-4ADC-AE89-6364973B5B78}" srcOrd="0" destOrd="0" presId="urn:microsoft.com/office/officeart/2018/2/layout/IconVerticalSolidList"/>
    <dgm:cxn modelId="{F4EA3A74-A6E4-4C43-A03C-DF0F0AF9F84C}" type="presParOf" srcId="{50C18DDB-4D7A-4ADC-AE89-6364973B5B78}" destId="{A3A57D2F-DD1F-4DEB-BC75-0B9F164614ED}" srcOrd="0" destOrd="0" presId="urn:microsoft.com/office/officeart/2018/2/layout/IconVerticalSolidList"/>
    <dgm:cxn modelId="{D35297A2-0EC7-4358-AA7E-69E38E375654}" type="presParOf" srcId="{50C18DDB-4D7A-4ADC-AE89-6364973B5B78}" destId="{939E4CEE-1525-4146-BF1A-C9643B0ACC6B}" srcOrd="1" destOrd="0" presId="urn:microsoft.com/office/officeart/2018/2/layout/IconVerticalSolidList"/>
    <dgm:cxn modelId="{9DDBC2D8-8622-4A06-8D36-57F91A4D8C35}" type="presParOf" srcId="{50C18DDB-4D7A-4ADC-AE89-6364973B5B78}" destId="{35686899-AC41-4680-9FE2-4AB4B638359D}" srcOrd="2" destOrd="0" presId="urn:microsoft.com/office/officeart/2018/2/layout/IconVerticalSolidList"/>
    <dgm:cxn modelId="{8273AA74-EB22-4DC0-B133-F53CFA8D2EE4}" type="presParOf" srcId="{50C18DDB-4D7A-4ADC-AE89-6364973B5B78}" destId="{75BC7FEA-DE8A-444E-B339-23B7D2953059}" srcOrd="3" destOrd="0" presId="urn:microsoft.com/office/officeart/2018/2/layout/IconVerticalSolidList"/>
    <dgm:cxn modelId="{B4D370B8-AE8F-46B7-9B2A-A2E9B64D34BB}" type="presParOf" srcId="{53A38DD4-B585-413C-BE29-4BF9C90F3844}" destId="{100F178A-E41C-4BE8-B1C0-C95C49A4CE00}" srcOrd="1" destOrd="0" presId="urn:microsoft.com/office/officeart/2018/2/layout/IconVerticalSolidList"/>
    <dgm:cxn modelId="{6CFD05A5-B17D-4848-ADB4-7FD17DFB49D7}" type="presParOf" srcId="{53A38DD4-B585-413C-BE29-4BF9C90F3844}" destId="{2237EB4D-22DC-40F5-B60E-3E08BD7D7A83}" srcOrd="2" destOrd="0" presId="urn:microsoft.com/office/officeart/2018/2/layout/IconVerticalSolidList"/>
    <dgm:cxn modelId="{EC40DC66-FD6B-A44F-A4B3-987C8EDF639F}" type="presParOf" srcId="{2237EB4D-22DC-40F5-B60E-3E08BD7D7A83}" destId="{7EC44C3E-C5E3-4830-AF1C-379DD2509959}" srcOrd="0" destOrd="0" presId="urn:microsoft.com/office/officeart/2018/2/layout/IconVerticalSolidList"/>
    <dgm:cxn modelId="{55178632-2BD3-A74D-82B5-EF97ECB7F5C9}" type="presParOf" srcId="{2237EB4D-22DC-40F5-B60E-3E08BD7D7A83}" destId="{E9E859E5-9782-4573-AF4F-B487437D4EB9}" srcOrd="1" destOrd="0" presId="urn:microsoft.com/office/officeart/2018/2/layout/IconVerticalSolidList"/>
    <dgm:cxn modelId="{94CC8192-1D96-6341-A82D-3ECB46A0E923}" type="presParOf" srcId="{2237EB4D-22DC-40F5-B60E-3E08BD7D7A83}" destId="{6D263BEB-4693-44E8-BEE5-2DEEDB9ABE60}" srcOrd="2" destOrd="0" presId="urn:microsoft.com/office/officeart/2018/2/layout/IconVerticalSolidList"/>
    <dgm:cxn modelId="{FBBB242D-FEA9-A44F-82B7-A98F5EF97432}" type="presParOf" srcId="{2237EB4D-22DC-40F5-B60E-3E08BD7D7A83}" destId="{926BD986-0C2E-43CF-978E-4F25B814E6EA}" srcOrd="3" destOrd="0" presId="urn:microsoft.com/office/officeart/2018/2/layout/IconVerticalSolidList"/>
    <dgm:cxn modelId="{01D3CF3C-DD90-DB47-BB31-F56296C2CDFC}" type="presParOf" srcId="{53A38DD4-B585-413C-BE29-4BF9C90F3844}" destId="{1949F1D1-25B0-4649-A5B6-836991462A75}" srcOrd="3" destOrd="0" presId="urn:microsoft.com/office/officeart/2018/2/layout/IconVerticalSolidList"/>
    <dgm:cxn modelId="{47A74782-DB2B-7441-958C-2ABA54CC6D8E}" type="presParOf" srcId="{53A38DD4-B585-413C-BE29-4BF9C90F3844}" destId="{6CE83A5B-82F9-4A24-8899-C1A821D10552}" srcOrd="4" destOrd="0" presId="urn:microsoft.com/office/officeart/2018/2/layout/IconVerticalSolidList"/>
    <dgm:cxn modelId="{4DEE0C75-BDA8-F543-982E-8FDD161EF0BC}" type="presParOf" srcId="{6CE83A5B-82F9-4A24-8899-C1A821D10552}" destId="{E38C131E-9F7E-4276-A9F0-0558E19B2C3E}" srcOrd="0" destOrd="0" presId="urn:microsoft.com/office/officeart/2018/2/layout/IconVerticalSolidList"/>
    <dgm:cxn modelId="{0B0B6B4E-3771-384F-A4D1-6E0A7A92A0EA}" type="presParOf" srcId="{6CE83A5B-82F9-4A24-8899-C1A821D10552}" destId="{0336985F-B9DE-4508-8FB9-467C65046E4F}" srcOrd="1" destOrd="0" presId="urn:microsoft.com/office/officeart/2018/2/layout/IconVerticalSolidList"/>
    <dgm:cxn modelId="{87F52C4D-B7A1-484B-9620-50C22C4D4AB3}" type="presParOf" srcId="{6CE83A5B-82F9-4A24-8899-C1A821D10552}" destId="{56399562-9F49-4380-AC64-549A6BE64C51}" srcOrd="2" destOrd="0" presId="urn:microsoft.com/office/officeart/2018/2/layout/IconVerticalSolidList"/>
    <dgm:cxn modelId="{6BF44C54-45F8-CF46-ABEE-B39554E8EE85}" type="presParOf" srcId="{6CE83A5B-82F9-4A24-8899-C1A821D10552}" destId="{9757F422-7A1F-4D0B-AA20-391A355FF83F}"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EDF63343-524B-E444-83F2-A1BBC13916D9}" type="doc">
      <dgm:prSet loTypeId="urn:microsoft.com/office/officeart/2005/8/layout/vList2" loCatId="list" qsTypeId="urn:microsoft.com/office/officeart/2005/8/quickstyle/simple3" qsCatId="simple" csTypeId="urn:microsoft.com/office/officeart/2005/8/colors/accent1_2" csCatId="accent1" phldr="1"/>
      <dgm:spPr/>
      <dgm:t>
        <a:bodyPr/>
        <a:lstStyle/>
        <a:p>
          <a:endParaRPr lang="en-US"/>
        </a:p>
      </dgm:t>
    </dgm:pt>
    <dgm:pt modelId="{53CF1B21-06EC-C54A-9A41-06447323CA23}">
      <dgm:prSet/>
      <dgm:spPr/>
      <dgm:t>
        <a:bodyPr/>
        <a:lstStyle/>
        <a:p>
          <a:r>
            <a:rPr lang="en-US" b="0" i="0" dirty="0"/>
            <a:t>What happened to children having heart surgery in Bristol between 1984 and 1995?</a:t>
          </a:r>
          <a:endParaRPr lang="en-US" dirty="0"/>
        </a:p>
      </dgm:t>
    </dgm:pt>
    <dgm:pt modelId="{F813487B-9F45-714C-A929-E45702A3E098}" type="parTrans" cxnId="{6D3250FB-2A30-BC4B-AEC2-DD4BF6584A18}">
      <dgm:prSet/>
      <dgm:spPr/>
      <dgm:t>
        <a:bodyPr/>
        <a:lstStyle/>
        <a:p>
          <a:endParaRPr lang="en-US"/>
        </a:p>
      </dgm:t>
    </dgm:pt>
    <dgm:pt modelId="{7F0DBB1D-9038-A243-83ED-3EAB184510DD}" type="sibTrans" cxnId="{6D3250FB-2A30-BC4B-AEC2-DD4BF6584A18}">
      <dgm:prSet/>
      <dgm:spPr/>
      <dgm:t>
        <a:bodyPr/>
        <a:lstStyle/>
        <a:p>
          <a:endParaRPr lang="en-US"/>
        </a:p>
      </dgm:t>
    </dgm:pt>
    <dgm:pt modelId="{A513445A-B7F8-1D45-AF8B-9D1D527A3D29}" type="pres">
      <dgm:prSet presAssocID="{EDF63343-524B-E444-83F2-A1BBC13916D9}" presName="linear" presStyleCnt="0">
        <dgm:presLayoutVars>
          <dgm:animLvl val="lvl"/>
          <dgm:resizeHandles val="exact"/>
        </dgm:presLayoutVars>
      </dgm:prSet>
      <dgm:spPr/>
    </dgm:pt>
    <dgm:pt modelId="{A0E83652-F1D0-4247-9BBC-B91C7D711171}" type="pres">
      <dgm:prSet presAssocID="{53CF1B21-06EC-C54A-9A41-06447323CA23}" presName="parentText" presStyleLbl="node1" presStyleIdx="0" presStyleCnt="1" custScaleY="84721" custLinFactNeighborY="-1566">
        <dgm:presLayoutVars>
          <dgm:chMax val="0"/>
          <dgm:bulletEnabled val="1"/>
        </dgm:presLayoutVars>
      </dgm:prSet>
      <dgm:spPr/>
    </dgm:pt>
  </dgm:ptLst>
  <dgm:cxnLst>
    <dgm:cxn modelId="{B0C2C33C-94B9-4147-9729-9485370880C4}" type="presOf" srcId="{EDF63343-524B-E444-83F2-A1BBC13916D9}" destId="{A513445A-B7F8-1D45-AF8B-9D1D527A3D29}" srcOrd="0" destOrd="0" presId="urn:microsoft.com/office/officeart/2005/8/layout/vList2"/>
    <dgm:cxn modelId="{81DC7A6D-F0B7-FB43-908D-55C86B90DC05}" type="presOf" srcId="{53CF1B21-06EC-C54A-9A41-06447323CA23}" destId="{A0E83652-F1D0-4247-9BBC-B91C7D711171}" srcOrd="0" destOrd="0" presId="urn:microsoft.com/office/officeart/2005/8/layout/vList2"/>
    <dgm:cxn modelId="{6D3250FB-2A30-BC4B-AEC2-DD4BF6584A18}" srcId="{EDF63343-524B-E444-83F2-A1BBC13916D9}" destId="{53CF1B21-06EC-C54A-9A41-06447323CA23}" srcOrd="0" destOrd="0" parTransId="{F813487B-9F45-714C-A929-E45702A3E098}" sibTransId="{7F0DBB1D-9038-A243-83ED-3EAB184510DD}"/>
    <dgm:cxn modelId="{D807430A-94A4-D948-80D7-BA48294E6963}" type="presParOf" srcId="{A513445A-B7F8-1D45-AF8B-9D1D527A3D29}" destId="{A0E83652-F1D0-4247-9BBC-B91C7D711171}"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3A57D2F-DD1F-4DEB-BC75-0B9F164614ED}">
      <dsp:nvSpPr>
        <dsp:cNvPr id="0" name=""/>
        <dsp:cNvSpPr/>
      </dsp:nvSpPr>
      <dsp:spPr>
        <a:xfrm>
          <a:off x="0" y="542"/>
          <a:ext cx="11102399" cy="1269732"/>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39E4CEE-1525-4146-BF1A-C9643B0ACC6B}">
      <dsp:nvSpPr>
        <dsp:cNvPr id="0" name=""/>
        <dsp:cNvSpPr/>
      </dsp:nvSpPr>
      <dsp:spPr>
        <a:xfrm>
          <a:off x="384094" y="286232"/>
          <a:ext cx="698352" cy="698352"/>
        </a:xfrm>
        <a:prstGeom prst="rect">
          <a:avLst/>
        </a:prstGeom>
        <a:blipFill rotWithShape="1">
          <a:blip xmlns:r="http://schemas.openxmlformats.org/officeDocument/2006/relationships" r:embed="rId1"/>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75BC7FEA-DE8A-444E-B339-23B7D2953059}">
      <dsp:nvSpPr>
        <dsp:cNvPr id="0" name=""/>
        <dsp:cNvSpPr/>
      </dsp:nvSpPr>
      <dsp:spPr>
        <a:xfrm>
          <a:off x="1466541" y="542"/>
          <a:ext cx="9635857" cy="126973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4380" tIns="134380" rIns="134380" bIns="134380" numCol="1" spcCol="1270" anchor="ctr" anchorCtr="0">
          <a:noAutofit/>
        </a:bodyPr>
        <a:lstStyle/>
        <a:p>
          <a:pPr marL="0" lvl="0" indent="0" algn="l" defTabSz="1111250">
            <a:lnSpc>
              <a:spcPct val="100000"/>
            </a:lnSpc>
            <a:spcBef>
              <a:spcPct val="0"/>
            </a:spcBef>
            <a:spcAft>
              <a:spcPct val="35000"/>
            </a:spcAft>
            <a:buNone/>
          </a:pPr>
          <a:r>
            <a:rPr lang="en-US" sz="2500" kern="1200" dirty="0"/>
            <a:t>Read chapters</a:t>
          </a:r>
        </a:p>
      </dsp:txBody>
      <dsp:txXfrm>
        <a:off x="1466541" y="542"/>
        <a:ext cx="9635857" cy="1269732"/>
      </dsp:txXfrm>
    </dsp:sp>
    <dsp:sp modelId="{7EC44C3E-C5E3-4830-AF1C-379DD2509959}">
      <dsp:nvSpPr>
        <dsp:cNvPr id="0" name=""/>
        <dsp:cNvSpPr/>
      </dsp:nvSpPr>
      <dsp:spPr>
        <a:xfrm>
          <a:off x="0" y="1587708"/>
          <a:ext cx="11102399" cy="1269732"/>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9E859E5-9782-4573-AF4F-B487437D4EB9}">
      <dsp:nvSpPr>
        <dsp:cNvPr id="0" name=""/>
        <dsp:cNvSpPr/>
      </dsp:nvSpPr>
      <dsp:spPr>
        <a:xfrm>
          <a:off x="384094" y="1873398"/>
          <a:ext cx="698352" cy="698352"/>
        </a:xfrm>
        <a:prstGeom prst="rect">
          <a:avLst/>
        </a:prstGeom>
        <a:blipFill>
          <a:blip xmlns:r="http://schemas.openxmlformats.org/officeDocument/2006/relationships" r:embed="rId2">
            <a:extLst>
              <a:ext uri="{28A0092B-C50C-407E-A947-70E740481C1C}">
                <a14:useLocalDpi xmlns:a14="http://schemas.microsoft.com/office/drawing/2010/main" val="0"/>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926BD986-0C2E-43CF-978E-4F25B814E6EA}">
      <dsp:nvSpPr>
        <dsp:cNvPr id="0" name=""/>
        <dsp:cNvSpPr/>
      </dsp:nvSpPr>
      <dsp:spPr>
        <a:xfrm>
          <a:off x="1466541" y="1587708"/>
          <a:ext cx="9635857" cy="126973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4380" tIns="134380" rIns="134380" bIns="134380" numCol="1" spcCol="1270" anchor="ctr" anchorCtr="0">
          <a:noAutofit/>
        </a:bodyPr>
        <a:lstStyle/>
        <a:p>
          <a:pPr marL="0" lvl="0" indent="0" algn="l" defTabSz="1111250">
            <a:lnSpc>
              <a:spcPct val="100000"/>
            </a:lnSpc>
            <a:spcBef>
              <a:spcPct val="0"/>
            </a:spcBef>
            <a:spcAft>
              <a:spcPct val="35000"/>
            </a:spcAft>
            <a:buNone/>
          </a:pPr>
          <a:r>
            <a:rPr lang="en-NL" sz="2500" kern="1200"/>
            <a:t>Lectures</a:t>
          </a:r>
          <a:r>
            <a:rPr lang="en-US" sz="2500" kern="1200" dirty="0"/>
            <a:t> (Concept &amp; Live analysis)</a:t>
          </a:r>
        </a:p>
      </dsp:txBody>
      <dsp:txXfrm>
        <a:off x="1466541" y="1587708"/>
        <a:ext cx="9635857" cy="1269732"/>
      </dsp:txXfrm>
    </dsp:sp>
    <dsp:sp modelId="{E38C131E-9F7E-4276-A9F0-0558E19B2C3E}">
      <dsp:nvSpPr>
        <dsp:cNvPr id="0" name=""/>
        <dsp:cNvSpPr/>
      </dsp:nvSpPr>
      <dsp:spPr>
        <a:xfrm>
          <a:off x="0" y="3174873"/>
          <a:ext cx="11102399" cy="1269732"/>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336985F-B9DE-4508-8FB9-467C65046E4F}">
      <dsp:nvSpPr>
        <dsp:cNvPr id="0" name=""/>
        <dsp:cNvSpPr/>
      </dsp:nvSpPr>
      <dsp:spPr>
        <a:xfrm>
          <a:off x="384094" y="3460563"/>
          <a:ext cx="698352" cy="698352"/>
        </a:xfrm>
        <a:prstGeom prst="rect">
          <a:avLst/>
        </a:prstGeom>
        <a:blipFill>
          <a:blip xmlns:r="http://schemas.openxmlformats.org/officeDocument/2006/relationships" r:embed="rId3">
            <a:extLst>
              <a:ext uri="{28A0092B-C50C-407E-A947-70E740481C1C}">
                <a14:useLocalDpi xmlns:a14="http://schemas.microsoft.com/office/drawing/2010/main" val="0"/>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9757F422-7A1F-4D0B-AA20-391A355FF83F}">
      <dsp:nvSpPr>
        <dsp:cNvPr id="0" name=""/>
        <dsp:cNvSpPr/>
      </dsp:nvSpPr>
      <dsp:spPr>
        <a:xfrm>
          <a:off x="1466541" y="3174873"/>
          <a:ext cx="9635857" cy="126973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4380" tIns="134380" rIns="134380" bIns="134380" numCol="1" spcCol="1270" anchor="ctr" anchorCtr="0">
          <a:noAutofit/>
        </a:bodyPr>
        <a:lstStyle/>
        <a:p>
          <a:pPr marL="0" lvl="0" indent="0" algn="l" defTabSz="1111250">
            <a:lnSpc>
              <a:spcPct val="100000"/>
            </a:lnSpc>
            <a:spcBef>
              <a:spcPct val="0"/>
            </a:spcBef>
            <a:spcAft>
              <a:spcPct val="35000"/>
            </a:spcAft>
            <a:buNone/>
          </a:pPr>
          <a:r>
            <a:rPr lang="en-NL" sz="2500" kern="1200" dirty="0"/>
            <a:t>Labs</a:t>
          </a:r>
          <a:endParaRPr lang="en-US" sz="2500" kern="1200" dirty="0"/>
        </a:p>
      </dsp:txBody>
      <dsp:txXfrm>
        <a:off x="1466541" y="3174873"/>
        <a:ext cx="9635857" cy="1269732"/>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0E83652-F1D0-4247-9BBC-B91C7D711171}">
      <dsp:nvSpPr>
        <dsp:cNvPr id="0" name=""/>
        <dsp:cNvSpPr/>
      </dsp:nvSpPr>
      <dsp:spPr>
        <a:xfrm>
          <a:off x="0" y="0"/>
          <a:ext cx="11102399" cy="1314378"/>
        </a:xfrm>
        <a:prstGeom prst="roundRect">
          <a:avLst/>
        </a:prstGeom>
        <a:gradFill rotWithShape="0">
          <a:gsLst>
            <a:gs pos="0">
              <a:schemeClr val="accent1">
                <a:hueOff val="0"/>
                <a:satOff val="0"/>
                <a:lumOff val="0"/>
                <a:alphaOff val="0"/>
                <a:tint val="50000"/>
                <a:satMod val="300000"/>
              </a:schemeClr>
            </a:gs>
            <a:gs pos="35000">
              <a:schemeClr val="accent1">
                <a:hueOff val="0"/>
                <a:satOff val="0"/>
                <a:lumOff val="0"/>
                <a:alphaOff val="0"/>
                <a:tint val="37000"/>
                <a:satMod val="300000"/>
              </a:schemeClr>
            </a:gs>
            <a:gs pos="100000">
              <a:schemeClr val="accent1">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25730" tIns="125730" rIns="125730" bIns="125730" numCol="1" spcCol="1270" anchor="ctr" anchorCtr="0">
          <a:noAutofit/>
        </a:bodyPr>
        <a:lstStyle/>
        <a:p>
          <a:pPr marL="0" lvl="0" indent="0" algn="l" defTabSz="1466850">
            <a:lnSpc>
              <a:spcPct val="90000"/>
            </a:lnSpc>
            <a:spcBef>
              <a:spcPct val="0"/>
            </a:spcBef>
            <a:spcAft>
              <a:spcPct val="35000"/>
            </a:spcAft>
            <a:buNone/>
          </a:pPr>
          <a:r>
            <a:rPr lang="en-US" sz="3300" b="0" i="0" kern="1200" dirty="0"/>
            <a:t>What happened to children having heart surgery in Bristol between 1984 and 1995?</a:t>
          </a:r>
          <a:endParaRPr lang="en-US" sz="3300" kern="1200" dirty="0"/>
        </a:p>
      </dsp:txBody>
      <dsp:txXfrm>
        <a:off x="64163" y="64163"/>
        <a:ext cx="10974073" cy="1186052"/>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2B09C8F-2B45-CC44-A697-A99651B20ECF}" type="datetimeFigureOut">
              <a:rPr lang="en-US" smtClean="0"/>
              <a:t>3/30/26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11C0B13-21D8-4C4C-87C8-3F9D5550AB12}" type="slidenum">
              <a:rPr lang="en-US" smtClean="0"/>
              <a:t>‹#›</a:t>
            </a:fld>
            <a:endParaRPr lang="en-US"/>
          </a:p>
        </p:txBody>
      </p:sp>
    </p:spTree>
    <p:extLst>
      <p:ext uri="{BB962C8B-B14F-4D97-AF65-F5344CB8AC3E}">
        <p14:creationId xmlns:p14="http://schemas.microsoft.com/office/powerpoint/2010/main" val="211647813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11C0B13-21D8-4C4C-87C8-3F9D5550AB12}"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34699031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He’d been editing the medical details of patients he killed to make them seem sicker than they were, after having killed them. He was smart but there were timestamps that made it clear he’d edited it after they were dead repeatedly.</a:t>
            </a:r>
          </a:p>
        </p:txBody>
      </p:sp>
      <p:sp>
        <p:nvSpPr>
          <p:cNvPr id="4" name="Slide Number Placeholder 3"/>
          <p:cNvSpPr>
            <a:spLocks noGrp="1"/>
          </p:cNvSpPr>
          <p:nvPr>
            <p:ph type="sldNum" sz="quarter" idx="5"/>
          </p:nvPr>
        </p:nvSpPr>
        <p:spPr/>
        <p:txBody>
          <a:bodyPr/>
          <a:lstStyle/>
          <a:p>
            <a:fld id="{611C0B13-21D8-4C4C-87C8-3F9D5550AB12}" type="slidenum">
              <a:rPr lang="en-US" smtClean="0"/>
              <a:t>4</a:t>
            </a:fld>
            <a:endParaRPr lang="en-US"/>
          </a:p>
        </p:txBody>
      </p:sp>
    </p:spTree>
    <p:extLst>
      <p:ext uri="{BB962C8B-B14F-4D97-AF65-F5344CB8AC3E}">
        <p14:creationId xmlns:p14="http://schemas.microsoft.com/office/powerpoint/2010/main" val="196821475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can we say from this plot? </a:t>
            </a:r>
          </a:p>
          <a:p>
            <a:r>
              <a:rPr lang="en-US" dirty="0"/>
              <a:t>First what is this plot telling us. </a:t>
            </a:r>
          </a:p>
          <a:p>
            <a:r>
              <a:rPr lang="en-US" dirty="0" err="1"/>
              <a:t>Whats</a:t>
            </a:r>
            <a:r>
              <a:rPr lang="en-US" dirty="0"/>
              <a:t> on the y-axis (what IS the y-axis?). </a:t>
            </a:r>
            <a:r>
              <a:rPr lang="en-US" dirty="0" err="1"/>
              <a:t>Whats</a:t>
            </a:r>
            <a:r>
              <a:rPr lang="en-US" dirty="0"/>
              <a:t> on the x-axis. </a:t>
            </a:r>
          </a:p>
          <a:p>
            <a:r>
              <a:rPr lang="en-US" dirty="0"/>
              <a:t>What is each dot? </a:t>
            </a:r>
          </a:p>
          <a:p>
            <a:r>
              <a:rPr lang="en-US" dirty="0" err="1"/>
              <a:t>Whats</a:t>
            </a:r>
            <a:r>
              <a:rPr lang="en-US" dirty="0"/>
              <a:t> on the top and the right sides? </a:t>
            </a:r>
          </a:p>
          <a:p>
            <a:r>
              <a:rPr lang="en-US" dirty="0"/>
              <a:t>More women than men. </a:t>
            </a:r>
          </a:p>
          <a:p>
            <a:r>
              <a:rPr lang="en-US" dirty="0" err="1"/>
              <a:t>Whats</a:t>
            </a:r>
            <a:r>
              <a:rPr lang="en-US" dirty="0"/>
              <a:t> the little gap mean? Shipman had started working with some colleagues so he didn’t’ want to look suspicious. </a:t>
            </a:r>
          </a:p>
          <a:p>
            <a:r>
              <a:rPr lang="en-US" dirty="0"/>
              <a:t>Did he only murder elderly people? </a:t>
            </a:r>
          </a:p>
        </p:txBody>
      </p:sp>
      <p:sp>
        <p:nvSpPr>
          <p:cNvPr id="4" name="Slide Number Placeholder 3"/>
          <p:cNvSpPr>
            <a:spLocks noGrp="1"/>
          </p:cNvSpPr>
          <p:nvPr>
            <p:ph type="sldNum" sz="quarter" idx="5"/>
          </p:nvPr>
        </p:nvSpPr>
        <p:spPr/>
        <p:txBody>
          <a:bodyPr/>
          <a:lstStyle/>
          <a:p>
            <a:fld id="{611C0B13-21D8-4C4C-87C8-3F9D5550AB12}" type="slidenum">
              <a:rPr lang="en-US" smtClean="0"/>
              <a:t>5</a:t>
            </a:fld>
            <a:endParaRPr lang="en-US"/>
          </a:p>
        </p:txBody>
      </p:sp>
    </p:spTree>
    <p:extLst>
      <p:ext uri="{BB962C8B-B14F-4D97-AF65-F5344CB8AC3E}">
        <p14:creationId xmlns:p14="http://schemas.microsoft.com/office/powerpoint/2010/main" val="89898200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did they all seem to die around 2- 4 pm? House calls. </a:t>
            </a:r>
          </a:p>
        </p:txBody>
      </p:sp>
      <p:sp>
        <p:nvSpPr>
          <p:cNvPr id="4" name="Slide Number Placeholder 3"/>
          <p:cNvSpPr>
            <a:spLocks noGrp="1"/>
          </p:cNvSpPr>
          <p:nvPr>
            <p:ph type="sldNum" sz="quarter" idx="5"/>
          </p:nvPr>
        </p:nvSpPr>
        <p:spPr/>
        <p:txBody>
          <a:bodyPr/>
          <a:lstStyle/>
          <a:p>
            <a:fld id="{611C0B13-21D8-4C4C-87C8-3F9D5550AB12}" type="slidenum">
              <a:rPr lang="en-US" smtClean="0"/>
              <a:t>6</a:t>
            </a:fld>
            <a:endParaRPr lang="en-US"/>
          </a:p>
        </p:txBody>
      </p:sp>
    </p:spTree>
    <p:extLst>
      <p:ext uri="{BB962C8B-B14F-4D97-AF65-F5344CB8AC3E}">
        <p14:creationId xmlns:p14="http://schemas.microsoft.com/office/powerpoint/2010/main" val="318759226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11C0B13-21D8-4C4C-87C8-3F9D5550AB12}" type="slidenum">
              <a:rPr lang="en-US" smtClean="0"/>
              <a:t>7</a:t>
            </a:fld>
            <a:endParaRPr lang="en-US"/>
          </a:p>
        </p:txBody>
      </p:sp>
    </p:spTree>
    <p:extLst>
      <p:ext uri="{BB962C8B-B14F-4D97-AF65-F5344CB8AC3E}">
        <p14:creationId xmlns:p14="http://schemas.microsoft.com/office/powerpoint/2010/main" val="225106154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Janet smith chaired the public inquiry. </a:t>
            </a:r>
          </a:p>
        </p:txBody>
      </p:sp>
      <p:sp>
        <p:nvSpPr>
          <p:cNvPr id="4" name="Slide Number Placeholder 3"/>
          <p:cNvSpPr>
            <a:spLocks noGrp="1"/>
          </p:cNvSpPr>
          <p:nvPr>
            <p:ph type="sldNum" sz="quarter" idx="5"/>
          </p:nvPr>
        </p:nvSpPr>
        <p:spPr/>
        <p:txBody>
          <a:bodyPr/>
          <a:lstStyle/>
          <a:p>
            <a:fld id="{611C0B13-21D8-4C4C-87C8-3F9D5550AB12}" type="slidenum">
              <a:rPr lang="en-US" smtClean="0"/>
              <a:t>8</a:t>
            </a:fld>
            <a:endParaRPr lang="en-US"/>
          </a:p>
        </p:txBody>
      </p:sp>
    </p:spTree>
    <p:extLst>
      <p:ext uri="{BB962C8B-B14F-4D97-AF65-F5344CB8AC3E}">
        <p14:creationId xmlns:p14="http://schemas.microsoft.com/office/powerpoint/2010/main" val="247542576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can already see how there is a weird thresholding happening here that is confusing. Because what about tablets? Some people will have tablets, are those not considered computing machines? This is something we always have to consider when looking at data, whatever definition we impose on the world to quantize it, we have missed something else. </a:t>
            </a:r>
          </a:p>
        </p:txBody>
      </p:sp>
      <p:sp>
        <p:nvSpPr>
          <p:cNvPr id="4" name="Slide Number Placeholder 3"/>
          <p:cNvSpPr>
            <a:spLocks noGrp="1"/>
          </p:cNvSpPr>
          <p:nvPr>
            <p:ph type="sldNum" sz="quarter" idx="5"/>
          </p:nvPr>
        </p:nvSpPr>
        <p:spPr/>
        <p:txBody>
          <a:bodyPr/>
          <a:lstStyle/>
          <a:p>
            <a:fld id="{611C0B13-21D8-4C4C-87C8-3F9D5550AB12}" type="slidenum">
              <a:rPr lang="en-US" smtClean="0"/>
              <a:t>11</a:t>
            </a:fld>
            <a:endParaRPr lang="en-US"/>
          </a:p>
        </p:txBody>
      </p:sp>
    </p:spTree>
    <p:extLst>
      <p:ext uri="{BB962C8B-B14F-4D97-AF65-F5344CB8AC3E}">
        <p14:creationId xmlns:p14="http://schemas.microsoft.com/office/powerpoint/2010/main" val="107880590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just ran a simulation study. You could turn what we just did into an algorithm with specific parameters to get estimates for the number of computing machines over and over again.</a:t>
            </a:r>
          </a:p>
        </p:txBody>
      </p:sp>
      <p:sp>
        <p:nvSpPr>
          <p:cNvPr id="4" name="Slide Number Placeholder 3"/>
          <p:cNvSpPr>
            <a:spLocks noGrp="1"/>
          </p:cNvSpPr>
          <p:nvPr>
            <p:ph type="sldNum" sz="quarter" idx="5"/>
          </p:nvPr>
        </p:nvSpPr>
        <p:spPr/>
        <p:txBody>
          <a:bodyPr/>
          <a:lstStyle/>
          <a:p>
            <a:fld id="{611C0B13-21D8-4C4C-87C8-3F9D5550AB12}" type="slidenum">
              <a:rPr lang="en-US" smtClean="0"/>
              <a:t>12</a:t>
            </a:fld>
            <a:endParaRPr lang="en-US"/>
          </a:p>
        </p:txBody>
      </p:sp>
    </p:spTree>
    <p:extLst>
      <p:ext uri="{BB962C8B-B14F-4D97-AF65-F5344CB8AC3E}">
        <p14:creationId xmlns:p14="http://schemas.microsoft.com/office/powerpoint/2010/main" val="244064216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dirty="0"/>
              <a:t>I was asked to rate on 0 – 10 how much an injection hurt.</a:t>
            </a:r>
          </a:p>
          <a:p>
            <a:r>
              <a:rPr lang="en-US" sz="1200" dirty="0"/>
              <a:t>What did 0 mean? I didn’t feel it? That seems to suggest something is wrong with me. Or did it mean, I enjoyed it so much I want you to keep doing it to me again and again and again…</a:t>
            </a:r>
          </a:p>
          <a:p>
            <a:r>
              <a:rPr lang="en-US" sz="1200" dirty="0"/>
              <a:t>What did 10 mean? Could an injection have hurt as much as a serious life-threatening injury?</a:t>
            </a:r>
          </a:p>
          <a:p>
            <a:endParaRPr lang="en-US" b="1" dirty="0"/>
          </a:p>
        </p:txBody>
      </p:sp>
      <p:sp>
        <p:nvSpPr>
          <p:cNvPr id="4" name="Slide Number Placeholder 3"/>
          <p:cNvSpPr>
            <a:spLocks noGrp="1"/>
          </p:cNvSpPr>
          <p:nvPr>
            <p:ph type="sldNum" sz="quarter" idx="5"/>
          </p:nvPr>
        </p:nvSpPr>
        <p:spPr/>
        <p:txBody>
          <a:bodyPr/>
          <a:lstStyle/>
          <a:p>
            <a:fld id="{611C0B13-21D8-4C4C-87C8-3F9D5550AB12}" type="slidenum">
              <a:rPr lang="en-US" smtClean="0"/>
              <a:t>13</a:t>
            </a:fld>
            <a:endParaRPr lang="en-US"/>
          </a:p>
        </p:txBody>
      </p:sp>
    </p:spTree>
    <p:extLst>
      <p:ext uri="{BB962C8B-B14F-4D97-AF65-F5344CB8AC3E}">
        <p14:creationId xmlns:p14="http://schemas.microsoft.com/office/powerpoint/2010/main" val="297854836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question for a test.</a:t>
            </a:r>
          </a:p>
        </p:txBody>
      </p:sp>
      <p:sp>
        <p:nvSpPr>
          <p:cNvPr id="4" name="Slide Number Placeholder 3"/>
          <p:cNvSpPr>
            <a:spLocks noGrp="1"/>
          </p:cNvSpPr>
          <p:nvPr>
            <p:ph type="sldNum" sz="quarter" idx="5"/>
          </p:nvPr>
        </p:nvSpPr>
        <p:spPr/>
        <p:txBody>
          <a:bodyPr/>
          <a:lstStyle/>
          <a:p>
            <a:fld id="{611C0B13-21D8-4C4C-87C8-3F9D5550AB12}" type="slidenum">
              <a:rPr lang="en-US" smtClean="0"/>
              <a:t>15</a:t>
            </a:fld>
            <a:endParaRPr lang="en-US"/>
          </a:p>
        </p:txBody>
      </p:sp>
    </p:spTree>
    <p:extLst>
      <p:ext uri="{BB962C8B-B14F-4D97-AF65-F5344CB8AC3E}">
        <p14:creationId xmlns:p14="http://schemas.microsoft.com/office/powerpoint/2010/main" val="373730073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can use this architecture to understand the general life cycle of a data science problem. </a:t>
            </a:r>
          </a:p>
        </p:txBody>
      </p:sp>
      <p:sp>
        <p:nvSpPr>
          <p:cNvPr id="4" name="Slide Number Placeholder 3"/>
          <p:cNvSpPr>
            <a:spLocks noGrp="1"/>
          </p:cNvSpPr>
          <p:nvPr>
            <p:ph type="sldNum" sz="quarter" idx="5"/>
          </p:nvPr>
        </p:nvSpPr>
        <p:spPr/>
        <p:txBody>
          <a:bodyPr/>
          <a:lstStyle/>
          <a:p>
            <a:fld id="{611C0B13-21D8-4C4C-87C8-3F9D5550AB12}" type="slidenum">
              <a:rPr lang="en-US" smtClean="0"/>
              <a:t>16</a:t>
            </a:fld>
            <a:endParaRPr lang="en-US"/>
          </a:p>
        </p:txBody>
      </p:sp>
    </p:spTree>
    <p:extLst>
      <p:ext uri="{BB962C8B-B14F-4D97-AF65-F5344CB8AC3E}">
        <p14:creationId xmlns:p14="http://schemas.microsoft.com/office/powerpoint/2010/main" val="90040144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11C0B13-21D8-4C4C-87C8-3F9D5550AB12}" type="slidenum">
              <a:rPr lang="en-US" smtClean="0"/>
              <a:t>22</a:t>
            </a:fld>
            <a:endParaRPr lang="en-US"/>
          </a:p>
        </p:txBody>
      </p:sp>
    </p:spTree>
    <p:extLst>
      <p:ext uri="{BB962C8B-B14F-4D97-AF65-F5344CB8AC3E}">
        <p14:creationId xmlns:p14="http://schemas.microsoft.com/office/powerpoint/2010/main" val="153430204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11C0B13-21D8-4C4C-87C8-3F9D5550AB12}" type="slidenum">
              <a:rPr lang="en-US" smtClean="0"/>
              <a:t>23</a:t>
            </a:fld>
            <a:endParaRPr lang="en-US"/>
          </a:p>
        </p:txBody>
      </p:sp>
    </p:spTree>
    <p:extLst>
      <p:ext uri="{BB962C8B-B14F-4D97-AF65-F5344CB8AC3E}">
        <p14:creationId xmlns:p14="http://schemas.microsoft.com/office/powerpoint/2010/main" val="150474183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Summaries of Data</a:t>
            </a:r>
            <a:br>
              <a:rPr lang="en-US" sz="12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br>
            <a:r>
              <a:rPr lang="en-US" sz="120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[data analysis with Jerry in year 3]</a:t>
            </a:r>
          </a:p>
          <a:p>
            <a:endParaRPr lang="en-US" dirty="0"/>
          </a:p>
        </p:txBody>
      </p:sp>
      <p:sp>
        <p:nvSpPr>
          <p:cNvPr id="4" name="Slide Number Placeholder 3"/>
          <p:cNvSpPr>
            <a:spLocks noGrp="1"/>
          </p:cNvSpPr>
          <p:nvPr>
            <p:ph type="sldNum" sz="quarter" idx="5"/>
          </p:nvPr>
        </p:nvSpPr>
        <p:spPr/>
        <p:txBody>
          <a:bodyPr/>
          <a:lstStyle/>
          <a:p>
            <a:fld id="{611C0B13-21D8-4C4C-87C8-3F9D5550AB12}" type="slidenum">
              <a:rPr lang="en-US" smtClean="0"/>
              <a:t>34</a:t>
            </a:fld>
            <a:endParaRPr lang="en-US"/>
          </a:p>
        </p:txBody>
      </p:sp>
    </p:spTree>
    <p:extLst>
      <p:ext uri="{BB962C8B-B14F-4D97-AF65-F5344CB8AC3E}">
        <p14:creationId xmlns:p14="http://schemas.microsoft.com/office/powerpoint/2010/main" val="229223150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dirty="0"/>
              <a:t>Problem: Was it expected that children were unlikely to survive surgeries at Bristol? </a:t>
            </a:r>
          </a:p>
          <a:p>
            <a:r>
              <a:rPr lang="en-US" sz="1200" dirty="0"/>
              <a:t>Plan: Compare survival rates at Bristol with survival rates around the country. </a:t>
            </a:r>
          </a:p>
          <a:p>
            <a:r>
              <a:rPr lang="en-US" sz="1200" dirty="0"/>
              <a:t>Data: Get data about survival from hospitals around the country and assess survival. </a:t>
            </a:r>
          </a:p>
          <a:p>
            <a:r>
              <a:rPr lang="en-US" sz="1200" dirty="0"/>
              <a:t>Analysis and Inference: Estimate average survival rates for all hospitals and compare that to the survival rate in Bristol. </a:t>
            </a:r>
          </a:p>
          <a:p>
            <a:r>
              <a:rPr lang="en-US" sz="1200" dirty="0"/>
              <a:t>Conclusion: ?</a:t>
            </a:r>
          </a:p>
          <a:p>
            <a:endParaRPr lang="en-US" dirty="0"/>
          </a:p>
        </p:txBody>
      </p:sp>
      <p:sp>
        <p:nvSpPr>
          <p:cNvPr id="4" name="Slide Number Placeholder 3"/>
          <p:cNvSpPr>
            <a:spLocks noGrp="1"/>
          </p:cNvSpPr>
          <p:nvPr>
            <p:ph type="sldNum" sz="quarter" idx="5"/>
          </p:nvPr>
        </p:nvSpPr>
        <p:spPr/>
        <p:txBody>
          <a:bodyPr/>
          <a:lstStyle/>
          <a:p>
            <a:fld id="{611C0B13-21D8-4C4C-87C8-3F9D5550AB12}" type="slidenum">
              <a:rPr lang="en-US" smtClean="0"/>
              <a:t>40</a:t>
            </a:fld>
            <a:endParaRPr lang="en-US"/>
          </a:p>
        </p:txBody>
      </p:sp>
    </p:spTree>
    <p:extLst>
      <p:ext uri="{BB962C8B-B14F-4D97-AF65-F5344CB8AC3E}">
        <p14:creationId xmlns:p14="http://schemas.microsoft.com/office/powerpoint/2010/main" val="391166984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do these measures fail? Remember all definitions exclude and our conclusions may not want that exclusion.</a:t>
            </a:r>
          </a:p>
          <a:p>
            <a:r>
              <a:rPr lang="en-US" dirty="0"/>
              <a:t>Brain death not </a:t>
            </a:r>
            <a:r>
              <a:rPr lang="en-US" dirty="0" err="1"/>
              <a:t>inckuded</a:t>
            </a:r>
            <a:endParaRPr lang="en-US" dirty="0"/>
          </a:p>
          <a:p>
            <a:r>
              <a:rPr lang="en-US" dirty="0"/>
              <a:t>What about kids who just turned 16?</a:t>
            </a:r>
          </a:p>
        </p:txBody>
      </p:sp>
      <p:sp>
        <p:nvSpPr>
          <p:cNvPr id="4" name="Slide Number Placeholder 3"/>
          <p:cNvSpPr>
            <a:spLocks noGrp="1"/>
          </p:cNvSpPr>
          <p:nvPr>
            <p:ph type="sldNum" sz="quarter" idx="5"/>
          </p:nvPr>
        </p:nvSpPr>
        <p:spPr/>
        <p:txBody>
          <a:bodyPr/>
          <a:lstStyle/>
          <a:p>
            <a:fld id="{611C0B13-21D8-4C4C-87C8-3F9D5550AB12}" type="slidenum">
              <a:rPr lang="en-US" smtClean="0"/>
              <a:t>41</a:t>
            </a:fld>
            <a:endParaRPr lang="en-US"/>
          </a:p>
        </p:txBody>
      </p:sp>
    </p:spTree>
    <p:extLst>
      <p:ext uri="{BB962C8B-B14F-4D97-AF65-F5344CB8AC3E}">
        <p14:creationId xmlns:p14="http://schemas.microsoft.com/office/powerpoint/2010/main" val="322213962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was the average risk calculated? Perhaps we can do this in the lab.</a:t>
            </a:r>
          </a:p>
          <a:p>
            <a:r>
              <a:rPr lang="en-US" dirty="0"/>
              <a:t>Spell out what the data looks like (vector) and how we calculate the above (sum/mean).</a:t>
            </a:r>
          </a:p>
        </p:txBody>
      </p:sp>
      <p:sp>
        <p:nvSpPr>
          <p:cNvPr id="4" name="Slide Number Placeholder 3"/>
          <p:cNvSpPr>
            <a:spLocks noGrp="1"/>
          </p:cNvSpPr>
          <p:nvPr>
            <p:ph type="sldNum" sz="quarter" idx="5"/>
          </p:nvPr>
        </p:nvSpPr>
        <p:spPr/>
        <p:txBody>
          <a:bodyPr/>
          <a:lstStyle/>
          <a:p>
            <a:fld id="{611C0B13-21D8-4C4C-87C8-3F9D5550AB12}" type="slidenum">
              <a:rPr lang="en-US" smtClean="0"/>
              <a:t>42</a:t>
            </a:fld>
            <a:endParaRPr lang="en-US"/>
          </a:p>
        </p:txBody>
      </p:sp>
    </p:spTree>
    <p:extLst>
      <p:ext uri="{BB962C8B-B14F-4D97-AF65-F5344CB8AC3E}">
        <p14:creationId xmlns:p14="http://schemas.microsoft.com/office/powerpoint/2010/main" val="258490125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conclusion lead back to the problem and led to people finding ways to collect data more accurately and set up analyses that forced hospitals to become more accountable for their outcomes. </a:t>
            </a:r>
          </a:p>
        </p:txBody>
      </p:sp>
      <p:sp>
        <p:nvSpPr>
          <p:cNvPr id="4" name="Slide Number Placeholder 3"/>
          <p:cNvSpPr>
            <a:spLocks noGrp="1"/>
          </p:cNvSpPr>
          <p:nvPr>
            <p:ph type="sldNum" sz="quarter" idx="5"/>
          </p:nvPr>
        </p:nvSpPr>
        <p:spPr/>
        <p:txBody>
          <a:bodyPr/>
          <a:lstStyle/>
          <a:p>
            <a:fld id="{611C0B13-21D8-4C4C-87C8-3F9D5550AB12}" type="slidenum">
              <a:rPr lang="en-US" smtClean="0"/>
              <a:t>43</a:t>
            </a:fld>
            <a:endParaRPr lang="en-US"/>
          </a:p>
        </p:txBody>
      </p:sp>
    </p:spTree>
    <p:extLst>
      <p:ext uri="{BB962C8B-B14F-4D97-AF65-F5344CB8AC3E}">
        <p14:creationId xmlns:p14="http://schemas.microsoft.com/office/powerpoint/2010/main" val="317636036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11C0B13-21D8-4C4C-87C8-3F9D5550AB12}" type="slidenum">
              <a:rPr lang="en-US" smtClean="0"/>
              <a:t>45</a:t>
            </a:fld>
            <a:endParaRPr lang="en-US"/>
          </a:p>
        </p:txBody>
      </p:sp>
    </p:spTree>
    <p:extLst>
      <p:ext uri="{BB962C8B-B14F-4D97-AF65-F5344CB8AC3E}">
        <p14:creationId xmlns:p14="http://schemas.microsoft.com/office/powerpoint/2010/main" val="389136887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Should be careful when multiple categories exist that we don’t take a mean over them.</a:t>
            </a:r>
          </a:p>
        </p:txBody>
      </p:sp>
      <p:sp>
        <p:nvSpPr>
          <p:cNvPr id="4" name="Slide Number Placeholder 3"/>
          <p:cNvSpPr>
            <a:spLocks noGrp="1"/>
          </p:cNvSpPr>
          <p:nvPr>
            <p:ph type="sldNum" sz="quarter" idx="5"/>
          </p:nvPr>
        </p:nvSpPr>
        <p:spPr/>
        <p:txBody>
          <a:bodyPr/>
          <a:lstStyle/>
          <a:p>
            <a:fld id="{611C0B13-21D8-4C4C-87C8-3F9D5550AB12}" type="slidenum">
              <a:rPr lang="en-US" smtClean="0"/>
              <a:t>46</a:t>
            </a:fld>
            <a:endParaRPr lang="en-US"/>
          </a:p>
        </p:txBody>
      </p:sp>
    </p:spTree>
    <p:extLst>
      <p:ext uri="{BB962C8B-B14F-4D97-AF65-F5344CB8AC3E}">
        <p14:creationId xmlns:p14="http://schemas.microsoft.com/office/powerpoint/2010/main" val="160246146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We’ve so far been considering single proportions, what if we wanted to compare a pair? When would that happen?</a:t>
            </a:r>
          </a:p>
        </p:txBody>
      </p:sp>
      <p:sp>
        <p:nvSpPr>
          <p:cNvPr id="4" name="Slide Number Placeholder 3"/>
          <p:cNvSpPr>
            <a:spLocks noGrp="1"/>
          </p:cNvSpPr>
          <p:nvPr>
            <p:ph type="sldNum" sz="quarter" idx="5"/>
          </p:nvPr>
        </p:nvSpPr>
        <p:spPr/>
        <p:txBody>
          <a:bodyPr/>
          <a:lstStyle/>
          <a:p>
            <a:fld id="{611C0B13-21D8-4C4C-87C8-3F9D5550AB12}" type="slidenum">
              <a:rPr lang="en-US" smtClean="0"/>
              <a:t>47</a:t>
            </a:fld>
            <a:endParaRPr lang="en-US"/>
          </a:p>
        </p:txBody>
      </p:sp>
    </p:spTree>
    <p:extLst>
      <p:ext uri="{BB962C8B-B14F-4D97-AF65-F5344CB8AC3E}">
        <p14:creationId xmlns:p14="http://schemas.microsoft.com/office/powerpoint/2010/main" val="166166674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IARC</a:t>
            </a:r>
          </a:p>
        </p:txBody>
      </p:sp>
      <p:sp>
        <p:nvSpPr>
          <p:cNvPr id="4" name="Slide Number Placeholder 3"/>
          <p:cNvSpPr>
            <a:spLocks noGrp="1"/>
          </p:cNvSpPr>
          <p:nvPr>
            <p:ph type="sldNum" sz="quarter" idx="5"/>
          </p:nvPr>
        </p:nvSpPr>
        <p:spPr/>
        <p:txBody>
          <a:bodyPr/>
          <a:lstStyle/>
          <a:p>
            <a:fld id="{611C0B13-21D8-4C4C-87C8-3F9D5550AB12}" type="slidenum">
              <a:rPr lang="en-US" smtClean="0"/>
              <a:t>48</a:t>
            </a:fld>
            <a:endParaRPr lang="en-US"/>
          </a:p>
        </p:txBody>
      </p:sp>
    </p:spTree>
    <p:extLst>
      <p:ext uri="{BB962C8B-B14F-4D97-AF65-F5344CB8AC3E}">
        <p14:creationId xmlns:p14="http://schemas.microsoft.com/office/powerpoint/2010/main" val="222784006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mistake in communication that happened was framing a relative risk as an absolute risk (cancer risk increased by 18%)</a:t>
            </a:r>
          </a:p>
        </p:txBody>
      </p:sp>
      <p:sp>
        <p:nvSpPr>
          <p:cNvPr id="4" name="Slide Number Placeholder 3"/>
          <p:cNvSpPr>
            <a:spLocks noGrp="1"/>
          </p:cNvSpPr>
          <p:nvPr>
            <p:ph type="sldNum" sz="quarter" idx="5"/>
          </p:nvPr>
        </p:nvSpPr>
        <p:spPr/>
        <p:txBody>
          <a:bodyPr/>
          <a:lstStyle/>
          <a:p>
            <a:fld id="{611C0B13-21D8-4C4C-87C8-3F9D5550AB12}" type="slidenum">
              <a:rPr lang="en-US" smtClean="0"/>
              <a:t>49</a:t>
            </a:fld>
            <a:endParaRPr lang="en-US"/>
          </a:p>
        </p:txBody>
      </p:sp>
    </p:spTree>
    <p:extLst>
      <p:ext uri="{BB962C8B-B14F-4D97-AF65-F5344CB8AC3E}">
        <p14:creationId xmlns:p14="http://schemas.microsoft.com/office/powerpoint/2010/main" val="106518197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Icon array. More clear way of representing risk using expected frequencies.</a:t>
            </a:r>
          </a:p>
        </p:txBody>
      </p:sp>
      <p:sp>
        <p:nvSpPr>
          <p:cNvPr id="4" name="Slide Number Placeholder 3"/>
          <p:cNvSpPr>
            <a:spLocks noGrp="1"/>
          </p:cNvSpPr>
          <p:nvPr>
            <p:ph type="sldNum" sz="quarter" idx="5"/>
          </p:nvPr>
        </p:nvSpPr>
        <p:spPr/>
        <p:txBody>
          <a:bodyPr/>
          <a:lstStyle/>
          <a:p>
            <a:fld id="{611C0B13-21D8-4C4C-87C8-3F9D5550AB12}" type="slidenum">
              <a:rPr lang="en-US" smtClean="0"/>
              <a:t>50</a:t>
            </a:fld>
            <a:endParaRPr lang="en-US"/>
          </a:p>
        </p:txBody>
      </p:sp>
    </p:spTree>
    <p:extLst>
      <p:ext uri="{BB962C8B-B14F-4D97-AF65-F5344CB8AC3E}">
        <p14:creationId xmlns:p14="http://schemas.microsoft.com/office/powerpoint/2010/main" val="428343488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dirty="0">
                <a:solidFill>
                  <a:srgbClr val="000000"/>
                </a:solidFill>
                <a:effectLst/>
                <a:latin typeface="Times New Roman" panose="02020603050405020304" pitchFamily="18" charset="0"/>
              </a:rPr>
              <a:t>The ‘Number Needed to Treat’ is the number of people needing to eat a bacon sandwich every day of their lives, in order to expect one extra case of bowel cancer </a:t>
            </a:r>
            <a:endParaRPr lang="en-US" dirty="0"/>
          </a:p>
        </p:txBody>
      </p:sp>
      <p:sp>
        <p:nvSpPr>
          <p:cNvPr id="4" name="Slide Number Placeholder 3"/>
          <p:cNvSpPr>
            <a:spLocks noGrp="1"/>
          </p:cNvSpPr>
          <p:nvPr>
            <p:ph type="sldNum" sz="quarter" idx="5"/>
          </p:nvPr>
        </p:nvSpPr>
        <p:spPr/>
        <p:txBody>
          <a:bodyPr/>
          <a:lstStyle/>
          <a:p>
            <a:fld id="{611C0B13-21D8-4C4C-87C8-3F9D5550AB12}" type="slidenum">
              <a:rPr lang="en-US" smtClean="0"/>
              <a:t>51</a:t>
            </a:fld>
            <a:endParaRPr lang="en-US"/>
          </a:p>
        </p:txBody>
      </p:sp>
    </p:spTree>
    <p:extLst>
      <p:ext uri="{BB962C8B-B14F-4D97-AF65-F5344CB8AC3E}">
        <p14:creationId xmlns:p14="http://schemas.microsoft.com/office/powerpoint/2010/main" val="284557817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odds ratio is saying how much does the probability of,, for example, getting bowel cancer change. </a:t>
            </a:r>
          </a:p>
        </p:txBody>
      </p:sp>
      <p:sp>
        <p:nvSpPr>
          <p:cNvPr id="4" name="Slide Number Placeholder 3"/>
          <p:cNvSpPr>
            <a:spLocks noGrp="1"/>
          </p:cNvSpPr>
          <p:nvPr>
            <p:ph type="sldNum" sz="quarter" idx="5"/>
          </p:nvPr>
        </p:nvSpPr>
        <p:spPr/>
        <p:txBody>
          <a:bodyPr/>
          <a:lstStyle/>
          <a:p>
            <a:fld id="{611C0B13-21D8-4C4C-87C8-3F9D5550AB12}" type="slidenum">
              <a:rPr lang="en-US" smtClean="0"/>
              <a:t>52</a:t>
            </a:fld>
            <a:endParaRPr lang="en-US"/>
          </a:p>
        </p:txBody>
      </p:sp>
    </p:spTree>
    <p:extLst>
      <p:ext uri="{BB962C8B-B14F-4D97-AF65-F5344CB8AC3E}">
        <p14:creationId xmlns:p14="http://schemas.microsoft.com/office/powerpoint/2010/main" val="203315123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1175BC-F91E-3833-16DD-22F835C08F6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F15A257-B367-F588-4660-32BF7D7C3CC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08D9330-0C14-3B16-F59A-310A249D5A65}"/>
              </a:ext>
            </a:extLst>
          </p:cNvPr>
          <p:cNvSpPr>
            <a:spLocks noGrp="1"/>
          </p:cNvSpPr>
          <p:nvPr>
            <p:ph type="body" idx="1"/>
          </p:nvPr>
        </p:nvSpPr>
        <p:spPr/>
        <p:txBody>
          <a:bodyPr/>
          <a:lstStyle/>
          <a:p>
            <a:r>
              <a:rPr lang="en-US" dirty="0"/>
              <a:t>The idea of the odds is that, if I were to flip an imaginary coin with the probabilities of the occurrences we see in the data, then how often do I get head i.e. cancer?</a:t>
            </a:r>
          </a:p>
          <a:p>
            <a:r>
              <a:rPr lang="en-US" dirty="0"/>
              <a:t>Coin has 50-50 odds. Or 0.5 odds.</a:t>
            </a:r>
          </a:p>
        </p:txBody>
      </p:sp>
      <p:sp>
        <p:nvSpPr>
          <p:cNvPr id="4" name="Slide Number Placeholder 3">
            <a:extLst>
              <a:ext uri="{FF2B5EF4-FFF2-40B4-BE49-F238E27FC236}">
                <a16:creationId xmlns:a16="http://schemas.microsoft.com/office/drawing/2014/main" id="{CEF9DB97-A9C2-6ADE-90C3-CF6524DB32FE}"/>
              </a:ext>
            </a:extLst>
          </p:cNvPr>
          <p:cNvSpPr>
            <a:spLocks noGrp="1"/>
          </p:cNvSpPr>
          <p:nvPr>
            <p:ph type="sldNum" sz="quarter" idx="5"/>
          </p:nvPr>
        </p:nvSpPr>
        <p:spPr/>
        <p:txBody>
          <a:bodyPr/>
          <a:lstStyle/>
          <a:p>
            <a:fld id="{E2EEBF76-5CEE-3946-8FE0-073C4B871A82}" type="slidenum">
              <a:rPr lang="en-US" smtClean="0"/>
              <a:t>53</a:t>
            </a:fld>
            <a:endParaRPr lang="en-US"/>
          </a:p>
        </p:txBody>
      </p:sp>
    </p:spTree>
    <p:extLst>
      <p:ext uri="{BB962C8B-B14F-4D97-AF65-F5344CB8AC3E}">
        <p14:creationId xmlns:p14="http://schemas.microsoft.com/office/powerpoint/2010/main" val="1688536590"/>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idea of the odds is that, if I were to flip an imaginary coin with the probabilities of the occurrences we see in the data, then how often do I get head i.e. cancer?</a:t>
            </a:r>
          </a:p>
        </p:txBody>
      </p:sp>
      <p:sp>
        <p:nvSpPr>
          <p:cNvPr id="4" name="Slide Number Placeholder 3"/>
          <p:cNvSpPr>
            <a:spLocks noGrp="1"/>
          </p:cNvSpPr>
          <p:nvPr>
            <p:ph type="sldNum" sz="quarter" idx="5"/>
          </p:nvPr>
        </p:nvSpPr>
        <p:spPr/>
        <p:txBody>
          <a:bodyPr/>
          <a:lstStyle/>
          <a:p>
            <a:fld id="{E2EEBF76-5CEE-3946-8FE0-073C4B871A82}" type="slidenum">
              <a:rPr lang="en-US" smtClean="0"/>
              <a:t>54</a:t>
            </a:fld>
            <a:endParaRPr lang="en-US"/>
          </a:p>
        </p:txBody>
      </p:sp>
    </p:spTree>
    <p:extLst>
      <p:ext uri="{BB962C8B-B14F-4D97-AF65-F5344CB8AC3E}">
        <p14:creationId xmlns:p14="http://schemas.microsoft.com/office/powerpoint/2010/main" val="1597835656"/>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1D064C-B861-6AE9-7AAE-9C078D711D0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11717C4-8202-F63F-8F0B-3757F912C1B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062781F-2F62-482B-411E-08C7FCC2B673}"/>
              </a:ext>
            </a:extLst>
          </p:cNvPr>
          <p:cNvSpPr>
            <a:spLocks noGrp="1"/>
          </p:cNvSpPr>
          <p:nvPr>
            <p:ph type="body" idx="1"/>
          </p:nvPr>
        </p:nvSpPr>
        <p:spPr/>
        <p:txBody>
          <a:bodyPr/>
          <a:lstStyle/>
          <a:p>
            <a:r>
              <a:rPr lang="en-US" dirty="0"/>
              <a:t>Conditional and marginal.</a:t>
            </a:r>
          </a:p>
        </p:txBody>
      </p:sp>
      <p:sp>
        <p:nvSpPr>
          <p:cNvPr id="4" name="Slide Number Placeholder 3">
            <a:extLst>
              <a:ext uri="{FF2B5EF4-FFF2-40B4-BE49-F238E27FC236}">
                <a16:creationId xmlns:a16="http://schemas.microsoft.com/office/drawing/2014/main" id="{BF27A5F2-D48A-7FD1-40F2-BB7C0C9724FB}"/>
              </a:ext>
            </a:extLst>
          </p:cNvPr>
          <p:cNvSpPr>
            <a:spLocks noGrp="1"/>
          </p:cNvSpPr>
          <p:nvPr>
            <p:ph type="sldNum" sz="quarter" idx="5"/>
          </p:nvPr>
        </p:nvSpPr>
        <p:spPr/>
        <p:txBody>
          <a:bodyPr/>
          <a:lstStyle/>
          <a:p>
            <a:fld id="{E2EEBF76-5CEE-3946-8FE0-073C4B871A82}" type="slidenum">
              <a:rPr lang="en-US" smtClean="0"/>
              <a:t>55</a:t>
            </a:fld>
            <a:endParaRPr lang="en-US"/>
          </a:p>
        </p:txBody>
      </p:sp>
    </p:spTree>
    <p:extLst>
      <p:ext uri="{BB962C8B-B14F-4D97-AF65-F5344CB8AC3E}">
        <p14:creationId xmlns:p14="http://schemas.microsoft.com/office/powerpoint/2010/main" val="3859197286"/>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association here between whether or not there’s pesticides on vegetables as a function of whether it is organic or conventionally produced veggies.</a:t>
            </a:r>
          </a:p>
        </p:txBody>
      </p:sp>
      <p:sp>
        <p:nvSpPr>
          <p:cNvPr id="4" name="Slide Number Placeholder 3"/>
          <p:cNvSpPr>
            <a:spLocks noGrp="1"/>
          </p:cNvSpPr>
          <p:nvPr>
            <p:ph type="sldNum" sz="quarter" idx="5"/>
          </p:nvPr>
        </p:nvSpPr>
        <p:spPr/>
        <p:txBody>
          <a:bodyPr/>
          <a:lstStyle/>
          <a:p>
            <a:fld id="{611C0B13-21D8-4C4C-87C8-3F9D5550AB12}" type="slidenum">
              <a:rPr lang="en-US" smtClean="0"/>
              <a:t>58</a:t>
            </a:fld>
            <a:endParaRPr lang="en-US"/>
          </a:p>
        </p:txBody>
      </p:sp>
    </p:spTree>
    <p:extLst>
      <p:ext uri="{BB962C8B-B14F-4D97-AF65-F5344CB8AC3E}">
        <p14:creationId xmlns:p14="http://schemas.microsoft.com/office/powerpoint/2010/main" val="1637060165"/>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11C0B13-21D8-4C4C-87C8-3F9D5550AB12}" type="slidenum">
              <a:rPr lang="en-US" smtClean="0"/>
              <a:t>60</a:t>
            </a:fld>
            <a:endParaRPr lang="en-US"/>
          </a:p>
        </p:txBody>
      </p:sp>
    </p:spTree>
    <p:extLst>
      <p:ext uri="{BB962C8B-B14F-4D97-AF65-F5344CB8AC3E}">
        <p14:creationId xmlns:p14="http://schemas.microsoft.com/office/powerpoint/2010/main" val="1932920525"/>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I flip a coin asking for heads, pretending that is cancer when smoking, how much more likely am I to get heads than tails in that case?</a:t>
            </a:r>
          </a:p>
        </p:txBody>
      </p:sp>
      <p:sp>
        <p:nvSpPr>
          <p:cNvPr id="4" name="Slide Number Placeholder 3"/>
          <p:cNvSpPr>
            <a:spLocks noGrp="1"/>
          </p:cNvSpPr>
          <p:nvPr>
            <p:ph type="sldNum" sz="quarter" idx="5"/>
          </p:nvPr>
        </p:nvSpPr>
        <p:spPr/>
        <p:txBody>
          <a:bodyPr/>
          <a:lstStyle/>
          <a:p>
            <a:fld id="{E2EEBF76-5CEE-3946-8FE0-073C4B871A82}" type="slidenum">
              <a:rPr lang="en-US" smtClean="0"/>
              <a:t>63</a:t>
            </a:fld>
            <a:endParaRPr lang="en-US"/>
          </a:p>
        </p:txBody>
      </p:sp>
    </p:spTree>
    <p:extLst>
      <p:ext uri="{BB962C8B-B14F-4D97-AF65-F5344CB8AC3E}">
        <p14:creationId xmlns:p14="http://schemas.microsoft.com/office/powerpoint/2010/main" val="204039423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png"/><Relationship Id="rId1" Type="http://schemas.openxmlformats.org/officeDocument/2006/relationships/slideMaster" Target="../slideMasters/slideMaster2.xml"/><Relationship Id="rId4" Type="http://schemas.openxmlformats.org/officeDocument/2006/relationships/image" Target="../media/image2.emf"/></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Master" Target="../slideMasters/slideMaster2.xml"/><Relationship Id="rId4" Type="http://schemas.openxmlformats.org/officeDocument/2006/relationships/image" Target="../media/image2.emf"/></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jpg"/><Relationship Id="rId1" Type="http://schemas.openxmlformats.org/officeDocument/2006/relationships/slideMaster" Target="../slideMasters/slideMaster2.xml"/><Relationship Id="rId4" Type="http://schemas.openxmlformats.org/officeDocument/2006/relationships/image" Target="../media/image7.emf"/></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8.jpg"/><Relationship Id="rId1" Type="http://schemas.openxmlformats.org/officeDocument/2006/relationships/slideMaster" Target="../slideMasters/slideMaster2.xml"/><Relationship Id="rId4" Type="http://schemas.openxmlformats.org/officeDocument/2006/relationships/image" Target="../media/image2.emf"/></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9.jpg"/><Relationship Id="rId1" Type="http://schemas.openxmlformats.org/officeDocument/2006/relationships/slideMaster" Target="../slideMasters/slideMaster2.xml"/><Relationship Id="rId4" Type="http://schemas.openxmlformats.org/officeDocument/2006/relationships/image" Target="../media/image2.emf"/></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image" Target="../media/image6.png"/><Relationship Id="rId1" Type="http://schemas.openxmlformats.org/officeDocument/2006/relationships/slideMaster" Target="../slideMasters/slideMaster2.xml"/><Relationship Id="rId4" Type="http://schemas.openxmlformats.org/officeDocument/2006/relationships/image" Target="../media/image10.png"/></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image" Target="../media/image6.png"/><Relationship Id="rId1" Type="http://schemas.openxmlformats.org/officeDocument/2006/relationships/slideMaster" Target="../slideMasters/slideMaster2.xml"/><Relationship Id="rId4" Type="http://schemas.openxmlformats.org/officeDocument/2006/relationships/image" Target="../media/image3.png"/></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1.emf"/><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11.emf"/><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image" Target="../media/image12.png"/><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1.emf"/><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6E213F-D389-B631-4D12-79697F88849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59BDEE78-9776-FF46-AD5C-F513724B866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E0D1BAFC-9DBA-6265-12EE-5A73B0542395}"/>
              </a:ext>
            </a:extLst>
          </p:cNvPr>
          <p:cNvSpPr>
            <a:spLocks noGrp="1"/>
          </p:cNvSpPr>
          <p:nvPr>
            <p:ph type="dt" sz="half" idx="10"/>
          </p:nvPr>
        </p:nvSpPr>
        <p:spPr/>
        <p:txBody>
          <a:bodyPr/>
          <a:lstStyle/>
          <a:p>
            <a:fld id="{28D15594-DB7A-8E4F-85E8-2541E5B5670D}" type="datetimeFigureOut">
              <a:rPr lang="en-US" smtClean="0"/>
              <a:t>3/30/26</a:t>
            </a:fld>
            <a:endParaRPr lang="en-US"/>
          </a:p>
        </p:txBody>
      </p:sp>
      <p:sp>
        <p:nvSpPr>
          <p:cNvPr id="5" name="Footer Placeholder 4">
            <a:extLst>
              <a:ext uri="{FF2B5EF4-FFF2-40B4-BE49-F238E27FC236}">
                <a16:creationId xmlns:a16="http://schemas.microsoft.com/office/drawing/2014/main" id="{DDD31039-0C6C-4D0F-0596-95CBB157C80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573DB43-099A-5F11-EC3C-7569D1D6B8A7}"/>
              </a:ext>
            </a:extLst>
          </p:cNvPr>
          <p:cNvSpPr>
            <a:spLocks noGrp="1"/>
          </p:cNvSpPr>
          <p:nvPr>
            <p:ph type="sldNum" sz="quarter" idx="12"/>
          </p:nvPr>
        </p:nvSpPr>
        <p:spPr/>
        <p:txBody>
          <a:bodyPr/>
          <a:lstStyle/>
          <a:p>
            <a:fld id="{72EC4BA8-CEF6-D944-B04C-EC8A9751F0F1}" type="slidenum">
              <a:rPr lang="en-US" smtClean="0"/>
              <a:t>‹#›</a:t>
            </a:fld>
            <a:endParaRPr lang="en-US"/>
          </a:p>
        </p:txBody>
      </p:sp>
    </p:spTree>
    <p:extLst>
      <p:ext uri="{BB962C8B-B14F-4D97-AF65-F5344CB8AC3E}">
        <p14:creationId xmlns:p14="http://schemas.microsoft.com/office/powerpoint/2010/main" val="267214208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DEC010-1D7F-EFAB-451A-A2B6D5ADC81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FF76634-ADA8-AAD2-ECA2-59A49E14F28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05A170F-1223-EC47-A7F6-085FD68B0F84}"/>
              </a:ext>
            </a:extLst>
          </p:cNvPr>
          <p:cNvSpPr>
            <a:spLocks noGrp="1"/>
          </p:cNvSpPr>
          <p:nvPr>
            <p:ph type="dt" sz="half" idx="10"/>
          </p:nvPr>
        </p:nvSpPr>
        <p:spPr/>
        <p:txBody>
          <a:bodyPr/>
          <a:lstStyle/>
          <a:p>
            <a:fld id="{28D15594-DB7A-8E4F-85E8-2541E5B5670D}" type="datetimeFigureOut">
              <a:rPr lang="en-US" smtClean="0"/>
              <a:t>3/30/26</a:t>
            </a:fld>
            <a:endParaRPr lang="en-US"/>
          </a:p>
        </p:txBody>
      </p:sp>
      <p:sp>
        <p:nvSpPr>
          <p:cNvPr id="5" name="Footer Placeholder 4">
            <a:extLst>
              <a:ext uri="{FF2B5EF4-FFF2-40B4-BE49-F238E27FC236}">
                <a16:creationId xmlns:a16="http://schemas.microsoft.com/office/drawing/2014/main" id="{8805A70D-4D64-5CEE-8425-0E546B6D2C0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82CEF6B-7B4B-4A12-1E9B-17402374AEA6}"/>
              </a:ext>
            </a:extLst>
          </p:cNvPr>
          <p:cNvSpPr>
            <a:spLocks noGrp="1"/>
          </p:cNvSpPr>
          <p:nvPr>
            <p:ph type="sldNum" sz="quarter" idx="12"/>
          </p:nvPr>
        </p:nvSpPr>
        <p:spPr/>
        <p:txBody>
          <a:bodyPr/>
          <a:lstStyle/>
          <a:p>
            <a:fld id="{72EC4BA8-CEF6-D944-B04C-EC8A9751F0F1}" type="slidenum">
              <a:rPr lang="en-US" smtClean="0"/>
              <a:t>‹#›</a:t>
            </a:fld>
            <a:endParaRPr lang="en-US"/>
          </a:p>
        </p:txBody>
      </p:sp>
    </p:spTree>
    <p:extLst>
      <p:ext uri="{BB962C8B-B14F-4D97-AF65-F5344CB8AC3E}">
        <p14:creationId xmlns:p14="http://schemas.microsoft.com/office/powerpoint/2010/main" val="343440448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4A055E-A840-E748-F8DE-D7190D9B2A5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3B9DFE41-DB06-9F76-7B4E-198FCE0EAA42}"/>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BD8AEA7-899D-740C-A888-B26D914CC0C1}"/>
              </a:ext>
            </a:extLst>
          </p:cNvPr>
          <p:cNvSpPr>
            <a:spLocks noGrp="1"/>
          </p:cNvSpPr>
          <p:nvPr>
            <p:ph type="dt" sz="half" idx="10"/>
          </p:nvPr>
        </p:nvSpPr>
        <p:spPr/>
        <p:txBody>
          <a:bodyPr/>
          <a:lstStyle/>
          <a:p>
            <a:fld id="{28D15594-DB7A-8E4F-85E8-2541E5B5670D}" type="datetimeFigureOut">
              <a:rPr lang="en-US" smtClean="0"/>
              <a:t>3/30/26</a:t>
            </a:fld>
            <a:endParaRPr lang="en-US"/>
          </a:p>
        </p:txBody>
      </p:sp>
      <p:sp>
        <p:nvSpPr>
          <p:cNvPr id="5" name="Footer Placeholder 4">
            <a:extLst>
              <a:ext uri="{FF2B5EF4-FFF2-40B4-BE49-F238E27FC236}">
                <a16:creationId xmlns:a16="http://schemas.microsoft.com/office/drawing/2014/main" id="{A91E8947-5BBD-0F4C-6741-BB3EBE25AC3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2D22C04-5222-1741-2D73-6BD03F647553}"/>
              </a:ext>
            </a:extLst>
          </p:cNvPr>
          <p:cNvSpPr>
            <a:spLocks noGrp="1"/>
          </p:cNvSpPr>
          <p:nvPr>
            <p:ph type="sldNum" sz="quarter" idx="12"/>
          </p:nvPr>
        </p:nvSpPr>
        <p:spPr/>
        <p:txBody>
          <a:bodyPr/>
          <a:lstStyle/>
          <a:p>
            <a:fld id="{72EC4BA8-CEF6-D944-B04C-EC8A9751F0F1}" type="slidenum">
              <a:rPr lang="en-US" smtClean="0"/>
              <a:t>‹#›</a:t>
            </a:fld>
            <a:endParaRPr lang="en-US"/>
          </a:p>
        </p:txBody>
      </p:sp>
    </p:spTree>
    <p:extLst>
      <p:ext uri="{BB962C8B-B14F-4D97-AF65-F5344CB8AC3E}">
        <p14:creationId xmlns:p14="http://schemas.microsoft.com/office/powerpoint/2010/main" val="422527312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358B27-C69C-64AA-4DE2-F08830BFF06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BF6C5FC-4651-3182-7A49-C5382F91BC7C}"/>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E0543509-5B1D-F532-BEE9-7B323966B0E2}"/>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3E1DBE65-8E79-1A1A-E70C-8E8B3409724A}"/>
              </a:ext>
            </a:extLst>
          </p:cNvPr>
          <p:cNvSpPr>
            <a:spLocks noGrp="1"/>
          </p:cNvSpPr>
          <p:nvPr>
            <p:ph type="dt" sz="half" idx="10"/>
          </p:nvPr>
        </p:nvSpPr>
        <p:spPr/>
        <p:txBody>
          <a:bodyPr/>
          <a:lstStyle/>
          <a:p>
            <a:fld id="{28D15594-DB7A-8E4F-85E8-2541E5B5670D}" type="datetimeFigureOut">
              <a:rPr lang="en-US" smtClean="0"/>
              <a:t>3/30/26</a:t>
            </a:fld>
            <a:endParaRPr lang="en-US"/>
          </a:p>
        </p:txBody>
      </p:sp>
      <p:sp>
        <p:nvSpPr>
          <p:cNvPr id="6" name="Footer Placeholder 5">
            <a:extLst>
              <a:ext uri="{FF2B5EF4-FFF2-40B4-BE49-F238E27FC236}">
                <a16:creationId xmlns:a16="http://schemas.microsoft.com/office/drawing/2014/main" id="{307F982B-7F78-9FE1-9D8C-F4081C122A9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D35AE3C-CB8C-FAC9-19C8-BF9D9ACFF041}"/>
              </a:ext>
            </a:extLst>
          </p:cNvPr>
          <p:cNvSpPr>
            <a:spLocks noGrp="1"/>
          </p:cNvSpPr>
          <p:nvPr>
            <p:ph type="sldNum" sz="quarter" idx="12"/>
          </p:nvPr>
        </p:nvSpPr>
        <p:spPr/>
        <p:txBody>
          <a:bodyPr/>
          <a:lstStyle/>
          <a:p>
            <a:fld id="{72EC4BA8-CEF6-D944-B04C-EC8A9751F0F1}" type="slidenum">
              <a:rPr lang="en-US" smtClean="0"/>
              <a:t>‹#›</a:t>
            </a:fld>
            <a:endParaRPr lang="en-US"/>
          </a:p>
        </p:txBody>
      </p:sp>
    </p:spTree>
    <p:extLst>
      <p:ext uri="{BB962C8B-B14F-4D97-AF65-F5344CB8AC3E}">
        <p14:creationId xmlns:p14="http://schemas.microsoft.com/office/powerpoint/2010/main" val="185794253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18103B-C411-6BDB-887A-3C663BFB2206}"/>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6CEB57CA-CDB6-AA5C-643B-6DD74E854E6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E7DA9FB-5023-0447-0A99-BFAC55DD3D7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FFF3AFA3-ED50-E824-11DC-DD7ADB3B09B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A0C1F226-B4C6-FBE6-E02A-3141F7CA6840}"/>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7F0D721-7879-2968-0143-5E4E324F19E2}"/>
              </a:ext>
            </a:extLst>
          </p:cNvPr>
          <p:cNvSpPr>
            <a:spLocks noGrp="1"/>
          </p:cNvSpPr>
          <p:nvPr>
            <p:ph type="dt" sz="half" idx="10"/>
          </p:nvPr>
        </p:nvSpPr>
        <p:spPr/>
        <p:txBody>
          <a:bodyPr/>
          <a:lstStyle/>
          <a:p>
            <a:fld id="{28D15594-DB7A-8E4F-85E8-2541E5B5670D}" type="datetimeFigureOut">
              <a:rPr lang="en-US" smtClean="0"/>
              <a:t>3/30/26</a:t>
            </a:fld>
            <a:endParaRPr lang="en-US"/>
          </a:p>
        </p:txBody>
      </p:sp>
      <p:sp>
        <p:nvSpPr>
          <p:cNvPr id="8" name="Footer Placeholder 7">
            <a:extLst>
              <a:ext uri="{FF2B5EF4-FFF2-40B4-BE49-F238E27FC236}">
                <a16:creationId xmlns:a16="http://schemas.microsoft.com/office/drawing/2014/main" id="{820D5C45-4E53-C4F6-84FB-9A349A1ECB4E}"/>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BC5C4024-DB09-687C-D8D5-E28CF43C783F}"/>
              </a:ext>
            </a:extLst>
          </p:cNvPr>
          <p:cNvSpPr>
            <a:spLocks noGrp="1"/>
          </p:cNvSpPr>
          <p:nvPr>
            <p:ph type="sldNum" sz="quarter" idx="12"/>
          </p:nvPr>
        </p:nvSpPr>
        <p:spPr/>
        <p:txBody>
          <a:bodyPr/>
          <a:lstStyle/>
          <a:p>
            <a:fld id="{72EC4BA8-CEF6-D944-B04C-EC8A9751F0F1}" type="slidenum">
              <a:rPr lang="en-US" smtClean="0"/>
              <a:t>‹#›</a:t>
            </a:fld>
            <a:endParaRPr lang="en-US"/>
          </a:p>
        </p:txBody>
      </p:sp>
    </p:spTree>
    <p:extLst>
      <p:ext uri="{BB962C8B-B14F-4D97-AF65-F5344CB8AC3E}">
        <p14:creationId xmlns:p14="http://schemas.microsoft.com/office/powerpoint/2010/main" val="181131160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DA31DE-938C-9E21-39F7-369D82AFD88C}"/>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2E2DC9FE-2E94-8BC1-68C7-667B9F666356}"/>
              </a:ext>
            </a:extLst>
          </p:cNvPr>
          <p:cNvSpPr>
            <a:spLocks noGrp="1"/>
          </p:cNvSpPr>
          <p:nvPr>
            <p:ph type="dt" sz="half" idx="10"/>
          </p:nvPr>
        </p:nvSpPr>
        <p:spPr/>
        <p:txBody>
          <a:bodyPr/>
          <a:lstStyle/>
          <a:p>
            <a:fld id="{28D15594-DB7A-8E4F-85E8-2541E5B5670D}" type="datetimeFigureOut">
              <a:rPr lang="en-US" smtClean="0"/>
              <a:t>3/30/26</a:t>
            </a:fld>
            <a:endParaRPr lang="en-US"/>
          </a:p>
        </p:txBody>
      </p:sp>
      <p:sp>
        <p:nvSpPr>
          <p:cNvPr id="4" name="Footer Placeholder 3">
            <a:extLst>
              <a:ext uri="{FF2B5EF4-FFF2-40B4-BE49-F238E27FC236}">
                <a16:creationId xmlns:a16="http://schemas.microsoft.com/office/drawing/2014/main" id="{FFA094EA-FA07-97E6-2E96-F0292AB2D3B9}"/>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64584F9C-D34E-81BF-5434-01FBF39BEBF5}"/>
              </a:ext>
            </a:extLst>
          </p:cNvPr>
          <p:cNvSpPr>
            <a:spLocks noGrp="1"/>
          </p:cNvSpPr>
          <p:nvPr>
            <p:ph type="sldNum" sz="quarter" idx="12"/>
          </p:nvPr>
        </p:nvSpPr>
        <p:spPr/>
        <p:txBody>
          <a:bodyPr/>
          <a:lstStyle/>
          <a:p>
            <a:fld id="{72EC4BA8-CEF6-D944-B04C-EC8A9751F0F1}" type="slidenum">
              <a:rPr lang="en-US" smtClean="0"/>
              <a:t>‹#›</a:t>
            </a:fld>
            <a:endParaRPr lang="en-US"/>
          </a:p>
        </p:txBody>
      </p:sp>
    </p:spTree>
    <p:extLst>
      <p:ext uri="{BB962C8B-B14F-4D97-AF65-F5344CB8AC3E}">
        <p14:creationId xmlns:p14="http://schemas.microsoft.com/office/powerpoint/2010/main" val="77233797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04F0B34-A428-E2F1-5872-8A658826A3F5}"/>
              </a:ext>
            </a:extLst>
          </p:cNvPr>
          <p:cNvSpPr>
            <a:spLocks noGrp="1"/>
          </p:cNvSpPr>
          <p:nvPr>
            <p:ph type="dt" sz="half" idx="10"/>
          </p:nvPr>
        </p:nvSpPr>
        <p:spPr/>
        <p:txBody>
          <a:bodyPr/>
          <a:lstStyle/>
          <a:p>
            <a:fld id="{28D15594-DB7A-8E4F-85E8-2541E5B5670D}" type="datetimeFigureOut">
              <a:rPr lang="en-US" smtClean="0"/>
              <a:t>3/30/26</a:t>
            </a:fld>
            <a:endParaRPr lang="en-US"/>
          </a:p>
        </p:txBody>
      </p:sp>
      <p:sp>
        <p:nvSpPr>
          <p:cNvPr id="3" name="Footer Placeholder 2">
            <a:extLst>
              <a:ext uri="{FF2B5EF4-FFF2-40B4-BE49-F238E27FC236}">
                <a16:creationId xmlns:a16="http://schemas.microsoft.com/office/drawing/2014/main" id="{7692CF29-140B-32A2-C32E-871DC6388D7F}"/>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B51ED477-472D-8D98-24CF-2C01457B3F65}"/>
              </a:ext>
            </a:extLst>
          </p:cNvPr>
          <p:cNvSpPr>
            <a:spLocks noGrp="1"/>
          </p:cNvSpPr>
          <p:nvPr>
            <p:ph type="sldNum" sz="quarter" idx="12"/>
          </p:nvPr>
        </p:nvSpPr>
        <p:spPr/>
        <p:txBody>
          <a:bodyPr/>
          <a:lstStyle/>
          <a:p>
            <a:fld id="{72EC4BA8-CEF6-D944-B04C-EC8A9751F0F1}" type="slidenum">
              <a:rPr lang="en-US" smtClean="0"/>
              <a:t>‹#›</a:t>
            </a:fld>
            <a:endParaRPr lang="en-US"/>
          </a:p>
        </p:txBody>
      </p:sp>
    </p:spTree>
    <p:extLst>
      <p:ext uri="{BB962C8B-B14F-4D97-AF65-F5344CB8AC3E}">
        <p14:creationId xmlns:p14="http://schemas.microsoft.com/office/powerpoint/2010/main" val="157274292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CD67D8-12FF-2C31-B752-5875EE68536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87EA572D-E47A-35D4-5269-77F92B1669A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823BE638-F64C-7195-901E-543F40E6A1C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E4B0A01-9A51-1725-BCD1-8DC001F670F1}"/>
              </a:ext>
            </a:extLst>
          </p:cNvPr>
          <p:cNvSpPr>
            <a:spLocks noGrp="1"/>
          </p:cNvSpPr>
          <p:nvPr>
            <p:ph type="dt" sz="half" idx="10"/>
          </p:nvPr>
        </p:nvSpPr>
        <p:spPr/>
        <p:txBody>
          <a:bodyPr/>
          <a:lstStyle/>
          <a:p>
            <a:fld id="{28D15594-DB7A-8E4F-85E8-2541E5B5670D}" type="datetimeFigureOut">
              <a:rPr lang="en-US" smtClean="0"/>
              <a:t>3/30/26</a:t>
            </a:fld>
            <a:endParaRPr lang="en-US"/>
          </a:p>
        </p:txBody>
      </p:sp>
      <p:sp>
        <p:nvSpPr>
          <p:cNvPr id="6" name="Footer Placeholder 5">
            <a:extLst>
              <a:ext uri="{FF2B5EF4-FFF2-40B4-BE49-F238E27FC236}">
                <a16:creationId xmlns:a16="http://schemas.microsoft.com/office/drawing/2014/main" id="{7215FAE5-7C78-37F1-FE8B-082AAA2DCD6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CF30ACF-4D80-F248-D9D9-BCDA2BF078EF}"/>
              </a:ext>
            </a:extLst>
          </p:cNvPr>
          <p:cNvSpPr>
            <a:spLocks noGrp="1"/>
          </p:cNvSpPr>
          <p:nvPr>
            <p:ph type="sldNum" sz="quarter" idx="12"/>
          </p:nvPr>
        </p:nvSpPr>
        <p:spPr/>
        <p:txBody>
          <a:bodyPr/>
          <a:lstStyle/>
          <a:p>
            <a:fld id="{72EC4BA8-CEF6-D944-B04C-EC8A9751F0F1}" type="slidenum">
              <a:rPr lang="en-US" smtClean="0"/>
              <a:t>‹#›</a:t>
            </a:fld>
            <a:endParaRPr lang="en-US"/>
          </a:p>
        </p:txBody>
      </p:sp>
    </p:spTree>
    <p:extLst>
      <p:ext uri="{BB962C8B-B14F-4D97-AF65-F5344CB8AC3E}">
        <p14:creationId xmlns:p14="http://schemas.microsoft.com/office/powerpoint/2010/main" val="73558972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D8A33-25B9-56F0-E791-0D6F4C22E41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35BEC962-7A8D-0665-E6C7-6370C55ACEB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4878449B-F76A-5D8E-1467-3C6043DCF66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0CA3C7B-FA64-5E1B-E371-28D8238973F1}"/>
              </a:ext>
            </a:extLst>
          </p:cNvPr>
          <p:cNvSpPr>
            <a:spLocks noGrp="1"/>
          </p:cNvSpPr>
          <p:nvPr>
            <p:ph type="dt" sz="half" idx="10"/>
          </p:nvPr>
        </p:nvSpPr>
        <p:spPr/>
        <p:txBody>
          <a:bodyPr/>
          <a:lstStyle/>
          <a:p>
            <a:fld id="{28D15594-DB7A-8E4F-85E8-2541E5B5670D}" type="datetimeFigureOut">
              <a:rPr lang="en-US" smtClean="0"/>
              <a:t>3/30/26</a:t>
            </a:fld>
            <a:endParaRPr lang="en-US"/>
          </a:p>
        </p:txBody>
      </p:sp>
      <p:sp>
        <p:nvSpPr>
          <p:cNvPr id="6" name="Footer Placeholder 5">
            <a:extLst>
              <a:ext uri="{FF2B5EF4-FFF2-40B4-BE49-F238E27FC236}">
                <a16:creationId xmlns:a16="http://schemas.microsoft.com/office/drawing/2014/main" id="{67675573-5B94-FC91-D80B-41C19C9FDDA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AFEFB19-4B4E-0582-B534-F738AAB782EA}"/>
              </a:ext>
            </a:extLst>
          </p:cNvPr>
          <p:cNvSpPr>
            <a:spLocks noGrp="1"/>
          </p:cNvSpPr>
          <p:nvPr>
            <p:ph type="sldNum" sz="quarter" idx="12"/>
          </p:nvPr>
        </p:nvSpPr>
        <p:spPr/>
        <p:txBody>
          <a:bodyPr/>
          <a:lstStyle/>
          <a:p>
            <a:fld id="{72EC4BA8-CEF6-D944-B04C-EC8A9751F0F1}" type="slidenum">
              <a:rPr lang="en-US" smtClean="0"/>
              <a:t>‹#›</a:t>
            </a:fld>
            <a:endParaRPr lang="en-US"/>
          </a:p>
        </p:txBody>
      </p:sp>
    </p:spTree>
    <p:extLst>
      <p:ext uri="{BB962C8B-B14F-4D97-AF65-F5344CB8AC3E}">
        <p14:creationId xmlns:p14="http://schemas.microsoft.com/office/powerpoint/2010/main" val="348162003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01965B-ECC2-52A7-F15D-E5C2D71064F8}"/>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CC8EE765-8310-ABB9-00AE-4969F8DEED1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10FD504-40D4-82E1-4DF7-7BBFDEB82E1D}"/>
              </a:ext>
            </a:extLst>
          </p:cNvPr>
          <p:cNvSpPr>
            <a:spLocks noGrp="1"/>
          </p:cNvSpPr>
          <p:nvPr>
            <p:ph type="dt" sz="half" idx="10"/>
          </p:nvPr>
        </p:nvSpPr>
        <p:spPr/>
        <p:txBody>
          <a:bodyPr/>
          <a:lstStyle/>
          <a:p>
            <a:fld id="{28D15594-DB7A-8E4F-85E8-2541E5B5670D}" type="datetimeFigureOut">
              <a:rPr lang="en-US" smtClean="0"/>
              <a:t>3/30/26</a:t>
            </a:fld>
            <a:endParaRPr lang="en-US"/>
          </a:p>
        </p:txBody>
      </p:sp>
      <p:sp>
        <p:nvSpPr>
          <p:cNvPr id="5" name="Footer Placeholder 4">
            <a:extLst>
              <a:ext uri="{FF2B5EF4-FFF2-40B4-BE49-F238E27FC236}">
                <a16:creationId xmlns:a16="http://schemas.microsoft.com/office/drawing/2014/main" id="{EBA5B3A1-6D47-AABB-B956-14C9A3A0FFA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5F65CC9-16DC-9F9A-025D-CA2176D87F42}"/>
              </a:ext>
            </a:extLst>
          </p:cNvPr>
          <p:cNvSpPr>
            <a:spLocks noGrp="1"/>
          </p:cNvSpPr>
          <p:nvPr>
            <p:ph type="sldNum" sz="quarter" idx="12"/>
          </p:nvPr>
        </p:nvSpPr>
        <p:spPr/>
        <p:txBody>
          <a:bodyPr/>
          <a:lstStyle/>
          <a:p>
            <a:fld id="{72EC4BA8-CEF6-D944-B04C-EC8A9751F0F1}" type="slidenum">
              <a:rPr lang="en-US" smtClean="0"/>
              <a:t>‹#›</a:t>
            </a:fld>
            <a:endParaRPr lang="en-US"/>
          </a:p>
        </p:txBody>
      </p:sp>
    </p:spTree>
    <p:extLst>
      <p:ext uri="{BB962C8B-B14F-4D97-AF65-F5344CB8AC3E}">
        <p14:creationId xmlns:p14="http://schemas.microsoft.com/office/powerpoint/2010/main" val="173854732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42C50AB-879E-A307-EF33-642EA9738876}"/>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312A216D-98BA-4A0D-DAB6-38E099594F14}"/>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9FD2E8C-30ED-04BE-68C0-F81A827A2D13}"/>
              </a:ext>
            </a:extLst>
          </p:cNvPr>
          <p:cNvSpPr>
            <a:spLocks noGrp="1"/>
          </p:cNvSpPr>
          <p:nvPr>
            <p:ph type="dt" sz="half" idx="10"/>
          </p:nvPr>
        </p:nvSpPr>
        <p:spPr/>
        <p:txBody>
          <a:bodyPr/>
          <a:lstStyle/>
          <a:p>
            <a:fld id="{28D15594-DB7A-8E4F-85E8-2541E5B5670D}" type="datetimeFigureOut">
              <a:rPr lang="en-US" smtClean="0"/>
              <a:t>3/30/26</a:t>
            </a:fld>
            <a:endParaRPr lang="en-US"/>
          </a:p>
        </p:txBody>
      </p:sp>
      <p:sp>
        <p:nvSpPr>
          <p:cNvPr id="5" name="Footer Placeholder 4">
            <a:extLst>
              <a:ext uri="{FF2B5EF4-FFF2-40B4-BE49-F238E27FC236}">
                <a16:creationId xmlns:a16="http://schemas.microsoft.com/office/drawing/2014/main" id="{EAAD3856-EA09-ABD6-D11A-85C4AC229B5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7C20A4D-6A3F-BC0E-FA03-6D6782B7FE35}"/>
              </a:ext>
            </a:extLst>
          </p:cNvPr>
          <p:cNvSpPr>
            <a:spLocks noGrp="1"/>
          </p:cNvSpPr>
          <p:nvPr>
            <p:ph type="sldNum" sz="quarter" idx="12"/>
          </p:nvPr>
        </p:nvSpPr>
        <p:spPr/>
        <p:txBody>
          <a:bodyPr/>
          <a:lstStyle/>
          <a:p>
            <a:fld id="{72EC4BA8-CEF6-D944-B04C-EC8A9751F0F1}" type="slidenum">
              <a:rPr lang="en-US" smtClean="0"/>
              <a:t>‹#›</a:t>
            </a:fld>
            <a:endParaRPr lang="en-US"/>
          </a:p>
        </p:txBody>
      </p:sp>
    </p:spTree>
    <p:extLst>
      <p:ext uri="{BB962C8B-B14F-4D97-AF65-F5344CB8AC3E}">
        <p14:creationId xmlns:p14="http://schemas.microsoft.com/office/powerpoint/2010/main" val="34002703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light blue">
    <p:bg>
      <p:bgPr>
        <a:solidFill>
          <a:schemeClr val="tx2"/>
        </a:solidFill>
        <a:effectLst/>
      </p:bgPr>
    </p:bg>
    <p:spTree>
      <p:nvGrpSpPr>
        <p:cNvPr id="1" name=""/>
        <p:cNvGrpSpPr/>
        <p:nvPr/>
      </p:nvGrpSpPr>
      <p:grpSpPr>
        <a:xfrm>
          <a:off x="0" y="0"/>
          <a:ext cx="0" cy="0"/>
          <a:chOff x="0" y="0"/>
          <a:chExt cx="0" cy="0"/>
        </a:xfrm>
      </p:grpSpPr>
      <p:sp>
        <p:nvSpPr>
          <p:cNvPr id="2" name="Titel 1"/>
          <p:cNvSpPr>
            <a:spLocks noGrp="1"/>
          </p:cNvSpPr>
          <p:nvPr>
            <p:ph type="ctrTitle"/>
          </p:nvPr>
        </p:nvSpPr>
        <p:spPr>
          <a:xfrm>
            <a:off x="752784" y="253136"/>
            <a:ext cx="8797789" cy="2205259"/>
          </a:xfrm>
        </p:spPr>
        <p:txBody>
          <a:bodyPr>
            <a:noAutofit/>
          </a:bodyPr>
          <a:lstStyle>
            <a:lvl1pPr>
              <a:defRPr sz="7200">
                <a:solidFill>
                  <a:srgbClr val="FFFFFF"/>
                </a:solidFill>
              </a:defRPr>
            </a:lvl1pPr>
          </a:lstStyle>
          <a:p>
            <a:r>
              <a:rPr lang="nl-NL" dirty="0"/>
              <a:t>Titelstijl van model bewerken</a:t>
            </a:r>
          </a:p>
        </p:txBody>
      </p:sp>
      <p:sp>
        <p:nvSpPr>
          <p:cNvPr id="3" name="Subtitel 2"/>
          <p:cNvSpPr>
            <a:spLocks noGrp="1"/>
          </p:cNvSpPr>
          <p:nvPr>
            <p:ph type="subTitle" idx="1"/>
          </p:nvPr>
        </p:nvSpPr>
        <p:spPr>
          <a:xfrm>
            <a:off x="752784" y="2439519"/>
            <a:ext cx="5595491" cy="1752600"/>
          </a:xfrm>
        </p:spPr>
        <p:txBody>
          <a:bodyPr/>
          <a:lstStyle>
            <a:lvl1pPr marL="0" indent="0" algn="l">
              <a:buNone/>
              <a:defRPr sz="2667">
                <a:solidFill>
                  <a:srgbClr val="FFFFFF"/>
                </a:solidFill>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nl-NL" dirty="0"/>
              <a:t>Klik om de titelstijl van het model te bewerken</a:t>
            </a:r>
          </a:p>
        </p:txBody>
      </p:sp>
      <p:pic>
        <p:nvPicPr>
          <p:cNvPr id="11" name="Afbeelding 10" descr="UM40_RGB_B_blauw.png"/>
          <p:cNvPicPr>
            <a:picLocks noChangeAspect="1"/>
          </p:cNvPicPr>
          <p:nvPr userDrawn="1"/>
        </p:nvPicPr>
        <p:blipFill rotWithShape="1">
          <a:blip r:embed="rId2">
            <a:extLst>
              <a:ext uri="{28A0092B-C50C-407E-A947-70E740481C1C}">
                <a14:useLocalDpi xmlns:a14="http://schemas.microsoft.com/office/drawing/2010/main" val="0"/>
              </a:ext>
            </a:extLst>
          </a:blip>
          <a:srcRect r="20321"/>
          <a:stretch/>
        </p:blipFill>
        <p:spPr>
          <a:xfrm>
            <a:off x="480001" y="6174002"/>
            <a:ext cx="2120851" cy="509137"/>
          </a:xfrm>
          <a:prstGeom prst="rect">
            <a:avLst/>
          </a:prstGeom>
        </p:spPr>
      </p:pic>
      <p:pic>
        <p:nvPicPr>
          <p:cNvPr id="5" name="Picture 4"/>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2698661" y="6333298"/>
            <a:ext cx="3888000" cy="190537"/>
          </a:xfrm>
          <a:prstGeom prst="rect">
            <a:avLst/>
          </a:prstGeom>
        </p:spPr>
      </p:pic>
    </p:spTree>
    <p:extLst>
      <p:ext uri="{BB962C8B-B14F-4D97-AF65-F5344CB8AC3E}">
        <p14:creationId xmlns:p14="http://schemas.microsoft.com/office/powerpoint/2010/main" val="369300437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1_Title slide + illustration">
    <p:bg>
      <p:bgPr>
        <a:solidFill>
          <a:schemeClr val="tx2"/>
        </a:solidFill>
        <a:effectLst/>
      </p:bgPr>
    </p:bg>
    <p:spTree>
      <p:nvGrpSpPr>
        <p:cNvPr id="1" name=""/>
        <p:cNvGrpSpPr/>
        <p:nvPr/>
      </p:nvGrpSpPr>
      <p:grpSpPr>
        <a:xfrm>
          <a:off x="0" y="0"/>
          <a:ext cx="0" cy="0"/>
          <a:chOff x="0" y="0"/>
          <a:chExt cx="0" cy="0"/>
        </a:xfrm>
      </p:grpSpPr>
      <p:pic>
        <p:nvPicPr>
          <p:cNvPr id="4" name="Picture 3"/>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6126928" y="3030584"/>
            <a:ext cx="6065072" cy="4020392"/>
          </a:xfrm>
          <a:prstGeom prst="rect">
            <a:avLst/>
          </a:prstGeom>
        </p:spPr>
      </p:pic>
      <p:sp>
        <p:nvSpPr>
          <p:cNvPr id="2" name="Titel 1"/>
          <p:cNvSpPr>
            <a:spLocks noGrp="1"/>
          </p:cNvSpPr>
          <p:nvPr>
            <p:ph type="ctrTitle"/>
          </p:nvPr>
        </p:nvSpPr>
        <p:spPr>
          <a:xfrm>
            <a:off x="752784" y="253136"/>
            <a:ext cx="8797789" cy="2205259"/>
          </a:xfrm>
        </p:spPr>
        <p:txBody>
          <a:bodyPr>
            <a:noAutofit/>
          </a:bodyPr>
          <a:lstStyle>
            <a:lvl1pPr>
              <a:defRPr sz="7200">
                <a:solidFill>
                  <a:srgbClr val="FFFFFF"/>
                </a:solidFill>
              </a:defRPr>
            </a:lvl1pPr>
          </a:lstStyle>
          <a:p>
            <a:r>
              <a:rPr lang="nl-NL" dirty="0"/>
              <a:t>Titelstijl van model bewerken</a:t>
            </a:r>
          </a:p>
        </p:txBody>
      </p:sp>
      <p:sp>
        <p:nvSpPr>
          <p:cNvPr id="3" name="Subtitel 2"/>
          <p:cNvSpPr>
            <a:spLocks noGrp="1"/>
          </p:cNvSpPr>
          <p:nvPr>
            <p:ph type="subTitle" idx="1"/>
          </p:nvPr>
        </p:nvSpPr>
        <p:spPr>
          <a:xfrm>
            <a:off x="752784" y="2439519"/>
            <a:ext cx="5595491" cy="1752600"/>
          </a:xfrm>
        </p:spPr>
        <p:txBody>
          <a:bodyPr/>
          <a:lstStyle>
            <a:lvl1pPr marL="0" indent="0" algn="l">
              <a:buNone/>
              <a:defRPr sz="2667">
                <a:solidFill>
                  <a:srgbClr val="FFFFFF"/>
                </a:solidFill>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nl-NL" dirty="0"/>
              <a:t>Klik om de titelstijl van het model te bewerken</a:t>
            </a:r>
          </a:p>
        </p:txBody>
      </p:sp>
      <p:pic>
        <p:nvPicPr>
          <p:cNvPr id="11" name="Afbeelding 10" descr="UM40_RGB_B_blauw.png"/>
          <p:cNvPicPr>
            <a:picLocks noChangeAspect="1"/>
          </p:cNvPicPr>
          <p:nvPr userDrawn="1"/>
        </p:nvPicPr>
        <p:blipFill rotWithShape="1">
          <a:blip r:embed="rId3">
            <a:extLst>
              <a:ext uri="{28A0092B-C50C-407E-A947-70E740481C1C}">
                <a14:useLocalDpi xmlns:a14="http://schemas.microsoft.com/office/drawing/2010/main" val="0"/>
              </a:ext>
            </a:extLst>
          </a:blip>
          <a:srcRect r="20321"/>
          <a:stretch/>
        </p:blipFill>
        <p:spPr>
          <a:xfrm>
            <a:off x="480001" y="6174002"/>
            <a:ext cx="2120851" cy="509137"/>
          </a:xfrm>
          <a:prstGeom prst="rect">
            <a:avLst/>
          </a:prstGeom>
        </p:spPr>
      </p:pic>
      <p:pic>
        <p:nvPicPr>
          <p:cNvPr id="6" name="Picture 5"/>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2698661" y="6333298"/>
            <a:ext cx="3888000" cy="190537"/>
          </a:xfrm>
          <a:prstGeom prst="rect">
            <a:avLst/>
          </a:prstGeom>
        </p:spPr>
      </p:pic>
    </p:spTree>
    <p:extLst>
      <p:ext uri="{BB962C8B-B14F-4D97-AF65-F5344CB8AC3E}">
        <p14:creationId xmlns:p14="http://schemas.microsoft.com/office/powerpoint/2010/main" val="26029539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 preserve="1">
  <p:cSld name="Title slide + illustration">
    <p:bg>
      <p:bgPr>
        <a:solidFill>
          <a:schemeClr val="tx2"/>
        </a:solidFill>
        <a:effectLst/>
      </p:bgPr>
    </p:bg>
    <p:spTree>
      <p:nvGrpSpPr>
        <p:cNvPr id="1" name=""/>
        <p:cNvGrpSpPr/>
        <p:nvPr/>
      </p:nvGrpSpPr>
      <p:grpSpPr>
        <a:xfrm>
          <a:off x="0" y="0"/>
          <a:ext cx="0" cy="0"/>
          <a:chOff x="0" y="0"/>
          <a:chExt cx="0" cy="0"/>
        </a:xfrm>
      </p:grpSpPr>
      <p:sp>
        <p:nvSpPr>
          <p:cNvPr id="2" name="Titel 1"/>
          <p:cNvSpPr>
            <a:spLocks noGrp="1"/>
          </p:cNvSpPr>
          <p:nvPr>
            <p:ph type="ctrTitle"/>
          </p:nvPr>
        </p:nvSpPr>
        <p:spPr>
          <a:xfrm>
            <a:off x="752784" y="253136"/>
            <a:ext cx="8797789" cy="2205259"/>
          </a:xfrm>
        </p:spPr>
        <p:txBody>
          <a:bodyPr>
            <a:noAutofit/>
          </a:bodyPr>
          <a:lstStyle>
            <a:lvl1pPr>
              <a:defRPr sz="7200">
                <a:solidFill>
                  <a:srgbClr val="FFFFFF"/>
                </a:solidFill>
              </a:defRPr>
            </a:lvl1pPr>
          </a:lstStyle>
          <a:p>
            <a:r>
              <a:rPr lang="nl-NL" dirty="0"/>
              <a:t>Titelstijl van model bewerken</a:t>
            </a:r>
          </a:p>
        </p:txBody>
      </p:sp>
      <p:sp>
        <p:nvSpPr>
          <p:cNvPr id="3" name="Subtitel 2"/>
          <p:cNvSpPr>
            <a:spLocks noGrp="1"/>
          </p:cNvSpPr>
          <p:nvPr>
            <p:ph type="subTitle" idx="1"/>
          </p:nvPr>
        </p:nvSpPr>
        <p:spPr>
          <a:xfrm>
            <a:off x="752784" y="2439519"/>
            <a:ext cx="5595491" cy="1752600"/>
          </a:xfrm>
        </p:spPr>
        <p:txBody>
          <a:bodyPr/>
          <a:lstStyle>
            <a:lvl1pPr marL="0" indent="0" algn="l">
              <a:buNone/>
              <a:defRPr sz="2667">
                <a:solidFill>
                  <a:srgbClr val="FFFFFF"/>
                </a:solidFill>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nl-NL" dirty="0"/>
              <a:t>Klik om de titelstijl van het model te bewerken</a:t>
            </a:r>
          </a:p>
        </p:txBody>
      </p:sp>
      <p:pic>
        <p:nvPicPr>
          <p:cNvPr id="11" name="Afbeelding 10" descr="UM40_RGB_B_blauw.png"/>
          <p:cNvPicPr>
            <a:picLocks noChangeAspect="1"/>
          </p:cNvPicPr>
          <p:nvPr userDrawn="1"/>
        </p:nvPicPr>
        <p:blipFill rotWithShape="1">
          <a:blip r:embed="rId2">
            <a:extLst>
              <a:ext uri="{28A0092B-C50C-407E-A947-70E740481C1C}">
                <a14:useLocalDpi xmlns:a14="http://schemas.microsoft.com/office/drawing/2010/main" val="0"/>
              </a:ext>
            </a:extLst>
          </a:blip>
          <a:srcRect r="20321"/>
          <a:stretch/>
        </p:blipFill>
        <p:spPr>
          <a:xfrm>
            <a:off x="480001" y="6174002"/>
            <a:ext cx="2120851" cy="509137"/>
          </a:xfrm>
          <a:prstGeom prst="rect">
            <a:avLst/>
          </a:prstGeom>
        </p:spPr>
      </p:pic>
      <p:pic>
        <p:nvPicPr>
          <p:cNvPr id="5" name="Afbeelding 4" descr="Future look.png"/>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7195318" y="2513330"/>
            <a:ext cx="4710511" cy="4349289"/>
          </a:xfrm>
          <a:prstGeom prst="rect">
            <a:avLst/>
          </a:prstGeom>
        </p:spPr>
      </p:pic>
      <p:pic>
        <p:nvPicPr>
          <p:cNvPr id="6" name="Picture 5"/>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2698661" y="6333298"/>
            <a:ext cx="3888000" cy="190537"/>
          </a:xfrm>
          <a:prstGeom prst="rect">
            <a:avLst/>
          </a:prstGeom>
        </p:spPr>
      </p:pic>
    </p:spTree>
    <p:extLst>
      <p:ext uri="{BB962C8B-B14F-4D97-AF65-F5344CB8AC3E}">
        <p14:creationId xmlns:p14="http://schemas.microsoft.com/office/powerpoint/2010/main" val="377611060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itle" preserve="1">
  <p:cSld name="1_Title slide light blu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el 1"/>
          <p:cNvSpPr>
            <a:spLocks noGrp="1"/>
          </p:cNvSpPr>
          <p:nvPr>
            <p:ph type="ctrTitle"/>
          </p:nvPr>
        </p:nvSpPr>
        <p:spPr>
          <a:xfrm>
            <a:off x="752784" y="253136"/>
            <a:ext cx="8797789" cy="2205259"/>
          </a:xfrm>
        </p:spPr>
        <p:txBody>
          <a:bodyPr>
            <a:noAutofit/>
          </a:bodyPr>
          <a:lstStyle>
            <a:lvl1pPr>
              <a:defRPr sz="7200">
                <a:solidFill>
                  <a:srgbClr val="FFFFFF"/>
                </a:solidFill>
              </a:defRPr>
            </a:lvl1pPr>
          </a:lstStyle>
          <a:p>
            <a:r>
              <a:rPr lang="nl-NL" dirty="0"/>
              <a:t>Titelstijl van model bewerken</a:t>
            </a:r>
          </a:p>
        </p:txBody>
      </p:sp>
      <p:sp>
        <p:nvSpPr>
          <p:cNvPr id="3" name="Subtitel 2"/>
          <p:cNvSpPr>
            <a:spLocks noGrp="1"/>
          </p:cNvSpPr>
          <p:nvPr>
            <p:ph type="subTitle" idx="1"/>
          </p:nvPr>
        </p:nvSpPr>
        <p:spPr>
          <a:xfrm>
            <a:off x="752784" y="2439519"/>
            <a:ext cx="5595491" cy="1752600"/>
          </a:xfrm>
        </p:spPr>
        <p:txBody>
          <a:bodyPr/>
          <a:lstStyle>
            <a:lvl1pPr marL="0" indent="0" algn="l">
              <a:buNone/>
              <a:defRPr sz="2667">
                <a:solidFill>
                  <a:srgbClr val="FFFFFF"/>
                </a:solidFill>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nl-NL" dirty="0"/>
              <a:t>Klik om de titelstijl van het model te bewerken</a:t>
            </a:r>
          </a:p>
        </p:txBody>
      </p:sp>
      <p:pic>
        <p:nvPicPr>
          <p:cNvPr id="6" name="Afbeelding 6" descr="UM40_RGB_B_diap.png"/>
          <p:cNvPicPr>
            <a:picLocks noChangeAspect="1"/>
          </p:cNvPicPr>
          <p:nvPr userDrawn="1"/>
        </p:nvPicPr>
        <p:blipFill rotWithShape="1">
          <a:blip r:embed="rId3">
            <a:extLst>
              <a:ext uri="{28A0092B-C50C-407E-A947-70E740481C1C}">
                <a14:useLocalDpi xmlns:a14="http://schemas.microsoft.com/office/drawing/2010/main" val="0"/>
              </a:ext>
            </a:extLst>
          </a:blip>
          <a:srcRect r="20321"/>
          <a:stretch/>
        </p:blipFill>
        <p:spPr>
          <a:xfrm>
            <a:off x="480001" y="6174000"/>
            <a:ext cx="2120851" cy="509137"/>
          </a:xfrm>
          <a:prstGeom prst="rect">
            <a:avLst/>
          </a:prstGeom>
        </p:spPr>
      </p:pic>
      <p:pic>
        <p:nvPicPr>
          <p:cNvPr id="7" name="Picture 6"/>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2698661" y="6333298"/>
            <a:ext cx="3888000" cy="190537"/>
          </a:xfrm>
          <a:prstGeom prst="rect">
            <a:avLst/>
          </a:prstGeom>
        </p:spPr>
      </p:pic>
    </p:spTree>
    <p:extLst>
      <p:ext uri="{BB962C8B-B14F-4D97-AF65-F5344CB8AC3E}">
        <p14:creationId xmlns:p14="http://schemas.microsoft.com/office/powerpoint/2010/main" val="46141793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itle" preserve="1">
  <p:cSld name="Title slide photo Randwijck">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el 1"/>
          <p:cNvSpPr>
            <a:spLocks noGrp="1"/>
          </p:cNvSpPr>
          <p:nvPr>
            <p:ph type="ctrTitle"/>
          </p:nvPr>
        </p:nvSpPr>
        <p:spPr>
          <a:xfrm>
            <a:off x="752783" y="253136"/>
            <a:ext cx="9836193" cy="2205259"/>
          </a:xfrm>
        </p:spPr>
        <p:txBody>
          <a:bodyPr>
            <a:noAutofit/>
          </a:bodyPr>
          <a:lstStyle>
            <a:lvl1pPr>
              <a:defRPr sz="7200">
                <a:solidFill>
                  <a:srgbClr val="001A3B"/>
                </a:solidFill>
              </a:defRPr>
            </a:lvl1pPr>
          </a:lstStyle>
          <a:p>
            <a:r>
              <a:rPr lang="nl-NL" dirty="0"/>
              <a:t>Titelstijl van model bewerken</a:t>
            </a:r>
          </a:p>
        </p:txBody>
      </p:sp>
      <p:sp>
        <p:nvSpPr>
          <p:cNvPr id="3" name="Subtitel 2"/>
          <p:cNvSpPr>
            <a:spLocks noGrp="1"/>
          </p:cNvSpPr>
          <p:nvPr>
            <p:ph type="subTitle" idx="1"/>
          </p:nvPr>
        </p:nvSpPr>
        <p:spPr>
          <a:xfrm>
            <a:off x="752784" y="2439519"/>
            <a:ext cx="5595491" cy="1752600"/>
          </a:xfrm>
        </p:spPr>
        <p:txBody>
          <a:bodyPr/>
          <a:lstStyle>
            <a:lvl1pPr marL="0" indent="0" algn="l">
              <a:buNone/>
              <a:defRPr sz="2667">
                <a:solidFill>
                  <a:srgbClr val="001A3B"/>
                </a:solidFill>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nl-NL" dirty="0"/>
              <a:t>Klik om de titelstijl van het model te bewerken</a:t>
            </a:r>
          </a:p>
        </p:txBody>
      </p:sp>
      <p:pic>
        <p:nvPicPr>
          <p:cNvPr id="6" name="Afbeelding 10" descr="UM40_RGB_B_blauw.png"/>
          <p:cNvPicPr>
            <a:picLocks noChangeAspect="1"/>
          </p:cNvPicPr>
          <p:nvPr userDrawn="1"/>
        </p:nvPicPr>
        <p:blipFill rotWithShape="1">
          <a:blip r:embed="rId3">
            <a:extLst>
              <a:ext uri="{28A0092B-C50C-407E-A947-70E740481C1C}">
                <a14:useLocalDpi xmlns:a14="http://schemas.microsoft.com/office/drawing/2010/main" val="0"/>
              </a:ext>
            </a:extLst>
          </a:blip>
          <a:srcRect r="20321"/>
          <a:stretch/>
        </p:blipFill>
        <p:spPr>
          <a:xfrm>
            <a:off x="480001" y="6174002"/>
            <a:ext cx="2120851" cy="509137"/>
          </a:xfrm>
          <a:prstGeom prst="rect">
            <a:avLst/>
          </a:prstGeom>
        </p:spPr>
      </p:pic>
      <p:pic>
        <p:nvPicPr>
          <p:cNvPr id="8" name="Picture 7"/>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2698661" y="6333298"/>
            <a:ext cx="3888000" cy="190537"/>
          </a:xfrm>
          <a:prstGeom prst="rect">
            <a:avLst/>
          </a:prstGeom>
        </p:spPr>
      </p:pic>
    </p:spTree>
    <p:extLst>
      <p:ext uri="{BB962C8B-B14F-4D97-AF65-F5344CB8AC3E}">
        <p14:creationId xmlns:p14="http://schemas.microsoft.com/office/powerpoint/2010/main" val="317599536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 preserve="1">
  <p:cSld name="1_Title slide photo Randwijck">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el 1"/>
          <p:cNvSpPr>
            <a:spLocks noGrp="1"/>
          </p:cNvSpPr>
          <p:nvPr>
            <p:ph type="ctrTitle"/>
          </p:nvPr>
        </p:nvSpPr>
        <p:spPr>
          <a:xfrm>
            <a:off x="752783" y="253136"/>
            <a:ext cx="9836193" cy="2205259"/>
          </a:xfrm>
        </p:spPr>
        <p:txBody>
          <a:bodyPr>
            <a:noAutofit/>
          </a:bodyPr>
          <a:lstStyle>
            <a:lvl1pPr>
              <a:defRPr sz="7200">
                <a:solidFill>
                  <a:srgbClr val="001A3B"/>
                </a:solidFill>
              </a:defRPr>
            </a:lvl1pPr>
          </a:lstStyle>
          <a:p>
            <a:r>
              <a:rPr lang="nl-NL" dirty="0"/>
              <a:t>Titelstijl van model bewerken</a:t>
            </a:r>
          </a:p>
        </p:txBody>
      </p:sp>
      <p:sp>
        <p:nvSpPr>
          <p:cNvPr id="3" name="Subtitel 2"/>
          <p:cNvSpPr>
            <a:spLocks noGrp="1"/>
          </p:cNvSpPr>
          <p:nvPr>
            <p:ph type="subTitle" idx="1"/>
          </p:nvPr>
        </p:nvSpPr>
        <p:spPr>
          <a:xfrm>
            <a:off x="752784" y="2439519"/>
            <a:ext cx="5595491" cy="1752600"/>
          </a:xfrm>
        </p:spPr>
        <p:txBody>
          <a:bodyPr/>
          <a:lstStyle>
            <a:lvl1pPr marL="0" indent="0" algn="l">
              <a:buNone/>
              <a:defRPr sz="2667">
                <a:solidFill>
                  <a:srgbClr val="001A3B"/>
                </a:solidFill>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nl-NL" dirty="0"/>
              <a:t>Klik om de titelstijl van het model te bewerken</a:t>
            </a:r>
          </a:p>
        </p:txBody>
      </p:sp>
      <p:pic>
        <p:nvPicPr>
          <p:cNvPr id="6" name="Afbeelding 10" descr="UM40_RGB_B_blauw.png"/>
          <p:cNvPicPr>
            <a:picLocks noChangeAspect="1"/>
          </p:cNvPicPr>
          <p:nvPr userDrawn="1"/>
        </p:nvPicPr>
        <p:blipFill rotWithShape="1">
          <a:blip r:embed="rId3">
            <a:extLst>
              <a:ext uri="{28A0092B-C50C-407E-A947-70E740481C1C}">
                <a14:useLocalDpi xmlns:a14="http://schemas.microsoft.com/office/drawing/2010/main" val="0"/>
              </a:ext>
            </a:extLst>
          </a:blip>
          <a:srcRect r="20321"/>
          <a:stretch/>
        </p:blipFill>
        <p:spPr>
          <a:xfrm>
            <a:off x="480001" y="6174002"/>
            <a:ext cx="2120851" cy="509137"/>
          </a:xfrm>
          <a:prstGeom prst="rect">
            <a:avLst/>
          </a:prstGeom>
        </p:spPr>
      </p:pic>
      <p:pic>
        <p:nvPicPr>
          <p:cNvPr id="8" name="Picture 7"/>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2698661" y="6333298"/>
            <a:ext cx="3888000" cy="190537"/>
          </a:xfrm>
          <a:prstGeom prst="rect">
            <a:avLst/>
          </a:prstGeom>
        </p:spPr>
      </p:pic>
    </p:spTree>
    <p:extLst>
      <p:ext uri="{BB962C8B-B14F-4D97-AF65-F5344CB8AC3E}">
        <p14:creationId xmlns:p14="http://schemas.microsoft.com/office/powerpoint/2010/main" val="156412590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itle slide dark blue">
    <p:bg>
      <p:bgPr>
        <a:solidFill>
          <a:schemeClr val="tx1"/>
        </a:solidFill>
        <a:effectLst/>
      </p:bgPr>
    </p:bg>
    <p:spTree>
      <p:nvGrpSpPr>
        <p:cNvPr id="1" name=""/>
        <p:cNvGrpSpPr/>
        <p:nvPr/>
      </p:nvGrpSpPr>
      <p:grpSpPr>
        <a:xfrm>
          <a:off x="0" y="0"/>
          <a:ext cx="0" cy="0"/>
          <a:chOff x="0" y="0"/>
          <a:chExt cx="0" cy="0"/>
        </a:xfrm>
      </p:grpSpPr>
      <p:pic>
        <p:nvPicPr>
          <p:cNvPr id="9" name="Afbeelding 8" descr="UM40_RGB_B_diap.png"/>
          <p:cNvPicPr>
            <a:picLocks noChangeAspect="1"/>
          </p:cNvPicPr>
          <p:nvPr userDrawn="1"/>
        </p:nvPicPr>
        <p:blipFill rotWithShape="1">
          <a:blip r:embed="rId2">
            <a:extLst>
              <a:ext uri="{28A0092B-C50C-407E-A947-70E740481C1C}">
                <a14:useLocalDpi xmlns:a14="http://schemas.microsoft.com/office/drawing/2010/main" val="0"/>
              </a:ext>
            </a:extLst>
          </a:blip>
          <a:srcRect r="20321"/>
          <a:stretch/>
        </p:blipFill>
        <p:spPr>
          <a:xfrm>
            <a:off x="480001" y="6174000"/>
            <a:ext cx="2120851" cy="509137"/>
          </a:xfrm>
          <a:prstGeom prst="rect">
            <a:avLst/>
          </a:prstGeom>
        </p:spPr>
      </p:pic>
      <p:sp>
        <p:nvSpPr>
          <p:cNvPr id="6" name="Titel 1"/>
          <p:cNvSpPr>
            <a:spLocks noGrp="1"/>
          </p:cNvSpPr>
          <p:nvPr>
            <p:ph type="ctrTitle"/>
          </p:nvPr>
        </p:nvSpPr>
        <p:spPr>
          <a:xfrm>
            <a:off x="752784" y="253136"/>
            <a:ext cx="8797789" cy="2205259"/>
          </a:xfrm>
        </p:spPr>
        <p:txBody>
          <a:bodyPr>
            <a:noAutofit/>
          </a:bodyPr>
          <a:lstStyle>
            <a:lvl1pPr>
              <a:defRPr sz="7200">
                <a:solidFill>
                  <a:srgbClr val="FFFFFF"/>
                </a:solidFill>
              </a:defRPr>
            </a:lvl1pPr>
          </a:lstStyle>
          <a:p>
            <a:r>
              <a:rPr lang="nl-NL" dirty="0"/>
              <a:t>Titelstijl van model bewerken</a:t>
            </a:r>
          </a:p>
        </p:txBody>
      </p:sp>
      <p:sp>
        <p:nvSpPr>
          <p:cNvPr id="7" name="Subtitel 2"/>
          <p:cNvSpPr>
            <a:spLocks noGrp="1"/>
          </p:cNvSpPr>
          <p:nvPr>
            <p:ph type="subTitle" idx="1"/>
          </p:nvPr>
        </p:nvSpPr>
        <p:spPr>
          <a:xfrm>
            <a:off x="752784" y="2439519"/>
            <a:ext cx="5595491" cy="1752600"/>
          </a:xfrm>
        </p:spPr>
        <p:txBody>
          <a:bodyPr/>
          <a:lstStyle>
            <a:lvl1pPr marL="0" indent="0" algn="l">
              <a:buNone/>
              <a:defRPr sz="2667">
                <a:solidFill>
                  <a:srgbClr val="FFFFFF"/>
                </a:solidFill>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nl-NL" dirty="0"/>
              <a:t>Klik om de titelstijl van het model te bewerken</a:t>
            </a:r>
          </a:p>
        </p:txBody>
      </p:sp>
      <p:pic>
        <p:nvPicPr>
          <p:cNvPr id="5" name="Picture 4"/>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2698661" y="6333298"/>
            <a:ext cx="3888000" cy="190537"/>
          </a:xfrm>
          <a:prstGeom prst="rect">
            <a:avLst/>
          </a:prstGeom>
        </p:spPr>
      </p:pic>
    </p:spTree>
    <p:extLst>
      <p:ext uri="{BB962C8B-B14F-4D97-AF65-F5344CB8AC3E}">
        <p14:creationId xmlns:p14="http://schemas.microsoft.com/office/powerpoint/2010/main" val="29319418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1_Title slide dark blue">
    <p:bg>
      <p:bgPr>
        <a:solidFill>
          <a:schemeClr val="tx1"/>
        </a:solidFill>
        <a:effectLst/>
      </p:bgPr>
    </p:bg>
    <p:spTree>
      <p:nvGrpSpPr>
        <p:cNvPr id="1" name=""/>
        <p:cNvGrpSpPr/>
        <p:nvPr/>
      </p:nvGrpSpPr>
      <p:grpSpPr>
        <a:xfrm>
          <a:off x="0" y="0"/>
          <a:ext cx="0" cy="0"/>
          <a:chOff x="0" y="0"/>
          <a:chExt cx="0" cy="0"/>
        </a:xfrm>
      </p:grpSpPr>
      <p:pic>
        <p:nvPicPr>
          <p:cNvPr id="9" name="Afbeelding 8" descr="UM40_RGB_B_diap.png"/>
          <p:cNvPicPr>
            <a:picLocks noChangeAspect="1"/>
          </p:cNvPicPr>
          <p:nvPr userDrawn="1"/>
        </p:nvPicPr>
        <p:blipFill rotWithShape="1">
          <a:blip r:embed="rId2">
            <a:extLst>
              <a:ext uri="{28A0092B-C50C-407E-A947-70E740481C1C}">
                <a14:useLocalDpi xmlns:a14="http://schemas.microsoft.com/office/drawing/2010/main" val="0"/>
              </a:ext>
            </a:extLst>
          </a:blip>
          <a:srcRect r="20321"/>
          <a:stretch/>
        </p:blipFill>
        <p:spPr>
          <a:xfrm>
            <a:off x="480001" y="6174000"/>
            <a:ext cx="2120851" cy="509137"/>
          </a:xfrm>
          <a:prstGeom prst="rect">
            <a:avLst/>
          </a:prstGeom>
        </p:spPr>
      </p:pic>
      <p:sp>
        <p:nvSpPr>
          <p:cNvPr id="6" name="Titel 1"/>
          <p:cNvSpPr>
            <a:spLocks noGrp="1"/>
          </p:cNvSpPr>
          <p:nvPr>
            <p:ph type="ctrTitle"/>
          </p:nvPr>
        </p:nvSpPr>
        <p:spPr>
          <a:xfrm>
            <a:off x="752784" y="253136"/>
            <a:ext cx="8797789" cy="2205259"/>
          </a:xfrm>
        </p:spPr>
        <p:txBody>
          <a:bodyPr>
            <a:noAutofit/>
          </a:bodyPr>
          <a:lstStyle>
            <a:lvl1pPr>
              <a:defRPr sz="7200">
                <a:solidFill>
                  <a:srgbClr val="FFFFFF"/>
                </a:solidFill>
              </a:defRPr>
            </a:lvl1pPr>
          </a:lstStyle>
          <a:p>
            <a:r>
              <a:rPr lang="nl-NL" dirty="0"/>
              <a:t>Titelstijl van model bewerken</a:t>
            </a:r>
          </a:p>
        </p:txBody>
      </p:sp>
      <p:sp>
        <p:nvSpPr>
          <p:cNvPr id="7" name="Subtitel 2"/>
          <p:cNvSpPr>
            <a:spLocks noGrp="1"/>
          </p:cNvSpPr>
          <p:nvPr>
            <p:ph type="subTitle" idx="1"/>
          </p:nvPr>
        </p:nvSpPr>
        <p:spPr>
          <a:xfrm>
            <a:off x="752784" y="2439519"/>
            <a:ext cx="5595491" cy="1752600"/>
          </a:xfrm>
        </p:spPr>
        <p:txBody>
          <a:bodyPr/>
          <a:lstStyle>
            <a:lvl1pPr marL="0" indent="0" algn="l">
              <a:buNone/>
              <a:defRPr sz="2667">
                <a:solidFill>
                  <a:srgbClr val="FFFFFF"/>
                </a:solidFill>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nl-NL" dirty="0"/>
              <a:t>Klik om de titelstijl van het model te bewerken</a:t>
            </a:r>
          </a:p>
        </p:txBody>
      </p:sp>
      <p:pic>
        <p:nvPicPr>
          <p:cNvPr id="5" name="Picture 4"/>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2698661" y="6333298"/>
            <a:ext cx="3888000" cy="190537"/>
          </a:xfrm>
          <a:prstGeom prst="rect">
            <a:avLst/>
          </a:prstGeom>
        </p:spPr>
      </p:pic>
      <p:pic>
        <p:nvPicPr>
          <p:cNvPr id="8" name="Picture 7"/>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6126929" y="3030584"/>
            <a:ext cx="6065071" cy="4020392"/>
          </a:xfrm>
          <a:prstGeom prst="rect">
            <a:avLst/>
          </a:prstGeom>
        </p:spPr>
      </p:pic>
    </p:spTree>
    <p:extLst>
      <p:ext uri="{BB962C8B-B14F-4D97-AF65-F5344CB8AC3E}">
        <p14:creationId xmlns:p14="http://schemas.microsoft.com/office/powerpoint/2010/main" val="225570528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itle slide orange">
    <p:bg>
      <p:bgPr>
        <a:solidFill>
          <a:schemeClr val="accent1"/>
        </a:solidFill>
        <a:effectLst/>
      </p:bgPr>
    </p:bg>
    <p:spTree>
      <p:nvGrpSpPr>
        <p:cNvPr id="1" name=""/>
        <p:cNvGrpSpPr/>
        <p:nvPr/>
      </p:nvGrpSpPr>
      <p:grpSpPr>
        <a:xfrm>
          <a:off x="0" y="0"/>
          <a:ext cx="0" cy="0"/>
          <a:chOff x="0" y="0"/>
          <a:chExt cx="0" cy="0"/>
        </a:xfrm>
      </p:grpSpPr>
      <p:pic>
        <p:nvPicPr>
          <p:cNvPr id="6" name="Afbeelding 5" descr="UM40_RGB_B_diap.png"/>
          <p:cNvPicPr>
            <a:picLocks noChangeAspect="1"/>
          </p:cNvPicPr>
          <p:nvPr userDrawn="1"/>
        </p:nvPicPr>
        <p:blipFill rotWithShape="1">
          <a:blip r:embed="rId2">
            <a:extLst>
              <a:ext uri="{28A0092B-C50C-407E-A947-70E740481C1C}">
                <a14:useLocalDpi xmlns:a14="http://schemas.microsoft.com/office/drawing/2010/main" val="0"/>
              </a:ext>
            </a:extLst>
          </a:blip>
          <a:srcRect r="20930"/>
          <a:stretch/>
        </p:blipFill>
        <p:spPr>
          <a:xfrm>
            <a:off x="480001" y="6174000"/>
            <a:ext cx="2104645" cy="509137"/>
          </a:xfrm>
          <a:prstGeom prst="rect">
            <a:avLst/>
          </a:prstGeom>
        </p:spPr>
      </p:pic>
      <p:sp>
        <p:nvSpPr>
          <p:cNvPr id="7" name="Titel 1"/>
          <p:cNvSpPr>
            <a:spLocks noGrp="1"/>
          </p:cNvSpPr>
          <p:nvPr>
            <p:ph type="ctrTitle"/>
          </p:nvPr>
        </p:nvSpPr>
        <p:spPr>
          <a:xfrm>
            <a:off x="752784" y="253136"/>
            <a:ext cx="8797789" cy="2205259"/>
          </a:xfrm>
        </p:spPr>
        <p:txBody>
          <a:bodyPr>
            <a:noAutofit/>
          </a:bodyPr>
          <a:lstStyle>
            <a:lvl1pPr>
              <a:defRPr sz="7200">
                <a:solidFill>
                  <a:srgbClr val="FFFFFF"/>
                </a:solidFill>
              </a:defRPr>
            </a:lvl1pPr>
          </a:lstStyle>
          <a:p>
            <a:r>
              <a:rPr lang="nl-NL" dirty="0"/>
              <a:t>Titelstijl van model bewerken</a:t>
            </a:r>
          </a:p>
        </p:txBody>
      </p:sp>
      <p:sp>
        <p:nvSpPr>
          <p:cNvPr id="8" name="Subtitel 2"/>
          <p:cNvSpPr>
            <a:spLocks noGrp="1"/>
          </p:cNvSpPr>
          <p:nvPr>
            <p:ph type="subTitle" idx="1"/>
          </p:nvPr>
        </p:nvSpPr>
        <p:spPr>
          <a:xfrm>
            <a:off x="752784" y="2439519"/>
            <a:ext cx="5595491" cy="1752600"/>
          </a:xfrm>
        </p:spPr>
        <p:txBody>
          <a:bodyPr/>
          <a:lstStyle>
            <a:lvl1pPr marL="0" indent="0" algn="l">
              <a:buNone/>
              <a:defRPr sz="2667">
                <a:solidFill>
                  <a:srgbClr val="FFFFFF"/>
                </a:solidFill>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nl-NL" dirty="0"/>
              <a:t>Klik om de titelstijl van het model te bewerken</a:t>
            </a:r>
          </a:p>
        </p:txBody>
      </p:sp>
      <p:pic>
        <p:nvPicPr>
          <p:cNvPr id="5" name="Picture 4"/>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2698661" y="6333298"/>
            <a:ext cx="3888000" cy="190537"/>
          </a:xfrm>
          <a:prstGeom prst="rect">
            <a:avLst/>
          </a:prstGeom>
        </p:spPr>
      </p:pic>
    </p:spTree>
    <p:extLst>
      <p:ext uri="{BB962C8B-B14F-4D97-AF65-F5344CB8AC3E}">
        <p14:creationId xmlns:p14="http://schemas.microsoft.com/office/powerpoint/2010/main" val="244155789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1_Title slide orange">
    <p:bg>
      <p:bgPr>
        <a:solidFill>
          <a:schemeClr val="accent1"/>
        </a:solidFill>
        <a:effectLst/>
      </p:bgPr>
    </p:bg>
    <p:spTree>
      <p:nvGrpSpPr>
        <p:cNvPr id="1" name=""/>
        <p:cNvGrpSpPr/>
        <p:nvPr/>
      </p:nvGrpSpPr>
      <p:grpSpPr>
        <a:xfrm>
          <a:off x="0" y="0"/>
          <a:ext cx="0" cy="0"/>
          <a:chOff x="0" y="0"/>
          <a:chExt cx="0" cy="0"/>
        </a:xfrm>
      </p:grpSpPr>
      <p:pic>
        <p:nvPicPr>
          <p:cNvPr id="6" name="Afbeelding 5" descr="UM40_RGB_B_diap.png"/>
          <p:cNvPicPr>
            <a:picLocks noChangeAspect="1"/>
          </p:cNvPicPr>
          <p:nvPr userDrawn="1"/>
        </p:nvPicPr>
        <p:blipFill rotWithShape="1">
          <a:blip r:embed="rId2">
            <a:extLst>
              <a:ext uri="{28A0092B-C50C-407E-A947-70E740481C1C}">
                <a14:useLocalDpi xmlns:a14="http://schemas.microsoft.com/office/drawing/2010/main" val="0"/>
              </a:ext>
            </a:extLst>
          </a:blip>
          <a:srcRect r="20930"/>
          <a:stretch/>
        </p:blipFill>
        <p:spPr>
          <a:xfrm>
            <a:off x="480001" y="6174000"/>
            <a:ext cx="2104645" cy="509137"/>
          </a:xfrm>
          <a:prstGeom prst="rect">
            <a:avLst/>
          </a:prstGeom>
        </p:spPr>
      </p:pic>
      <p:sp>
        <p:nvSpPr>
          <p:cNvPr id="7" name="Titel 1"/>
          <p:cNvSpPr>
            <a:spLocks noGrp="1"/>
          </p:cNvSpPr>
          <p:nvPr>
            <p:ph type="ctrTitle"/>
          </p:nvPr>
        </p:nvSpPr>
        <p:spPr>
          <a:xfrm>
            <a:off x="752784" y="253136"/>
            <a:ext cx="8797789" cy="2205259"/>
          </a:xfrm>
        </p:spPr>
        <p:txBody>
          <a:bodyPr>
            <a:noAutofit/>
          </a:bodyPr>
          <a:lstStyle>
            <a:lvl1pPr>
              <a:defRPr sz="7200">
                <a:solidFill>
                  <a:srgbClr val="FFFFFF"/>
                </a:solidFill>
              </a:defRPr>
            </a:lvl1pPr>
          </a:lstStyle>
          <a:p>
            <a:r>
              <a:rPr lang="nl-NL" dirty="0"/>
              <a:t>Titelstijl van model bewerken</a:t>
            </a:r>
          </a:p>
        </p:txBody>
      </p:sp>
      <p:sp>
        <p:nvSpPr>
          <p:cNvPr id="8" name="Subtitel 2"/>
          <p:cNvSpPr>
            <a:spLocks noGrp="1"/>
          </p:cNvSpPr>
          <p:nvPr>
            <p:ph type="subTitle" idx="1"/>
          </p:nvPr>
        </p:nvSpPr>
        <p:spPr>
          <a:xfrm>
            <a:off x="752784" y="2439519"/>
            <a:ext cx="5595491" cy="1752600"/>
          </a:xfrm>
        </p:spPr>
        <p:txBody>
          <a:bodyPr/>
          <a:lstStyle>
            <a:lvl1pPr marL="0" indent="0" algn="l">
              <a:buNone/>
              <a:defRPr sz="2667">
                <a:solidFill>
                  <a:srgbClr val="FFFFFF"/>
                </a:solidFill>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nl-NL" dirty="0"/>
              <a:t>Klik om de titelstijl van het model te bewerken</a:t>
            </a:r>
          </a:p>
        </p:txBody>
      </p:sp>
      <p:pic>
        <p:nvPicPr>
          <p:cNvPr id="5" name="Picture 4"/>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2698661" y="6333298"/>
            <a:ext cx="3888000" cy="190537"/>
          </a:xfrm>
          <a:prstGeom prst="rect">
            <a:avLst/>
          </a:prstGeom>
        </p:spPr>
      </p:pic>
      <p:pic>
        <p:nvPicPr>
          <p:cNvPr id="9" name="Picture 8"/>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6126928" y="3030584"/>
            <a:ext cx="6065072" cy="4020392"/>
          </a:xfrm>
          <a:prstGeom prst="rect">
            <a:avLst/>
          </a:prstGeom>
        </p:spPr>
      </p:pic>
    </p:spTree>
    <p:extLst>
      <p:ext uri="{BB962C8B-B14F-4D97-AF65-F5344CB8AC3E}">
        <p14:creationId xmlns:p14="http://schemas.microsoft.com/office/powerpoint/2010/main" val="4051327241"/>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obj" preserve="1">
  <p:cSld name="Text slide">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nl-NL"/>
              <a:t>Titelstijl van model bewerken</a:t>
            </a:r>
          </a:p>
        </p:txBody>
      </p:sp>
      <p:sp>
        <p:nvSpPr>
          <p:cNvPr id="3" name="Tijdelijke aanduiding voor inhoud 2"/>
          <p:cNvSpPr>
            <a:spLocks noGrp="1"/>
          </p:cNvSpPr>
          <p:nvPr>
            <p:ph idx="1"/>
          </p:nvPr>
        </p:nvSpPr>
        <p:spPr/>
        <p:txBody>
          <a:bodyPr/>
          <a:lstStyle/>
          <a:p>
            <a:pPr lvl="0"/>
            <a:r>
              <a:rPr lang="nl-NL" dirty="0"/>
              <a:t>Klik om de tekststijl van het model te bewerken</a:t>
            </a:r>
          </a:p>
          <a:p>
            <a:pPr lvl="1"/>
            <a:r>
              <a:rPr lang="nl-NL" dirty="0"/>
              <a:t>Tweede niveau</a:t>
            </a:r>
          </a:p>
          <a:p>
            <a:pPr lvl="2"/>
            <a:r>
              <a:rPr lang="nl-NL" dirty="0"/>
              <a:t>Derde niveau</a:t>
            </a:r>
          </a:p>
          <a:p>
            <a:pPr lvl="3"/>
            <a:r>
              <a:rPr lang="nl-NL" dirty="0"/>
              <a:t>Vierde niveau</a:t>
            </a:r>
          </a:p>
          <a:p>
            <a:pPr lvl="4"/>
            <a:r>
              <a:rPr lang="nl-NL" dirty="0"/>
              <a:t>Vijfde niveau</a:t>
            </a:r>
          </a:p>
        </p:txBody>
      </p:sp>
      <p:sp>
        <p:nvSpPr>
          <p:cNvPr id="6" name="Tijdelijke aanduiding voor dianummer 5"/>
          <p:cNvSpPr>
            <a:spLocks noGrp="1"/>
          </p:cNvSpPr>
          <p:nvPr>
            <p:ph type="sldNum" sz="quarter" idx="12"/>
          </p:nvPr>
        </p:nvSpPr>
        <p:spPr/>
        <p:txBody>
          <a:bodyPr/>
          <a:lstStyle/>
          <a:p>
            <a:fld id="{09B7AD4A-C94A-7B42-9E17-606C7F366C4B}" type="slidenum">
              <a:rPr lang="nl-NL" smtClean="0"/>
              <a:t>‹#›</a:t>
            </a:fld>
            <a:endParaRPr lang="nl-NL"/>
          </a:p>
        </p:txBody>
      </p:sp>
      <p:pic>
        <p:nvPicPr>
          <p:cNvPr id="7" name="Afbeelding 6"/>
          <p:cNvPicPr>
            <a:picLocks noChangeAspect="1"/>
          </p:cNvPicPr>
          <p:nvPr userDrawn="1"/>
        </p:nvPicPr>
        <p:blipFill rotWithShape="1">
          <a:blip r:embed="rId2"/>
          <a:srcRect r="19769"/>
          <a:stretch/>
        </p:blipFill>
        <p:spPr>
          <a:xfrm>
            <a:off x="480001" y="6173621"/>
            <a:ext cx="2137056" cy="506307"/>
          </a:xfrm>
          <a:prstGeom prst="rect">
            <a:avLst/>
          </a:prstGeom>
        </p:spPr>
      </p:pic>
      <p:pic>
        <p:nvPicPr>
          <p:cNvPr id="8" name="Picture 7"/>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2698661" y="6333298"/>
            <a:ext cx="3888000" cy="190537"/>
          </a:xfrm>
          <a:prstGeom prst="rect">
            <a:avLst/>
          </a:prstGeom>
        </p:spPr>
      </p:pic>
      <p:sp>
        <p:nvSpPr>
          <p:cNvPr id="9" name="Tijdelijke aanduiding voor datum 3"/>
          <p:cNvSpPr>
            <a:spLocks noGrp="1"/>
          </p:cNvSpPr>
          <p:nvPr>
            <p:ph type="dt" sz="half" idx="10"/>
          </p:nvPr>
        </p:nvSpPr>
        <p:spPr>
          <a:xfrm>
            <a:off x="9781607" y="6314803"/>
            <a:ext cx="1219287" cy="365125"/>
          </a:xfrm>
        </p:spPr>
        <p:txBody>
          <a:bodyPr/>
          <a:lstStyle/>
          <a:p>
            <a:endParaRPr lang="nl-NL" dirty="0"/>
          </a:p>
        </p:txBody>
      </p:sp>
    </p:spTree>
    <p:extLst>
      <p:ext uri="{BB962C8B-B14F-4D97-AF65-F5344CB8AC3E}">
        <p14:creationId xmlns:p14="http://schemas.microsoft.com/office/powerpoint/2010/main" val="3999610877"/>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obj" preserve="1">
  <p:cSld name="Text slide dark blue">
    <p:bg>
      <p:bgPr>
        <a:solidFill>
          <a:schemeClr val="accent3"/>
        </a:solidFill>
        <a:effectLst/>
      </p:bgPr>
    </p:bg>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nl-NL"/>
              <a:t>Titelstijl van model bewerken</a:t>
            </a:r>
          </a:p>
        </p:txBody>
      </p:sp>
      <p:sp>
        <p:nvSpPr>
          <p:cNvPr id="3" name="Tijdelijke aanduiding voor inhoud 2"/>
          <p:cNvSpPr>
            <a:spLocks noGrp="1"/>
          </p:cNvSpPr>
          <p:nvPr>
            <p:ph idx="1"/>
          </p:nvPr>
        </p:nvSpPr>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nl-NL" dirty="0"/>
              <a:t>Klik om de tekststijl van het model te bewerken</a:t>
            </a:r>
          </a:p>
          <a:p>
            <a:pPr lvl="1"/>
            <a:r>
              <a:rPr lang="nl-NL" dirty="0"/>
              <a:t>Tweede niveau</a:t>
            </a:r>
          </a:p>
          <a:p>
            <a:pPr lvl="2"/>
            <a:r>
              <a:rPr lang="nl-NL" dirty="0"/>
              <a:t>Derde niveau</a:t>
            </a:r>
          </a:p>
          <a:p>
            <a:pPr lvl="3"/>
            <a:r>
              <a:rPr lang="nl-NL" dirty="0"/>
              <a:t>Vierde niveau</a:t>
            </a:r>
          </a:p>
          <a:p>
            <a:pPr lvl="4"/>
            <a:r>
              <a:rPr lang="nl-NL" dirty="0"/>
              <a:t>Vijfde niveau</a:t>
            </a:r>
          </a:p>
        </p:txBody>
      </p:sp>
      <p:sp>
        <p:nvSpPr>
          <p:cNvPr id="6" name="Tijdelijke aanduiding voor dianummer 5"/>
          <p:cNvSpPr>
            <a:spLocks noGrp="1"/>
          </p:cNvSpPr>
          <p:nvPr>
            <p:ph type="sldNum" sz="quarter" idx="12"/>
          </p:nvPr>
        </p:nvSpPr>
        <p:spPr/>
        <p:txBody>
          <a:bodyPr/>
          <a:lstStyle>
            <a:lvl1pPr>
              <a:defRPr>
                <a:solidFill>
                  <a:srgbClr val="FFFFFF"/>
                </a:solidFill>
              </a:defRPr>
            </a:lvl1pPr>
          </a:lstStyle>
          <a:p>
            <a:fld id="{09B7AD4A-C94A-7B42-9E17-606C7F366C4B}" type="slidenum">
              <a:rPr lang="nl-NL" smtClean="0"/>
              <a:pPr/>
              <a:t>‹#›</a:t>
            </a:fld>
            <a:endParaRPr lang="nl-NL"/>
          </a:p>
        </p:txBody>
      </p:sp>
      <p:pic>
        <p:nvPicPr>
          <p:cNvPr id="10" name="Afbeelding 9" descr="UM40_RGB_B_diap.png"/>
          <p:cNvPicPr>
            <a:picLocks noChangeAspect="1"/>
          </p:cNvPicPr>
          <p:nvPr userDrawn="1"/>
        </p:nvPicPr>
        <p:blipFill rotWithShape="1">
          <a:blip r:embed="rId2">
            <a:extLst>
              <a:ext uri="{28A0092B-C50C-407E-A947-70E740481C1C}">
                <a14:useLocalDpi xmlns:a14="http://schemas.microsoft.com/office/drawing/2010/main" val="0"/>
              </a:ext>
            </a:extLst>
          </a:blip>
          <a:srcRect r="21235"/>
          <a:stretch/>
        </p:blipFill>
        <p:spPr>
          <a:xfrm>
            <a:off x="480001" y="6174000"/>
            <a:ext cx="2096544" cy="509137"/>
          </a:xfrm>
          <a:prstGeom prst="rect">
            <a:avLst/>
          </a:prstGeom>
        </p:spPr>
      </p:pic>
      <p:pic>
        <p:nvPicPr>
          <p:cNvPr id="8" name="Picture 7"/>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2698661" y="6333298"/>
            <a:ext cx="3888000" cy="190537"/>
          </a:xfrm>
          <a:prstGeom prst="rect">
            <a:avLst/>
          </a:prstGeom>
        </p:spPr>
      </p:pic>
      <p:sp>
        <p:nvSpPr>
          <p:cNvPr id="7" name="Tijdelijke aanduiding voor datum 3"/>
          <p:cNvSpPr>
            <a:spLocks noGrp="1"/>
          </p:cNvSpPr>
          <p:nvPr>
            <p:ph type="dt" sz="half" idx="10"/>
          </p:nvPr>
        </p:nvSpPr>
        <p:spPr>
          <a:xfrm>
            <a:off x="9781607" y="6314803"/>
            <a:ext cx="1219287" cy="365125"/>
          </a:xfrm>
        </p:spPr>
        <p:txBody>
          <a:bodyPr/>
          <a:lstStyle>
            <a:lvl1pPr>
              <a:defRPr>
                <a:solidFill>
                  <a:schemeClr val="bg1"/>
                </a:solidFill>
              </a:defRPr>
            </a:lvl1pPr>
          </a:lstStyle>
          <a:p>
            <a:endParaRPr lang="nl-NL" dirty="0"/>
          </a:p>
        </p:txBody>
      </p:sp>
    </p:spTree>
    <p:extLst>
      <p:ext uri="{BB962C8B-B14F-4D97-AF65-F5344CB8AC3E}">
        <p14:creationId xmlns:p14="http://schemas.microsoft.com/office/powerpoint/2010/main" val="1931396020"/>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Text slide light blue">
    <p:bg>
      <p:bgPr>
        <a:solidFill>
          <a:schemeClr val="tx2"/>
        </a:solidFill>
        <a:effectLst/>
      </p:bgPr>
    </p:bg>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lvl1pPr>
              <a:defRPr>
                <a:solidFill>
                  <a:srgbClr val="FFFFFF"/>
                </a:solidFill>
              </a:defRPr>
            </a:lvl1pPr>
          </a:lstStyle>
          <a:p>
            <a:r>
              <a:rPr lang="nl-NL" dirty="0"/>
              <a:t>Titelstijl van model bewerken</a:t>
            </a:r>
          </a:p>
        </p:txBody>
      </p:sp>
      <p:sp>
        <p:nvSpPr>
          <p:cNvPr id="3" name="Tijdelijke aanduiding voor inhoud 2"/>
          <p:cNvSpPr>
            <a:spLocks noGrp="1"/>
          </p:cNvSpPr>
          <p:nvPr>
            <p:ph idx="1"/>
          </p:nvPr>
        </p:nvSpPr>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nl-NL" dirty="0"/>
              <a:t>Klik om de tekststijl van het model te bewerken</a:t>
            </a:r>
          </a:p>
          <a:p>
            <a:pPr lvl="1"/>
            <a:r>
              <a:rPr lang="nl-NL" dirty="0"/>
              <a:t>Tweede niveau</a:t>
            </a:r>
          </a:p>
          <a:p>
            <a:pPr lvl="2"/>
            <a:r>
              <a:rPr lang="nl-NL" dirty="0"/>
              <a:t>Derde niveau</a:t>
            </a:r>
          </a:p>
          <a:p>
            <a:pPr lvl="3"/>
            <a:r>
              <a:rPr lang="nl-NL" dirty="0"/>
              <a:t>Vierde niveau</a:t>
            </a:r>
          </a:p>
          <a:p>
            <a:pPr lvl="4"/>
            <a:r>
              <a:rPr lang="nl-NL" dirty="0"/>
              <a:t>Vijfde niveau</a:t>
            </a:r>
          </a:p>
        </p:txBody>
      </p:sp>
      <p:sp>
        <p:nvSpPr>
          <p:cNvPr id="6" name="Tijdelijke aanduiding voor dianummer 5"/>
          <p:cNvSpPr>
            <a:spLocks noGrp="1"/>
          </p:cNvSpPr>
          <p:nvPr>
            <p:ph type="sldNum" sz="quarter" idx="12"/>
          </p:nvPr>
        </p:nvSpPr>
        <p:spPr/>
        <p:txBody>
          <a:bodyPr/>
          <a:lstStyle>
            <a:lvl1pPr>
              <a:defRPr>
                <a:solidFill>
                  <a:srgbClr val="FFFFFF"/>
                </a:solidFill>
              </a:defRPr>
            </a:lvl1pPr>
          </a:lstStyle>
          <a:p>
            <a:fld id="{09B7AD4A-C94A-7B42-9E17-606C7F366C4B}" type="slidenum">
              <a:rPr lang="nl-NL" smtClean="0"/>
              <a:pPr/>
              <a:t>‹#›</a:t>
            </a:fld>
            <a:endParaRPr lang="nl-NL"/>
          </a:p>
        </p:txBody>
      </p:sp>
      <p:pic>
        <p:nvPicPr>
          <p:cNvPr id="10" name="Afbeelding 9" descr="UM40_RGB_B_blauw.png"/>
          <p:cNvPicPr>
            <a:picLocks noChangeAspect="1"/>
          </p:cNvPicPr>
          <p:nvPr userDrawn="1"/>
        </p:nvPicPr>
        <p:blipFill rotWithShape="1">
          <a:blip r:embed="rId2">
            <a:extLst>
              <a:ext uri="{28A0092B-C50C-407E-A947-70E740481C1C}">
                <a14:useLocalDpi xmlns:a14="http://schemas.microsoft.com/office/drawing/2010/main" val="0"/>
              </a:ext>
            </a:extLst>
          </a:blip>
          <a:srcRect r="20321"/>
          <a:stretch/>
        </p:blipFill>
        <p:spPr>
          <a:xfrm>
            <a:off x="480001" y="6174002"/>
            <a:ext cx="2120851" cy="509137"/>
          </a:xfrm>
          <a:prstGeom prst="rect">
            <a:avLst/>
          </a:prstGeom>
        </p:spPr>
      </p:pic>
      <p:pic>
        <p:nvPicPr>
          <p:cNvPr id="9" name="Picture 8"/>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2698661" y="6333298"/>
            <a:ext cx="3888000" cy="190537"/>
          </a:xfrm>
          <a:prstGeom prst="rect">
            <a:avLst/>
          </a:prstGeom>
        </p:spPr>
      </p:pic>
      <p:sp>
        <p:nvSpPr>
          <p:cNvPr id="7" name="Tijdelijke aanduiding voor datum 3"/>
          <p:cNvSpPr>
            <a:spLocks noGrp="1"/>
          </p:cNvSpPr>
          <p:nvPr>
            <p:ph type="dt" sz="half" idx="10"/>
          </p:nvPr>
        </p:nvSpPr>
        <p:spPr>
          <a:xfrm>
            <a:off x="9781607" y="6314803"/>
            <a:ext cx="1219287" cy="365125"/>
          </a:xfrm>
        </p:spPr>
        <p:txBody>
          <a:bodyPr/>
          <a:lstStyle>
            <a:lvl1pPr>
              <a:defRPr>
                <a:solidFill>
                  <a:schemeClr val="bg1"/>
                </a:solidFill>
              </a:defRPr>
            </a:lvl1pPr>
          </a:lstStyle>
          <a:p>
            <a:endParaRPr lang="nl-NL" dirty="0"/>
          </a:p>
        </p:txBody>
      </p:sp>
    </p:spTree>
    <p:extLst>
      <p:ext uri="{BB962C8B-B14F-4D97-AF65-F5344CB8AC3E}">
        <p14:creationId xmlns:p14="http://schemas.microsoft.com/office/powerpoint/2010/main" val="3403863866"/>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Text/photo slide">
    <p:spTree>
      <p:nvGrpSpPr>
        <p:cNvPr id="1" name=""/>
        <p:cNvGrpSpPr/>
        <p:nvPr/>
      </p:nvGrpSpPr>
      <p:grpSpPr>
        <a:xfrm>
          <a:off x="0" y="0"/>
          <a:ext cx="0" cy="0"/>
          <a:chOff x="0" y="0"/>
          <a:chExt cx="0" cy="0"/>
        </a:xfrm>
      </p:grpSpPr>
      <p:sp>
        <p:nvSpPr>
          <p:cNvPr id="2" name="Titel 1"/>
          <p:cNvSpPr>
            <a:spLocks noGrp="1"/>
          </p:cNvSpPr>
          <p:nvPr>
            <p:ph type="title"/>
          </p:nvPr>
        </p:nvSpPr>
        <p:spPr>
          <a:xfrm>
            <a:off x="480002" y="414261"/>
            <a:ext cx="5246167" cy="1565897"/>
          </a:xfrm>
        </p:spPr>
        <p:txBody>
          <a:bodyPr/>
          <a:lstStyle/>
          <a:p>
            <a:r>
              <a:rPr lang="nl-NL" dirty="0"/>
              <a:t>Titelstijl van model bewerken</a:t>
            </a:r>
          </a:p>
        </p:txBody>
      </p:sp>
      <p:sp>
        <p:nvSpPr>
          <p:cNvPr id="3" name="Tijdelijke aanduiding voor inhoud 2"/>
          <p:cNvSpPr>
            <a:spLocks noGrp="1"/>
          </p:cNvSpPr>
          <p:nvPr>
            <p:ph idx="1"/>
          </p:nvPr>
        </p:nvSpPr>
        <p:spPr>
          <a:xfrm>
            <a:off x="480001" y="1980156"/>
            <a:ext cx="5246165" cy="3810096"/>
          </a:xfrm>
        </p:spPr>
        <p:txBody>
          <a:bodyPr/>
          <a:lstStyle>
            <a:lvl3pPr marL="954592" indent="0">
              <a:buNone/>
              <a:defRPr/>
            </a:lvl3pPr>
          </a:lstStyle>
          <a:p>
            <a:pPr lvl="0"/>
            <a:r>
              <a:rPr lang="nl-NL" dirty="0"/>
              <a:t>Klik om de tekststijl van het model te bewerken</a:t>
            </a:r>
          </a:p>
          <a:p>
            <a:pPr lvl="1"/>
            <a:r>
              <a:rPr lang="nl-NL" dirty="0"/>
              <a:t>Tweede niveau</a:t>
            </a:r>
          </a:p>
        </p:txBody>
      </p:sp>
      <p:sp>
        <p:nvSpPr>
          <p:cNvPr id="4" name="Tijdelijke aanduiding voor datum 3"/>
          <p:cNvSpPr>
            <a:spLocks noGrp="1"/>
          </p:cNvSpPr>
          <p:nvPr>
            <p:ph type="dt" sz="half" idx="10"/>
          </p:nvPr>
        </p:nvSpPr>
        <p:spPr>
          <a:xfrm>
            <a:off x="6126724" y="6318628"/>
            <a:ext cx="734312" cy="365125"/>
          </a:xfrm>
        </p:spPr>
        <p:txBody>
          <a:bodyPr/>
          <a:lstStyle/>
          <a:p>
            <a:endParaRPr lang="nl-NL"/>
          </a:p>
        </p:txBody>
      </p:sp>
      <p:sp>
        <p:nvSpPr>
          <p:cNvPr id="5" name="Tijdelijke aanduiding voor voettekst 4"/>
          <p:cNvSpPr>
            <a:spLocks noGrp="1"/>
          </p:cNvSpPr>
          <p:nvPr>
            <p:ph type="ftr" sz="quarter" idx="11"/>
          </p:nvPr>
        </p:nvSpPr>
        <p:spPr>
          <a:xfrm>
            <a:off x="6327003" y="6318628"/>
            <a:ext cx="4599935" cy="365125"/>
          </a:xfrm>
        </p:spPr>
        <p:txBody>
          <a:bodyPr/>
          <a:lstStyle/>
          <a:p>
            <a:endParaRPr lang="nl-NL"/>
          </a:p>
        </p:txBody>
      </p:sp>
      <p:sp>
        <p:nvSpPr>
          <p:cNvPr id="6" name="Tijdelijke aanduiding voor dianummer 5"/>
          <p:cNvSpPr>
            <a:spLocks noGrp="1"/>
          </p:cNvSpPr>
          <p:nvPr>
            <p:ph type="sldNum" sz="quarter" idx="12"/>
          </p:nvPr>
        </p:nvSpPr>
        <p:spPr>
          <a:xfrm>
            <a:off x="10926941" y="6318400"/>
            <a:ext cx="759969" cy="365125"/>
          </a:xfrm>
        </p:spPr>
        <p:txBody>
          <a:bodyPr/>
          <a:lstStyle/>
          <a:p>
            <a:fld id="{09B7AD4A-C94A-7B42-9E17-606C7F366C4B}" type="slidenum">
              <a:rPr lang="nl-NL" smtClean="0"/>
              <a:t>‹#›</a:t>
            </a:fld>
            <a:endParaRPr lang="nl-NL"/>
          </a:p>
        </p:txBody>
      </p:sp>
      <p:sp>
        <p:nvSpPr>
          <p:cNvPr id="8" name="Tijdelijke aanduiding voor afbeelding 7"/>
          <p:cNvSpPr>
            <a:spLocks noGrp="1"/>
          </p:cNvSpPr>
          <p:nvPr>
            <p:ph type="pic" sz="quarter" idx="13"/>
          </p:nvPr>
        </p:nvSpPr>
        <p:spPr>
          <a:xfrm>
            <a:off x="6126726" y="0"/>
            <a:ext cx="6065276" cy="6858000"/>
          </a:xfrm>
          <a:solidFill>
            <a:schemeClr val="bg1">
              <a:lumMod val="85000"/>
            </a:schemeClr>
          </a:solidFill>
        </p:spPr>
        <p:txBody>
          <a:bodyPr/>
          <a:lstStyle/>
          <a:p>
            <a:endParaRPr lang="nl-NL"/>
          </a:p>
        </p:txBody>
      </p:sp>
      <p:pic>
        <p:nvPicPr>
          <p:cNvPr id="9" name="Afbeelding 8"/>
          <p:cNvPicPr>
            <a:picLocks noChangeAspect="1"/>
          </p:cNvPicPr>
          <p:nvPr userDrawn="1"/>
        </p:nvPicPr>
        <p:blipFill rotWithShape="1">
          <a:blip r:embed="rId2"/>
          <a:srcRect r="19769"/>
          <a:stretch/>
        </p:blipFill>
        <p:spPr>
          <a:xfrm>
            <a:off x="480001" y="6173621"/>
            <a:ext cx="2137056" cy="506307"/>
          </a:xfrm>
          <a:prstGeom prst="rect">
            <a:avLst/>
          </a:prstGeom>
        </p:spPr>
      </p:pic>
    </p:spTree>
    <p:extLst>
      <p:ext uri="{BB962C8B-B14F-4D97-AF65-F5344CB8AC3E}">
        <p14:creationId xmlns:p14="http://schemas.microsoft.com/office/powerpoint/2010/main" val="434875673"/>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Photo slide">
    <p:bg>
      <p:bgPr>
        <a:solidFill>
          <a:schemeClr val="bg1"/>
        </a:solidFill>
        <a:effectLst/>
      </p:bgPr>
    </p:bg>
    <p:spTree>
      <p:nvGrpSpPr>
        <p:cNvPr id="1" name=""/>
        <p:cNvGrpSpPr/>
        <p:nvPr/>
      </p:nvGrpSpPr>
      <p:grpSpPr>
        <a:xfrm>
          <a:off x="0" y="0"/>
          <a:ext cx="0" cy="0"/>
          <a:chOff x="0" y="0"/>
          <a:chExt cx="0" cy="0"/>
        </a:xfrm>
      </p:grpSpPr>
      <p:sp>
        <p:nvSpPr>
          <p:cNvPr id="9" name="Tijdelijke aanduiding voor afbeelding 8"/>
          <p:cNvSpPr>
            <a:spLocks noGrp="1"/>
          </p:cNvSpPr>
          <p:nvPr>
            <p:ph type="pic" sz="quarter" idx="13"/>
          </p:nvPr>
        </p:nvSpPr>
        <p:spPr>
          <a:xfrm>
            <a:off x="0" y="0"/>
            <a:ext cx="12192000" cy="6858000"/>
          </a:xfrm>
          <a:solidFill>
            <a:schemeClr val="bg2">
              <a:lumMod val="85000"/>
            </a:schemeClr>
          </a:solidFill>
        </p:spPr>
        <p:txBody>
          <a:bodyPr/>
          <a:lstStyle/>
          <a:p>
            <a:endParaRPr lang="nl-NL" dirty="0"/>
          </a:p>
        </p:txBody>
      </p:sp>
      <p:sp>
        <p:nvSpPr>
          <p:cNvPr id="5" name="Tijdelijke aanduiding voor dianummer 4"/>
          <p:cNvSpPr>
            <a:spLocks noGrp="1"/>
          </p:cNvSpPr>
          <p:nvPr>
            <p:ph type="sldNum" sz="quarter" idx="12"/>
          </p:nvPr>
        </p:nvSpPr>
        <p:spPr/>
        <p:txBody>
          <a:bodyPr/>
          <a:lstStyle/>
          <a:p>
            <a:fld id="{09B7AD4A-C94A-7B42-9E17-606C7F366C4B}" type="slidenum">
              <a:rPr lang="nl-NL" smtClean="0"/>
              <a:pPr/>
              <a:t>‹#›</a:t>
            </a:fld>
            <a:endParaRPr lang="nl-NL" dirty="0"/>
          </a:p>
        </p:txBody>
      </p:sp>
      <p:sp>
        <p:nvSpPr>
          <p:cNvPr id="11" name="Tijdelijke aanduiding voor tekst 6">
            <a:extLst>
              <a:ext uri="{FF2B5EF4-FFF2-40B4-BE49-F238E27FC236}">
                <a16:creationId xmlns:a16="http://schemas.microsoft.com/office/drawing/2014/main" id="{65C5AF04-DC40-0847-A150-8AD1FF13551E}"/>
              </a:ext>
            </a:extLst>
          </p:cNvPr>
          <p:cNvSpPr>
            <a:spLocks noGrp="1"/>
          </p:cNvSpPr>
          <p:nvPr>
            <p:ph type="body" sz="quarter" idx="15" hasCustomPrompt="1"/>
          </p:nvPr>
        </p:nvSpPr>
        <p:spPr>
          <a:xfrm>
            <a:off x="478267" y="6249250"/>
            <a:ext cx="2044800" cy="311151"/>
          </a:xfrm>
          <a:blipFill>
            <a:blip r:embed="rId2"/>
            <a:stretch>
              <a:fillRect/>
            </a:stretch>
          </a:blipFill>
        </p:spPr>
        <p:txBody>
          <a:bodyPr/>
          <a:lstStyle>
            <a:lvl1pPr marL="0" indent="0" algn="ctr">
              <a:buNone/>
              <a:defRPr sz="1067"/>
            </a:lvl1pPr>
            <a:lvl2pPr marL="478355" indent="0">
              <a:buNone/>
              <a:defRPr sz="1067"/>
            </a:lvl2pPr>
            <a:lvl3pPr marL="954592" indent="0">
              <a:buNone/>
              <a:defRPr sz="1067"/>
            </a:lvl3pPr>
            <a:lvl4pPr marL="1432948" indent="0">
              <a:buNone/>
              <a:defRPr sz="1067"/>
            </a:lvl4pPr>
            <a:lvl5pPr marL="1911302" indent="0">
              <a:buNone/>
              <a:defRPr sz="1067"/>
            </a:lvl5pPr>
          </a:lstStyle>
          <a:p>
            <a:pPr lvl="0"/>
            <a:r>
              <a:rPr lang="nl-NL" dirty="0"/>
              <a:t>  </a:t>
            </a:r>
          </a:p>
        </p:txBody>
      </p:sp>
      <p:pic>
        <p:nvPicPr>
          <p:cNvPr id="7" name="Picture 6"/>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2698661" y="6333298"/>
            <a:ext cx="3888000" cy="190537"/>
          </a:xfrm>
          <a:prstGeom prst="rect">
            <a:avLst/>
          </a:prstGeom>
        </p:spPr>
      </p:pic>
      <p:sp>
        <p:nvSpPr>
          <p:cNvPr id="6" name="Tijdelijke aanduiding voor datum 3"/>
          <p:cNvSpPr>
            <a:spLocks noGrp="1"/>
          </p:cNvSpPr>
          <p:nvPr>
            <p:ph type="dt" sz="half" idx="10"/>
          </p:nvPr>
        </p:nvSpPr>
        <p:spPr>
          <a:xfrm>
            <a:off x="9781607" y="6314803"/>
            <a:ext cx="1219287" cy="365125"/>
          </a:xfrm>
        </p:spPr>
        <p:txBody>
          <a:bodyPr/>
          <a:lstStyle>
            <a:lvl1pPr>
              <a:defRPr>
                <a:solidFill>
                  <a:schemeClr val="tx1"/>
                </a:solidFill>
              </a:defRPr>
            </a:lvl1pPr>
          </a:lstStyle>
          <a:p>
            <a:endParaRPr lang="nl-NL" dirty="0"/>
          </a:p>
        </p:txBody>
      </p:sp>
    </p:spTree>
    <p:extLst>
      <p:ext uri="{BB962C8B-B14F-4D97-AF65-F5344CB8AC3E}">
        <p14:creationId xmlns:p14="http://schemas.microsoft.com/office/powerpoint/2010/main" val="2444391592"/>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Table slide">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nl-NL" dirty="0"/>
              <a:t>Titelstijl van model bewerken</a:t>
            </a:r>
          </a:p>
        </p:txBody>
      </p:sp>
      <p:sp>
        <p:nvSpPr>
          <p:cNvPr id="5" name="Tijdelijke aanduiding voor dianummer 4"/>
          <p:cNvSpPr>
            <a:spLocks noGrp="1"/>
          </p:cNvSpPr>
          <p:nvPr>
            <p:ph type="sldNum" sz="quarter" idx="12"/>
          </p:nvPr>
        </p:nvSpPr>
        <p:spPr/>
        <p:txBody>
          <a:bodyPr/>
          <a:lstStyle/>
          <a:p>
            <a:fld id="{09B7AD4A-C94A-7B42-9E17-606C7F366C4B}" type="slidenum">
              <a:rPr lang="nl-NL" smtClean="0"/>
              <a:t>‹#›</a:t>
            </a:fld>
            <a:endParaRPr lang="nl-NL"/>
          </a:p>
        </p:txBody>
      </p:sp>
      <p:sp>
        <p:nvSpPr>
          <p:cNvPr id="7" name="Tijdelijke aanduiding voor tabel 6"/>
          <p:cNvSpPr>
            <a:spLocks noGrp="1"/>
          </p:cNvSpPr>
          <p:nvPr>
            <p:ph type="tbl" sz="quarter" idx="13"/>
          </p:nvPr>
        </p:nvSpPr>
        <p:spPr>
          <a:xfrm>
            <a:off x="480486" y="1296001"/>
            <a:ext cx="11101916" cy="4309231"/>
          </a:xfrm>
        </p:spPr>
        <p:txBody>
          <a:bodyPr/>
          <a:lstStyle/>
          <a:p>
            <a:endParaRPr lang="nl-NL"/>
          </a:p>
        </p:txBody>
      </p:sp>
      <p:pic>
        <p:nvPicPr>
          <p:cNvPr id="8" name="Afbeelding 7"/>
          <p:cNvPicPr>
            <a:picLocks noChangeAspect="1"/>
          </p:cNvPicPr>
          <p:nvPr userDrawn="1"/>
        </p:nvPicPr>
        <p:blipFill rotWithShape="1">
          <a:blip r:embed="rId2"/>
          <a:srcRect r="19769"/>
          <a:stretch/>
        </p:blipFill>
        <p:spPr>
          <a:xfrm>
            <a:off x="480001" y="6173621"/>
            <a:ext cx="2137056" cy="506307"/>
          </a:xfrm>
          <a:prstGeom prst="rect">
            <a:avLst/>
          </a:prstGeom>
        </p:spPr>
      </p:pic>
      <p:pic>
        <p:nvPicPr>
          <p:cNvPr id="9" name="Picture 8"/>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2698661" y="6333298"/>
            <a:ext cx="3888000" cy="190537"/>
          </a:xfrm>
          <a:prstGeom prst="rect">
            <a:avLst/>
          </a:prstGeom>
        </p:spPr>
      </p:pic>
      <p:sp>
        <p:nvSpPr>
          <p:cNvPr id="10" name="Tijdelijke aanduiding voor datum 3"/>
          <p:cNvSpPr>
            <a:spLocks noGrp="1"/>
          </p:cNvSpPr>
          <p:nvPr>
            <p:ph type="dt" sz="half" idx="10"/>
          </p:nvPr>
        </p:nvSpPr>
        <p:spPr>
          <a:xfrm>
            <a:off x="9781607" y="6314803"/>
            <a:ext cx="1219287" cy="365125"/>
          </a:xfrm>
        </p:spPr>
        <p:txBody>
          <a:bodyPr/>
          <a:lstStyle/>
          <a:p>
            <a:endParaRPr lang="nl-NL" dirty="0"/>
          </a:p>
        </p:txBody>
      </p:sp>
    </p:spTree>
    <p:extLst>
      <p:ext uri="{BB962C8B-B14F-4D97-AF65-F5344CB8AC3E}">
        <p14:creationId xmlns:p14="http://schemas.microsoft.com/office/powerpoint/2010/main" val="143722212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slideLayout" Target="../slideLayouts/slideLayout24.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17" Type="http://schemas.openxmlformats.org/officeDocument/2006/relationships/theme" Target="../theme/theme2.xml"/><Relationship Id="rId2" Type="http://schemas.openxmlformats.org/officeDocument/2006/relationships/slideLayout" Target="../slideLayouts/slideLayout13.xml"/><Relationship Id="rId16" Type="http://schemas.openxmlformats.org/officeDocument/2006/relationships/slideLayout" Target="../slideLayouts/slideLayout27.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5" Type="http://schemas.openxmlformats.org/officeDocument/2006/relationships/slideLayout" Target="../slideLayouts/slideLayout2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slideLayout" Target="../slideLayouts/slideLayout2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26D3E09-EFCF-65DE-0713-DE6EE4EE25E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53CE54AB-0DE4-A036-0CF0-4CF763780A4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7CDF243-71AB-8FD9-5F27-52CED073E58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28D15594-DB7A-8E4F-85E8-2541E5B5670D}" type="datetimeFigureOut">
              <a:rPr lang="en-US" smtClean="0"/>
              <a:t>3/30/26</a:t>
            </a:fld>
            <a:endParaRPr lang="en-US"/>
          </a:p>
        </p:txBody>
      </p:sp>
      <p:sp>
        <p:nvSpPr>
          <p:cNvPr id="5" name="Footer Placeholder 4">
            <a:extLst>
              <a:ext uri="{FF2B5EF4-FFF2-40B4-BE49-F238E27FC236}">
                <a16:creationId xmlns:a16="http://schemas.microsoft.com/office/drawing/2014/main" id="{60B06212-07AA-01DD-9FFC-D313778E63C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6F35A33C-E52C-CCBB-8911-32BF92DEAF0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72EC4BA8-CEF6-D944-B04C-EC8A9751F0F1}" type="slidenum">
              <a:rPr lang="en-US" smtClean="0"/>
              <a:t>‹#›</a:t>
            </a:fld>
            <a:endParaRPr lang="en-US"/>
          </a:p>
        </p:txBody>
      </p:sp>
    </p:spTree>
    <p:extLst>
      <p:ext uri="{BB962C8B-B14F-4D97-AF65-F5344CB8AC3E}">
        <p14:creationId xmlns:p14="http://schemas.microsoft.com/office/powerpoint/2010/main" val="148995339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jdelijke aanduiding voor titel 1"/>
          <p:cNvSpPr>
            <a:spLocks noGrp="1"/>
          </p:cNvSpPr>
          <p:nvPr>
            <p:ph type="title"/>
          </p:nvPr>
        </p:nvSpPr>
        <p:spPr>
          <a:xfrm>
            <a:off x="480001" y="414260"/>
            <a:ext cx="11102399" cy="756000"/>
          </a:xfrm>
          <a:prstGeom prst="rect">
            <a:avLst/>
          </a:prstGeom>
        </p:spPr>
        <p:txBody>
          <a:bodyPr vert="horz" lIns="0" tIns="0" rIns="0" bIns="0" rtlCol="0" anchor="t" anchorCtr="0">
            <a:normAutofit/>
          </a:bodyPr>
          <a:lstStyle/>
          <a:p>
            <a:r>
              <a:rPr lang="nl-NL" dirty="0"/>
              <a:t>Titelstijl van model bewerken</a:t>
            </a:r>
          </a:p>
        </p:txBody>
      </p:sp>
      <p:sp>
        <p:nvSpPr>
          <p:cNvPr id="3" name="Tijdelijke aanduiding voor tekst 2"/>
          <p:cNvSpPr>
            <a:spLocks noGrp="1"/>
          </p:cNvSpPr>
          <p:nvPr>
            <p:ph type="body" idx="1"/>
          </p:nvPr>
        </p:nvSpPr>
        <p:spPr>
          <a:xfrm>
            <a:off x="480001" y="1296000"/>
            <a:ext cx="11102399" cy="4445149"/>
          </a:xfrm>
          <a:prstGeom prst="rect">
            <a:avLst/>
          </a:prstGeom>
        </p:spPr>
        <p:txBody>
          <a:bodyPr vert="horz" lIns="0" tIns="0" rIns="0" bIns="0" rtlCol="0">
            <a:noAutofit/>
          </a:bodyPr>
          <a:lstStyle/>
          <a:p>
            <a:pPr lvl="0"/>
            <a:r>
              <a:rPr lang="nl-NL" dirty="0"/>
              <a:t>Klik om de tekststijl van het model te bewerken</a:t>
            </a:r>
          </a:p>
          <a:p>
            <a:pPr lvl="1"/>
            <a:r>
              <a:rPr lang="nl-NL" dirty="0"/>
              <a:t>Tweede niveau</a:t>
            </a:r>
          </a:p>
          <a:p>
            <a:pPr lvl="2"/>
            <a:r>
              <a:rPr lang="nl-NL" dirty="0"/>
              <a:t>Derde niveau</a:t>
            </a:r>
          </a:p>
          <a:p>
            <a:pPr lvl="3"/>
            <a:r>
              <a:rPr lang="nl-NL" dirty="0"/>
              <a:t>Vierde niveau</a:t>
            </a:r>
          </a:p>
          <a:p>
            <a:pPr lvl="4"/>
            <a:r>
              <a:rPr lang="nl-NL" dirty="0"/>
              <a:t>Vijfde niveau</a:t>
            </a:r>
          </a:p>
        </p:txBody>
      </p:sp>
      <p:sp>
        <p:nvSpPr>
          <p:cNvPr id="4" name="Tijdelijke aanduiding voor datum 3"/>
          <p:cNvSpPr>
            <a:spLocks noGrp="1"/>
          </p:cNvSpPr>
          <p:nvPr>
            <p:ph type="dt" sz="half" idx="2"/>
          </p:nvPr>
        </p:nvSpPr>
        <p:spPr>
          <a:xfrm>
            <a:off x="4312625" y="6318628"/>
            <a:ext cx="1219287" cy="365125"/>
          </a:xfrm>
          <a:prstGeom prst="rect">
            <a:avLst/>
          </a:prstGeom>
        </p:spPr>
        <p:txBody>
          <a:bodyPr vert="horz" lIns="0" tIns="0" rIns="0" bIns="0" rtlCol="0" anchor="t" anchorCtr="0"/>
          <a:lstStyle>
            <a:lvl1pPr algn="r">
              <a:defRPr sz="1333">
                <a:solidFill>
                  <a:schemeClr val="tx1"/>
                </a:solidFill>
                <a:latin typeface="+mj-lt"/>
                <a:cs typeface="Verdana"/>
              </a:defRPr>
            </a:lvl1pPr>
          </a:lstStyle>
          <a:p>
            <a:endParaRPr lang="nl-NL" dirty="0"/>
          </a:p>
        </p:txBody>
      </p:sp>
      <p:sp>
        <p:nvSpPr>
          <p:cNvPr id="5" name="Tijdelijke aanduiding voor voettekst 4"/>
          <p:cNvSpPr>
            <a:spLocks noGrp="1"/>
          </p:cNvSpPr>
          <p:nvPr>
            <p:ph type="ftr" sz="quarter" idx="3"/>
          </p:nvPr>
        </p:nvSpPr>
        <p:spPr>
          <a:xfrm>
            <a:off x="5697661" y="6318628"/>
            <a:ext cx="5303544" cy="365125"/>
          </a:xfrm>
          <a:prstGeom prst="rect">
            <a:avLst/>
          </a:prstGeom>
        </p:spPr>
        <p:txBody>
          <a:bodyPr vert="horz" lIns="0" tIns="0" rIns="0" bIns="0" rtlCol="0" anchor="t" anchorCtr="0"/>
          <a:lstStyle>
            <a:lvl1pPr algn="r">
              <a:defRPr sz="1333">
                <a:solidFill>
                  <a:schemeClr val="tx1"/>
                </a:solidFill>
                <a:latin typeface="+mn-lt"/>
                <a:cs typeface="Verdana"/>
              </a:defRPr>
            </a:lvl1pPr>
          </a:lstStyle>
          <a:p>
            <a:endParaRPr lang="nl-NL" dirty="0"/>
          </a:p>
        </p:txBody>
      </p:sp>
      <p:sp>
        <p:nvSpPr>
          <p:cNvPr id="6" name="Tijdelijke aanduiding voor dianummer 5"/>
          <p:cNvSpPr>
            <a:spLocks noGrp="1"/>
          </p:cNvSpPr>
          <p:nvPr>
            <p:ph type="sldNum" sz="quarter" idx="4"/>
          </p:nvPr>
        </p:nvSpPr>
        <p:spPr>
          <a:xfrm>
            <a:off x="11088190" y="6318400"/>
            <a:ext cx="494209" cy="365125"/>
          </a:xfrm>
          <a:prstGeom prst="rect">
            <a:avLst/>
          </a:prstGeom>
        </p:spPr>
        <p:txBody>
          <a:bodyPr vert="horz" lIns="0" tIns="0" rIns="0" bIns="0" rtlCol="0" anchor="t" anchorCtr="0"/>
          <a:lstStyle>
            <a:lvl1pPr algn="r">
              <a:defRPr sz="1333">
                <a:solidFill>
                  <a:schemeClr val="tx1"/>
                </a:solidFill>
                <a:latin typeface="+mn-lt"/>
                <a:cs typeface="Verdana"/>
              </a:defRPr>
            </a:lvl1pPr>
          </a:lstStyle>
          <a:p>
            <a:fld id="{09B7AD4A-C94A-7B42-9E17-606C7F366C4B}" type="slidenum">
              <a:rPr lang="nl-NL" smtClean="0"/>
              <a:pPr/>
              <a:t>‹#›</a:t>
            </a:fld>
            <a:endParaRPr lang="nl-NL" dirty="0"/>
          </a:p>
        </p:txBody>
      </p:sp>
    </p:spTree>
    <p:extLst>
      <p:ext uri="{BB962C8B-B14F-4D97-AF65-F5344CB8AC3E}">
        <p14:creationId xmlns:p14="http://schemas.microsoft.com/office/powerpoint/2010/main" val="320845307"/>
      </p:ext>
    </p:extLst>
  </p:cSld>
  <p:clrMap bg1="lt1" tx1="dk1" bg2="lt2" tx2="dk2" accent1="accent1" accent2="accent2" accent3="accent3" accent4="accent4" accent5="accent5" accent6="accent6" hlink="hlink" folHlink="folHlink"/>
  <p:sldLayoutIdLst>
    <p:sldLayoutId id="2147483674" r:id="rId1"/>
    <p:sldLayoutId id="2147483675" r:id="rId2"/>
    <p:sldLayoutId id="2147483676" r:id="rId3"/>
    <p:sldLayoutId id="2147483677" r:id="rId4"/>
    <p:sldLayoutId id="2147483678" r:id="rId5"/>
    <p:sldLayoutId id="2147483679" r:id="rId6"/>
    <p:sldLayoutId id="2147483680" r:id="rId7"/>
    <p:sldLayoutId id="2147483681" r:id="rId8"/>
    <p:sldLayoutId id="2147483682" r:id="rId9"/>
    <p:sldLayoutId id="2147483683" r:id="rId10"/>
    <p:sldLayoutId id="2147483684" r:id="rId11"/>
    <p:sldLayoutId id="2147483685" r:id="rId12"/>
    <p:sldLayoutId id="2147483686" r:id="rId13"/>
    <p:sldLayoutId id="2147483687" r:id="rId14"/>
    <p:sldLayoutId id="2147483688" r:id="rId15"/>
    <p:sldLayoutId id="2147483689" r:id="rId16"/>
  </p:sldLayoutIdLst>
  <p:hf sldNum="0" hdr="0" ftr="0" dt="0"/>
  <p:txStyles>
    <p:titleStyle>
      <a:lvl1pPr algn="l" defTabSz="609585" rtl="0" eaLnBrk="1" latinLnBrk="0" hangingPunct="1">
        <a:spcBef>
          <a:spcPct val="0"/>
        </a:spcBef>
        <a:buNone/>
        <a:defRPr sz="4267" b="1" kern="1200">
          <a:solidFill>
            <a:schemeClr val="tx2"/>
          </a:solidFill>
          <a:latin typeface="+mj-lt"/>
          <a:ea typeface="+mj-ea"/>
          <a:cs typeface="Verdana"/>
        </a:defRPr>
      </a:lvl1pPr>
    </p:titleStyle>
    <p:bodyStyle>
      <a:lvl1pPr marL="457189" indent="-457189" algn="l" defTabSz="609585" rtl="0" eaLnBrk="1" latinLnBrk="0" hangingPunct="1">
        <a:spcBef>
          <a:spcPts val="0"/>
        </a:spcBef>
        <a:buFont typeface="Arial"/>
        <a:buChar char="•"/>
        <a:defRPr sz="4267" kern="1200">
          <a:solidFill>
            <a:schemeClr val="tx1"/>
          </a:solidFill>
          <a:latin typeface="+mj-lt"/>
          <a:ea typeface="+mn-ea"/>
          <a:cs typeface="Verdana"/>
        </a:defRPr>
      </a:lvl1pPr>
      <a:lvl2pPr marL="956709" indent="-478355" algn="l" defTabSz="609585" rtl="0" eaLnBrk="1" latinLnBrk="0" hangingPunct="1">
        <a:spcBef>
          <a:spcPts val="0"/>
        </a:spcBef>
        <a:buFont typeface="Lucida Grande"/>
        <a:buChar char="-"/>
        <a:defRPr sz="3733" kern="1200">
          <a:solidFill>
            <a:schemeClr val="tx1"/>
          </a:solidFill>
          <a:latin typeface="+mj-lt"/>
          <a:ea typeface="+mn-ea"/>
          <a:cs typeface="Verdana"/>
        </a:defRPr>
      </a:lvl2pPr>
      <a:lvl3pPr marL="1430831" indent="-476239" algn="l" defTabSz="609585" rtl="0" eaLnBrk="1" latinLnBrk="0" hangingPunct="1">
        <a:spcBef>
          <a:spcPts val="0"/>
        </a:spcBef>
        <a:buFont typeface="Lucida Grande"/>
        <a:buChar char="-"/>
        <a:defRPr sz="3200" kern="1200">
          <a:solidFill>
            <a:schemeClr val="tx1"/>
          </a:solidFill>
          <a:latin typeface="+mj-lt"/>
          <a:ea typeface="+mn-ea"/>
          <a:cs typeface="Verdana"/>
        </a:defRPr>
      </a:lvl3pPr>
      <a:lvl4pPr marL="1907070" indent="-474121" algn="l" defTabSz="609585" rtl="0" eaLnBrk="1" latinLnBrk="0" hangingPunct="1">
        <a:spcBef>
          <a:spcPts val="0"/>
        </a:spcBef>
        <a:buFont typeface="Lucida Grande"/>
        <a:buChar char="-"/>
        <a:defRPr sz="2667" kern="1200">
          <a:solidFill>
            <a:schemeClr val="tx1"/>
          </a:solidFill>
          <a:latin typeface="+mj-lt"/>
          <a:ea typeface="+mn-ea"/>
          <a:cs typeface="Verdana"/>
        </a:defRPr>
      </a:lvl4pPr>
      <a:lvl5pPr marL="2391774" indent="-480472" algn="l" defTabSz="609585" rtl="0" eaLnBrk="1" latinLnBrk="0" hangingPunct="1">
        <a:spcBef>
          <a:spcPts val="0"/>
        </a:spcBef>
        <a:buFont typeface="Lucida Grande"/>
        <a:buChar char="-"/>
        <a:defRPr sz="2667" kern="1200">
          <a:solidFill>
            <a:schemeClr val="tx1"/>
          </a:solidFill>
          <a:latin typeface="+mj-lt"/>
          <a:ea typeface="+mn-ea"/>
          <a:cs typeface="Verdana"/>
        </a:defRPr>
      </a:lvl5pPr>
      <a:lvl6pPr marL="3352716" indent="-304792" algn="l" defTabSz="609585" rtl="0" eaLnBrk="1" latinLnBrk="0" hangingPunct="1">
        <a:spcBef>
          <a:spcPct val="20000"/>
        </a:spcBef>
        <a:buFont typeface="Arial"/>
        <a:buChar char="•"/>
        <a:defRPr sz="2667" kern="1200">
          <a:solidFill>
            <a:schemeClr val="tx1"/>
          </a:solidFill>
          <a:latin typeface="+mn-lt"/>
          <a:ea typeface="+mn-ea"/>
          <a:cs typeface="+mn-cs"/>
        </a:defRPr>
      </a:lvl6pPr>
      <a:lvl7pPr marL="3962301" indent="-304792" algn="l" defTabSz="609585" rtl="0" eaLnBrk="1" latinLnBrk="0" hangingPunct="1">
        <a:spcBef>
          <a:spcPct val="20000"/>
        </a:spcBef>
        <a:buFont typeface="Arial"/>
        <a:buChar char="•"/>
        <a:defRPr sz="2667" kern="1200">
          <a:solidFill>
            <a:schemeClr val="tx1"/>
          </a:solidFill>
          <a:latin typeface="+mn-lt"/>
          <a:ea typeface="+mn-ea"/>
          <a:cs typeface="+mn-cs"/>
        </a:defRPr>
      </a:lvl7pPr>
      <a:lvl8pPr marL="4571886" indent="-304792" algn="l" defTabSz="609585" rtl="0" eaLnBrk="1" latinLnBrk="0" hangingPunct="1">
        <a:spcBef>
          <a:spcPct val="20000"/>
        </a:spcBef>
        <a:buFont typeface="Arial"/>
        <a:buChar char="•"/>
        <a:defRPr sz="2667" kern="1200">
          <a:solidFill>
            <a:schemeClr val="tx1"/>
          </a:solidFill>
          <a:latin typeface="+mn-lt"/>
          <a:ea typeface="+mn-ea"/>
          <a:cs typeface="+mn-cs"/>
        </a:defRPr>
      </a:lvl8pPr>
      <a:lvl9pPr marL="5181470" indent="-304792" algn="l" defTabSz="609585" rtl="0" eaLnBrk="1" latinLnBrk="0" hangingPunct="1">
        <a:spcBef>
          <a:spcPct val="20000"/>
        </a:spcBef>
        <a:buFont typeface="Arial"/>
        <a:buChar char="•"/>
        <a:defRPr sz="2667" kern="1200">
          <a:solidFill>
            <a:schemeClr val="tx1"/>
          </a:solidFill>
          <a:latin typeface="+mn-lt"/>
          <a:ea typeface="+mn-ea"/>
          <a:cs typeface="+mn-cs"/>
        </a:defRPr>
      </a:lvl9pPr>
    </p:bodyStyle>
    <p:otherStyle>
      <a:defPPr>
        <a:defRPr lang="nl-NL"/>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1.xml"/><Relationship Id="rId1" Type="http://schemas.openxmlformats.org/officeDocument/2006/relationships/slideLayout" Target="../slideLayouts/slideLayout22.xml"/></Relationships>
</file>

<file path=ppt/slides/_rels/slide3.xml.rels><?xml version="1.0" encoding="UTF-8" standalone="yes"?>
<Relationships xmlns="http://schemas.openxmlformats.org/package/2006/relationships"><Relationship Id="rId3" Type="http://schemas.microsoft.com/office/2011/relationships/webextension" Target="../webextensions/webextension1.xml"/><Relationship Id="rId2" Type="http://schemas.openxmlformats.org/officeDocument/2006/relationships/image" Target="../media/image14.png"/><Relationship Id="rId1" Type="http://schemas.openxmlformats.org/officeDocument/2006/relationships/slideLayout" Target="../slideLayouts/slideLayout22.xml"/><Relationship Id="rId4" Type="http://schemas.openxmlformats.org/officeDocument/2006/relationships/image" Target="../media/image15.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2.xml"/></Relationships>
</file>

<file path=ppt/slides/_rels/slide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3.xml"/><Relationship Id="rId1" Type="http://schemas.openxmlformats.org/officeDocument/2006/relationships/slideLayout" Target="../slideLayouts/slideLayout22.xml"/></Relationships>
</file>

<file path=ppt/slides/_rels/slide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4.xml"/><Relationship Id="rId1" Type="http://schemas.openxmlformats.org/officeDocument/2006/relationships/slideLayout" Target="../slideLayouts/slideLayout22.xml"/></Relationships>
</file>

<file path=ppt/slides/_rels/slide7.xml.rels><?xml version="1.0" encoding="UTF-8" standalone="yes"?>
<Relationships xmlns="http://schemas.openxmlformats.org/package/2006/relationships"><Relationship Id="rId3" Type="http://schemas.microsoft.com/office/2011/relationships/webextension" Target="../webextensions/webextension2.xml"/><Relationship Id="rId2" Type="http://schemas.openxmlformats.org/officeDocument/2006/relationships/notesSlide" Target="../notesSlides/notesSlide5.xml"/><Relationship Id="rId1" Type="http://schemas.openxmlformats.org/officeDocument/2006/relationships/slideLayout" Target="../slideLayouts/slideLayout22.xml"/><Relationship Id="rId4" Type="http://schemas.openxmlformats.org/officeDocument/2006/relationships/image" Target="../media/image150.png"/></Relationships>
</file>

<file path=ppt/slides/_rels/slide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6.xml"/><Relationship Id="rId1" Type="http://schemas.openxmlformats.org/officeDocument/2006/relationships/slideLayout" Target="../slideLayouts/slideLayout2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2.xml"/></Relationships>
</file>

<file path=ppt/slides/_rels/slide1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1.xml"/><Relationship Id="rId1" Type="http://schemas.openxmlformats.org/officeDocument/2006/relationships/slideLayout" Target="../slideLayouts/slideLayout22.xml"/></Relationships>
</file>

<file path=ppt/slides/_rels/slide17.xml.rels><?xml version="1.0" encoding="UTF-8" standalone="yes"?>
<Relationships xmlns="http://schemas.openxmlformats.org/package/2006/relationships"><Relationship Id="rId3" Type="http://schemas.openxmlformats.org/officeDocument/2006/relationships/image" Target="../media/image15.png"/><Relationship Id="rId2" Type="http://schemas.microsoft.com/office/2011/relationships/webextension" Target="../webextensions/webextension3.xml"/><Relationship Id="rId1" Type="http://schemas.openxmlformats.org/officeDocument/2006/relationships/slideLayout" Target="../slideLayouts/slideLayout2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20.xml.rels><?xml version="1.0" encoding="UTF-8" standalone="yes"?>
<Relationships xmlns="http://schemas.openxmlformats.org/package/2006/relationships"><Relationship Id="rId3" Type="http://schemas.openxmlformats.org/officeDocument/2006/relationships/image" Target="../media/image15.png"/><Relationship Id="rId2" Type="http://schemas.microsoft.com/office/2011/relationships/webextension" Target="../webextensions/webextension4.xml"/><Relationship Id="rId1" Type="http://schemas.openxmlformats.org/officeDocument/2006/relationships/slideLayout" Target="../slideLayouts/slideLayout25.xml"/></Relationships>
</file>

<file path=ppt/slides/_rels/slide21.xml.rels><?xml version="1.0" encoding="UTF-8" standalone="yes"?>
<Relationships xmlns="http://schemas.openxmlformats.org/package/2006/relationships"><Relationship Id="rId3" Type="http://schemas.openxmlformats.org/officeDocument/2006/relationships/image" Target="../media/image15.png"/><Relationship Id="rId2" Type="http://schemas.microsoft.com/office/2011/relationships/webextension" Target="../webextensions/webextension5.xml"/><Relationship Id="rId1" Type="http://schemas.openxmlformats.org/officeDocument/2006/relationships/slideLayout" Target="../slideLayouts/slideLayout25.xml"/></Relationships>
</file>

<file path=ppt/slides/_rels/slide22.xml.rels><?xml version="1.0" encoding="UTF-8" standalone="yes"?>
<Relationships xmlns="http://schemas.openxmlformats.org/package/2006/relationships"><Relationship Id="rId3" Type="http://schemas.microsoft.com/office/2011/relationships/webextension" Target="../webextensions/webextension6.xml"/><Relationship Id="rId2" Type="http://schemas.openxmlformats.org/officeDocument/2006/relationships/notesSlide" Target="../notesSlides/notesSlide12.xml"/><Relationship Id="rId1" Type="http://schemas.openxmlformats.org/officeDocument/2006/relationships/slideLayout" Target="../slideLayouts/slideLayout25.xml"/><Relationship Id="rId4" Type="http://schemas.openxmlformats.org/officeDocument/2006/relationships/image" Target="../media/image15.png"/></Relationships>
</file>

<file path=ppt/slides/_rels/slide2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3.xml"/><Relationship Id="rId1" Type="http://schemas.openxmlformats.org/officeDocument/2006/relationships/slideLayout" Target="../slideLayouts/slideLayout25.xml"/></Relationships>
</file>

<file path=ppt/slides/_rels/slide24.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5.xml"/></Relationships>
</file>

<file path=ppt/slides/_rels/slide25.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Layout" Target="../slideLayouts/slideLayout25.xml"/></Relationships>
</file>

<file path=ppt/slides/_rels/slide26.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3.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27.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2.xml"/></Relationships>
</file>

<file path=ppt/slides/_rels/slide28.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2.xml"/></Relationships>
</file>

<file path=ppt/slides/_rels/slide29.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2.xml"/></Relationships>
</file>

<file path=ppt/slides/_rels/slide30.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32.xml.rels><?xml version="1.0" encoding="UTF-8" standalone="yes"?>
<Relationships xmlns="http://schemas.openxmlformats.org/package/2006/relationships"><Relationship Id="rId2" Type="http://schemas.openxmlformats.org/officeDocument/2006/relationships/image" Target="../media/image24.jpeg"/><Relationship Id="rId1" Type="http://schemas.openxmlformats.org/officeDocument/2006/relationships/slideLayout" Target="../slideLayouts/slideLayout2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7.xml"/></Relationships>
</file>

<file path=ppt/slides/_rels/slide35.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7.xml"/></Relationships>
</file>

<file path=ppt/slides/_rels/slide36.xml.rels><?xml version="1.0" encoding="UTF-8" standalone="yes"?>
<Relationships xmlns="http://schemas.openxmlformats.org/package/2006/relationships"><Relationship Id="rId3" Type="http://schemas.openxmlformats.org/officeDocument/2006/relationships/slideLayout" Target="../slideLayouts/slideLayout27.xml"/><Relationship Id="rId2" Type="http://schemas.openxmlformats.org/officeDocument/2006/relationships/video" Target="../media/media1.mp4"/><Relationship Id="rId1" Type="http://schemas.microsoft.com/office/2007/relationships/media" Target="../media/media1.mp4"/><Relationship Id="rId4" Type="http://schemas.openxmlformats.org/officeDocument/2006/relationships/image" Target="../media/image26.png"/></Relationships>
</file>

<file path=ppt/slides/_rels/slide37.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7.xml"/></Relationships>
</file>

<file path=ppt/slides/_rels/slide38.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7.xml"/></Relationships>
</file>

<file path=ppt/slides/_rels/slide39.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4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5.xml"/><Relationship Id="rId1" Type="http://schemas.openxmlformats.org/officeDocument/2006/relationships/slideLayout" Target="../slideLayouts/slideLayout2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2.xml"/></Relationships>
</file>

<file path=ppt/slides/_rels/slide47.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1.xml"/><Relationship Id="rId1" Type="http://schemas.openxmlformats.org/officeDocument/2006/relationships/slideLayout" Target="../slideLayouts/slideLayout22.xml"/></Relationships>
</file>

<file path=ppt/slides/_rels/slide48.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2.xml"/><Relationship Id="rId1" Type="http://schemas.openxmlformats.org/officeDocument/2006/relationships/slideLayout" Target="../slideLayouts/slideLayout2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2.xml"/></Relationships>
</file>

<file path=ppt/slides/_rels/slide50.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4.xml"/><Relationship Id="rId1" Type="http://schemas.openxmlformats.org/officeDocument/2006/relationships/slideLayout" Target="../slideLayouts/slideLayout22.xml"/></Relationships>
</file>

<file path=ppt/slides/_rels/slide51.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25.xml"/><Relationship Id="rId1" Type="http://schemas.openxmlformats.org/officeDocument/2006/relationships/slideLayout" Target="../slideLayouts/slideLayout22.xml"/></Relationships>
</file>

<file path=ppt/slides/_rels/slide52.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26.xml"/><Relationship Id="rId1" Type="http://schemas.openxmlformats.org/officeDocument/2006/relationships/slideLayout" Target="../slideLayouts/slideLayout22.xml"/><Relationship Id="rId5" Type="http://schemas.openxmlformats.org/officeDocument/2006/relationships/image" Target="../media/image320.png"/><Relationship Id="rId4" Type="http://schemas.openxmlformats.org/officeDocument/2006/relationships/image" Target="../media/image40.png"/></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57.xml.rels><?xml version="1.0" encoding="UTF-8" standalone="yes"?>
<Relationships xmlns="http://schemas.openxmlformats.org/package/2006/relationships"><Relationship Id="rId2" Type="http://schemas.openxmlformats.org/officeDocument/2006/relationships/image" Target="../media/image170.png"/><Relationship Id="rId1" Type="http://schemas.openxmlformats.org/officeDocument/2006/relationships/slideLayout" Target="../slideLayouts/slideLayout22.xml"/></Relationships>
</file>

<file path=ppt/slides/_rels/slide58.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30.xml"/><Relationship Id="rId1" Type="http://schemas.openxmlformats.org/officeDocument/2006/relationships/slideLayout" Target="../slideLayouts/slideLayout2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60.xml.rels><?xml version="1.0" encoding="UTF-8" standalone="yes"?>
<Relationships xmlns="http://schemas.openxmlformats.org/package/2006/relationships"><Relationship Id="rId3" Type="http://schemas.microsoft.com/office/2011/relationships/webextension" Target="../webextensions/webextension7.xml"/><Relationship Id="rId2" Type="http://schemas.openxmlformats.org/officeDocument/2006/relationships/notesSlide" Target="../notesSlides/notesSlide31.xml"/><Relationship Id="rId1" Type="http://schemas.openxmlformats.org/officeDocument/2006/relationships/slideLayout" Target="../slideLayouts/slideLayout22.xml"/><Relationship Id="rId4" Type="http://schemas.openxmlformats.org/officeDocument/2006/relationships/image" Target="../media/image150.png"/></Relationships>
</file>

<file path=ppt/slides/_rels/slide61.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2.xml"/></Relationships>
</file>

<file path=ppt/slides/_rels/slide62.xml.rels><?xml version="1.0" encoding="UTF-8" standalone="yes"?>
<Relationships xmlns="http://schemas.openxmlformats.org/package/2006/relationships"><Relationship Id="rId3" Type="http://schemas.openxmlformats.org/officeDocument/2006/relationships/image" Target="../media/image150.png"/><Relationship Id="rId2" Type="http://schemas.microsoft.com/office/2011/relationships/webextension" Target="../webextensions/webextension8.xml"/><Relationship Id="rId1" Type="http://schemas.openxmlformats.org/officeDocument/2006/relationships/slideLayout" Target="../slideLayouts/slideLayout22.xml"/></Relationships>
</file>

<file path=ppt/slides/_rels/slide63.xml.rels><?xml version="1.0" encoding="UTF-8" standalone="yes"?>
<Relationships xmlns="http://schemas.openxmlformats.org/package/2006/relationships"><Relationship Id="rId3" Type="http://schemas.openxmlformats.org/officeDocument/2006/relationships/image" Target="../media/image34.jpg"/><Relationship Id="rId2" Type="http://schemas.openxmlformats.org/officeDocument/2006/relationships/notesSlide" Target="../notesSlides/notesSlide32.xml"/><Relationship Id="rId1" Type="http://schemas.openxmlformats.org/officeDocument/2006/relationships/slideLayout" Target="../slideLayouts/slideLayout25.xml"/></Relationships>
</file>

<file path=ppt/slides/_rels/slide64.xml.rels><?xml version="1.0" encoding="UTF-8" standalone="yes"?>
<Relationships xmlns="http://schemas.openxmlformats.org/package/2006/relationships"><Relationship Id="rId3" Type="http://schemas.openxmlformats.org/officeDocument/2006/relationships/image" Target="../media/image150.png"/><Relationship Id="rId2" Type="http://schemas.microsoft.com/office/2011/relationships/webextension" Target="../webextensions/webextension9.xml"/><Relationship Id="rId1" Type="http://schemas.openxmlformats.org/officeDocument/2006/relationships/slideLayout" Target="../slideLayouts/slideLayout2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52784" y="253136"/>
            <a:ext cx="9247059" cy="2205259"/>
          </a:xfrm>
        </p:spPr>
        <p:txBody>
          <a:bodyPr/>
          <a:lstStyle/>
          <a:p>
            <a:r>
              <a:rPr lang="en-US" dirty="0"/>
              <a:t>Statistics</a:t>
            </a:r>
          </a:p>
        </p:txBody>
      </p:sp>
      <p:sp>
        <p:nvSpPr>
          <p:cNvPr id="3" name="Subtitle 2"/>
          <p:cNvSpPr>
            <a:spLocks noGrp="1"/>
          </p:cNvSpPr>
          <p:nvPr>
            <p:ph type="subTitle" idx="1"/>
          </p:nvPr>
        </p:nvSpPr>
        <p:spPr/>
        <p:txBody>
          <a:bodyPr/>
          <a:lstStyle/>
          <a:p>
            <a:r>
              <a:rPr lang="en-US" b="1" dirty="0"/>
              <a:t>Lecture 01: </a:t>
            </a:r>
          </a:p>
          <a:p>
            <a:r>
              <a:rPr lang="en-US" b="1" dirty="0"/>
              <a:t>What is data science? </a:t>
            </a:r>
          </a:p>
          <a:p>
            <a:r>
              <a:rPr lang="en-US" b="1" dirty="0"/>
              <a:t>Oops, I mean, statistics. </a:t>
            </a:r>
          </a:p>
          <a:p>
            <a:endParaRPr lang="en-US" b="1" dirty="0"/>
          </a:p>
          <a:p>
            <a:r>
              <a:rPr lang="en-US" b="1" i="1" dirty="0"/>
              <a:t>Anirudh Wodeyar</a:t>
            </a:r>
          </a:p>
        </p:txBody>
      </p:sp>
    </p:spTree>
    <p:extLst>
      <p:ext uri="{BB962C8B-B14F-4D97-AF65-F5344CB8AC3E}">
        <p14:creationId xmlns:p14="http://schemas.microsoft.com/office/powerpoint/2010/main" val="303123605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B067F4-DF34-31CB-6D37-93E1136A6EF6}"/>
              </a:ext>
            </a:extLst>
          </p:cNvPr>
          <p:cNvSpPr>
            <a:spLocks noGrp="1"/>
          </p:cNvSpPr>
          <p:nvPr>
            <p:ph type="title"/>
          </p:nvPr>
        </p:nvSpPr>
        <p:spPr/>
        <p:txBody>
          <a:bodyPr/>
          <a:lstStyle/>
          <a:p>
            <a:r>
              <a:rPr lang="en-US" dirty="0"/>
              <a:t>Using Data Science to judge a serial killer</a:t>
            </a:r>
          </a:p>
        </p:txBody>
      </p:sp>
      <p:pic>
        <p:nvPicPr>
          <p:cNvPr id="4" name="Picture 2" descr="Harold Shipman">
            <a:extLst>
              <a:ext uri="{FF2B5EF4-FFF2-40B4-BE49-F238E27FC236}">
                <a16:creationId xmlns:a16="http://schemas.microsoft.com/office/drawing/2014/main" id="{3943A2E6-96C3-DE2F-823A-91DACEEE279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27881" y="1170260"/>
            <a:ext cx="5754519" cy="4271396"/>
          </a:xfrm>
          <a:prstGeom prst="rect">
            <a:avLst/>
          </a:prstGeom>
          <a:noFill/>
          <a:extLst>
            <a:ext uri="{909E8E84-426E-40DD-AFC4-6F175D3DCCD1}">
              <a14:hiddenFill xmlns:a14="http://schemas.microsoft.com/office/drawing/2010/main">
                <a:solidFill>
                  <a:srgbClr val="FFFFFF"/>
                </a:solidFill>
              </a14:hiddenFill>
            </a:ext>
          </a:extLst>
        </p:spPr>
      </p:pic>
      <p:sp>
        <p:nvSpPr>
          <p:cNvPr id="5" name="Content Placeholder 6">
            <a:extLst>
              <a:ext uri="{FF2B5EF4-FFF2-40B4-BE49-F238E27FC236}">
                <a16:creationId xmlns:a16="http://schemas.microsoft.com/office/drawing/2014/main" id="{1D57D691-52DA-957D-955A-37B70023D32E}"/>
              </a:ext>
            </a:extLst>
          </p:cNvPr>
          <p:cNvSpPr>
            <a:spLocks noGrp="1"/>
          </p:cNvSpPr>
          <p:nvPr>
            <p:ph idx="1"/>
          </p:nvPr>
        </p:nvSpPr>
        <p:spPr>
          <a:xfrm>
            <a:off x="544800" y="1476056"/>
            <a:ext cx="4977459" cy="4445149"/>
          </a:xfrm>
        </p:spPr>
        <p:txBody>
          <a:bodyPr/>
          <a:lstStyle/>
          <a:p>
            <a:r>
              <a:rPr lang="en-US" sz="4000" dirty="0"/>
              <a:t>Harold Shipman: Britain’s most prolific murderer</a:t>
            </a:r>
          </a:p>
          <a:p>
            <a:r>
              <a:rPr lang="en-US" sz="4000" dirty="0"/>
              <a:t>Family doctor who killed ??? elderly patients</a:t>
            </a:r>
          </a:p>
        </p:txBody>
      </p:sp>
    </p:spTree>
    <p:extLst>
      <p:ext uri="{BB962C8B-B14F-4D97-AF65-F5344CB8AC3E}">
        <p14:creationId xmlns:p14="http://schemas.microsoft.com/office/powerpoint/2010/main" val="294848555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295941-1581-76EA-165A-119A54A07849}"/>
              </a:ext>
            </a:extLst>
          </p:cNvPr>
          <p:cNvSpPr>
            <a:spLocks noGrp="1"/>
          </p:cNvSpPr>
          <p:nvPr>
            <p:ph type="title"/>
          </p:nvPr>
        </p:nvSpPr>
        <p:spPr/>
        <p:txBody>
          <a:bodyPr/>
          <a:lstStyle/>
          <a:p>
            <a:r>
              <a:rPr lang="en-US" dirty="0"/>
              <a:t>Using Data Science to judge a serial killer</a:t>
            </a:r>
          </a:p>
        </p:txBody>
      </p:sp>
      <p:pic>
        <p:nvPicPr>
          <p:cNvPr id="5" name="Picture 4" descr="A graph of a number of men and women&#10;&#10;Description automatically generated">
            <a:extLst>
              <a:ext uri="{FF2B5EF4-FFF2-40B4-BE49-F238E27FC236}">
                <a16:creationId xmlns:a16="http://schemas.microsoft.com/office/drawing/2014/main" id="{9A5C21CF-7885-86B1-304B-E49A6F4F4979}"/>
              </a:ext>
            </a:extLst>
          </p:cNvPr>
          <p:cNvPicPr>
            <a:picLocks noChangeAspect="1"/>
          </p:cNvPicPr>
          <p:nvPr/>
        </p:nvPicPr>
        <p:blipFill>
          <a:blip r:embed="rId2"/>
          <a:stretch>
            <a:fillRect/>
          </a:stretch>
        </p:blipFill>
        <p:spPr>
          <a:xfrm>
            <a:off x="7203866" y="1452901"/>
            <a:ext cx="3998733" cy="4152039"/>
          </a:xfrm>
          <a:prstGeom prst="rect">
            <a:avLst/>
          </a:prstGeom>
        </p:spPr>
      </p:pic>
      <mc:AlternateContent xmlns:mc="http://schemas.openxmlformats.org/markup-compatibility/2006">
        <mc:Choice xmlns:we="http://schemas.microsoft.com/office/webextensions/webextension/2010/11" xmlns:pca="http://schemas.microsoft.com/office/powerpoint/2013/contentapp" Requires="we pca">
          <p:graphicFrame>
            <p:nvGraphicFramePr>
              <p:cNvPr id="13" name="Content Placeholder 12">
                <a:extLst>
                  <a:ext uri="{FF2B5EF4-FFF2-40B4-BE49-F238E27FC236}">
                    <a16:creationId xmlns:a16="http://schemas.microsoft.com/office/drawing/2014/main" id="{3A575599-4ACB-2BA1-2BC2-789284E5BEBF}"/>
                  </a:ext>
                </a:extLst>
              </p:cNvPr>
              <p:cNvGraphicFramePr>
                <a:graphicFrameLocks noGrp="1"/>
              </p:cNvGraphicFramePr>
              <p:nvPr>
                <p:ph idx="1"/>
                <p:extLst>
                  <p:ext uri="{D42A27DB-BD31-4B8C-83A1-F6EECF244321}">
                    <p14:modId xmlns:p14="http://schemas.microsoft.com/office/powerpoint/2010/main" val="247249681"/>
                  </p:ext>
                </p:extLst>
              </p:nvPr>
            </p:nvGraphicFramePr>
            <p:xfrm>
              <a:off x="479425" y="1295400"/>
              <a:ext cx="6835775" cy="4445000"/>
            </p:xfrm>
            <a:graphic>
              <a:graphicData uri="http://schemas.microsoft.com/office/webextensions/webextension/2010/11">
                <we:webextensionref xmlns:we="http://schemas.microsoft.com/office/webextensions/webextension/2010/11" xmlns:r="http://schemas.openxmlformats.org/officeDocument/2006/relationships" r:id="rId3"/>
              </a:graphicData>
            </a:graphic>
          </p:graphicFrame>
        </mc:Choice>
        <mc:Fallback>
          <p:pic>
            <p:nvPicPr>
              <p:cNvPr id="13" name="Content Placeholder 12">
                <a:extLst>
                  <a:ext uri="{FF2B5EF4-FFF2-40B4-BE49-F238E27FC236}">
                    <a16:creationId xmlns:a16="http://schemas.microsoft.com/office/drawing/2014/main" id="{3A575599-4ACB-2BA1-2BC2-789284E5BEBF}"/>
                  </a:ext>
                </a:extLst>
              </p:cNvPr>
              <p:cNvPicPr>
                <a:picLocks noGrp="1" noRot="1" noChangeAspect="1" noMove="1" noResize="1" noEditPoints="1" noAdjustHandles="1" noChangeArrowheads="1" noChangeShapeType="1"/>
              </p:cNvPicPr>
              <p:nvPr/>
            </p:nvPicPr>
            <p:blipFill>
              <a:blip r:embed="rId4">
                <a:clrChange>
                  <a:clrFrom>
                    <a:prstClr val="black"/>
                  </a:clrFrom>
                  <a:clrTo>
                    <a:prstClr val="black">
                      <a:alpha val="0"/>
                    </a:prstClr>
                  </a:clrTo>
                </a:clrChange>
              </a:blip>
              <a:stretch>
                <a:fillRect/>
              </a:stretch>
            </p:blipFill>
            <p:spPr>
              <a:xfrm>
                <a:off x="479425" y="1295400"/>
                <a:ext cx="6835775" cy="4445000"/>
              </a:xfrm>
              <a:prstGeom prst="rect">
                <a:avLst/>
              </a:prstGeom>
            </p:spPr>
          </p:pic>
        </mc:Fallback>
      </mc:AlternateContent>
    </p:spTree>
    <p:extLst>
      <p:ext uri="{BB962C8B-B14F-4D97-AF65-F5344CB8AC3E}">
        <p14:creationId xmlns:p14="http://schemas.microsoft.com/office/powerpoint/2010/main" val="83774495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44800" y="414260"/>
            <a:ext cx="11102399" cy="756000"/>
          </a:xfrm>
        </p:spPr>
        <p:txBody>
          <a:bodyPr/>
          <a:lstStyle/>
          <a:p>
            <a:r>
              <a:rPr lang="en-US" dirty="0"/>
              <a:t>Using Data Science to judge a serial killer</a:t>
            </a:r>
          </a:p>
        </p:txBody>
      </p:sp>
      <p:sp>
        <p:nvSpPr>
          <p:cNvPr id="7" name="Content Placeholder 6">
            <a:extLst>
              <a:ext uri="{FF2B5EF4-FFF2-40B4-BE49-F238E27FC236}">
                <a16:creationId xmlns:a16="http://schemas.microsoft.com/office/drawing/2014/main" id="{D7B65608-A067-1718-910F-703B512D25EB}"/>
              </a:ext>
            </a:extLst>
          </p:cNvPr>
          <p:cNvSpPr>
            <a:spLocks noGrp="1"/>
          </p:cNvSpPr>
          <p:nvPr>
            <p:ph idx="1"/>
          </p:nvPr>
        </p:nvSpPr>
        <p:spPr>
          <a:xfrm>
            <a:off x="544800" y="1476056"/>
            <a:ext cx="11102399" cy="4445149"/>
          </a:xfrm>
        </p:spPr>
        <p:txBody>
          <a:bodyPr/>
          <a:lstStyle/>
          <a:p>
            <a:pPr marL="0" indent="0">
              <a:buNone/>
            </a:pPr>
            <a:r>
              <a:rPr lang="en-US" sz="4000" dirty="0"/>
              <a:t>What do we know about him? </a:t>
            </a:r>
          </a:p>
          <a:p>
            <a:r>
              <a:rPr lang="en-US" sz="4000" dirty="0"/>
              <a:t>Family doctor</a:t>
            </a:r>
          </a:p>
          <a:p>
            <a:r>
              <a:rPr lang="en-US" sz="4000" dirty="0"/>
              <a:t>Between 1975 to 1998 killed 215 of his elderly patients with an opiate overdose (maybe 45 more)</a:t>
            </a:r>
          </a:p>
          <a:p>
            <a:r>
              <a:rPr lang="en-US" sz="4000" dirty="0"/>
              <a:t>Said nothing at his trial</a:t>
            </a:r>
          </a:p>
          <a:p>
            <a:r>
              <a:rPr lang="en-US" sz="4000" i="1" dirty="0">
                <a:solidFill>
                  <a:srgbClr val="FF0000"/>
                </a:solidFill>
              </a:rPr>
              <a:t>Caught after he tried to forge a will of a patient</a:t>
            </a:r>
          </a:p>
        </p:txBody>
      </p:sp>
    </p:spTree>
    <p:extLst>
      <p:ext uri="{BB962C8B-B14F-4D97-AF65-F5344CB8AC3E}">
        <p14:creationId xmlns:p14="http://schemas.microsoft.com/office/powerpoint/2010/main" val="1300196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Using Data Science to judge a serial killer</a:t>
            </a:r>
          </a:p>
        </p:txBody>
      </p:sp>
      <p:pic>
        <p:nvPicPr>
          <p:cNvPr id="9" name="Picture 8" descr="A graph of a number of men and women&#10;&#10;Description automatically generated">
            <a:extLst>
              <a:ext uri="{FF2B5EF4-FFF2-40B4-BE49-F238E27FC236}">
                <a16:creationId xmlns:a16="http://schemas.microsoft.com/office/drawing/2014/main" id="{2F66BE7A-36B1-D7FF-A009-08EF9BCA82FE}"/>
              </a:ext>
            </a:extLst>
          </p:cNvPr>
          <p:cNvPicPr>
            <a:picLocks noChangeAspect="1"/>
          </p:cNvPicPr>
          <p:nvPr/>
        </p:nvPicPr>
        <p:blipFill>
          <a:blip r:embed="rId3"/>
          <a:stretch>
            <a:fillRect/>
          </a:stretch>
        </p:blipFill>
        <p:spPr>
          <a:xfrm>
            <a:off x="5779477" y="1057415"/>
            <a:ext cx="4741636" cy="4923424"/>
          </a:xfrm>
          <a:prstGeom prst="rect">
            <a:avLst/>
          </a:prstGeom>
        </p:spPr>
      </p:pic>
      <p:sp>
        <p:nvSpPr>
          <p:cNvPr id="10" name="Content Placeholder 6">
            <a:extLst>
              <a:ext uri="{FF2B5EF4-FFF2-40B4-BE49-F238E27FC236}">
                <a16:creationId xmlns:a16="http://schemas.microsoft.com/office/drawing/2014/main" id="{3DD957D8-3FB5-E752-3912-0AF40B641FD8}"/>
              </a:ext>
            </a:extLst>
          </p:cNvPr>
          <p:cNvSpPr>
            <a:spLocks noGrp="1"/>
          </p:cNvSpPr>
          <p:nvPr>
            <p:ph idx="1"/>
          </p:nvPr>
        </p:nvSpPr>
        <p:spPr>
          <a:xfrm>
            <a:off x="544800" y="2299630"/>
            <a:ext cx="5234677" cy="2492205"/>
          </a:xfrm>
        </p:spPr>
        <p:txBody>
          <a:bodyPr/>
          <a:lstStyle/>
          <a:p>
            <a:pPr marL="0" indent="0">
              <a:buNone/>
            </a:pPr>
            <a:r>
              <a:rPr lang="en-US" dirty="0"/>
              <a:t>What were the characteristics of the people he murdered and when did they die?</a:t>
            </a:r>
          </a:p>
        </p:txBody>
      </p:sp>
      <p:sp>
        <p:nvSpPr>
          <p:cNvPr id="11" name="TextBox 10">
            <a:extLst>
              <a:ext uri="{FF2B5EF4-FFF2-40B4-BE49-F238E27FC236}">
                <a16:creationId xmlns:a16="http://schemas.microsoft.com/office/drawing/2014/main" id="{B29CD3DE-2E2A-0F39-6103-806B93125C73}"/>
              </a:ext>
            </a:extLst>
          </p:cNvPr>
          <p:cNvSpPr txBox="1"/>
          <p:nvPr/>
        </p:nvSpPr>
        <p:spPr>
          <a:xfrm>
            <a:off x="8982633" y="6519446"/>
            <a:ext cx="4138246" cy="338554"/>
          </a:xfrm>
          <a:prstGeom prst="rect">
            <a:avLst/>
          </a:prstGeom>
          <a:noFill/>
        </p:spPr>
        <p:txBody>
          <a:bodyPr wrap="square" rtlCol="0">
            <a:spAutoFit/>
          </a:bodyPr>
          <a:lstStyle/>
          <a:p>
            <a:r>
              <a:rPr lang="en-US" sz="1600" i="1" dirty="0"/>
              <a:t>Art of Statistics, David </a:t>
            </a:r>
            <a:r>
              <a:rPr lang="en-US" sz="1600" i="1" dirty="0" err="1"/>
              <a:t>Spiegelhalter</a:t>
            </a:r>
            <a:endParaRPr lang="en-US" sz="1600" i="1" dirty="0"/>
          </a:p>
        </p:txBody>
      </p:sp>
    </p:spTree>
    <p:extLst>
      <p:ext uri="{BB962C8B-B14F-4D97-AF65-F5344CB8AC3E}">
        <p14:creationId xmlns:p14="http://schemas.microsoft.com/office/powerpoint/2010/main" val="67114180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Using Data Science to judge a serial killer</a:t>
            </a:r>
          </a:p>
        </p:txBody>
      </p:sp>
      <p:pic>
        <p:nvPicPr>
          <p:cNvPr id="4" name="Content Placeholder 3" descr="A graph of a graph showing a number of times&#10;&#10;Description automatically generated with medium confidence">
            <a:extLst>
              <a:ext uri="{FF2B5EF4-FFF2-40B4-BE49-F238E27FC236}">
                <a16:creationId xmlns:a16="http://schemas.microsoft.com/office/drawing/2014/main" id="{117D5DCB-FD6E-0AE0-2129-A0A70324B405}"/>
              </a:ext>
            </a:extLst>
          </p:cNvPr>
          <p:cNvPicPr>
            <a:picLocks noGrp="1" noChangeAspect="1"/>
          </p:cNvPicPr>
          <p:nvPr>
            <p:ph idx="1"/>
          </p:nvPr>
        </p:nvPicPr>
        <p:blipFill>
          <a:blip r:embed="rId3"/>
          <a:stretch>
            <a:fillRect/>
          </a:stretch>
        </p:blipFill>
        <p:spPr>
          <a:xfrm>
            <a:off x="6046804" y="1235577"/>
            <a:ext cx="5271278" cy="5116240"/>
          </a:xfrm>
        </p:spPr>
      </p:pic>
      <p:sp>
        <p:nvSpPr>
          <p:cNvPr id="5" name="Content Placeholder 6">
            <a:extLst>
              <a:ext uri="{FF2B5EF4-FFF2-40B4-BE49-F238E27FC236}">
                <a16:creationId xmlns:a16="http://schemas.microsoft.com/office/drawing/2014/main" id="{12E83F74-FD34-7793-4C7D-B10857499ADA}"/>
              </a:ext>
            </a:extLst>
          </p:cNvPr>
          <p:cNvSpPr txBox="1">
            <a:spLocks/>
          </p:cNvSpPr>
          <p:nvPr/>
        </p:nvSpPr>
        <p:spPr>
          <a:xfrm>
            <a:off x="615139" y="1772092"/>
            <a:ext cx="5234677" cy="2492205"/>
          </a:xfrm>
          <a:prstGeom prst="rect">
            <a:avLst/>
          </a:prstGeom>
        </p:spPr>
        <p:txBody>
          <a:bodyPr vert="horz" lIns="0" tIns="0" rIns="0" bIns="0" rtlCol="0">
            <a:noAutofit/>
          </a:bodyPr>
          <a:lstStyle>
            <a:lvl1pPr marL="457189" indent="-457189" algn="l" defTabSz="609585" rtl="0" eaLnBrk="1" latinLnBrk="0" hangingPunct="1">
              <a:spcBef>
                <a:spcPts val="0"/>
              </a:spcBef>
              <a:buFont typeface="Arial"/>
              <a:buChar char="•"/>
              <a:defRPr sz="4267" kern="1200">
                <a:solidFill>
                  <a:schemeClr val="tx1"/>
                </a:solidFill>
                <a:latin typeface="+mj-lt"/>
                <a:ea typeface="+mn-ea"/>
                <a:cs typeface="Verdana"/>
              </a:defRPr>
            </a:lvl1pPr>
            <a:lvl2pPr marL="956709" indent="-478355" algn="l" defTabSz="609585" rtl="0" eaLnBrk="1" latinLnBrk="0" hangingPunct="1">
              <a:spcBef>
                <a:spcPts val="0"/>
              </a:spcBef>
              <a:buFont typeface="Lucida Grande"/>
              <a:buChar char="-"/>
              <a:defRPr sz="3733" kern="1200">
                <a:solidFill>
                  <a:schemeClr val="tx1"/>
                </a:solidFill>
                <a:latin typeface="+mj-lt"/>
                <a:ea typeface="+mn-ea"/>
                <a:cs typeface="Verdana"/>
              </a:defRPr>
            </a:lvl2pPr>
            <a:lvl3pPr marL="1430831" indent="-476239" algn="l" defTabSz="609585" rtl="0" eaLnBrk="1" latinLnBrk="0" hangingPunct="1">
              <a:spcBef>
                <a:spcPts val="0"/>
              </a:spcBef>
              <a:buFont typeface="Lucida Grande"/>
              <a:buChar char="-"/>
              <a:defRPr sz="3200" kern="1200">
                <a:solidFill>
                  <a:schemeClr val="tx1"/>
                </a:solidFill>
                <a:latin typeface="+mj-lt"/>
                <a:ea typeface="+mn-ea"/>
                <a:cs typeface="Verdana"/>
              </a:defRPr>
            </a:lvl3pPr>
            <a:lvl4pPr marL="1907070" indent="-474121" algn="l" defTabSz="609585" rtl="0" eaLnBrk="1" latinLnBrk="0" hangingPunct="1">
              <a:spcBef>
                <a:spcPts val="0"/>
              </a:spcBef>
              <a:buFont typeface="Lucida Grande"/>
              <a:buChar char="-"/>
              <a:defRPr sz="2667" kern="1200">
                <a:solidFill>
                  <a:schemeClr val="tx1"/>
                </a:solidFill>
                <a:latin typeface="+mj-lt"/>
                <a:ea typeface="+mn-ea"/>
                <a:cs typeface="Verdana"/>
              </a:defRPr>
            </a:lvl4pPr>
            <a:lvl5pPr marL="2391774" indent="-480472" algn="l" defTabSz="609585" rtl="0" eaLnBrk="1" latinLnBrk="0" hangingPunct="1">
              <a:spcBef>
                <a:spcPts val="0"/>
              </a:spcBef>
              <a:buFont typeface="Lucida Grande"/>
              <a:buChar char="-"/>
              <a:defRPr sz="2667" kern="1200">
                <a:solidFill>
                  <a:schemeClr val="tx1"/>
                </a:solidFill>
                <a:latin typeface="+mj-lt"/>
                <a:ea typeface="+mn-ea"/>
                <a:cs typeface="Verdana"/>
              </a:defRPr>
            </a:lvl5pPr>
            <a:lvl6pPr marL="3352716" indent="-304792" algn="l" defTabSz="609585" rtl="0" eaLnBrk="1" latinLnBrk="0" hangingPunct="1">
              <a:spcBef>
                <a:spcPct val="20000"/>
              </a:spcBef>
              <a:buFont typeface="Arial"/>
              <a:buChar char="•"/>
              <a:defRPr sz="2667" kern="1200">
                <a:solidFill>
                  <a:schemeClr val="tx1"/>
                </a:solidFill>
                <a:latin typeface="+mn-lt"/>
                <a:ea typeface="+mn-ea"/>
                <a:cs typeface="+mn-cs"/>
              </a:defRPr>
            </a:lvl6pPr>
            <a:lvl7pPr marL="3962301" indent="-304792" algn="l" defTabSz="609585" rtl="0" eaLnBrk="1" latinLnBrk="0" hangingPunct="1">
              <a:spcBef>
                <a:spcPct val="20000"/>
              </a:spcBef>
              <a:buFont typeface="Arial"/>
              <a:buChar char="•"/>
              <a:defRPr sz="2667" kern="1200">
                <a:solidFill>
                  <a:schemeClr val="tx1"/>
                </a:solidFill>
                <a:latin typeface="+mn-lt"/>
                <a:ea typeface="+mn-ea"/>
                <a:cs typeface="+mn-cs"/>
              </a:defRPr>
            </a:lvl7pPr>
            <a:lvl8pPr marL="4571886" indent="-304792" algn="l" defTabSz="609585" rtl="0" eaLnBrk="1" latinLnBrk="0" hangingPunct="1">
              <a:spcBef>
                <a:spcPct val="20000"/>
              </a:spcBef>
              <a:buFont typeface="Arial"/>
              <a:buChar char="•"/>
              <a:defRPr sz="2667" kern="1200">
                <a:solidFill>
                  <a:schemeClr val="tx1"/>
                </a:solidFill>
                <a:latin typeface="+mn-lt"/>
                <a:ea typeface="+mn-ea"/>
                <a:cs typeface="+mn-cs"/>
              </a:defRPr>
            </a:lvl8pPr>
            <a:lvl9pPr marL="5181470" indent="-304792" algn="l" defTabSz="609585" rtl="0" eaLnBrk="1" latinLnBrk="0" hangingPunct="1">
              <a:spcBef>
                <a:spcPct val="20000"/>
              </a:spcBef>
              <a:buFont typeface="Arial"/>
              <a:buChar char="•"/>
              <a:defRPr sz="2667" kern="1200">
                <a:solidFill>
                  <a:schemeClr val="tx1"/>
                </a:solidFill>
                <a:latin typeface="+mn-lt"/>
                <a:ea typeface="+mn-ea"/>
                <a:cs typeface="+mn-cs"/>
              </a:defRPr>
            </a:lvl9pPr>
          </a:lstStyle>
          <a:p>
            <a:pPr marL="0" indent="0">
              <a:buFont typeface="Arial"/>
              <a:buNone/>
            </a:pPr>
            <a:r>
              <a:rPr lang="en-US" dirty="0"/>
              <a:t>How did Shipman commit his murders?</a:t>
            </a:r>
          </a:p>
        </p:txBody>
      </p:sp>
      <p:sp>
        <p:nvSpPr>
          <p:cNvPr id="6" name="Rounded Rectangle 5">
            <a:extLst>
              <a:ext uri="{FF2B5EF4-FFF2-40B4-BE49-F238E27FC236}">
                <a16:creationId xmlns:a16="http://schemas.microsoft.com/office/drawing/2014/main" id="{44B0F1FB-7B16-CEFE-1F87-8A66F6B56290}"/>
              </a:ext>
            </a:extLst>
          </p:cNvPr>
          <p:cNvSpPr/>
          <p:nvPr/>
        </p:nvSpPr>
        <p:spPr>
          <a:xfrm>
            <a:off x="6847297" y="3776870"/>
            <a:ext cx="4373981" cy="1845553"/>
          </a:xfrm>
          <a:prstGeom prst="roundRect">
            <a:avLst/>
          </a:prstGeom>
          <a:gradFill>
            <a:gsLst>
              <a:gs pos="99000">
                <a:schemeClr val="accent1">
                  <a:tint val="100000"/>
                  <a:shade val="100000"/>
                  <a:satMod val="130000"/>
                  <a:alpha val="24000"/>
                </a:schemeClr>
              </a:gs>
              <a:gs pos="100000">
                <a:schemeClr val="accent1">
                  <a:tint val="50000"/>
                  <a:shade val="100000"/>
                  <a:satMod val="350000"/>
                </a:schemeClr>
              </a:gs>
            </a:gsLst>
          </a:gra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8" name="TextBox 7">
            <a:extLst>
              <a:ext uri="{FF2B5EF4-FFF2-40B4-BE49-F238E27FC236}">
                <a16:creationId xmlns:a16="http://schemas.microsoft.com/office/drawing/2014/main" id="{51E78080-ADA1-38F0-16A5-8DB742C56D4A}"/>
              </a:ext>
            </a:extLst>
          </p:cNvPr>
          <p:cNvSpPr txBox="1"/>
          <p:nvPr/>
        </p:nvSpPr>
        <p:spPr>
          <a:xfrm>
            <a:off x="8982633" y="6519446"/>
            <a:ext cx="4138246" cy="338554"/>
          </a:xfrm>
          <a:prstGeom prst="rect">
            <a:avLst/>
          </a:prstGeom>
          <a:noFill/>
        </p:spPr>
        <p:txBody>
          <a:bodyPr wrap="square" rtlCol="0">
            <a:spAutoFit/>
          </a:bodyPr>
          <a:lstStyle/>
          <a:p>
            <a:r>
              <a:rPr lang="en-US" sz="1600" i="1" dirty="0"/>
              <a:t>Art of Statistics, David </a:t>
            </a:r>
            <a:r>
              <a:rPr lang="en-US" sz="1600" i="1" dirty="0" err="1"/>
              <a:t>Spiegelhalter</a:t>
            </a:r>
            <a:endParaRPr lang="en-US" sz="1600" i="1" dirty="0"/>
          </a:p>
        </p:txBody>
      </p:sp>
      <p:sp>
        <p:nvSpPr>
          <p:cNvPr id="9" name="Rounded Rectangle 8">
            <a:extLst>
              <a:ext uri="{FF2B5EF4-FFF2-40B4-BE49-F238E27FC236}">
                <a16:creationId xmlns:a16="http://schemas.microsoft.com/office/drawing/2014/main" id="{C80E412C-EDDB-9B61-F3E3-1DE56E722837}"/>
              </a:ext>
            </a:extLst>
          </p:cNvPr>
          <p:cNvSpPr/>
          <p:nvPr/>
        </p:nvSpPr>
        <p:spPr>
          <a:xfrm>
            <a:off x="8785412" y="1337889"/>
            <a:ext cx="1775012" cy="2438981"/>
          </a:xfrm>
          <a:prstGeom prst="roundRect">
            <a:avLst/>
          </a:prstGeom>
          <a:gradFill>
            <a:gsLst>
              <a:gs pos="99000">
                <a:schemeClr val="accent1">
                  <a:tint val="100000"/>
                  <a:shade val="100000"/>
                  <a:satMod val="130000"/>
                  <a:alpha val="24000"/>
                </a:schemeClr>
              </a:gs>
              <a:gs pos="100000">
                <a:schemeClr val="accent1">
                  <a:tint val="50000"/>
                  <a:shade val="100000"/>
                  <a:satMod val="350000"/>
                </a:schemeClr>
              </a:gs>
            </a:gsLst>
          </a:gra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28311149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1"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par>
                                <p:cTn id="11" presetID="1" presetClass="exit" presetSubtype="0" fill="hold" grpId="1" nodeType="withEffect">
                                  <p:stCondLst>
                                    <p:cond delay="0"/>
                                  </p:stCondLst>
                                  <p:childTnLst>
                                    <p:set>
                                      <p:cBhvr>
                                        <p:cTn id="12" dur="1" fill="hold">
                                          <p:stCondLst>
                                            <p:cond delay="0"/>
                                          </p:stCondLst>
                                        </p:cTn>
                                        <p:tgtEl>
                                          <p:spTgt spid="6"/>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6" grpId="1" animBg="1"/>
      <p:bldP spid="9" grpId="1"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584E4D-E639-A0C6-5105-EDA7255E175A}"/>
              </a:ext>
            </a:extLst>
          </p:cNvPr>
          <p:cNvSpPr>
            <a:spLocks noGrp="1"/>
          </p:cNvSpPr>
          <p:nvPr>
            <p:ph type="title"/>
          </p:nvPr>
        </p:nvSpPr>
        <p:spPr/>
        <p:txBody>
          <a:bodyPr/>
          <a:lstStyle/>
          <a:p>
            <a:r>
              <a:rPr lang="en-US" dirty="0"/>
              <a:t>Using Data Science to judge a serial killer</a:t>
            </a:r>
          </a:p>
        </p:txBody>
      </p:sp>
      <mc:AlternateContent xmlns:mc="http://schemas.openxmlformats.org/markup-compatibility/2006" xmlns:we="http://schemas.microsoft.com/office/webextensions/webextension/2010/11" xmlns:pca="http://schemas.microsoft.com/office/powerpoint/2013/contentapp">
        <mc:Choice Requires="we pca">
          <p:graphicFrame>
            <p:nvGraphicFramePr>
              <p:cNvPr id="6" name="Content Placeholder 5">
                <a:extLst>
                  <a:ext uri="{FF2B5EF4-FFF2-40B4-BE49-F238E27FC236}">
                    <a16:creationId xmlns:a16="http://schemas.microsoft.com/office/drawing/2014/main" id="{BF579E7C-2D33-9DE0-891C-EAE59D70EBC1}"/>
                  </a:ext>
                </a:extLst>
              </p:cNvPr>
              <p:cNvGraphicFramePr>
                <a:graphicFrameLocks noGrp="1"/>
              </p:cNvGraphicFramePr>
              <p:nvPr>
                <p:ph idx="1"/>
              </p:nvPr>
            </p:nvGraphicFramePr>
            <p:xfrm>
              <a:off x="479425" y="1295400"/>
              <a:ext cx="11102975" cy="4445000"/>
            </p:xfrm>
            <a:graphic>
              <a:graphicData uri="http://schemas.microsoft.com/office/webextensions/webextension/2010/11">
                <we:webextensionref xmlns:we="http://schemas.microsoft.com/office/webextensions/webextension/2010/11" xmlns:r="http://schemas.openxmlformats.org/officeDocument/2006/relationships" r:id="rId3"/>
              </a:graphicData>
            </a:graphic>
          </p:graphicFrame>
        </mc:Choice>
        <mc:Fallback xmlns="">
          <p:pic>
            <p:nvPicPr>
              <p:cNvPr id="6" name="Content Placeholder 5">
                <a:extLst>
                  <a:ext uri="{FF2B5EF4-FFF2-40B4-BE49-F238E27FC236}">
                    <a16:creationId xmlns:a16="http://schemas.microsoft.com/office/drawing/2014/main" id="{BF579E7C-2D33-9DE0-891C-EAE59D70EBC1}"/>
                  </a:ext>
                </a:extLst>
              </p:cNvPr>
              <p:cNvPicPr>
                <a:picLocks noGrp="1" noRot="1" noChangeAspect="1" noMove="1" noResize="1" noEditPoints="1" noAdjustHandles="1" noChangeArrowheads="1" noChangeShapeType="1"/>
              </p:cNvPicPr>
              <p:nvPr/>
            </p:nvPicPr>
            <p:blipFill>
              <a:blip r:embed="rId4">
                <a:clrChange>
                  <a:clrFrom>
                    <a:prstClr val="black"/>
                  </a:clrFrom>
                  <a:clrTo>
                    <a:prstClr val="black">
                      <a:alpha val="0"/>
                    </a:prstClr>
                  </a:clrTo>
                </a:clrChange>
              </a:blip>
              <a:stretch>
                <a:fillRect/>
              </a:stretch>
            </p:blipFill>
            <p:spPr>
              <a:xfrm>
                <a:off x="479425" y="1295400"/>
                <a:ext cx="11102975" cy="4445000"/>
              </a:xfrm>
              <a:prstGeom prst="rect">
                <a:avLst/>
              </a:prstGeom>
            </p:spPr>
          </p:pic>
        </mc:Fallback>
      </mc:AlternateContent>
    </p:spTree>
    <p:extLst>
      <p:ext uri="{BB962C8B-B14F-4D97-AF65-F5344CB8AC3E}">
        <p14:creationId xmlns:p14="http://schemas.microsoft.com/office/powerpoint/2010/main" val="365074689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Using Data Science to judge a serial killer</a:t>
            </a:r>
          </a:p>
        </p:txBody>
      </p:sp>
      <p:pic>
        <p:nvPicPr>
          <p:cNvPr id="4" name="Content Placeholder 3" descr="A graph of a graph showing a number of times&#10;&#10;Description automatically generated with medium confidence">
            <a:extLst>
              <a:ext uri="{FF2B5EF4-FFF2-40B4-BE49-F238E27FC236}">
                <a16:creationId xmlns:a16="http://schemas.microsoft.com/office/drawing/2014/main" id="{117D5DCB-FD6E-0AE0-2129-A0A70324B405}"/>
              </a:ext>
            </a:extLst>
          </p:cNvPr>
          <p:cNvPicPr>
            <a:picLocks noGrp="1" noChangeAspect="1"/>
          </p:cNvPicPr>
          <p:nvPr>
            <p:ph idx="1"/>
          </p:nvPr>
        </p:nvPicPr>
        <p:blipFill>
          <a:blip r:embed="rId3"/>
          <a:stretch>
            <a:fillRect/>
          </a:stretch>
        </p:blipFill>
        <p:spPr>
          <a:xfrm>
            <a:off x="6046804" y="1235577"/>
            <a:ext cx="5271278" cy="5116240"/>
          </a:xfrm>
        </p:spPr>
      </p:pic>
      <p:sp>
        <p:nvSpPr>
          <p:cNvPr id="5" name="Content Placeholder 6">
            <a:extLst>
              <a:ext uri="{FF2B5EF4-FFF2-40B4-BE49-F238E27FC236}">
                <a16:creationId xmlns:a16="http://schemas.microsoft.com/office/drawing/2014/main" id="{12E83F74-FD34-7793-4C7D-B10857499ADA}"/>
              </a:ext>
            </a:extLst>
          </p:cNvPr>
          <p:cNvSpPr txBox="1">
            <a:spLocks/>
          </p:cNvSpPr>
          <p:nvPr/>
        </p:nvSpPr>
        <p:spPr>
          <a:xfrm>
            <a:off x="615139" y="1772092"/>
            <a:ext cx="5480861" cy="3850331"/>
          </a:xfrm>
          <a:prstGeom prst="rect">
            <a:avLst/>
          </a:prstGeom>
        </p:spPr>
        <p:txBody>
          <a:bodyPr vert="horz" lIns="0" tIns="0" rIns="0" bIns="0" rtlCol="0">
            <a:noAutofit/>
          </a:bodyPr>
          <a:lstStyle>
            <a:lvl1pPr marL="457189" indent="-457189" algn="l" defTabSz="609585" rtl="0" eaLnBrk="1" latinLnBrk="0" hangingPunct="1">
              <a:spcBef>
                <a:spcPts val="0"/>
              </a:spcBef>
              <a:buFont typeface="Arial"/>
              <a:buChar char="•"/>
              <a:defRPr sz="4267" kern="1200">
                <a:solidFill>
                  <a:schemeClr val="tx1"/>
                </a:solidFill>
                <a:latin typeface="+mj-lt"/>
                <a:ea typeface="+mn-ea"/>
                <a:cs typeface="Verdana"/>
              </a:defRPr>
            </a:lvl1pPr>
            <a:lvl2pPr marL="956709" indent="-478355" algn="l" defTabSz="609585" rtl="0" eaLnBrk="1" latinLnBrk="0" hangingPunct="1">
              <a:spcBef>
                <a:spcPts val="0"/>
              </a:spcBef>
              <a:buFont typeface="Lucida Grande"/>
              <a:buChar char="-"/>
              <a:defRPr sz="3733" kern="1200">
                <a:solidFill>
                  <a:schemeClr val="tx1"/>
                </a:solidFill>
                <a:latin typeface="+mj-lt"/>
                <a:ea typeface="+mn-ea"/>
                <a:cs typeface="Verdana"/>
              </a:defRPr>
            </a:lvl2pPr>
            <a:lvl3pPr marL="1430831" indent="-476239" algn="l" defTabSz="609585" rtl="0" eaLnBrk="1" latinLnBrk="0" hangingPunct="1">
              <a:spcBef>
                <a:spcPts val="0"/>
              </a:spcBef>
              <a:buFont typeface="Lucida Grande"/>
              <a:buChar char="-"/>
              <a:defRPr sz="3200" kern="1200">
                <a:solidFill>
                  <a:schemeClr val="tx1"/>
                </a:solidFill>
                <a:latin typeface="+mj-lt"/>
                <a:ea typeface="+mn-ea"/>
                <a:cs typeface="Verdana"/>
              </a:defRPr>
            </a:lvl3pPr>
            <a:lvl4pPr marL="1907070" indent="-474121" algn="l" defTabSz="609585" rtl="0" eaLnBrk="1" latinLnBrk="0" hangingPunct="1">
              <a:spcBef>
                <a:spcPts val="0"/>
              </a:spcBef>
              <a:buFont typeface="Lucida Grande"/>
              <a:buChar char="-"/>
              <a:defRPr sz="2667" kern="1200">
                <a:solidFill>
                  <a:schemeClr val="tx1"/>
                </a:solidFill>
                <a:latin typeface="+mj-lt"/>
                <a:ea typeface="+mn-ea"/>
                <a:cs typeface="Verdana"/>
              </a:defRPr>
            </a:lvl4pPr>
            <a:lvl5pPr marL="2391774" indent="-480472" algn="l" defTabSz="609585" rtl="0" eaLnBrk="1" latinLnBrk="0" hangingPunct="1">
              <a:spcBef>
                <a:spcPts val="0"/>
              </a:spcBef>
              <a:buFont typeface="Lucida Grande"/>
              <a:buChar char="-"/>
              <a:defRPr sz="2667" kern="1200">
                <a:solidFill>
                  <a:schemeClr val="tx1"/>
                </a:solidFill>
                <a:latin typeface="+mj-lt"/>
                <a:ea typeface="+mn-ea"/>
                <a:cs typeface="Verdana"/>
              </a:defRPr>
            </a:lvl5pPr>
            <a:lvl6pPr marL="3352716" indent="-304792" algn="l" defTabSz="609585" rtl="0" eaLnBrk="1" latinLnBrk="0" hangingPunct="1">
              <a:spcBef>
                <a:spcPct val="20000"/>
              </a:spcBef>
              <a:buFont typeface="Arial"/>
              <a:buChar char="•"/>
              <a:defRPr sz="2667" kern="1200">
                <a:solidFill>
                  <a:schemeClr val="tx1"/>
                </a:solidFill>
                <a:latin typeface="+mn-lt"/>
                <a:ea typeface="+mn-ea"/>
                <a:cs typeface="+mn-cs"/>
              </a:defRPr>
            </a:lvl6pPr>
            <a:lvl7pPr marL="3962301" indent="-304792" algn="l" defTabSz="609585" rtl="0" eaLnBrk="1" latinLnBrk="0" hangingPunct="1">
              <a:spcBef>
                <a:spcPct val="20000"/>
              </a:spcBef>
              <a:buFont typeface="Arial"/>
              <a:buChar char="•"/>
              <a:defRPr sz="2667" kern="1200">
                <a:solidFill>
                  <a:schemeClr val="tx1"/>
                </a:solidFill>
                <a:latin typeface="+mn-lt"/>
                <a:ea typeface="+mn-ea"/>
                <a:cs typeface="+mn-cs"/>
              </a:defRPr>
            </a:lvl7pPr>
            <a:lvl8pPr marL="4571886" indent="-304792" algn="l" defTabSz="609585" rtl="0" eaLnBrk="1" latinLnBrk="0" hangingPunct="1">
              <a:spcBef>
                <a:spcPct val="20000"/>
              </a:spcBef>
              <a:buFont typeface="Arial"/>
              <a:buChar char="•"/>
              <a:defRPr sz="2667" kern="1200">
                <a:solidFill>
                  <a:schemeClr val="tx1"/>
                </a:solidFill>
                <a:latin typeface="+mn-lt"/>
                <a:ea typeface="+mn-ea"/>
                <a:cs typeface="+mn-cs"/>
              </a:defRPr>
            </a:lvl8pPr>
            <a:lvl9pPr marL="5181470" indent="-304792" algn="l" defTabSz="609585" rtl="0" eaLnBrk="1" latinLnBrk="0" hangingPunct="1">
              <a:spcBef>
                <a:spcPct val="20000"/>
              </a:spcBef>
              <a:buFont typeface="Arial"/>
              <a:buChar char="•"/>
              <a:defRPr sz="2667" kern="1200">
                <a:solidFill>
                  <a:schemeClr val="tx1"/>
                </a:solidFill>
                <a:latin typeface="+mn-lt"/>
                <a:ea typeface="+mn-ea"/>
                <a:cs typeface="+mn-cs"/>
              </a:defRPr>
            </a:lvl9pPr>
          </a:lstStyle>
          <a:p>
            <a:pPr marL="0" indent="0" algn="just">
              <a:buFont typeface="Arial"/>
              <a:buNone/>
            </a:pPr>
            <a:r>
              <a:rPr lang="en-US" sz="2800" dirty="0">
                <a:latin typeface="Calibri" panose="020F0502020204030204" pitchFamily="34" charset="0"/>
                <a:cs typeface="Calibri" panose="020F0502020204030204" pitchFamily="34" charset="0"/>
              </a:rPr>
              <a:t>Dame Janet Smith: “</a:t>
            </a:r>
            <a:r>
              <a:rPr lang="en-US" sz="2800" b="0" i="1" dirty="0">
                <a:solidFill>
                  <a:srgbClr val="000000"/>
                </a:solidFill>
                <a:effectLst/>
                <a:latin typeface="Calibri" panose="020F0502020204030204" pitchFamily="34" charset="0"/>
                <a:cs typeface="Calibri" panose="020F0502020204030204" pitchFamily="34" charset="0"/>
              </a:rPr>
              <a:t>I still do feel it was unspeakably dreadful, just unspeakable and unthinkable and unimaginable that he should be going about day after day pretending to be this wonderfully caring doctor and having with him in his bag his lethal weapon … which he would just take out in the most matter-of-fact way</a:t>
            </a:r>
            <a:r>
              <a:rPr lang="en-US" sz="2800" b="0" i="0" dirty="0">
                <a:solidFill>
                  <a:srgbClr val="000000"/>
                </a:solidFill>
                <a:effectLst/>
                <a:latin typeface="Calibri" panose="020F0502020204030204" pitchFamily="34" charset="0"/>
                <a:cs typeface="Calibri" panose="020F0502020204030204" pitchFamily="34" charset="0"/>
              </a:rPr>
              <a:t>.”</a:t>
            </a:r>
            <a:endParaRPr lang="en-US" sz="2800" dirty="0">
              <a:latin typeface="Calibri" panose="020F0502020204030204" pitchFamily="34" charset="0"/>
              <a:cs typeface="Calibri" panose="020F0502020204030204" pitchFamily="34" charset="0"/>
            </a:endParaRPr>
          </a:p>
        </p:txBody>
      </p:sp>
      <p:sp>
        <p:nvSpPr>
          <p:cNvPr id="6" name="Rounded Rectangle 5">
            <a:extLst>
              <a:ext uri="{FF2B5EF4-FFF2-40B4-BE49-F238E27FC236}">
                <a16:creationId xmlns:a16="http://schemas.microsoft.com/office/drawing/2014/main" id="{44B0F1FB-7B16-CEFE-1F87-8A66F6B56290}"/>
              </a:ext>
            </a:extLst>
          </p:cNvPr>
          <p:cNvSpPr/>
          <p:nvPr/>
        </p:nvSpPr>
        <p:spPr>
          <a:xfrm>
            <a:off x="9073662" y="1477108"/>
            <a:ext cx="1230923" cy="1770184"/>
          </a:xfrm>
          <a:prstGeom prst="roundRect">
            <a:avLst/>
          </a:prstGeom>
          <a:gradFill>
            <a:gsLst>
              <a:gs pos="99000">
                <a:schemeClr val="accent1">
                  <a:tint val="100000"/>
                  <a:shade val="100000"/>
                  <a:satMod val="130000"/>
                  <a:alpha val="35168"/>
                </a:schemeClr>
              </a:gs>
              <a:gs pos="100000">
                <a:schemeClr val="accent1">
                  <a:tint val="50000"/>
                  <a:shade val="100000"/>
                  <a:satMod val="350000"/>
                </a:schemeClr>
              </a:gs>
            </a:gsLst>
          </a:gra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8" name="TextBox 7">
            <a:extLst>
              <a:ext uri="{FF2B5EF4-FFF2-40B4-BE49-F238E27FC236}">
                <a16:creationId xmlns:a16="http://schemas.microsoft.com/office/drawing/2014/main" id="{51E78080-ADA1-38F0-16A5-8DB742C56D4A}"/>
              </a:ext>
            </a:extLst>
          </p:cNvPr>
          <p:cNvSpPr txBox="1"/>
          <p:nvPr/>
        </p:nvSpPr>
        <p:spPr>
          <a:xfrm>
            <a:off x="8982633" y="6519446"/>
            <a:ext cx="4138246" cy="338554"/>
          </a:xfrm>
          <a:prstGeom prst="rect">
            <a:avLst/>
          </a:prstGeom>
          <a:noFill/>
        </p:spPr>
        <p:txBody>
          <a:bodyPr wrap="square" rtlCol="0">
            <a:spAutoFit/>
          </a:bodyPr>
          <a:lstStyle/>
          <a:p>
            <a:r>
              <a:rPr lang="en-US" sz="1600" i="1" dirty="0"/>
              <a:t>Art of Statistics, David </a:t>
            </a:r>
            <a:r>
              <a:rPr lang="en-US" sz="1600" i="1" dirty="0" err="1"/>
              <a:t>Spiegelhalter</a:t>
            </a:r>
            <a:endParaRPr lang="en-US" sz="1600" i="1" dirty="0"/>
          </a:p>
        </p:txBody>
      </p:sp>
    </p:spTree>
    <p:extLst>
      <p:ext uri="{BB962C8B-B14F-4D97-AF65-F5344CB8AC3E}">
        <p14:creationId xmlns:p14="http://schemas.microsoft.com/office/powerpoint/2010/main" val="325881606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One branch of data science: Forensic statistics</a:t>
            </a:r>
          </a:p>
        </p:txBody>
      </p:sp>
      <p:sp>
        <p:nvSpPr>
          <p:cNvPr id="7" name="Content Placeholder 6">
            <a:extLst>
              <a:ext uri="{FF2B5EF4-FFF2-40B4-BE49-F238E27FC236}">
                <a16:creationId xmlns:a16="http://schemas.microsoft.com/office/drawing/2014/main" id="{D7B65608-A067-1718-910F-703B512D25EB}"/>
              </a:ext>
            </a:extLst>
          </p:cNvPr>
          <p:cNvSpPr>
            <a:spLocks noGrp="1"/>
          </p:cNvSpPr>
          <p:nvPr>
            <p:ph idx="1"/>
          </p:nvPr>
        </p:nvSpPr>
        <p:spPr>
          <a:xfrm>
            <a:off x="480001" y="1546394"/>
            <a:ext cx="11102399" cy="4445149"/>
          </a:xfrm>
        </p:spPr>
        <p:txBody>
          <a:bodyPr/>
          <a:lstStyle/>
          <a:p>
            <a:r>
              <a:rPr lang="en-US" dirty="0"/>
              <a:t>No models, no fancy math, just looking at data carefully, again, and again</a:t>
            </a:r>
          </a:p>
          <a:p>
            <a:r>
              <a:rPr lang="en-US" dirty="0"/>
              <a:t>After critically assessing data, we need to plot it as well: how do we decide how/when to do that? </a:t>
            </a:r>
          </a:p>
          <a:p>
            <a:r>
              <a:rPr lang="en-US" dirty="0"/>
              <a:t>Could also have used formal statistical analysis, but how? </a:t>
            </a:r>
          </a:p>
          <a:p>
            <a:endParaRPr lang="en-US" dirty="0"/>
          </a:p>
        </p:txBody>
      </p:sp>
    </p:spTree>
    <p:extLst>
      <p:ext uri="{BB962C8B-B14F-4D97-AF65-F5344CB8AC3E}">
        <p14:creationId xmlns:p14="http://schemas.microsoft.com/office/powerpoint/2010/main" val="11321851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World Can Be Quantified</a:t>
            </a:r>
          </a:p>
        </p:txBody>
      </p:sp>
      <p:sp>
        <p:nvSpPr>
          <p:cNvPr id="7" name="Content Placeholder 6">
            <a:extLst>
              <a:ext uri="{FF2B5EF4-FFF2-40B4-BE49-F238E27FC236}">
                <a16:creationId xmlns:a16="http://schemas.microsoft.com/office/drawing/2014/main" id="{D7B65608-A067-1718-910F-703B512D25EB}"/>
              </a:ext>
            </a:extLst>
          </p:cNvPr>
          <p:cNvSpPr>
            <a:spLocks noGrp="1"/>
          </p:cNvSpPr>
          <p:nvPr>
            <p:ph idx="1"/>
          </p:nvPr>
        </p:nvSpPr>
        <p:spPr>
          <a:xfrm>
            <a:off x="480001" y="1311935"/>
            <a:ext cx="11102399" cy="2305744"/>
          </a:xfrm>
        </p:spPr>
        <p:txBody>
          <a:bodyPr/>
          <a:lstStyle/>
          <a:p>
            <a:pPr marL="0" indent="0">
              <a:buNone/>
            </a:pPr>
            <a:r>
              <a:rPr lang="en-US" sz="3600" dirty="0"/>
              <a:t>To understand the nature of Shipman’s murders, we abstracted out the details, we turned people into numbers, each person into a dot (slightly terrifying, but in the end, for this purpose, useful).</a:t>
            </a:r>
          </a:p>
        </p:txBody>
      </p:sp>
      <p:graphicFrame>
        <p:nvGraphicFramePr>
          <p:cNvPr id="4" name="Content Placeholder 5">
            <a:extLst>
              <a:ext uri="{FF2B5EF4-FFF2-40B4-BE49-F238E27FC236}">
                <a16:creationId xmlns:a16="http://schemas.microsoft.com/office/drawing/2014/main" id="{EBBE8791-CE6D-4D09-73F1-8AF1AB9ABF36}"/>
              </a:ext>
            </a:extLst>
          </p:cNvPr>
          <p:cNvGraphicFramePr>
            <a:graphicFrameLocks/>
          </p:cNvGraphicFramePr>
          <p:nvPr>
            <p:extLst>
              <p:ext uri="{D42A27DB-BD31-4B8C-83A1-F6EECF244321}">
                <p14:modId xmlns:p14="http://schemas.microsoft.com/office/powerpoint/2010/main" val="1819556219"/>
              </p:ext>
            </p:extLst>
          </p:nvPr>
        </p:nvGraphicFramePr>
        <p:xfrm>
          <a:off x="359998" y="3768968"/>
          <a:ext cx="11222402" cy="2098720"/>
        </p:xfrm>
        <a:graphic>
          <a:graphicData uri="http://schemas.openxmlformats.org/drawingml/2006/table">
            <a:tbl>
              <a:tblPr firstRow="1" bandRow="1">
                <a:tableStyleId>{5C22544A-7EE6-4342-B048-85BDC9FD1C3A}</a:tableStyleId>
              </a:tblPr>
              <a:tblGrid>
                <a:gridCol w="11222402">
                  <a:extLst>
                    <a:ext uri="{9D8B030D-6E8A-4147-A177-3AD203B41FA5}">
                      <a16:colId xmlns:a16="http://schemas.microsoft.com/office/drawing/2014/main" val="2806566759"/>
                    </a:ext>
                  </a:extLst>
                </a:gridCol>
              </a:tblGrid>
              <a:tr h="544240">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2800" dirty="0"/>
                        <a:t>Definition</a:t>
                      </a:r>
                    </a:p>
                  </a:txBody>
                  <a:tcPr>
                    <a:solidFill>
                      <a:srgbClr val="E84E10"/>
                    </a:solidFill>
                  </a:tcPr>
                </a:tc>
                <a:extLst>
                  <a:ext uri="{0D108BD9-81ED-4DB2-BD59-A6C34878D82A}">
                    <a16:rowId xmlns:a16="http://schemas.microsoft.com/office/drawing/2014/main" val="4282699494"/>
                  </a:ext>
                </a:extLst>
              </a:tr>
              <a:tr h="574495">
                <a:tc>
                  <a:txBody>
                    <a:bodyPr/>
                    <a:lstStyle/>
                    <a:p>
                      <a:r>
                        <a:rPr lang="en-US" sz="3200" b="1" dirty="0"/>
                        <a:t>Data science and statistics </a:t>
                      </a:r>
                      <a:r>
                        <a:rPr lang="en-US" sz="3200" dirty="0"/>
                        <a:t>is the process of abstracting the world into numbers and then finding the patterns across those numbers using critical reasoning and mathematical tools.</a:t>
                      </a:r>
                    </a:p>
                  </a:txBody>
                  <a:tcPr>
                    <a:solidFill>
                      <a:srgbClr val="F6D0CC"/>
                    </a:solidFill>
                  </a:tcPr>
                </a:tc>
                <a:extLst>
                  <a:ext uri="{0D108BD9-81ED-4DB2-BD59-A6C34878D82A}">
                    <a16:rowId xmlns:a16="http://schemas.microsoft.com/office/drawing/2014/main" val="2257841623"/>
                  </a:ext>
                </a:extLst>
              </a:tr>
            </a:tbl>
          </a:graphicData>
        </a:graphic>
      </p:graphicFrame>
    </p:spTree>
    <p:extLst>
      <p:ext uri="{BB962C8B-B14F-4D97-AF65-F5344CB8AC3E}">
        <p14:creationId xmlns:p14="http://schemas.microsoft.com/office/powerpoint/2010/main" val="21122227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World Can Be Quantified</a:t>
            </a:r>
          </a:p>
        </p:txBody>
      </p:sp>
      <p:sp>
        <p:nvSpPr>
          <p:cNvPr id="7" name="Content Placeholder 6">
            <a:extLst>
              <a:ext uri="{FF2B5EF4-FFF2-40B4-BE49-F238E27FC236}">
                <a16:creationId xmlns:a16="http://schemas.microsoft.com/office/drawing/2014/main" id="{D7B65608-A067-1718-910F-703B512D25EB}"/>
              </a:ext>
            </a:extLst>
          </p:cNvPr>
          <p:cNvSpPr>
            <a:spLocks noGrp="1"/>
          </p:cNvSpPr>
          <p:nvPr>
            <p:ph idx="1"/>
          </p:nvPr>
        </p:nvSpPr>
        <p:spPr>
          <a:xfrm>
            <a:off x="480001" y="1417441"/>
            <a:ext cx="11102399" cy="4445149"/>
          </a:xfrm>
        </p:spPr>
        <p:txBody>
          <a:bodyPr/>
          <a:lstStyle/>
          <a:p>
            <a:r>
              <a:rPr lang="en-US" sz="3600" dirty="0"/>
              <a:t>As an example, consider the question: </a:t>
            </a:r>
          </a:p>
          <a:p>
            <a:r>
              <a:rPr lang="en-US" sz="3600" dirty="0">
                <a:highlight>
                  <a:srgbClr val="C0C0C0"/>
                </a:highlight>
              </a:rPr>
              <a:t>“</a:t>
            </a:r>
            <a:r>
              <a:rPr lang="en-US" sz="3600" b="1" dirty="0">
                <a:highlight>
                  <a:srgbClr val="C0C0C0"/>
                </a:highlight>
              </a:rPr>
              <a:t>Are there more computing machines in PHS1-B compared to PHS1-C?”</a:t>
            </a:r>
            <a:r>
              <a:rPr lang="en-US" sz="3600" b="1" dirty="0"/>
              <a:t>                                               </a:t>
            </a:r>
            <a:r>
              <a:rPr lang="en-US" sz="3600" b="1" dirty="0">
                <a:highlight>
                  <a:srgbClr val="C0C0C0"/>
                </a:highlight>
              </a:rPr>
              <a:t>      </a:t>
            </a:r>
          </a:p>
          <a:p>
            <a:r>
              <a:rPr lang="en-US" sz="3600" dirty="0"/>
              <a:t>How do we go about answering this question?</a:t>
            </a:r>
          </a:p>
          <a:p>
            <a:r>
              <a:rPr lang="en-US" sz="3600" dirty="0"/>
              <a:t>First, we need to answer what is a computing machine? Is your phone a computer? A calculator?</a:t>
            </a:r>
          </a:p>
          <a:p>
            <a:endParaRPr lang="en-US" sz="3600" dirty="0"/>
          </a:p>
        </p:txBody>
      </p:sp>
    </p:spTree>
    <p:extLst>
      <p:ext uri="{BB962C8B-B14F-4D97-AF65-F5344CB8AC3E}">
        <p14:creationId xmlns:p14="http://schemas.microsoft.com/office/powerpoint/2010/main" val="10760998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World Can Be Quantified</a:t>
            </a:r>
          </a:p>
        </p:txBody>
      </p:sp>
      <p:sp>
        <p:nvSpPr>
          <p:cNvPr id="7" name="Content Placeholder 6">
            <a:extLst>
              <a:ext uri="{FF2B5EF4-FFF2-40B4-BE49-F238E27FC236}">
                <a16:creationId xmlns:a16="http://schemas.microsoft.com/office/drawing/2014/main" id="{D7B65608-A067-1718-910F-703B512D25EB}"/>
              </a:ext>
            </a:extLst>
          </p:cNvPr>
          <p:cNvSpPr>
            <a:spLocks noGrp="1"/>
          </p:cNvSpPr>
          <p:nvPr>
            <p:ph idx="1"/>
          </p:nvPr>
        </p:nvSpPr>
        <p:spPr>
          <a:xfrm>
            <a:off x="480001" y="1265042"/>
            <a:ext cx="11102399" cy="4445149"/>
          </a:xfrm>
        </p:spPr>
        <p:txBody>
          <a:bodyPr/>
          <a:lstStyle/>
          <a:p>
            <a:r>
              <a:rPr lang="en-US" sz="4000" dirty="0"/>
              <a:t>Now, how can we quickly assess how many computers are in this building? </a:t>
            </a:r>
          </a:p>
          <a:p>
            <a:r>
              <a:rPr lang="en-US" sz="4000" dirty="0"/>
              <a:t>How many lab rooms on this floor? </a:t>
            </a:r>
          </a:p>
          <a:p>
            <a:r>
              <a:rPr lang="en-US" sz="4000" dirty="0"/>
              <a:t>Each student has a laptop. How many lecture halls? </a:t>
            </a:r>
          </a:p>
          <a:p>
            <a:r>
              <a:rPr lang="en-US" sz="4000" dirty="0"/>
              <a:t>How many students in the study hall on the ground floor? </a:t>
            </a:r>
          </a:p>
          <a:p>
            <a:r>
              <a:rPr lang="en-US" sz="4000" dirty="0"/>
              <a:t>How can we verify this? </a:t>
            </a:r>
          </a:p>
          <a:p>
            <a:endParaRPr lang="en-US" sz="4000" dirty="0"/>
          </a:p>
        </p:txBody>
      </p:sp>
    </p:spTree>
    <p:extLst>
      <p:ext uri="{BB962C8B-B14F-4D97-AF65-F5344CB8AC3E}">
        <p14:creationId xmlns:p14="http://schemas.microsoft.com/office/powerpoint/2010/main" val="28757952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World Can Be Quantified</a:t>
            </a:r>
          </a:p>
        </p:txBody>
      </p:sp>
      <p:sp>
        <p:nvSpPr>
          <p:cNvPr id="7" name="Content Placeholder 6">
            <a:extLst>
              <a:ext uri="{FF2B5EF4-FFF2-40B4-BE49-F238E27FC236}">
                <a16:creationId xmlns:a16="http://schemas.microsoft.com/office/drawing/2014/main" id="{D7B65608-A067-1718-910F-703B512D25EB}"/>
              </a:ext>
            </a:extLst>
          </p:cNvPr>
          <p:cNvSpPr>
            <a:spLocks noGrp="1"/>
          </p:cNvSpPr>
          <p:nvPr>
            <p:ph idx="1"/>
          </p:nvPr>
        </p:nvSpPr>
        <p:spPr>
          <a:xfrm>
            <a:off x="480001" y="1546394"/>
            <a:ext cx="11102399" cy="4445149"/>
          </a:xfrm>
        </p:spPr>
        <p:txBody>
          <a:bodyPr/>
          <a:lstStyle/>
          <a:p>
            <a:r>
              <a:rPr lang="en-US" sz="4800" dirty="0"/>
              <a:t>Quantification can be messy. </a:t>
            </a:r>
          </a:p>
          <a:p>
            <a:r>
              <a:rPr lang="en-US" sz="4800" dirty="0"/>
              <a:t>Quantification can yield inaccurate numbers relative to our intended goals. </a:t>
            </a:r>
          </a:p>
          <a:p>
            <a:r>
              <a:rPr lang="en-US" sz="4800" dirty="0"/>
              <a:t>What if we wanted to know how much an injection hurt and used a survey from 0 to 10?</a:t>
            </a:r>
          </a:p>
        </p:txBody>
      </p:sp>
    </p:spTree>
    <p:extLst>
      <p:ext uri="{BB962C8B-B14F-4D97-AF65-F5344CB8AC3E}">
        <p14:creationId xmlns:p14="http://schemas.microsoft.com/office/powerpoint/2010/main" val="62237475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80001" y="199292"/>
            <a:ext cx="11102399" cy="970968"/>
          </a:xfrm>
        </p:spPr>
        <p:txBody>
          <a:bodyPr>
            <a:noAutofit/>
          </a:bodyPr>
          <a:lstStyle/>
          <a:p>
            <a:r>
              <a:rPr lang="en-US" sz="4000" dirty="0"/>
              <a:t>The World Can Be Quantified…</a:t>
            </a:r>
            <a:br>
              <a:rPr lang="en-US" sz="4000" dirty="0"/>
            </a:br>
            <a:r>
              <a:rPr lang="en-US" sz="4000" dirty="0"/>
              <a:t>but this needn’t be meaningful</a:t>
            </a:r>
          </a:p>
        </p:txBody>
      </p:sp>
      <p:sp>
        <p:nvSpPr>
          <p:cNvPr id="7" name="Content Placeholder 6">
            <a:extLst>
              <a:ext uri="{FF2B5EF4-FFF2-40B4-BE49-F238E27FC236}">
                <a16:creationId xmlns:a16="http://schemas.microsoft.com/office/drawing/2014/main" id="{D7B65608-A067-1718-910F-703B512D25EB}"/>
              </a:ext>
            </a:extLst>
          </p:cNvPr>
          <p:cNvSpPr>
            <a:spLocks noGrp="1"/>
          </p:cNvSpPr>
          <p:nvPr>
            <p:ph idx="1"/>
          </p:nvPr>
        </p:nvSpPr>
        <p:spPr>
          <a:xfrm>
            <a:off x="480001" y="1546394"/>
            <a:ext cx="11102399" cy="4445149"/>
          </a:xfrm>
        </p:spPr>
        <p:txBody>
          <a:bodyPr/>
          <a:lstStyle/>
          <a:p>
            <a:r>
              <a:rPr lang="en-US" dirty="0"/>
              <a:t>Data science and its older sibling - statistics - are always constructed based on judgements (e.g. what is a computing machine?).</a:t>
            </a:r>
          </a:p>
          <a:p>
            <a:r>
              <a:rPr lang="en-US" b="1" u="sng" dirty="0"/>
              <a:t>Delusional to believe data is the real world. </a:t>
            </a:r>
          </a:p>
          <a:p>
            <a:r>
              <a:rPr lang="en-US" dirty="0"/>
              <a:t>But. We can still understand an approximated fact about the real world with data.</a:t>
            </a:r>
          </a:p>
          <a:p>
            <a:r>
              <a:rPr lang="en-US" dirty="0"/>
              <a:t>Sometimes, that fact can be extrapolated.</a:t>
            </a:r>
          </a:p>
        </p:txBody>
      </p:sp>
    </p:spTree>
    <p:extLst>
      <p:ext uri="{BB962C8B-B14F-4D97-AF65-F5344CB8AC3E}">
        <p14:creationId xmlns:p14="http://schemas.microsoft.com/office/powerpoint/2010/main" val="290237578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80001" y="199292"/>
            <a:ext cx="11102399" cy="970968"/>
          </a:xfrm>
        </p:spPr>
        <p:txBody>
          <a:bodyPr>
            <a:noAutofit/>
          </a:bodyPr>
          <a:lstStyle/>
          <a:p>
            <a:r>
              <a:rPr lang="en-US" sz="4000" dirty="0"/>
              <a:t>The World Can Be Quantified…</a:t>
            </a:r>
            <a:br>
              <a:rPr lang="en-US" sz="4000" dirty="0"/>
            </a:br>
            <a:r>
              <a:rPr lang="en-US" sz="4000" dirty="0"/>
              <a:t>but this needn’t be meaningful</a:t>
            </a:r>
          </a:p>
        </p:txBody>
      </p:sp>
      <p:sp>
        <p:nvSpPr>
          <p:cNvPr id="7" name="Content Placeholder 6">
            <a:extLst>
              <a:ext uri="{FF2B5EF4-FFF2-40B4-BE49-F238E27FC236}">
                <a16:creationId xmlns:a16="http://schemas.microsoft.com/office/drawing/2014/main" id="{D7B65608-A067-1718-910F-703B512D25EB}"/>
              </a:ext>
            </a:extLst>
          </p:cNvPr>
          <p:cNvSpPr>
            <a:spLocks noGrp="1"/>
          </p:cNvSpPr>
          <p:nvPr>
            <p:ph idx="1"/>
          </p:nvPr>
        </p:nvSpPr>
        <p:spPr>
          <a:xfrm>
            <a:off x="480001" y="1546394"/>
            <a:ext cx="11102399" cy="4445149"/>
          </a:xfrm>
        </p:spPr>
        <p:txBody>
          <a:bodyPr/>
          <a:lstStyle/>
          <a:p>
            <a:pPr marL="0" indent="0">
              <a:buNone/>
            </a:pPr>
            <a:r>
              <a:rPr lang="en-US" sz="3200" dirty="0"/>
              <a:t>Data has two main limitations:</a:t>
            </a:r>
          </a:p>
          <a:p>
            <a:r>
              <a:rPr lang="en-US" sz="3200" dirty="0"/>
              <a:t>1. Data is always an imperfect measure of what we are really interested in: so how can you improve the measure?</a:t>
            </a:r>
          </a:p>
          <a:p>
            <a:r>
              <a:rPr lang="en-US" sz="3200" dirty="0"/>
              <a:t>2. Anything we choose to measure will differ from place to place, person to person and time to time: so how can you tame or at least understand that variability?</a:t>
            </a:r>
          </a:p>
          <a:p>
            <a:pPr marL="0" indent="0">
              <a:buNone/>
            </a:pPr>
            <a:endParaRPr lang="en-US" sz="3200" dirty="0"/>
          </a:p>
          <a:p>
            <a:pPr marL="0" indent="0">
              <a:buNone/>
            </a:pPr>
            <a:r>
              <a:rPr lang="en-US" sz="3200" dirty="0"/>
              <a:t>Answering these two questions well and in a meaningful manner is the main goal of data science. How can we do that?</a:t>
            </a:r>
          </a:p>
        </p:txBody>
      </p:sp>
    </p:spTree>
    <p:extLst>
      <p:ext uri="{BB962C8B-B14F-4D97-AF65-F5344CB8AC3E}">
        <p14:creationId xmlns:p14="http://schemas.microsoft.com/office/powerpoint/2010/main" val="38201528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diagram of a problem&#10;&#10;Description automatically generated">
            <a:extLst>
              <a:ext uri="{FF2B5EF4-FFF2-40B4-BE49-F238E27FC236}">
                <a16:creationId xmlns:a16="http://schemas.microsoft.com/office/drawing/2014/main" id="{47C84746-226A-FBA0-4BA3-366DDB9F7804}"/>
              </a:ext>
            </a:extLst>
          </p:cNvPr>
          <p:cNvPicPr>
            <a:picLocks noChangeAspect="1"/>
          </p:cNvPicPr>
          <p:nvPr/>
        </p:nvPicPr>
        <p:blipFill>
          <a:blip r:embed="rId3"/>
          <a:stretch>
            <a:fillRect/>
          </a:stretch>
        </p:blipFill>
        <p:spPr>
          <a:xfrm>
            <a:off x="2310207" y="185494"/>
            <a:ext cx="7102662" cy="6037262"/>
          </a:xfrm>
          <a:prstGeom prst="rect">
            <a:avLst/>
          </a:prstGeom>
          <a:noFill/>
        </p:spPr>
      </p:pic>
    </p:spTree>
    <p:extLst>
      <p:ext uri="{BB962C8B-B14F-4D97-AF65-F5344CB8AC3E}">
        <p14:creationId xmlns:p14="http://schemas.microsoft.com/office/powerpoint/2010/main" val="73127773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D15CE8-DB37-8732-FD1D-836B83E6739C}"/>
              </a:ext>
            </a:extLst>
          </p:cNvPr>
          <p:cNvSpPr>
            <a:spLocks noGrp="1"/>
          </p:cNvSpPr>
          <p:nvPr>
            <p:ph type="title"/>
          </p:nvPr>
        </p:nvSpPr>
        <p:spPr/>
        <p:txBody>
          <a:bodyPr/>
          <a:lstStyle/>
          <a:p>
            <a:r>
              <a:rPr lang="en-US" dirty="0"/>
              <a:t>What are you hoping to get from this class?</a:t>
            </a:r>
          </a:p>
        </p:txBody>
      </p:sp>
      <mc:AlternateContent xmlns:mc="http://schemas.openxmlformats.org/markup-compatibility/2006">
        <mc:Choice xmlns:we="http://schemas.microsoft.com/office/webextensions/webextension/2010/11" xmlns:pca="http://schemas.microsoft.com/office/powerpoint/2013/contentapp" Requires="we pca">
          <p:graphicFrame>
            <p:nvGraphicFramePr>
              <p:cNvPr id="9" name="Content Placeholder 8">
                <a:extLst>
                  <a:ext uri="{FF2B5EF4-FFF2-40B4-BE49-F238E27FC236}">
                    <a16:creationId xmlns:a16="http://schemas.microsoft.com/office/drawing/2014/main" id="{B5CE332D-94D5-FF40-9507-87F154035680}"/>
                  </a:ext>
                </a:extLst>
              </p:cNvPr>
              <p:cNvGraphicFramePr>
                <a:graphicFrameLocks noGrp="1"/>
              </p:cNvGraphicFramePr>
              <p:nvPr>
                <p:ph idx="1"/>
              </p:nvPr>
            </p:nvGraphicFramePr>
            <p:xfrm>
              <a:off x="479425" y="1295400"/>
              <a:ext cx="11102975" cy="4445000"/>
            </p:xfrm>
            <a:graphic>
              <a:graphicData uri="http://schemas.microsoft.com/office/webextensions/webextension/2010/11">
                <we:webextensionref xmlns:we="http://schemas.microsoft.com/office/webextensions/webextension/2010/11" xmlns:r="http://schemas.openxmlformats.org/officeDocument/2006/relationships" r:id="rId2"/>
              </a:graphicData>
            </a:graphic>
          </p:graphicFrame>
        </mc:Choice>
        <mc:Fallback>
          <p:pic>
            <p:nvPicPr>
              <p:cNvPr id="9" name="Content Placeholder 8">
                <a:extLst>
                  <a:ext uri="{FF2B5EF4-FFF2-40B4-BE49-F238E27FC236}">
                    <a16:creationId xmlns:a16="http://schemas.microsoft.com/office/drawing/2014/main" id="{B5CE332D-94D5-FF40-9507-87F154035680}"/>
                  </a:ext>
                </a:extLst>
              </p:cNvPr>
              <p:cNvPicPr>
                <a:picLocks noGrp="1" noRot="1" noChangeAspect="1" noMove="1" noResize="1" noEditPoints="1" noAdjustHandles="1" noChangeArrowheads="1" noChangeShapeType="1"/>
              </p:cNvPicPr>
              <p:nvPr/>
            </p:nvPicPr>
            <p:blipFill>
              <a:blip r:embed="rId3">
                <a:clrChange>
                  <a:clrFrom>
                    <a:prstClr val="black"/>
                  </a:clrFrom>
                  <a:clrTo>
                    <a:prstClr val="black">
                      <a:alpha val="0"/>
                    </a:prstClr>
                  </a:clrTo>
                </a:clrChange>
              </a:blip>
              <a:stretch>
                <a:fillRect/>
              </a:stretch>
            </p:blipFill>
            <p:spPr>
              <a:xfrm>
                <a:off x="479425" y="1295400"/>
                <a:ext cx="11102975" cy="4445000"/>
              </a:xfrm>
              <a:prstGeom prst="rect">
                <a:avLst/>
              </a:prstGeom>
            </p:spPr>
          </p:pic>
        </mc:Fallback>
      </mc:AlternateContent>
    </p:spTree>
    <p:extLst>
      <p:ext uri="{BB962C8B-B14F-4D97-AF65-F5344CB8AC3E}">
        <p14:creationId xmlns:p14="http://schemas.microsoft.com/office/powerpoint/2010/main" val="309274545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Class Goals</a:t>
            </a:r>
          </a:p>
        </p:txBody>
      </p:sp>
      <p:sp>
        <p:nvSpPr>
          <p:cNvPr id="7" name="Content Placeholder 6">
            <a:extLst>
              <a:ext uri="{FF2B5EF4-FFF2-40B4-BE49-F238E27FC236}">
                <a16:creationId xmlns:a16="http://schemas.microsoft.com/office/drawing/2014/main" id="{D7B65608-A067-1718-910F-703B512D25EB}"/>
              </a:ext>
            </a:extLst>
          </p:cNvPr>
          <p:cNvSpPr>
            <a:spLocks noGrp="1"/>
          </p:cNvSpPr>
          <p:nvPr>
            <p:ph idx="1"/>
          </p:nvPr>
        </p:nvSpPr>
        <p:spPr>
          <a:xfrm>
            <a:off x="480001" y="1546394"/>
            <a:ext cx="11102399" cy="4445149"/>
          </a:xfrm>
        </p:spPr>
        <p:txBody>
          <a:bodyPr/>
          <a:lstStyle/>
          <a:p>
            <a:r>
              <a:rPr lang="en-US" dirty="0"/>
              <a:t>Achieve a basic level of data/stats literacy: </a:t>
            </a:r>
          </a:p>
          <a:p>
            <a:pPr lvl="1"/>
            <a:r>
              <a:rPr lang="en-US" dirty="0"/>
              <a:t>the ability to understand the principles behind learning from data, </a:t>
            </a:r>
          </a:p>
          <a:p>
            <a:pPr lvl="1"/>
            <a:r>
              <a:rPr lang="en-US" dirty="0"/>
              <a:t>carry out basic data analyses, </a:t>
            </a:r>
          </a:p>
          <a:p>
            <a:pPr lvl="1"/>
            <a:r>
              <a:rPr lang="en-US" dirty="0"/>
              <a:t>understand what are good and bad visualizations, &amp;</a:t>
            </a:r>
          </a:p>
          <a:p>
            <a:pPr lvl="1"/>
            <a:r>
              <a:rPr lang="en-US" dirty="0"/>
              <a:t>critique the quality of claims made based on data.</a:t>
            </a:r>
          </a:p>
          <a:p>
            <a:endParaRPr lang="en-US" dirty="0"/>
          </a:p>
        </p:txBody>
      </p:sp>
    </p:spTree>
    <p:extLst>
      <p:ext uri="{BB962C8B-B14F-4D97-AF65-F5344CB8AC3E}">
        <p14:creationId xmlns:p14="http://schemas.microsoft.com/office/powerpoint/2010/main" val="4087815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DE979331-0F2B-B327-5552-5C3D6D2FEBAD}"/>
              </a:ext>
            </a:extLst>
          </p:cNvPr>
          <p:cNvSpPr>
            <a:spLocks noGrp="1"/>
          </p:cNvSpPr>
          <p:nvPr>
            <p:ph type="ctrTitle"/>
          </p:nvPr>
        </p:nvSpPr>
        <p:spPr/>
        <p:txBody>
          <a:bodyPr/>
          <a:lstStyle/>
          <a:p>
            <a:r>
              <a:rPr lang="en-NL" dirty="0"/>
              <a:t>Course organization</a:t>
            </a:r>
          </a:p>
        </p:txBody>
      </p:sp>
      <p:sp>
        <p:nvSpPr>
          <p:cNvPr id="5" name="Subtitle 4">
            <a:extLst>
              <a:ext uri="{FF2B5EF4-FFF2-40B4-BE49-F238E27FC236}">
                <a16:creationId xmlns:a16="http://schemas.microsoft.com/office/drawing/2014/main" id="{E06EB3EA-3586-F55C-03C0-300CD0D3378C}"/>
              </a:ext>
            </a:extLst>
          </p:cNvPr>
          <p:cNvSpPr>
            <a:spLocks noGrp="1"/>
          </p:cNvSpPr>
          <p:nvPr>
            <p:ph type="subTitle" idx="1"/>
          </p:nvPr>
        </p:nvSpPr>
        <p:spPr/>
        <p:txBody>
          <a:bodyPr/>
          <a:lstStyle/>
          <a:p>
            <a:endParaRPr lang="en-NL"/>
          </a:p>
        </p:txBody>
      </p:sp>
    </p:spTree>
    <p:extLst>
      <p:ext uri="{BB962C8B-B14F-4D97-AF65-F5344CB8AC3E}">
        <p14:creationId xmlns:p14="http://schemas.microsoft.com/office/powerpoint/2010/main" val="423910673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9AF046-ABBC-868B-86AB-DC9AEC6797C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E06B733-734F-BA5B-4801-2DC054921C69}"/>
              </a:ext>
            </a:extLst>
          </p:cNvPr>
          <p:cNvSpPr>
            <a:spLocks noGrp="1"/>
          </p:cNvSpPr>
          <p:nvPr>
            <p:ph type="title"/>
          </p:nvPr>
        </p:nvSpPr>
        <p:spPr>
          <a:xfrm>
            <a:off x="480002" y="414261"/>
            <a:ext cx="11231997" cy="1129867"/>
          </a:xfrm>
        </p:spPr>
        <p:txBody>
          <a:bodyPr/>
          <a:lstStyle/>
          <a:p>
            <a:r>
              <a:rPr lang="en-US" dirty="0"/>
              <a:t>About me</a:t>
            </a:r>
          </a:p>
        </p:txBody>
      </p:sp>
      <mc:AlternateContent xmlns:mc="http://schemas.openxmlformats.org/markup-compatibility/2006">
        <mc:Choice xmlns:we="http://schemas.microsoft.com/office/webextensions/webextension/2010/11" xmlns:pca="http://schemas.microsoft.com/office/powerpoint/2013/contentapp" Requires="we pca">
          <p:graphicFrame>
            <p:nvGraphicFramePr>
              <p:cNvPr id="4" name="Add-in 3">
                <a:extLst>
                  <a:ext uri="{FF2B5EF4-FFF2-40B4-BE49-F238E27FC236}">
                    <a16:creationId xmlns:a16="http://schemas.microsoft.com/office/drawing/2014/main" id="{4D611151-29E9-2117-ECEA-DDFA66930DF9}"/>
                  </a:ext>
                </a:extLst>
              </p:cNvPr>
              <p:cNvGraphicFramePr>
                <a:graphicFrameLocks noGrp="1"/>
              </p:cNvGraphicFramePr>
              <p:nvPr>
                <p:extLst>
                  <p:ext uri="{D42A27DB-BD31-4B8C-83A1-F6EECF244321}">
                    <p14:modId xmlns:p14="http://schemas.microsoft.com/office/powerpoint/2010/main" val="4260438597"/>
                  </p:ext>
                </p:extLst>
              </p:nvPr>
            </p:nvGraphicFramePr>
            <p:xfrm>
              <a:off x="994194" y="1081974"/>
              <a:ext cx="10203611" cy="5668673"/>
            </p:xfrm>
            <a:graphic>
              <a:graphicData uri="http://schemas.microsoft.com/office/webextensions/webextension/2010/11">
                <we:webextensionref xmlns:we="http://schemas.microsoft.com/office/webextensions/webextension/2010/11" xmlns:r="http://schemas.openxmlformats.org/officeDocument/2006/relationships" r:id="rId2"/>
              </a:graphicData>
            </a:graphic>
          </p:graphicFrame>
        </mc:Choice>
        <mc:Fallback>
          <p:pic>
            <p:nvPicPr>
              <p:cNvPr id="4" name="Add-in 3">
                <a:extLst>
                  <a:ext uri="{FF2B5EF4-FFF2-40B4-BE49-F238E27FC236}">
                    <a16:creationId xmlns:a16="http://schemas.microsoft.com/office/drawing/2014/main" id="{4D611151-29E9-2117-ECEA-DDFA66930DF9}"/>
                  </a:ext>
                </a:extLst>
              </p:cNvPr>
              <p:cNvPicPr>
                <a:picLocks noGrp="1" noRot="1" noChangeAspect="1" noMove="1" noResize="1" noEditPoints="1" noAdjustHandles="1" noChangeArrowheads="1" noChangeShapeType="1"/>
              </p:cNvPicPr>
              <p:nvPr/>
            </p:nvPicPr>
            <p:blipFill>
              <a:blip r:embed="rId3">
                <a:clrChange>
                  <a:clrFrom>
                    <a:prstClr val="black"/>
                  </a:clrFrom>
                  <a:clrTo>
                    <a:prstClr val="black">
                      <a:alpha val="0"/>
                    </a:prstClr>
                  </a:clrTo>
                </a:clrChange>
              </a:blip>
              <a:stretch>
                <a:fillRect/>
              </a:stretch>
            </p:blipFill>
            <p:spPr>
              <a:xfrm>
                <a:off x="994194" y="1081974"/>
                <a:ext cx="10203611" cy="5668673"/>
              </a:xfrm>
              <a:prstGeom prst="rect">
                <a:avLst/>
              </a:prstGeom>
            </p:spPr>
          </p:pic>
        </mc:Fallback>
      </mc:AlternateContent>
    </p:spTree>
    <p:extLst>
      <p:ext uri="{BB962C8B-B14F-4D97-AF65-F5344CB8AC3E}">
        <p14:creationId xmlns:p14="http://schemas.microsoft.com/office/powerpoint/2010/main" val="165807097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0A7DA5-7E78-77EF-3D90-A58C9334ACA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DDCE16A-8517-DEF1-6FD7-3C4BC471A131}"/>
              </a:ext>
            </a:extLst>
          </p:cNvPr>
          <p:cNvSpPr>
            <a:spLocks noGrp="1"/>
          </p:cNvSpPr>
          <p:nvPr>
            <p:ph type="title"/>
          </p:nvPr>
        </p:nvSpPr>
        <p:spPr>
          <a:xfrm>
            <a:off x="480002" y="414261"/>
            <a:ext cx="11231997" cy="1129867"/>
          </a:xfrm>
        </p:spPr>
        <p:txBody>
          <a:bodyPr/>
          <a:lstStyle/>
          <a:p>
            <a:r>
              <a:rPr lang="en-US" dirty="0"/>
              <a:t>About me</a:t>
            </a:r>
          </a:p>
        </p:txBody>
      </p:sp>
      <mc:AlternateContent xmlns:mc="http://schemas.openxmlformats.org/markup-compatibility/2006">
        <mc:Choice xmlns:we="http://schemas.microsoft.com/office/webextensions/webextension/2010/11" xmlns:pca="http://schemas.microsoft.com/office/powerpoint/2013/contentapp" Requires="we pca">
          <p:graphicFrame>
            <p:nvGraphicFramePr>
              <p:cNvPr id="5" name="Add-in 4">
                <a:extLst>
                  <a:ext uri="{FF2B5EF4-FFF2-40B4-BE49-F238E27FC236}">
                    <a16:creationId xmlns:a16="http://schemas.microsoft.com/office/drawing/2014/main" id="{51E914D7-5F18-6D3F-31B4-76717258EF86}"/>
                  </a:ext>
                </a:extLst>
              </p:cNvPr>
              <p:cNvGraphicFramePr>
                <a:graphicFrameLocks noGrp="1"/>
              </p:cNvGraphicFramePr>
              <p:nvPr>
                <p:extLst>
                  <p:ext uri="{D42A27DB-BD31-4B8C-83A1-F6EECF244321}">
                    <p14:modId xmlns:p14="http://schemas.microsoft.com/office/powerpoint/2010/main" val="1808774289"/>
                  </p:ext>
                </p:extLst>
              </p:nvPr>
            </p:nvGraphicFramePr>
            <p:xfrm>
              <a:off x="706054" y="979194"/>
              <a:ext cx="10132671" cy="5629262"/>
            </p:xfrm>
            <a:graphic>
              <a:graphicData uri="http://schemas.microsoft.com/office/webextensions/webextension/2010/11">
                <we:webextensionref xmlns:we="http://schemas.microsoft.com/office/webextensions/webextension/2010/11" xmlns:r="http://schemas.openxmlformats.org/officeDocument/2006/relationships" r:id="rId2"/>
              </a:graphicData>
            </a:graphic>
          </p:graphicFrame>
        </mc:Choice>
        <mc:Fallback>
          <p:pic>
            <p:nvPicPr>
              <p:cNvPr id="5" name="Add-in 4">
                <a:extLst>
                  <a:ext uri="{FF2B5EF4-FFF2-40B4-BE49-F238E27FC236}">
                    <a16:creationId xmlns:a16="http://schemas.microsoft.com/office/drawing/2014/main" id="{51E914D7-5F18-6D3F-31B4-76717258EF86}"/>
                  </a:ext>
                </a:extLst>
              </p:cNvPr>
              <p:cNvPicPr>
                <a:picLocks noGrp="1" noRot="1" noChangeAspect="1" noMove="1" noResize="1" noEditPoints="1" noAdjustHandles="1" noChangeArrowheads="1" noChangeShapeType="1"/>
              </p:cNvPicPr>
              <p:nvPr/>
            </p:nvPicPr>
            <p:blipFill>
              <a:blip r:embed="rId3">
                <a:clrChange>
                  <a:clrFrom>
                    <a:prstClr val="black"/>
                  </a:clrFrom>
                  <a:clrTo>
                    <a:prstClr val="black">
                      <a:alpha val="0"/>
                    </a:prstClr>
                  </a:clrTo>
                </a:clrChange>
              </a:blip>
              <a:stretch>
                <a:fillRect/>
              </a:stretch>
            </p:blipFill>
            <p:spPr>
              <a:xfrm>
                <a:off x="706054" y="979194"/>
                <a:ext cx="10132671" cy="5629262"/>
              </a:xfrm>
              <a:prstGeom prst="rect">
                <a:avLst/>
              </a:prstGeom>
            </p:spPr>
          </p:pic>
        </mc:Fallback>
      </mc:AlternateContent>
    </p:spTree>
    <p:extLst>
      <p:ext uri="{BB962C8B-B14F-4D97-AF65-F5344CB8AC3E}">
        <p14:creationId xmlns:p14="http://schemas.microsoft.com/office/powerpoint/2010/main" val="204416016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BBFF66-E279-8E14-6F3E-AF6F4D66772C}"/>
              </a:ext>
            </a:extLst>
          </p:cNvPr>
          <p:cNvSpPr>
            <a:spLocks noGrp="1"/>
          </p:cNvSpPr>
          <p:nvPr>
            <p:ph type="title"/>
          </p:nvPr>
        </p:nvSpPr>
        <p:spPr>
          <a:xfrm>
            <a:off x="480002" y="414261"/>
            <a:ext cx="11231997" cy="1129867"/>
          </a:xfrm>
        </p:spPr>
        <p:txBody>
          <a:bodyPr/>
          <a:lstStyle/>
          <a:p>
            <a:r>
              <a:rPr lang="en-US" dirty="0"/>
              <a:t>About me</a:t>
            </a:r>
          </a:p>
        </p:txBody>
      </p:sp>
      <mc:AlternateContent xmlns:mc="http://schemas.openxmlformats.org/markup-compatibility/2006">
        <mc:Choice xmlns:we="http://schemas.microsoft.com/office/webextensions/webextension/2010/11" xmlns:pca="http://schemas.microsoft.com/office/powerpoint/2013/contentapp" Requires="we pca">
          <p:graphicFrame>
            <p:nvGraphicFramePr>
              <p:cNvPr id="4" name="Add-in 3">
                <a:extLst>
                  <a:ext uri="{FF2B5EF4-FFF2-40B4-BE49-F238E27FC236}">
                    <a16:creationId xmlns:a16="http://schemas.microsoft.com/office/drawing/2014/main" id="{0779F20C-3906-2275-30DE-C291C737FD99}"/>
                  </a:ext>
                </a:extLst>
              </p:cNvPr>
              <p:cNvGraphicFramePr>
                <a:graphicFrameLocks noGrp="1"/>
              </p:cNvGraphicFramePr>
              <p:nvPr/>
            </p:nvGraphicFramePr>
            <p:xfrm>
              <a:off x="381000" y="253999"/>
              <a:ext cx="11430000" cy="6350000"/>
            </p:xfrm>
            <a:graphic>
              <a:graphicData uri="http://schemas.microsoft.com/office/webextensions/webextension/2010/11">
                <we:webextensionref xmlns:we="http://schemas.microsoft.com/office/webextensions/webextension/2010/11" xmlns:r="http://schemas.openxmlformats.org/officeDocument/2006/relationships" r:id="rId3"/>
              </a:graphicData>
            </a:graphic>
          </p:graphicFrame>
        </mc:Choice>
        <mc:Fallback>
          <p:pic>
            <p:nvPicPr>
              <p:cNvPr id="4" name="Add-in 3">
                <a:extLst>
                  <a:ext uri="{FF2B5EF4-FFF2-40B4-BE49-F238E27FC236}">
                    <a16:creationId xmlns:a16="http://schemas.microsoft.com/office/drawing/2014/main" id="{0779F20C-3906-2275-30DE-C291C737FD99}"/>
                  </a:ext>
                </a:extLst>
              </p:cNvPr>
              <p:cNvPicPr>
                <a:picLocks noGrp="1" noRot="1" noChangeAspect="1" noMove="1" noResize="1" noEditPoints="1" noAdjustHandles="1" noChangeArrowheads="1" noChangeShapeType="1"/>
              </p:cNvPicPr>
              <p:nvPr/>
            </p:nvPicPr>
            <p:blipFill>
              <a:blip r:embed="rId4">
                <a:clrChange>
                  <a:clrFrom>
                    <a:prstClr val="black"/>
                  </a:clrFrom>
                  <a:clrTo>
                    <a:prstClr val="black">
                      <a:alpha val="0"/>
                    </a:prstClr>
                  </a:clrTo>
                </a:clrChange>
              </a:blip>
              <a:stretch>
                <a:fillRect/>
              </a:stretch>
            </p:blipFill>
            <p:spPr>
              <a:xfrm>
                <a:off x="381000" y="253999"/>
                <a:ext cx="11430000" cy="6350000"/>
              </a:xfrm>
              <a:prstGeom prst="rect">
                <a:avLst/>
              </a:prstGeom>
            </p:spPr>
          </p:pic>
        </mc:Fallback>
      </mc:AlternateContent>
    </p:spTree>
    <p:extLst>
      <p:ext uri="{BB962C8B-B14F-4D97-AF65-F5344CB8AC3E}">
        <p14:creationId xmlns:p14="http://schemas.microsoft.com/office/powerpoint/2010/main" val="293432275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248BEF-DA40-2508-1A79-A105E66349A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F88F798-8D0C-D252-C566-6B0F17920EF8}"/>
              </a:ext>
            </a:extLst>
          </p:cNvPr>
          <p:cNvSpPr>
            <a:spLocks noGrp="1"/>
          </p:cNvSpPr>
          <p:nvPr>
            <p:ph type="title"/>
          </p:nvPr>
        </p:nvSpPr>
        <p:spPr>
          <a:xfrm>
            <a:off x="480002" y="414261"/>
            <a:ext cx="5246167" cy="1565897"/>
          </a:xfrm>
        </p:spPr>
        <p:txBody>
          <a:bodyPr anchor="t">
            <a:normAutofit/>
          </a:bodyPr>
          <a:lstStyle/>
          <a:p>
            <a:r>
              <a:rPr lang="en-US" dirty="0"/>
              <a:t>About me: Research</a:t>
            </a:r>
          </a:p>
        </p:txBody>
      </p:sp>
      <p:sp>
        <p:nvSpPr>
          <p:cNvPr id="4" name="Content Placeholder 2">
            <a:extLst>
              <a:ext uri="{FF2B5EF4-FFF2-40B4-BE49-F238E27FC236}">
                <a16:creationId xmlns:a16="http://schemas.microsoft.com/office/drawing/2014/main" id="{1D3C789B-B5A5-C678-7029-C085FFD90E26}"/>
              </a:ext>
            </a:extLst>
          </p:cNvPr>
          <p:cNvSpPr>
            <a:spLocks noGrp="1"/>
          </p:cNvSpPr>
          <p:nvPr>
            <p:ph idx="1"/>
          </p:nvPr>
        </p:nvSpPr>
        <p:spPr>
          <a:xfrm>
            <a:off x="480001" y="1980156"/>
            <a:ext cx="5246165" cy="3810096"/>
          </a:xfrm>
        </p:spPr>
        <p:txBody>
          <a:bodyPr>
            <a:normAutofit/>
          </a:bodyPr>
          <a:lstStyle/>
          <a:p>
            <a:pPr>
              <a:spcAft>
                <a:spcPts val="600"/>
              </a:spcAft>
            </a:pPr>
            <a:r>
              <a:rPr lang="en-US"/>
              <a:t>Love thinking about how statistics can help us understand the brain and change it.</a:t>
            </a:r>
          </a:p>
        </p:txBody>
      </p:sp>
      <p:pic>
        <p:nvPicPr>
          <p:cNvPr id="3" name="Picture 2" descr="A diagram of a brain&#10;&#10;AI-generated content may be incorrect.">
            <a:extLst>
              <a:ext uri="{FF2B5EF4-FFF2-40B4-BE49-F238E27FC236}">
                <a16:creationId xmlns:a16="http://schemas.microsoft.com/office/drawing/2014/main" id="{97CC9FD6-B1F9-13C4-006A-794D086C39C0}"/>
              </a:ext>
            </a:extLst>
          </p:cNvPr>
          <p:cNvPicPr>
            <a:picLocks noChangeAspect="1"/>
          </p:cNvPicPr>
          <p:nvPr/>
        </p:nvPicPr>
        <p:blipFill>
          <a:blip r:embed="rId3"/>
          <a:stretch>
            <a:fillRect/>
          </a:stretch>
        </p:blipFill>
        <p:spPr>
          <a:xfrm>
            <a:off x="6126726" y="1601836"/>
            <a:ext cx="6065276" cy="3654328"/>
          </a:xfrm>
          <a:prstGeom prst="rect">
            <a:avLst/>
          </a:prstGeom>
          <a:noFill/>
        </p:spPr>
      </p:pic>
    </p:spTree>
    <p:extLst>
      <p:ext uri="{BB962C8B-B14F-4D97-AF65-F5344CB8AC3E}">
        <p14:creationId xmlns:p14="http://schemas.microsoft.com/office/powerpoint/2010/main" val="213154426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Textbook</a:t>
            </a:r>
          </a:p>
        </p:txBody>
      </p:sp>
      <p:sp>
        <p:nvSpPr>
          <p:cNvPr id="3" name="Content Placeholder 2"/>
          <p:cNvSpPr>
            <a:spLocks noGrp="1"/>
          </p:cNvSpPr>
          <p:nvPr>
            <p:ph idx="1"/>
          </p:nvPr>
        </p:nvSpPr>
        <p:spPr/>
        <p:txBody>
          <a:bodyPr/>
          <a:lstStyle/>
          <a:p>
            <a:pPr marL="0" indent="0">
              <a:buNone/>
            </a:pPr>
            <a:r>
              <a:rPr lang="en-US" dirty="0"/>
              <a:t>Art of Statistics by David </a:t>
            </a:r>
            <a:r>
              <a:rPr lang="en-US" dirty="0" err="1"/>
              <a:t>Spiegelhalter</a:t>
            </a:r>
            <a:endParaRPr lang="en-US" dirty="0"/>
          </a:p>
        </p:txBody>
      </p:sp>
      <p:sp>
        <p:nvSpPr>
          <p:cNvPr id="8" name="Picture Placeholder 7">
            <a:extLst>
              <a:ext uri="{FF2B5EF4-FFF2-40B4-BE49-F238E27FC236}">
                <a16:creationId xmlns:a16="http://schemas.microsoft.com/office/drawing/2014/main" id="{1755F890-D24B-BADC-722F-B5EA972F187F}"/>
              </a:ext>
            </a:extLst>
          </p:cNvPr>
          <p:cNvSpPr>
            <a:spLocks noGrp="1"/>
          </p:cNvSpPr>
          <p:nvPr>
            <p:ph type="pic" sz="quarter" idx="13"/>
          </p:nvPr>
        </p:nvSpPr>
        <p:spPr/>
        <p:txBody>
          <a:bodyPr/>
          <a:lstStyle/>
          <a:p>
            <a:endParaRPr lang="en-US"/>
          </a:p>
        </p:txBody>
      </p:sp>
      <p:pic>
        <p:nvPicPr>
          <p:cNvPr id="9" name="Picture 8">
            <a:extLst>
              <a:ext uri="{FF2B5EF4-FFF2-40B4-BE49-F238E27FC236}">
                <a16:creationId xmlns:a16="http://schemas.microsoft.com/office/drawing/2014/main" id="{DD892DE7-D24B-E19A-0BAB-5732612712B3}"/>
              </a:ext>
            </a:extLst>
          </p:cNvPr>
          <p:cNvPicPr>
            <a:picLocks noChangeAspect="1"/>
          </p:cNvPicPr>
          <p:nvPr/>
        </p:nvPicPr>
        <p:blipFill>
          <a:blip r:embed="rId2"/>
          <a:stretch>
            <a:fillRect/>
          </a:stretch>
        </p:blipFill>
        <p:spPr>
          <a:xfrm>
            <a:off x="6819737" y="0"/>
            <a:ext cx="4193133" cy="6858000"/>
          </a:xfrm>
          <a:prstGeom prst="rect">
            <a:avLst/>
          </a:prstGeom>
        </p:spPr>
      </p:pic>
    </p:spTree>
    <p:extLst>
      <p:ext uri="{BB962C8B-B14F-4D97-AF65-F5344CB8AC3E}">
        <p14:creationId xmlns:p14="http://schemas.microsoft.com/office/powerpoint/2010/main" val="174758048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Support Resource</a:t>
            </a:r>
          </a:p>
        </p:txBody>
      </p:sp>
      <p:sp>
        <p:nvSpPr>
          <p:cNvPr id="3" name="Content Placeholder 2"/>
          <p:cNvSpPr>
            <a:spLocks noGrp="1"/>
          </p:cNvSpPr>
          <p:nvPr>
            <p:ph idx="1"/>
          </p:nvPr>
        </p:nvSpPr>
        <p:spPr/>
        <p:txBody>
          <a:bodyPr/>
          <a:lstStyle/>
          <a:p>
            <a:pPr marL="0" indent="0">
              <a:buNone/>
            </a:pPr>
            <a:r>
              <a:rPr lang="en-US" dirty="0"/>
              <a:t>Statistics </a:t>
            </a:r>
          </a:p>
          <a:p>
            <a:pPr marL="0" indent="0">
              <a:buNone/>
            </a:pPr>
            <a:r>
              <a:rPr lang="en-US" dirty="0"/>
              <a:t>The Art and Science of Learning from Data</a:t>
            </a:r>
          </a:p>
          <a:p>
            <a:pPr marL="0" indent="0">
              <a:buNone/>
            </a:pPr>
            <a:endParaRPr lang="en-US" dirty="0"/>
          </a:p>
          <a:p>
            <a:pPr marL="0" indent="0">
              <a:buNone/>
            </a:pPr>
            <a:r>
              <a:rPr lang="en-US" dirty="0" err="1"/>
              <a:t>Agresti</a:t>
            </a:r>
            <a:r>
              <a:rPr lang="en-US" dirty="0"/>
              <a:t> and Franklin</a:t>
            </a:r>
          </a:p>
          <a:p>
            <a:pPr marL="0" indent="0">
              <a:buNone/>
            </a:pPr>
            <a:r>
              <a:rPr lang="en-US" dirty="0"/>
              <a:t>3</a:t>
            </a:r>
            <a:r>
              <a:rPr lang="en-US" baseline="30000" dirty="0"/>
              <a:t>rd</a:t>
            </a:r>
            <a:r>
              <a:rPr lang="en-US" dirty="0"/>
              <a:t> Edition</a:t>
            </a:r>
          </a:p>
          <a:p>
            <a:endParaRPr lang="en-US" dirty="0"/>
          </a:p>
        </p:txBody>
      </p:sp>
      <p:pic>
        <p:nvPicPr>
          <p:cNvPr id="8" name="Picture Placeholder 7">
            <a:extLst>
              <a:ext uri="{FF2B5EF4-FFF2-40B4-BE49-F238E27FC236}">
                <a16:creationId xmlns:a16="http://schemas.microsoft.com/office/drawing/2014/main" id="{FE40B45B-2F08-CB85-4E19-D3D502A6B423}"/>
              </a:ext>
            </a:extLst>
          </p:cNvPr>
          <p:cNvPicPr>
            <a:picLocks noGrp="1" noChangeAspect="1"/>
          </p:cNvPicPr>
          <p:nvPr>
            <p:ph type="pic" sz="quarter" idx="13"/>
          </p:nvPr>
        </p:nvPicPr>
        <p:blipFill>
          <a:blip r:embed="rId2"/>
          <a:srcRect t="3898" b="3898"/>
          <a:stretch>
            <a:fillRect/>
          </a:stretch>
        </p:blipFill>
        <p:spPr/>
      </p:pic>
    </p:spTree>
    <p:extLst>
      <p:ext uri="{BB962C8B-B14F-4D97-AF65-F5344CB8AC3E}">
        <p14:creationId xmlns:p14="http://schemas.microsoft.com/office/powerpoint/2010/main" val="102354862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DCF28DDF-5061-D34A-9A83-7811C145AEAE}"/>
              </a:ext>
            </a:extLst>
          </p:cNvPr>
          <p:cNvSpPr>
            <a:spLocks noGrp="1"/>
          </p:cNvSpPr>
          <p:nvPr>
            <p:ph type="title"/>
          </p:nvPr>
        </p:nvSpPr>
        <p:spPr>
          <a:xfrm>
            <a:off x="480001" y="414260"/>
            <a:ext cx="11102399" cy="756000"/>
          </a:xfrm>
        </p:spPr>
        <p:txBody>
          <a:bodyPr anchor="t">
            <a:normAutofit/>
          </a:bodyPr>
          <a:lstStyle/>
          <a:p>
            <a:r>
              <a:rPr lang="en-NL" dirty="0"/>
              <a:t>Instruction format</a:t>
            </a:r>
          </a:p>
        </p:txBody>
      </p:sp>
      <p:graphicFrame>
        <p:nvGraphicFramePr>
          <p:cNvPr id="5" name="Content Placeholder 1">
            <a:extLst>
              <a:ext uri="{FF2B5EF4-FFF2-40B4-BE49-F238E27FC236}">
                <a16:creationId xmlns:a16="http://schemas.microsoft.com/office/drawing/2014/main" id="{E359C263-389B-4DE8-93FB-8087AEE3AE10}"/>
              </a:ext>
            </a:extLst>
          </p:cNvPr>
          <p:cNvGraphicFramePr>
            <a:graphicFrameLocks noGrp="1"/>
          </p:cNvGraphicFramePr>
          <p:nvPr>
            <p:ph idx="1"/>
            <p:extLst>
              <p:ext uri="{D42A27DB-BD31-4B8C-83A1-F6EECF244321}">
                <p14:modId xmlns:p14="http://schemas.microsoft.com/office/powerpoint/2010/main" val="252699109"/>
              </p:ext>
            </p:extLst>
          </p:nvPr>
        </p:nvGraphicFramePr>
        <p:xfrm>
          <a:off x="480001" y="1296000"/>
          <a:ext cx="11102399" cy="444514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77283932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		Organization of Lectures</a:t>
            </a:r>
          </a:p>
        </p:txBody>
      </p:sp>
      <p:sp>
        <p:nvSpPr>
          <p:cNvPr id="5" name="Content Placeholder 4"/>
          <p:cNvSpPr>
            <a:spLocks noGrp="1"/>
          </p:cNvSpPr>
          <p:nvPr>
            <p:ph idx="1"/>
          </p:nvPr>
        </p:nvSpPr>
        <p:spPr/>
        <p:txBody>
          <a:bodyPr/>
          <a:lstStyle/>
          <a:p>
            <a:r>
              <a:rPr lang="en-US" dirty="0"/>
              <a:t>Introduce concepts</a:t>
            </a:r>
          </a:p>
          <a:p>
            <a:r>
              <a:rPr lang="en-US" dirty="0"/>
              <a:t>Live analysis: examples of these concepts coded up in Python</a:t>
            </a:r>
          </a:p>
        </p:txBody>
      </p:sp>
      <p:sp>
        <p:nvSpPr>
          <p:cNvPr id="7" name="Rectangle 6" descr="Classroom"/>
          <p:cNvSpPr/>
          <p:nvPr/>
        </p:nvSpPr>
        <p:spPr>
          <a:xfrm>
            <a:off x="480000" y="414260"/>
            <a:ext cx="698352" cy="698352"/>
          </a:xfrm>
          <a:prstGeom prst="rect">
            <a:avLst/>
          </a:prstGeom>
          <a:blipFill>
            <a:blip r:embed="rId2">
              <a:extLst>
                <a:ext uri="{28A0092B-C50C-407E-A947-70E740481C1C}">
                  <a14:useLocalDpi xmlns:a14="http://schemas.microsoft.com/office/drawing/2010/main" val="0"/>
                </a:ext>
              </a:extLst>
            </a:blip>
            <a:stretch>
              <a:fillRect/>
            </a:stretch>
          </a:blipFill>
          <a:ln>
            <a:noFill/>
          </a:ln>
        </p:spPr>
        <p:style>
          <a:lnRef idx="2">
            <a:scrgbClr r="0" g="0" b="0"/>
          </a:lnRef>
          <a:fillRef idx="1">
            <a:scrgbClr r="0" g="0" b="0"/>
          </a:fillRef>
          <a:effectRef idx="0">
            <a:schemeClr val="accent1">
              <a:hueOff val="0"/>
              <a:satOff val="0"/>
              <a:lumOff val="0"/>
              <a:alphaOff val="0"/>
            </a:schemeClr>
          </a:effectRef>
          <a:fontRef idx="minor">
            <a:schemeClr val="lt1"/>
          </a:fontRef>
        </p:style>
        <p:txBody>
          <a:bodyPr/>
          <a:lstStyle/>
          <a:p>
            <a:pPr defTabSz="609585"/>
            <a:endParaRPr lang="en-US" sz="2400">
              <a:solidFill>
                <a:srgbClr val="FFFFFF"/>
              </a:solidFill>
              <a:latin typeface="Calibri"/>
            </a:endParaRPr>
          </a:p>
        </p:txBody>
      </p:sp>
    </p:spTree>
    <p:extLst>
      <p:ext uri="{BB962C8B-B14F-4D97-AF65-F5344CB8AC3E}">
        <p14:creationId xmlns:p14="http://schemas.microsoft.com/office/powerpoint/2010/main" val="60678335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nl-NL" dirty="0"/>
              <a:t>		Labs</a:t>
            </a:r>
            <a:endParaRPr lang="en-US" dirty="0"/>
          </a:p>
        </p:txBody>
      </p:sp>
      <p:sp>
        <p:nvSpPr>
          <p:cNvPr id="3" name="Content Placeholder 2"/>
          <p:cNvSpPr>
            <a:spLocks noGrp="1"/>
          </p:cNvSpPr>
          <p:nvPr>
            <p:ph idx="1"/>
          </p:nvPr>
        </p:nvSpPr>
        <p:spPr>
          <a:xfrm>
            <a:off x="540386" y="2184521"/>
            <a:ext cx="4497441" cy="2042423"/>
          </a:xfrm>
        </p:spPr>
        <p:txBody>
          <a:bodyPr/>
          <a:lstStyle/>
          <a:p>
            <a:r>
              <a:rPr lang="nl-NL" dirty="0"/>
              <a:t>Processing data</a:t>
            </a:r>
          </a:p>
          <a:p>
            <a:r>
              <a:rPr lang="nl-NL" dirty="0" err="1"/>
              <a:t>Analyzing</a:t>
            </a:r>
            <a:r>
              <a:rPr lang="nl-NL" dirty="0"/>
              <a:t> data</a:t>
            </a:r>
          </a:p>
          <a:p>
            <a:r>
              <a:rPr lang="nl-NL" dirty="0" err="1"/>
              <a:t>Visualizing</a:t>
            </a:r>
            <a:r>
              <a:rPr lang="nl-NL" dirty="0"/>
              <a:t> data</a:t>
            </a:r>
          </a:p>
        </p:txBody>
      </p:sp>
      <p:sp>
        <p:nvSpPr>
          <p:cNvPr id="14" name="Rectangle 13" descr="Test tubes"/>
          <p:cNvSpPr/>
          <p:nvPr/>
        </p:nvSpPr>
        <p:spPr>
          <a:xfrm>
            <a:off x="480000" y="414260"/>
            <a:ext cx="698352" cy="698352"/>
          </a:xfrm>
          <a:prstGeom prst="rect">
            <a:avLst/>
          </a:prstGeom>
          <a:blipFill>
            <a:blip r:embed="rId2">
              <a:extLst>
                <a:ext uri="{28A0092B-C50C-407E-A947-70E740481C1C}">
                  <a14:useLocalDpi xmlns:a14="http://schemas.microsoft.com/office/drawing/2010/main" val="0"/>
                </a:ext>
              </a:extLst>
            </a:blip>
            <a:stretch>
              <a:fillRect/>
            </a:stretch>
          </a:blipFill>
          <a:ln>
            <a:noFill/>
          </a:ln>
        </p:spPr>
        <p:style>
          <a:lnRef idx="2">
            <a:scrgbClr r="0" g="0" b="0"/>
          </a:lnRef>
          <a:fillRef idx="1">
            <a:scrgbClr r="0" g="0" b="0"/>
          </a:fillRef>
          <a:effectRef idx="0">
            <a:schemeClr val="accent1">
              <a:hueOff val="0"/>
              <a:satOff val="0"/>
              <a:lumOff val="0"/>
              <a:alphaOff val="0"/>
            </a:schemeClr>
          </a:effectRef>
          <a:fontRef idx="minor">
            <a:schemeClr val="lt1"/>
          </a:fontRef>
        </p:style>
        <p:txBody>
          <a:bodyPr/>
          <a:lstStyle/>
          <a:p>
            <a:pPr defTabSz="609585"/>
            <a:endParaRPr lang="en-US" sz="2400">
              <a:solidFill>
                <a:srgbClr val="FFFFFF"/>
              </a:solidFill>
              <a:latin typeface="Calibri"/>
            </a:endParaRPr>
          </a:p>
        </p:txBody>
      </p:sp>
    </p:spTree>
    <p:extLst>
      <p:ext uri="{BB962C8B-B14F-4D97-AF65-F5344CB8AC3E}">
        <p14:creationId xmlns:p14="http://schemas.microsoft.com/office/powerpoint/2010/main" val="24513941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Organization of Tutorials</a:t>
            </a:r>
          </a:p>
        </p:txBody>
      </p:sp>
      <p:sp>
        <p:nvSpPr>
          <p:cNvPr id="3" name="Content Placeholder 2"/>
          <p:cNvSpPr>
            <a:spLocks noGrp="1"/>
          </p:cNvSpPr>
          <p:nvPr>
            <p:ph idx="1"/>
          </p:nvPr>
        </p:nvSpPr>
        <p:spPr/>
        <p:txBody>
          <a:bodyPr/>
          <a:lstStyle/>
          <a:p>
            <a:r>
              <a:rPr lang="en-US" sz="3733" dirty="0"/>
              <a:t>Tutorials will be run in one room (hopefully) and primarily guided by Cedric. </a:t>
            </a:r>
          </a:p>
          <a:p>
            <a:r>
              <a:rPr lang="en-US" sz="3733" dirty="0"/>
              <a:t>A few TAs will provide support.</a:t>
            </a:r>
          </a:p>
          <a:p>
            <a:r>
              <a:rPr lang="en-US" sz="3733" dirty="0"/>
              <a:t>Tutorials will comprise of practicing problems based on lectures and completing your assignments.</a:t>
            </a:r>
          </a:p>
          <a:p>
            <a:endParaRPr lang="en-US" dirty="0"/>
          </a:p>
        </p:txBody>
      </p:sp>
      <p:sp>
        <p:nvSpPr>
          <p:cNvPr id="5" name="Rectangle 4" descr="Test tubes"/>
          <p:cNvSpPr/>
          <p:nvPr/>
        </p:nvSpPr>
        <p:spPr>
          <a:xfrm>
            <a:off x="480000" y="414260"/>
            <a:ext cx="698352" cy="698352"/>
          </a:xfrm>
          <a:prstGeom prst="rect">
            <a:avLst/>
          </a:prstGeom>
          <a:blipFill>
            <a:blip r:embed="rId2">
              <a:extLst>
                <a:ext uri="{28A0092B-C50C-407E-A947-70E740481C1C}">
                  <a14:useLocalDpi xmlns:a14="http://schemas.microsoft.com/office/drawing/2010/main" val="0"/>
                </a:ext>
              </a:extLst>
            </a:blip>
            <a:stretch>
              <a:fillRect/>
            </a:stretch>
          </a:blipFill>
          <a:ln>
            <a:noFill/>
          </a:ln>
        </p:spPr>
        <p:style>
          <a:lnRef idx="2">
            <a:scrgbClr r="0" g="0" b="0"/>
          </a:lnRef>
          <a:fillRef idx="1">
            <a:scrgbClr r="0" g="0" b="0"/>
          </a:fillRef>
          <a:effectRef idx="0">
            <a:schemeClr val="accent1">
              <a:hueOff val="0"/>
              <a:satOff val="0"/>
              <a:lumOff val="0"/>
              <a:alphaOff val="0"/>
            </a:schemeClr>
          </a:effectRef>
          <a:fontRef idx="minor">
            <a:schemeClr val="lt1"/>
          </a:fontRef>
        </p:style>
        <p:txBody>
          <a:bodyPr/>
          <a:lstStyle/>
          <a:p>
            <a:pPr defTabSz="609585"/>
            <a:endParaRPr lang="en-US" sz="2400">
              <a:solidFill>
                <a:srgbClr val="FFFFFF"/>
              </a:solidFill>
              <a:latin typeface="Calibri"/>
            </a:endParaRPr>
          </a:p>
        </p:txBody>
      </p:sp>
    </p:spTree>
    <p:extLst>
      <p:ext uri="{BB962C8B-B14F-4D97-AF65-F5344CB8AC3E}">
        <p14:creationId xmlns:p14="http://schemas.microsoft.com/office/powerpoint/2010/main" val="409435201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Grading</a:t>
            </a:r>
          </a:p>
        </p:txBody>
      </p:sp>
      <p:sp>
        <p:nvSpPr>
          <p:cNvPr id="4" name="Rectangle 3"/>
          <p:cNvSpPr/>
          <p:nvPr/>
        </p:nvSpPr>
        <p:spPr>
          <a:xfrm>
            <a:off x="480000" y="1296001"/>
            <a:ext cx="6096000" cy="2061718"/>
          </a:xfrm>
          <a:prstGeom prst="rect">
            <a:avLst/>
          </a:prstGeom>
        </p:spPr>
        <p:txBody>
          <a:bodyPr>
            <a:spAutoFit/>
          </a:bodyPr>
          <a:lstStyle/>
          <a:p>
            <a:pPr defTabSz="609585"/>
            <a:r>
              <a:rPr lang="en-US" sz="2133" dirty="0">
                <a:solidFill>
                  <a:srgbClr val="001C3D"/>
                </a:solidFill>
                <a:latin typeface="Calibri"/>
              </a:rPr>
              <a:t>The following components will be examined, and will count towards the final grade of the course:</a:t>
            </a:r>
          </a:p>
          <a:p>
            <a:pPr marL="380990" indent="-380990" defTabSz="609585">
              <a:buFont typeface="Arial" panose="020B0604020202020204" pitchFamily="34" charset="0"/>
              <a:buChar char="•"/>
            </a:pPr>
            <a:r>
              <a:rPr lang="en-US" sz="2133" dirty="0">
                <a:solidFill>
                  <a:srgbClr val="001C3D"/>
                </a:solidFill>
                <a:latin typeface="Calibri"/>
              </a:rPr>
              <a:t>Written Exam (WE), graded 0.0-10.0, weight 80% (mandatory)</a:t>
            </a:r>
          </a:p>
          <a:p>
            <a:pPr marL="380990" indent="-380990" defTabSz="609585">
              <a:buFont typeface="Arial" panose="020B0604020202020204" pitchFamily="34" charset="0"/>
              <a:buChar char="•"/>
            </a:pPr>
            <a:r>
              <a:rPr lang="en-US" sz="2133" dirty="0">
                <a:solidFill>
                  <a:srgbClr val="001C3D"/>
                </a:solidFill>
                <a:latin typeface="Calibri"/>
              </a:rPr>
              <a:t>Group Assignment (GA), weight 20%.</a:t>
            </a:r>
            <a:r>
              <a:rPr lang="en-US" sz="1867" dirty="0">
                <a:solidFill>
                  <a:srgbClr val="001C3D"/>
                </a:solidFill>
                <a:latin typeface="Calibri"/>
              </a:rPr>
              <a:t> </a:t>
            </a:r>
          </a:p>
          <a:p>
            <a:pPr defTabSz="609585"/>
            <a:r>
              <a:rPr lang="en-US" sz="2133" dirty="0">
                <a:solidFill>
                  <a:srgbClr val="001C3D"/>
                </a:solidFill>
                <a:latin typeface="Calibri"/>
              </a:rPr>
              <a:t>The final grade is calculated as: </a:t>
            </a:r>
          </a:p>
        </p:txBody>
      </p:sp>
      <mc:AlternateContent xmlns:mc="http://schemas.openxmlformats.org/markup-compatibility/2006" xmlns:a14="http://schemas.microsoft.com/office/drawing/2010/main">
        <mc:Choice Requires="a14">
          <p:sp>
            <p:nvSpPr>
              <p:cNvPr id="3" name="Rectangle 2"/>
              <p:cNvSpPr/>
              <p:nvPr/>
            </p:nvSpPr>
            <p:spPr>
              <a:xfrm>
                <a:off x="317864" y="3605205"/>
                <a:ext cx="6096000" cy="648254"/>
              </a:xfrm>
              <a:prstGeom prst="rect">
                <a:avLst/>
              </a:prstGeom>
            </p:spPr>
            <p:txBody>
              <a:bodyPr wrap="square">
                <a:spAutoFit/>
              </a:bodyPr>
              <a:lstStyle/>
              <a:p>
                <a:pPr defTabSz="609585"/>
                <a14:m>
                  <m:oMathPara xmlns:m="http://schemas.openxmlformats.org/officeDocument/2006/math">
                    <m:oMathParaPr>
                      <m:jc m:val="centerGroup"/>
                    </m:oMathParaPr>
                    <m:oMath xmlns:m="http://schemas.openxmlformats.org/officeDocument/2006/math">
                      <m:r>
                        <a:rPr lang="en-US" sz="1600" i="1" smtClean="0">
                          <a:solidFill>
                            <a:srgbClr val="001C3D"/>
                          </a:solidFill>
                          <a:latin typeface="Cambria Math" panose="02040503050406030204" pitchFamily="18" charset="0"/>
                        </a:rPr>
                        <m:t>𝐼𝐹</m:t>
                      </m:r>
                      <m:d>
                        <m:dPr>
                          <m:ctrlPr>
                            <a:rPr lang="en-US" sz="1600" i="1">
                              <a:solidFill>
                                <a:srgbClr val="001C3D"/>
                              </a:solidFill>
                              <a:latin typeface="Cambria Math" panose="02040503050406030204" pitchFamily="18" charset="0"/>
                            </a:rPr>
                          </m:ctrlPr>
                        </m:dPr>
                        <m:e>
                          <m:r>
                            <a:rPr lang="en-US" sz="1600" i="1">
                              <a:solidFill>
                                <a:srgbClr val="001C3D"/>
                              </a:solidFill>
                              <a:latin typeface="Cambria Math" panose="02040503050406030204" pitchFamily="18" charset="0"/>
                            </a:rPr>
                            <m:t>𝐴𝑁𝐷</m:t>
                          </m:r>
                          <m:d>
                            <m:dPr>
                              <m:ctrlPr>
                                <a:rPr lang="en-US" sz="1600" i="1">
                                  <a:solidFill>
                                    <a:srgbClr val="001C3D"/>
                                  </a:solidFill>
                                  <a:latin typeface="Cambria Math" panose="02040503050406030204" pitchFamily="18" charset="0"/>
                                </a:rPr>
                              </m:ctrlPr>
                            </m:dPr>
                            <m:e>
                              <m:r>
                                <a:rPr lang="en-US" sz="1600" i="1">
                                  <a:solidFill>
                                    <a:srgbClr val="001C3D"/>
                                  </a:solidFill>
                                  <a:latin typeface="Cambria Math" panose="02040503050406030204" pitchFamily="18" charset="0"/>
                                </a:rPr>
                                <m:t>𝑊𝐸</m:t>
                              </m:r>
                              <m:r>
                                <a:rPr lang="en-US" sz="1600" i="1">
                                  <a:solidFill>
                                    <a:srgbClr val="001C3D"/>
                                  </a:solidFill>
                                  <a:latin typeface="Cambria Math" panose="02040503050406030204" pitchFamily="18" charset="0"/>
                                </a:rPr>
                                <m:t>&gt;0,  </m:t>
                              </m:r>
                              <m:r>
                                <a:rPr lang="en-US" sz="1600" b="0" i="1" smtClean="0">
                                  <a:solidFill>
                                    <a:srgbClr val="001C3D"/>
                                  </a:solidFill>
                                  <a:latin typeface="Cambria Math" panose="02040503050406030204" pitchFamily="18" charset="0"/>
                                </a:rPr>
                                <m:t>𝐺𝐴</m:t>
                              </m:r>
                              <m:r>
                                <a:rPr lang="en-US" sz="1600" i="1">
                                  <a:solidFill>
                                    <a:srgbClr val="001C3D"/>
                                  </a:solidFill>
                                  <a:latin typeface="Cambria Math" panose="02040503050406030204" pitchFamily="18" charset="0"/>
                                </a:rPr>
                                <m:t>&gt;0</m:t>
                              </m:r>
                            </m:e>
                          </m:d>
                          <m:r>
                            <a:rPr lang="en-US" sz="1600" i="1">
                              <a:solidFill>
                                <a:srgbClr val="001C3D"/>
                              </a:solidFill>
                              <a:latin typeface="Cambria Math" panose="02040503050406030204" pitchFamily="18" charset="0"/>
                            </a:rPr>
                            <m:t>,</m:t>
                          </m:r>
                          <m:func>
                            <m:funcPr>
                              <m:ctrlPr>
                                <a:rPr lang="en-US" sz="1600" i="1">
                                  <a:solidFill>
                                    <a:srgbClr val="001C3D"/>
                                  </a:solidFill>
                                  <a:latin typeface="Cambria Math" panose="02040503050406030204" pitchFamily="18" charset="0"/>
                                </a:rPr>
                              </m:ctrlPr>
                            </m:funcPr>
                            <m:fName>
                              <m:r>
                                <a:rPr lang="en-US" sz="1600" i="1">
                                  <a:solidFill>
                                    <a:srgbClr val="001C3D"/>
                                  </a:solidFill>
                                  <a:latin typeface="Cambria Math" panose="02040503050406030204" pitchFamily="18" charset="0"/>
                                </a:rPr>
                                <m:t>𝑀𝐴𝑋</m:t>
                              </m:r>
                            </m:fName>
                            <m:e>
                              <m:d>
                                <m:dPr>
                                  <m:ctrlPr>
                                    <a:rPr lang="en-US" sz="1600" i="1">
                                      <a:solidFill>
                                        <a:srgbClr val="001C3D"/>
                                      </a:solidFill>
                                      <a:latin typeface="Cambria Math" panose="02040503050406030204" pitchFamily="18" charset="0"/>
                                    </a:rPr>
                                  </m:ctrlPr>
                                </m:dPr>
                                <m:e>
                                  <m:r>
                                    <a:rPr lang="en-US" sz="1600" i="1">
                                      <a:solidFill>
                                        <a:srgbClr val="001C3D"/>
                                      </a:solidFill>
                                      <a:latin typeface="Cambria Math" panose="02040503050406030204" pitchFamily="18" charset="0"/>
                                    </a:rPr>
                                    <m:t>1, </m:t>
                                  </m:r>
                                  <m:r>
                                    <a:rPr lang="en-US" sz="1600" i="1">
                                      <a:solidFill>
                                        <a:srgbClr val="001C3D"/>
                                      </a:solidFill>
                                      <a:latin typeface="Cambria Math" panose="02040503050406030204" pitchFamily="18" charset="0"/>
                                    </a:rPr>
                                    <m:t>𝑅𝑂𝑈𝑁𝐷</m:t>
                                  </m:r>
                                  <m:d>
                                    <m:dPr>
                                      <m:ctrlPr>
                                        <a:rPr lang="en-US" sz="1600" i="1">
                                          <a:solidFill>
                                            <a:srgbClr val="001C3D"/>
                                          </a:solidFill>
                                          <a:latin typeface="Cambria Math" panose="02040503050406030204" pitchFamily="18" charset="0"/>
                                        </a:rPr>
                                      </m:ctrlPr>
                                    </m:dPr>
                                    <m:e>
                                      <m:r>
                                        <a:rPr lang="en-US" sz="1600" i="1">
                                          <a:solidFill>
                                            <a:srgbClr val="001C3D"/>
                                          </a:solidFill>
                                          <a:latin typeface="Cambria Math" panose="02040503050406030204" pitchFamily="18" charset="0"/>
                                        </a:rPr>
                                        <m:t>0.8⋅</m:t>
                                      </m:r>
                                      <m:r>
                                        <a:rPr lang="en-US" sz="1600" i="1">
                                          <a:solidFill>
                                            <a:srgbClr val="001C3D"/>
                                          </a:solidFill>
                                          <a:latin typeface="Cambria Math" panose="02040503050406030204" pitchFamily="18" charset="0"/>
                                        </a:rPr>
                                        <m:t>𝑊𝐸</m:t>
                                      </m:r>
                                      <m:r>
                                        <a:rPr lang="en-US" sz="1600" i="1">
                                          <a:solidFill>
                                            <a:srgbClr val="001C3D"/>
                                          </a:solidFill>
                                          <a:latin typeface="Cambria Math" panose="02040503050406030204" pitchFamily="18" charset="0"/>
                                        </a:rPr>
                                        <m:t>+0.3⋅</m:t>
                                      </m:r>
                                      <m:r>
                                        <a:rPr lang="en-US" sz="1600" b="0" i="1" smtClean="0">
                                          <a:solidFill>
                                            <a:srgbClr val="001C3D"/>
                                          </a:solidFill>
                                          <a:latin typeface="Cambria Math" panose="02040503050406030204" pitchFamily="18" charset="0"/>
                                        </a:rPr>
                                        <m:t>𝐺𝐴</m:t>
                                      </m:r>
                                    </m:e>
                                  </m:d>
                                </m:e>
                              </m:d>
                              <m:r>
                                <a:rPr lang="en-US" sz="1600" i="1">
                                  <a:solidFill>
                                    <a:srgbClr val="001C3D"/>
                                  </a:solidFill>
                                  <a:latin typeface="Cambria Math" panose="02040503050406030204" pitchFamily="18" charset="0"/>
                                </a:rPr>
                                <m:t>,"</m:t>
                              </m:r>
                              <m:r>
                                <a:rPr lang="en-US" sz="1600" i="1">
                                  <a:solidFill>
                                    <a:srgbClr val="001C3D"/>
                                  </a:solidFill>
                                  <a:latin typeface="Cambria Math" panose="02040503050406030204" pitchFamily="18" charset="0"/>
                                </a:rPr>
                                <m:t>𝑁𝐺</m:t>
                              </m:r>
                              <m:r>
                                <a:rPr lang="en-US" sz="1600" i="1">
                                  <a:solidFill>
                                    <a:srgbClr val="001C3D"/>
                                  </a:solidFill>
                                  <a:latin typeface="Cambria Math" panose="02040503050406030204" pitchFamily="18" charset="0"/>
                                </a:rPr>
                                <m:t>"</m:t>
                              </m:r>
                            </m:e>
                          </m:func>
                        </m:e>
                      </m:d>
                    </m:oMath>
                  </m:oMathPara>
                </a14:m>
                <a:endParaRPr lang="en-US" altLang="en-NL" sz="1600" dirty="0">
                  <a:solidFill>
                    <a:srgbClr val="001C3D"/>
                  </a:solidFill>
                  <a:latin typeface="Calibri"/>
                </a:endParaRPr>
              </a:p>
            </p:txBody>
          </p:sp>
        </mc:Choice>
        <mc:Fallback xmlns="">
          <p:sp>
            <p:nvSpPr>
              <p:cNvPr id="3" name="Rectangle 2"/>
              <p:cNvSpPr>
                <a:spLocks noRot="1" noChangeAspect="1" noMove="1" noResize="1" noEditPoints="1" noAdjustHandles="1" noChangeArrowheads="1" noChangeShapeType="1" noTextEdit="1"/>
              </p:cNvSpPr>
              <p:nvPr/>
            </p:nvSpPr>
            <p:spPr>
              <a:xfrm>
                <a:off x="317864" y="3605205"/>
                <a:ext cx="6096000" cy="648254"/>
              </a:xfrm>
              <a:prstGeom prst="rect">
                <a:avLst/>
              </a:prstGeom>
              <a:blipFill>
                <a:blip r:embed="rId2"/>
                <a:stretch>
                  <a:fillRect t="-75472" b="-116981"/>
                </a:stretch>
              </a:blipFill>
            </p:spPr>
            <p:txBody>
              <a:bodyPr/>
              <a:lstStyle/>
              <a:p>
                <a:r>
                  <a:rPr lang="en-US">
                    <a:noFill/>
                  </a:rPr>
                  <a:t> </a:t>
                </a:r>
              </a:p>
            </p:txBody>
          </p:sp>
        </mc:Fallback>
      </mc:AlternateContent>
      <p:graphicFrame>
        <p:nvGraphicFramePr>
          <p:cNvPr id="5" name="Table 4"/>
          <p:cNvGraphicFramePr>
            <a:graphicFrameLocks noGrp="1"/>
          </p:cNvGraphicFramePr>
          <p:nvPr>
            <p:extLst>
              <p:ext uri="{D42A27DB-BD31-4B8C-83A1-F6EECF244321}">
                <p14:modId xmlns:p14="http://schemas.microsoft.com/office/powerpoint/2010/main" val="2518782048"/>
              </p:ext>
            </p:extLst>
          </p:nvPr>
        </p:nvGraphicFramePr>
        <p:xfrm>
          <a:off x="6705601" y="414259"/>
          <a:ext cx="5006397" cy="4757581"/>
        </p:xfrm>
        <a:graphic>
          <a:graphicData uri="http://schemas.openxmlformats.org/drawingml/2006/table">
            <a:tbl>
              <a:tblPr firstRow="1" firstCol="1" bandRow="1">
                <a:tableStyleId>{073A0DAA-6AF3-43AB-8588-CEC1D06C72B9}</a:tableStyleId>
              </a:tblPr>
              <a:tblGrid>
                <a:gridCol w="1408811">
                  <a:extLst>
                    <a:ext uri="{9D8B030D-6E8A-4147-A177-3AD203B41FA5}">
                      <a16:colId xmlns:a16="http://schemas.microsoft.com/office/drawing/2014/main" val="646489118"/>
                    </a:ext>
                  </a:extLst>
                </a:gridCol>
                <a:gridCol w="1389079">
                  <a:extLst>
                    <a:ext uri="{9D8B030D-6E8A-4147-A177-3AD203B41FA5}">
                      <a16:colId xmlns:a16="http://schemas.microsoft.com/office/drawing/2014/main" val="638751277"/>
                    </a:ext>
                  </a:extLst>
                </a:gridCol>
                <a:gridCol w="1100845">
                  <a:extLst>
                    <a:ext uri="{9D8B030D-6E8A-4147-A177-3AD203B41FA5}">
                      <a16:colId xmlns:a16="http://schemas.microsoft.com/office/drawing/2014/main" val="2757113474"/>
                    </a:ext>
                  </a:extLst>
                </a:gridCol>
                <a:gridCol w="1107662">
                  <a:extLst>
                    <a:ext uri="{9D8B030D-6E8A-4147-A177-3AD203B41FA5}">
                      <a16:colId xmlns:a16="http://schemas.microsoft.com/office/drawing/2014/main" val="61979178"/>
                    </a:ext>
                  </a:extLst>
                </a:gridCol>
              </a:tblGrid>
              <a:tr h="582201">
                <a:tc>
                  <a:txBody>
                    <a:bodyPr/>
                    <a:lstStyle/>
                    <a:p>
                      <a:pPr>
                        <a:lnSpc>
                          <a:spcPct val="115000"/>
                        </a:lnSpc>
                        <a:spcBef>
                          <a:spcPts val="600"/>
                        </a:spcBef>
                        <a:spcAft>
                          <a:spcPts val="0"/>
                        </a:spcAft>
                      </a:pPr>
                      <a:r>
                        <a:rPr lang="en-GB" sz="1500" dirty="0">
                          <a:effectLst/>
                        </a:rPr>
                        <a:t>Assessment component</a:t>
                      </a:r>
                      <a:endParaRPr lang="en-US" sz="1500" dirty="0">
                        <a:effectLst/>
                        <a:latin typeface="Calibri" panose="020F0502020204030204" pitchFamily="34" charset="0"/>
                        <a:ea typeface="Calibri" panose="020F0502020204030204" pitchFamily="34" charset="0"/>
                        <a:cs typeface="Calibri" panose="020F0502020204030204" pitchFamily="34" charset="0"/>
                      </a:endParaRPr>
                    </a:p>
                  </a:txBody>
                  <a:tcPr marL="78740" marT="0" marB="0"/>
                </a:tc>
                <a:tc>
                  <a:txBody>
                    <a:bodyPr/>
                    <a:lstStyle/>
                    <a:p>
                      <a:pPr>
                        <a:lnSpc>
                          <a:spcPct val="115000"/>
                        </a:lnSpc>
                        <a:spcBef>
                          <a:spcPts val="600"/>
                        </a:spcBef>
                        <a:spcAft>
                          <a:spcPts val="0"/>
                        </a:spcAft>
                      </a:pPr>
                      <a:r>
                        <a:rPr lang="en-GB" sz="1500">
                          <a:effectLst/>
                        </a:rPr>
                        <a:t>Form and extent (length)</a:t>
                      </a:r>
                      <a:endParaRPr lang="en-US" sz="1500">
                        <a:effectLst/>
                        <a:latin typeface="Calibri" panose="020F0502020204030204" pitchFamily="34" charset="0"/>
                        <a:ea typeface="Calibri" panose="020F0502020204030204" pitchFamily="34" charset="0"/>
                        <a:cs typeface="Calibri" panose="020F0502020204030204" pitchFamily="34" charset="0"/>
                      </a:endParaRPr>
                    </a:p>
                  </a:txBody>
                  <a:tcPr marL="78740" marT="0" marB="0"/>
                </a:tc>
                <a:tc>
                  <a:txBody>
                    <a:bodyPr/>
                    <a:lstStyle/>
                    <a:p>
                      <a:pPr>
                        <a:lnSpc>
                          <a:spcPct val="115000"/>
                        </a:lnSpc>
                        <a:spcBef>
                          <a:spcPts val="600"/>
                        </a:spcBef>
                        <a:spcAft>
                          <a:spcPts val="0"/>
                        </a:spcAft>
                      </a:pPr>
                      <a:r>
                        <a:rPr lang="en-GB" sz="1500" dirty="0">
                          <a:effectLst/>
                        </a:rPr>
                        <a:t>Grading scheme</a:t>
                      </a:r>
                      <a:endParaRPr lang="en-US" sz="1500" dirty="0">
                        <a:effectLst/>
                        <a:latin typeface="Calibri" panose="020F0502020204030204" pitchFamily="34" charset="0"/>
                        <a:ea typeface="Calibri" panose="020F0502020204030204" pitchFamily="34" charset="0"/>
                        <a:cs typeface="Calibri" panose="020F0502020204030204" pitchFamily="34" charset="0"/>
                      </a:endParaRPr>
                    </a:p>
                  </a:txBody>
                  <a:tcPr marL="78740" marT="0" marB="0"/>
                </a:tc>
                <a:tc>
                  <a:txBody>
                    <a:bodyPr/>
                    <a:lstStyle/>
                    <a:p>
                      <a:pPr>
                        <a:lnSpc>
                          <a:spcPct val="115000"/>
                        </a:lnSpc>
                        <a:spcBef>
                          <a:spcPts val="600"/>
                        </a:spcBef>
                        <a:spcAft>
                          <a:spcPts val="0"/>
                        </a:spcAft>
                      </a:pPr>
                      <a:r>
                        <a:rPr lang="en-GB" sz="1500" dirty="0">
                          <a:effectLst/>
                        </a:rPr>
                        <a:t>Form</a:t>
                      </a:r>
                      <a:r>
                        <a:rPr lang="en-GB" sz="1500" baseline="0" dirty="0">
                          <a:effectLst/>
                        </a:rPr>
                        <a:t> of the Resit</a:t>
                      </a:r>
                      <a:endParaRPr lang="en-US" sz="1500" dirty="0">
                        <a:effectLst/>
                        <a:latin typeface="Calibri" panose="020F0502020204030204" pitchFamily="34" charset="0"/>
                        <a:ea typeface="Calibri" panose="020F0502020204030204" pitchFamily="34" charset="0"/>
                        <a:cs typeface="Calibri" panose="020F0502020204030204" pitchFamily="34" charset="0"/>
                      </a:endParaRPr>
                    </a:p>
                  </a:txBody>
                  <a:tcPr marL="78740" marT="0" marB="0"/>
                </a:tc>
                <a:extLst>
                  <a:ext uri="{0D108BD9-81ED-4DB2-BD59-A6C34878D82A}">
                    <a16:rowId xmlns:a16="http://schemas.microsoft.com/office/drawing/2014/main" val="4072656215"/>
                  </a:ext>
                </a:extLst>
              </a:tr>
              <a:tr h="2041229">
                <a:tc>
                  <a:txBody>
                    <a:bodyPr/>
                    <a:lstStyle/>
                    <a:p>
                      <a:pPr>
                        <a:lnSpc>
                          <a:spcPct val="115000"/>
                        </a:lnSpc>
                        <a:spcBef>
                          <a:spcPts val="600"/>
                        </a:spcBef>
                        <a:spcAft>
                          <a:spcPts val="0"/>
                        </a:spcAft>
                      </a:pPr>
                      <a:r>
                        <a:rPr lang="en-GB" sz="1500" dirty="0">
                          <a:effectLst/>
                        </a:rPr>
                        <a:t>Written exam (mandatory)</a:t>
                      </a:r>
                      <a:endParaRPr lang="en-US" sz="1500" dirty="0">
                        <a:effectLst/>
                        <a:latin typeface="Calibri" panose="020F0502020204030204" pitchFamily="34" charset="0"/>
                        <a:ea typeface="Calibri" panose="020F0502020204030204" pitchFamily="34" charset="0"/>
                        <a:cs typeface="Calibri" panose="020F0502020204030204" pitchFamily="34" charset="0"/>
                      </a:endParaRPr>
                    </a:p>
                  </a:txBody>
                  <a:tcPr marL="78740" marT="0" marB="0"/>
                </a:tc>
                <a:tc>
                  <a:txBody>
                    <a:bodyPr/>
                    <a:lstStyle/>
                    <a:p>
                      <a:pPr algn="ctr">
                        <a:lnSpc>
                          <a:spcPct val="115000"/>
                        </a:lnSpc>
                        <a:spcBef>
                          <a:spcPts val="600"/>
                        </a:spcBef>
                        <a:spcAft>
                          <a:spcPts val="0"/>
                        </a:spcAft>
                      </a:pPr>
                      <a:r>
                        <a:rPr lang="en-GB" sz="1500" dirty="0">
                          <a:effectLst/>
                        </a:rPr>
                        <a:t>2 hours</a:t>
                      </a:r>
                      <a:endParaRPr lang="en-US" sz="1500" dirty="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78740" marT="0" marB="0" anchor="ctr"/>
                </a:tc>
                <a:tc>
                  <a:txBody>
                    <a:bodyPr/>
                    <a:lstStyle/>
                    <a:p>
                      <a:pPr algn="ctr">
                        <a:lnSpc>
                          <a:spcPct val="115000"/>
                        </a:lnSpc>
                        <a:spcBef>
                          <a:spcPts val="600"/>
                        </a:spcBef>
                        <a:spcAft>
                          <a:spcPts val="0"/>
                        </a:spcAft>
                      </a:pPr>
                      <a:r>
                        <a:rPr lang="en-GB" sz="1500" dirty="0">
                          <a:effectLst/>
                        </a:rPr>
                        <a:t>Points per exam question depend on difficulty and expected length.</a:t>
                      </a:r>
                      <a:endParaRPr lang="en-US" sz="1500" dirty="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78740" marT="0" marB="0" anchor="ctr"/>
                </a:tc>
                <a:tc>
                  <a:txBody>
                    <a:bodyPr/>
                    <a:lstStyle/>
                    <a:p>
                      <a:pPr marL="0" marR="0" lvl="0" indent="0" algn="ctr" defTabSz="457200" rtl="0" eaLnBrk="1" fontAlgn="auto" latinLnBrk="0" hangingPunct="1">
                        <a:lnSpc>
                          <a:spcPct val="115000"/>
                        </a:lnSpc>
                        <a:spcBef>
                          <a:spcPts val="600"/>
                        </a:spcBef>
                        <a:spcAft>
                          <a:spcPts val="0"/>
                        </a:spcAft>
                        <a:buClrTx/>
                        <a:buSzTx/>
                        <a:buFontTx/>
                        <a:buNone/>
                        <a:tabLst/>
                        <a:defRPr/>
                      </a:pPr>
                      <a:r>
                        <a:rPr lang="en-GB" sz="1500" u="none" strike="noStrike" dirty="0">
                          <a:effectLst/>
                        </a:rPr>
                        <a:t>Regular resit in the ongoing academic year</a:t>
                      </a:r>
                      <a:endParaRPr lang="en-GB" sz="2100" u="none" strike="noStrike" dirty="0">
                        <a:effectLst/>
                      </a:endParaRPr>
                    </a:p>
                    <a:p>
                      <a:pPr algn="ctr">
                        <a:lnSpc>
                          <a:spcPct val="115000"/>
                        </a:lnSpc>
                        <a:spcBef>
                          <a:spcPts val="600"/>
                        </a:spcBef>
                        <a:spcAft>
                          <a:spcPts val="0"/>
                        </a:spcAft>
                      </a:pPr>
                      <a:r>
                        <a:rPr lang="en-GB" sz="1500" dirty="0">
                          <a:effectLst/>
                        </a:rPr>
                        <a:t> </a:t>
                      </a:r>
                      <a:endParaRPr lang="en-US" sz="1500" dirty="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78740" marT="0" marB="0" anchor="ctr"/>
                </a:tc>
                <a:extLst>
                  <a:ext uri="{0D108BD9-81ED-4DB2-BD59-A6C34878D82A}">
                    <a16:rowId xmlns:a16="http://schemas.microsoft.com/office/drawing/2014/main" val="3015265935"/>
                  </a:ext>
                </a:extLst>
              </a:tr>
              <a:tr h="2037705">
                <a:tc>
                  <a:txBody>
                    <a:bodyPr/>
                    <a:lstStyle/>
                    <a:p>
                      <a:pPr>
                        <a:lnSpc>
                          <a:spcPct val="115000"/>
                        </a:lnSpc>
                        <a:spcBef>
                          <a:spcPts val="600"/>
                        </a:spcBef>
                        <a:spcAft>
                          <a:spcPts val="0"/>
                        </a:spcAft>
                      </a:pPr>
                      <a:r>
                        <a:rPr lang="en-GB" sz="1500" dirty="0">
                          <a:effectLst/>
                        </a:rPr>
                        <a:t>Group assignment</a:t>
                      </a:r>
                      <a:endParaRPr lang="en-US" sz="1500" dirty="0">
                        <a:effectLst/>
                        <a:latin typeface="Calibri" panose="020F0502020204030204" pitchFamily="34" charset="0"/>
                        <a:ea typeface="Calibri" panose="020F0502020204030204" pitchFamily="34" charset="0"/>
                        <a:cs typeface="Calibri" panose="020F0502020204030204" pitchFamily="34" charset="0"/>
                      </a:endParaRPr>
                    </a:p>
                  </a:txBody>
                  <a:tcPr marL="78740" marT="0" marB="0"/>
                </a:tc>
                <a:tc>
                  <a:txBody>
                    <a:bodyPr/>
                    <a:lstStyle/>
                    <a:p>
                      <a:pPr algn="ctr">
                        <a:lnSpc>
                          <a:spcPct val="115000"/>
                        </a:lnSpc>
                        <a:spcBef>
                          <a:spcPts val="600"/>
                        </a:spcBef>
                        <a:spcAft>
                          <a:spcPts val="0"/>
                        </a:spcAft>
                      </a:pPr>
                      <a:r>
                        <a:rPr lang="en-GB" sz="1500" dirty="0">
                          <a:effectLst/>
                        </a:rPr>
                        <a:t>One group assignment where you run an experiment and do some data analysis/visualization.</a:t>
                      </a:r>
                      <a:endParaRPr lang="en-US" sz="1500" dirty="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78740" marT="0" marB="0" anchor="ctr"/>
                </a:tc>
                <a:tc>
                  <a:txBody>
                    <a:bodyPr/>
                    <a:lstStyle/>
                    <a:p>
                      <a:pPr algn="ctr">
                        <a:lnSpc>
                          <a:spcPct val="115000"/>
                        </a:lnSpc>
                        <a:spcBef>
                          <a:spcPts val="600"/>
                        </a:spcBef>
                        <a:spcAft>
                          <a:spcPts val="0"/>
                        </a:spcAft>
                      </a:pPr>
                      <a:r>
                        <a:rPr lang="en-GB" sz="1500" dirty="0">
                          <a:effectLst/>
                        </a:rPr>
                        <a:t>Rubrics based</a:t>
                      </a:r>
                      <a:endParaRPr lang="en-US" sz="1500" dirty="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txBody>
                  <a:tcPr marL="78740" marT="0" marB="0" anchor="ctr"/>
                </a:tc>
                <a:tc>
                  <a:txBody>
                    <a:bodyPr/>
                    <a:lstStyle/>
                    <a:p>
                      <a:pPr algn="ctr" fontAlgn="t">
                        <a:lnSpc>
                          <a:spcPct val="115000"/>
                        </a:lnSpc>
                        <a:spcBef>
                          <a:spcPts val="600"/>
                        </a:spcBef>
                        <a:spcAft>
                          <a:spcPts val="600"/>
                        </a:spcAft>
                      </a:pPr>
                      <a:r>
                        <a:rPr lang="en-US" sz="1500" u="none" strike="noStrike" dirty="0">
                          <a:effectLst/>
                        </a:rPr>
                        <a:t>There is limited </a:t>
                      </a:r>
                      <a:r>
                        <a:rPr lang="en-US" sz="1500" u="none" strike="noStrike" dirty="0" err="1">
                          <a:effectLst/>
                        </a:rPr>
                        <a:t>resit</a:t>
                      </a:r>
                      <a:r>
                        <a:rPr lang="en-US" sz="1500" u="none" strike="noStrike" dirty="0">
                          <a:effectLst/>
                        </a:rPr>
                        <a:t> opportunity</a:t>
                      </a:r>
                      <a:r>
                        <a:rPr lang="en-US" sz="1500" u="none" strike="noStrike" baseline="0" dirty="0">
                          <a:effectLst/>
                        </a:rPr>
                        <a:t> for this component (see syllabus).</a:t>
                      </a:r>
                      <a:endParaRPr lang="en-US" sz="1500" b="0" i="0" u="none" strike="noStrike"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78740" marT="0" marB="0" anchor="ctr"/>
                </a:tc>
                <a:extLst>
                  <a:ext uri="{0D108BD9-81ED-4DB2-BD59-A6C34878D82A}">
                    <a16:rowId xmlns:a16="http://schemas.microsoft.com/office/drawing/2014/main" val="2080009506"/>
                  </a:ext>
                </a:extLst>
              </a:tr>
            </a:tbl>
          </a:graphicData>
        </a:graphic>
      </p:graphicFrame>
    </p:spTree>
    <p:extLst>
      <p:ext uri="{BB962C8B-B14F-4D97-AF65-F5344CB8AC3E}">
        <p14:creationId xmlns:p14="http://schemas.microsoft.com/office/powerpoint/2010/main" val="419629386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a:t>
            </a:r>
          </a:p>
        </p:txBody>
      </p:sp>
      <p:sp>
        <p:nvSpPr>
          <p:cNvPr id="3" name="Content Placeholder 2"/>
          <p:cNvSpPr>
            <a:spLocks noGrp="1"/>
          </p:cNvSpPr>
          <p:nvPr>
            <p:ph idx="1"/>
          </p:nvPr>
        </p:nvSpPr>
        <p:spPr/>
        <p:txBody>
          <a:bodyPr/>
          <a:lstStyle/>
          <a:p>
            <a:r>
              <a:rPr lang="en-US" sz="3733" dirty="0"/>
              <a:t>Closed book exam</a:t>
            </a:r>
          </a:p>
          <a:p>
            <a:pPr lvl="0"/>
            <a:r>
              <a:rPr lang="en-US" sz="3733" b="1" dirty="0"/>
              <a:t>Duration:</a:t>
            </a:r>
            <a:r>
              <a:rPr lang="en-US" sz="3733" dirty="0"/>
              <a:t> 120 minutes, without breaks. </a:t>
            </a:r>
          </a:p>
          <a:p>
            <a:r>
              <a:rPr lang="en-US" sz="3733" b="1" dirty="0"/>
              <a:t>Allowed aids:</a:t>
            </a:r>
            <a:r>
              <a:rPr lang="en-US" sz="3733" dirty="0"/>
              <a:t> Pen, calculator from DACS allowed calculator list.</a:t>
            </a:r>
          </a:p>
          <a:p>
            <a:r>
              <a:rPr lang="en-US" sz="3733" dirty="0"/>
              <a:t>Mock exam will be posted on CANVAS (time TBD)</a:t>
            </a:r>
          </a:p>
          <a:p>
            <a:pPr lvl="1"/>
            <a:r>
              <a:rPr lang="en-US" sz="3200" dirty="0"/>
              <a:t>Multiple Choice: related to discussed concepts</a:t>
            </a:r>
          </a:p>
          <a:p>
            <a:pPr lvl="1"/>
            <a:r>
              <a:rPr lang="en-US" sz="3200" dirty="0"/>
              <a:t>Statements: true/false + explanation</a:t>
            </a:r>
          </a:p>
          <a:p>
            <a:pPr lvl="1"/>
            <a:r>
              <a:rPr lang="en-US" sz="3200" dirty="0"/>
              <a:t>Data analysis problems: describe the steps to take</a:t>
            </a:r>
          </a:p>
        </p:txBody>
      </p:sp>
    </p:spTree>
    <p:extLst>
      <p:ext uri="{BB962C8B-B14F-4D97-AF65-F5344CB8AC3E}">
        <p14:creationId xmlns:p14="http://schemas.microsoft.com/office/powerpoint/2010/main" val="166329089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Communication</a:t>
            </a:r>
          </a:p>
        </p:txBody>
      </p:sp>
      <p:sp>
        <p:nvSpPr>
          <p:cNvPr id="3" name="Content Placeholder 2"/>
          <p:cNvSpPr>
            <a:spLocks noGrp="1"/>
          </p:cNvSpPr>
          <p:nvPr>
            <p:ph idx="1"/>
          </p:nvPr>
        </p:nvSpPr>
        <p:spPr/>
        <p:txBody>
          <a:bodyPr/>
          <a:lstStyle/>
          <a:p>
            <a:r>
              <a:rPr lang="en-US" sz="3200" dirty="0"/>
              <a:t>Lectures</a:t>
            </a:r>
          </a:p>
          <a:p>
            <a:r>
              <a:rPr lang="en-US" sz="3200" dirty="0"/>
              <a:t>Labs</a:t>
            </a:r>
          </a:p>
          <a:p>
            <a:r>
              <a:rPr lang="en-US" sz="3200" dirty="0"/>
              <a:t>Canvas discussion board</a:t>
            </a:r>
          </a:p>
          <a:p>
            <a:r>
              <a:rPr lang="en-US" sz="3200" dirty="0">
                <a:solidFill>
                  <a:srgbClr val="FF0000"/>
                </a:solidFill>
              </a:rPr>
              <a:t>Please, do NOT send us </a:t>
            </a:r>
            <a:br>
              <a:rPr lang="en-US" sz="3200" dirty="0">
                <a:solidFill>
                  <a:srgbClr val="FF0000"/>
                </a:solidFill>
              </a:rPr>
            </a:br>
            <a:r>
              <a:rPr lang="en-US" sz="3200" dirty="0">
                <a:solidFill>
                  <a:srgbClr val="FF0000"/>
                </a:solidFill>
              </a:rPr>
              <a:t>e-mails with questions</a:t>
            </a:r>
          </a:p>
        </p:txBody>
      </p:sp>
      <p:pic>
        <p:nvPicPr>
          <p:cNvPr id="1026" name="Picture 2" descr="Cartoon: Spam (medium) by deleuran tagged email,computer,spam"/>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232399" y="1296000"/>
            <a:ext cx="6350000" cy="45212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3051704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57F92405-3255-A6B8-BBC4-B760DBCDC072}"/>
              </a:ext>
            </a:extLst>
          </p:cNvPr>
          <p:cNvSpPr>
            <a:spLocks noGrp="1"/>
          </p:cNvSpPr>
          <p:nvPr>
            <p:ph type="ctrTitle"/>
          </p:nvPr>
        </p:nvSpPr>
        <p:spPr/>
        <p:txBody>
          <a:bodyPr/>
          <a:lstStyle/>
          <a:p>
            <a:r>
              <a:rPr lang="en-US" dirty="0"/>
              <a:t>Course Overview</a:t>
            </a:r>
            <a:endParaRPr lang="en-NL" dirty="0"/>
          </a:p>
        </p:txBody>
      </p:sp>
      <p:sp>
        <p:nvSpPr>
          <p:cNvPr id="5" name="Subtitle 4">
            <a:extLst>
              <a:ext uri="{FF2B5EF4-FFF2-40B4-BE49-F238E27FC236}">
                <a16:creationId xmlns:a16="http://schemas.microsoft.com/office/drawing/2014/main" id="{EEC1B12A-06CD-B91E-AFAF-FF0E54B692E3}"/>
              </a:ext>
            </a:extLst>
          </p:cNvPr>
          <p:cNvSpPr>
            <a:spLocks noGrp="1"/>
          </p:cNvSpPr>
          <p:nvPr>
            <p:ph type="subTitle" idx="1"/>
          </p:nvPr>
        </p:nvSpPr>
        <p:spPr/>
        <p:txBody>
          <a:bodyPr/>
          <a:lstStyle/>
          <a:p>
            <a:endParaRPr lang="en-NL"/>
          </a:p>
        </p:txBody>
      </p:sp>
    </p:spTree>
    <p:extLst>
      <p:ext uri="{BB962C8B-B14F-4D97-AF65-F5344CB8AC3E}">
        <p14:creationId xmlns:p14="http://schemas.microsoft.com/office/powerpoint/2010/main" val="91504980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dirty="0"/>
              <a:t>Tentative Schedule</a:t>
            </a:r>
          </a:p>
        </p:txBody>
      </p:sp>
      <p:sp>
        <p:nvSpPr>
          <p:cNvPr id="2" name="Content Placeholder 2">
            <a:extLst>
              <a:ext uri="{FF2B5EF4-FFF2-40B4-BE49-F238E27FC236}">
                <a16:creationId xmlns:a16="http://schemas.microsoft.com/office/drawing/2014/main" id="{E839FA9A-900A-8B55-2D07-880242ADDD43}"/>
              </a:ext>
            </a:extLst>
          </p:cNvPr>
          <p:cNvSpPr txBox="1">
            <a:spLocks/>
          </p:cNvSpPr>
          <p:nvPr/>
        </p:nvSpPr>
        <p:spPr>
          <a:xfrm>
            <a:off x="480001" y="1414281"/>
            <a:ext cx="11102399" cy="4445149"/>
          </a:xfrm>
          <a:prstGeom prst="rect">
            <a:avLst/>
          </a:prstGeom>
        </p:spPr>
        <p:txBody>
          <a:bodyPr vert="horz" lIns="0" tIns="0" rIns="0" bIns="0" rtlCol="0">
            <a:noAutofit/>
          </a:bodyPr>
          <a:lstStyle>
            <a:lvl1pPr marL="457189" indent="-457189" algn="l" defTabSz="609585" rtl="0" eaLnBrk="1" latinLnBrk="0" hangingPunct="1">
              <a:spcBef>
                <a:spcPts val="0"/>
              </a:spcBef>
              <a:buFont typeface="Arial"/>
              <a:buChar char="•"/>
              <a:defRPr sz="4267" kern="1200">
                <a:solidFill>
                  <a:schemeClr val="tx1"/>
                </a:solidFill>
                <a:latin typeface="+mj-lt"/>
                <a:ea typeface="+mn-ea"/>
                <a:cs typeface="Verdana"/>
              </a:defRPr>
            </a:lvl1pPr>
            <a:lvl2pPr marL="956709" indent="-478355" algn="l" defTabSz="609585" rtl="0" eaLnBrk="1" latinLnBrk="0" hangingPunct="1">
              <a:spcBef>
                <a:spcPts val="0"/>
              </a:spcBef>
              <a:buFont typeface="Lucida Grande"/>
              <a:buChar char="-"/>
              <a:defRPr sz="3733" kern="1200">
                <a:solidFill>
                  <a:schemeClr val="tx1"/>
                </a:solidFill>
                <a:latin typeface="+mj-lt"/>
                <a:ea typeface="+mn-ea"/>
                <a:cs typeface="Verdana"/>
              </a:defRPr>
            </a:lvl2pPr>
            <a:lvl3pPr marL="1430831" indent="-476239" algn="l" defTabSz="609585" rtl="0" eaLnBrk="1" latinLnBrk="0" hangingPunct="1">
              <a:spcBef>
                <a:spcPts val="0"/>
              </a:spcBef>
              <a:buFont typeface="Lucida Grande"/>
              <a:buChar char="-"/>
              <a:defRPr sz="3200" kern="1200">
                <a:solidFill>
                  <a:schemeClr val="tx1"/>
                </a:solidFill>
                <a:latin typeface="+mj-lt"/>
                <a:ea typeface="+mn-ea"/>
                <a:cs typeface="Verdana"/>
              </a:defRPr>
            </a:lvl3pPr>
            <a:lvl4pPr marL="1907070" indent="-474121" algn="l" defTabSz="609585" rtl="0" eaLnBrk="1" latinLnBrk="0" hangingPunct="1">
              <a:spcBef>
                <a:spcPts val="0"/>
              </a:spcBef>
              <a:buFont typeface="Lucida Grande"/>
              <a:buChar char="-"/>
              <a:defRPr sz="2667" kern="1200">
                <a:solidFill>
                  <a:schemeClr val="tx1"/>
                </a:solidFill>
                <a:latin typeface="+mj-lt"/>
                <a:ea typeface="+mn-ea"/>
                <a:cs typeface="Verdana"/>
              </a:defRPr>
            </a:lvl4pPr>
            <a:lvl5pPr marL="2391774" indent="-480472" algn="l" defTabSz="609585" rtl="0" eaLnBrk="1" latinLnBrk="0" hangingPunct="1">
              <a:spcBef>
                <a:spcPts val="0"/>
              </a:spcBef>
              <a:buFont typeface="Lucida Grande"/>
              <a:buChar char="-"/>
              <a:defRPr sz="2667" kern="1200">
                <a:solidFill>
                  <a:schemeClr val="tx1"/>
                </a:solidFill>
                <a:latin typeface="+mj-lt"/>
                <a:ea typeface="+mn-ea"/>
                <a:cs typeface="Verdana"/>
              </a:defRPr>
            </a:lvl5pPr>
            <a:lvl6pPr marL="3352716" indent="-304792" algn="l" defTabSz="609585" rtl="0" eaLnBrk="1" latinLnBrk="0" hangingPunct="1">
              <a:spcBef>
                <a:spcPct val="20000"/>
              </a:spcBef>
              <a:buFont typeface="Arial"/>
              <a:buChar char="•"/>
              <a:defRPr sz="2667" kern="1200">
                <a:solidFill>
                  <a:schemeClr val="tx1"/>
                </a:solidFill>
                <a:latin typeface="+mn-lt"/>
                <a:ea typeface="+mn-ea"/>
                <a:cs typeface="+mn-cs"/>
              </a:defRPr>
            </a:lvl6pPr>
            <a:lvl7pPr marL="3962301" indent="-304792" algn="l" defTabSz="609585" rtl="0" eaLnBrk="1" latinLnBrk="0" hangingPunct="1">
              <a:spcBef>
                <a:spcPct val="20000"/>
              </a:spcBef>
              <a:buFont typeface="Arial"/>
              <a:buChar char="•"/>
              <a:defRPr sz="2667" kern="1200">
                <a:solidFill>
                  <a:schemeClr val="tx1"/>
                </a:solidFill>
                <a:latin typeface="+mn-lt"/>
                <a:ea typeface="+mn-ea"/>
                <a:cs typeface="+mn-cs"/>
              </a:defRPr>
            </a:lvl7pPr>
            <a:lvl8pPr marL="4571886" indent="-304792" algn="l" defTabSz="609585" rtl="0" eaLnBrk="1" latinLnBrk="0" hangingPunct="1">
              <a:spcBef>
                <a:spcPct val="20000"/>
              </a:spcBef>
              <a:buFont typeface="Arial"/>
              <a:buChar char="•"/>
              <a:defRPr sz="2667" kern="1200">
                <a:solidFill>
                  <a:schemeClr val="tx1"/>
                </a:solidFill>
                <a:latin typeface="+mn-lt"/>
                <a:ea typeface="+mn-ea"/>
                <a:cs typeface="+mn-cs"/>
              </a:defRPr>
            </a:lvl8pPr>
            <a:lvl9pPr marL="5181470" indent="-304792" algn="l" defTabSz="609585" rtl="0" eaLnBrk="1" latinLnBrk="0" hangingPunct="1">
              <a:spcBef>
                <a:spcPct val="20000"/>
              </a:spcBef>
              <a:buFont typeface="Arial"/>
              <a:buChar char="•"/>
              <a:defRPr sz="2667" kern="1200">
                <a:solidFill>
                  <a:schemeClr val="tx1"/>
                </a:solidFill>
                <a:latin typeface="+mn-lt"/>
                <a:ea typeface="+mn-ea"/>
                <a:cs typeface="+mn-cs"/>
              </a:defRPr>
            </a:lvl9pPr>
          </a:lstStyle>
          <a:p>
            <a:pPr marL="742950" indent="-742950">
              <a:buFont typeface="+mj-lt"/>
              <a:buAutoNum type="arabicPeriod"/>
            </a:pPr>
            <a:r>
              <a:rPr lang="en-US" sz="3200" dirty="0"/>
              <a:t>Understanding nature of data and what is done with it. </a:t>
            </a:r>
          </a:p>
          <a:p>
            <a:pPr marL="742950" indent="-742950">
              <a:buFont typeface="+mj-lt"/>
              <a:buAutoNum type="arabicPeriod"/>
            </a:pPr>
            <a:r>
              <a:rPr lang="en-US" sz="3200" dirty="0"/>
              <a:t>Basic data summaries for </a:t>
            </a:r>
          </a:p>
          <a:p>
            <a:pPr marL="1242470" lvl="1" indent="-742950">
              <a:buFont typeface="+mj-lt"/>
              <a:buAutoNum type="arabicPeriod"/>
            </a:pPr>
            <a:r>
              <a:rPr lang="en-US" sz="2800" dirty="0"/>
              <a:t>Categorical data</a:t>
            </a:r>
          </a:p>
          <a:p>
            <a:pPr marL="1242470" lvl="1" indent="-742950">
              <a:buFont typeface="+mj-lt"/>
              <a:buAutoNum type="arabicPeriod"/>
            </a:pPr>
            <a:r>
              <a:rPr lang="en-US" sz="2800" dirty="0"/>
              <a:t>Continuous data</a:t>
            </a:r>
          </a:p>
          <a:p>
            <a:pPr marL="742950" indent="-742950">
              <a:buFont typeface="+mj-lt"/>
              <a:buAutoNum type="arabicPeriod"/>
            </a:pPr>
            <a:r>
              <a:rPr lang="en-US" sz="3200" dirty="0"/>
              <a:t>How to collect data? What are we usually trying to say with data?  &lt;causality&gt;</a:t>
            </a:r>
          </a:p>
          <a:p>
            <a:pPr marL="742950" indent="-742950">
              <a:buFont typeface="+mj-lt"/>
              <a:buAutoNum type="arabicPeriod"/>
            </a:pPr>
            <a:r>
              <a:rPr lang="en-US" sz="3200" dirty="0"/>
              <a:t>What is probability really? </a:t>
            </a:r>
          </a:p>
          <a:p>
            <a:pPr marL="742950" indent="-742950">
              <a:buFont typeface="+mj-lt"/>
              <a:buAutoNum type="arabicPeriod"/>
            </a:pPr>
            <a:r>
              <a:rPr lang="en-US" sz="3200" dirty="0"/>
              <a:t>How does it get used to understand the structure of data? </a:t>
            </a:r>
          </a:p>
          <a:p>
            <a:pPr marL="742950" indent="-742950">
              <a:buFont typeface="+mj-lt"/>
              <a:buAutoNum type="arabicPeriod"/>
            </a:pPr>
            <a:r>
              <a:rPr lang="en-US" sz="3200" dirty="0"/>
              <a:t>How can we make any decisions from data?</a:t>
            </a:r>
          </a:p>
          <a:p>
            <a:pPr marL="742950" indent="-742950">
              <a:buFont typeface="+mj-lt"/>
              <a:buAutoNum type="arabicPeriod"/>
            </a:pPr>
            <a:endParaRPr lang="en-US" sz="3200" dirty="0"/>
          </a:p>
        </p:txBody>
      </p:sp>
    </p:spTree>
    <p:extLst>
      <p:ext uri="{BB962C8B-B14F-4D97-AF65-F5344CB8AC3E}">
        <p14:creationId xmlns:p14="http://schemas.microsoft.com/office/powerpoint/2010/main" val="239971949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36ABC5-14E1-94E7-7629-0B1231806B85}"/>
              </a:ext>
            </a:extLst>
          </p:cNvPr>
          <p:cNvSpPr>
            <a:spLocks noGrp="1"/>
          </p:cNvSpPr>
          <p:nvPr>
            <p:ph type="title"/>
          </p:nvPr>
        </p:nvSpPr>
        <p:spPr/>
        <p:txBody>
          <a:bodyPr/>
          <a:lstStyle/>
          <a:p>
            <a:r>
              <a:rPr lang="en-US" dirty="0"/>
              <a:t>What is statistics good for? </a:t>
            </a:r>
          </a:p>
        </p:txBody>
      </p:sp>
      <p:pic>
        <p:nvPicPr>
          <p:cNvPr id="4" name="Content Placeholder 10" descr="A graph of a number of patients with a blue line&#10;&#10;Description automatically generated">
            <a:extLst>
              <a:ext uri="{FF2B5EF4-FFF2-40B4-BE49-F238E27FC236}">
                <a16:creationId xmlns:a16="http://schemas.microsoft.com/office/drawing/2014/main" id="{F1B7DB2F-A399-4CBE-7DF0-3DF47E51D612}"/>
              </a:ext>
            </a:extLst>
          </p:cNvPr>
          <p:cNvPicPr>
            <a:picLocks noChangeAspect="1"/>
          </p:cNvPicPr>
          <p:nvPr/>
        </p:nvPicPr>
        <p:blipFill>
          <a:blip r:embed="rId2"/>
          <a:stretch>
            <a:fillRect/>
          </a:stretch>
        </p:blipFill>
        <p:spPr>
          <a:xfrm>
            <a:off x="6031200" y="1170260"/>
            <a:ext cx="5800442" cy="4933192"/>
          </a:xfrm>
          <a:prstGeom prst="rect">
            <a:avLst/>
          </a:prstGeom>
        </p:spPr>
      </p:pic>
      <p:sp>
        <p:nvSpPr>
          <p:cNvPr id="5" name="Content Placeholder 2">
            <a:extLst>
              <a:ext uri="{FF2B5EF4-FFF2-40B4-BE49-F238E27FC236}">
                <a16:creationId xmlns:a16="http://schemas.microsoft.com/office/drawing/2014/main" id="{C693F670-2955-5790-79F6-4F8CACCE772D}"/>
              </a:ext>
            </a:extLst>
          </p:cNvPr>
          <p:cNvSpPr txBox="1">
            <a:spLocks/>
          </p:cNvSpPr>
          <p:nvPr/>
        </p:nvSpPr>
        <p:spPr>
          <a:xfrm>
            <a:off x="480001" y="1414281"/>
            <a:ext cx="5708927" cy="4445149"/>
          </a:xfrm>
          <a:prstGeom prst="rect">
            <a:avLst/>
          </a:prstGeom>
        </p:spPr>
        <p:txBody>
          <a:bodyPr vert="horz" lIns="0" tIns="0" rIns="0" bIns="0" rtlCol="0">
            <a:noAutofit/>
          </a:bodyPr>
          <a:lstStyle>
            <a:lvl1pPr marL="457189" indent="-457189" algn="l" defTabSz="609585" rtl="0" eaLnBrk="1" latinLnBrk="0" hangingPunct="1">
              <a:spcBef>
                <a:spcPts val="0"/>
              </a:spcBef>
              <a:buFont typeface="Arial"/>
              <a:buChar char="•"/>
              <a:defRPr sz="4267" kern="1200">
                <a:solidFill>
                  <a:schemeClr val="tx1"/>
                </a:solidFill>
                <a:latin typeface="+mj-lt"/>
                <a:ea typeface="+mn-ea"/>
                <a:cs typeface="Verdana"/>
              </a:defRPr>
            </a:lvl1pPr>
            <a:lvl2pPr marL="956709" indent="-478355" algn="l" defTabSz="609585" rtl="0" eaLnBrk="1" latinLnBrk="0" hangingPunct="1">
              <a:spcBef>
                <a:spcPts val="0"/>
              </a:spcBef>
              <a:buFont typeface="Lucida Grande"/>
              <a:buChar char="-"/>
              <a:defRPr sz="3733" kern="1200">
                <a:solidFill>
                  <a:schemeClr val="tx1"/>
                </a:solidFill>
                <a:latin typeface="+mj-lt"/>
                <a:ea typeface="+mn-ea"/>
                <a:cs typeface="Verdana"/>
              </a:defRPr>
            </a:lvl2pPr>
            <a:lvl3pPr marL="1430831" indent="-476239" algn="l" defTabSz="609585" rtl="0" eaLnBrk="1" latinLnBrk="0" hangingPunct="1">
              <a:spcBef>
                <a:spcPts val="0"/>
              </a:spcBef>
              <a:buFont typeface="Lucida Grande"/>
              <a:buChar char="-"/>
              <a:defRPr sz="3200" kern="1200">
                <a:solidFill>
                  <a:schemeClr val="tx1"/>
                </a:solidFill>
                <a:latin typeface="+mj-lt"/>
                <a:ea typeface="+mn-ea"/>
                <a:cs typeface="Verdana"/>
              </a:defRPr>
            </a:lvl3pPr>
            <a:lvl4pPr marL="1907070" indent="-474121" algn="l" defTabSz="609585" rtl="0" eaLnBrk="1" latinLnBrk="0" hangingPunct="1">
              <a:spcBef>
                <a:spcPts val="0"/>
              </a:spcBef>
              <a:buFont typeface="Lucida Grande"/>
              <a:buChar char="-"/>
              <a:defRPr sz="2667" kern="1200">
                <a:solidFill>
                  <a:schemeClr val="tx1"/>
                </a:solidFill>
                <a:latin typeface="+mj-lt"/>
                <a:ea typeface="+mn-ea"/>
                <a:cs typeface="Verdana"/>
              </a:defRPr>
            </a:lvl4pPr>
            <a:lvl5pPr marL="2391774" indent="-480472" algn="l" defTabSz="609585" rtl="0" eaLnBrk="1" latinLnBrk="0" hangingPunct="1">
              <a:spcBef>
                <a:spcPts val="0"/>
              </a:spcBef>
              <a:buFont typeface="Lucida Grande"/>
              <a:buChar char="-"/>
              <a:defRPr sz="2667" kern="1200">
                <a:solidFill>
                  <a:schemeClr val="tx1"/>
                </a:solidFill>
                <a:latin typeface="+mj-lt"/>
                <a:ea typeface="+mn-ea"/>
                <a:cs typeface="Verdana"/>
              </a:defRPr>
            </a:lvl5pPr>
            <a:lvl6pPr marL="3352716" indent="-304792" algn="l" defTabSz="609585" rtl="0" eaLnBrk="1" latinLnBrk="0" hangingPunct="1">
              <a:spcBef>
                <a:spcPct val="20000"/>
              </a:spcBef>
              <a:buFont typeface="Arial"/>
              <a:buChar char="•"/>
              <a:defRPr sz="2667" kern="1200">
                <a:solidFill>
                  <a:schemeClr val="tx1"/>
                </a:solidFill>
                <a:latin typeface="+mn-lt"/>
                <a:ea typeface="+mn-ea"/>
                <a:cs typeface="+mn-cs"/>
              </a:defRPr>
            </a:lvl6pPr>
            <a:lvl7pPr marL="3962301" indent="-304792" algn="l" defTabSz="609585" rtl="0" eaLnBrk="1" latinLnBrk="0" hangingPunct="1">
              <a:spcBef>
                <a:spcPct val="20000"/>
              </a:spcBef>
              <a:buFont typeface="Arial"/>
              <a:buChar char="•"/>
              <a:defRPr sz="2667" kern="1200">
                <a:solidFill>
                  <a:schemeClr val="tx1"/>
                </a:solidFill>
                <a:latin typeface="+mn-lt"/>
                <a:ea typeface="+mn-ea"/>
                <a:cs typeface="+mn-cs"/>
              </a:defRPr>
            </a:lvl7pPr>
            <a:lvl8pPr marL="4571886" indent="-304792" algn="l" defTabSz="609585" rtl="0" eaLnBrk="1" latinLnBrk="0" hangingPunct="1">
              <a:spcBef>
                <a:spcPct val="20000"/>
              </a:spcBef>
              <a:buFont typeface="Arial"/>
              <a:buChar char="•"/>
              <a:defRPr sz="2667" kern="1200">
                <a:solidFill>
                  <a:schemeClr val="tx1"/>
                </a:solidFill>
                <a:latin typeface="+mn-lt"/>
                <a:ea typeface="+mn-ea"/>
                <a:cs typeface="+mn-cs"/>
              </a:defRPr>
            </a:lvl8pPr>
            <a:lvl9pPr marL="5181470" indent="-304792" algn="l" defTabSz="609585" rtl="0" eaLnBrk="1" latinLnBrk="0" hangingPunct="1">
              <a:spcBef>
                <a:spcPct val="20000"/>
              </a:spcBef>
              <a:buFont typeface="Arial"/>
              <a:buChar char="•"/>
              <a:defRPr sz="2667" kern="1200">
                <a:solidFill>
                  <a:schemeClr val="tx1"/>
                </a:solidFill>
                <a:latin typeface="+mn-lt"/>
                <a:ea typeface="+mn-ea"/>
                <a:cs typeface="+mn-cs"/>
              </a:defRPr>
            </a:lvl9pPr>
          </a:lstStyle>
          <a:p>
            <a:r>
              <a:rPr lang="en-US" sz="3600" dirty="0"/>
              <a:t>Vaccine and drug testing</a:t>
            </a:r>
            <a:br>
              <a:rPr lang="en-US" sz="3600" dirty="0"/>
            </a:br>
            <a:endParaRPr lang="en-US" sz="3600" dirty="0"/>
          </a:p>
          <a:p>
            <a:r>
              <a:rPr lang="en-US" sz="3600" dirty="0"/>
              <a:t>How can we know whether a given vaccine or drug actually improves human health? </a:t>
            </a:r>
          </a:p>
          <a:p>
            <a:pPr marL="742950" indent="-742950">
              <a:buFont typeface="+mj-lt"/>
              <a:buAutoNum type="arabicPeriod"/>
            </a:pPr>
            <a:endParaRPr lang="en-US" sz="3600" dirty="0"/>
          </a:p>
        </p:txBody>
      </p:sp>
    </p:spTree>
    <p:extLst>
      <p:ext uri="{BB962C8B-B14F-4D97-AF65-F5344CB8AC3E}">
        <p14:creationId xmlns:p14="http://schemas.microsoft.com/office/powerpoint/2010/main" val="381370987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CF2FEA-9CEC-3128-006E-CFBDE45A231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2A4C1E8-8C68-774A-3225-B466424B8888}"/>
              </a:ext>
            </a:extLst>
          </p:cNvPr>
          <p:cNvSpPr>
            <a:spLocks noGrp="1"/>
          </p:cNvSpPr>
          <p:nvPr>
            <p:ph type="title"/>
          </p:nvPr>
        </p:nvSpPr>
        <p:spPr/>
        <p:txBody>
          <a:bodyPr/>
          <a:lstStyle/>
          <a:p>
            <a:r>
              <a:rPr lang="en-US" dirty="0"/>
              <a:t>What is statistics good for? </a:t>
            </a:r>
          </a:p>
        </p:txBody>
      </p:sp>
      <p:sp>
        <p:nvSpPr>
          <p:cNvPr id="5" name="Content Placeholder 2">
            <a:extLst>
              <a:ext uri="{FF2B5EF4-FFF2-40B4-BE49-F238E27FC236}">
                <a16:creationId xmlns:a16="http://schemas.microsoft.com/office/drawing/2014/main" id="{10D5BA28-8355-EB4E-146E-561C1C3A878E}"/>
              </a:ext>
            </a:extLst>
          </p:cNvPr>
          <p:cNvSpPr txBox="1">
            <a:spLocks/>
          </p:cNvSpPr>
          <p:nvPr/>
        </p:nvSpPr>
        <p:spPr>
          <a:xfrm>
            <a:off x="480001" y="1414281"/>
            <a:ext cx="5708927" cy="4445149"/>
          </a:xfrm>
          <a:prstGeom prst="rect">
            <a:avLst/>
          </a:prstGeom>
        </p:spPr>
        <p:txBody>
          <a:bodyPr vert="horz" lIns="0" tIns="0" rIns="0" bIns="0" rtlCol="0">
            <a:noAutofit/>
          </a:bodyPr>
          <a:lstStyle>
            <a:lvl1pPr marL="457189" indent="-457189" algn="l" defTabSz="609585" rtl="0" eaLnBrk="1" latinLnBrk="0" hangingPunct="1">
              <a:spcBef>
                <a:spcPts val="0"/>
              </a:spcBef>
              <a:buFont typeface="Arial"/>
              <a:buChar char="•"/>
              <a:defRPr sz="4267" kern="1200">
                <a:solidFill>
                  <a:schemeClr val="tx1"/>
                </a:solidFill>
                <a:latin typeface="+mj-lt"/>
                <a:ea typeface="+mn-ea"/>
                <a:cs typeface="Verdana"/>
              </a:defRPr>
            </a:lvl1pPr>
            <a:lvl2pPr marL="956709" indent="-478355" algn="l" defTabSz="609585" rtl="0" eaLnBrk="1" latinLnBrk="0" hangingPunct="1">
              <a:spcBef>
                <a:spcPts val="0"/>
              </a:spcBef>
              <a:buFont typeface="Lucida Grande"/>
              <a:buChar char="-"/>
              <a:defRPr sz="3733" kern="1200">
                <a:solidFill>
                  <a:schemeClr val="tx1"/>
                </a:solidFill>
                <a:latin typeface="+mj-lt"/>
                <a:ea typeface="+mn-ea"/>
                <a:cs typeface="Verdana"/>
              </a:defRPr>
            </a:lvl2pPr>
            <a:lvl3pPr marL="1430831" indent="-476239" algn="l" defTabSz="609585" rtl="0" eaLnBrk="1" latinLnBrk="0" hangingPunct="1">
              <a:spcBef>
                <a:spcPts val="0"/>
              </a:spcBef>
              <a:buFont typeface="Lucida Grande"/>
              <a:buChar char="-"/>
              <a:defRPr sz="3200" kern="1200">
                <a:solidFill>
                  <a:schemeClr val="tx1"/>
                </a:solidFill>
                <a:latin typeface="+mj-lt"/>
                <a:ea typeface="+mn-ea"/>
                <a:cs typeface="Verdana"/>
              </a:defRPr>
            </a:lvl3pPr>
            <a:lvl4pPr marL="1907070" indent="-474121" algn="l" defTabSz="609585" rtl="0" eaLnBrk="1" latinLnBrk="0" hangingPunct="1">
              <a:spcBef>
                <a:spcPts val="0"/>
              </a:spcBef>
              <a:buFont typeface="Lucida Grande"/>
              <a:buChar char="-"/>
              <a:defRPr sz="2667" kern="1200">
                <a:solidFill>
                  <a:schemeClr val="tx1"/>
                </a:solidFill>
                <a:latin typeface="+mj-lt"/>
                <a:ea typeface="+mn-ea"/>
                <a:cs typeface="Verdana"/>
              </a:defRPr>
            </a:lvl4pPr>
            <a:lvl5pPr marL="2391774" indent="-480472" algn="l" defTabSz="609585" rtl="0" eaLnBrk="1" latinLnBrk="0" hangingPunct="1">
              <a:spcBef>
                <a:spcPts val="0"/>
              </a:spcBef>
              <a:buFont typeface="Lucida Grande"/>
              <a:buChar char="-"/>
              <a:defRPr sz="2667" kern="1200">
                <a:solidFill>
                  <a:schemeClr val="tx1"/>
                </a:solidFill>
                <a:latin typeface="+mj-lt"/>
                <a:ea typeface="+mn-ea"/>
                <a:cs typeface="Verdana"/>
              </a:defRPr>
            </a:lvl5pPr>
            <a:lvl6pPr marL="3352716" indent="-304792" algn="l" defTabSz="609585" rtl="0" eaLnBrk="1" latinLnBrk="0" hangingPunct="1">
              <a:spcBef>
                <a:spcPct val="20000"/>
              </a:spcBef>
              <a:buFont typeface="Arial"/>
              <a:buChar char="•"/>
              <a:defRPr sz="2667" kern="1200">
                <a:solidFill>
                  <a:schemeClr val="tx1"/>
                </a:solidFill>
                <a:latin typeface="+mn-lt"/>
                <a:ea typeface="+mn-ea"/>
                <a:cs typeface="+mn-cs"/>
              </a:defRPr>
            </a:lvl6pPr>
            <a:lvl7pPr marL="3962301" indent="-304792" algn="l" defTabSz="609585" rtl="0" eaLnBrk="1" latinLnBrk="0" hangingPunct="1">
              <a:spcBef>
                <a:spcPct val="20000"/>
              </a:spcBef>
              <a:buFont typeface="Arial"/>
              <a:buChar char="•"/>
              <a:defRPr sz="2667" kern="1200">
                <a:solidFill>
                  <a:schemeClr val="tx1"/>
                </a:solidFill>
                <a:latin typeface="+mn-lt"/>
                <a:ea typeface="+mn-ea"/>
                <a:cs typeface="+mn-cs"/>
              </a:defRPr>
            </a:lvl7pPr>
            <a:lvl8pPr marL="4571886" indent="-304792" algn="l" defTabSz="609585" rtl="0" eaLnBrk="1" latinLnBrk="0" hangingPunct="1">
              <a:spcBef>
                <a:spcPct val="20000"/>
              </a:spcBef>
              <a:buFont typeface="Arial"/>
              <a:buChar char="•"/>
              <a:defRPr sz="2667" kern="1200">
                <a:solidFill>
                  <a:schemeClr val="tx1"/>
                </a:solidFill>
                <a:latin typeface="+mn-lt"/>
                <a:ea typeface="+mn-ea"/>
                <a:cs typeface="+mn-cs"/>
              </a:defRPr>
            </a:lvl8pPr>
            <a:lvl9pPr marL="5181470" indent="-304792" algn="l" defTabSz="609585" rtl="0" eaLnBrk="1" latinLnBrk="0" hangingPunct="1">
              <a:spcBef>
                <a:spcPct val="20000"/>
              </a:spcBef>
              <a:buFont typeface="Arial"/>
              <a:buChar char="•"/>
              <a:defRPr sz="2667" kern="1200">
                <a:solidFill>
                  <a:schemeClr val="tx1"/>
                </a:solidFill>
                <a:latin typeface="+mn-lt"/>
                <a:ea typeface="+mn-ea"/>
                <a:cs typeface="+mn-cs"/>
              </a:defRPr>
            </a:lvl9pPr>
          </a:lstStyle>
          <a:p>
            <a:r>
              <a:rPr lang="en-US" sz="3600" dirty="0"/>
              <a:t>Helping people who have lost the ability to speak to be able to speak!</a:t>
            </a:r>
          </a:p>
          <a:p>
            <a:r>
              <a:rPr lang="en-US" sz="3600" dirty="0"/>
              <a:t>This is a collaboration between statistics, and its sibling fields signal processing, machine learning and optimization.</a:t>
            </a:r>
          </a:p>
        </p:txBody>
      </p:sp>
      <p:pic>
        <p:nvPicPr>
          <p:cNvPr id="3" name="speechNeuroprosthesis">
            <a:hlinkClick r:id="" action="ppaction://media"/>
            <a:extLst>
              <a:ext uri="{FF2B5EF4-FFF2-40B4-BE49-F238E27FC236}">
                <a16:creationId xmlns:a16="http://schemas.microsoft.com/office/drawing/2014/main" id="{2E259850-451A-4761-B03B-8EC9D3A753BE}"/>
              </a:ext>
            </a:extLst>
          </p:cNvPr>
          <p:cNvPicPr>
            <a:picLocks noChangeAspect="1"/>
          </p:cNvPicPr>
          <p:nvPr>
            <a:videoFile r:link="rId2"/>
            <p:extLst>
              <p:ext uri="{DAA4B4D4-6D71-4841-9C94-3DE7FCFB9230}">
                <p14:media xmlns:p14="http://schemas.microsoft.com/office/powerpoint/2010/main" r:embed="rId1"/>
              </p:ext>
            </p:extLst>
          </p:nvPr>
        </p:nvPicPr>
        <p:blipFill>
          <a:blip r:embed="rId4"/>
          <a:stretch>
            <a:fillRect/>
          </a:stretch>
        </p:blipFill>
        <p:spPr>
          <a:xfrm>
            <a:off x="7743082" y="414260"/>
            <a:ext cx="3276018" cy="5824033"/>
          </a:xfrm>
          <a:prstGeom prst="rect">
            <a:avLst/>
          </a:prstGeom>
        </p:spPr>
      </p:pic>
    </p:spTree>
    <p:extLst>
      <p:ext uri="{BB962C8B-B14F-4D97-AF65-F5344CB8AC3E}">
        <p14:creationId xmlns:p14="http://schemas.microsoft.com/office/powerpoint/2010/main" val="39145748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3460"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seq concurrent="1" nextAc="seek">
              <p:cTn id="7" restart="whenNotActive" fill="hold" evtFilter="cancelBubble" nodeType="interactiveSeq">
                <p:stCondLst>
                  <p:cond evt="onClick" delay="0">
                    <p:tgtEl>
                      <p:spTgt spid="3"/>
                    </p:tgtEl>
                  </p:cond>
                </p:stCondLst>
                <p:endSync evt="end" delay="0">
                  <p:rtn val="all"/>
                </p:endSync>
                <p:childTnLst>
                  <p:par>
                    <p:cTn id="8" fill="hold">
                      <p:stCondLst>
                        <p:cond delay="0"/>
                      </p:stCondLst>
                      <p:childTnLst>
                        <p:par>
                          <p:cTn id="9" fill="hold">
                            <p:stCondLst>
                              <p:cond delay="0"/>
                            </p:stCondLst>
                            <p:childTnLst>
                              <p:par>
                                <p:cTn id="10" presetID="2" presetClass="mediacall" presetSubtype="0" fill="hold" nodeType="clickEffect">
                                  <p:stCondLst>
                                    <p:cond delay="0"/>
                                  </p:stCondLst>
                                  <p:childTnLst>
                                    <p:cmd type="call" cmd="togglePause">
                                      <p:cBhvr>
                                        <p:cTn id="11" dur="1" fill="hold"/>
                                        <p:tgtEl>
                                          <p:spTgt spid="3"/>
                                        </p:tgtEl>
                                      </p:cBhvr>
                                    </p:cmd>
                                  </p:childTnLst>
                                </p:cTn>
                              </p:par>
                            </p:childTnLst>
                          </p:cTn>
                        </p:par>
                      </p:childTnLst>
                    </p:cTn>
                  </p:par>
                </p:childTnLst>
              </p:cTn>
              <p:nextCondLst>
                <p:cond evt="onClick" delay="0">
                  <p:tgtEl>
                    <p:spTgt spid="3"/>
                  </p:tgtEl>
                </p:cond>
              </p:nextCondLst>
            </p:seq>
            <p:video>
              <p:cMediaNode vol="80000">
                <p:cTn id="12" fill="hold" display="0">
                  <p:stCondLst>
                    <p:cond delay="indefinite"/>
                  </p:stCondLst>
                </p:cTn>
                <p:tgtEl>
                  <p:spTgt spid="3"/>
                </p:tgtEl>
              </p:cMediaNode>
            </p:video>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CF2FEA-9CEC-3128-006E-CFBDE45A231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2A4C1E8-8C68-774A-3225-B466424B8888}"/>
              </a:ext>
            </a:extLst>
          </p:cNvPr>
          <p:cNvSpPr>
            <a:spLocks noGrp="1"/>
          </p:cNvSpPr>
          <p:nvPr>
            <p:ph type="title"/>
          </p:nvPr>
        </p:nvSpPr>
        <p:spPr/>
        <p:txBody>
          <a:bodyPr/>
          <a:lstStyle/>
          <a:p>
            <a:r>
              <a:rPr lang="en-US" dirty="0"/>
              <a:t>What is statistics good for? </a:t>
            </a:r>
          </a:p>
        </p:txBody>
      </p:sp>
      <p:sp>
        <p:nvSpPr>
          <p:cNvPr id="5" name="Content Placeholder 2">
            <a:extLst>
              <a:ext uri="{FF2B5EF4-FFF2-40B4-BE49-F238E27FC236}">
                <a16:creationId xmlns:a16="http://schemas.microsoft.com/office/drawing/2014/main" id="{10D5BA28-8355-EB4E-146E-561C1C3A878E}"/>
              </a:ext>
            </a:extLst>
          </p:cNvPr>
          <p:cNvSpPr txBox="1">
            <a:spLocks/>
          </p:cNvSpPr>
          <p:nvPr/>
        </p:nvSpPr>
        <p:spPr>
          <a:xfrm>
            <a:off x="480001" y="1414281"/>
            <a:ext cx="5708927" cy="4445149"/>
          </a:xfrm>
          <a:prstGeom prst="rect">
            <a:avLst/>
          </a:prstGeom>
        </p:spPr>
        <p:txBody>
          <a:bodyPr vert="horz" lIns="0" tIns="0" rIns="0" bIns="0" rtlCol="0">
            <a:noAutofit/>
          </a:bodyPr>
          <a:lstStyle>
            <a:lvl1pPr marL="457189" indent="-457189" algn="l" defTabSz="609585" rtl="0" eaLnBrk="1" latinLnBrk="0" hangingPunct="1">
              <a:spcBef>
                <a:spcPts val="0"/>
              </a:spcBef>
              <a:buFont typeface="Arial"/>
              <a:buChar char="•"/>
              <a:defRPr sz="4267" kern="1200">
                <a:solidFill>
                  <a:schemeClr val="tx1"/>
                </a:solidFill>
                <a:latin typeface="+mj-lt"/>
                <a:ea typeface="+mn-ea"/>
                <a:cs typeface="Verdana"/>
              </a:defRPr>
            </a:lvl1pPr>
            <a:lvl2pPr marL="956709" indent="-478355" algn="l" defTabSz="609585" rtl="0" eaLnBrk="1" latinLnBrk="0" hangingPunct="1">
              <a:spcBef>
                <a:spcPts val="0"/>
              </a:spcBef>
              <a:buFont typeface="Lucida Grande"/>
              <a:buChar char="-"/>
              <a:defRPr sz="3733" kern="1200">
                <a:solidFill>
                  <a:schemeClr val="tx1"/>
                </a:solidFill>
                <a:latin typeface="+mj-lt"/>
                <a:ea typeface="+mn-ea"/>
                <a:cs typeface="Verdana"/>
              </a:defRPr>
            </a:lvl2pPr>
            <a:lvl3pPr marL="1430831" indent="-476239" algn="l" defTabSz="609585" rtl="0" eaLnBrk="1" latinLnBrk="0" hangingPunct="1">
              <a:spcBef>
                <a:spcPts val="0"/>
              </a:spcBef>
              <a:buFont typeface="Lucida Grande"/>
              <a:buChar char="-"/>
              <a:defRPr sz="3200" kern="1200">
                <a:solidFill>
                  <a:schemeClr val="tx1"/>
                </a:solidFill>
                <a:latin typeface="+mj-lt"/>
                <a:ea typeface="+mn-ea"/>
                <a:cs typeface="Verdana"/>
              </a:defRPr>
            </a:lvl3pPr>
            <a:lvl4pPr marL="1907070" indent="-474121" algn="l" defTabSz="609585" rtl="0" eaLnBrk="1" latinLnBrk="0" hangingPunct="1">
              <a:spcBef>
                <a:spcPts val="0"/>
              </a:spcBef>
              <a:buFont typeface="Lucida Grande"/>
              <a:buChar char="-"/>
              <a:defRPr sz="2667" kern="1200">
                <a:solidFill>
                  <a:schemeClr val="tx1"/>
                </a:solidFill>
                <a:latin typeface="+mj-lt"/>
                <a:ea typeface="+mn-ea"/>
                <a:cs typeface="Verdana"/>
              </a:defRPr>
            </a:lvl4pPr>
            <a:lvl5pPr marL="2391774" indent="-480472" algn="l" defTabSz="609585" rtl="0" eaLnBrk="1" latinLnBrk="0" hangingPunct="1">
              <a:spcBef>
                <a:spcPts val="0"/>
              </a:spcBef>
              <a:buFont typeface="Lucida Grande"/>
              <a:buChar char="-"/>
              <a:defRPr sz="2667" kern="1200">
                <a:solidFill>
                  <a:schemeClr val="tx1"/>
                </a:solidFill>
                <a:latin typeface="+mj-lt"/>
                <a:ea typeface="+mn-ea"/>
                <a:cs typeface="Verdana"/>
              </a:defRPr>
            </a:lvl5pPr>
            <a:lvl6pPr marL="3352716" indent="-304792" algn="l" defTabSz="609585" rtl="0" eaLnBrk="1" latinLnBrk="0" hangingPunct="1">
              <a:spcBef>
                <a:spcPct val="20000"/>
              </a:spcBef>
              <a:buFont typeface="Arial"/>
              <a:buChar char="•"/>
              <a:defRPr sz="2667" kern="1200">
                <a:solidFill>
                  <a:schemeClr val="tx1"/>
                </a:solidFill>
                <a:latin typeface="+mn-lt"/>
                <a:ea typeface="+mn-ea"/>
                <a:cs typeface="+mn-cs"/>
              </a:defRPr>
            </a:lvl6pPr>
            <a:lvl7pPr marL="3962301" indent="-304792" algn="l" defTabSz="609585" rtl="0" eaLnBrk="1" latinLnBrk="0" hangingPunct="1">
              <a:spcBef>
                <a:spcPct val="20000"/>
              </a:spcBef>
              <a:buFont typeface="Arial"/>
              <a:buChar char="•"/>
              <a:defRPr sz="2667" kern="1200">
                <a:solidFill>
                  <a:schemeClr val="tx1"/>
                </a:solidFill>
                <a:latin typeface="+mn-lt"/>
                <a:ea typeface="+mn-ea"/>
                <a:cs typeface="+mn-cs"/>
              </a:defRPr>
            </a:lvl7pPr>
            <a:lvl8pPr marL="4571886" indent="-304792" algn="l" defTabSz="609585" rtl="0" eaLnBrk="1" latinLnBrk="0" hangingPunct="1">
              <a:spcBef>
                <a:spcPct val="20000"/>
              </a:spcBef>
              <a:buFont typeface="Arial"/>
              <a:buChar char="•"/>
              <a:defRPr sz="2667" kern="1200">
                <a:solidFill>
                  <a:schemeClr val="tx1"/>
                </a:solidFill>
                <a:latin typeface="+mn-lt"/>
                <a:ea typeface="+mn-ea"/>
                <a:cs typeface="+mn-cs"/>
              </a:defRPr>
            </a:lvl8pPr>
            <a:lvl9pPr marL="5181470" indent="-304792" algn="l" defTabSz="609585" rtl="0" eaLnBrk="1" latinLnBrk="0" hangingPunct="1">
              <a:spcBef>
                <a:spcPct val="20000"/>
              </a:spcBef>
              <a:buFont typeface="Arial"/>
              <a:buChar char="•"/>
              <a:defRPr sz="2667" kern="1200">
                <a:solidFill>
                  <a:schemeClr val="tx1"/>
                </a:solidFill>
                <a:latin typeface="+mn-lt"/>
                <a:ea typeface="+mn-ea"/>
                <a:cs typeface="+mn-cs"/>
              </a:defRPr>
            </a:lvl9pPr>
          </a:lstStyle>
          <a:p>
            <a:r>
              <a:rPr lang="en-US" sz="3600" dirty="0"/>
              <a:t>Identifying the fundamental particles of our world. </a:t>
            </a:r>
          </a:p>
          <a:p>
            <a:endParaRPr lang="en-US" sz="3600" dirty="0"/>
          </a:p>
          <a:p>
            <a:r>
              <a:rPr lang="en-US" sz="3600" dirty="0"/>
              <a:t>The Higgs Boson’s presence was confirmed with a statistical test.</a:t>
            </a:r>
          </a:p>
        </p:txBody>
      </p:sp>
      <p:pic>
        <p:nvPicPr>
          <p:cNvPr id="1026" name="Picture 2" descr="The Higgs boson: the hunt, the discovery, the study and some future  perspectives | ATLAS Experiment at CERN">
            <a:extLst>
              <a:ext uri="{FF2B5EF4-FFF2-40B4-BE49-F238E27FC236}">
                <a16:creationId xmlns:a16="http://schemas.microsoft.com/office/drawing/2014/main" id="{95E9C8BD-E08E-9430-FC52-09AF757D80B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354099" y="792260"/>
            <a:ext cx="5837901" cy="5610450"/>
          </a:xfrm>
          <a:prstGeom prst="rect">
            <a:avLst/>
          </a:prstGeom>
          <a:noFill/>
          <a:extLst>
            <a:ext uri="{909E8E84-426E-40DD-AFC4-6F175D3DCCD1}">
              <a14:hiddenFill xmlns:a14="http://schemas.microsoft.com/office/drawing/2010/main">
                <a:solidFill>
                  <a:srgbClr val="FFFFFF"/>
                </a:solidFill>
              </a14:hiddenFill>
            </a:ext>
          </a:extLst>
        </p:spPr>
      </p:pic>
      <p:sp>
        <p:nvSpPr>
          <p:cNvPr id="6" name="Rounded Rectangle 5">
            <a:extLst>
              <a:ext uri="{FF2B5EF4-FFF2-40B4-BE49-F238E27FC236}">
                <a16:creationId xmlns:a16="http://schemas.microsoft.com/office/drawing/2014/main" id="{1C441CE4-664C-15F6-8B6D-AD80A380E847}"/>
              </a:ext>
            </a:extLst>
          </p:cNvPr>
          <p:cNvSpPr/>
          <p:nvPr/>
        </p:nvSpPr>
        <p:spPr>
          <a:xfrm>
            <a:off x="9722734" y="1414281"/>
            <a:ext cx="2106593" cy="194600"/>
          </a:xfrm>
          <a:prstGeom prst="roundRect">
            <a:avLst/>
          </a:prstGeom>
          <a:noFill/>
          <a:ln w="38100"/>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19300676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80C6CD-19D9-90AA-6C11-D0046DC53400}"/>
              </a:ext>
            </a:extLst>
          </p:cNvPr>
          <p:cNvSpPr>
            <a:spLocks noGrp="1"/>
          </p:cNvSpPr>
          <p:nvPr>
            <p:ph type="title"/>
          </p:nvPr>
        </p:nvSpPr>
        <p:spPr/>
        <p:txBody>
          <a:bodyPr/>
          <a:lstStyle/>
          <a:p>
            <a:r>
              <a:rPr lang="en-US" dirty="0"/>
              <a:t>What is statistics good for?</a:t>
            </a:r>
          </a:p>
        </p:txBody>
      </p:sp>
      <p:sp>
        <p:nvSpPr>
          <p:cNvPr id="3" name="Table Placeholder 2">
            <a:extLst>
              <a:ext uri="{FF2B5EF4-FFF2-40B4-BE49-F238E27FC236}">
                <a16:creationId xmlns:a16="http://schemas.microsoft.com/office/drawing/2014/main" id="{3C0BE0C4-2C7A-BA80-D543-2E137804A7E8}"/>
              </a:ext>
            </a:extLst>
          </p:cNvPr>
          <p:cNvSpPr>
            <a:spLocks noGrp="1"/>
          </p:cNvSpPr>
          <p:nvPr>
            <p:ph type="tbl" sz="quarter" idx="13"/>
          </p:nvPr>
        </p:nvSpPr>
        <p:spPr/>
        <p:txBody>
          <a:bodyPr/>
          <a:lstStyle/>
          <a:p>
            <a:endParaRPr lang="en-US"/>
          </a:p>
        </p:txBody>
      </p:sp>
      <p:pic>
        <p:nvPicPr>
          <p:cNvPr id="5" name="Picture 4" descr="A pie chart with a red triangle&#10;&#10;AI-generated content may be incorrect.">
            <a:extLst>
              <a:ext uri="{FF2B5EF4-FFF2-40B4-BE49-F238E27FC236}">
                <a16:creationId xmlns:a16="http://schemas.microsoft.com/office/drawing/2014/main" id="{BF098307-52F1-BF1B-BD30-057FCD85BE69}"/>
              </a:ext>
            </a:extLst>
          </p:cNvPr>
          <p:cNvPicPr>
            <a:picLocks noChangeAspect="1"/>
          </p:cNvPicPr>
          <p:nvPr/>
        </p:nvPicPr>
        <p:blipFill>
          <a:blip r:embed="rId2"/>
          <a:stretch>
            <a:fillRect/>
          </a:stretch>
        </p:blipFill>
        <p:spPr>
          <a:xfrm>
            <a:off x="3232150" y="1183734"/>
            <a:ext cx="5252093" cy="4937666"/>
          </a:xfrm>
          <a:prstGeom prst="rect">
            <a:avLst/>
          </a:prstGeom>
        </p:spPr>
      </p:pic>
    </p:spTree>
    <p:extLst>
      <p:ext uri="{BB962C8B-B14F-4D97-AF65-F5344CB8AC3E}">
        <p14:creationId xmlns:p14="http://schemas.microsoft.com/office/powerpoint/2010/main" val="415965032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Studying categorical data and percentages</a:t>
            </a:r>
          </a:p>
        </p:txBody>
      </p:sp>
      <p:graphicFrame>
        <p:nvGraphicFramePr>
          <p:cNvPr id="3" name="Content Placeholder 2">
            <a:extLst>
              <a:ext uri="{FF2B5EF4-FFF2-40B4-BE49-F238E27FC236}">
                <a16:creationId xmlns:a16="http://schemas.microsoft.com/office/drawing/2014/main" id="{E51CF432-4751-F65D-EBB9-82FC0A1A5B59}"/>
              </a:ext>
            </a:extLst>
          </p:cNvPr>
          <p:cNvGraphicFramePr>
            <a:graphicFrameLocks noGrp="1"/>
          </p:cNvGraphicFramePr>
          <p:nvPr>
            <p:ph idx="1"/>
            <p:extLst>
              <p:ext uri="{D42A27DB-BD31-4B8C-83A1-F6EECF244321}">
                <p14:modId xmlns:p14="http://schemas.microsoft.com/office/powerpoint/2010/main" val="2937096459"/>
              </p:ext>
            </p:extLst>
          </p:nvPr>
        </p:nvGraphicFramePr>
        <p:xfrm>
          <a:off x="480001" y="1371600"/>
          <a:ext cx="11102399" cy="134572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Content Placeholder 6">
            <a:extLst>
              <a:ext uri="{FF2B5EF4-FFF2-40B4-BE49-F238E27FC236}">
                <a16:creationId xmlns:a16="http://schemas.microsoft.com/office/drawing/2014/main" id="{19E54C56-E7C5-9426-4AE7-82861CFAF7AD}"/>
              </a:ext>
            </a:extLst>
          </p:cNvPr>
          <p:cNvSpPr txBox="1">
            <a:spLocks/>
          </p:cNvSpPr>
          <p:nvPr/>
        </p:nvSpPr>
        <p:spPr>
          <a:xfrm>
            <a:off x="480001" y="2918662"/>
            <a:ext cx="11102399" cy="3072881"/>
          </a:xfrm>
          <a:prstGeom prst="rect">
            <a:avLst/>
          </a:prstGeom>
        </p:spPr>
        <p:txBody>
          <a:bodyPr vert="horz" lIns="0" tIns="0" rIns="0" bIns="0" rtlCol="0">
            <a:noAutofit/>
          </a:bodyPr>
          <a:lstStyle>
            <a:lvl1pPr marL="457189" indent="-457189" algn="l" defTabSz="609585" rtl="0" eaLnBrk="1" latinLnBrk="0" hangingPunct="1">
              <a:spcBef>
                <a:spcPts val="0"/>
              </a:spcBef>
              <a:buFont typeface="Arial"/>
              <a:buChar char="•"/>
              <a:defRPr sz="4267" kern="1200">
                <a:solidFill>
                  <a:schemeClr val="tx1"/>
                </a:solidFill>
                <a:latin typeface="+mj-lt"/>
                <a:ea typeface="+mn-ea"/>
                <a:cs typeface="Verdana"/>
              </a:defRPr>
            </a:lvl1pPr>
            <a:lvl2pPr marL="956709" indent="-478355" algn="l" defTabSz="609585" rtl="0" eaLnBrk="1" latinLnBrk="0" hangingPunct="1">
              <a:spcBef>
                <a:spcPts val="0"/>
              </a:spcBef>
              <a:buFont typeface="Lucida Grande"/>
              <a:buChar char="-"/>
              <a:defRPr sz="3733" kern="1200">
                <a:solidFill>
                  <a:schemeClr val="tx1"/>
                </a:solidFill>
                <a:latin typeface="+mj-lt"/>
                <a:ea typeface="+mn-ea"/>
                <a:cs typeface="Verdana"/>
              </a:defRPr>
            </a:lvl2pPr>
            <a:lvl3pPr marL="1430831" indent="-476239" algn="l" defTabSz="609585" rtl="0" eaLnBrk="1" latinLnBrk="0" hangingPunct="1">
              <a:spcBef>
                <a:spcPts val="0"/>
              </a:spcBef>
              <a:buFont typeface="Lucida Grande"/>
              <a:buChar char="-"/>
              <a:defRPr sz="3200" kern="1200">
                <a:solidFill>
                  <a:schemeClr val="tx1"/>
                </a:solidFill>
                <a:latin typeface="+mj-lt"/>
                <a:ea typeface="+mn-ea"/>
                <a:cs typeface="Verdana"/>
              </a:defRPr>
            </a:lvl3pPr>
            <a:lvl4pPr marL="1907070" indent="-474121" algn="l" defTabSz="609585" rtl="0" eaLnBrk="1" latinLnBrk="0" hangingPunct="1">
              <a:spcBef>
                <a:spcPts val="0"/>
              </a:spcBef>
              <a:buFont typeface="Lucida Grande"/>
              <a:buChar char="-"/>
              <a:defRPr sz="2667" kern="1200">
                <a:solidFill>
                  <a:schemeClr val="tx1"/>
                </a:solidFill>
                <a:latin typeface="+mj-lt"/>
                <a:ea typeface="+mn-ea"/>
                <a:cs typeface="Verdana"/>
              </a:defRPr>
            </a:lvl4pPr>
            <a:lvl5pPr marL="2391774" indent="-480472" algn="l" defTabSz="609585" rtl="0" eaLnBrk="1" latinLnBrk="0" hangingPunct="1">
              <a:spcBef>
                <a:spcPts val="0"/>
              </a:spcBef>
              <a:buFont typeface="Lucida Grande"/>
              <a:buChar char="-"/>
              <a:defRPr sz="2667" kern="1200">
                <a:solidFill>
                  <a:schemeClr val="tx1"/>
                </a:solidFill>
                <a:latin typeface="+mj-lt"/>
                <a:ea typeface="+mn-ea"/>
                <a:cs typeface="Verdana"/>
              </a:defRPr>
            </a:lvl5pPr>
            <a:lvl6pPr marL="3352716" indent="-304792" algn="l" defTabSz="609585" rtl="0" eaLnBrk="1" latinLnBrk="0" hangingPunct="1">
              <a:spcBef>
                <a:spcPct val="20000"/>
              </a:spcBef>
              <a:buFont typeface="Arial"/>
              <a:buChar char="•"/>
              <a:defRPr sz="2667" kern="1200">
                <a:solidFill>
                  <a:schemeClr val="tx1"/>
                </a:solidFill>
                <a:latin typeface="+mn-lt"/>
                <a:ea typeface="+mn-ea"/>
                <a:cs typeface="+mn-cs"/>
              </a:defRPr>
            </a:lvl6pPr>
            <a:lvl7pPr marL="3962301" indent="-304792" algn="l" defTabSz="609585" rtl="0" eaLnBrk="1" latinLnBrk="0" hangingPunct="1">
              <a:spcBef>
                <a:spcPct val="20000"/>
              </a:spcBef>
              <a:buFont typeface="Arial"/>
              <a:buChar char="•"/>
              <a:defRPr sz="2667" kern="1200">
                <a:solidFill>
                  <a:schemeClr val="tx1"/>
                </a:solidFill>
                <a:latin typeface="+mn-lt"/>
                <a:ea typeface="+mn-ea"/>
                <a:cs typeface="+mn-cs"/>
              </a:defRPr>
            </a:lvl7pPr>
            <a:lvl8pPr marL="4571886" indent="-304792" algn="l" defTabSz="609585" rtl="0" eaLnBrk="1" latinLnBrk="0" hangingPunct="1">
              <a:spcBef>
                <a:spcPct val="20000"/>
              </a:spcBef>
              <a:buFont typeface="Arial"/>
              <a:buChar char="•"/>
              <a:defRPr sz="2667" kern="1200">
                <a:solidFill>
                  <a:schemeClr val="tx1"/>
                </a:solidFill>
                <a:latin typeface="+mn-lt"/>
                <a:ea typeface="+mn-ea"/>
                <a:cs typeface="+mn-cs"/>
              </a:defRPr>
            </a:lvl8pPr>
            <a:lvl9pPr marL="5181470" indent="-304792" algn="l" defTabSz="609585" rtl="0" eaLnBrk="1" latinLnBrk="0" hangingPunct="1">
              <a:spcBef>
                <a:spcPct val="20000"/>
              </a:spcBef>
              <a:buFont typeface="Arial"/>
              <a:buChar char="•"/>
              <a:defRPr sz="2667" kern="1200">
                <a:solidFill>
                  <a:schemeClr val="tx1"/>
                </a:solidFill>
                <a:latin typeface="+mn-lt"/>
                <a:ea typeface="+mn-ea"/>
                <a:cs typeface="+mn-cs"/>
              </a:defRPr>
            </a:lvl9pPr>
          </a:lstStyle>
          <a:p>
            <a:r>
              <a:rPr lang="en-US" sz="3000" dirty="0"/>
              <a:t>Joshua was 16 months old and needed a critical heart surgery. </a:t>
            </a:r>
          </a:p>
          <a:p>
            <a:r>
              <a:rPr lang="en-US" sz="3000" dirty="0"/>
              <a:t>He was at Bristol Royal Infirmary where there were stories about poor surgical survival rates, but his parents didn’t know. </a:t>
            </a:r>
          </a:p>
          <a:p>
            <a:r>
              <a:rPr lang="en-US" sz="3000" dirty="0"/>
              <a:t>There was even a last-minute meeting to consider canceling his surgery but parents weren’t informed.</a:t>
            </a:r>
          </a:p>
          <a:p>
            <a:r>
              <a:rPr lang="en-US" sz="3000" dirty="0"/>
              <a:t>Joshua passed away on the operating table. </a:t>
            </a:r>
          </a:p>
          <a:p>
            <a:r>
              <a:rPr lang="en-US" sz="3000" dirty="0"/>
              <a:t>Our problem: </a:t>
            </a:r>
            <a:r>
              <a:rPr lang="en-US" sz="3000" dirty="0">
                <a:highlight>
                  <a:srgbClr val="FFFF00"/>
                </a:highlight>
              </a:rPr>
              <a:t>Was this to be expected?</a:t>
            </a:r>
          </a:p>
        </p:txBody>
      </p:sp>
    </p:spTree>
    <p:extLst>
      <p:ext uri="{BB962C8B-B14F-4D97-AF65-F5344CB8AC3E}">
        <p14:creationId xmlns:p14="http://schemas.microsoft.com/office/powerpoint/2010/main" val="27249701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3" grpId="0">
        <p:bldAsOne/>
      </p:bldGraphic>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diagram of a problem&#10;&#10;Description automatically generated">
            <a:extLst>
              <a:ext uri="{FF2B5EF4-FFF2-40B4-BE49-F238E27FC236}">
                <a16:creationId xmlns:a16="http://schemas.microsoft.com/office/drawing/2014/main" id="{47C84746-226A-FBA0-4BA3-366DDB9F7804}"/>
              </a:ext>
            </a:extLst>
          </p:cNvPr>
          <p:cNvPicPr>
            <a:picLocks noChangeAspect="1"/>
          </p:cNvPicPr>
          <p:nvPr/>
        </p:nvPicPr>
        <p:blipFill>
          <a:blip r:embed="rId3"/>
          <a:stretch>
            <a:fillRect/>
          </a:stretch>
        </p:blipFill>
        <p:spPr>
          <a:xfrm>
            <a:off x="2310207" y="185494"/>
            <a:ext cx="7102662" cy="6037262"/>
          </a:xfrm>
          <a:prstGeom prst="rect">
            <a:avLst/>
          </a:prstGeom>
          <a:noFill/>
        </p:spPr>
      </p:pic>
    </p:spTree>
    <p:extLst>
      <p:ext uri="{BB962C8B-B14F-4D97-AF65-F5344CB8AC3E}">
        <p14:creationId xmlns:p14="http://schemas.microsoft.com/office/powerpoint/2010/main" val="415276892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Data: Defining the variables. </a:t>
            </a:r>
          </a:p>
        </p:txBody>
      </p:sp>
      <p:sp>
        <p:nvSpPr>
          <p:cNvPr id="7" name="Content Placeholder 6">
            <a:extLst>
              <a:ext uri="{FF2B5EF4-FFF2-40B4-BE49-F238E27FC236}">
                <a16:creationId xmlns:a16="http://schemas.microsoft.com/office/drawing/2014/main" id="{D7B65608-A067-1718-910F-703B512D25EB}"/>
              </a:ext>
            </a:extLst>
          </p:cNvPr>
          <p:cNvSpPr>
            <a:spLocks noGrp="1"/>
          </p:cNvSpPr>
          <p:nvPr>
            <p:ph idx="1"/>
          </p:nvPr>
        </p:nvSpPr>
        <p:spPr>
          <a:xfrm>
            <a:off x="480001" y="1546394"/>
            <a:ext cx="11102399" cy="4445149"/>
          </a:xfrm>
        </p:spPr>
        <p:txBody>
          <a:bodyPr/>
          <a:lstStyle/>
          <a:p>
            <a:r>
              <a:rPr lang="en-US" sz="3200" dirty="0"/>
              <a:t>We have two variables (what’s that?): child and death. </a:t>
            </a:r>
          </a:p>
          <a:p>
            <a:r>
              <a:rPr lang="en-US" sz="3200" dirty="0"/>
              <a:t>How should we define them? </a:t>
            </a:r>
          </a:p>
          <a:p>
            <a:r>
              <a:rPr lang="en-US" sz="3200" dirty="0"/>
              <a:t>DS and team defined child as: “</a:t>
            </a:r>
            <a:r>
              <a:rPr lang="en-US" sz="3200" b="1" dirty="0"/>
              <a:t>anyone under 16 years old</a:t>
            </a:r>
            <a:r>
              <a:rPr lang="en-US" sz="3200" dirty="0"/>
              <a:t>”. </a:t>
            </a:r>
          </a:p>
          <a:p>
            <a:r>
              <a:rPr lang="en-US" sz="3200" dirty="0"/>
              <a:t>How should we define survival? Is it only if the child survived the operation or if they survived enough to suggest the surgery was successful?</a:t>
            </a:r>
          </a:p>
          <a:p>
            <a:r>
              <a:rPr lang="en-US" sz="3200" dirty="0"/>
              <a:t>DS and team defined an unsuccessful surgery as “</a:t>
            </a:r>
            <a:r>
              <a:rPr lang="en-US" sz="3200" b="1" dirty="0"/>
              <a:t>death within 1 month”.</a:t>
            </a:r>
          </a:p>
        </p:txBody>
      </p:sp>
      <p:graphicFrame>
        <p:nvGraphicFramePr>
          <p:cNvPr id="3" name="Content Placeholder 5">
            <a:extLst>
              <a:ext uri="{FF2B5EF4-FFF2-40B4-BE49-F238E27FC236}">
                <a16:creationId xmlns:a16="http://schemas.microsoft.com/office/drawing/2014/main" id="{50572152-34A4-6AB7-9CA3-F7658F303DE5}"/>
              </a:ext>
            </a:extLst>
          </p:cNvPr>
          <p:cNvGraphicFramePr>
            <a:graphicFrameLocks/>
          </p:cNvGraphicFramePr>
          <p:nvPr>
            <p:extLst>
              <p:ext uri="{D42A27DB-BD31-4B8C-83A1-F6EECF244321}">
                <p14:modId xmlns:p14="http://schemas.microsoft.com/office/powerpoint/2010/main" val="2494727010"/>
              </p:ext>
            </p:extLst>
          </p:nvPr>
        </p:nvGraphicFramePr>
        <p:xfrm>
          <a:off x="674581" y="2534311"/>
          <a:ext cx="11222402" cy="1915840"/>
        </p:xfrm>
        <a:graphic>
          <a:graphicData uri="http://schemas.openxmlformats.org/drawingml/2006/table">
            <a:tbl>
              <a:tblPr firstRow="1" bandRow="1">
                <a:tableStyleId>{5C22544A-7EE6-4342-B048-85BDC9FD1C3A}</a:tableStyleId>
              </a:tblPr>
              <a:tblGrid>
                <a:gridCol w="11222402">
                  <a:extLst>
                    <a:ext uri="{9D8B030D-6E8A-4147-A177-3AD203B41FA5}">
                      <a16:colId xmlns:a16="http://schemas.microsoft.com/office/drawing/2014/main" val="2806566759"/>
                    </a:ext>
                  </a:extLst>
                </a:gridCol>
              </a:tblGrid>
              <a:tr h="544240">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2800" dirty="0"/>
                        <a:t>Definition</a:t>
                      </a:r>
                    </a:p>
                  </a:txBody>
                  <a:tcPr>
                    <a:solidFill>
                      <a:srgbClr val="E84E10"/>
                    </a:solidFill>
                  </a:tcPr>
                </a:tc>
                <a:extLst>
                  <a:ext uri="{0D108BD9-81ED-4DB2-BD59-A6C34878D82A}">
                    <a16:rowId xmlns:a16="http://schemas.microsoft.com/office/drawing/2014/main" val="4282699494"/>
                  </a:ext>
                </a:extLst>
              </a:tr>
              <a:tr h="574495">
                <a:tc>
                  <a:txBody>
                    <a:bodyPr/>
                    <a:lstStyle/>
                    <a:p>
                      <a:r>
                        <a:rPr lang="en-US" sz="2800" b="1" dirty="0"/>
                        <a:t>A variable </a:t>
                      </a:r>
                      <a:r>
                        <a:rPr lang="en-US" sz="2800" b="0" dirty="0"/>
                        <a:t>is any measurement that can take on different values in different circumstances but is inter-related by the fact that it is the same </a:t>
                      </a:r>
                      <a:r>
                        <a:rPr lang="en-US" sz="2800" b="0" i="1" dirty="0"/>
                        <a:t>type</a:t>
                      </a:r>
                      <a:r>
                        <a:rPr lang="en-US" sz="2800" b="0" dirty="0"/>
                        <a:t> of measurement every time.</a:t>
                      </a:r>
                    </a:p>
                  </a:txBody>
                  <a:tcPr>
                    <a:solidFill>
                      <a:srgbClr val="F6D0CC"/>
                    </a:solidFill>
                  </a:tcPr>
                </a:tc>
                <a:extLst>
                  <a:ext uri="{0D108BD9-81ED-4DB2-BD59-A6C34878D82A}">
                    <a16:rowId xmlns:a16="http://schemas.microsoft.com/office/drawing/2014/main" val="2257841623"/>
                  </a:ext>
                </a:extLst>
              </a:tr>
            </a:tbl>
          </a:graphicData>
        </a:graphic>
      </p:graphicFrame>
    </p:spTree>
    <p:extLst>
      <p:ext uri="{BB962C8B-B14F-4D97-AF65-F5344CB8AC3E}">
        <p14:creationId xmlns:p14="http://schemas.microsoft.com/office/powerpoint/2010/main" val="27579538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9" presetClass="exit" presetSubtype="0" fill="hold" nodeType="clickEffect">
                                  <p:stCondLst>
                                    <p:cond delay="0"/>
                                  </p:stCondLst>
                                  <p:childTnLst>
                                    <p:animEffect transition="out" filter="dissolve">
                                      <p:cBhvr>
                                        <p:cTn id="14" dur="500"/>
                                        <p:tgtEl>
                                          <p:spTgt spid="3"/>
                                        </p:tgtEl>
                                      </p:cBhvr>
                                    </p:animEffect>
                                    <p:set>
                                      <p:cBhvr>
                                        <p:cTn id="15" dur="1" fill="hold">
                                          <p:stCondLst>
                                            <p:cond delay="499"/>
                                          </p:stCondLst>
                                        </p:cTn>
                                        <p:tgtEl>
                                          <p:spTgt spid="3"/>
                                        </p:tgtEl>
                                        <p:attrNameLst>
                                          <p:attrName>style.visibility</p:attrName>
                                        </p:attrNameLst>
                                      </p:cBhvr>
                                      <p:to>
                                        <p:strVal val="hidden"/>
                                      </p:to>
                                    </p:se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nodeType="clickEffect">
                                  <p:stCondLst>
                                    <p:cond delay="0"/>
                                  </p:stCondLst>
                                  <p:childTnLst>
                                    <p:set>
                                      <p:cBhvr>
                                        <p:cTn id="19" dur="1" fill="hold">
                                          <p:stCondLst>
                                            <p:cond delay="0"/>
                                          </p:stCondLst>
                                        </p:cTn>
                                        <p:tgtEl>
                                          <p:spTgt spid="7">
                                            <p:txEl>
                                              <p:pRg st="1" end="1"/>
                                            </p:txEl>
                                          </p:spTgt>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clickEffect">
                                  <p:stCondLst>
                                    <p:cond delay="0"/>
                                  </p:stCondLst>
                                  <p:childTnLst>
                                    <p:set>
                                      <p:cBhvr>
                                        <p:cTn id="23" dur="1" fill="hold">
                                          <p:stCondLst>
                                            <p:cond delay="0"/>
                                          </p:stCondLst>
                                        </p:cTn>
                                        <p:tgtEl>
                                          <p:spTgt spid="7">
                                            <p:txEl>
                                              <p:pRg st="2" end="2"/>
                                            </p:txEl>
                                          </p:spTgt>
                                        </p:tgtEl>
                                        <p:attrNameLst>
                                          <p:attrName>style.visibility</p:attrName>
                                        </p:attrNameLst>
                                      </p:cBhvr>
                                      <p:to>
                                        <p:strVal val="visible"/>
                                      </p:to>
                                    </p:set>
                                  </p:childTnLst>
                                </p:cTn>
                              </p:par>
                            </p:childTnLst>
                          </p:cTn>
                        </p:par>
                      </p:childTnLst>
                    </p:cTn>
                  </p:par>
                  <p:par>
                    <p:cTn id="24" fill="hold">
                      <p:stCondLst>
                        <p:cond delay="indefinite"/>
                      </p:stCondLst>
                      <p:childTnLst>
                        <p:par>
                          <p:cTn id="25" fill="hold">
                            <p:stCondLst>
                              <p:cond delay="0"/>
                            </p:stCondLst>
                            <p:childTnLst>
                              <p:par>
                                <p:cTn id="26" presetID="1" presetClass="entr" presetSubtype="0" fill="hold" nodeType="clickEffect">
                                  <p:stCondLst>
                                    <p:cond delay="0"/>
                                  </p:stCondLst>
                                  <p:childTnLst>
                                    <p:set>
                                      <p:cBhvr>
                                        <p:cTn id="27" dur="1" fill="hold">
                                          <p:stCondLst>
                                            <p:cond delay="0"/>
                                          </p:stCondLst>
                                        </p:cTn>
                                        <p:tgtEl>
                                          <p:spTgt spid="7">
                                            <p:txEl>
                                              <p:pRg st="3" end="3"/>
                                            </p:txEl>
                                          </p:spTgt>
                                        </p:tgtEl>
                                        <p:attrNameLst>
                                          <p:attrName>style.visibility</p:attrName>
                                        </p:attrNameLst>
                                      </p:cBhvr>
                                      <p:to>
                                        <p:strVal val="visible"/>
                                      </p:to>
                                    </p:set>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nodeType="clickEffect">
                                  <p:stCondLst>
                                    <p:cond delay="0"/>
                                  </p:stCondLst>
                                  <p:childTnLst>
                                    <p:set>
                                      <p:cBhvr>
                                        <p:cTn id="31" dur="1" fill="hold">
                                          <p:stCondLst>
                                            <p:cond delay="0"/>
                                          </p:stCondLst>
                                        </p:cTn>
                                        <p:tgtEl>
                                          <p:spTgt spid="7">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Analysis: What were surgical outcome rates?</a:t>
            </a:r>
          </a:p>
        </p:txBody>
      </p:sp>
      <p:sp>
        <p:nvSpPr>
          <p:cNvPr id="7" name="Content Placeholder 6">
            <a:extLst>
              <a:ext uri="{FF2B5EF4-FFF2-40B4-BE49-F238E27FC236}">
                <a16:creationId xmlns:a16="http://schemas.microsoft.com/office/drawing/2014/main" id="{D7B65608-A067-1718-910F-703B512D25EB}"/>
              </a:ext>
            </a:extLst>
          </p:cNvPr>
          <p:cNvSpPr>
            <a:spLocks noGrp="1"/>
          </p:cNvSpPr>
          <p:nvPr>
            <p:ph idx="1"/>
          </p:nvPr>
        </p:nvSpPr>
        <p:spPr>
          <a:xfrm>
            <a:off x="480000" y="1343920"/>
            <a:ext cx="11102399" cy="4445149"/>
          </a:xfrm>
        </p:spPr>
        <p:txBody>
          <a:bodyPr/>
          <a:lstStyle/>
          <a:p>
            <a:r>
              <a:rPr lang="en-US" dirty="0"/>
              <a:t>Bringing data together from many sources can be hard.</a:t>
            </a:r>
          </a:p>
          <a:p>
            <a:r>
              <a:rPr lang="en-US" dirty="0"/>
              <a:t>After integrating data across different sources: </a:t>
            </a:r>
          </a:p>
          <a:p>
            <a:pPr lvl="1"/>
            <a:r>
              <a:rPr lang="en-US" dirty="0"/>
              <a:t>Average risk across other hospitals suggested only 32 deaths should have happened for the number of surgeries performed. </a:t>
            </a:r>
          </a:p>
          <a:p>
            <a:pPr lvl="1"/>
            <a:r>
              <a:rPr lang="en-US" dirty="0"/>
              <a:t>There were, instead, </a:t>
            </a:r>
            <a:r>
              <a:rPr lang="en-US" b="1" dirty="0"/>
              <a:t>62 deaths </a:t>
            </a:r>
            <a:r>
              <a:rPr lang="en-US" dirty="0"/>
              <a:t>at Bristol. 30 more than expected. </a:t>
            </a:r>
          </a:p>
        </p:txBody>
      </p:sp>
    </p:spTree>
    <p:extLst>
      <p:ext uri="{BB962C8B-B14F-4D97-AF65-F5344CB8AC3E}">
        <p14:creationId xmlns:p14="http://schemas.microsoft.com/office/powerpoint/2010/main" val="12811025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xEl>
                                              <p:pRg st="1" end="1"/>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7">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7">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Conclusion: Bristol had killer surgeons. </a:t>
            </a:r>
          </a:p>
        </p:txBody>
      </p:sp>
      <p:sp>
        <p:nvSpPr>
          <p:cNvPr id="7" name="Content Placeholder 6">
            <a:extLst>
              <a:ext uri="{FF2B5EF4-FFF2-40B4-BE49-F238E27FC236}">
                <a16:creationId xmlns:a16="http://schemas.microsoft.com/office/drawing/2014/main" id="{D7B65608-A067-1718-910F-703B512D25EB}"/>
              </a:ext>
            </a:extLst>
          </p:cNvPr>
          <p:cNvSpPr>
            <a:spLocks noGrp="1"/>
          </p:cNvSpPr>
          <p:nvPr>
            <p:ph idx="1"/>
          </p:nvPr>
        </p:nvSpPr>
        <p:spPr>
          <a:xfrm>
            <a:off x="480001" y="1546394"/>
            <a:ext cx="11102399" cy="4445149"/>
          </a:xfrm>
        </p:spPr>
        <p:txBody>
          <a:bodyPr/>
          <a:lstStyle/>
          <a:p>
            <a:r>
              <a:rPr lang="en-US" sz="3200" dirty="0"/>
              <a:t>Given how many more deaths were happening than expected, we can say with some certainty that Bristol did not have a good surgery department. </a:t>
            </a:r>
          </a:p>
          <a:p>
            <a:r>
              <a:rPr lang="en-US" sz="3200" dirty="0"/>
              <a:t>BUT. There’s always exceptions. </a:t>
            </a:r>
          </a:p>
          <a:p>
            <a:r>
              <a:rPr lang="en-US" sz="3200" dirty="0"/>
              <a:t>This depends on the assumption that the cases that came through Bristol were the same as cases that came through other hospitals. What if the sicker kids tended to come to Bristol? </a:t>
            </a:r>
          </a:p>
          <a:p>
            <a:r>
              <a:rPr lang="en-US" sz="3200" dirty="0"/>
              <a:t>We know this was not the case. However, this illustrates the cycle of PPDAC: We are now back at the </a:t>
            </a:r>
            <a:r>
              <a:rPr lang="en-US" b="1" dirty="0">
                <a:solidFill>
                  <a:schemeClr val="tx2"/>
                </a:solidFill>
                <a:ea typeface="+mj-ea"/>
              </a:rPr>
              <a:t>Problem</a:t>
            </a:r>
            <a:r>
              <a:rPr lang="en-US" sz="3200" dirty="0"/>
              <a:t> stage. </a:t>
            </a:r>
          </a:p>
        </p:txBody>
      </p:sp>
    </p:spTree>
    <p:extLst>
      <p:ext uri="{BB962C8B-B14F-4D97-AF65-F5344CB8AC3E}">
        <p14:creationId xmlns:p14="http://schemas.microsoft.com/office/powerpoint/2010/main" val="36349348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Categorical Data</a:t>
            </a:r>
          </a:p>
        </p:txBody>
      </p:sp>
      <p:sp>
        <p:nvSpPr>
          <p:cNvPr id="7" name="Content Placeholder 6">
            <a:extLst>
              <a:ext uri="{FF2B5EF4-FFF2-40B4-BE49-F238E27FC236}">
                <a16:creationId xmlns:a16="http://schemas.microsoft.com/office/drawing/2014/main" id="{D7B65608-A067-1718-910F-703B512D25EB}"/>
              </a:ext>
            </a:extLst>
          </p:cNvPr>
          <p:cNvSpPr>
            <a:spLocks noGrp="1"/>
          </p:cNvSpPr>
          <p:nvPr>
            <p:ph idx="1"/>
          </p:nvPr>
        </p:nvSpPr>
        <p:spPr>
          <a:xfrm>
            <a:off x="480001" y="3666226"/>
            <a:ext cx="11218574" cy="2351196"/>
          </a:xfrm>
        </p:spPr>
        <p:txBody>
          <a:bodyPr/>
          <a:lstStyle/>
          <a:p>
            <a:pPr marL="0" indent="0">
              <a:buNone/>
            </a:pPr>
            <a:r>
              <a:rPr lang="en-US" sz="3200" dirty="0"/>
              <a:t>For example: Assuming 100 children (&lt;16 years old) passed through the Royal Bristol Infirmary, for each child we can mark them as 0 or 1 defining whether or not they passed away after surgery.</a:t>
            </a:r>
          </a:p>
        </p:txBody>
      </p:sp>
      <p:graphicFrame>
        <p:nvGraphicFramePr>
          <p:cNvPr id="3" name="Content Placeholder 5">
            <a:extLst>
              <a:ext uri="{FF2B5EF4-FFF2-40B4-BE49-F238E27FC236}">
                <a16:creationId xmlns:a16="http://schemas.microsoft.com/office/drawing/2014/main" id="{7E03C7DA-7594-B555-8A08-3B5B2007BEBB}"/>
              </a:ext>
            </a:extLst>
          </p:cNvPr>
          <p:cNvGraphicFramePr>
            <a:graphicFrameLocks/>
          </p:cNvGraphicFramePr>
          <p:nvPr>
            <p:extLst>
              <p:ext uri="{D42A27DB-BD31-4B8C-83A1-F6EECF244321}">
                <p14:modId xmlns:p14="http://schemas.microsoft.com/office/powerpoint/2010/main" val="10250655"/>
              </p:ext>
            </p:extLst>
          </p:nvPr>
        </p:nvGraphicFramePr>
        <p:xfrm>
          <a:off x="476173" y="1430130"/>
          <a:ext cx="11222402" cy="1915840"/>
        </p:xfrm>
        <a:graphic>
          <a:graphicData uri="http://schemas.openxmlformats.org/drawingml/2006/table">
            <a:tbl>
              <a:tblPr firstRow="1" bandRow="1">
                <a:tableStyleId>{5C22544A-7EE6-4342-B048-85BDC9FD1C3A}</a:tableStyleId>
              </a:tblPr>
              <a:tblGrid>
                <a:gridCol w="11222402">
                  <a:extLst>
                    <a:ext uri="{9D8B030D-6E8A-4147-A177-3AD203B41FA5}">
                      <a16:colId xmlns:a16="http://schemas.microsoft.com/office/drawing/2014/main" val="2806566759"/>
                    </a:ext>
                  </a:extLst>
                </a:gridCol>
              </a:tblGrid>
              <a:tr h="544240">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2800" dirty="0"/>
                        <a:t>Definition</a:t>
                      </a:r>
                    </a:p>
                  </a:txBody>
                  <a:tcPr>
                    <a:solidFill>
                      <a:srgbClr val="E84E10"/>
                    </a:solidFill>
                  </a:tcPr>
                </a:tc>
                <a:extLst>
                  <a:ext uri="{0D108BD9-81ED-4DB2-BD59-A6C34878D82A}">
                    <a16:rowId xmlns:a16="http://schemas.microsoft.com/office/drawing/2014/main" val="4282699494"/>
                  </a:ext>
                </a:extLst>
              </a:tr>
              <a:tr h="574495">
                <a:tc>
                  <a:txBody>
                    <a:bodyPr/>
                    <a:lstStyle/>
                    <a:p>
                      <a:r>
                        <a:rPr lang="en-US" sz="2800" b="1" dirty="0"/>
                        <a:t>Binary data </a:t>
                      </a:r>
                      <a:r>
                        <a:rPr lang="en-US" sz="2800" b="0" dirty="0"/>
                        <a:t>is data that records whether individual events have happened or not (e.g. death vs no death), as these situations can take on only one of two values, they are binary (0/1). This is one form of categorical data. </a:t>
                      </a:r>
                    </a:p>
                  </a:txBody>
                  <a:tcPr>
                    <a:solidFill>
                      <a:srgbClr val="F6D0CC"/>
                    </a:solidFill>
                  </a:tcPr>
                </a:tc>
                <a:extLst>
                  <a:ext uri="{0D108BD9-81ED-4DB2-BD59-A6C34878D82A}">
                    <a16:rowId xmlns:a16="http://schemas.microsoft.com/office/drawing/2014/main" val="2257841623"/>
                  </a:ext>
                </a:extLst>
              </a:tr>
            </a:tbl>
          </a:graphicData>
        </a:graphic>
      </p:graphicFrame>
    </p:spTree>
    <p:extLst>
      <p:ext uri="{BB962C8B-B14F-4D97-AF65-F5344CB8AC3E}">
        <p14:creationId xmlns:p14="http://schemas.microsoft.com/office/powerpoint/2010/main" val="35828214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Categorical Data</a:t>
            </a:r>
          </a:p>
        </p:txBody>
      </p:sp>
      <p:graphicFrame>
        <p:nvGraphicFramePr>
          <p:cNvPr id="3" name="Content Placeholder 5">
            <a:extLst>
              <a:ext uri="{FF2B5EF4-FFF2-40B4-BE49-F238E27FC236}">
                <a16:creationId xmlns:a16="http://schemas.microsoft.com/office/drawing/2014/main" id="{B71D7667-F083-FB38-E008-551834873270}"/>
              </a:ext>
            </a:extLst>
          </p:cNvPr>
          <p:cNvGraphicFramePr>
            <a:graphicFrameLocks/>
          </p:cNvGraphicFramePr>
          <p:nvPr>
            <p:extLst>
              <p:ext uri="{D42A27DB-BD31-4B8C-83A1-F6EECF244321}">
                <p14:modId xmlns:p14="http://schemas.microsoft.com/office/powerpoint/2010/main" val="568994927"/>
              </p:ext>
            </p:extLst>
          </p:nvPr>
        </p:nvGraphicFramePr>
        <p:xfrm>
          <a:off x="476173" y="1430130"/>
          <a:ext cx="11222402" cy="1915840"/>
        </p:xfrm>
        <a:graphic>
          <a:graphicData uri="http://schemas.openxmlformats.org/drawingml/2006/table">
            <a:tbl>
              <a:tblPr firstRow="1" bandRow="1">
                <a:tableStyleId>{5C22544A-7EE6-4342-B048-85BDC9FD1C3A}</a:tableStyleId>
              </a:tblPr>
              <a:tblGrid>
                <a:gridCol w="11222402">
                  <a:extLst>
                    <a:ext uri="{9D8B030D-6E8A-4147-A177-3AD203B41FA5}">
                      <a16:colId xmlns:a16="http://schemas.microsoft.com/office/drawing/2014/main" val="2806566759"/>
                    </a:ext>
                  </a:extLst>
                </a:gridCol>
              </a:tblGrid>
              <a:tr h="544240">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2800" dirty="0"/>
                        <a:t>Definition</a:t>
                      </a:r>
                    </a:p>
                  </a:txBody>
                  <a:tcPr>
                    <a:solidFill>
                      <a:srgbClr val="E84E10"/>
                    </a:solidFill>
                  </a:tcPr>
                </a:tc>
                <a:extLst>
                  <a:ext uri="{0D108BD9-81ED-4DB2-BD59-A6C34878D82A}">
                    <a16:rowId xmlns:a16="http://schemas.microsoft.com/office/drawing/2014/main" val="4282699494"/>
                  </a:ext>
                </a:extLst>
              </a:tr>
              <a:tr h="574495">
                <a:tc>
                  <a:txBody>
                    <a:bodyPr/>
                    <a:lstStyle/>
                    <a:p>
                      <a:r>
                        <a:rPr lang="en-US" sz="2800" b="1" dirty="0"/>
                        <a:t>Binary data </a:t>
                      </a:r>
                      <a:r>
                        <a:rPr lang="en-US" sz="2800" b="0" dirty="0"/>
                        <a:t>can be summarized by a percentage or by two numbers: the total number of possible events and the sum of 1s (or equivalently the number of 0s). </a:t>
                      </a:r>
                    </a:p>
                  </a:txBody>
                  <a:tcPr>
                    <a:solidFill>
                      <a:srgbClr val="F6D0CC"/>
                    </a:solidFill>
                  </a:tcPr>
                </a:tc>
                <a:extLst>
                  <a:ext uri="{0D108BD9-81ED-4DB2-BD59-A6C34878D82A}">
                    <a16:rowId xmlns:a16="http://schemas.microsoft.com/office/drawing/2014/main" val="2257841623"/>
                  </a:ext>
                </a:extLst>
              </a:tr>
            </a:tbl>
          </a:graphicData>
        </a:graphic>
      </p:graphicFrame>
      <p:sp>
        <p:nvSpPr>
          <p:cNvPr id="4" name="Content Placeholder 6">
            <a:extLst>
              <a:ext uri="{FF2B5EF4-FFF2-40B4-BE49-F238E27FC236}">
                <a16:creationId xmlns:a16="http://schemas.microsoft.com/office/drawing/2014/main" id="{594693E5-C145-EA95-B45D-C65B41A7712E}"/>
              </a:ext>
            </a:extLst>
          </p:cNvPr>
          <p:cNvSpPr>
            <a:spLocks noGrp="1"/>
          </p:cNvSpPr>
          <p:nvPr>
            <p:ph idx="1"/>
          </p:nvPr>
        </p:nvSpPr>
        <p:spPr>
          <a:xfrm>
            <a:off x="476173" y="3458108"/>
            <a:ext cx="11222402" cy="2351196"/>
          </a:xfrm>
        </p:spPr>
        <p:txBody>
          <a:bodyPr/>
          <a:lstStyle/>
          <a:p>
            <a:pPr marL="0" indent="0">
              <a:buNone/>
            </a:pPr>
            <a:r>
              <a:rPr lang="en-US" sz="2800" dirty="0"/>
              <a:t>For example: For the 100 children, we can describe the summary as 95 children survived out of 100 children or that there was a survival rate of 95%.</a:t>
            </a:r>
          </a:p>
          <a:p>
            <a:pPr marL="0" indent="0">
              <a:buNone/>
            </a:pPr>
            <a:endParaRPr lang="en-US" sz="2800" dirty="0"/>
          </a:p>
          <a:p>
            <a:pPr marL="0" indent="0">
              <a:buNone/>
            </a:pPr>
            <a:r>
              <a:rPr lang="en-US" sz="2400" i="1" dirty="0"/>
              <a:t>Note that already we have abstracted away a LOT of detail. That detail is usually what brings us back to the first P of PPDAC.</a:t>
            </a:r>
          </a:p>
        </p:txBody>
      </p:sp>
    </p:spTree>
    <p:extLst>
      <p:ext uri="{BB962C8B-B14F-4D97-AF65-F5344CB8AC3E}">
        <p14:creationId xmlns:p14="http://schemas.microsoft.com/office/powerpoint/2010/main" val="36615806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Categorical Data</a:t>
            </a:r>
          </a:p>
        </p:txBody>
      </p:sp>
      <p:graphicFrame>
        <p:nvGraphicFramePr>
          <p:cNvPr id="3" name="Content Placeholder 5">
            <a:extLst>
              <a:ext uri="{FF2B5EF4-FFF2-40B4-BE49-F238E27FC236}">
                <a16:creationId xmlns:a16="http://schemas.microsoft.com/office/drawing/2014/main" id="{FFC1C94F-D3A4-6BDC-CFBD-1737DDE97F16}"/>
              </a:ext>
            </a:extLst>
          </p:cNvPr>
          <p:cNvGraphicFramePr>
            <a:graphicFrameLocks/>
          </p:cNvGraphicFramePr>
          <p:nvPr>
            <p:extLst>
              <p:ext uri="{D42A27DB-BD31-4B8C-83A1-F6EECF244321}">
                <p14:modId xmlns:p14="http://schemas.microsoft.com/office/powerpoint/2010/main" val="2186756722"/>
              </p:ext>
            </p:extLst>
          </p:nvPr>
        </p:nvGraphicFramePr>
        <p:xfrm>
          <a:off x="476173" y="1430130"/>
          <a:ext cx="11222402" cy="1489120"/>
        </p:xfrm>
        <a:graphic>
          <a:graphicData uri="http://schemas.openxmlformats.org/drawingml/2006/table">
            <a:tbl>
              <a:tblPr firstRow="1" bandRow="1">
                <a:tableStyleId>{5C22544A-7EE6-4342-B048-85BDC9FD1C3A}</a:tableStyleId>
              </a:tblPr>
              <a:tblGrid>
                <a:gridCol w="11222402">
                  <a:extLst>
                    <a:ext uri="{9D8B030D-6E8A-4147-A177-3AD203B41FA5}">
                      <a16:colId xmlns:a16="http://schemas.microsoft.com/office/drawing/2014/main" val="2806566759"/>
                    </a:ext>
                  </a:extLst>
                </a:gridCol>
              </a:tblGrid>
              <a:tr h="544240">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2800" dirty="0"/>
                        <a:t>Definition</a:t>
                      </a:r>
                    </a:p>
                  </a:txBody>
                  <a:tcPr>
                    <a:solidFill>
                      <a:srgbClr val="E84E10"/>
                    </a:solidFill>
                  </a:tcPr>
                </a:tc>
                <a:extLst>
                  <a:ext uri="{0D108BD9-81ED-4DB2-BD59-A6C34878D82A}">
                    <a16:rowId xmlns:a16="http://schemas.microsoft.com/office/drawing/2014/main" val="4282699494"/>
                  </a:ext>
                </a:extLst>
              </a:tr>
              <a:tr h="574495">
                <a:tc>
                  <a:txBody>
                    <a:bodyPr/>
                    <a:lstStyle/>
                    <a:p>
                      <a:r>
                        <a:rPr lang="en-US" sz="2800" b="1" dirty="0"/>
                        <a:t>Categorical variables </a:t>
                      </a:r>
                      <a:r>
                        <a:rPr lang="en-US" sz="2800" b="0" dirty="0"/>
                        <a:t>are measurements that can take on two or more categories (binary data is a form of categorical data).</a:t>
                      </a:r>
                    </a:p>
                  </a:txBody>
                  <a:tcPr>
                    <a:solidFill>
                      <a:srgbClr val="F6D0CC"/>
                    </a:solidFill>
                  </a:tcPr>
                </a:tc>
                <a:extLst>
                  <a:ext uri="{0D108BD9-81ED-4DB2-BD59-A6C34878D82A}">
                    <a16:rowId xmlns:a16="http://schemas.microsoft.com/office/drawing/2014/main" val="2257841623"/>
                  </a:ext>
                </a:extLst>
              </a:tr>
            </a:tbl>
          </a:graphicData>
        </a:graphic>
      </p:graphicFrame>
      <p:sp>
        <p:nvSpPr>
          <p:cNvPr id="4" name="Content Placeholder 6">
            <a:extLst>
              <a:ext uri="{FF2B5EF4-FFF2-40B4-BE49-F238E27FC236}">
                <a16:creationId xmlns:a16="http://schemas.microsoft.com/office/drawing/2014/main" id="{B7FED2E4-173B-1818-4518-A24A22E1EE5B}"/>
              </a:ext>
            </a:extLst>
          </p:cNvPr>
          <p:cNvSpPr>
            <a:spLocks noGrp="1"/>
          </p:cNvSpPr>
          <p:nvPr>
            <p:ph idx="1"/>
          </p:nvPr>
        </p:nvSpPr>
        <p:spPr>
          <a:xfrm>
            <a:off x="476173" y="3251081"/>
            <a:ext cx="11222402" cy="2351196"/>
          </a:xfrm>
        </p:spPr>
        <p:txBody>
          <a:bodyPr/>
          <a:lstStyle/>
          <a:p>
            <a:r>
              <a:rPr lang="en-US" sz="2800" dirty="0"/>
              <a:t>Unordered categories: Person’s country of origin, color of a car or the hospital where an operation takes place (we can abstract them by assigning a random integer for each individual category). </a:t>
            </a:r>
          </a:p>
          <a:p>
            <a:r>
              <a:rPr lang="en-US" sz="2800" dirty="0"/>
              <a:t>Ordered categories: Rank of military personnel, grade that you receive.</a:t>
            </a:r>
          </a:p>
          <a:p>
            <a:r>
              <a:rPr lang="en-US" sz="2800" dirty="0"/>
              <a:t>Numbers that have been grouped: Levels of obesity (defined as ranges of BMI) or whether you are a child or an adult.</a:t>
            </a:r>
            <a:endParaRPr lang="en-US" sz="2400" i="1" dirty="0"/>
          </a:p>
        </p:txBody>
      </p:sp>
    </p:spTree>
    <p:extLst>
      <p:ext uri="{BB962C8B-B14F-4D97-AF65-F5344CB8AC3E}">
        <p14:creationId xmlns:p14="http://schemas.microsoft.com/office/powerpoint/2010/main" val="6234094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B067F4-DF34-31CB-6D37-93E1136A6EF6}"/>
              </a:ext>
            </a:extLst>
          </p:cNvPr>
          <p:cNvSpPr>
            <a:spLocks noGrp="1"/>
          </p:cNvSpPr>
          <p:nvPr>
            <p:ph type="title"/>
          </p:nvPr>
        </p:nvSpPr>
        <p:spPr/>
        <p:txBody>
          <a:bodyPr/>
          <a:lstStyle/>
          <a:p>
            <a:r>
              <a:rPr lang="en-US" dirty="0"/>
              <a:t>Associations of Categorical Variables</a:t>
            </a:r>
          </a:p>
        </p:txBody>
      </p:sp>
      <p:sp>
        <p:nvSpPr>
          <p:cNvPr id="3" name="Content Placeholder 2">
            <a:extLst>
              <a:ext uri="{FF2B5EF4-FFF2-40B4-BE49-F238E27FC236}">
                <a16:creationId xmlns:a16="http://schemas.microsoft.com/office/drawing/2014/main" id="{E63F7CBB-2169-ED40-F928-3AB405AFC73D}"/>
              </a:ext>
            </a:extLst>
          </p:cNvPr>
          <p:cNvSpPr>
            <a:spLocks noGrp="1"/>
          </p:cNvSpPr>
          <p:nvPr>
            <p:ph idx="1"/>
          </p:nvPr>
        </p:nvSpPr>
        <p:spPr/>
        <p:txBody>
          <a:bodyPr/>
          <a:lstStyle/>
          <a:p>
            <a:endParaRPr lang="en-US" dirty="0"/>
          </a:p>
        </p:txBody>
      </p:sp>
      <p:pic>
        <p:nvPicPr>
          <p:cNvPr id="4" name="Picture 3">
            <a:extLst>
              <a:ext uri="{FF2B5EF4-FFF2-40B4-BE49-F238E27FC236}">
                <a16:creationId xmlns:a16="http://schemas.microsoft.com/office/drawing/2014/main" id="{FDCC2A7B-9D42-140B-973A-7D68D785E1EA}"/>
              </a:ext>
            </a:extLst>
          </p:cNvPr>
          <p:cNvPicPr>
            <a:picLocks noChangeAspect="1"/>
          </p:cNvPicPr>
          <p:nvPr/>
        </p:nvPicPr>
        <p:blipFill>
          <a:blip r:embed="rId3"/>
          <a:stretch>
            <a:fillRect/>
          </a:stretch>
        </p:blipFill>
        <p:spPr>
          <a:xfrm>
            <a:off x="2407227" y="1170260"/>
            <a:ext cx="6639465" cy="5143702"/>
          </a:xfrm>
          <a:prstGeom prst="rect">
            <a:avLst/>
          </a:prstGeom>
        </p:spPr>
      </p:pic>
    </p:spTree>
    <p:extLst>
      <p:ext uri="{BB962C8B-B14F-4D97-AF65-F5344CB8AC3E}">
        <p14:creationId xmlns:p14="http://schemas.microsoft.com/office/powerpoint/2010/main" val="2152757143"/>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B067F4-DF34-31CB-6D37-93E1136A6EF6}"/>
              </a:ext>
            </a:extLst>
          </p:cNvPr>
          <p:cNvSpPr>
            <a:spLocks noGrp="1"/>
          </p:cNvSpPr>
          <p:nvPr>
            <p:ph type="title"/>
          </p:nvPr>
        </p:nvSpPr>
        <p:spPr/>
        <p:txBody>
          <a:bodyPr/>
          <a:lstStyle/>
          <a:p>
            <a:r>
              <a:rPr lang="en-US" dirty="0"/>
              <a:t>Associations of Categorical Variables</a:t>
            </a:r>
          </a:p>
        </p:txBody>
      </p:sp>
      <p:sp>
        <p:nvSpPr>
          <p:cNvPr id="3" name="Content Placeholder 2">
            <a:extLst>
              <a:ext uri="{FF2B5EF4-FFF2-40B4-BE49-F238E27FC236}">
                <a16:creationId xmlns:a16="http://schemas.microsoft.com/office/drawing/2014/main" id="{E63F7CBB-2169-ED40-F928-3AB405AFC73D}"/>
              </a:ext>
            </a:extLst>
          </p:cNvPr>
          <p:cNvSpPr>
            <a:spLocks noGrp="1"/>
          </p:cNvSpPr>
          <p:nvPr>
            <p:ph idx="1"/>
          </p:nvPr>
        </p:nvSpPr>
        <p:spPr/>
        <p:txBody>
          <a:bodyPr/>
          <a:lstStyle/>
          <a:p>
            <a:r>
              <a:rPr lang="en-US" dirty="0"/>
              <a:t>Came from the International Agency for Research in Cancer putting red meat in same category as cigarettes and asbestos (a ‘Group 1 carcinogen’)</a:t>
            </a:r>
          </a:p>
          <a:p>
            <a:r>
              <a:rPr lang="en-US" dirty="0"/>
              <a:t>“50g of processed meat associated with increased risk of bowel cancer of </a:t>
            </a:r>
            <a:r>
              <a:rPr lang="en-US" b="1" dirty="0"/>
              <a:t>18%</a:t>
            </a:r>
            <a:r>
              <a:rPr lang="en-US" dirty="0"/>
              <a:t>”</a:t>
            </a:r>
          </a:p>
          <a:p>
            <a:r>
              <a:rPr lang="en-US" dirty="0"/>
              <a:t>What does that mean? </a:t>
            </a:r>
          </a:p>
        </p:txBody>
      </p:sp>
      <p:pic>
        <p:nvPicPr>
          <p:cNvPr id="4" name="Picture 3">
            <a:extLst>
              <a:ext uri="{FF2B5EF4-FFF2-40B4-BE49-F238E27FC236}">
                <a16:creationId xmlns:a16="http://schemas.microsoft.com/office/drawing/2014/main" id="{EB70C166-184C-3027-0B51-9C08C625FD38}"/>
              </a:ext>
            </a:extLst>
          </p:cNvPr>
          <p:cNvPicPr>
            <a:picLocks noChangeAspect="1"/>
          </p:cNvPicPr>
          <p:nvPr/>
        </p:nvPicPr>
        <p:blipFill>
          <a:blip r:embed="rId3"/>
          <a:srcRect b="63413"/>
          <a:stretch/>
        </p:blipFill>
        <p:spPr>
          <a:xfrm>
            <a:off x="8845107" y="124691"/>
            <a:ext cx="3500352" cy="992160"/>
          </a:xfrm>
          <a:prstGeom prst="rect">
            <a:avLst/>
          </a:prstGeom>
        </p:spPr>
      </p:pic>
    </p:spTree>
    <p:extLst>
      <p:ext uri="{BB962C8B-B14F-4D97-AF65-F5344CB8AC3E}">
        <p14:creationId xmlns:p14="http://schemas.microsoft.com/office/powerpoint/2010/main" val="3193205813"/>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B067F4-DF34-31CB-6D37-93E1136A6EF6}"/>
              </a:ext>
            </a:extLst>
          </p:cNvPr>
          <p:cNvSpPr>
            <a:spLocks noGrp="1"/>
          </p:cNvSpPr>
          <p:nvPr>
            <p:ph type="title"/>
          </p:nvPr>
        </p:nvSpPr>
        <p:spPr/>
        <p:txBody>
          <a:bodyPr/>
          <a:lstStyle/>
          <a:p>
            <a:r>
              <a:rPr lang="en-US" dirty="0"/>
              <a:t>Associations of Categorical Variables</a:t>
            </a:r>
          </a:p>
        </p:txBody>
      </p:sp>
      <p:sp>
        <p:nvSpPr>
          <p:cNvPr id="3" name="Content Placeholder 2">
            <a:extLst>
              <a:ext uri="{FF2B5EF4-FFF2-40B4-BE49-F238E27FC236}">
                <a16:creationId xmlns:a16="http://schemas.microsoft.com/office/drawing/2014/main" id="{E63F7CBB-2169-ED40-F928-3AB405AFC73D}"/>
              </a:ext>
            </a:extLst>
          </p:cNvPr>
          <p:cNvSpPr>
            <a:spLocks noGrp="1"/>
          </p:cNvSpPr>
          <p:nvPr>
            <p:ph idx="1"/>
          </p:nvPr>
        </p:nvSpPr>
        <p:spPr/>
        <p:txBody>
          <a:bodyPr/>
          <a:lstStyle/>
          <a:p>
            <a:r>
              <a:rPr lang="en-US" sz="2700" dirty="0"/>
              <a:t>The ”18%” increase is a relative risk.</a:t>
            </a:r>
          </a:p>
          <a:p>
            <a:endParaRPr lang="en-US" sz="2700" dirty="0"/>
          </a:p>
          <a:p>
            <a:endParaRPr lang="en-US" sz="2700" dirty="0"/>
          </a:p>
          <a:p>
            <a:endParaRPr lang="en-US" sz="2700" dirty="0"/>
          </a:p>
          <a:p>
            <a:endParaRPr lang="en-US" sz="2700" dirty="0"/>
          </a:p>
          <a:p>
            <a:endParaRPr lang="en-US" sz="2700" dirty="0"/>
          </a:p>
          <a:p>
            <a:r>
              <a:rPr lang="en-US" sz="2700" dirty="0"/>
              <a:t>What is the absolute risk? That is, how often do people eating meat get bowel cancer?</a:t>
            </a:r>
          </a:p>
          <a:p>
            <a:r>
              <a:rPr lang="en-US" sz="2700" dirty="0"/>
              <a:t>~7.1 out of 100 people get bowel cancer if they eat red meat (p=7.1%).</a:t>
            </a:r>
          </a:p>
          <a:p>
            <a:r>
              <a:rPr lang="en-US" sz="2700" dirty="0"/>
              <a:t>~6 out of 100 people get bowel cancer if they don’t eat red meat (q = 6.1%). </a:t>
            </a:r>
          </a:p>
          <a:p>
            <a:r>
              <a:rPr lang="en-US" sz="2700" dirty="0"/>
              <a:t>(7.1/6)  * 100 = 118.33% =&gt; 18% above the expected amount.</a:t>
            </a:r>
          </a:p>
          <a:p>
            <a:endParaRPr lang="en-US" dirty="0"/>
          </a:p>
        </p:txBody>
      </p:sp>
      <p:graphicFrame>
        <p:nvGraphicFramePr>
          <p:cNvPr id="4" name="Content Placeholder 5">
            <a:extLst>
              <a:ext uri="{FF2B5EF4-FFF2-40B4-BE49-F238E27FC236}">
                <a16:creationId xmlns:a16="http://schemas.microsoft.com/office/drawing/2014/main" id="{7CAF4CE5-BDDA-1DC6-89F8-7C5713EE938D}"/>
              </a:ext>
            </a:extLst>
          </p:cNvPr>
          <p:cNvGraphicFramePr>
            <a:graphicFrameLocks/>
          </p:cNvGraphicFramePr>
          <p:nvPr>
            <p:extLst>
              <p:ext uri="{D42A27DB-BD31-4B8C-83A1-F6EECF244321}">
                <p14:modId xmlns:p14="http://schemas.microsoft.com/office/powerpoint/2010/main" val="173384962"/>
              </p:ext>
            </p:extLst>
          </p:nvPr>
        </p:nvGraphicFramePr>
        <p:xfrm>
          <a:off x="480001" y="1845765"/>
          <a:ext cx="11222402" cy="1793920"/>
        </p:xfrm>
        <a:graphic>
          <a:graphicData uri="http://schemas.openxmlformats.org/drawingml/2006/table">
            <a:tbl>
              <a:tblPr firstRow="1" bandRow="1">
                <a:tableStyleId>{5C22544A-7EE6-4342-B048-85BDC9FD1C3A}</a:tableStyleId>
              </a:tblPr>
              <a:tblGrid>
                <a:gridCol w="11222402">
                  <a:extLst>
                    <a:ext uri="{9D8B030D-6E8A-4147-A177-3AD203B41FA5}">
                      <a16:colId xmlns:a16="http://schemas.microsoft.com/office/drawing/2014/main" val="2806566759"/>
                    </a:ext>
                  </a:extLst>
                </a:gridCol>
              </a:tblGrid>
              <a:tr h="544240">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2800" dirty="0"/>
                        <a:t>Definition</a:t>
                      </a:r>
                    </a:p>
                  </a:txBody>
                  <a:tcPr>
                    <a:solidFill>
                      <a:srgbClr val="E84E10"/>
                    </a:solidFill>
                  </a:tcPr>
                </a:tc>
                <a:extLst>
                  <a:ext uri="{0D108BD9-81ED-4DB2-BD59-A6C34878D82A}">
                    <a16:rowId xmlns:a16="http://schemas.microsoft.com/office/drawing/2014/main" val="4282699494"/>
                  </a:ext>
                </a:extLst>
              </a:tr>
              <a:tr h="574495">
                <a:tc>
                  <a:txBody>
                    <a:bodyPr/>
                    <a:lstStyle/>
                    <a:p>
                      <a:r>
                        <a:rPr lang="en-US" sz="2800" b="1" dirty="0"/>
                        <a:t>Relative risk: </a:t>
                      </a:r>
                      <a:r>
                        <a:rPr lang="en-US" sz="2400" b="0" i="0" kern="1200" dirty="0">
                          <a:solidFill>
                            <a:schemeClr val="dk1"/>
                          </a:solidFill>
                          <a:effectLst/>
                          <a:latin typeface="+mn-lt"/>
                          <a:ea typeface="+mn-ea"/>
                          <a:cs typeface="+mn-cs"/>
                        </a:rPr>
                        <a:t>If the absolute risk among people who are </a:t>
                      </a:r>
                      <a:r>
                        <a:rPr lang="en-US" sz="2400" b="1" i="0" kern="1200" dirty="0">
                          <a:solidFill>
                            <a:schemeClr val="dk1"/>
                          </a:solidFill>
                          <a:effectLst/>
                          <a:latin typeface="+mn-lt"/>
                          <a:ea typeface="+mn-ea"/>
                          <a:cs typeface="+mn-cs"/>
                        </a:rPr>
                        <a:t>exposed</a:t>
                      </a:r>
                      <a:r>
                        <a:rPr lang="en-US" sz="2400" b="0" i="0" kern="1200" dirty="0">
                          <a:solidFill>
                            <a:schemeClr val="dk1"/>
                          </a:solidFill>
                          <a:effectLst/>
                          <a:latin typeface="+mn-lt"/>
                          <a:ea typeface="+mn-ea"/>
                          <a:cs typeface="+mn-cs"/>
                        </a:rPr>
                        <a:t> to something of interest is </a:t>
                      </a:r>
                      <a:r>
                        <a:rPr lang="en-US" sz="2400" b="0" i="1" kern="1200" dirty="0">
                          <a:solidFill>
                            <a:schemeClr val="dk1"/>
                          </a:solidFill>
                          <a:effectLst/>
                          <a:latin typeface="+mn-lt"/>
                          <a:ea typeface="+mn-ea"/>
                          <a:cs typeface="+mn-cs"/>
                        </a:rPr>
                        <a:t>p%</a:t>
                      </a:r>
                      <a:r>
                        <a:rPr lang="en-US" sz="2400" b="0" i="0" kern="1200" dirty="0">
                          <a:solidFill>
                            <a:schemeClr val="dk1"/>
                          </a:solidFill>
                          <a:effectLst/>
                          <a:latin typeface="+mn-lt"/>
                          <a:ea typeface="+mn-ea"/>
                          <a:cs typeface="+mn-cs"/>
                        </a:rPr>
                        <a:t>, and the absolute risk among people who are not exposed is </a:t>
                      </a:r>
                      <a:r>
                        <a:rPr lang="en-US" sz="2400" b="0" i="1" kern="1200" dirty="0">
                          <a:solidFill>
                            <a:schemeClr val="dk1"/>
                          </a:solidFill>
                          <a:effectLst/>
                          <a:latin typeface="+mn-lt"/>
                          <a:ea typeface="+mn-ea"/>
                          <a:cs typeface="+mn-cs"/>
                        </a:rPr>
                        <a:t>q%</a:t>
                      </a:r>
                      <a:r>
                        <a:rPr lang="en-US" sz="2400" b="0" i="0" kern="1200" dirty="0">
                          <a:solidFill>
                            <a:schemeClr val="dk1"/>
                          </a:solidFill>
                          <a:effectLst/>
                          <a:latin typeface="+mn-lt"/>
                          <a:ea typeface="+mn-ea"/>
                          <a:cs typeface="+mn-cs"/>
                        </a:rPr>
                        <a:t>, then the relative risk is </a:t>
                      </a:r>
                      <a:r>
                        <a:rPr lang="en-US" sz="2400" b="0" i="1" kern="1200" dirty="0">
                          <a:solidFill>
                            <a:schemeClr val="dk1"/>
                          </a:solidFill>
                          <a:effectLst/>
                          <a:latin typeface="+mn-lt"/>
                          <a:ea typeface="+mn-ea"/>
                          <a:cs typeface="+mn-cs"/>
                        </a:rPr>
                        <a:t>p/q</a:t>
                      </a:r>
                      <a:r>
                        <a:rPr lang="en-US" sz="2400" b="0" i="0" kern="1200" dirty="0">
                          <a:solidFill>
                            <a:schemeClr val="dk1"/>
                          </a:solidFill>
                          <a:effectLst/>
                          <a:latin typeface="+mn-lt"/>
                          <a:ea typeface="+mn-ea"/>
                          <a:cs typeface="+mn-cs"/>
                        </a:rPr>
                        <a:t>.</a:t>
                      </a:r>
                      <a:endParaRPr lang="en-US" sz="2800" b="0" dirty="0"/>
                    </a:p>
                  </a:txBody>
                  <a:tcPr>
                    <a:solidFill>
                      <a:srgbClr val="F6D0CC"/>
                    </a:solidFill>
                  </a:tcPr>
                </a:tc>
                <a:extLst>
                  <a:ext uri="{0D108BD9-81ED-4DB2-BD59-A6C34878D82A}">
                    <a16:rowId xmlns:a16="http://schemas.microsoft.com/office/drawing/2014/main" val="2257841623"/>
                  </a:ext>
                </a:extLst>
              </a:tr>
            </a:tbl>
          </a:graphicData>
        </a:graphic>
      </p:graphicFrame>
    </p:spTree>
    <p:extLst>
      <p:ext uri="{BB962C8B-B14F-4D97-AF65-F5344CB8AC3E}">
        <p14:creationId xmlns:p14="http://schemas.microsoft.com/office/powerpoint/2010/main" val="18178060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B067F4-DF34-31CB-6D37-93E1136A6EF6}"/>
              </a:ext>
            </a:extLst>
          </p:cNvPr>
          <p:cNvSpPr>
            <a:spLocks noGrp="1"/>
          </p:cNvSpPr>
          <p:nvPr>
            <p:ph type="title"/>
          </p:nvPr>
        </p:nvSpPr>
        <p:spPr/>
        <p:txBody>
          <a:bodyPr/>
          <a:lstStyle/>
          <a:p>
            <a:r>
              <a:rPr lang="en-US" dirty="0"/>
              <a:t>Associations of Categorical Variables</a:t>
            </a:r>
          </a:p>
        </p:txBody>
      </p:sp>
      <p:sp>
        <p:nvSpPr>
          <p:cNvPr id="3" name="Content Placeholder 2">
            <a:extLst>
              <a:ext uri="{FF2B5EF4-FFF2-40B4-BE49-F238E27FC236}">
                <a16:creationId xmlns:a16="http://schemas.microsoft.com/office/drawing/2014/main" id="{E63F7CBB-2169-ED40-F928-3AB405AFC73D}"/>
              </a:ext>
            </a:extLst>
          </p:cNvPr>
          <p:cNvSpPr>
            <a:spLocks noGrp="1"/>
          </p:cNvSpPr>
          <p:nvPr>
            <p:ph idx="1"/>
          </p:nvPr>
        </p:nvSpPr>
        <p:spPr/>
        <p:txBody>
          <a:bodyPr/>
          <a:lstStyle/>
          <a:p>
            <a:r>
              <a:rPr lang="en-US" dirty="0"/>
              <a:t>But the expected frequencies (6/100 and 7.1/100) told us MUCH more. </a:t>
            </a:r>
          </a:p>
          <a:p>
            <a:r>
              <a:rPr lang="en-US" dirty="0"/>
              <a:t>There was more clarity about the risk from the expected frequencies.</a:t>
            </a:r>
          </a:p>
        </p:txBody>
      </p:sp>
      <p:graphicFrame>
        <p:nvGraphicFramePr>
          <p:cNvPr id="4" name="Content Placeholder 5">
            <a:extLst>
              <a:ext uri="{FF2B5EF4-FFF2-40B4-BE49-F238E27FC236}">
                <a16:creationId xmlns:a16="http://schemas.microsoft.com/office/drawing/2014/main" id="{F32785E7-7A1C-BC66-B3CB-ABB35ABCEB97}"/>
              </a:ext>
            </a:extLst>
          </p:cNvPr>
          <p:cNvGraphicFramePr>
            <a:graphicFrameLocks/>
          </p:cNvGraphicFramePr>
          <p:nvPr>
            <p:extLst>
              <p:ext uri="{D42A27DB-BD31-4B8C-83A1-F6EECF244321}">
                <p14:modId xmlns:p14="http://schemas.microsoft.com/office/powerpoint/2010/main" val="391276345"/>
              </p:ext>
            </p:extLst>
          </p:nvPr>
        </p:nvGraphicFramePr>
        <p:xfrm>
          <a:off x="480001" y="3973309"/>
          <a:ext cx="11222402" cy="1341120"/>
        </p:xfrm>
        <a:graphic>
          <a:graphicData uri="http://schemas.openxmlformats.org/drawingml/2006/table">
            <a:tbl>
              <a:tblPr firstRow="1" bandRow="1">
                <a:tableStyleId>{5C22544A-7EE6-4342-B048-85BDC9FD1C3A}</a:tableStyleId>
              </a:tblPr>
              <a:tblGrid>
                <a:gridCol w="11222402">
                  <a:extLst>
                    <a:ext uri="{9D8B030D-6E8A-4147-A177-3AD203B41FA5}">
                      <a16:colId xmlns:a16="http://schemas.microsoft.com/office/drawing/2014/main" val="2806566759"/>
                    </a:ext>
                  </a:extLst>
                </a:gridCol>
              </a:tblGrid>
              <a:tr h="0">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2800" dirty="0"/>
                        <a:t>Definition</a:t>
                      </a:r>
                    </a:p>
                  </a:txBody>
                  <a:tcPr>
                    <a:solidFill>
                      <a:srgbClr val="E84E10"/>
                    </a:solidFill>
                  </a:tcPr>
                </a:tc>
                <a:extLst>
                  <a:ext uri="{0D108BD9-81ED-4DB2-BD59-A6C34878D82A}">
                    <a16:rowId xmlns:a16="http://schemas.microsoft.com/office/drawing/2014/main" val="4282699494"/>
                  </a:ext>
                </a:extLst>
              </a:tr>
              <a:tr h="574495">
                <a:tc>
                  <a:txBody>
                    <a:bodyPr/>
                    <a:lstStyle/>
                    <a:p>
                      <a:r>
                        <a:rPr lang="en-US" sz="2400" b="1" i="0" kern="1200" dirty="0">
                          <a:solidFill>
                            <a:schemeClr val="dk1"/>
                          </a:solidFill>
                          <a:effectLst/>
                          <a:latin typeface="+mn-lt"/>
                          <a:ea typeface="+mn-ea"/>
                          <a:cs typeface="+mn-cs"/>
                        </a:rPr>
                        <a:t>Expected frequencies </a:t>
                      </a:r>
                      <a:r>
                        <a:rPr lang="en-US" sz="2400" b="0" i="0" kern="1200" dirty="0">
                          <a:solidFill>
                            <a:schemeClr val="dk1"/>
                          </a:solidFill>
                          <a:effectLst/>
                          <a:latin typeface="+mn-lt"/>
                          <a:ea typeface="+mn-ea"/>
                          <a:cs typeface="+mn-cs"/>
                        </a:rPr>
                        <a:t>are the numbers of events expected to occur in the future, according to an assumed probability model.</a:t>
                      </a:r>
                      <a:endParaRPr lang="en-US" sz="2800" b="0" dirty="0"/>
                    </a:p>
                  </a:txBody>
                  <a:tcPr>
                    <a:solidFill>
                      <a:srgbClr val="F6D0CC"/>
                    </a:solidFill>
                  </a:tcPr>
                </a:tc>
                <a:extLst>
                  <a:ext uri="{0D108BD9-81ED-4DB2-BD59-A6C34878D82A}">
                    <a16:rowId xmlns:a16="http://schemas.microsoft.com/office/drawing/2014/main" val="2257841623"/>
                  </a:ext>
                </a:extLst>
              </a:tr>
            </a:tbl>
          </a:graphicData>
        </a:graphic>
      </p:graphicFrame>
      <p:pic>
        <p:nvPicPr>
          <p:cNvPr id="6" name="Picture 5" descr="A screenshot of a cell phone&#10;&#10;Description automatically generated">
            <a:extLst>
              <a:ext uri="{FF2B5EF4-FFF2-40B4-BE49-F238E27FC236}">
                <a16:creationId xmlns:a16="http://schemas.microsoft.com/office/drawing/2014/main" id="{F50B7639-FA40-FBC7-3A6E-5AB2B2DDDACF}"/>
              </a:ext>
            </a:extLst>
          </p:cNvPr>
          <p:cNvPicPr>
            <a:picLocks noChangeAspect="1"/>
          </p:cNvPicPr>
          <p:nvPr/>
        </p:nvPicPr>
        <p:blipFill>
          <a:blip r:embed="rId3"/>
          <a:stretch>
            <a:fillRect/>
          </a:stretch>
        </p:blipFill>
        <p:spPr>
          <a:xfrm>
            <a:off x="2976418" y="995888"/>
            <a:ext cx="4951846" cy="5862112"/>
          </a:xfrm>
          <a:prstGeom prst="rect">
            <a:avLst/>
          </a:prstGeom>
        </p:spPr>
      </p:pic>
    </p:spTree>
    <p:extLst>
      <p:ext uri="{BB962C8B-B14F-4D97-AF65-F5344CB8AC3E}">
        <p14:creationId xmlns:p14="http://schemas.microsoft.com/office/powerpoint/2010/main" val="29976028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xit" presetSubtype="0" fill="hold" grpId="0" nodeType="clickEffect">
                                  <p:stCondLst>
                                    <p:cond delay="0"/>
                                  </p:stCondLst>
                                  <p:childTnLst>
                                    <p:set>
                                      <p:cBhvr>
                                        <p:cTn id="18" dur="1" fill="hold">
                                          <p:stCondLst>
                                            <p:cond delay="0"/>
                                          </p:stCondLst>
                                        </p:cTn>
                                        <p:tgtEl>
                                          <p:spTgt spid="3">
                                            <p:txEl>
                                              <p:pRg st="0" end="0"/>
                                            </p:txEl>
                                          </p:spTgt>
                                        </p:tgtEl>
                                        <p:attrNameLst>
                                          <p:attrName>style.visibility</p:attrName>
                                        </p:attrNameLst>
                                      </p:cBhvr>
                                      <p:to>
                                        <p:strVal val="hidden"/>
                                      </p:to>
                                    </p:set>
                                  </p:childTnLst>
                                </p:cTn>
                              </p:par>
                              <p:par>
                                <p:cTn id="19" presetID="1" presetClass="exit" presetSubtype="0" fill="hold" grpId="0" nodeType="withEffect">
                                  <p:stCondLst>
                                    <p:cond delay="0"/>
                                  </p:stCondLst>
                                  <p:childTnLst>
                                    <p:set>
                                      <p:cBhvr>
                                        <p:cTn id="20" dur="1" fill="hold">
                                          <p:stCondLst>
                                            <p:cond delay="0"/>
                                          </p:stCondLst>
                                        </p:cTn>
                                        <p:tgtEl>
                                          <p:spTgt spid="3">
                                            <p:txEl>
                                              <p:pRg st="1" end="1"/>
                                            </p:txEl>
                                          </p:spTgt>
                                        </p:tgtEl>
                                        <p:attrNameLst>
                                          <p:attrName>style.visibility</p:attrName>
                                        </p:attrNameLst>
                                      </p:cBhvr>
                                      <p:to>
                                        <p:strVal val="hidden"/>
                                      </p:to>
                                    </p:set>
                                  </p:childTnLst>
                                </p:cTn>
                              </p:par>
                              <p:par>
                                <p:cTn id="21" presetID="1" presetClass="exit" presetSubtype="0" fill="hold" nodeType="withEffect">
                                  <p:stCondLst>
                                    <p:cond delay="0"/>
                                  </p:stCondLst>
                                  <p:childTnLst>
                                    <p:set>
                                      <p:cBhvr>
                                        <p:cTn id="22" dur="1" fill="hold">
                                          <p:stCondLst>
                                            <p:cond delay="0"/>
                                          </p:stCondLst>
                                        </p:cTn>
                                        <p:tgtEl>
                                          <p:spTgt spid="4"/>
                                        </p:tgtEl>
                                        <p:attrNameLst>
                                          <p:attrName>style.visibility</p:attrName>
                                        </p:attrNameLst>
                                      </p:cBhvr>
                                      <p:to>
                                        <p:strVal val="hidden"/>
                                      </p:to>
                                    </p:set>
                                  </p:childTnLst>
                                </p:cTn>
                              </p:par>
                              <p:par>
                                <p:cTn id="23" presetID="1" presetClass="entr" presetSubtype="0" fill="hold" nodeType="withEffect">
                                  <p:stCondLst>
                                    <p:cond delay="0"/>
                                  </p:stCondLst>
                                  <p:childTnLst>
                                    <p:set>
                                      <p:cBhvr>
                                        <p:cTn id="24"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B067F4-DF34-31CB-6D37-93E1136A6EF6}"/>
              </a:ext>
            </a:extLst>
          </p:cNvPr>
          <p:cNvSpPr>
            <a:spLocks noGrp="1"/>
          </p:cNvSpPr>
          <p:nvPr>
            <p:ph type="title"/>
          </p:nvPr>
        </p:nvSpPr>
        <p:spPr/>
        <p:txBody>
          <a:bodyPr/>
          <a:lstStyle/>
          <a:p>
            <a:r>
              <a:rPr lang="en-US" dirty="0"/>
              <a:t>Associations of Categorical Variables</a:t>
            </a:r>
          </a:p>
        </p:txBody>
      </p:sp>
      <p:sp>
        <p:nvSpPr>
          <p:cNvPr id="7" name="Content Placeholder 6">
            <a:extLst>
              <a:ext uri="{FF2B5EF4-FFF2-40B4-BE49-F238E27FC236}">
                <a16:creationId xmlns:a16="http://schemas.microsoft.com/office/drawing/2014/main" id="{BE7B0208-7F16-B719-21F0-D1775ED8B5CA}"/>
              </a:ext>
            </a:extLst>
          </p:cNvPr>
          <p:cNvSpPr>
            <a:spLocks noGrp="1"/>
          </p:cNvSpPr>
          <p:nvPr>
            <p:ph idx="1"/>
          </p:nvPr>
        </p:nvSpPr>
        <p:spPr/>
        <p:txBody>
          <a:bodyPr/>
          <a:lstStyle/>
          <a:p>
            <a:endParaRPr lang="en-US"/>
          </a:p>
        </p:txBody>
      </p:sp>
      <p:pic>
        <p:nvPicPr>
          <p:cNvPr id="8" name="Picture 7">
            <a:extLst>
              <a:ext uri="{FF2B5EF4-FFF2-40B4-BE49-F238E27FC236}">
                <a16:creationId xmlns:a16="http://schemas.microsoft.com/office/drawing/2014/main" id="{8A066301-CAD0-A616-C404-167FC377FD2C}"/>
              </a:ext>
            </a:extLst>
          </p:cNvPr>
          <p:cNvPicPr>
            <a:picLocks noChangeAspect="1"/>
          </p:cNvPicPr>
          <p:nvPr/>
        </p:nvPicPr>
        <p:blipFill>
          <a:blip r:embed="rId3"/>
          <a:stretch>
            <a:fillRect/>
          </a:stretch>
        </p:blipFill>
        <p:spPr>
          <a:xfrm>
            <a:off x="609599" y="1296000"/>
            <a:ext cx="11208327" cy="4755048"/>
          </a:xfrm>
          <a:prstGeom prst="rect">
            <a:avLst/>
          </a:prstGeom>
        </p:spPr>
      </p:pic>
      <p:sp>
        <p:nvSpPr>
          <p:cNvPr id="9" name="Rounded Rectangle 8">
            <a:extLst>
              <a:ext uri="{FF2B5EF4-FFF2-40B4-BE49-F238E27FC236}">
                <a16:creationId xmlns:a16="http://schemas.microsoft.com/office/drawing/2014/main" id="{BD8F1CFB-DEC3-00FA-C62C-7F10F7577CFD}"/>
              </a:ext>
            </a:extLst>
          </p:cNvPr>
          <p:cNvSpPr/>
          <p:nvPr/>
        </p:nvSpPr>
        <p:spPr>
          <a:xfrm>
            <a:off x="609599" y="3117273"/>
            <a:ext cx="10972801" cy="429491"/>
          </a:xfrm>
          <a:prstGeom prst="roundRect">
            <a:avLst/>
          </a:prstGeom>
          <a:solidFill>
            <a:schemeClr val="accent1">
              <a:alpha val="2785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10" name="Rounded Rectangle 9">
            <a:extLst>
              <a:ext uri="{FF2B5EF4-FFF2-40B4-BE49-F238E27FC236}">
                <a16:creationId xmlns:a16="http://schemas.microsoft.com/office/drawing/2014/main" id="{E9DF9427-F8C2-EBEE-6ED5-2F685CC687B0}"/>
              </a:ext>
            </a:extLst>
          </p:cNvPr>
          <p:cNvSpPr/>
          <p:nvPr/>
        </p:nvSpPr>
        <p:spPr>
          <a:xfrm>
            <a:off x="685796" y="5466607"/>
            <a:ext cx="10972801" cy="429491"/>
          </a:xfrm>
          <a:prstGeom prst="roundRect">
            <a:avLst/>
          </a:prstGeom>
          <a:solidFill>
            <a:schemeClr val="accent1">
              <a:alpha val="2785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4147462922"/>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B067F4-DF34-31CB-6D37-93E1136A6EF6}"/>
              </a:ext>
            </a:extLst>
          </p:cNvPr>
          <p:cNvSpPr>
            <a:spLocks noGrp="1"/>
          </p:cNvSpPr>
          <p:nvPr>
            <p:ph type="title"/>
          </p:nvPr>
        </p:nvSpPr>
        <p:spPr/>
        <p:txBody>
          <a:bodyPr/>
          <a:lstStyle/>
          <a:p>
            <a:r>
              <a:rPr lang="en-US" dirty="0"/>
              <a:t>Associations of Categorical Variables</a:t>
            </a:r>
          </a:p>
        </p:txBody>
      </p:sp>
      <p:sp>
        <p:nvSpPr>
          <p:cNvPr id="7" name="Content Placeholder 6">
            <a:extLst>
              <a:ext uri="{FF2B5EF4-FFF2-40B4-BE49-F238E27FC236}">
                <a16:creationId xmlns:a16="http://schemas.microsoft.com/office/drawing/2014/main" id="{BE7B0208-7F16-B719-21F0-D1775ED8B5CA}"/>
              </a:ext>
            </a:extLst>
          </p:cNvPr>
          <p:cNvSpPr>
            <a:spLocks noGrp="1"/>
          </p:cNvSpPr>
          <p:nvPr>
            <p:ph idx="1"/>
          </p:nvPr>
        </p:nvSpPr>
        <p:spPr/>
        <p:txBody>
          <a:bodyPr/>
          <a:lstStyle/>
          <a:p>
            <a:endParaRPr lang="en-US"/>
          </a:p>
        </p:txBody>
      </p:sp>
      <p:pic>
        <p:nvPicPr>
          <p:cNvPr id="8" name="Picture 7">
            <a:extLst>
              <a:ext uri="{FF2B5EF4-FFF2-40B4-BE49-F238E27FC236}">
                <a16:creationId xmlns:a16="http://schemas.microsoft.com/office/drawing/2014/main" id="{8A066301-CAD0-A616-C404-167FC377FD2C}"/>
              </a:ext>
            </a:extLst>
          </p:cNvPr>
          <p:cNvPicPr>
            <a:picLocks noChangeAspect="1"/>
          </p:cNvPicPr>
          <p:nvPr/>
        </p:nvPicPr>
        <p:blipFill>
          <a:blip r:embed="rId3"/>
          <a:stretch>
            <a:fillRect/>
          </a:stretch>
        </p:blipFill>
        <p:spPr>
          <a:xfrm>
            <a:off x="609599" y="1296000"/>
            <a:ext cx="11208327" cy="4755048"/>
          </a:xfrm>
          <a:prstGeom prst="rect">
            <a:avLst/>
          </a:prstGeom>
        </p:spPr>
      </p:pic>
      <p:sp>
        <p:nvSpPr>
          <p:cNvPr id="9" name="Rounded Rectangle 8">
            <a:extLst>
              <a:ext uri="{FF2B5EF4-FFF2-40B4-BE49-F238E27FC236}">
                <a16:creationId xmlns:a16="http://schemas.microsoft.com/office/drawing/2014/main" id="{BD8F1CFB-DEC3-00FA-C62C-7F10F7577CFD}"/>
              </a:ext>
            </a:extLst>
          </p:cNvPr>
          <p:cNvSpPr/>
          <p:nvPr/>
        </p:nvSpPr>
        <p:spPr>
          <a:xfrm>
            <a:off x="609599" y="3117273"/>
            <a:ext cx="10972801" cy="429491"/>
          </a:xfrm>
          <a:prstGeom prst="roundRect">
            <a:avLst/>
          </a:prstGeom>
          <a:solidFill>
            <a:schemeClr val="accent1">
              <a:alpha val="2785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10" name="Rounded Rectangle 9">
            <a:extLst>
              <a:ext uri="{FF2B5EF4-FFF2-40B4-BE49-F238E27FC236}">
                <a16:creationId xmlns:a16="http://schemas.microsoft.com/office/drawing/2014/main" id="{E9DF9427-F8C2-EBEE-6ED5-2F685CC687B0}"/>
              </a:ext>
            </a:extLst>
          </p:cNvPr>
          <p:cNvSpPr/>
          <p:nvPr/>
        </p:nvSpPr>
        <p:spPr>
          <a:xfrm>
            <a:off x="685796" y="5466607"/>
            <a:ext cx="10972801" cy="429491"/>
          </a:xfrm>
          <a:prstGeom prst="roundRect">
            <a:avLst/>
          </a:prstGeom>
          <a:solidFill>
            <a:schemeClr val="accent1">
              <a:alpha val="2785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mc:AlternateContent xmlns:mc="http://schemas.openxmlformats.org/markup-compatibility/2006" xmlns:a14="http://schemas.microsoft.com/office/drawing/2010/main">
        <mc:Choice Requires="a14">
          <p:graphicFrame>
            <p:nvGraphicFramePr>
              <p:cNvPr id="3" name="Content Placeholder 5">
                <a:extLst>
                  <a:ext uri="{FF2B5EF4-FFF2-40B4-BE49-F238E27FC236}">
                    <a16:creationId xmlns:a16="http://schemas.microsoft.com/office/drawing/2014/main" id="{1E793AEF-40D8-A24B-31BB-EC81A88D05CF}"/>
                  </a:ext>
                </a:extLst>
              </p:cNvPr>
              <p:cNvGraphicFramePr>
                <a:graphicFrameLocks/>
              </p:cNvGraphicFramePr>
              <p:nvPr>
                <p:extLst>
                  <p:ext uri="{D42A27DB-BD31-4B8C-83A1-F6EECF244321}">
                    <p14:modId xmlns:p14="http://schemas.microsoft.com/office/powerpoint/2010/main" val="2292298651"/>
                  </p:ext>
                </p:extLst>
              </p:nvPr>
            </p:nvGraphicFramePr>
            <p:xfrm>
              <a:off x="379985" y="1319030"/>
              <a:ext cx="11222402" cy="1528554"/>
            </p:xfrm>
            <a:graphic>
              <a:graphicData uri="http://schemas.openxmlformats.org/drawingml/2006/table">
                <a:tbl>
                  <a:tblPr firstRow="1" bandRow="1">
                    <a:tableStyleId>{5C22544A-7EE6-4342-B048-85BDC9FD1C3A}</a:tableStyleId>
                  </a:tblPr>
                  <a:tblGrid>
                    <a:gridCol w="11222402">
                      <a:extLst>
                        <a:ext uri="{9D8B030D-6E8A-4147-A177-3AD203B41FA5}">
                          <a16:colId xmlns:a16="http://schemas.microsoft.com/office/drawing/2014/main" val="2806566759"/>
                        </a:ext>
                      </a:extLst>
                    </a:gridCol>
                  </a:tblGrid>
                  <a:tr h="544240">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2800" dirty="0"/>
                            <a:t>Definition</a:t>
                          </a:r>
                        </a:p>
                      </a:txBody>
                      <a:tcPr>
                        <a:solidFill>
                          <a:srgbClr val="E84E10"/>
                        </a:solidFill>
                      </a:tcPr>
                    </a:tc>
                    <a:extLst>
                      <a:ext uri="{0D108BD9-81ED-4DB2-BD59-A6C34878D82A}">
                        <a16:rowId xmlns:a16="http://schemas.microsoft.com/office/drawing/2014/main" val="4282699494"/>
                      </a:ext>
                    </a:extLst>
                  </a:tr>
                  <a:tr h="574495">
                    <a:tc>
                      <a:txBody>
                        <a:bodyPr/>
                        <a:lstStyle/>
                        <a:p>
                          <a:r>
                            <a:rPr lang="en-US" sz="2800" b="1" dirty="0"/>
                            <a:t>Odds: </a:t>
                          </a:r>
                          <a:r>
                            <a:rPr lang="en-US" sz="2800" b="0" dirty="0"/>
                            <a:t>For the bacon eaters the odds of bowel cancer at </a:t>
                          </a:r>
                          <a14:m>
                            <m:oMath xmlns:m="http://schemas.openxmlformats.org/officeDocument/2006/math">
                              <m:f>
                                <m:fPr>
                                  <m:type m:val="skw"/>
                                  <m:ctrlPr>
                                    <a:rPr lang="en-US" sz="2800" b="0" i="1" smtClean="0">
                                      <a:latin typeface="Cambria Math" panose="02040503050406030204" pitchFamily="18" charset="0"/>
                                    </a:rPr>
                                  </m:ctrlPr>
                                </m:fPr>
                                <m:num>
                                  <m:r>
                                    <a:rPr lang="en-US" sz="2800" b="0" i="1" smtClean="0">
                                      <a:latin typeface="Cambria Math" panose="02040503050406030204" pitchFamily="18" charset="0"/>
                                    </a:rPr>
                                    <m:t>𝑝</m:t>
                                  </m:r>
                                </m:num>
                                <m:den>
                                  <m:r>
                                    <a:rPr lang="en-US" sz="2800" b="0" i="1" smtClean="0">
                                      <a:latin typeface="Cambria Math" panose="02040503050406030204" pitchFamily="18" charset="0"/>
                                    </a:rPr>
                                    <m:t>1−</m:t>
                                  </m:r>
                                  <m:r>
                                    <a:rPr lang="en-US" sz="2800" b="0" i="1" smtClean="0">
                                      <a:latin typeface="Cambria Math" panose="02040503050406030204" pitchFamily="18" charset="0"/>
                                    </a:rPr>
                                    <m:t>𝑝</m:t>
                                  </m:r>
                                </m:den>
                              </m:f>
                            </m:oMath>
                          </a14:m>
                          <a:r>
                            <a:rPr lang="en-US" sz="2800" b="0" dirty="0"/>
                            <a:t> or (7/100)/(93/100) = 7/93, </a:t>
                          </a:r>
                        </a:p>
                      </a:txBody>
                      <a:tcPr>
                        <a:solidFill>
                          <a:srgbClr val="F6D0CC"/>
                        </a:solidFill>
                      </a:tcPr>
                    </a:tc>
                    <a:extLst>
                      <a:ext uri="{0D108BD9-81ED-4DB2-BD59-A6C34878D82A}">
                        <a16:rowId xmlns:a16="http://schemas.microsoft.com/office/drawing/2014/main" val="2257841623"/>
                      </a:ext>
                    </a:extLst>
                  </a:tr>
                </a:tbl>
              </a:graphicData>
            </a:graphic>
          </p:graphicFrame>
        </mc:Choice>
        <mc:Fallback xmlns="">
          <p:graphicFrame>
            <p:nvGraphicFramePr>
              <p:cNvPr id="3" name="Content Placeholder 5">
                <a:extLst>
                  <a:ext uri="{FF2B5EF4-FFF2-40B4-BE49-F238E27FC236}">
                    <a16:creationId xmlns:a16="http://schemas.microsoft.com/office/drawing/2014/main" id="{1E793AEF-40D8-A24B-31BB-EC81A88D05CF}"/>
                  </a:ext>
                </a:extLst>
              </p:cNvPr>
              <p:cNvGraphicFramePr>
                <a:graphicFrameLocks/>
              </p:cNvGraphicFramePr>
              <p:nvPr>
                <p:extLst>
                  <p:ext uri="{D42A27DB-BD31-4B8C-83A1-F6EECF244321}">
                    <p14:modId xmlns:p14="http://schemas.microsoft.com/office/powerpoint/2010/main" val="2292298651"/>
                  </p:ext>
                </p:extLst>
              </p:nvPr>
            </p:nvGraphicFramePr>
            <p:xfrm>
              <a:off x="379985" y="1319030"/>
              <a:ext cx="11222402" cy="1528554"/>
            </p:xfrm>
            <a:graphic>
              <a:graphicData uri="http://schemas.openxmlformats.org/drawingml/2006/table">
                <a:tbl>
                  <a:tblPr firstRow="1" bandRow="1">
                    <a:tableStyleId>{5C22544A-7EE6-4342-B048-85BDC9FD1C3A}</a:tableStyleId>
                  </a:tblPr>
                  <a:tblGrid>
                    <a:gridCol w="11222402">
                      <a:extLst>
                        <a:ext uri="{9D8B030D-6E8A-4147-A177-3AD203B41FA5}">
                          <a16:colId xmlns:a16="http://schemas.microsoft.com/office/drawing/2014/main" val="2806566759"/>
                        </a:ext>
                      </a:extLst>
                    </a:gridCol>
                  </a:tblGrid>
                  <a:tr h="544240">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2800" dirty="0"/>
                            <a:t>Definition</a:t>
                          </a:r>
                        </a:p>
                      </a:txBody>
                      <a:tcPr>
                        <a:solidFill>
                          <a:srgbClr val="E84E10"/>
                        </a:solidFill>
                      </a:tcPr>
                    </a:tc>
                    <a:extLst>
                      <a:ext uri="{0D108BD9-81ED-4DB2-BD59-A6C34878D82A}">
                        <a16:rowId xmlns:a16="http://schemas.microsoft.com/office/drawing/2014/main" val="4282699494"/>
                      </a:ext>
                    </a:extLst>
                  </a:tr>
                  <a:tr h="984314">
                    <a:tc>
                      <a:txBody>
                        <a:bodyPr/>
                        <a:lstStyle/>
                        <a:p>
                          <a:endParaRPr lang="en-US"/>
                        </a:p>
                      </a:txBody>
                      <a:tcPr>
                        <a:blipFill>
                          <a:blip r:embed="rId4"/>
                          <a:stretch>
                            <a:fillRect t="-91139" r="-226" b="-94937"/>
                          </a:stretch>
                        </a:blipFill>
                      </a:tcPr>
                    </a:tc>
                    <a:extLst>
                      <a:ext uri="{0D108BD9-81ED-4DB2-BD59-A6C34878D82A}">
                        <a16:rowId xmlns:a16="http://schemas.microsoft.com/office/drawing/2014/main" val="2257841623"/>
                      </a:ext>
                    </a:extLst>
                  </a:tr>
                </a:tbl>
              </a:graphicData>
            </a:graphic>
          </p:graphicFrame>
        </mc:Fallback>
      </mc:AlternateContent>
      <mc:AlternateContent xmlns:mc="http://schemas.openxmlformats.org/markup-compatibility/2006" xmlns:a14="http://schemas.microsoft.com/office/drawing/2010/main">
        <mc:Choice Requires="a14">
          <p:graphicFrame>
            <p:nvGraphicFramePr>
              <p:cNvPr id="4" name="Content Placeholder 5">
                <a:extLst>
                  <a:ext uri="{FF2B5EF4-FFF2-40B4-BE49-F238E27FC236}">
                    <a16:creationId xmlns:a16="http://schemas.microsoft.com/office/drawing/2014/main" id="{4E11D64C-FD97-4D59-DB0A-DCCDB4ED073F}"/>
                  </a:ext>
                </a:extLst>
              </p:cNvPr>
              <p:cNvGraphicFramePr>
                <a:graphicFrameLocks/>
              </p:cNvGraphicFramePr>
              <p:nvPr>
                <p:extLst>
                  <p:ext uri="{D42A27DB-BD31-4B8C-83A1-F6EECF244321}">
                    <p14:modId xmlns:p14="http://schemas.microsoft.com/office/powerpoint/2010/main" val="95429265"/>
                  </p:ext>
                </p:extLst>
              </p:nvPr>
            </p:nvGraphicFramePr>
            <p:xfrm>
              <a:off x="374074" y="3598114"/>
              <a:ext cx="11222402" cy="1879264"/>
            </p:xfrm>
            <a:graphic>
              <a:graphicData uri="http://schemas.openxmlformats.org/drawingml/2006/table">
                <a:tbl>
                  <a:tblPr firstRow="1" bandRow="1">
                    <a:tableStyleId>{5C22544A-7EE6-4342-B048-85BDC9FD1C3A}</a:tableStyleId>
                  </a:tblPr>
                  <a:tblGrid>
                    <a:gridCol w="11222402">
                      <a:extLst>
                        <a:ext uri="{9D8B030D-6E8A-4147-A177-3AD203B41FA5}">
                          <a16:colId xmlns:a16="http://schemas.microsoft.com/office/drawing/2014/main" val="2806566759"/>
                        </a:ext>
                      </a:extLst>
                    </a:gridCol>
                  </a:tblGrid>
                  <a:tr h="544240">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2800" dirty="0"/>
                            <a:t>Definition</a:t>
                          </a:r>
                        </a:p>
                      </a:txBody>
                      <a:tcPr>
                        <a:solidFill>
                          <a:srgbClr val="E84E10"/>
                        </a:solidFill>
                      </a:tcPr>
                    </a:tc>
                    <a:extLst>
                      <a:ext uri="{0D108BD9-81ED-4DB2-BD59-A6C34878D82A}">
                        <a16:rowId xmlns:a16="http://schemas.microsoft.com/office/drawing/2014/main" val="4282699494"/>
                      </a:ext>
                    </a:extLst>
                  </a:tr>
                  <a:tr h="574495">
                    <a:tc>
                      <a:txBody>
                        <a:bodyPr/>
                        <a:lstStyle/>
                        <a:p>
                          <a:r>
                            <a:rPr lang="en-US" sz="2800" b="1" dirty="0"/>
                            <a:t>Odds ratio: </a:t>
                          </a:r>
                          <a:r>
                            <a:rPr lang="en-US" sz="2800" b="0" dirty="0"/>
                            <a:t>Comparing two odds, like between bacon eaters and non-bacon eaters: </a:t>
                          </a:r>
                          <a14:m>
                            <m:oMath xmlns:m="http://schemas.openxmlformats.org/officeDocument/2006/math">
                              <m:f>
                                <m:fPr>
                                  <m:ctrlPr>
                                    <a:rPr lang="en-US" sz="2800" b="0" i="1" smtClean="0">
                                      <a:latin typeface="Cambria Math" panose="02040503050406030204" pitchFamily="18" charset="0"/>
                                    </a:rPr>
                                  </m:ctrlPr>
                                </m:fPr>
                                <m:num>
                                  <m:f>
                                    <m:fPr>
                                      <m:type m:val="skw"/>
                                      <m:ctrlPr>
                                        <a:rPr lang="en-US" sz="2800" b="0" i="1" smtClean="0">
                                          <a:latin typeface="Cambria Math" panose="02040503050406030204" pitchFamily="18" charset="0"/>
                                        </a:rPr>
                                      </m:ctrlPr>
                                    </m:fPr>
                                    <m:num>
                                      <m:r>
                                        <a:rPr lang="en-US" sz="2800" b="0" i="1" smtClean="0">
                                          <a:latin typeface="Cambria Math" panose="02040503050406030204" pitchFamily="18" charset="0"/>
                                        </a:rPr>
                                        <m:t>𝑝</m:t>
                                      </m:r>
                                    </m:num>
                                    <m:den>
                                      <m:r>
                                        <a:rPr lang="en-US" sz="2800" b="0" i="1" smtClean="0">
                                          <a:latin typeface="Cambria Math" panose="02040503050406030204" pitchFamily="18" charset="0"/>
                                        </a:rPr>
                                        <m:t>1−</m:t>
                                      </m:r>
                                      <m:r>
                                        <a:rPr lang="en-US" sz="2800" b="0" i="1" smtClean="0">
                                          <a:latin typeface="Cambria Math" panose="02040503050406030204" pitchFamily="18" charset="0"/>
                                        </a:rPr>
                                        <m:t>𝑝</m:t>
                                      </m:r>
                                    </m:den>
                                  </m:f>
                                </m:num>
                                <m:den>
                                  <m:f>
                                    <m:fPr>
                                      <m:type m:val="skw"/>
                                      <m:ctrlPr>
                                        <a:rPr lang="en-US" sz="2800" b="0" i="1" smtClean="0">
                                          <a:latin typeface="Cambria Math" panose="02040503050406030204" pitchFamily="18" charset="0"/>
                                        </a:rPr>
                                      </m:ctrlPr>
                                    </m:fPr>
                                    <m:num>
                                      <m:r>
                                        <a:rPr lang="en-US" sz="2800" b="0" i="1" smtClean="0">
                                          <a:latin typeface="Cambria Math" panose="02040503050406030204" pitchFamily="18" charset="0"/>
                                        </a:rPr>
                                        <m:t>𝑞</m:t>
                                      </m:r>
                                    </m:num>
                                    <m:den>
                                      <m:r>
                                        <a:rPr lang="en-US" sz="2800" b="0" i="1" smtClean="0">
                                          <a:latin typeface="Cambria Math" panose="02040503050406030204" pitchFamily="18" charset="0"/>
                                        </a:rPr>
                                        <m:t>1−</m:t>
                                      </m:r>
                                      <m:r>
                                        <a:rPr lang="en-US" sz="2800" b="0" i="1" smtClean="0">
                                          <a:latin typeface="Cambria Math" panose="02040503050406030204" pitchFamily="18" charset="0"/>
                                        </a:rPr>
                                        <m:t>𝑞</m:t>
                                      </m:r>
                                    </m:den>
                                  </m:f>
                                </m:den>
                              </m:f>
                            </m:oMath>
                          </a14:m>
                          <a:r>
                            <a:rPr lang="en-US" sz="2800" b="0" dirty="0"/>
                            <a:t>. </a:t>
                          </a:r>
                          <a:r>
                            <a:rPr lang="en-US" sz="2800" b="0" i="1" dirty="0"/>
                            <a:t>Q: When does</a:t>
                          </a:r>
                          <a:r>
                            <a:rPr lang="en-US" sz="2800" b="0" i="1" baseline="0" dirty="0"/>
                            <a:t> this differ from the relative risk?</a:t>
                          </a:r>
                          <a:endParaRPr lang="en-US" sz="2800" b="0" i="1" dirty="0"/>
                        </a:p>
                      </a:txBody>
                      <a:tcPr>
                        <a:solidFill>
                          <a:srgbClr val="F6D0CC"/>
                        </a:solidFill>
                      </a:tcPr>
                    </a:tc>
                    <a:extLst>
                      <a:ext uri="{0D108BD9-81ED-4DB2-BD59-A6C34878D82A}">
                        <a16:rowId xmlns:a16="http://schemas.microsoft.com/office/drawing/2014/main" val="2257841623"/>
                      </a:ext>
                    </a:extLst>
                  </a:tr>
                </a:tbl>
              </a:graphicData>
            </a:graphic>
          </p:graphicFrame>
        </mc:Choice>
        <mc:Fallback xmlns="">
          <p:graphicFrame>
            <p:nvGraphicFramePr>
              <p:cNvPr id="4" name="Content Placeholder 5">
                <a:extLst>
                  <a:ext uri="{FF2B5EF4-FFF2-40B4-BE49-F238E27FC236}">
                    <a16:creationId xmlns:a16="http://schemas.microsoft.com/office/drawing/2014/main" id="{4E11D64C-FD97-4D59-DB0A-DCCDB4ED073F}"/>
                  </a:ext>
                </a:extLst>
              </p:cNvPr>
              <p:cNvGraphicFramePr>
                <a:graphicFrameLocks/>
              </p:cNvGraphicFramePr>
              <p:nvPr>
                <p:extLst>
                  <p:ext uri="{D42A27DB-BD31-4B8C-83A1-F6EECF244321}">
                    <p14:modId xmlns:p14="http://schemas.microsoft.com/office/powerpoint/2010/main" val="95429265"/>
                  </p:ext>
                </p:extLst>
              </p:nvPr>
            </p:nvGraphicFramePr>
            <p:xfrm>
              <a:off x="374074" y="3598114"/>
              <a:ext cx="11222402" cy="1879264"/>
            </p:xfrm>
            <a:graphic>
              <a:graphicData uri="http://schemas.openxmlformats.org/drawingml/2006/table">
                <a:tbl>
                  <a:tblPr firstRow="1" bandRow="1">
                    <a:tableStyleId>{5C22544A-7EE6-4342-B048-85BDC9FD1C3A}</a:tableStyleId>
                  </a:tblPr>
                  <a:tblGrid>
                    <a:gridCol w="11222402">
                      <a:extLst>
                        <a:ext uri="{9D8B030D-6E8A-4147-A177-3AD203B41FA5}">
                          <a16:colId xmlns:a16="http://schemas.microsoft.com/office/drawing/2014/main" val="2806566759"/>
                        </a:ext>
                      </a:extLst>
                    </a:gridCol>
                  </a:tblGrid>
                  <a:tr h="544240">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2800" dirty="0"/>
                            <a:t>Definition</a:t>
                          </a:r>
                        </a:p>
                      </a:txBody>
                      <a:tcPr>
                        <a:solidFill>
                          <a:srgbClr val="E84E10"/>
                        </a:solidFill>
                      </a:tcPr>
                    </a:tc>
                    <a:extLst>
                      <a:ext uri="{0D108BD9-81ED-4DB2-BD59-A6C34878D82A}">
                        <a16:rowId xmlns:a16="http://schemas.microsoft.com/office/drawing/2014/main" val="4282699494"/>
                      </a:ext>
                    </a:extLst>
                  </a:tr>
                  <a:tr h="1335024">
                    <a:tc>
                      <a:txBody>
                        <a:bodyPr/>
                        <a:lstStyle/>
                        <a:p>
                          <a:endParaRPr lang="en-US"/>
                        </a:p>
                      </a:txBody>
                      <a:tcPr>
                        <a:blipFill>
                          <a:blip r:embed="rId5"/>
                          <a:stretch>
                            <a:fillRect l="-113" t="-45283" r="-226" b="-70755"/>
                          </a:stretch>
                        </a:blipFill>
                      </a:tcPr>
                    </a:tc>
                    <a:extLst>
                      <a:ext uri="{0D108BD9-81ED-4DB2-BD59-A6C34878D82A}">
                        <a16:rowId xmlns:a16="http://schemas.microsoft.com/office/drawing/2014/main" val="2257841623"/>
                      </a:ext>
                    </a:extLst>
                  </a:tr>
                </a:tbl>
              </a:graphicData>
            </a:graphic>
          </p:graphicFrame>
        </mc:Fallback>
      </mc:AlternateContent>
    </p:spTree>
    <p:extLst>
      <p:ext uri="{BB962C8B-B14F-4D97-AF65-F5344CB8AC3E}">
        <p14:creationId xmlns:p14="http://schemas.microsoft.com/office/powerpoint/2010/main" val="4310709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8D72D9-3998-93EA-4382-16F4F7ED6AB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9438A71-CDE4-F070-337A-E4AD8A38C391}"/>
              </a:ext>
            </a:extLst>
          </p:cNvPr>
          <p:cNvSpPr>
            <a:spLocks noGrp="1"/>
          </p:cNvSpPr>
          <p:nvPr>
            <p:ph type="title"/>
          </p:nvPr>
        </p:nvSpPr>
        <p:spPr/>
        <p:txBody>
          <a:bodyPr/>
          <a:lstStyle/>
          <a:p>
            <a:r>
              <a:rPr lang="en-US" dirty="0"/>
              <a:t>Contingency Table</a:t>
            </a:r>
          </a:p>
        </p:txBody>
      </p:sp>
      <p:graphicFrame>
        <p:nvGraphicFramePr>
          <p:cNvPr id="4" name="Table 3">
            <a:extLst>
              <a:ext uri="{FF2B5EF4-FFF2-40B4-BE49-F238E27FC236}">
                <a16:creationId xmlns:a16="http://schemas.microsoft.com/office/drawing/2014/main" id="{1B6C13A4-6D1D-0DDA-A6C0-DB3599486885}"/>
              </a:ext>
            </a:extLst>
          </p:cNvPr>
          <p:cNvGraphicFramePr>
            <a:graphicFrameLocks noGrp="1"/>
          </p:cNvGraphicFramePr>
          <p:nvPr/>
        </p:nvGraphicFramePr>
        <p:xfrm>
          <a:off x="996462" y="1170260"/>
          <a:ext cx="9751647" cy="1935196"/>
        </p:xfrm>
        <a:graphic>
          <a:graphicData uri="http://schemas.openxmlformats.org/drawingml/2006/table">
            <a:tbl>
              <a:tblPr firstRow="1" bandRow="1">
                <a:tableStyleId>{5C22544A-7EE6-4342-B048-85BDC9FD1C3A}</a:tableStyleId>
              </a:tblPr>
              <a:tblGrid>
                <a:gridCol w="1957754">
                  <a:extLst>
                    <a:ext uri="{9D8B030D-6E8A-4147-A177-3AD203B41FA5}">
                      <a16:colId xmlns:a16="http://schemas.microsoft.com/office/drawing/2014/main" val="1306621002"/>
                    </a:ext>
                  </a:extLst>
                </a:gridCol>
                <a:gridCol w="2942492">
                  <a:extLst>
                    <a:ext uri="{9D8B030D-6E8A-4147-A177-3AD203B41FA5}">
                      <a16:colId xmlns:a16="http://schemas.microsoft.com/office/drawing/2014/main" val="2507932481"/>
                    </a:ext>
                  </a:extLst>
                </a:gridCol>
                <a:gridCol w="3215259">
                  <a:extLst>
                    <a:ext uri="{9D8B030D-6E8A-4147-A177-3AD203B41FA5}">
                      <a16:colId xmlns:a16="http://schemas.microsoft.com/office/drawing/2014/main" val="441123414"/>
                    </a:ext>
                  </a:extLst>
                </a:gridCol>
                <a:gridCol w="1636142">
                  <a:extLst>
                    <a:ext uri="{9D8B030D-6E8A-4147-A177-3AD203B41FA5}">
                      <a16:colId xmlns:a16="http://schemas.microsoft.com/office/drawing/2014/main" val="1770883194"/>
                    </a:ext>
                  </a:extLst>
                </a:gridCol>
              </a:tblGrid>
              <a:tr h="822218">
                <a:tc>
                  <a:txBody>
                    <a:bodyPr/>
                    <a:lstStyle/>
                    <a:p>
                      <a:pPr algn="ctr"/>
                      <a:endParaRPr lang="en-US" dirty="0"/>
                    </a:p>
                  </a:txBody>
                  <a:tcPr anchor="ctr"/>
                </a:tc>
                <a:tc>
                  <a:txBody>
                    <a:bodyPr/>
                    <a:lstStyle/>
                    <a:p>
                      <a:pPr algn="ctr"/>
                      <a:r>
                        <a:rPr lang="en-US" dirty="0"/>
                        <a:t>Cancer</a:t>
                      </a:r>
                    </a:p>
                  </a:txBody>
                  <a:tcPr anchor="ctr"/>
                </a:tc>
                <a:tc>
                  <a:txBody>
                    <a:bodyPr/>
                    <a:lstStyle/>
                    <a:p>
                      <a:pPr algn="ctr"/>
                      <a:r>
                        <a:rPr lang="en-US" dirty="0"/>
                        <a:t>No Cancer</a:t>
                      </a:r>
                    </a:p>
                  </a:txBody>
                  <a:tcPr anchor="ctr"/>
                </a:tc>
                <a:tc>
                  <a:txBody>
                    <a:bodyPr/>
                    <a:lstStyle/>
                    <a:p>
                      <a:pPr algn="ctr"/>
                      <a:endParaRPr lang="en-US" dirty="0"/>
                    </a:p>
                  </a:txBody>
                  <a:tcPr anchor="ctr"/>
                </a:tc>
                <a:extLst>
                  <a:ext uri="{0D108BD9-81ED-4DB2-BD59-A6C34878D82A}">
                    <a16:rowId xmlns:a16="http://schemas.microsoft.com/office/drawing/2014/main" val="1404430268"/>
                  </a:ext>
                </a:extLst>
              </a:tr>
              <a:tr h="1112978">
                <a:tc>
                  <a:txBody>
                    <a:bodyPr/>
                    <a:lstStyle/>
                    <a:p>
                      <a:pPr algn="ctr"/>
                      <a:r>
                        <a:rPr lang="en-US" b="1" dirty="0"/>
                        <a:t>No Red Meat</a:t>
                      </a:r>
                    </a:p>
                  </a:txBody>
                  <a:tcPr anchor="ctr"/>
                </a:tc>
                <a:tc>
                  <a:txBody>
                    <a:bodyPr/>
                    <a:lstStyle/>
                    <a:p>
                      <a:pPr algn="ctr"/>
                      <a:r>
                        <a:rPr lang="en-US" b="1" dirty="0"/>
                        <a:t>6</a:t>
                      </a:r>
                    </a:p>
                  </a:txBody>
                  <a:tcPr anchor="ctr"/>
                </a:tc>
                <a:tc>
                  <a:txBody>
                    <a:bodyPr/>
                    <a:lstStyle/>
                    <a:p>
                      <a:pPr algn="ctr"/>
                      <a:r>
                        <a:rPr lang="en-US" b="1" dirty="0"/>
                        <a:t>94</a:t>
                      </a:r>
                    </a:p>
                  </a:txBody>
                  <a:tcPr anchor="ctr"/>
                </a:tc>
                <a:tc>
                  <a:txBody>
                    <a:bodyPr/>
                    <a:lstStyle/>
                    <a:p>
                      <a:pPr algn="ctr"/>
                      <a:r>
                        <a:rPr lang="en-US" b="1" dirty="0"/>
                        <a:t>100</a:t>
                      </a:r>
                    </a:p>
                  </a:txBody>
                  <a:tcPr anchor="ctr"/>
                </a:tc>
                <a:extLst>
                  <a:ext uri="{0D108BD9-81ED-4DB2-BD59-A6C34878D82A}">
                    <a16:rowId xmlns:a16="http://schemas.microsoft.com/office/drawing/2014/main" val="3403750188"/>
                  </a:ext>
                </a:extLst>
              </a:tr>
            </a:tbl>
          </a:graphicData>
        </a:graphic>
      </p:graphicFrame>
      <p:sp>
        <p:nvSpPr>
          <p:cNvPr id="3" name="Content Placeholder 2">
            <a:extLst>
              <a:ext uri="{FF2B5EF4-FFF2-40B4-BE49-F238E27FC236}">
                <a16:creationId xmlns:a16="http://schemas.microsoft.com/office/drawing/2014/main" id="{D7CC02D9-BFD4-3BDE-DAD4-6E8B719D3C3D}"/>
              </a:ext>
            </a:extLst>
          </p:cNvPr>
          <p:cNvSpPr>
            <a:spLocks noGrp="1"/>
          </p:cNvSpPr>
          <p:nvPr>
            <p:ph idx="1"/>
          </p:nvPr>
        </p:nvSpPr>
        <p:spPr>
          <a:xfrm>
            <a:off x="480001" y="3282462"/>
            <a:ext cx="11102399" cy="2458687"/>
          </a:xfrm>
        </p:spPr>
        <p:txBody>
          <a:bodyPr/>
          <a:lstStyle/>
          <a:p>
            <a:r>
              <a:rPr lang="en-US" sz="3200" dirty="0"/>
              <a:t>Odds are (6/100)/(94/100) = 0.064 i.e. </a:t>
            </a:r>
            <a:r>
              <a:rPr lang="en-US" sz="3200" i="1" dirty="0"/>
              <a:t>a ratio of expected frequencies</a:t>
            </a:r>
            <a:r>
              <a:rPr lang="en-US" sz="3200" dirty="0"/>
              <a:t>.</a:t>
            </a:r>
          </a:p>
          <a:p>
            <a:r>
              <a:rPr lang="en-US" sz="3200" dirty="0"/>
              <a:t>If we pretend that Cancer is Heads and No Cancer is Tails, we are checking how often we get cancer with the odds. </a:t>
            </a:r>
          </a:p>
          <a:p>
            <a:r>
              <a:rPr lang="en-US" sz="3200" dirty="0"/>
              <a:t>We’re unlikely to get heads (cancer) because of 6% expected frequency.</a:t>
            </a:r>
          </a:p>
        </p:txBody>
      </p:sp>
    </p:spTree>
    <p:extLst>
      <p:ext uri="{BB962C8B-B14F-4D97-AF65-F5344CB8AC3E}">
        <p14:creationId xmlns:p14="http://schemas.microsoft.com/office/powerpoint/2010/main" val="3685705124"/>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B98165-8FF3-DB66-E46D-0C821A3FE86F}"/>
              </a:ext>
            </a:extLst>
          </p:cNvPr>
          <p:cNvSpPr>
            <a:spLocks noGrp="1"/>
          </p:cNvSpPr>
          <p:nvPr>
            <p:ph type="title"/>
          </p:nvPr>
        </p:nvSpPr>
        <p:spPr/>
        <p:txBody>
          <a:bodyPr/>
          <a:lstStyle/>
          <a:p>
            <a:r>
              <a:rPr lang="en-US" dirty="0"/>
              <a:t>Contingency Table</a:t>
            </a:r>
          </a:p>
        </p:txBody>
      </p:sp>
      <p:graphicFrame>
        <p:nvGraphicFramePr>
          <p:cNvPr id="4" name="Table 3">
            <a:extLst>
              <a:ext uri="{FF2B5EF4-FFF2-40B4-BE49-F238E27FC236}">
                <a16:creationId xmlns:a16="http://schemas.microsoft.com/office/drawing/2014/main" id="{F36592E3-DC21-93D2-5EA9-89720FF192DE}"/>
              </a:ext>
            </a:extLst>
          </p:cNvPr>
          <p:cNvGraphicFramePr>
            <a:graphicFrameLocks noGrp="1"/>
          </p:cNvGraphicFramePr>
          <p:nvPr/>
        </p:nvGraphicFramePr>
        <p:xfrm>
          <a:off x="1019908" y="1623295"/>
          <a:ext cx="9751647" cy="3476244"/>
        </p:xfrm>
        <a:graphic>
          <a:graphicData uri="http://schemas.openxmlformats.org/drawingml/2006/table">
            <a:tbl>
              <a:tblPr firstRow="1" bandRow="1">
                <a:tableStyleId>{5C22544A-7EE6-4342-B048-85BDC9FD1C3A}</a:tableStyleId>
              </a:tblPr>
              <a:tblGrid>
                <a:gridCol w="1957754">
                  <a:extLst>
                    <a:ext uri="{9D8B030D-6E8A-4147-A177-3AD203B41FA5}">
                      <a16:colId xmlns:a16="http://schemas.microsoft.com/office/drawing/2014/main" val="1306621002"/>
                    </a:ext>
                  </a:extLst>
                </a:gridCol>
                <a:gridCol w="2942492">
                  <a:extLst>
                    <a:ext uri="{9D8B030D-6E8A-4147-A177-3AD203B41FA5}">
                      <a16:colId xmlns:a16="http://schemas.microsoft.com/office/drawing/2014/main" val="2507932481"/>
                    </a:ext>
                  </a:extLst>
                </a:gridCol>
                <a:gridCol w="3215259">
                  <a:extLst>
                    <a:ext uri="{9D8B030D-6E8A-4147-A177-3AD203B41FA5}">
                      <a16:colId xmlns:a16="http://schemas.microsoft.com/office/drawing/2014/main" val="441123414"/>
                    </a:ext>
                  </a:extLst>
                </a:gridCol>
                <a:gridCol w="1636142">
                  <a:extLst>
                    <a:ext uri="{9D8B030D-6E8A-4147-A177-3AD203B41FA5}">
                      <a16:colId xmlns:a16="http://schemas.microsoft.com/office/drawing/2014/main" val="1770883194"/>
                    </a:ext>
                  </a:extLst>
                </a:gridCol>
              </a:tblGrid>
              <a:tr h="822218">
                <a:tc>
                  <a:txBody>
                    <a:bodyPr/>
                    <a:lstStyle/>
                    <a:p>
                      <a:pPr algn="ctr"/>
                      <a:endParaRPr lang="en-US" dirty="0"/>
                    </a:p>
                  </a:txBody>
                  <a:tcPr anchor="ctr"/>
                </a:tc>
                <a:tc>
                  <a:txBody>
                    <a:bodyPr/>
                    <a:lstStyle/>
                    <a:p>
                      <a:pPr algn="ctr"/>
                      <a:r>
                        <a:rPr lang="en-US" dirty="0"/>
                        <a:t>Cancer</a:t>
                      </a:r>
                    </a:p>
                  </a:txBody>
                  <a:tcPr anchor="ctr"/>
                </a:tc>
                <a:tc>
                  <a:txBody>
                    <a:bodyPr/>
                    <a:lstStyle/>
                    <a:p>
                      <a:pPr algn="ctr"/>
                      <a:r>
                        <a:rPr lang="en-US" dirty="0"/>
                        <a:t>No Cancer</a:t>
                      </a:r>
                    </a:p>
                  </a:txBody>
                  <a:tcPr anchor="ctr"/>
                </a:tc>
                <a:tc>
                  <a:txBody>
                    <a:bodyPr/>
                    <a:lstStyle/>
                    <a:p>
                      <a:pPr algn="ctr"/>
                      <a:endParaRPr lang="en-US" dirty="0"/>
                    </a:p>
                  </a:txBody>
                  <a:tcPr anchor="ctr"/>
                </a:tc>
                <a:extLst>
                  <a:ext uri="{0D108BD9-81ED-4DB2-BD59-A6C34878D82A}">
                    <a16:rowId xmlns:a16="http://schemas.microsoft.com/office/drawing/2014/main" val="1404430268"/>
                  </a:ext>
                </a:extLst>
              </a:tr>
              <a:tr h="1112978">
                <a:tc>
                  <a:txBody>
                    <a:bodyPr/>
                    <a:lstStyle/>
                    <a:p>
                      <a:pPr algn="ctr"/>
                      <a:r>
                        <a:rPr lang="en-US" b="1" dirty="0"/>
                        <a:t>Red Meat</a:t>
                      </a:r>
                    </a:p>
                  </a:txBody>
                  <a:tcPr anchor="ctr"/>
                </a:tc>
                <a:tc>
                  <a:txBody>
                    <a:bodyPr/>
                    <a:lstStyle/>
                    <a:p>
                      <a:pPr algn="ctr"/>
                      <a:r>
                        <a:rPr lang="en-US" b="1" dirty="0"/>
                        <a:t>7</a:t>
                      </a:r>
                    </a:p>
                  </a:txBody>
                  <a:tcPr anchor="ctr"/>
                </a:tc>
                <a:tc>
                  <a:txBody>
                    <a:bodyPr/>
                    <a:lstStyle/>
                    <a:p>
                      <a:pPr algn="ctr"/>
                      <a:r>
                        <a:rPr lang="en-US" b="1" dirty="0"/>
                        <a:t>93</a:t>
                      </a:r>
                    </a:p>
                  </a:txBody>
                  <a:tcPr anchor="ctr"/>
                </a:tc>
                <a:tc>
                  <a:txBody>
                    <a:bodyPr/>
                    <a:lstStyle/>
                    <a:p>
                      <a:pPr algn="ctr"/>
                      <a:r>
                        <a:rPr lang="en-US" b="1" dirty="0"/>
                        <a:t>100</a:t>
                      </a:r>
                    </a:p>
                  </a:txBody>
                  <a:tcPr anchor="ctr"/>
                </a:tc>
                <a:extLst>
                  <a:ext uri="{0D108BD9-81ED-4DB2-BD59-A6C34878D82A}">
                    <a16:rowId xmlns:a16="http://schemas.microsoft.com/office/drawing/2014/main" val="3403750188"/>
                  </a:ext>
                </a:extLst>
              </a:tr>
              <a:tr h="770524">
                <a:tc>
                  <a:txBody>
                    <a:bodyPr/>
                    <a:lstStyle/>
                    <a:p>
                      <a:pPr algn="ctr"/>
                      <a:r>
                        <a:rPr lang="en-US" b="1" dirty="0"/>
                        <a:t>No Red Meat</a:t>
                      </a:r>
                    </a:p>
                  </a:txBody>
                  <a:tcPr anchor="ctr"/>
                </a:tc>
                <a:tc>
                  <a:txBody>
                    <a:bodyPr/>
                    <a:lstStyle/>
                    <a:p>
                      <a:pPr marL="0" marR="0" lvl="0" indent="0" algn="ctr" defTabSz="609585" rtl="0" eaLnBrk="1" fontAlgn="auto" latinLnBrk="0" hangingPunct="1">
                        <a:lnSpc>
                          <a:spcPct val="100000"/>
                        </a:lnSpc>
                        <a:spcBef>
                          <a:spcPts val="0"/>
                        </a:spcBef>
                        <a:spcAft>
                          <a:spcPts val="0"/>
                        </a:spcAft>
                        <a:buClrTx/>
                        <a:buSzTx/>
                        <a:buFontTx/>
                        <a:buNone/>
                        <a:tabLst/>
                        <a:defRPr/>
                      </a:pPr>
                      <a:r>
                        <a:rPr lang="en-US" b="1" dirty="0"/>
                        <a:t>6</a:t>
                      </a:r>
                    </a:p>
                  </a:txBody>
                  <a:tcPr anchor="ctr"/>
                </a:tc>
                <a:tc>
                  <a:txBody>
                    <a:bodyPr/>
                    <a:lstStyle/>
                    <a:p>
                      <a:pPr algn="ctr"/>
                      <a:r>
                        <a:rPr lang="en-US" b="1" dirty="0"/>
                        <a:t>94</a:t>
                      </a:r>
                    </a:p>
                  </a:txBody>
                  <a:tcPr anchor="ctr"/>
                </a:tc>
                <a:tc>
                  <a:txBody>
                    <a:bodyPr/>
                    <a:lstStyle/>
                    <a:p>
                      <a:pPr algn="ctr"/>
                      <a:r>
                        <a:rPr lang="en-US" b="1" dirty="0"/>
                        <a:t>100</a:t>
                      </a:r>
                    </a:p>
                  </a:txBody>
                  <a:tcPr anchor="ctr"/>
                </a:tc>
                <a:extLst>
                  <a:ext uri="{0D108BD9-81ED-4DB2-BD59-A6C34878D82A}">
                    <a16:rowId xmlns:a16="http://schemas.microsoft.com/office/drawing/2014/main" val="924886996"/>
                  </a:ext>
                </a:extLst>
              </a:tr>
              <a:tr h="770524">
                <a:tc>
                  <a:txBody>
                    <a:bodyPr/>
                    <a:lstStyle/>
                    <a:p>
                      <a:pPr algn="ctr"/>
                      <a:endParaRPr lang="en-US" b="1" dirty="0"/>
                    </a:p>
                  </a:txBody>
                  <a:tcPr anchor="ctr"/>
                </a:tc>
                <a:tc>
                  <a:txBody>
                    <a:bodyPr/>
                    <a:lstStyle/>
                    <a:p>
                      <a:pPr marL="0" marR="0" lvl="0" indent="0" algn="ctr" defTabSz="609585" rtl="0" eaLnBrk="1" fontAlgn="auto" latinLnBrk="0" hangingPunct="1">
                        <a:lnSpc>
                          <a:spcPct val="100000"/>
                        </a:lnSpc>
                        <a:spcBef>
                          <a:spcPts val="0"/>
                        </a:spcBef>
                        <a:spcAft>
                          <a:spcPts val="0"/>
                        </a:spcAft>
                        <a:buClrTx/>
                        <a:buSzTx/>
                        <a:buFontTx/>
                        <a:buNone/>
                        <a:tabLst/>
                        <a:defRPr/>
                      </a:pPr>
                      <a:r>
                        <a:rPr lang="en-US" b="1" dirty="0"/>
                        <a:t>13</a:t>
                      </a:r>
                    </a:p>
                  </a:txBody>
                  <a:tcPr anchor="ctr"/>
                </a:tc>
                <a:tc>
                  <a:txBody>
                    <a:bodyPr/>
                    <a:lstStyle/>
                    <a:p>
                      <a:pPr algn="ctr"/>
                      <a:r>
                        <a:rPr lang="en-US" b="1" dirty="0"/>
                        <a:t>187</a:t>
                      </a:r>
                    </a:p>
                  </a:txBody>
                  <a:tcPr anchor="ctr"/>
                </a:tc>
                <a:tc>
                  <a:txBody>
                    <a:bodyPr/>
                    <a:lstStyle/>
                    <a:p>
                      <a:pPr algn="ctr"/>
                      <a:r>
                        <a:rPr lang="en-US" b="1" dirty="0"/>
                        <a:t>200</a:t>
                      </a:r>
                    </a:p>
                  </a:txBody>
                  <a:tcPr anchor="ctr"/>
                </a:tc>
                <a:extLst>
                  <a:ext uri="{0D108BD9-81ED-4DB2-BD59-A6C34878D82A}">
                    <a16:rowId xmlns:a16="http://schemas.microsoft.com/office/drawing/2014/main" val="1583245807"/>
                  </a:ext>
                </a:extLst>
              </a:tr>
            </a:tbl>
          </a:graphicData>
        </a:graphic>
      </p:graphicFrame>
      <p:sp>
        <p:nvSpPr>
          <p:cNvPr id="5" name="Content Placeholder 2">
            <a:extLst>
              <a:ext uri="{FF2B5EF4-FFF2-40B4-BE49-F238E27FC236}">
                <a16:creationId xmlns:a16="http://schemas.microsoft.com/office/drawing/2014/main" id="{1B3EBA82-0806-8E29-9DA6-D874B5F635F0}"/>
              </a:ext>
            </a:extLst>
          </p:cNvPr>
          <p:cNvSpPr>
            <a:spLocks noGrp="1"/>
          </p:cNvSpPr>
          <p:nvPr>
            <p:ph idx="1"/>
          </p:nvPr>
        </p:nvSpPr>
        <p:spPr>
          <a:xfrm>
            <a:off x="480001" y="5174574"/>
            <a:ext cx="11102399" cy="756000"/>
          </a:xfrm>
        </p:spPr>
        <p:txBody>
          <a:bodyPr/>
          <a:lstStyle/>
          <a:p>
            <a:r>
              <a:rPr lang="en-US" sz="3600" dirty="0"/>
              <a:t>Odds ratios tell us about how expected frequencies across one variable change due to a second variable.  </a:t>
            </a:r>
          </a:p>
        </p:txBody>
      </p:sp>
    </p:spTree>
    <p:extLst>
      <p:ext uri="{BB962C8B-B14F-4D97-AF65-F5344CB8AC3E}">
        <p14:creationId xmlns:p14="http://schemas.microsoft.com/office/powerpoint/2010/main" val="2621995628"/>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EAA0FC-DC7C-1E14-6392-C1B76297BFE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711AB15-88E5-49D9-C0D4-00B890011602}"/>
              </a:ext>
            </a:extLst>
          </p:cNvPr>
          <p:cNvSpPr>
            <a:spLocks noGrp="1"/>
          </p:cNvSpPr>
          <p:nvPr>
            <p:ph type="title"/>
          </p:nvPr>
        </p:nvSpPr>
        <p:spPr/>
        <p:txBody>
          <a:bodyPr/>
          <a:lstStyle/>
          <a:p>
            <a:r>
              <a:rPr lang="en-US" dirty="0"/>
              <a:t>Contingency Table</a:t>
            </a:r>
          </a:p>
        </p:txBody>
      </p:sp>
      <p:graphicFrame>
        <p:nvGraphicFramePr>
          <p:cNvPr id="4" name="Table 3">
            <a:extLst>
              <a:ext uri="{FF2B5EF4-FFF2-40B4-BE49-F238E27FC236}">
                <a16:creationId xmlns:a16="http://schemas.microsoft.com/office/drawing/2014/main" id="{81845D3C-784F-E787-AF4F-B8763BE4A895}"/>
              </a:ext>
            </a:extLst>
          </p:cNvPr>
          <p:cNvGraphicFramePr>
            <a:graphicFrameLocks noGrp="1"/>
          </p:cNvGraphicFramePr>
          <p:nvPr/>
        </p:nvGraphicFramePr>
        <p:xfrm>
          <a:off x="1019908" y="1623295"/>
          <a:ext cx="9751647" cy="3476244"/>
        </p:xfrm>
        <a:graphic>
          <a:graphicData uri="http://schemas.openxmlformats.org/drawingml/2006/table">
            <a:tbl>
              <a:tblPr firstRow="1" bandRow="1">
                <a:tableStyleId>{5C22544A-7EE6-4342-B048-85BDC9FD1C3A}</a:tableStyleId>
              </a:tblPr>
              <a:tblGrid>
                <a:gridCol w="1957754">
                  <a:extLst>
                    <a:ext uri="{9D8B030D-6E8A-4147-A177-3AD203B41FA5}">
                      <a16:colId xmlns:a16="http://schemas.microsoft.com/office/drawing/2014/main" val="1306621002"/>
                    </a:ext>
                  </a:extLst>
                </a:gridCol>
                <a:gridCol w="2942492">
                  <a:extLst>
                    <a:ext uri="{9D8B030D-6E8A-4147-A177-3AD203B41FA5}">
                      <a16:colId xmlns:a16="http://schemas.microsoft.com/office/drawing/2014/main" val="2507932481"/>
                    </a:ext>
                  </a:extLst>
                </a:gridCol>
                <a:gridCol w="3215259">
                  <a:extLst>
                    <a:ext uri="{9D8B030D-6E8A-4147-A177-3AD203B41FA5}">
                      <a16:colId xmlns:a16="http://schemas.microsoft.com/office/drawing/2014/main" val="441123414"/>
                    </a:ext>
                  </a:extLst>
                </a:gridCol>
                <a:gridCol w="1636142">
                  <a:extLst>
                    <a:ext uri="{9D8B030D-6E8A-4147-A177-3AD203B41FA5}">
                      <a16:colId xmlns:a16="http://schemas.microsoft.com/office/drawing/2014/main" val="1770883194"/>
                    </a:ext>
                  </a:extLst>
                </a:gridCol>
              </a:tblGrid>
              <a:tr h="822218">
                <a:tc>
                  <a:txBody>
                    <a:bodyPr/>
                    <a:lstStyle/>
                    <a:p>
                      <a:pPr algn="ctr"/>
                      <a:endParaRPr lang="en-US" dirty="0"/>
                    </a:p>
                  </a:txBody>
                  <a:tcPr anchor="ctr"/>
                </a:tc>
                <a:tc>
                  <a:txBody>
                    <a:bodyPr/>
                    <a:lstStyle/>
                    <a:p>
                      <a:pPr algn="ctr"/>
                      <a:r>
                        <a:rPr lang="en-US" dirty="0"/>
                        <a:t>Cancer</a:t>
                      </a:r>
                    </a:p>
                  </a:txBody>
                  <a:tcPr anchor="ctr"/>
                </a:tc>
                <a:tc>
                  <a:txBody>
                    <a:bodyPr/>
                    <a:lstStyle/>
                    <a:p>
                      <a:pPr algn="ctr"/>
                      <a:r>
                        <a:rPr lang="en-US" dirty="0"/>
                        <a:t>No Cancer</a:t>
                      </a:r>
                    </a:p>
                  </a:txBody>
                  <a:tcPr anchor="ctr"/>
                </a:tc>
                <a:tc>
                  <a:txBody>
                    <a:bodyPr/>
                    <a:lstStyle/>
                    <a:p>
                      <a:pPr algn="ctr"/>
                      <a:endParaRPr lang="en-US" dirty="0"/>
                    </a:p>
                  </a:txBody>
                  <a:tcPr anchor="ctr"/>
                </a:tc>
                <a:extLst>
                  <a:ext uri="{0D108BD9-81ED-4DB2-BD59-A6C34878D82A}">
                    <a16:rowId xmlns:a16="http://schemas.microsoft.com/office/drawing/2014/main" val="1404430268"/>
                  </a:ext>
                </a:extLst>
              </a:tr>
              <a:tr h="1112978">
                <a:tc>
                  <a:txBody>
                    <a:bodyPr/>
                    <a:lstStyle/>
                    <a:p>
                      <a:pPr algn="ctr"/>
                      <a:r>
                        <a:rPr lang="en-US" b="1" dirty="0"/>
                        <a:t>Red Meat</a:t>
                      </a:r>
                    </a:p>
                  </a:txBody>
                  <a:tcPr anchor="ctr"/>
                </a:tc>
                <a:tc>
                  <a:txBody>
                    <a:bodyPr/>
                    <a:lstStyle/>
                    <a:p>
                      <a:pPr algn="ctr"/>
                      <a:r>
                        <a:rPr lang="en-US" b="1" dirty="0"/>
                        <a:t>7</a:t>
                      </a:r>
                    </a:p>
                  </a:txBody>
                  <a:tcPr anchor="ctr"/>
                </a:tc>
                <a:tc>
                  <a:txBody>
                    <a:bodyPr/>
                    <a:lstStyle/>
                    <a:p>
                      <a:pPr algn="ctr"/>
                      <a:r>
                        <a:rPr lang="en-US" b="1" dirty="0"/>
                        <a:t>93</a:t>
                      </a:r>
                    </a:p>
                  </a:txBody>
                  <a:tcPr anchor="ctr"/>
                </a:tc>
                <a:tc>
                  <a:txBody>
                    <a:bodyPr/>
                    <a:lstStyle/>
                    <a:p>
                      <a:pPr algn="ctr"/>
                      <a:r>
                        <a:rPr lang="en-US" b="1" dirty="0"/>
                        <a:t>100</a:t>
                      </a:r>
                    </a:p>
                  </a:txBody>
                  <a:tcPr anchor="ctr"/>
                </a:tc>
                <a:extLst>
                  <a:ext uri="{0D108BD9-81ED-4DB2-BD59-A6C34878D82A}">
                    <a16:rowId xmlns:a16="http://schemas.microsoft.com/office/drawing/2014/main" val="3403750188"/>
                  </a:ext>
                </a:extLst>
              </a:tr>
              <a:tr h="770524">
                <a:tc>
                  <a:txBody>
                    <a:bodyPr/>
                    <a:lstStyle/>
                    <a:p>
                      <a:pPr algn="ctr"/>
                      <a:r>
                        <a:rPr lang="en-US" b="1" dirty="0"/>
                        <a:t>No Red Meat</a:t>
                      </a:r>
                    </a:p>
                  </a:txBody>
                  <a:tcPr anchor="ctr"/>
                </a:tc>
                <a:tc>
                  <a:txBody>
                    <a:bodyPr/>
                    <a:lstStyle/>
                    <a:p>
                      <a:pPr marL="0" marR="0" lvl="0" indent="0" algn="ctr" defTabSz="609585" rtl="0" eaLnBrk="1" fontAlgn="auto" latinLnBrk="0" hangingPunct="1">
                        <a:lnSpc>
                          <a:spcPct val="100000"/>
                        </a:lnSpc>
                        <a:spcBef>
                          <a:spcPts val="0"/>
                        </a:spcBef>
                        <a:spcAft>
                          <a:spcPts val="0"/>
                        </a:spcAft>
                        <a:buClrTx/>
                        <a:buSzTx/>
                        <a:buFontTx/>
                        <a:buNone/>
                        <a:tabLst/>
                        <a:defRPr/>
                      </a:pPr>
                      <a:r>
                        <a:rPr lang="en-US" b="1" dirty="0"/>
                        <a:t>6</a:t>
                      </a:r>
                    </a:p>
                  </a:txBody>
                  <a:tcPr anchor="ctr"/>
                </a:tc>
                <a:tc>
                  <a:txBody>
                    <a:bodyPr/>
                    <a:lstStyle/>
                    <a:p>
                      <a:pPr algn="ctr"/>
                      <a:r>
                        <a:rPr lang="en-US" b="1" dirty="0"/>
                        <a:t>94</a:t>
                      </a:r>
                    </a:p>
                  </a:txBody>
                  <a:tcPr anchor="ctr"/>
                </a:tc>
                <a:tc>
                  <a:txBody>
                    <a:bodyPr/>
                    <a:lstStyle/>
                    <a:p>
                      <a:pPr algn="ctr"/>
                      <a:r>
                        <a:rPr lang="en-US" b="1" dirty="0"/>
                        <a:t>100</a:t>
                      </a:r>
                    </a:p>
                  </a:txBody>
                  <a:tcPr anchor="ctr"/>
                </a:tc>
                <a:extLst>
                  <a:ext uri="{0D108BD9-81ED-4DB2-BD59-A6C34878D82A}">
                    <a16:rowId xmlns:a16="http://schemas.microsoft.com/office/drawing/2014/main" val="924886996"/>
                  </a:ext>
                </a:extLst>
              </a:tr>
              <a:tr h="770524">
                <a:tc>
                  <a:txBody>
                    <a:bodyPr/>
                    <a:lstStyle/>
                    <a:p>
                      <a:pPr algn="ctr"/>
                      <a:endParaRPr lang="en-US" b="1" dirty="0"/>
                    </a:p>
                  </a:txBody>
                  <a:tcPr anchor="ctr"/>
                </a:tc>
                <a:tc>
                  <a:txBody>
                    <a:bodyPr/>
                    <a:lstStyle/>
                    <a:p>
                      <a:pPr marL="0" marR="0" lvl="0" indent="0" algn="ctr" defTabSz="609585" rtl="0" eaLnBrk="1" fontAlgn="auto" latinLnBrk="0" hangingPunct="1">
                        <a:lnSpc>
                          <a:spcPct val="100000"/>
                        </a:lnSpc>
                        <a:spcBef>
                          <a:spcPts val="0"/>
                        </a:spcBef>
                        <a:spcAft>
                          <a:spcPts val="0"/>
                        </a:spcAft>
                        <a:buClrTx/>
                        <a:buSzTx/>
                        <a:buFontTx/>
                        <a:buNone/>
                        <a:tabLst/>
                        <a:defRPr/>
                      </a:pPr>
                      <a:r>
                        <a:rPr lang="en-US" b="1" dirty="0"/>
                        <a:t>13</a:t>
                      </a:r>
                    </a:p>
                  </a:txBody>
                  <a:tcPr anchor="ctr"/>
                </a:tc>
                <a:tc>
                  <a:txBody>
                    <a:bodyPr/>
                    <a:lstStyle/>
                    <a:p>
                      <a:pPr algn="ctr"/>
                      <a:r>
                        <a:rPr lang="en-US" b="1" dirty="0"/>
                        <a:t>187</a:t>
                      </a:r>
                    </a:p>
                  </a:txBody>
                  <a:tcPr anchor="ctr"/>
                </a:tc>
                <a:tc>
                  <a:txBody>
                    <a:bodyPr/>
                    <a:lstStyle/>
                    <a:p>
                      <a:pPr algn="ctr"/>
                      <a:r>
                        <a:rPr lang="en-US" b="1" dirty="0"/>
                        <a:t>200</a:t>
                      </a:r>
                    </a:p>
                  </a:txBody>
                  <a:tcPr anchor="ctr"/>
                </a:tc>
                <a:extLst>
                  <a:ext uri="{0D108BD9-81ED-4DB2-BD59-A6C34878D82A}">
                    <a16:rowId xmlns:a16="http://schemas.microsoft.com/office/drawing/2014/main" val="1583245807"/>
                  </a:ext>
                </a:extLst>
              </a:tr>
            </a:tbl>
          </a:graphicData>
        </a:graphic>
      </p:graphicFrame>
      <p:sp>
        <p:nvSpPr>
          <p:cNvPr id="5" name="Content Placeholder 2">
            <a:extLst>
              <a:ext uri="{FF2B5EF4-FFF2-40B4-BE49-F238E27FC236}">
                <a16:creationId xmlns:a16="http://schemas.microsoft.com/office/drawing/2014/main" id="{B92F0586-D194-34BB-5D43-1D9C2130E385}"/>
              </a:ext>
            </a:extLst>
          </p:cNvPr>
          <p:cNvSpPr>
            <a:spLocks noGrp="1"/>
          </p:cNvSpPr>
          <p:nvPr>
            <p:ph idx="1"/>
          </p:nvPr>
        </p:nvSpPr>
        <p:spPr>
          <a:xfrm>
            <a:off x="480001" y="5174574"/>
            <a:ext cx="11102399" cy="756000"/>
          </a:xfrm>
        </p:spPr>
        <p:txBody>
          <a:bodyPr/>
          <a:lstStyle/>
          <a:p>
            <a:r>
              <a:rPr lang="en-US" sz="3600" dirty="0"/>
              <a:t>Contingency tables enable assessing whether there is an association between two categorical variables.</a:t>
            </a:r>
          </a:p>
        </p:txBody>
      </p:sp>
    </p:spTree>
    <p:extLst>
      <p:ext uri="{BB962C8B-B14F-4D97-AF65-F5344CB8AC3E}">
        <p14:creationId xmlns:p14="http://schemas.microsoft.com/office/powerpoint/2010/main" val="188159612"/>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4AA92C-4EE9-A4C0-6673-7956491E6BDD}"/>
              </a:ext>
            </a:extLst>
          </p:cNvPr>
          <p:cNvSpPr>
            <a:spLocks noGrp="1"/>
          </p:cNvSpPr>
          <p:nvPr>
            <p:ph type="title"/>
          </p:nvPr>
        </p:nvSpPr>
        <p:spPr/>
        <p:txBody>
          <a:bodyPr/>
          <a:lstStyle/>
          <a:p>
            <a:r>
              <a:rPr lang="en-US" dirty="0"/>
              <a:t>Conditional and Marginal Proportions</a:t>
            </a:r>
          </a:p>
        </p:txBody>
      </p:sp>
      <p:sp>
        <p:nvSpPr>
          <p:cNvPr id="3" name="Content Placeholder 2">
            <a:extLst>
              <a:ext uri="{FF2B5EF4-FFF2-40B4-BE49-F238E27FC236}">
                <a16:creationId xmlns:a16="http://schemas.microsoft.com/office/drawing/2014/main" id="{EEBC7744-A97D-3B7F-000F-674071AD418A}"/>
              </a:ext>
            </a:extLst>
          </p:cNvPr>
          <p:cNvSpPr>
            <a:spLocks noGrp="1"/>
          </p:cNvSpPr>
          <p:nvPr>
            <p:ph idx="1"/>
          </p:nvPr>
        </p:nvSpPr>
        <p:spPr/>
        <p:txBody>
          <a:bodyPr/>
          <a:lstStyle/>
          <a:p>
            <a:r>
              <a:rPr lang="en-US" dirty="0"/>
              <a:t>What is the proportion of people getting cancer conditional on eating red meat? </a:t>
            </a:r>
          </a:p>
          <a:p>
            <a:pPr lvl="1"/>
            <a:r>
              <a:rPr lang="en-US" dirty="0"/>
              <a:t>7/100</a:t>
            </a:r>
          </a:p>
          <a:p>
            <a:r>
              <a:rPr lang="en-US" dirty="0"/>
              <a:t>What is the marginal proportion of people eating red meat?</a:t>
            </a:r>
          </a:p>
          <a:p>
            <a:pPr lvl="1"/>
            <a:r>
              <a:rPr lang="en-US" dirty="0"/>
              <a:t>100/200</a:t>
            </a:r>
          </a:p>
          <a:p>
            <a:pPr lvl="1"/>
            <a:endParaRPr lang="en-US" dirty="0"/>
          </a:p>
        </p:txBody>
      </p:sp>
    </p:spTree>
    <p:extLst>
      <p:ext uri="{BB962C8B-B14F-4D97-AF65-F5344CB8AC3E}">
        <p14:creationId xmlns:p14="http://schemas.microsoft.com/office/powerpoint/2010/main" val="2483226844"/>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C497A2-8F3C-88C3-C265-FD774F089E8E}"/>
              </a:ext>
            </a:extLst>
          </p:cNvPr>
          <p:cNvSpPr>
            <a:spLocks noGrp="1"/>
          </p:cNvSpPr>
          <p:nvPr>
            <p:ph type="title"/>
          </p:nvPr>
        </p:nvSpPr>
        <p:spPr/>
        <p:txBody>
          <a:bodyPr/>
          <a:lstStyle/>
          <a:p>
            <a:r>
              <a:rPr lang="en-US" dirty="0"/>
              <a:t>Odds Ratio (OR) vs Relative Risk</a:t>
            </a:r>
          </a:p>
        </p:txBody>
      </p:sp>
      <p:graphicFrame>
        <p:nvGraphicFramePr>
          <p:cNvPr id="4" name="Table 3">
            <a:extLst>
              <a:ext uri="{FF2B5EF4-FFF2-40B4-BE49-F238E27FC236}">
                <a16:creationId xmlns:a16="http://schemas.microsoft.com/office/drawing/2014/main" id="{DF72BCF6-6E7E-52BB-778A-878974775A39}"/>
              </a:ext>
            </a:extLst>
          </p:cNvPr>
          <p:cNvGraphicFramePr>
            <a:graphicFrameLocks noGrp="1"/>
          </p:cNvGraphicFramePr>
          <p:nvPr/>
        </p:nvGraphicFramePr>
        <p:xfrm>
          <a:off x="1355646" y="1170260"/>
          <a:ext cx="9351108" cy="3363234"/>
        </p:xfrm>
        <a:graphic>
          <a:graphicData uri="http://schemas.openxmlformats.org/drawingml/2006/table">
            <a:tbl>
              <a:tblPr firstRow="1" bandRow="1">
                <a:tableStyleId>{C4B1156A-380E-4F78-BDF5-A606A8083BF9}</a:tableStyleId>
              </a:tblPr>
              <a:tblGrid>
                <a:gridCol w="1441856">
                  <a:extLst>
                    <a:ext uri="{9D8B030D-6E8A-4147-A177-3AD203B41FA5}">
                      <a16:colId xmlns:a16="http://schemas.microsoft.com/office/drawing/2014/main" val="1306621002"/>
                    </a:ext>
                  </a:extLst>
                </a:gridCol>
                <a:gridCol w="4074082">
                  <a:extLst>
                    <a:ext uri="{9D8B030D-6E8A-4147-A177-3AD203B41FA5}">
                      <a16:colId xmlns:a16="http://schemas.microsoft.com/office/drawing/2014/main" val="2507932481"/>
                    </a:ext>
                  </a:extLst>
                </a:gridCol>
                <a:gridCol w="3835170">
                  <a:extLst>
                    <a:ext uri="{9D8B030D-6E8A-4147-A177-3AD203B41FA5}">
                      <a16:colId xmlns:a16="http://schemas.microsoft.com/office/drawing/2014/main" val="441123414"/>
                    </a:ext>
                  </a:extLst>
                </a:gridCol>
              </a:tblGrid>
              <a:tr h="1249201">
                <a:tc>
                  <a:txBody>
                    <a:bodyPr/>
                    <a:lstStyle/>
                    <a:p>
                      <a:pPr algn="ctr"/>
                      <a:r>
                        <a:rPr lang="en-US" dirty="0"/>
                        <a:t>OR = 1</a:t>
                      </a:r>
                    </a:p>
                  </a:txBody>
                  <a:tcPr anchor="ctr"/>
                </a:tc>
                <a:tc>
                  <a:txBody>
                    <a:bodyPr/>
                    <a:lstStyle/>
                    <a:p>
                      <a:pPr algn="ctr"/>
                      <a:r>
                        <a:rPr lang="en-US" dirty="0"/>
                        <a:t>Relative Risk = 1</a:t>
                      </a:r>
                    </a:p>
                  </a:txBody>
                  <a:tcPr anchor="ctr"/>
                </a:tc>
                <a:tc>
                  <a:txBody>
                    <a:bodyPr/>
                    <a:lstStyle/>
                    <a:p>
                      <a:pPr algn="ctr"/>
                      <a:r>
                        <a:rPr lang="en-US" dirty="0"/>
                        <a:t>Implies that exposure doesn’t affect </a:t>
                      </a:r>
                      <a:r>
                        <a:rPr lang="en-US" i="1" dirty="0"/>
                        <a:t>odds </a:t>
                      </a:r>
                      <a:r>
                        <a:rPr lang="en-US" dirty="0"/>
                        <a:t>of outcome (e.g. cancer). </a:t>
                      </a:r>
                    </a:p>
                  </a:txBody>
                  <a:tcPr anchor="ctr"/>
                </a:tc>
                <a:extLst>
                  <a:ext uri="{0D108BD9-81ED-4DB2-BD59-A6C34878D82A}">
                    <a16:rowId xmlns:a16="http://schemas.microsoft.com/office/drawing/2014/main" val="1404430268"/>
                  </a:ext>
                </a:extLst>
              </a:tr>
              <a:tr h="1249201">
                <a:tc>
                  <a:txBody>
                    <a:bodyPr/>
                    <a:lstStyle/>
                    <a:p>
                      <a:pPr algn="ctr"/>
                      <a:r>
                        <a:rPr lang="en-US" b="1" dirty="0"/>
                        <a:t>OR&gt;1</a:t>
                      </a:r>
                    </a:p>
                  </a:txBody>
                  <a:tcPr anchor="ctr"/>
                </a:tc>
                <a:tc>
                  <a:txBody>
                    <a:bodyPr/>
                    <a:lstStyle/>
                    <a:p>
                      <a:pPr algn="ctr"/>
                      <a:r>
                        <a:rPr lang="en-US" b="1" dirty="0"/>
                        <a:t>Relative Risk &gt; 1</a:t>
                      </a:r>
                    </a:p>
                  </a:txBody>
                  <a:tcPr anchor="ctr"/>
                </a:tc>
                <a:tc>
                  <a:txBody>
                    <a:bodyPr/>
                    <a:lstStyle/>
                    <a:p>
                      <a:pPr algn="ctr"/>
                      <a:r>
                        <a:rPr lang="en-US" b="1" dirty="0"/>
                        <a:t>Implies exposure is associated with increased odds of the outcome.</a:t>
                      </a:r>
                    </a:p>
                  </a:txBody>
                  <a:tcPr anchor="ctr"/>
                </a:tc>
                <a:extLst>
                  <a:ext uri="{0D108BD9-81ED-4DB2-BD59-A6C34878D82A}">
                    <a16:rowId xmlns:a16="http://schemas.microsoft.com/office/drawing/2014/main" val="3403750188"/>
                  </a:ext>
                </a:extLst>
              </a:tr>
              <a:tr h="864832">
                <a:tc>
                  <a:txBody>
                    <a:bodyPr/>
                    <a:lstStyle/>
                    <a:p>
                      <a:pPr algn="ctr"/>
                      <a:r>
                        <a:rPr lang="en-US" b="1" dirty="0"/>
                        <a:t>OR&lt;1</a:t>
                      </a:r>
                    </a:p>
                  </a:txBody>
                  <a:tcPr anchor="ctr"/>
                </a:tc>
                <a:tc>
                  <a:txBody>
                    <a:bodyPr/>
                    <a:lstStyle/>
                    <a:p>
                      <a:pPr marL="0" marR="0" lvl="0" indent="0" algn="ctr" defTabSz="609585" rtl="0" eaLnBrk="1" fontAlgn="auto" latinLnBrk="0" hangingPunct="1">
                        <a:lnSpc>
                          <a:spcPct val="100000"/>
                        </a:lnSpc>
                        <a:spcBef>
                          <a:spcPts val="0"/>
                        </a:spcBef>
                        <a:spcAft>
                          <a:spcPts val="0"/>
                        </a:spcAft>
                        <a:buClrTx/>
                        <a:buSzTx/>
                        <a:buFontTx/>
                        <a:buNone/>
                        <a:tabLst/>
                        <a:defRPr/>
                      </a:pPr>
                      <a:r>
                        <a:rPr lang="en-US" b="1" dirty="0"/>
                        <a:t>Relative Risk  &lt; 1</a:t>
                      </a:r>
                    </a:p>
                  </a:txBody>
                  <a:tcPr anchor="ctr"/>
                </a:tc>
                <a:tc>
                  <a:txBody>
                    <a:bodyPr/>
                    <a:lstStyle/>
                    <a:p>
                      <a:pPr algn="ctr"/>
                      <a:r>
                        <a:rPr lang="en-US" b="1" dirty="0"/>
                        <a:t>Implies exposure associated with lower odds of outcome.</a:t>
                      </a:r>
                    </a:p>
                  </a:txBody>
                  <a:tcPr anchor="ctr"/>
                </a:tc>
                <a:extLst>
                  <a:ext uri="{0D108BD9-81ED-4DB2-BD59-A6C34878D82A}">
                    <a16:rowId xmlns:a16="http://schemas.microsoft.com/office/drawing/2014/main" val="924886996"/>
                  </a:ext>
                </a:extLst>
              </a:tr>
            </a:tbl>
          </a:graphicData>
        </a:graphic>
      </p:graphicFrame>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D61227B6-B55D-29B5-F918-56451EAB3C04}"/>
                  </a:ext>
                </a:extLst>
              </p:cNvPr>
              <p:cNvSpPr txBox="1"/>
              <p:nvPr/>
            </p:nvSpPr>
            <p:spPr>
              <a:xfrm>
                <a:off x="890016" y="4803648"/>
                <a:ext cx="10094976" cy="1348061"/>
              </a:xfrm>
              <a:prstGeom prst="rect">
                <a:avLst/>
              </a:prstGeom>
              <a:noFill/>
            </p:spPr>
            <p:txBody>
              <a:bodyPr wrap="square" rtlCol="0">
                <a:spAutoFit/>
              </a:bodyPr>
              <a:lstStyle/>
              <a:p>
                <a:r>
                  <a:rPr lang="en-US" sz="2800" dirty="0"/>
                  <a:t>OR and Relative Risk are close when the risk/chance of heads is low.</a:t>
                </a:r>
              </a:p>
              <a:p>
                <a:r>
                  <a:rPr lang="en-US" sz="2800" dirty="0"/>
                  <a:t>OR = </a:t>
                </a:r>
                <a14:m>
                  <m:oMath xmlns:m="http://schemas.openxmlformats.org/officeDocument/2006/math">
                    <m:f>
                      <m:fPr>
                        <m:ctrlPr>
                          <a:rPr lang="en-US" sz="2800" b="0" i="1" smtClean="0">
                            <a:latin typeface="Cambria Math" panose="02040503050406030204" pitchFamily="18" charset="0"/>
                          </a:rPr>
                        </m:ctrlPr>
                      </m:fPr>
                      <m:num>
                        <m:f>
                          <m:fPr>
                            <m:type m:val="skw"/>
                            <m:ctrlPr>
                              <a:rPr lang="en-US" sz="2800" b="0" i="1" smtClean="0">
                                <a:latin typeface="Cambria Math" panose="02040503050406030204" pitchFamily="18" charset="0"/>
                              </a:rPr>
                            </m:ctrlPr>
                          </m:fPr>
                          <m:num>
                            <m:r>
                              <a:rPr lang="en-US" sz="2800" b="0" i="1" smtClean="0">
                                <a:latin typeface="Cambria Math" panose="02040503050406030204" pitchFamily="18" charset="0"/>
                              </a:rPr>
                              <m:t>𝑝</m:t>
                            </m:r>
                          </m:num>
                          <m:den>
                            <m:r>
                              <a:rPr lang="en-US" sz="2800" b="0" i="1" smtClean="0">
                                <a:latin typeface="Cambria Math" panose="02040503050406030204" pitchFamily="18" charset="0"/>
                              </a:rPr>
                              <m:t>1−</m:t>
                            </m:r>
                            <m:r>
                              <a:rPr lang="en-US" sz="2800" b="0" i="1" smtClean="0">
                                <a:latin typeface="Cambria Math" panose="02040503050406030204" pitchFamily="18" charset="0"/>
                              </a:rPr>
                              <m:t>𝑝</m:t>
                            </m:r>
                          </m:den>
                        </m:f>
                      </m:num>
                      <m:den>
                        <m:f>
                          <m:fPr>
                            <m:type m:val="skw"/>
                            <m:ctrlPr>
                              <a:rPr lang="en-US" sz="2800" b="0" i="1" smtClean="0">
                                <a:latin typeface="Cambria Math" panose="02040503050406030204" pitchFamily="18" charset="0"/>
                              </a:rPr>
                            </m:ctrlPr>
                          </m:fPr>
                          <m:num>
                            <m:r>
                              <a:rPr lang="en-US" sz="2800" b="0" i="1" smtClean="0">
                                <a:latin typeface="Cambria Math" panose="02040503050406030204" pitchFamily="18" charset="0"/>
                              </a:rPr>
                              <m:t>𝑞</m:t>
                            </m:r>
                          </m:num>
                          <m:den>
                            <m:r>
                              <a:rPr lang="en-US" sz="2800" b="0" i="1" smtClean="0">
                                <a:latin typeface="Cambria Math" panose="02040503050406030204" pitchFamily="18" charset="0"/>
                              </a:rPr>
                              <m:t>1−</m:t>
                            </m:r>
                            <m:r>
                              <a:rPr lang="en-US" sz="2800" b="0" i="1" smtClean="0">
                                <a:latin typeface="Cambria Math" panose="02040503050406030204" pitchFamily="18" charset="0"/>
                              </a:rPr>
                              <m:t>𝑞</m:t>
                            </m:r>
                          </m:den>
                        </m:f>
                      </m:den>
                    </m:f>
                  </m:oMath>
                </a14:m>
                <a:r>
                  <a:rPr lang="en-US" sz="2800" dirty="0"/>
                  <a:t>.  RR = </a:t>
                </a:r>
                <a14:m>
                  <m:oMath xmlns:m="http://schemas.openxmlformats.org/officeDocument/2006/math">
                    <m:f>
                      <m:fPr>
                        <m:ctrlPr>
                          <a:rPr lang="en-US" sz="2800" i="1">
                            <a:latin typeface="Cambria Math" panose="02040503050406030204" pitchFamily="18" charset="0"/>
                          </a:rPr>
                        </m:ctrlPr>
                      </m:fPr>
                      <m:num>
                        <m:r>
                          <a:rPr lang="en-US" sz="2800" b="0" i="1" smtClean="0">
                            <a:latin typeface="Cambria Math" panose="02040503050406030204" pitchFamily="18" charset="0"/>
                          </a:rPr>
                          <m:t>𝑝</m:t>
                        </m:r>
                      </m:num>
                      <m:den>
                        <m:r>
                          <a:rPr lang="en-US" sz="2800" b="0" i="1" smtClean="0">
                            <a:latin typeface="Cambria Math" panose="02040503050406030204" pitchFamily="18" charset="0"/>
                          </a:rPr>
                          <m:t>𝑞</m:t>
                        </m:r>
                      </m:den>
                    </m:f>
                  </m:oMath>
                </a14:m>
                <a:r>
                  <a:rPr lang="en-US" sz="2800" dirty="0"/>
                  <a:t>. We can see why.</a:t>
                </a:r>
              </a:p>
            </p:txBody>
          </p:sp>
        </mc:Choice>
        <mc:Fallback xmlns="">
          <p:sp>
            <p:nvSpPr>
              <p:cNvPr id="5" name="TextBox 4">
                <a:extLst>
                  <a:ext uri="{FF2B5EF4-FFF2-40B4-BE49-F238E27FC236}">
                    <a16:creationId xmlns:a16="http://schemas.microsoft.com/office/drawing/2014/main" id="{D61227B6-B55D-29B5-F918-56451EAB3C04}"/>
                  </a:ext>
                </a:extLst>
              </p:cNvPr>
              <p:cNvSpPr txBox="1">
                <a:spLocks noRot="1" noChangeAspect="1" noMove="1" noResize="1" noEditPoints="1" noAdjustHandles="1" noChangeArrowheads="1" noChangeShapeType="1" noTextEdit="1"/>
              </p:cNvSpPr>
              <p:nvPr/>
            </p:nvSpPr>
            <p:spPr>
              <a:xfrm>
                <a:off x="890016" y="4803648"/>
                <a:ext cx="10094976" cy="1348061"/>
              </a:xfrm>
              <a:prstGeom prst="rect">
                <a:avLst/>
              </a:prstGeom>
              <a:blipFill>
                <a:blip r:embed="rId2"/>
                <a:stretch>
                  <a:fillRect l="-1258" t="-13084" b="-69159"/>
                </a:stretch>
              </a:blipFill>
            </p:spPr>
            <p:txBody>
              <a:bodyPr/>
              <a:lstStyle/>
              <a:p>
                <a:r>
                  <a:rPr lang="en-US">
                    <a:noFill/>
                  </a:rPr>
                  <a:t> </a:t>
                </a:r>
              </a:p>
            </p:txBody>
          </p:sp>
        </mc:Fallback>
      </mc:AlternateContent>
    </p:spTree>
    <p:extLst>
      <p:ext uri="{BB962C8B-B14F-4D97-AF65-F5344CB8AC3E}">
        <p14:creationId xmlns:p14="http://schemas.microsoft.com/office/powerpoint/2010/main" val="1987137788"/>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A66AE9-7FCA-3523-DF39-787F5A5687BA}"/>
              </a:ext>
            </a:extLst>
          </p:cNvPr>
          <p:cNvSpPr>
            <a:spLocks noGrp="1"/>
          </p:cNvSpPr>
          <p:nvPr>
            <p:ph type="title"/>
          </p:nvPr>
        </p:nvSpPr>
        <p:spPr>
          <a:xfrm>
            <a:off x="480001" y="414260"/>
            <a:ext cx="11102399" cy="756000"/>
          </a:xfrm>
        </p:spPr>
        <p:txBody>
          <a:bodyPr anchor="t">
            <a:normAutofit/>
          </a:bodyPr>
          <a:lstStyle/>
          <a:p>
            <a:r>
              <a:rPr lang="en-US" dirty="0"/>
              <a:t>OR = 1</a:t>
            </a:r>
          </a:p>
        </p:txBody>
      </p:sp>
      <p:pic>
        <p:nvPicPr>
          <p:cNvPr id="5" name="Picture 4" descr="A close-up of a chart&#10;&#10;AI-generated content may be incorrect.">
            <a:extLst>
              <a:ext uri="{FF2B5EF4-FFF2-40B4-BE49-F238E27FC236}">
                <a16:creationId xmlns:a16="http://schemas.microsoft.com/office/drawing/2014/main" id="{EBDDF283-46B3-3DA5-2E11-0F3645FF0421}"/>
              </a:ext>
            </a:extLst>
          </p:cNvPr>
          <p:cNvPicPr>
            <a:picLocks noChangeAspect="1"/>
          </p:cNvPicPr>
          <p:nvPr/>
        </p:nvPicPr>
        <p:blipFill>
          <a:blip r:embed="rId3"/>
          <a:stretch>
            <a:fillRect/>
          </a:stretch>
        </p:blipFill>
        <p:spPr>
          <a:xfrm>
            <a:off x="480001" y="2352824"/>
            <a:ext cx="11102399" cy="2331501"/>
          </a:xfrm>
          <a:prstGeom prst="rect">
            <a:avLst/>
          </a:prstGeom>
          <a:noFill/>
        </p:spPr>
      </p:pic>
    </p:spTree>
    <p:extLst>
      <p:ext uri="{BB962C8B-B14F-4D97-AF65-F5344CB8AC3E}">
        <p14:creationId xmlns:p14="http://schemas.microsoft.com/office/powerpoint/2010/main" val="2608093989"/>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600AD6-E2CB-EF3F-4875-C91CC992DBA6}"/>
              </a:ext>
            </a:extLst>
          </p:cNvPr>
          <p:cNvSpPr>
            <a:spLocks noGrp="1"/>
          </p:cNvSpPr>
          <p:nvPr>
            <p:ph type="title"/>
          </p:nvPr>
        </p:nvSpPr>
        <p:spPr/>
        <p:txBody>
          <a:bodyPr/>
          <a:lstStyle/>
          <a:p>
            <a:r>
              <a:rPr lang="en-US" dirty="0"/>
              <a:t>Odds Ratio vs Relative Risk</a:t>
            </a:r>
          </a:p>
        </p:txBody>
      </p:sp>
      <p:sp>
        <p:nvSpPr>
          <p:cNvPr id="3" name="Content Placeholder 2">
            <a:extLst>
              <a:ext uri="{FF2B5EF4-FFF2-40B4-BE49-F238E27FC236}">
                <a16:creationId xmlns:a16="http://schemas.microsoft.com/office/drawing/2014/main" id="{28F532FF-095F-D70F-D52C-A26F473DEE91}"/>
              </a:ext>
            </a:extLst>
          </p:cNvPr>
          <p:cNvSpPr>
            <a:spLocks noGrp="1"/>
          </p:cNvSpPr>
          <p:nvPr>
            <p:ph idx="1"/>
          </p:nvPr>
        </p:nvSpPr>
        <p:spPr>
          <a:xfrm>
            <a:off x="480001" y="4630615"/>
            <a:ext cx="11102399" cy="1110534"/>
          </a:xfrm>
        </p:spPr>
        <p:txBody>
          <a:bodyPr/>
          <a:lstStyle/>
          <a:p>
            <a:r>
              <a:rPr lang="en-US" dirty="0"/>
              <a:t>OR = ??, so odds are slightly higher, but:</a:t>
            </a:r>
          </a:p>
          <a:p>
            <a:r>
              <a:rPr lang="en-US" dirty="0"/>
              <a:t>Relative Risk = ?? </a:t>
            </a:r>
          </a:p>
        </p:txBody>
      </p:sp>
      <p:graphicFrame>
        <p:nvGraphicFramePr>
          <p:cNvPr id="4" name="Table 3">
            <a:extLst>
              <a:ext uri="{FF2B5EF4-FFF2-40B4-BE49-F238E27FC236}">
                <a16:creationId xmlns:a16="http://schemas.microsoft.com/office/drawing/2014/main" id="{58195075-4157-E2FF-973F-F18AF28BE387}"/>
              </a:ext>
            </a:extLst>
          </p:cNvPr>
          <p:cNvGraphicFramePr>
            <a:graphicFrameLocks noGrp="1"/>
          </p:cNvGraphicFramePr>
          <p:nvPr/>
        </p:nvGraphicFramePr>
        <p:xfrm>
          <a:off x="609600" y="1025418"/>
          <a:ext cx="10773508" cy="3476244"/>
        </p:xfrm>
        <a:graphic>
          <a:graphicData uri="http://schemas.openxmlformats.org/drawingml/2006/table">
            <a:tbl>
              <a:tblPr firstRow="1" bandRow="1">
                <a:tableStyleId>{5C22544A-7EE6-4342-B048-85BDC9FD1C3A}</a:tableStyleId>
              </a:tblPr>
              <a:tblGrid>
                <a:gridCol w="2162904">
                  <a:extLst>
                    <a:ext uri="{9D8B030D-6E8A-4147-A177-3AD203B41FA5}">
                      <a16:colId xmlns:a16="http://schemas.microsoft.com/office/drawing/2014/main" val="1306621002"/>
                    </a:ext>
                  </a:extLst>
                </a:gridCol>
                <a:gridCol w="3250832">
                  <a:extLst>
                    <a:ext uri="{9D8B030D-6E8A-4147-A177-3AD203B41FA5}">
                      <a16:colId xmlns:a16="http://schemas.microsoft.com/office/drawing/2014/main" val="2507932481"/>
                    </a:ext>
                  </a:extLst>
                </a:gridCol>
                <a:gridCol w="3552181">
                  <a:extLst>
                    <a:ext uri="{9D8B030D-6E8A-4147-A177-3AD203B41FA5}">
                      <a16:colId xmlns:a16="http://schemas.microsoft.com/office/drawing/2014/main" val="441123414"/>
                    </a:ext>
                  </a:extLst>
                </a:gridCol>
                <a:gridCol w="1807591">
                  <a:extLst>
                    <a:ext uri="{9D8B030D-6E8A-4147-A177-3AD203B41FA5}">
                      <a16:colId xmlns:a16="http://schemas.microsoft.com/office/drawing/2014/main" val="1770883194"/>
                    </a:ext>
                  </a:extLst>
                </a:gridCol>
              </a:tblGrid>
              <a:tr h="822218">
                <a:tc>
                  <a:txBody>
                    <a:bodyPr/>
                    <a:lstStyle/>
                    <a:p>
                      <a:pPr algn="ctr"/>
                      <a:endParaRPr lang="en-US" dirty="0"/>
                    </a:p>
                  </a:txBody>
                  <a:tcPr anchor="ctr"/>
                </a:tc>
                <a:tc>
                  <a:txBody>
                    <a:bodyPr/>
                    <a:lstStyle/>
                    <a:p>
                      <a:pPr algn="ctr"/>
                      <a:r>
                        <a:rPr lang="en-US" dirty="0"/>
                        <a:t>Statins</a:t>
                      </a:r>
                    </a:p>
                  </a:txBody>
                  <a:tcPr anchor="ctr"/>
                </a:tc>
                <a:tc>
                  <a:txBody>
                    <a:bodyPr/>
                    <a:lstStyle/>
                    <a:p>
                      <a:pPr algn="ctr"/>
                      <a:r>
                        <a:rPr lang="en-US" dirty="0"/>
                        <a:t>No Statins</a:t>
                      </a:r>
                    </a:p>
                  </a:txBody>
                  <a:tcPr anchor="ctr"/>
                </a:tc>
                <a:tc>
                  <a:txBody>
                    <a:bodyPr/>
                    <a:lstStyle/>
                    <a:p>
                      <a:pPr algn="ctr"/>
                      <a:endParaRPr lang="en-US" dirty="0"/>
                    </a:p>
                  </a:txBody>
                  <a:tcPr anchor="ctr"/>
                </a:tc>
                <a:extLst>
                  <a:ext uri="{0D108BD9-81ED-4DB2-BD59-A6C34878D82A}">
                    <a16:rowId xmlns:a16="http://schemas.microsoft.com/office/drawing/2014/main" val="1404430268"/>
                  </a:ext>
                </a:extLst>
              </a:tr>
              <a:tr h="1112978">
                <a:tc>
                  <a:txBody>
                    <a:bodyPr/>
                    <a:lstStyle/>
                    <a:p>
                      <a:pPr algn="ctr"/>
                      <a:r>
                        <a:rPr lang="en-US" b="1" dirty="0"/>
                        <a:t>Muscle Pain</a:t>
                      </a:r>
                    </a:p>
                  </a:txBody>
                  <a:tcPr anchor="ctr"/>
                </a:tc>
                <a:tc>
                  <a:txBody>
                    <a:bodyPr/>
                    <a:lstStyle/>
                    <a:p>
                      <a:pPr algn="ctr"/>
                      <a:r>
                        <a:rPr lang="en-US" b="1" dirty="0"/>
                        <a:t>87</a:t>
                      </a:r>
                    </a:p>
                  </a:txBody>
                  <a:tcPr anchor="ctr"/>
                </a:tc>
                <a:tc>
                  <a:txBody>
                    <a:bodyPr/>
                    <a:lstStyle/>
                    <a:p>
                      <a:pPr algn="ctr"/>
                      <a:r>
                        <a:rPr lang="en-US" b="1" dirty="0"/>
                        <a:t>85</a:t>
                      </a:r>
                    </a:p>
                  </a:txBody>
                  <a:tcPr anchor="ctr"/>
                </a:tc>
                <a:tc>
                  <a:txBody>
                    <a:bodyPr/>
                    <a:lstStyle/>
                    <a:p>
                      <a:pPr algn="ctr"/>
                      <a:r>
                        <a:rPr lang="en-US" b="1" dirty="0"/>
                        <a:t>172</a:t>
                      </a:r>
                    </a:p>
                  </a:txBody>
                  <a:tcPr anchor="ctr"/>
                </a:tc>
                <a:extLst>
                  <a:ext uri="{0D108BD9-81ED-4DB2-BD59-A6C34878D82A}">
                    <a16:rowId xmlns:a16="http://schemas.microsoft.com/office/drawing/2014/main" val="3403750188"/>
                  </a:ext>
                </a:extLst>
              </a:tr>
              <a:tr h="770524">
                <a:tc>
                  <a:txBody>
                    <a:bodyPr/>
                    <a:lstStyle/>
                    <a:p>
                      <a:pPr algn="ctr"/>
                      <a:r>
                        <a:rPr lang="en-US" b="1" dirty="0"/>
                        <a:t>No Muscle Pain</a:t>
                      </a:r>
                    </a:p>
                  </a:txBody>
                  <a:tcPr anchor="ctr"/>
                </a:tc>
                <a:tc>
                  <a:txBody>
                    <a:bodyPr/>
                    <a:lstStyle/>
                    <a:p>
                      <a:pPr marL="0" marR="0" lvl="0" indent="0" algn="ctr" defTabSz="609585" rtl="0" eaLnBrk="1" fontAlgn="auto" latinLnBrk="0" hangingPunct="1">
                        <a:lnSpc>
                          <a:spcPct val="100000"/>
                        </a:lnSpc>
                        <a:spcBef>
                          <a:spcPts val="0"/>
                        </a:spcBef>
                        <a:spcAft>
                          <a:spcPts val="0"/>
                        </a:spcAft>
                        <a:buClrTx/>
                        <a:buSzTx/>
                        <a:buFontTx/>
                        <a:buNone/>
                        <a:tabLst/>
                        <a:defRPr/>
                      </a:pPr>
                      <a:r>
                        <a:rPr lang="en-US" b="1" dirty="0"/>
                        <a:t>13</a:t>
                      </a:r>
                    </a:p>
                  </a:txBody>
                  <a:tcPr anchor="ctr"/>
                </a:tc>
                <a:tc>
                  <a:txBody>
                    <a:bodyPr/>
                    <a:lstStyle/>
                    <a:p>
                      <a:pPr algn="ctr"/>
                      <a:r>
                        <a:rPr lang="en-US" b="1" dirty="0"/>
                        <a:t>15</a:t>
                      </a:r>
                    </a:p>
                  </a:txBody>
                  <a:tcPr anchor="ctr"/>
                </a:tc>
                <a:tc>
                  <a:txBody>
                    <a:bodyPr/>
                    <a:lstStyle/>
                    <a:p>
                      <a:pPr algn="ctr"/>
                      <a:r>
                        <a:rPr lang="en-US" b="1" dirty="0"/>
                        <a:t>28</a:t>
                      </a:r>
                    </a:p>
                  </a:txBody>
                  <a:tcPr anchor="ctr"/>
                </a:tc>
                <a:extLst>
                  <a:ext uri="{0D108BD9-81ED-4DB2-BD59-A6C34878D82A}">
                    <a16:rowId xmlns:a16="http://schemas.microsoft.com/office/drawing/2014/main" val="924886996"/>
                  </a:ext>
                </a:extLst>
              </a:tr>
              <a:tr h="770524">
                <a:tc>
                  <a:txBody>
                    <a:bodyPr/>
                    <a:lstStyle/>
                    <a:p>
                      <a:pPr algn="ctr"/>
                      <a:endParaRPr lang="en-US" b="1" dirty="0"/>
                    </a:p>
                  </a:txBody>
                  <a:tcPr anchor="ctr"/>
                </a:tc>
                <a:tc>
                  <a:txBody>
                    <a:bodyPr/>
                    <a:lstStyle/>
                    <a:p>
                      <a:pPr marL="0" marR="0" lvl="0" indent="0" algn="ctr" defTabSz="609585" rtl="0" eaLnBrk="1" fontAlgn="auto" latinLnBrk="0" hangingPunct="1">
                        <a:lnSpc>
                          <a:spcPct val="100000"/>
                        </a:lnSpc>
                        <a:spcBef>
                          <a:spcPts val="0"/>
                        </a:spcBef>
                        <a:spcAft>
                          <a:spcPts val="0"/>
                        </a:spcAft>
                        <a:buClrTx/>
                        <a:buSzTx/>
                        <a:buFontTx/>
                        <a:buNone/>
                        <a:tabLst/>
                        <a:defRPr/>
                      </a:pPr>
                      <a:r>
                        <a:rPr lang="en-US" b="1" dirty="0"/>
                        <a:t>100</a:t>
                      </a:r>
                    </a:p>
                  </a:txBody>
                  <a:tcPr anchor="ctr"/>
                </a:tc>
                <a:tc>
                  <a:txBody>
                    <a:bodyPr/>
                    <a:lstStyle/>
                    <a:p>
                      <a:pPr algn="ctr"/>
                      <a:r>
                        <a:rPr lang="en-US" b="1" dirty="0"/>
                        <a:t>100</a:t>
                      </a:r>
                    </a:p>
                  </a:txBody>
                  <a:tcPr anchor="ctr"/>
                </a:tc>
                <a:tc>
                  <a:txBody>
                    <a:bodyPr/>
                    <a:lstStyle/>
                    <a:p>
                      <a:pPr algn="ctr"/>
                      <a:r>
                        <a:rPr lang="en-US" b="1" dirty="0"/>
                        <a:t>200</a:t>
                      </a:r>
                    </a:p>
                  </a:txBody>
                  <a:tcPr anchor="ctr"/>
                </a:tc>
                <a:extLst>
                  <a:ext uri="{0D108BD9-81ED-4DB2-BD59-A6C34878D82A}">
                    <a16:rowId xmlns:a16="http://schemas.microsoft.com/office/drawing/2014/main" val="1583245807"/>
                  </a:ext>
                </a:extLst>
              </a:tr>
            </a:tbl>
          </a:graphicData>
        </a:graphic>
      </p:graphicFrame>
    </p:spTree>
    <p:extLst>
      <p:ext uri="{BB962C8B-B14F-4D97-AF65-F5344CB8AC3E}">
        <p14:creationId xmlns:p14="http://schemas.microsoft.com/office/powerpoint/2010/main" val="3612163393"/>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460AD1-7D77-4B55-724B-ABB30AB99B20}"/>
              </a:ext>
            </a:extLst>
          </p:cNvPr>
          <p:cNvSpPr>
            <a:spLocks noGrp="1"/>
          </p:cNvSpPr>
          <p:nvPr>
            <p:ph type="title"/>
          </p:nvPr>
        </p:nvSpPr>
        <p:spPr/>
        <p:txBody>
          <a:bodyPr/>
          <a:lstStyle/>
          <a:p>
            <a:r>
              <a:rPr lang="en-US" dirty="0"/>
              <a:t>Odds Ratio</a:t>
            </a:r>
          </a:p>
        </p:txBody>
      </p:sp>
      <mc:AlternateContent xmlns:mc="http://schemas.openxmlformats.org/markup-compatibility/2006" xmlns:we="http://schemas.microsoft.com/office/webextensions/webextension/2010/11" xmlns:pca="http://schemas.microsoft.com/office/powerpoint/2013/contentapp">
        <mc:Choice Requires="we pca">
          <p:graphicFrame>
            <p:nvGraphicFramePr>
              <p:cNvPr id="4" name="Content Placeholder 3">
                <a:extLst>
                  <a:ext uri="{FF2B5EF4-FFF2-40B4-BE49-F238E27FC236}">
                    <a16:creationId xmlns:a16="http://schemas.microsoft.com/office/drawing/2014/main" id="{5E4C40E6-BD08-E7C9-D1A0-527486C1F7B5}"/>
                  </a:ext>
                </a:extLst>
              </p:cNvPr>
              <p:cNvGraphicFramePr>
                <a:graphicFrameLocks noGrp="1"/>
              </p:cNvGraphicFramePr>
              <p:nvPr>
                <p:ph idx="1"/>
              </p:nvPr>
            </p:nvGraphicFramePr>
            <p:xfrm>
              <a:off x="479425" y="1295400"/>
              <a:ext cx="11102975" cy="4445000"/>
            </p:xfrm>
            <a:graphic>
              <a:graphicData uri="http://schemas.microsoft.com/office/webextensions/webextension/2010/11">
                <we:webextensionref xmlns:we="http://schemas.microsoft.com/office/webextensions/webextension/2010/11" xmlns:r="http://schemas.openxmlformats.org/officeDocument/2006/relationships" r:id="rId3"/>
              </a:graphicData>
            </a:graphic>
          </p:graphicFrame>
        </mc:Choice>
        <mc:Fallback xmlns="">
          <p:pic>
            <p:nvPicPr>
              <p:cNvPr id="4" name="Content Placeholder 3">
                <a:extLst>
                  <a:ext uri="{FF2B5EF4-FFF2-40B4-BE49-F238E27FC236}">
                    <a16:creationId xmlns:a16="http://schemas.microsoft.com/office/drawing/2014/main" id="{5E4C40E6-BD08-E7C9-D1A0-527486C1F7B5}"/>
                  </a:ext>
                </a:extLst>
              </p:cNvPr>
              <p:cNvPicPr>
                <a:picLocks noGrp="1" noRot="1" noChangeAspect="1" noMove="1" noResize="1" noEditPoints="1" noAdjustHandles="1" noChangeArrowheads="1" noChangeShapeType="1"/>
              </p:cNvPicPr>
              <p:nvPr/>
            </p:nvPicPr>
            <p:blipFill>
              <a:blip r:embed="rId4">
                <a:clrChange>
                  <a:clrFrom>
                    <a:prstClr val="black"/>
                  </a:clrFrom>
                  <a:clrTo>
                    <a:prstClr val="black">
                      <a:alpha val="0"/>
                    </a:prstClr>
                  </a:clrTo>
                </a:clrChange>
              </a:blip>
              <a:stretch>
                <a:fillRect/>
              </a:stretch>
            </p:blipFill>
            <p:spPr>
              <a:xfrm>
                <a:off x="479425" y="1295400"/>
                <a:ext cx="11102975" cy="4445000"/>
              </a:xfrm>
              <a:prstGeom prst="rect">
                <a:avLst/>
              </a:prstGeom>
            </p:spPr>
          </p:pic>
        </mc:Fallback>
      </mc:AlternateContent>
    </p:spTree>
    <p:extLst>
      <p:ext uri="{BB962C8B-B14F-4D97-AF65-F5344CB8AC3E}">
        <p14:creationId xmlns:p14="http://schemas.microsoft.com/office/powerpoint/2010/main" val="468215887"/>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47AD7B-C051-78EF-F74B-AC99A54D918B}"/>
              </a:ext>
            </a:extLst>
          </p:cNvPr>
          <p:cNvSpPr>
            <a:spLocks noGrp="1"/>
          </p:cNvSpPr>
          <p:nvPr>
            <p:ph type="title"/>
          </p:nvPr>
        </p:nvSpPr>
        <p:spPr/>
        <p:txBody>
          <a:bodyPr/>
          <a:lstStyle/>
          <a:p>
            <a:r>
              <a:rPr lang="en-US" dirty="0"/>
              <a:t>Odds Ratio (OR) vs Relative Risk</a:t>
            </a:r>
          </a:p>
        </p:txBody>
      </p:sp>
      <p:sp>
        <p:nvSpPr>
          <p:cNvPr id="3" name="Content Placeholder 2">
            <a:extLst>
              <a:ext uri="{FF2B5EF4-FFF2-40B4-BE49-F238E27FC236}">
                <a16:creationId xmlns:a16="http://schemas.microsoft.com/office/drawing/2014/main" id="{ACE427F6-E3DA-4997-021D-D89B802F9D98}"/>
              </a:ext>
            </a:extLst>
          </p:cNvPr>
          <p:cNvSpPr>
            <a:spLocks noGrp="1"/>
          </p:cNvSpPr>
          <p:nvPr>
            <p:ph idx="1"/>
          </p:nvPr>
        </p:nvSpPr>
        <p:spPr/>
        <p:txBody>
          <a:bodyPr/>
          <a:lstStyle/>
          <a:p>
            <a:r>
              <a:rPr lang="en-US" dirty="0"/>
              <a:t>From </a:t>
            </a:r>
            <a:r>
              <a:rPr lang="en-US" dirty="0" err="1"/>
              <a:t>cancer.ca</a:t>
            </a:r>
            <a:r>
              <a:rPr lang="en-US" dirty="0"/>
              <a:t>:</a:t>
            </a:r>
          </a:p>
          <a:p>
            <a:endParaRPr lang="en-US" dirty="0"/>
          </a:p>
          <a:p>
            <a:endParaRPr lang="en-US" dirty="0"/>
          </a:p>
          <a:p>
            <a:endParaRPr lang="en-US" dirty="0"/>
          </a:p>
          <a:p>
            <a:endParaRPr lang="en-US" dirty="0"/>
          </a:p>
          <a:p>
            <a:r>
              <a:rPr lang="en-US" dirty="0"/>
              <a:t>What kind of comparison is this?</a:t>
            </a:r>
          </a:p>
        </p:txBody>
      </p:sp>
      <p:pic>
        <p:nvPicPr>
          <p:cNvPr id="6" name="Picture 5">
            <a:extLst>
              <a:ext uri="{FF2B5EF4-FFF2-40B4-BE49-F238E27FC236}">
                <a16:creationId xmlns:a16="http://schemas.microsoft.com/office/drawing/2014/main" id="{7393FC90-9BC0-745C-1127-582817AFD3A0}"/>
              </a:ext>
            </a:extLst>
          </p:cNvPr>
          <p:cNvPicPr>
            <a:picLocks noChangeAspect="1"/>
          </p:cNvPicPr>
          <p:nvPr/>
        </p:nvPicPr>
        <p:blipFill>
          <a:blip r:embed="rId2"/>
          <a:stretch>
            <a:fillRect/>
          </a:stretch>
        </p:blipFill>
        <p:spPr>
          <a:xfrm>
            <a:off x="659003" y="2227383"/>
            <a:ext cx="10874000" cy="2016371"/>
          </a:xfrm>
          <a:prstGeom prst="rect">
            <a:avLst/>
          </a:prstGeom>
        </p:spPr>
      </p:pic>
    </p:spTree>
    <p:extLst>
      <p:ext uri="{BB962C8B-B14F-4D97-AF65-F5344CB8AC3E}">
        <p14:creationId xmlns:p14="http://schemas.microsoft.com/office/powerpoint/2010/main" val="3119125880"/>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6AC497-5EB0-C4AC-42F1-61B5363415A8}"/>
              </a:ext>
            </a:extLst>
          </p:cNvPr>
          <p:cNvSpPr>
            <a:spLocks noGrp="1"/>
          </p:cNvSpPr>
          <p:nvPr>
            <p:ph type="title"/>
          </p:nvPr>
        </p:nvSpPr>
        <p:spPr/>
        <p:txBody>
          <a:bodyPr/>
          <a:lstStyle/>
          <a:p>
            <a:r>
              <a:rPr lang="en-US" dirty="0"/>
              <a:t>Odds Ratio (OR) vs Relative Risk</a:t>
            </a:r>
          </a:p>
        </p:txBody>
      </p:sp>
      <mc:AlternateContent xmlns:mc="http://schemas.openxmlformats.org/markup-compatibility/2006" xmlns:we="http://schemas.microsoft.com/office/webextensions/webextension/2010/11" xmlns:pca="http://schemas.microsoft.com/office/powerpoint/2013/contentapp">
        <mc:Choice Requires="we pca">
          <p:graphicFrame>
            <p:nvGraphicFramePr>
              <p:cNvPr id="4" name="Content Placeholder 3">
                <a:extLst>
                  <a:ext uri="{FF2B5EF4-FFF2-40B4-BE49-F238E27FC236}">
                    <a16:creationId xmlns:a16="http://schemas.microsoft.com/office/drawing/2014/main" id="{3C2481A1-D9C6-08BC-FE3E-558FBBBFC182}"/>
                  </a:ext>
                </a:extLst>
              </p:cNvPr>
              <p:cNvGraphicFramePr>
                <a:graphicFrameLocks noGrp="1"/>
              </p:cNvGraphicFramePr>
              <p:nvPr>
                <p:ph idx="1"/>
              </p:nvPr>
            </p:nvGraphicFramePr>
            <p:xfrm>
              <a:off x="479425" y="1295400"/>
              <a:ext cx="11102975" cy="4445000"/>
            </p:xfrm>
            <a:graphic>
              <a:graphicData uri="http://schemas.microsoft.com/office/webextensions/webextension/2010/11">
                <we:webextensionref xmlns:we="http://schemas.microsoft.com/office/webextensions/webextension/2010/11" xmlns:r="http://schemas.openxmlformats.org/officeDocument/2006/relationships" r:id="rId2"/>
              </a:graphicData>
            </a:graphic>
          </p:graphicFrame>
        </mc:Choice>
        <mc:Fallback xmlns="">
          <p:pic>
            <p:nvPicPr>
              <p:cNvPr id="4" name="Content Placeholder 3">
                <a:extLst>
                  <a:ext uri="{FF2B5EF4-FFF2-40B4-BE49-F238E27FC236}">
                    <a16:creationId xmlns:a16="http://schemas.microsoft.com/office/drawing/2014/main" id="{3C2481A1-D9C6-08BC-FE3E-558FBBBFC182}"/>
                  </a:ext>
                </a:extLst>
              </p:cNvPr>
              <p:cNvPicPr>
                <a:picLocks noGrp="1" noRot="1" noChangeAspect="1" noMove="1" noResize="1" noEditPoints="1" noAdjustHandles="1" noChangeArrowheads="1" noChangeShapeType="1"/>
              </p:cNvPicPr>
              <p:nvPr/>
            </p:nvPicPr>
            <p:blipFill>
              <a:blip r:embed="rId3">
                <a:clrChange>
                  <a:clrFrom>
                    <a:prstClr val="black"/>
                  </a:clrFrom>
                  <a:clrTo>
                    <a:prstClr val="black">
                      <a:alpha val="0"/>
                    </a:prstClr>
                  </a:clrTo>
                </a:clrChange>
              </a:blip>
              <a:stretch>
                <a:fillRect/>
              </a:stretch>
            </p:blipFill>
            <p:spPr>
              <a:xfrm>
                <a:off x="479425" y="1295400"/>
                <a:ext cx="11102975" cy="4445000"/>
              </a:xfrm>
              <a:prstGeom prst="rect">
                <a:avLst/>
              </a:prstGeom>
            </p:spPr>
          </p:pic>
        </mc:Fallback>
      </mc:AlternateContent>
    </p:spTree>
    <p:extLst>
      <p:ext uri="{BB962C8B-B14F-4D97-AF65-F5344CB8AC3E}">
        <p14:creationId xmlns:p14="http://schemas.microsoft.com/office/powerpoint/2010/main" val="1516391774"/>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B07604-AD8C-6A2A-45D1-BF1306D3F069}"/>
              </a:ext>
            </a:extLst>
          </p:cNvPr>
          <p:cNvSpPr>
            <a:spLocks noGrp="1"/>
          </p:cNvSpPr>
          <p:nvPr>
            <p:ph type="title"/>
          </p:nvPr>
        </p:nvSpPr>
        <p:spPr>
          <a:xfrm>
            <a:off x="480002" y="414261"/>
            <a:ext cx="5246167" cy="1565897"/>
          </a:xfrm>
        </p:spPr>
        <p:txBody>
          <a:bodyPr anchor="t">
            <a:normAutofit/>
          </a:bodyPr>
          <a:lstStyle/>
          <a:p>
            <a:r>
              <a:rPr lang="en-US" dirty="0"/>
              <a:t>Odds Ratio (OR) vs Relative Risk</a:t>
            </a:r>
          </a:p>
        </p:txBody>
      </p:sp>
      <p:sp>
        <p:nvSpPr>
          <p:cNvPr id="12" name="Content Placeholder 2">
            <a:extLst>
              <a:ext uri="{FF2B5EF4-FFF2-40B4-BE49-F238E27FC236}">
                <a16:creationId xmlns:a16="http://schemas.microsoft.com/office/drawing/2014/main" id="{B1330CA2-A182-336A-D626-5DE09C5585A8}"/>
              </a:ext>
            </a:extLst>
          </p:cNvPr>
          <p:cNvSpPr>
            <a:spLocks noGrp="1"/>
          </p:cNvSpPr>
          <p:nvPr>
            <p:ph idx="1"/>
          </p:nvPr>
        </p:nvSpPr>
        <p:spPr>
          <a:xfrm>
            <a:off x="480001" y="1980156"/>
            <a:ext cx="5246165" cy="3810096"/>
          </a:xfrm>
        </p:spPr>
        <p:txBody>
          <a:bodyPr/>
          <a:lstStyle/>
          <a:p>
            <a:r>
              <a:rPr lang="en-US" dirty="0"/>
              <a:t>Calculate the odds ratio of smoking against non-smoking and relative risk for this case.</a:t>
            </a:r>
          </a:p>
        </p:txBody>
      </p:sp>
      <p:pic>
        <p:nvPicPr>
          <p:cNvPr id="13" name="Picture Placeholder 12" descr="A comparison of people with smokers&#10;&#10;Description automatically generated">
            <a:extLst>
              <a:ext uri="{FF2B5EF4-FFF2-40B4-BE49-F238E27FC236}">
                <a16:creationId xmlns:a16="http://schemas.microsoft.com/office/drawing/2014/main" id="{B5F7FFA6-EDB1-1E78-5E57-25E0381F56D6}"/>
              </a:ext>
            </a:extLst>
          </p:cNvPr>
          <p:cNvPicPr>
            <a:picLocks noGrp="1" noChangeAspect="1"/>
          </p:cNvPicPr>
          <p:nvPr>
            <p:ph type="pic" sz="quarter" idx="13"/>
          </p:nvPr>
        </p:nvPicPr>
        <p:blipFill>
          <a:blip r:embed="rId3"/>
          <a:srcRect l="432" r="432"/>
          <a:stretch>
            <a:fillRect/>
          </a:stretch>
        </p:blipFill>
        <p:spPr/>
      </p:pic>
    </p:spTree>
    <p:extLst>
      <p:ext uri="{BB962C8B-B14F-4D97-AF65-F5344CB8AC3E}">
        <p14:creationId xmlns:p14="http://schemas.microsoft.com/office/powerpoint/2010/main" val="2174575806"/>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A8B094-6221-DE49-15E4-27593A461D9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E921B8A-4A5E-2788-6D50-B0BC47A3B262}"/>
              </a:ext>
            </a:extLst>
          </p:cNvPr>
          <p:cNvSpPr>
            <a:spLocks noGrp="1"/>
          </p:cNvSpPr>
          <p:nvPr>
            <p:ph type="title"/>
          </p:nvPr>
        </p:nvSpPr>
        <p:spPr/>
        <p:txBody>
          <a:bodyPr/>
          <a:lstStyle/>
          <a:p>
            <a:endParaRPr lang="en-US"/>
          </a:p>
        </p:txBody>
      </p:sp>
      <mc:AlternateContent xmlns:mc="http://schemas.openxmlformats.org/markup-compatibility/2006" xmlns:we="http://schemas.microsoft.com/office/webextensions/webextension/2010/11" xmlns:pca="http://schemas.microsoft.com/office/powerpoint/2013/contentapp">
        <mc:Choice Requires="we pca">
          <p:graphicFrame>
            <p:nvGraphicFramePr>
              <p:cNvPr id="6" name="Content Placeholder 5">
                <a:extLst>
                  <a:ext uri="{FF2B5EF4-FFF2-40B4-BE49-F238E27FC236}">
                    <a16:creationId xmlns:a16="http://schemas.microsoft.com/office/drawing/2014/main" id="{43A8CD95-8989-6C79-34DA-313A4D2F195D}"/>
                  </a:ext>
                </a:extLst>
              </p:cNvPr>
              <p:cNvGraphicFramePr>
                <a:graphicFrameLocks noGrp="1"/>
              </p:cNvGraphicFramePr>
              <p:nvPr>
                <p:ph idx="1"/>
              </p:nvPr>
            </p:nvGraphicFramePr>
            <p:xfrm>
              <a:off x="479425" y="1295400"/>
              <a:ext cx="11102975" cy="4445000"/>
            </p:xfrm>
            <a:graphic>
              <a:graphicData uri="http://schemas.microsoft.com/office/webextensions/webextension/2010/11">
                <we:webextensionref xmlns:we="http://schemas.microsoft.com/office/webextensions/webextension/2010/11" xmlns:r="http://schemas.openxmlformats.org/officeDocument/2006/relationships" r:id="rId2"/>
              </a:graphicData>
            </a:graphic>
          </p:graphicFrame>
        </mc:Choice>
        <mc:Fallback xmlns="">
          <p:pic>
            <p:nvPicPr>
              <p:cNvPr id="6" name="Content Placeholder 5">
                <a:extLst>
                  <a:ext uri="{FF2B5EF4-FFF2-40B4-BE49-F238E27FC236}">
                    <a16:creationId xmlns:a16="http://schemas.microsoft.com/office/drawing/2014/main" id="{43A8CD95-8989-6C79-34DA-313A4D2F195D}"/>
                  </a:ext>
                </a:extLst>
              </p:cNvPr>
              <p:cNvPicPr>
                <a:picLocks noGrp="1" noRot="1" noChangeAspect="1" noMove="1" noResize="1" noEditPoints="1" noAdjustHandles="1" noChangeArrowheads="1" noChangeShapeType="1"/>
              </p:cNvPicPr>
              <p:nvPr/>
            </p:nvPicPr>
            <p:blipFill>
              <a:blip r:embed="rId3">
                <a:clrChange>
                  <a:clrFrom>
                    <a:prstClr val="black"/>
                  </a:clrFrom>
                  <a:clrTo>
                    <a:prstClr val="black">
                      <a:alpha val="0"/>
                    </a:prstClr>
                  </a:clrTo>
                </a:clrChange>
              </a:blip>
              <a:stretch>
                <a:fillRect/>
              </a:stretch>
            </p:blipFill>
            <p:spPr>
              <a:xfrm>
                <a:off x="479425" y="1295400"/>
                <a:ext cx="11102975" cy="4445000"/>
              </a:xfrm>
              <a:prstGeom prst="rect">
                <a:avLst/>
              </a:prstGeom>
            </p:spPr>
          </p:pic>
        </mc:Fallback>
      </mc:AlternateContent>
    </p:spTree>
    <p:extLst>
      <p:ext uri="{BB962C8B-B14F-4D97-AF65-F5344CB8AC3E}">
        <p14:creationId xmlns:p14="http://schemas.microsoft.com/office/powerpoint/2010/main" val="244955356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1_Maastricht University">
  <a:themeElements>
    <a:clrScheme name="UM">
      <a:dk1>
        <a:srgbClr val="001C3D"/>
      </a:dk1>
      <a:lt1>
        <a:srgbClr val="FFFFFF"/>
      </a:lt1>
      <a:dk2>
        <a:srgbClr val="00A2DB"/>
      </a:dk2>
      <a:lt2>
        <a:srgbClr val="FFFFFF"/>
      </a:lt2>
      <a:accent1>
        <a:srgbClr val="E84E10"/>
      </a:accent1>
      <a:accent2>
        <a:srgbClr val="00A2DB"/>
      </a:accent2>
      <a:accent3>
        <a:srgbClr val="001C3D"/>
      </a:accent3>
      <a:accent4>
        <a:srgbClr val="F3A687"/>
      </a:accent4>
      <a:accent5>
        <a:srgbClr val="7FD0ED"/>
      </a:accent5>
      <a:accent6>
        <a:srgbClr val="7F8D9E"/>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webextension1.xml><?xml version="1.0" encoding="utf-8"?>
<we:webextension xmlns:we="http://schemas.microsoft.com/office/webextensions/webextension/2010/11" id="{46642253-606C-6F44-97D0-892619322D77}">
  <we:reference id="71a1a0ed-6cd0-4a6e-ad2d-015b8a8b43cb" version="1.0.0.10" store="EXCatalog" storeType="EXCatalog"/>
  <we:alternateReferences>
    <we:reference id="WA104381682" version="1.0.0.10" store="en-US" storeType="OMEX"/>
  </we:alternateReferences>
  <we:properties>
    <we:property name="DDHIJJ:67e40cd61f2c923ecbe77716:SlideId" value="602"/>
    <we:property name="addinSlideId" value="&quot;succeeded&quot;"/>
    <we:property name="selectedQuestionId" value="&quot;67e40cd61f2c923ecbe77716&quot;"/>
    <we:property name="selectedSlug" value="&quot;DDHIJJ&quot;"/>
  </we:properties>
  <we:bindings/>
  <we:snapshot xmlns:r="http://schemas.openxmlformats.org/officeDocument/2006/relationships"/>
</we:webextension>
</file>

<file path=ppt/webextensions/webextension2.xml><?xml version="1.0" encoding="utf-8"?>
<we:webextension xmlns:we="http://schemas.microsoft.com/office/webextensions/webextension/2010/11" id="{EB9AD9F4-D194-6848-BC63-BF46AD27C9C1}">
  <we:reference id="71a1a0ed-6cd0-4a6e-ad2d-015b8a8b43cb" version="1.0.0.10" store="EXCatalog" storeType="EXCatalog"/>
  <we:alternateReferences>
    <we:reference id="WA104381682" version="1.0.0.10" store="en-US" storeType="OMEX"/>
  </we:alternateReferences>
  <we:properties>
    <we:property name="addinSlideId" value="&quot;succeeded&quot;"/>
    <we:property name="selectedSlug" value="&quot;DDHIJJ&quot;"/>
    <we:property name="selectedQuestionId" value="&quot;67e40cd61f2c923ecbe77717&quot;"/>
    <we:property name="DDHIJJ:67e40cd61f2c923ecbe77717:SlideId" value="603"/>
  </we:properties>
  <we:bindings/>
  <we:snapshot xmlns:r="http://schemas.openxmlformats.org/officeDocument/2006/relationships"/>
</we:webextension>
</file>

<file path=ppt/webextensions/webextension3.xml><?xml version="1.0" encoding="utf-8"?>
<we:webextension xmlns:we="http://schemas.microsoft.com/office/webextensions/webextension/2010/11" id="{B54358A4-5AAA-CD46-9E58-70364CBD8D86}">
  <we:reference id="71a1a0ed-6cd0-4a6e-ad2d-015b8a8b43cb" version="1.0.0.10" store="EXCatalog" storeType="EXCatalog"/>
  <we:alternateReferences>
    <we:reference id="WA104381682" version="1.0.0.10" store="en-US" storeType="OMEX"/>
  </we:alternateReferences>
  <we:properties>
    <we:property name="addinSlideId" value="&quot;succeeded&quot;"/>
    <we:property name="selectedSlug" value="&quot;DDHIJJ&quot;"/>
    <we:property name="selectedQuestionId" value="&quot;67e40cd61f2c923ecbe7771c&quot;"/>
    <we:property name="DDHIJJ:67e40cd61f2c923ecbe7771c:SlideId" value="590"/>
  </we:properties>
  <we:bindings/>
  <we:snapshot xmlns:r="http://schemas.openxmlformats.org/officeDocument/2006/relationships"/>
</we:webextension>
</file>

<file path=ppt/webextensions/webextension4.xml><?xml version="1.0" encoding="utf-8"?>
<we:webextension xmlns:we="http://schemas.microsoft.com/office/webextensions/webextension/2010/11" id="{5D317C77-6A37-B145-815E-92D0155435E6}">
  <we:reference id="71a1a0ed-6cd0-4a6e-ad2d-015b8a8b43cb" version="1.0.0.10" store="EXCatalog" storeType="EXCatalog"/>
  <we:alternateReferences>
    <we:reference id="WA104381682" version="1.0.0.10" store="en-US" storeType="OMEX"/>
  </we:alternateReferences>
  <we:properties>
    <we:property name="MACDRC:678e700dfe4f399db636a3e9:SlideId" value="608"/>
    <we:property name="addinSlideId" value="&quot;succeeded&quot;"/>
    <we:property name="selectedQuestionId" value="&quot;67e40cd61f2c923ecbe77728&quot;"/>
    <we:property name="selectedSlug" value="&quot;DDHIJJ&quot;"/>
    <we:property name="DDHIJJ:67e40cd61f2c923ecbe77728:SlideId" value="608"/>
  </we:properties>
  <we:bindings/>
  <we:snapshot xmlns:r="http://schemas.openxmlformats.org/officeDocument/2006/relationships"/>
</we:webextension>
</file>

<file path=ppt/webextensions/webextension5.xml><?xml version="1.0" encoding="utf-8"?>
<we:webextension xmlns:we="http://schemas.microsoft.com/office/webextensions/webextension/2010/11" id="{3CB60E34-F734-1647-BA76-14F878752001}">
  <we:reference id="71a1a0ed-6cd0-4a6e-ad2d-015b8a8b43cb" version="1.0.0.10" store="EXCatalog" storeType="EXCatalog"/>
  <we:alternateReferences>
    <we:reference id="WA104381682" version="1.0.0.10" store="en-US" storeType="OMEX"/>
  </we:alternateReferences>
  <we:properties>
    <we:property name="addinSlideId" value="&quot;succeeded&quot;"/>
    <we:property name="selectedSlug" value="&quot;DDHIJJ&quot;"/>
    <we:property name="selectedQuestionId" value="&quot;67e40cd61f2c923ecbe77720&quot;"/>
    <we:property name="DDHIJJ:67e40cd61f2c923ecbe77720:SlideId" value="607"/>
  </we:properties>
  <we:bindings/>
  <we:snapshot xmlns:r="http://schemas.openxmlformats.org/officeDocument/2006/relationships"/>
</we:webextension>
</file>

<file path=ppt/webextensions/webextension6.xml><?xml version="1.0" encoding="utf-8"?>
<we:webextension xmlns:we="http://schemas.microsoft.com/office/webextensions/webextension/2010/11" id="{393B73F6-9961-784A-8AC5-6EC103995852}">
  <we:reference id="71a1a0ed-6cd0-4a6e-ad2d-015b8a8b43cb" version="1.0.0.10" store="EXCatalog" storeType="EXCatalog"/>
  <we:alternateReferences>
    <we:reference id="WA104381682" version="1.0.0.10" store="en-US" storeType="OMEX"/>
  </we:alternateReferences>
  <we:properties>
    <we:property name="selectedSlug" value="&quot;DDHIJJ&quot;"/>
    <we:property name="selectedQuestionId" value="&quot;6974b4fdb88da75ed4c4ec1f&quot;"/>
    <we:property name="DDHIJJ:6974b4fdb88da75ed4c4ec1f:SlideId" value="604"/>
  </we:properties>
  <we:bindings/>
  <we:snapshot xmlns:r="http://schemas.openxmlformats.org/officeDocument/2006/relationships"/>
</we:webextension>
</file>

<file path=ppt/webextensions/webextension7.xml><?xml version="1.0" encoding="utf-8"?>
<we:webextension xmlns:we="http://schemas.microsoft.com/office/webextensions/webextension/2010/11" id="{F5371F8F-1AC2-A441-B2A2-8C9389EC8885}">
  <we:reference id="71a1a0ed-6cd0-4a6e-ad2d-015b8a8b43cb" version="1.0.0.10" store="EXCatalog" storeType="EXCatalog"/>
  <we:alternateReferences>
    <we:reference id="WA104381682" version="1.0.0.10" store="en-US" storeType="OMEX"/>
  </we:alternateReferences>
  <we:properties>
    <we:property name="addinSlideId" value="&quot;succeeded&quot;"/>
    <we:property name="selectedSlug" value="&quot;AMKQRA&quot;"/>
    <we:property name="selectedQuestionId" value="&quot;6798a63082266988ecb78130&quot;"/>
    <we:property name="AMKQRA:6798a63082266988ecb78130:SlideId" value="668"/>
  </we:properties>
  <we:bindings/>
  <we:snapshot xmlns:r="http://schemas.openxmlformats.org/officeDocument/2006/relationships"/>
</we:webextension>
</file>

<file path=ppt/webextensions/webextension8.xml><?xml version="1.0" encoding="utf-8"?>
<we:webextension xmlns:we="http://schemas.microsoft.com/office/webextensions/webextension/2010/11" id="{5F82FF04-C442-C147-A335-A34FEDBF7AE0}">
  <we:reference id="71a1a0ed-6cd0-4a6e-ad2d-015b8a8b43cb" version="1.0.0.10" store="EXCatalog" storeType="EXCatalog"/>
  <we:alternateReferences>
    <we:reference id="WA104381682" version="1.0.0.10" store="en-US" storeType="OMEX"/>
  </we:alternateReferences>
  <we:properties>
    <we:property name="addinSlideId" value="&quot;succeeded&quot;"/>
    <we:property name="selectedSlug" value="&quot;AMKQRA&quot;"/>
    <we:property name="selectedQuestionId" value="&quot;6797a77bd2e3970ea8c92520&quot;"/>
    <we:property name="AMKQRA:6797a77bd2e3970ea8c92520:SlideId" value="639"/>
  </we:properties>
  <we:bindings/>
  <we:snapshot xmlns:r="http://schemas.openxmlformats.org/officeDocument/2006/relationships"/>
</we:webextension>
</file>

<file path=ppt/webextensions/webextension9.xml><?xml version="1.0" encoding="utf-8"?>
<we:webextension xmlns:we="http://schemas.microsoft.com/office/webextensions/webextension/2010/11" id="{B19DB4A3-C110-E84C-B093-039439FDB298}">
  <we:reference id="71a1a0ed-6cd0-4a6e-ad2d-015b8a8b43cb" version="1.0.0.10" store="EXCatalog" storeType="EXCatalog"/>
  <we:alternateReferences>
    <we:reference id="WA104381682" version="1.0.0.10" store="en-US" storeType="OMEX"/>
  </we:alternateReferences>
  <we:properties>
    <we:property name="addinSlideId" value="&quot;succeeded&quot;"/>
    <we:property name="selectedSlug" value="&quot;ZGAYFI&quot;"/>
    <we:property name="selectedQuestionId" value="&quot;67e40ce1c28a1fdaaef0a2bd&quot;"/>
    <we:property name="ZGAYFI:67e40ce1c28a1fdaaef0a2bd:SlideId" value="670"/>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16326</TotalTime>
  <Words>3365</Words>
  <Application>Microsoft Macintosh PowerPoint</Application>
  <PresentationFormat>Widescreen</PresentationFormat>
  <Paragraphs>379</Paragraphs>
  <Slides>64</Slides>
  <Notes>32</Notes>
  <HiddenSlides>0</HiddenSlides>
  <MMClips>1</MMClips>
  <ScaleCrop>false</ScaleCrop>
  <HeadingPairs>
    <vt:vector size="6" baseType="variant">
      <vt:variant>
        <vt:lpstr>Fonts Used</vt:lpstr>
      </vt:variant>
      <vt:variant>
        <vt:i4>7</vt:i4>
      </vt:variant>
      <vt:variant>
        <vt:lpstr>Theme</vt:lpstr>
      </vt:variant>
      <vt:variant>
        <vt:i4>2</vt:i4>
      </vt:variant>
      <vt:variant>
        <vt:lpstr>Slide Titles</vt:lpstr>
      </vt:variant>
      <vt:variant>
        <vt:i4>64</vt:i4>
      </vt:variant>
    </vt:vector>
  </HeadingPairs>
  <TitlesOfParts>
    <vt:vector size="73" baseType="lpstr">
      <vt:lpstr>Aptos</vt:lpstr>
      <vt:lpstr>Aptos Display</vt:lpstr>
      <vt:lpstr>Arial</vt:lpstr>
      <vt:lpstr>Calibri</vt:lpstr>
      <vt:lpstr>Cambria Math</vt:lpstr>
      <vt:lpstr>Lucida Grande</vt:lpstr>
      <vt:lpstr>Times New Roman</vt:lpstr>
      <vt:lpstr>Office Theme</vt:lpstr>
      <vt:lpstr>1_Maastricht University</vt:lpstr>
      <vt:lpstr>Statistics</vt:lpstr>
      <vt:lpstr>Using Data Science to judge a serial killer</vt:lpstr>
      <vt:lpstr>Using Data Science to judge a serial killer</vt:lpstr>
      <vt:lpstr>Using Data Science to judge a serial killer</vt:lpstr>
      <vt:lpstr>Using Data Science to judge a serial killer</vt:lpstr>
      <vt:lpstr>Using Data Science to judge a serial killer</vt:lpstr>
      <vt:lpstr>Using Data Science to judge a serial killer</vt:lpstr>
      <vt:lpstr>Using Data Science to judge a serial killer</vt:lpstr>
      <vt:lpstr>One branch of data science: Forensic statistics</vt:lpstr>
      <vt:lpstr>The World Can Be Quantified</vt:lpstr>
      <vt:lpstr>The World Can Be Quantified</vt:lpstr>
      <vt:lpstr>The World Can Be Quantified</vt:lpstr>
      <vt:lpstr>The World Can Be Quantified</vt:lpstr>
      <vt:lpstr>The World Can Be Quantified… but this needn’t be meaningful</vt:lpstr>
      <vt:lpstr>The World Can Be Quantified… but this needn’t be meaningful</vt:lpstr>
      <vt:lpstr>PowerPoint Presentation</vt:lpstr>
      <vt:lpstr>What are you hoping to get from this class?</vt:lpstr>
      <vt:lpstr>Class Goals</vt:lpstr>
      <vt:lpstr>Course organization</vt:lpstr>
      <vt:lpstr>About me</vt:lpstr>
      <vt:lpstr>About me</vt:lpstr>
      <vt:lpstr>About me</vt:lpstr>
      <vt:lpstr>About me: Research</vt:lpstr>
      <vt:lpstr>Textbook</vt:lpstr>
      <vt:lpstr>Support Resource</vt:lpstr>
      <vt:lpstr>Instruction format</vt:lpstr>
      <vt:lpstr>  Organization of Lectures</vt:lpstr>
      <vt:lpstr>  Labs</vt:lpstr>
      <vt:lpstr>  Organization of Tutorials</vt:lpstr>
      <vt:lpstr>Grading</vt:lpstr>
      <vt:lpstr>Exam</vt:lpstr>
      <vt:lpstr>Communication</vt:lpstr>
      <vt:lpstr>Course Overview</vt:lpstr>
      <vt:lpstr>Tentative Schedule</vt:lpstr>
      <vt:lpstr>What is statistics good for? </vt:lpstr>
      <vt:lpstr>What is statistics good for? </vt:lpstr>
      <vt:lpstr>What is statistics good for? </vt:lpstr>
      <vt:lpstr>What is statistics good for?</vt:lpstr>
      <vt:lpstr>Studying categorical data and percentages</vt:lpstr>
      <vt:lpstr>PowerPoint Presentation</vt:lpstr>
      <vt:lpstr>Data: Defining the variables. </vt:lpstr>
      <vt:lpstr>Analysis: What were surgical outcome rates?</vt:lpstr>
      <vt:lpstr>Conclusion: Bristol had killer surgeons. </vt:lpstr>
      <vt:lpstr>Categorical Data</vt:lpstr>
      <vt:lpstr>Categorical Data</vt:lpstr>
      <vt:lpstr>Categorical Data</vt:lpstr>
      <vt:lpstr>Associations of Categorical Variables</vt:lpstr>
      <vt:lpstr>Associations of Categorical Variables</vt:lpstr>
      <vt:lpstr>Associations of Categorical Variables</vt:lpstr>
      <vt:lpstr>Associations of Categorical Variables</vt:lpstr>
      <vt:lpstr>Associations of Categorical Variables</vt:lpstr>
      <vt:lpstr>Associations of Categorical Variables</vt:lpstr>
      <vt:lpstr>Contingency Table</vt:lpstr>
      <vt:lpstr>Contingency Table</vt:lpstr>
      <vt:lpstr>Contingency Table</vt:lpstr>
      <vt:lpstr>Conditional and Marginal Proportions</vt:lpstr>
      <vt:lpstr>Odds Ratio (OR) vs Relative Risk</vt:lpstr>
      <vt:lpstr>OR = 1</vt:lpstr>
      <vt:lpstr>Odds Ratio vs Relative Risk</vt:lpstr>
      <vt:lpstr>Odds Ratio</vt:lpstr>
      <vt:lpstr>Odds Ratio (OR) vs Relative Risk</vt:lpstr>
      <vt:lpstr>Odds Ratio (OR) vs Relative Risk</vt:lpstr>
      <vt:lpstr>Odds Ratio (OR) vs Relative Risk</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Wodeyar, Anirudh (DACS)</dc:creator>
  <cp:lastModifiedBy>Wodeyar, Anirudh (DACS)</cp:lastModifiedBy>
  <cp:revision>77</cp:revision>
  <dcterms:created xsi:type="dcterms:W3CDTF">2024-08-29T12:42:26Z</dcterms:created>
  <dcterms:modified xsi:type="dcterms:W3CDTF">2026-03-30T11:20:33Z</dcterms:modified>
</cp:coreProperties>
</file>