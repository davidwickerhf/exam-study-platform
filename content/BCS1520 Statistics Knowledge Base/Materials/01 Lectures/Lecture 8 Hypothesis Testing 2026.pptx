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66"/>
  </p:notesMasterIdLst>
  <p:sldIdLst>
    <p:sldId id="261" r:id="rId3"/>
    <p:sldId id="709" r:id="rId4"/>
    <p:sldId id="637" r:id="rId5"/>
    <p:sldId id="642" r:id="rId6"/>
    <p:sldId id="643" r:id="rId7"/>
    <p:sldId id="638" r:id="rId8"/>
    <p:sldId id="721" r:id="rId9"/>
    <p:sldId id="639" r:id="rId10"/>
    <p:sldId id="644" r:id="rId11"/>
    <p:sldId id="854" r:id="rId12"/>
    <p:sldId id="831" r:id="rId13"/>
    <p:sldId id="640" r:id="rId14"/>
    <p:sldId id="641" r:id="rId15"/>
    <p:sldId id="645" r:id="rId16"/>
    <p:sldId id="832" r:id="rId17"/>
    <p:sldId id="855" r:id="rId18"/>
    <p:sldId id="603" r:id="rId19"/>
    <p:sldId id="601" r:id="rId20"/>
    <p:sldId id="609" r:id="rId21"/>
    <p:sldId id="614" r:id="rId22"/>
    <p:sldId id="653" r:id="rId23"/>
    <p:sldId id="692" r:id="rId24"/>
    <p:sldId id="690" r:id="rId25"/>
    <p:sldId id="695" r:id="rId26"/>
    <p:sldId id="856" r:id="rId27"/>
    <p:sldId id="694" r:id="rId28"/>
    <p:sldId id="668" r:id="rId29"/>
    <p:sldId id="833" r:id="rId30"/>
    <p:sldId id="834" r:id="rId31"/>
    <p:sldId id="835" r:id="rId32"/>
    <p:sldId id="836" r:id="rId33"/>
    <p:sldId id="837" r:id="rId34"/>
    <p:sldId id="838" r:id="rId35"/>
    <p:sldId id="839" r:id="rId36"/>
    <p:sldId id="840" r:id="rId37"/>
    <p:sldId id="852" r:id="rId38"/>
    <p:sldId id="841" r:id="rId39"/>
    <p:sldId id="842" r:id="rId40"/>
    <p:sldId id="632" r:id="rId41"/>
    <p:sldId id="633" r:id="rId42"/>
    <p:sldId id="635" r:id="rId43"/>
    <p:sldId id="636" r:id="rId44"/>
    <p:sldId id="843" r:id="rId45"/>
    <p:sldId id="844" r:id="rId46"/>
    <p:sldId id="845" r:id="rId47"/>
    <p:sldId id="846" r:id="rId48"/>
    <p:sldId id="847" r:id="rId49"/>
    <p:sldId id="853" r:id="rId50"/>
    <p:sldId id="665" r:id="rId51"/>
    <p:sldId id="670" r:id="rId52"/>
    <p:sldId id="848" r:id="rId53"/>
    <p:sldId id="849" r:id="rId54"/>
    <p:sldId id="850" r:id="rId55"/>
    <p:sldId id="851" r:id="rId56"/>
    <p:sldId id="657" r:id="rId57"/>
    <p:sldId id="658" r:id="rId58"/>
    <p:sldId id="674" r:id="rId59"/>
    <p:sldId id="722" r:id="rId60"/>
    <p:sldId id="675" r:id="rId61"/>
    <p:sldId id="676" r:id="rId62"/>
    <p:sldId id="677" r:id="rId63"/>
    <p:sldId id="664" r:id="rId64"/>
    <p:sldId id="708"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20"/>
    <p:restoredTop sz="93672"/>
  </p:normalViewPr>
  <p:slideViewPr>
    <p:cSldViewPr snapToGrid="0">
      <p:cViewPr varScale="1">
        <p:scale>
          <a:sx n="146" d="100"/>
          <a:sy n="146" d="100"/>
        </p:scale>
        <p:origin x="1280"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04115D-719E-194D-A1E9-ADB97A688478}" type="datetimeFigureOut">
              <a:rPr lang="en-US" smtClean="0"/>
              <a:t>5/6/26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130E0A-8A80-7E42-93CE-DFDF53D19AAB}" type="slidenum">
              <a:rPr lang="en-US" smtClean="0"/>
              <a:t>‹#›</a:t>
            </a:fld>
            <a:endParaRPr lang="en-US"/>
          </a:p>
        </p:txBody>
      </p:sp>
    </p:spTree>
    <p:extLst>
      <p:ext uri="{BB962C8B-B14F-4D97-AF65-F5344CB8AC3E}">
        <p14:creationId xmlns:p14="http://schemas.microsoft.com/office/powerpoint/2010/main" val="1222079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7BD28-E1A2-6AEE-E144-278F94256B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5CAFAD-C711-C5B4-87E1-7A6E1E2610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5236C4-15FF-1D7C-725F-6FF7662022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4BE94C-A3D8-A094-B5DC-B0B1F08FE4B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76E3B6-4435-8642-AE57-CD54E637F96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78036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080DE-5A97-F385-0694-1869A21A86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108328-F018-1911-EF2D-DEEFB6E92B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3824EE-879F-580D-08AB-1144525CB5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76FF94-2100-BA66-39E7-C5C8567247B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76E3B6-4435-8642-AE57-CD54E637F96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045365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5D504-34F0-1B6E-8B31-684A30099E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00348C-8688-1787-CDD0-1B92AF297C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490606-0312-3CC1-CB54-E9A332B80D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13A042-0098-6645-C44F-46DE5931390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76E3B6-4435-8642-AE57-CD54E637F96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276472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B3DA8-8B60-4F87-64AC-D9822409E4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89E7ED-36DB-29C4-66AA-A1F0EBCB81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69F877-B262-7AC4-01FB-0D5F2C68F9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AABA87-76D6-1527-300A-FCEFDD846B0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76E3B6-4435-8642-AE57-CD54E637F96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11353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83B99-CA24-22BE-B141-B29D698260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3EDC7E-AEB6-4203-9342-757F837197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64B553-9D02-8794-F098-444EAB9D16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FD950D-5A31-8D91-6764-228AC5DA9C6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76E3B6-4435-8642-AE57-CD54E637F96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829990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Pretend you had some values below 1 – re-frame this as calculating the confidence interval for a proportion.</a:t>
            </a:r>
          </a:p>
        </p:txBody>
      </p:sp>
      <p:sp>
        <p:nvSpPr>
          <p:cNvPr id="4" name="Slide Number Placeholder 3"/>
          <p:cNvSpPr>
            <a:spLocks noGrp="1"/>
          </p:cNvSpPr>
          <p:nvPr>
            <p:ph type="sldNum" sz="quarter" idx="5"/>
          </p:nvPr>
        </p:nvSpPr>
        <p:spPr/>
        <p:txBody>
          <a:bodyPr/>
          <a:lstStyle/>
          <a:p>
            <a:fld id="{D2130E0A-8A80-7E42-93CE-DFDF53D19AAB}" type="slidenum">
              <a:rPr lang="en-US" smtClean="0"/>
              <a:t>7</a:t>
            </a:fld>
            <a:endParaRPr lang="en-US"/>
          </a:p>
        </p:txBody>
      </p:sp>
    </p:spTree>
    <p:extLst>
      <p:ext uri="{BB962C8B-B14F-4D97-AF65-F5344CB8AC3E}">
        <p14:creationId xmlns:p14="http://schemas.microsoft.com/office/powerpoint/2010/main" val="4679125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B9A4E-D356-A2D2-77BB-337B12F16D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CFBAC8-A37E-7411-463A-E91B19F8DF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2FE4DC-1F26-9499-474B-6FA6085388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A9D19A-A92A-A8D2-B6E7-1D06B029903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76E3B6-4435-8642-AE57-CD54E637F96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989081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7EFB3-A0A1-A404-61F6-B6673854DB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4F7B0C-3C60-5C38-768B-599B10DBE4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AE0AFF-A80B-F904-57DC-0916FD1D54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F8070F-300B-5384-AA66-6C8BAA3A976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76E3B6-4435-8642-AE57-CD54E637F96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007768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B1C63-C307-F02B-B175-251EEE3118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AF4A40-C7FC-027E-71D6-66107ACFE7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A12E56-4C63-AF8F-2C45-7464837851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2C6942-61B4-4A31-9444-E853D480C3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76E3B6-4435-8642-AE57-CD54E637F96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123266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A111A-E04B-8DF5-EEB6-04354D315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DA994D-2CE1-E993-94DC-E4C183E7CE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3EAB8D-BB9A-144A-9B1A-9ED1BC0EFF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DDBDDC-EBBC-B26A-BB74-C1204A385F4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76E3B6-4435-8642-AE57-CD54E637F96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265449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21D18-F7FD-09D3-FB3B-3D78B60A99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F94779-ED67-75B8-BD7C-7E38B4A0ED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4EC288-F541-8AD4-5ADE-E76FD1F9AE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2A84A8-B7FE-EF58-7C8C-58159878C06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76E3B6-4435-8642-AE57-CD54E637F96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594384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Designing a null- and alternative hypothesis</a:t>
            </a:r>
          </a:p>
        </p:txBody>
      </p:sp>
      <p:sp>
        <p:nvSpPr>
          <p:cNvPr id="4" name="Slide Number Placeholder 3"/>
          <p:cNvSpPr>
            <a:spLocks noGrp="1"/>
          </p:cNvSpPr>
          <p:nvPr>
            <p:ph type="sldNum" sz="quarter" idx="10"/>
          </p:nvPr>
        </p:nvSpPr>
        <p:spPr/>
        <p:txBody>
          <a:bodyPr/>
          <a:lstStyle/>
          <a:p>
            <a:fld id="{19775814-5E86-5743-808B-FA33B96378ED}" type="slidenum">
              <a:rPr lang="nl-NL" smtClean="0"/>
              <a:t>20</a:t>
            </a:fld>
            <a:endParaRPr lang="nl-NL"/>
          </a:p>
        </p:txBody>
      </p:sp>
    </p:spTree>
    <p:extLst>
      <p:ext uri="{BB962C8B-B14F-4D97-AF65-F5344CB8AC3E}">
        <p14:creationId xmlns:p14="http://schemas.microsoft.com/office/powerpoint/2010/main" val="15521175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5E300-BAB6-D438-56D4-90352C5570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8CBB83-AECA-50A7-71D4-C93DC1BE83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0A064C-C479-EE0B-0424-E5B691D94B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BACBED-2140-EE1C-0530-A876021F553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76E3B6-4435-8642-AE57-CD54E637F96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119967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130E0A-8A80-7E42-93CE-DFDF53D19AAB}" type="slidenum">
              <a:rPr lang="en-US" smtClean="0"/>
              <a:t>22</a:t>
            </a:fld>
            <a:endParaRPr lang="en-US"/>
          </a:p>
        </p:txBody>
      </p:sp>
    </p:spTree>
    <p:extLst>
      <p:ext uri="{BB962C8B-B14F-4D97-AF65-F5344CB8AC3E}">
        <p14:creationId xmlns:p14="http://schemas.microsoft.com/office/powerpoint/2010/main" val="12071488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A04DF-FE14-C8E8-C261-50D664B821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4500DF-6075-E873-3090-4E12D4F961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358B8C-EAFB-22BE-1BEE-C95F599E30CD}"/>
              </a:ext>
            </a:extLst>
          </p:cNvPr>
          <p:cNvSpPr>
            <a:spLocks noGrp="1"/>
          </p:cNvSpPr>
          <p:nvPr>
            <p:ph type="body" idx="1"/>
          </p:nvPr>
        </p:nvSpPr>
        <p:spPr/>
        <p:txBody>
          <a:bodyPr/>
          <a:lstStyle/>
          <a:p>
            <a:r>
              <a:rPr lang="en-US" dirty="0"/>
              <a:t>For an assumed population of 64, and p0 = 0.5</a:t>
            </a:r>
          </a:p>
        </p:txBody>
      </p:sp>
      <p:sp>
        <p:nvSpPr>
          <p:cNvPr id="4" name="Slide Number Placeholder 3">
            <a:extLst>
              <a:ext uri="{FF2B5EF4-FFF2-40B4-BE49-F238E27FC236}">
                <a16:creationId xmlns:a16="http://schemas.microsoft.com/office/drawing/2014/main" id="{247C6CEB-DF66-9AA5-9794-3C56E467765E}"/>
              </a:ext>
            </a:extLst>
          </p:cNvPr>
          <p:cNvSpPr>
            <a:spLocks noGrp="1"/>
          </p:cNvSpPr>
          <p:nvPr>
            <p:ph type="sldNum" sz="quarter" idx="10"/>
          </p:nvPr>
        </p:nvSpPr>
        <p:spPr/>
        <p:txBody>
          <a:bodyPr/>
          <a:lstStyle/>
          <a:p>
            <a:fld id="{19775814-5E86-5743-808B-FA33B96378ED}" type="slidenum">
              <a:rPr lang="nl-NL" smtClean="0"/>
              <a:t>26</a:t>
            </a:fld>
            <a:endParaRPr lang="nl-NL"/>
          </a:p>
        </p:txBody>
      </p:sp>
    </p:spTree>
    <p:extLst>
      <p:ext uri="{BB962C8B-B14F-4D97-AF65-F5344CB8AC3E}">
        <p14:creationId xmlns:p14="http://schemas.microsoft.com/office/powerpoint/2010/main" val="20264103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675DD-A229-2E23-0327-F90DA4730D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319E1C-FB1A-8321-0B59-18A2338211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991FCB-7849-2ABD-A96E-4F8CFF076698}"/>
              </a:ext>
            </a:extLst>
          </p:cNvPr>
          <p:cNvSpPr>
            <a:spLocks noGrp="1"/>
          </p:cNvSpPr>
          <p:nvPr>
            <p:ph type="body" idx="1"/>
          </p:nvPr>
        </p:nvSpPr>
        <p:spPr/>
        <p:txBody>
          <a:bodyPr/>
          <a:lstStyle/>
          <a:p>
            <a:r>
              <a:rPr lang="en-US" dirty="0"/>
              <a:t>Why? Because, just like in sex-ed, I want you to know how to use the right protection before you do anything. </a:t>
            </a:r>
          </a:p>
        </p:txBody>
      </p:sp>
      <p:sp>
        <p:nvSpPr>
          <p:cNvPr id="4" name="Slide Number Placeholder 3">
            <a:extLst>
              <a:ext uri="{FF2B5EF4-FFF2-40B4-BE49-F238E27FC236}">
                <a16:creationId xmlns:a16="http://schemas.microsoft.com/office/drawing/2014/main" id="{C0C2285D-387A-0C72-B98B-D867CFE45C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76E3B6-4435-8642-AE57-CD54E637F96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46798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130E0A-8A80-7E42-93CE-DFDF53D19AAB}" type="slidenum">
              <a:rPr lang="en-US" smtClean="0"/>
              <a:t>36</a:t>
            </a:fld>
            <a:endParaRPr lang="en-US"/>
          </a:p>
        </p:txBody>
      </p:sp>
    </p:spTree>
    <p:extLst>
      <p:ext uri="{BB962C8B-B14F-4D97-AF65-F5344CB8AC3E}">
        <p14:creationId xmlns:p14="http://schemas.microsoft.com/office/powerpoint/2010/main" val="9257696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Identify standard error. </a:t>
            </a:r>
          </a:p>
          <a:p>
            <a:r>
              <a:rPr lang="en-US" dirty="0"/>
              <a:t>Identify the confidence interval hiding in plain sight. </a:t>
            </a:r>
          </a:p>
        </p:txBody>
      </p:sp>
      <p:sp>
        <p:nvSpPr>
          <p:cNvPr id="4" name="Slide Number Placeholder 3"/>
          <p:cNvSpPr>
            <a:spLocks noGrp="1"/>
          </p:cNvSpPr>
          <p:nvPr>
            <p:ph type="sldNum" sz="quarter" idx="10"/>
          </p:nvPr>
        </p:nvSpPr>
        <p:spPr/>
        <p:txBody>
          <a:bodyPr/>
          <a:lstStyle/>
          <a:p>
            <a:fld id="{19775814-5E86-5743-808B-FA33B96378ED}" type="slidenum">
              <a:rPr lang="nl-NL" smtClean="0"/>
              <a:t>39</a:t>
            </a:fld>
            <a:endParaRPr lang="nl-NL"/>
          </a:p>
        </p:txBody>
      </p:sp>
    </p:spTree>
    <p:extLst>
      <p:ext uri="{BB962C8B-B14F-4D97-AF65-F5344CB8AC3E}">
        <p14:creationId xmlns:p14="http://schemas.microsoft.com/office/powerpoint/2010/main" val="27262309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relationship to confidence interval!</a:t>
            </a:r>
          </a:p>
        </p:txBody>
      </p:sp>
      <p:sp>
        <p:nvSpPr>
          <p:cNvPr id="4" name="Slide Number Placeholder 3"/>
          <p:cNvSpPr>
            <a:spLocks noGrp="1"/>
          </p:cNvSpPr>
          <p:nvPr>
            <p:ph type="sldNum" sz="quarter" idx="10"/>
          </p:nvPr>
        </p:nvSpPr>
        <p:spPr/>
        <p:txBody>
          <a:bodyPr/>
          <a:lstStyle/>
          <a:p>
            <a:fld id="{19775814-5E86-5743-808B-FA33B96378ED}" type="slidenum">
              <a:rPr lang="nl-NL" smtClean="0"/>
              <a:t>40</a:t>
            </a:fld>
            <a:endParaRPr lang="nl-NL"/>
          </a:p>
        </p:txBody>
      </p:sp>
    </p:spTree>
    <p:extLst>
      <p:ext uri="{BB962C8B-B14F-4D97-AF65-F5344CB8AC3E}">
        <p14:creationId xmlns:p14="http://schemas.microsoft.com/office/powerpoint/2010/main" val="33856249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Identify standard error. </a:t>
            </a:r>
          </a:p>
          <a:p>
            <a:r>
              <a:rPr lang="en-US" dirty="0"/>
              <a:t>Identify the confidence interval hiding in plain sight. </a:t>
            </a:r>
          </a:p>
          <a:p>
            <a:endParaRPr lang="en-US" dirty="0"/>
          </a:p>
        </p:txBody>
      </p:sp>
      <p:sp>
        <p:nvSpPr>
          <p:cNvPr id="4" name="Slide Number Placeholder 3"/>
          <p:cNvSpPr>
            <a:spLocks noGrp="1"/>
          </p:cNvSpPr>
          <p:nvPr>
            <p:ph type="sldNum" sz="quarter" idx="10"/>
          </p:nvPr>
        </p:nvSpPr>
        <p:spPr/>
        <p:txBody>
          <a:bodyPr/>
          <a:lstStyle/>
          <a:p>
            <a:fld id="{19775814-5E86-5743-808B-FA33B96378ED}" type="slidenum">
              <a:rPr lang="nl-NL" smtClean="0"/>
              <a:t>41</a:t>
            </a:fld>
            <a:endParaRPr lang="nl-NL"/>
          </a:p>
        </p:txBody>
      </p:sp>
    </p:spTree>
    <p:extLst>
      <p:ext uri="{BB962C8B-B14F-4D97-AF65-F5344CB8AC3E}">
        <p14:creationId xmlns:p14="http://schemas.microsoft.com/office/powerpoint/2010/main" val="25352528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775814-5E86-5743-808B-FA33B96378ED}" type="slidenum">
              <a:rPr lang="nl-NL" smtClean="0"/>
              <a:t>42</a:t>
            </a:fld>
            <a:endParaRPr lang="nl-NL"/>
          </a:p>
        </p:txBody>
      </p:sp>
    </p:spTree>
    <p:extLst>
      <p:ext uri="{BB962C8B-B14F-4D97-AF65-F5344CB8AC3E}">
        <p14:creationId xmlns:p14="http://schemas.microsoft.com/office/powerpoint/2010/main" val="14952346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as the fish sat in the scanner, they showed it "a series of photographs depicting human individuals in social situations." To maintain the rigor of the protocol (and perhaps because it was hilarious), the salmon, just like a human test subject, "was asked to determine what emotion the individual in the photo must have been experiencing.” P&lt;0.001</a:t>
            </a:r>
          </a:p>
          <a:p>
            <a:endParaRPr lang="en-US" dirty="0"/>
          </a:p>
        </p:txBody>
      </p:sp>
      <p:sp>
        <p:nvSpPr>
          <p:cNvPr id="4" name="Slide Number Placeholder 3"/>
          <p:cNvSpPr>
            <a:spLocks noGrp="1"/>
          </p:cNvSpPr>
          <p:nvPr>
            <p:ph type="sldNum" sz="quarter" idx="5"/>
          </p:nvPr>
        </p:nvSpPr>
        <p:spPr/>
        <p:txBody>
          <a:bodyPr/>
          <a:lstStyle/>
          <a:p>
            <a:fld id="{D2130E0A-8A80-7E42-93CE-DFDF53D19AAB}" type="slidenum">
              <a:rPr lang="en-US" smtClean="0"/>
              <a:t>49</a:t>
            </a:fld>
            <a:endParaRPr lang="en-US"/>
          </a:p>
        </p:txBody>
      </p:sp>
    </p:spTree>
    <p:extLst>
      <p:ext uri="{BB962C8B-B14F-4D97-AF65-F5344CB8AC3E}">
        <p14:creationId xmlns:p14="http://schemas.microsoft.com/office/powerpoint/2010/main" val="34456068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3D55C-B19F-A8CB-BD7E-B261812BDC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154BE5-E5FA-5F1A-5713-96B1DDF810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5C3B0A-A808-4922-C86A-383A215484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DCA6BD-40C2-E8CA-BA95-A38AAE658DC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76E3B6-4435-8642-AE57-CD54E637F96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314616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17DB2-D646-B17E-D3F3-7228BCC6B3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917081-F69E-E272-1285-754E2FAA60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2D1404-7314-FD13-CB3A-117858185F3E}"/>
              </a:ext>
            </a:extLst>
          </p:cNvPr>
          <p:cNvSpPr>
            <a:spLocks noGrp="1"/>
          </p:cNvSpPr>
          <p:nvPr>
            <p:ph type="body" idx="1"/>
          </p:nvPr>
        </p:nvSpPr>
        <p:spPr/>
        <p:txBody>
          <a:bodyPr/>
          <a:lstStyle/>
          <a:p>
            <a:r>
              <a:rPr lang="en-US" b="0" i="0" dirty="0">
                <a:solidFill>
                  <a:srgbClr val="000000"/>
                </a:solidFill>
                <a:effectLst/>
                <a:latin typeface="Times New Roman" panose="02020603050405020304" pitchFamily="18" charset="0"/>
              </a:rPr>
              <a:t>If this had been done using the total deaths for men and women shown in </a:t>
            </a:r>
            <a:r>
              <a:rPr lang="en-US" b="0" i="0" u="none" strike="noStrike" dirty="0">
                <a:effectLst/>
                <a:latin typeface="Times New Roman" panose="02020603050405020304" pitchFamily="18" charset="0"/>
              </a:rPr>
              <a:t>Figure 10.3</a:t>
            </a:r>
            <a:r>
              <a:rPr lang="en-US" b="0" i="0" dirty="0">
                <a:solidFill>
                  <a:srgbClr val="000000"/>
                </a:solidFill>
                <a:effectLst/>
                <a:latin typeface="Times New Roman" panose="02020603050405020304" pitchFamily="18" charset="0"/>
              </a:rPr>
              <a:t>, then in 1979, after only three years of monitoring, there would have been a one-sided P-value of 0.004 arising from comparing 40 observed deaths while only expecting 25.3.</a:t>
            </a:r>
            <a:r>
              <a:rPr lang="en-US" b="0" i="0" u="none" strike="noStrike" baseline="30000" dirty="0">
                <a:effectLst/>
                <a:latin typeface="Times New Roman" panose="02020603050405020304" pitchFamily="18" charset="0"/>
              </a:rPr>
              <a:t>fn7</a:t>
            </a:r>
            <a:r>
              <a:rPr lang="en-US" b="0" i="0" dirty="0">
                <a:solidFill>
                  <a:srgbClr val="000000"/>
                </a:solidFill>
                <a:effectLst/>
                <a:latin typeface="Times New Roman" panose="02020603050405020304" pitchFamily="18" charset="0"/>
              </a:rPr>
              <a:t> The results could have been declared ‘statistically significant’ and Shipman investigated and detected.</a:t>
            </a:r>
            <a:endParaRPr lang="en-US" dirty="0"/>
          </a:p>
        </p:txBody>
      </p:sp>
      <p:sp>
        <p:nvSpPr>
          <p:cNvPr id="4" name="Slide Number Placeholder 3">
            <a:extLst>
              <a:ext uri="{FF2B5EF4-FFF2-40B4-BE49-F238E27FC236}">
                <a16:creationId xmlns:a16="http://schemas.microsoft.com/office/drawing/2014/main" id="{9BC20ACC-3EE2-9F94-5CE0-D4DC6C9E9E4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76E3B6-4435-8642-AE57-CD54E637F96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706739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8C7DE-43B3-7DA1-88E7-65BA197F2B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35F7B0-28F0-0313-01FF-41E2C02783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7A995F-EABA-8212-E69A-3F444BA9A5E8}"/>
              </a:ext>
            </a:extLst>
          </p:cNvPr>
          <p:cNvSpPr>
            <a:spLocks noGrp="1"/>
          </p:cNvSpPr>
          <p:nvPr>
            <p:ph type="body" idx="1"/>
          </p:nvPr>
        </p:nvSpPr>
        <p:spPr/>
        <p:txBody>
          <a:bodyPr/>
          <a:lstStyle/>
          <a:p>
            <a:r>
              <a:rPr lang="en-US" b="0" i="0" dirty="0">
                <a:solidFill>
                  <a:srgbClr val="000000"/>
                </a:solidFill>
                <a:effectLst/>
                <a:latin typeface="Times New Roman" panose="02020603050405020304" pitchFamily="18" charset="0"/>
              </a:rPr>
              <a:t>If this had been done using the total deaths for men and women shown in </a:t>
            </a:r>
            <a:r>
              <a:rPr lang="en-US" b="0" i="0" u="none" strike="noStrike" dirty="0">
                <a:effectLst/>
                <a:latin typeface="Times New Roman" panose="02020603050405020304" pitchFamily="18" charset="0"/>
              </a:rPr>
              <a:t>Figure 10.3</a:t>
            </a:r>
            <a:r>
              <a:rPr lang="en-US" b="0" i="0" dirty="0">
                <a:solidFill>
                  <a:srgbClr val="000000"/>
                </a:solidFill>
                <a:effectLst/>
                <a:latin typeface="Times New Roman" panose="02020603050405020304" pitchFamily="18" charset="0"/>
              </a:rPr>
              <a:t>, then in 1979, after only three years of monitoring, there would have been a one-sided P-value of 0.004 arising from comparing 40 observed deaths while only expecting 25.3.</a:t>
            </a:r>
            <a:r>
              <a:rPr lang="en-US" b="0" i="0" u="none" strike="noStrike" baseline="30000" dirty="0">
                <a:effectLst/>
                <a:latin typeface="Times New Roman" panose="02020603050405020304" pitchFamily="18" charset="0"/>
              </a:rPr>
              <a:t>fn7</a:t>
            </a:r>
            <a:r>
              <a:rPr lang="en-US" b="0" i="0" dirty="0">
                <a:solidFill>
                  <a:srgbClr val="000000"/>
                </a:solidFill>
                <a:effectLst/>
                <a:latin typeface="Times New Roman" panose="02020603050405020304" pitchFamily="18" charset="0"/>
              </a:rPr>
              <a:t> The results could have been declared ‘statistically significant’ and Shipman investigated and detected.</a:t>
            </a:r>
            <a:endParaRPr lang="en-US" dirty="0"/>
          </a:p>
        </p:txBody>
      </p:sp>
      <p:sp>
        <p:nvSpPr>
          <p:cNvPr id="4" name="Slide Number Placeholder 3">
            <a:extLst>
              <a:ext uri="{FF2B5EF4-FFF2-40B4-BE49-F238E27FC236}">
                <a16:creationId xmlns:a16="http://schemas.microsoft.com/office/drawing/2014/main" id="{13CA4667-3B55-9611-5FB7-8CFC37BFF89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76E3B6-4435-8642-AE57-CD54E637F96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419878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4ECB9-9277-5D83-B8C1-302C520B0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4A8AC1-42BF-007E-60E7-4A42E428DC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25A1A9-89F0-5580-38DB-E8B9AC8ACEE2}"/>
              </a:ext>
            </a:extLst>
          </p:cNvPr>
          <p:cNvSpPr>
            <a:spLocks noGrp="1"/>
          </p:cNvSpPr>
          <p:nvPr>
            <p:ph type="body" idx="1"/>
          </p:nvPr>
        </p:nvSpPr>
        <p:spPr/>
        <p:txBody>
          <a:bodyPr/>
          <a:lstStyle/>
          <a:p>
            <a:r>
              <a:rPr lang="en-US" b="0" i="0" dirty="0">
                <a:solidFill>
                  <a:srgbClr val="000000"/>
                </a:solidFill>
                <a:effectLst/>
                <a:latin typeface="Times New Roman" panose="02020603050405020304" pitchFamily="18" charset="0"/>
              </a:rPr>
              <a:t>If this had been done using the total deaths for men and women shown in </a:t>
            </a:r>
            <a:r>
              <a:rPr lang="en-US" b="0" i="0" u="none" strike="noStrike" dirty="0">
                <a:effectLst/>
                <a:latin typeface="Times New Roman" panose="02020603050405020304" pitchFamily="18" charset="0"/>
              </a:rPr>
              <a:t>Figure 10.3</a:t>
            </a:r>
            <a:r>
              <a:rPr lang="en-US" b="0" i="0" dirty="0">
                <a:solidFill>
                  <a:srgbClr val="000000"/>
                </a:solidFill>
                <a:effectLst/>
                <a:latin typeface="Times New Roman" panose="02020603050405020304" pitchFamily="18" charset="0"/>
              </a:rPr>
              <a:t>, then in 1979, after only three years of monitoring, there would have been a one-sided P-value of 0.004 arising from comparing 40 observed deaths while only expecting 25.3.</a:t>
            </a:r>
            <a:r>
              <a:rPr lang="en-US" b="0" i="0" u="none" strike="noStrike" baseline="30000" dirty="0">
                <a:effectLst/>
                <a:latin typeface="Times New Roman" panose="02020603050405020304" pitchFamily="18" charset="0"/>
              </a:rPr>
              <a:t>fn7</a:t>
            </a:r>
            <a:r>
              <a:rPr lang="en-US" b="0" i="0" dirty="0">
                <a:solidFill>
                  <a:srgbClr val="000000"/>
                </a:solidFill>
                <a:effectLst/>
                <a:latin typeface="Times New Roman" panose="02020603050405020304" pitchFamily="18" charset="0"/>
              </a:rPr>
              <a:t> The results could have been declared ‘statistically significant’ and Shipman investigated and detected.</a:t>
            </a:r>
            <a:endParaRPr lang="en-US" dirty="0"/>
          </a:p>
        </p:txBody>
      </p:sp>
      <p:sp>
        <p:nvSpPr>
          <p:cNvPr id="4" name="Slide Number Placeholder 3">
            <a:extLst>
              <a:ext uri="{FF2B5EF4-FFF2-40B4-BE49-F238E27FC236}">
                <a16:creationId xmlns:a16="http://schemas.microsoft.com/office/drawing/2014/main" id="{205C0ADC-4B9F-2887-0A51-EB4385D187D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76E3B6-4435-8642-AE57-CD54E637F96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24083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050C2-7DAC-8299-D333-8BBF831CA7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CD2826-4772-8952-AD5E-0C5B9DB1BB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1D3441-E7E1-D6AC-A990-0678D7476D27}"/>
              </a:ext>
            </a:extLst>
          </p:cNvPr>
          <p:cNvSpPr>
            <a:spLocks noGrp="1"/>
          </p:cNvSpPr>
          <p:nvPr>
            <p:ph type="body" idx="1"/>
          </p:nvPr>
        </p:nvSpPr>
        <p:spPr/>
        <p:txBody>
          <a:bodyPr/>
          <a:lstStyle/>
          <a:p>
            <a:r>
              <a:rPr lang="en-US" b="0" i="0" dirty="0">
                <a:solidFill>
                  <a:srgbClr val="000000"/>
                </a:solidFill>
                <a:effectLst/>
                <a:latin typeface="Times New Roman" panose="02020603050405020304" pitchFamily="18" charset="0"/>
              </a:rPr>
              <a:t>If this had been done using the total deaths for men and women shown in </a:t>
            </a:r>
            <a:r>
              <a:rPr lang="en-US" b="0" i="0" u="none" strike="noStrike" dirty="0">
                <a:effectLst/>
                <a:latin typeface="Times New Roman" panose="02020603050405020304" pitchFamily="18" charset="0"/>
              </a:rPr>
              <a:t>Figure 10.3</a:t>
            </a:r>
            <a:r>
              <a:rPr lang="en-US" b="0" i="0" dirty="0">
                <a:solidFill>
                  <a:srgbClr val="000000"/>
                </a:solidFill>
                <a:effectLst/>
                <a:latin typeface="Times New Roman" panose="02020603050405020304" pitchFamily="18" charset="0"/>
              </a:rPr>
              <a:t>, then in 1979, after only three years of monitoring, there would have been a one-sided P-value of 0.004 arising from comparing 40 observed deaths while only expecting 25.3.</a:t>
            </a:r>
            <a:r>
              <a:rPr lang="en-US" b="0" i="0" u="none" strike="noStrike" baseline="30000" dirty="0">
                <a:effectLst/>
                <a:latin typeface="Times New Roman" panose="02020603050405020304" pitchFamily="18" charset="0"/>
              </a:rPr>
              <a:t>fn7</a:t>
            </a:r>
            <a:r>
              <a:rPr lang="en-US" b="0" i="0" dirty="0">
                <a:solidFill>
                  <a:srgbClr val="000000"/>
                </a:solidFill>
                <a:effectLst/>
                <a:latin typeface="Times New Roman" panose="02020603050405020304" pitchFamily="18" charset="0"/>
              </a:rPr>
              <a:t> The results could have been declared ‘statistically significant’ and Shipman investigated and detected.</a:t>
            </a:r>
            <a:endParaRPr lang="en-US" dirty="0"/>
          </a:p>
        </p:txBody>
      </p:sp>
      <p:sp>
        <p:nvSpPr>
          <p:cNvPr id="4" name="Slide Number Placeholder 3">
            <a:extLst>
              <a:ext uri="{FF2B5EF4-FFF2-40B4-BE49-F238E27FC236}">
                <a16:creationId xmlns:a16="http://schemas.microsoft.com/office/drawing/2014/main" id="{E3E08FB6-241B-0179-9F58-1E0D7210A83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76E3B6-4435-8642-AE57-CD54E637F96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906283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1E123-600A-E118-3590-65F0081222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AA60F-56FF-E245-8DB4-4E50274A22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214FE4-60D5-380D-CB4B-B7EBE69BAAB0}"/>
              </a:ext>
            </a:extLst>
          </p:cNvPr>
          <p:cNvSpPr>
            <a:spLocks noGrp="1"/>
          </p:cNvSpPr>
          <p:nvPr>
            <p:ph type="body" idx="1"/>
          </p:nvPr>
        </p:nvSpPr>
        <p:spPr/>
        <p:txBody>
          <a:bodyPr/>
          <a:lstStyle/>
          <a:p>
            <a:r>
              <a:rPr lang="en-US" b="0" i="0" dirty="0">
                <a:solidFill>
                  <a:srgbClr val="000000"/>
                </a:solidFill>
                <a:effectLst/>
                <a:latin typeface="Times New Roman" panose="02020603050405020304" pitchFamily="18" charset="0"/>
              </a:rPr>
              <a:t>If this had been done using the total deaths for men and women shown in </a:t>
            </a:r>
            <a:r>
              <a:rPr lang="en-US" b="0" i="0" u="none" strike="noStrike" dirty="0">
                <a:effectLst/>
                <a:latin typeface="Times New Roman" panose="02020603050405020304" pitchFamily="18" charset="0"/>
              </a:rPr>
              <a:t>Figure 10.3</a:t>
            </a:r>
            <a:r>
              <a:rPr lang="en-US" b="0" i="0" dirty="0">
                <a:solidFill>
                  <a:srgbClr val="000000"/>
                </a:solidFill>
                <a:effectLst/>
                <a:latin typeface="Times New Roman" panose="02020603050405020304" pitchFamily="18" charset="0"/>
              </a:rPr>
              <a:t>, then in 1979, after only three years of monitoring, there would have been a one-sided P-value of 0.004 arising from comparing 40 observed deaths while only expecting 25.3.</a:t>
            </a:r>
            <a:r>
              <a:rPr lang="en-US" b="0" i="0" u="none" strike="noStrike" baseline="30000" dirty="0">
                <a:solidFill>
                  <a:srgbClr val="000000"/>
                </a:solidFill>
                <a:effectLst/>
                <a:latin typeface="Times New Roman" panose="02020603050405020304" pitchFamily="18" charset="0"/>
              </a:rPr>
              <a:t> </a:t>
            </a:r>
            <a:r>
              <a:rPr lang="en-US" b="0" i="0" dirty="0">
                <a:solidFill>
                  <a:srgbClr val="000000"/>
                </a:solidFill>
                <a:effectLst/>
                <a:latin typeface="Times New Roman" panose="02020603050405020304" pitchFamily="18" charset="0"/>
              </a:rPr>
              <a:t>The results could have been declared ‘statistically significant’ and Shipman investigated and detected.</a:t>
            </a:r>
            <a:endParaRPr lang="en-US" dirty="0"/>
          </a:p>
        </p:txBody>
      </p:sp>
      <p:sp>
        <p:nvSpPr>
          <p:cNvPr id="4" name="Slide Number Placeholder 3">
            <a:extLst>
              <a:ext uri="{FF2B5EF4-FFF2-40B4-BE49-F238E27FC236}">
                <a16:creationId xmlns:a16="http://schemas.microsoft.com/office/drawing/2014/main" id="{0488A4A6-326B-0FAB-66A5-C553BA9FEB1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76E3B6-4435-8642-AE57-CD54E637F96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235068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9BC5D-C47E-3BFE-3D89-2776507570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3D9426-1635-AB55-66CF-8B16ABBCB5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876E8B-7925-9EC9-17EE-F86FEF1D3D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C132FD-F63E-E10F-3297-DAC12A13913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76E3B6-4435-8642-AE57-CD54E637F96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11621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FB818-0280-3CF4-3C11-CE49A94275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DA3E2-E34E-2402-1974-062173F008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4BBD5A-59B7-E2BC-CB46-44004A3CD6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1396EC-7E8A-040A-B2A8-71EA9632E11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76E3B6-4435-8642-AE57-CD54E637F96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558411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2.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em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2.xml"/><Relationship Id="rId4" Type="http://schemas.openxmlformats.org/officeDocument/2006/relationships/image" Target="../media/image7.emf"/></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Master" Target="../slideMasters/slideMaster2.xml"/><Relationship Id="rId4" Type="http://schemas.openxmlformats.org/officeDocument/2006/relationships/image" Target="../media/image2.emf"/></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g"/><Relationship Id="rId1" Type="http://schemas.openxmlformats.org/officeDocument/2006/relationships/slideMaster" Target="../slideMasters/slideMaster2.xml"/><Relationship Id="rId4" Type="http://schemas.openxmlformats.org/officeDocument/2006/relationships/image" Target="../media/image2.emf"/></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1.e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1.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F3AD2-142F-849B-83B8-D4892E7CA3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259847B-3FAE-00F9-442E-FB8E53EEA6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12E8FB5-CD57-1F00-BB20-B0C71EC30796}"/>
              </a:ext>
            </a:extLst>
          </p:cNvPr>
          <p:cNvSpPr>
            <a:spLocks noGrp="1"/>
          </p:cNvSpPr>
          <p:nvPr>
            <p:ph type="dt" sz="half" idx="10"/>
          </p:nvPr>
        </p:nvSpPr>
        <p:spPr/>
        <p:txBody>
          <a:bodyPr/>
          <a:lstStyle/>
          <a:p>
            <a:fld id="{EF593327-1605-AF46-91A0-F6E1F4507FA8}" type="datetimeFigureOut">
              <a:rPr lang="en-US" smtClean="0"/>
              <a:t>5/6/26</a:t>
            </a:fld>
            <a:endParaRPr lang="en-US"/>
          </a:p>
        </p:txBody>
      </p:sp>
      <p:sp>
        <p:nvSpPr>
          <p:cNvPr id="5" name="Footer Placeholder 4">
            <a:extLst>
              <a:ext uri="{FF2B5EF4-FFF2-40B4-BE49-F238E27FC236}">
                <a16:creationId xmlns:a16="http://schemas.microsoft.com/office/drawing/2014/main" id="{3BB8D895-4937-0E6F-A536-C4A1BDE252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2F1770-D2BA-3805-4A26-2BA7110EEED1}"/>
              </a:ext>
            </a:extLst>
          </p:cNvPr>
          <p:cNvSpPr>
            <a:spLocks noGrp="1"/>
          </p:cNvSpPr>
          <p:nvPr>
            <p:ph type="sldNum" sz="quarter" idx="12"/>
          </p:nvPr>
        </p:nvSpPr>
        <p:spPr/>
        <p:txBody>
          <a:bodyPr/>
          <a:lstStyle/>
          <a:p>
            <a:fld id="{5C77DCDC-A28C-E64E-AD42-8861EA615284}" type="slidenum">
              <a:rPr lang="en-US" smtClean="0"/>
              <a:t>‹#›</a:t>
            </a:fld>
            <a:endParaRPr lang="en-US"/>
          </a:p>
        </p:txBody>
      </p:sp>
    </p:spTree>
    <p:extLst>
      <p:ext uri="{BB962C8B-B14F-4D97-AF65-F5344CB8AC3E}">
        <p14:creationId xmlns:p14="http://schemas.microsoft.com/office/powerpoint/2010/main" val="872260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DD038-8261-D6DE-7F3D-ED1AD67111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F2664A-5BE0-4660-1B68-686F9762BE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5D54AF-D4D6-EF06-B3B0-A7D85F8EE96C}"/>
              </a:ext>
            </a:extLst>
          </p:cNvPr>
          <p:cNvSpPr>
            <a:spLocks noGrp="1"/>
          </p:cNvSpPr>
          <p:nvPr>
            <p:ph type="dt" sz="half" idx="10"/>
          </p:nvPr>
        </p:nvSpPr>
        <p:spPr/>
        <p:txBody>
          <a:bodyPr/>
          <a:lstStyle/>
          <a:p>
            <a:fld id="{EF593327-1605-AF46-91A0-F6E1F4507FA8}" type="datetimeFigureOut">
              <a:rPr lang="en-US" smtClean="0"/>
              <a:t>5/6/26</a:t>
            </a:fld>
            <a:endParaRPr lang="en-US"/>
          </a:p>
        </p:txBody>
      </p:sp>
      <p:sp>
        <p:nvSpPr>
          <p:cNvPr id="5" name="Footer Placeholder 4">
            <a:extLst>
              <a:ext uri="{FF2B5EF4-FFF2-40B4-BE49-F238E27FC236}">
                <a16:creationId xmlns:a16="http://schemas.microsoft.com/office/drawing/2014/main" id="{62C51590-438E-C302-8CA1-6EEA83EC7E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CBCD8E-8FBF-6D18-98D3-528247EF25F4}"/>
              </a:ext>
            </a:extLst>
          </p:cNvPr>
          <p:cNvSpPr>
            <a:spLocks noGrp="1"/>
          </p:cNvSpPr>
          <p:nvPr>
            <p:ph type="sldNum" sz="quarter" idx="12"/>
          </p:nvPr>
        </p:nvSpPr>
        <p:spPr/>
        <p:txBody>
          <a:bodyPr/>
          <a:lstStyle/>
          <a:p>
            <a:fld id="{5C77DCDC-A28C-E64E-AD42-8861EA615284}" type="slidenum">
              <a:rPr lang="en-US" smtClean="0"/>
              <a:t>‹#›</a:t>
            </a:fld>
            <a:endParaRPr lang="en-US"/>
          </a:p>
        </p:txBody>
      </p:sp>
    </p:spTree>
    <p:extLst>
      <p:ext uri="{BB962C8B-B14F-4D97-AF65-F5344CB8AC3E}">
        <p14:creationId xmlns:p14="http://schemas.microsoft.com/office/powerpoint/2010/main" val="304643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3428D-9A0F-A1DA-B4EF-9DBF05B7A07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CB503E2-A61B-3927-F6BD-3A17D26CD0D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FE1E5C-042A-1778-DC9D-45256EBA09F5}"/>
              </a:ext>
            </a:extLst>
          </p:cNvPr>
          <p:cNvSpPr>
            <a:spLocks noGrp="1"/>
          </p:cNvSpPr>
          <p:nvPr>
            <p:ph type="dt" sz="half" idx="10"/>
          </p:nvPr>
        </p:nvSpPr>
        <p:spPr/>
        <p:txBody>
          <a:bodyPr/>
          <a:lstStyle/>
          <a:p>
            <a:fld id="{EF593327-1605-AF46-91A0-F6E1F4507FA8}" type="datetimeFigureOut">
              <a:rPr lang="en-US" smtClean="0"/>
              <a:t>5/6/26</a:t>
            </a:fld>
            <a:endParaRPr lang="en-US"/>
          </a:p>
        </p:txBody>
      </p:sp>
      <p:sp>
        <p:nvSpPr>
          <p:cNvPr id="5" name="Footer Placeholder 4">
            <a:extLst>
              <a:ext uri="{FF2B5EF4-FFF2-40B4-BE49-F238E27FC236}">
                <a16:creationId xmlns:a16="http://schemas.microsoft.com/office/drawing/2014/main" id="{597868A1-67D1-AF66-7BFD-E340BE8571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3AA263-7914-CD02-ACC5-6935C6F00A72}"/>
              </a:ext>
            </a:extLst>
          </p:cNvPr>
          <p:cNvSpPr>
            <a:spLocks noGrp="1"/>
          </p:cNvSpPr>
          <p:nvPr>
            <p:ph type="sldNum" sz="quarter" idx="12"/>
          </p:nvPr>
        </p:nvSpPr>
        <p:spPr/>
        <p:txBody>
          <a:bodyPr/>
          <a:lstStyle/>
          <a:p>
            <a:fld id="{5C77DCDC-A28C-E64E-AD42-8861EA615284}" type="slidenum">
              <a:rPr lang="en-US" smtClean="0"/>
              <a:t>‹#›</a:t>
            </a:fld>
            <a:endParaRPr lang="en-US"/>
          </a:p>
        </p:txBody>
      </p:sp>
    </p:spTree>
    <p:extLst>
      <p:ext uri="{BB962C8B-B14F-4D97-AF65-F5344CB8AC3E}">
        <p14:creationId xmlns:p14="http://schemas.microsoft.com/office/powerpoint/2010/main" val="565673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DCBB5-FFBA-FBCF-20F4-235C6911F2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466AC7-797D-F8BA-BCD9-D9887402C8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403E43-7E71-7E28-4204-37FC74F000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CD8B8F-4D35-D972-0AEF-E91E0BAA9F82}"/>
              </a:ext>
            </a:extLst>
          </p:cNvPr>
          <p:cNvSpPr>
            <a:spLocks noGrp="1"/>
          </p:cNvSpPr>
          <p:nvPr>
            <p:ph type="dt" sz="half" idx="10"/>
          </p:nvPr>
        </p:nvSpPr>
        <p:spPr/>
        <p:txBody>
          <a:bodyPr/>
          <a:lstStyle/>
          <a:p>
            <a:fld id="{EF593327-1605-AF46-91A0-F6E1F4507FA8}" type="datetimeFigureOut">
              <a:rPr lang="en-US" smtClean="0"/>
              <a:t>5/6/26</a:t>
            </a:fld>
            <a:endParaRPr lang="en-US"/>
          </a:p>
        </p:txBody>
      </p:sp>
      <p:sp>
        <p:nvSpPr>
          <p:cNvPr id="6" name="Footer Placeholder 5">
            <a:extLst>
              <a:ext uri="{FF2B5EF4-FFF2-40B4-BE49-F238E27FC236}">
                <a16:creationId xmlns:a16="http://schemas.microsoft.com/office/drawing/2014/main" id="{997A2447-71CB-6567-15E8-5E249A584C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FF2535-E261-A330-1FFC-F262210BEE89}"/>
              </a:ext>
            </a:extLst>
          </p:cNvPr>
          <p:cNvSpPr>
            <a:spLocks noGrp="1"/>
          </p:cNvSpPr>
          <p:nvPr>
            <p:ph type="sldNum" sz="quarter" idx="12"/>
          </p:nvPr>
        </p:nvSpPr>
        <p:spPr/>
        <p:txBody>
          <a:bodyPr/>
          <a:lstStyle/>
          <a:p>
            <a:fld id="{5C77DCDC-A28C-E64E-AD42-8861EA615284}" type="slidenum">
              <a:rPr lang="en-US" smtClean="0"/>
              <a:t>‹#›</a:t>
            </a:fld>
            <a:endParaRPr lang="en-US"/>
          </a:p>
        </p:txBody>
      </p:sp>
    </p:spTree>
    <p:extLst>
      <p:ext uri="{BB962C8B-B14F-4D97-AF65-F5344CB8AC3E}">
        <p14:creationId xmlns:p14="http://schemas.microsoft.com/office/powerpoint/2010/main" val="2936944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2D4F1-0BC0-140B-7718-7BBBF42A166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AB3346C-7655-2039-6F85-C0A46275B2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55A2D0-0BDB-7719-1841-A0D82E1E7E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BFBA072-95A2-8E78-06DC-C1F57A4CF0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D88D40-3B54-62E3-2EBE-EAABAEC03E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ECDCF71-A5FF-581B-A211-3D06D6DD9553}"/>
              </a:ext>
            </a:extLst>
          </p:cNvPr>
          <p:cNvSpPr>
            <a:spLocks noGrp="1"/>
          </p:cNvSpPr>
          <p:nvPr>
            <p:ph type="dt" sz="half" idx="10"/>
          </p:nvPr>
        </p:nvSpPr>
        <p:spPr/>
        <p:txBody>
          <a:bodyPr/>
          <a:lstStyle/>
          <a:p>
            <a:fld id="{EF593327-1605-AF46-91A0-F6E1F4507FA8}" type="datetimeFigureOut">
              <a:rPr lang="en-US" smtClean="0"/>
              <a:t>5/6/26</a:t>
            </a:fld>
            <a:endParaRPr lang="en-US"/>
          </a:p>
        </p:txBody>
      </p:sp>
      <p:sp>
        <p:nvSpPr>
          <p:cNvPr id="8" name="Footer Placeholder 7">
            <a:extLst>
              <a:ext uri="{FF2B5EF4-FFF2-40B4-BE49-F238E27FC236}">
                <a16:creationId xmlns:a16="http://schemas.microsoft.com/office/drawing/2014/main" id="{262C3C26-F16B-F6F9-061B-25985DFA6B1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F241E66-6C2F-540C-9BDF-C99375842AAB}"/>
              </a:ext>
            </a:extLst>
          </p:cNvPr>
          <p:cNvSpPr>
            <a:spLocks noGrp="1"/>
          </p:cNvSpPr>
          <p:nvPr>
            <p:ph type="sldNum" sz="quarter" idx="12"/>
          </p:nvPr>
        </p:nvSpPr>
        <p:spPr/>
        <p:txBody>
          <a:bodyPr/>
          <a:lstStyle/>
          <a:p>
            <a:fld id="{5C77DCDC-A28C-E64E-AD42-8861EA615284}" type="slidenum">
              <a:rPr lang="en-US" smtClean="0"/>
              <a:t>‹#›</a:t>
            </a:fld>
            <a:endParaRPr lang="en-US"/>
          </a:p>
        </p:txBody>
      </p:sp>
    </p:spTree>
    <p:extLst>
      <p:ext uri="{BB962C8B-B14F-4D97-AF65-F5344CB8AC3E}">
        <p14:creationId xmlns:p14="http://schemas.microsoft.com/office/powerpoint/2010/main" val="3885261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6AE26-A09A-0663-5D24-000876106C3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4769DA0-09D2-52E3-7963-1FA229739B88}"/>
              </a:ext>
            </a:extLst>
          </p:cNvPr>
          <p:cNvSpPr>
            <a:spLocks noGrp="1"/>
          </p:cNvSpPr>
          <p:nvPr>
            <p:ph type="dt" sz="half" idx="10"/>
          </p:nvPr>
        </p:nvSpPr>
        <p:spPr/>
        <p:txBody>
          <a:bodyPr/>
          <a:lstStyle/>
          <a:p>
            <a:fld id="{EF593327-1605-AF46-91A0-F6E1F4507FA8}" type="datetimeFigureOut">
              <a:rPr lang="en-US" smtClean="0"/>
              <a:t>5/6/26</a:t>
            </a:fld>
            <a:endParaRPr lang="en-US"/>
          </a:p>
        </p:txBody>
      </p:sp>
      <p:sp>
        <p:nvSpPr>
          <p:cNvPr id="4" name="Footer Placeholder 3">
            <a:extLst>
              <a:ext uri="{FF2B5EF4-FFF2-40B4-BE49-F238E27FC236}">
                <a16:creationId xmlns:a16="http://schemas.microsoft.com/office/drawing/2014/main" id="{0F81E23A-E0C7-5041-366B-1546C8DD0B6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6B6D5B-0843-F2D0-2EC5-6B7F63228C74}"/>
              </a:ext>
            </a:extLst>
          </p:cNvPr>
          <p:cNvSpPr>
            <a:spLocks noGrp="1"/>
          </p:cNvSpPr>
          <p:nvPr>
            <p:ph type="sldNum" sz="quarter" idx="12"/>
          </p:nvPr>
        </p:nvSpPr>
        <p:spPr/>
        <p:txBody>
          <a:bodyPr/>
          <a:lstStyle/>
          <a:p>
            <a:fld id="{5C77DCDC-A28C-E64E-AD42-8861EA615284}" type="slidenum">
              <a:rPr lang="en-US" smtClean="0"/>
              <a:t>‹#›</a:t>
            </a:fld>
            <a:endParaRPr lang="en-US"/>
          </a:p>
        </p:txBody>
      </p:sp>
    </p:spTree>
    <p:extLst>
      <p:ext uri="{BB962C8B-B14F-4D97-AF65-F5344CB8AC3E}">
        <p14:creationId xmlns:p14="http://schemas.microsoft.com/office/powerpoint/2010/main" val="3430149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FEEA36-E221-A840-DA53-10E6F63C366D}"/>
              </a:ext>
            </a:extLst>
          </p:cNvPr>
          <p:cNvSpPr>
            <a:spLocks noGrp="1"/>
          </p:cNvSpPr>
          <p:nvPr>
            <p:ph type="dt" sz="half" idx="10"/>
          </p:nvPr>
        </p:nvSpPr>
        <p:spPr/>
        <p:txBody>
          <a:bodyPr/>
          <a:lstStyle/>
          <a:p>
            <a:fld id="{EF593327-1605-AF46-91A0-F6E1F4507FA8}" type="datetimeFigureOut">
              <a:rPr lang="en-US" smtClean="0"/>
              <a:t>5/6/26</a:t>
            </a:fld>
            <a:endParaRPr lang="en-US"/>
          </a:p>
        </p:txBody>
      </p:sp>
      <p:sp>
        <p:nvSpPr>
          <p:cNvPr id="3" name="Footer Placeholder 2">
            <a:extLst>
              <a:ext uri="{FF2B5EF4-FFF2-40B4-BE49-F238E27FC236}">
                <a16:creationId xmlns:a16="http://schemas.microsoft.com/office/drawing/2014/main" id="{39B5FF29-04D2-E822-1FC9-AE4C4CC636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4D2F3F0-9D7D-9CA3-8CDB-9641C676972E}"/>
              </a:ext>
            </a:extLst>
          </p:cNvPr>
          <p:cNvSpPr>
            <a:spLocks noGrp="1"/>
          </p:cNvSpPr>
          <p:nvPr>
            <p:ph type="sldNum" sz="quarter" idx="12"/>
          </p:nvPr>
        </p:nvSpPr>
        <p:spPr/>
        <p:txBody>
          <a:bodyPr/>
          <a:lstStyle/>
          <a:p>
            <a:fld id="{5C77DCDC-A28C-E64E-AD42-8861EA615284}" type="slidenum">
              <a:rPr lang="en-US" smtClean="0"/>
              <a:t>‹#›</a:t>
            </a:fld>
            <a:endParaRPr lang="en-US"/>
          </a:p>
        </p:txBody>
      </p:sp>
    </p:spTree>
    <p:extLst>
      <p:ext uri="{BB962C8B-B14F-4D97-AF65-F5344CB8AC3E}">
        <p14:creationId xmlns:p14="http://schemas.microsoft.com/office/powerpoint/2010/main" val="25654039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E9BA6-3F5B-E5A1-641E-C3EC2440A0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2596B1E-C978-B198-520F-43D3C3F63D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E83022E-D0FF-6797-F322-1A8589287B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1CE474-B865-EE8F-B4BC-B636C082197D}"/>
              </a:ext>
            </a:extLst>
          </p:cNvPr>
          <p:cNvSpPr>
            <a:spLocks noGrp="1"/>
          </p:cNvSpPr>
          <p:nvPr>
            <p:ph type="dt" sz="half" idx="10"/>
          </p:nvPr>
        </p:nvSpPr>
        <p:spPr/>
        <p:txBody>
          <a:bodyPr/>
          <a:lstStyle/>
          <a:p>
            <a:fld id="{EF593327-1605-AF46-91A0-F6E1F4507FA8}" type="datetimeFigureOut">
              <a:rPr lang="en-US" smtClean="0"/>
              <a:t>5/6/26</a:t>
            </a:fld>
            <a:endParaRPr lang="en-US"/>
          </a:p>
        </p:txBody>
      </p:sp>
      <p:sp>
        <p:nvSpPr>
          <p:cNvPr id="6" name="Footer Placeholder 5">
            <a:extLst>
              <a:ext uri="{FF2B5EF4-FFF2-40B4-BE49-F238E27FC236}">
                <a16:creationId xmlns:a16="http://schemas.microsoft.com/office/drawing/2014/main" id="{F55ED7C6-8A35-443F-E2D5-75B7286500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36EFF6-1615-E497-0F08-5A9755A590C5}"/>
              </a:ext>
            </a:extLst>
          </p:cNvPr>
          <p:cNvSpPr>
            <a:spLocks noGrp="1"/>
          </p:cNvSpPr>
          <p:nvPr>
            <p:ph type="sldNum" sz="quarter" idx="12"/>
          </p:nvPr>
        </p:nvSpPr>
        <p:spPr/>
        <p:txBody>
          <a:bodyPr/>
          <a:lstStyle/>
          <a:p>
            <a:fld id="{5C77DCDC-A28C-E64E-AD42-8861EA615284}" type="slidenum">
              <a:rPr lang="en-US" smtClean="0"/>
              <a:t>‹#›</a:t>
            </a:fld>
            <a:endParaRPr lang="en-US"/>
          </a:p>
        </p:txBody>
      </p:sp>
    </p:spTree>
    <p:extLst>
      <p:ext uri="{BB962C8B-B14F-4D97-AF65-F5344CB8AC3E}">
        <p14:creationId xmlns:p14="http://schemas.microsoft.com/office/powerpoint/2010/main" val="2683578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53AC9-9C93-3C48-5CDB-F8BE9D60E1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543192-B804-70A0-0E8B-B0F421F4EF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9599B5-537D-4FD2-AA0B-179D878DB7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67EE7A-4714-7F97-8FD6-1BAA58DB0125}"/>
              </a:ext>
            </a:extLst>
          </p:cNvPr>
          <p:cNvSpPr>
            <a:spLocks noGrp="1"/>
          </p:cNvSpPr>
          <p:nvPr>
            <p:ph type="dt" sz="half" idx="10"/>
          </p:nvPr>
        </p:nvSpPr>
        <p:spPr/>
        <p:txBody>
          <a:bodyPr/>
          <a:lstStyle/>
          <a:p>
            <a:fld id="{EF593327-1605-AF46-91A0-F6E1F4507FA8}" type="datetimeFigureOut">
              <a:rPr lang="en-US" smtClean="0"/>
              <a:t>5/6/26</a:t>
            </a:fld>
            <a:endParaRPr lang="en-US"/>
          </a:p>
        </p:txBody>
      </p:sp>
      <p:sp>
        <p:nvSpPr>
          <p:cNvPr id="6" name="Footer Placeholder 5">
            <a:extLst>
              <a:ext uri="{FF2B5EF4-FFF2-40B4-BE49-F238E27FC236}">
                <a16:creationId xmlns:a16="http://schemas.microsoft.com/office/drawing/2014/main" id="{2DE80753-0A8A-6BD7-3E81-25089FECC7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F6F6D8-1FB6-502C-2472-7F0266795CCB}"/>
              </a:ext>
            </a:extLst>
          </p:cNvPr>
          <p:cNvSpPr>
            <a:spLocks noGrp="1"/>
          </p:cNvSpPr>
          <p:nvPr>
            <p:ph type="sldNum" sz="quarter" idx="12"/>
          </p:nvPr>
        </p:nvSpPr>
        <p:spPr/>
        <p:txBody>
          <a:bodyPr/>
          <a:lstStyle/>
          <a:p>
            <a:fld id="{5C77DCDC-A28C-E64E-AD42-8861EA615284}" type="slidenum">
              <a:rPr lang="en-US" smtClean="0"/>
              <a:t>‹#›</a:t>
            </a:fld>
            <a:endParaRPr lang="en-US"/>
          </a:p>
        </p:txBody>
      </p:sp>
    </p:spTree>
    <p:extLst>
      <p:ext uri="{BB962C8B-B14F-4D97-AF65-F5344CB8AC3E}">
        <p14:creationId xmlns:p14="http://schemas.microsoft.com/office/powerpoint/2010/main" val="1765951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C57CA-F278-ECA7-E528-557AF21729F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B4A09DA-44DA-3CAA-4401-3AEBE677B21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57B24F-7A12-6C50-A3C6-FD1617233478}"/>
              </a:ext>
            </a:extLst>
          </p:cNvPr>
          <p:cNvSpPr>
            <a:spLocks noGrp="1"/>
          </p:cNvSpPr>
          <p:nvPr>
            <p:ph type="dt" sz="half" idx="10"/>
          </p:nvPr>
        </p:nvSpPr>
        <p:spPr/>
        <p:txBody>
          <a:bodyPr/>
          <a:lstStyle/>
          <a:p>
            <a:fld id="{EF593327-1605-AF46-91A0-F6E1F4507FA8}" type="datetimeFigureOut">
              <a:rPr lang="en-US" smtClean="0"/>
              <a:t>5/6/26</a:t>
            </a:fld>
            <a:endParaRPr lang="en-US"/>
          </a:p>
        </p:txBody>
      </p:sp>
      <p:sp>
        <p:nvSpPr>
          <p:cNvPr id="5" name="Footer Placeholder 4">
            <a:extLst>
              <a:ext uri="{FF2B5EF4-FFF2-40B4-BE49-F238E27FC236}">
                <a16:creationId xmlns:a16="http://schemas.microsoft.com/office/drawing/2014/main" id="{7801CF03-C627-13D4-54E6-F00FC99F6C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ADAFFE-0D8B-A8AA-7288-47BBD11E8422}"/>
              </a:ext>
            </a:extLst>
          </p:cNvPr>
          <p:cNvSpPr>
            <a:spLocks noGrp="1"/>
          </p:cNvSpPr>
          <p:nvPr>
            <p:ph type="sldNum" sz="quarter" idx="12"/>
          </p:nvPr>
        </p:nvSpPr>
        <p:spPr/>
        <p:txBody>
          <a:bodyPr/>
          <a:lstStyle/>
          <a:p>
            <a:fld id="{5C77DCDC-A28C-E64E-AD42-8861EA615284}" type="slidenum">
              <a:rPr lang="en-US" smtClean="0"/>
              <a:t>‹#›</a:t>
            </a:fld>
            <a:endParaRPr lang="en-US"/>
          </a:p>
        </p:txBody>
      </p:sp>
    </p:spTree>
    <p:extLst>
      <p:ext uri="{BB962C8B-B14F-4D97-AF65-F5344CB8AC3E}">
        <p14:creationId xmlns:p14="http://schemas.microsoft.com/office/powerpoint/2010/main" val="4129496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FB14E3-C4F0-40A0-21D2-A1E2646C1B8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BEF6396-445D-AE6C-3A49-EAF2780BC3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8840D4-CB8F-A1B0-DA51-4DEDCDA812FB}"/>
              </a:ext>
            </a:extLst>
          </p:cNvPr>
          <p:cNvSpPr>
            <a:spLocks noGrp="1"/>
          </p:cNvSpPr>
          <p:nvPr>
            <p:ph type="dt" sz="half" idx="10"/>
          </p:nvPr>
        </p:nvSpPr>
        <p:spPr/>
        <p:txBody>
          <a:bodyPr/>
          <a:lstStyle/>
          <a:p>
            <a:fld id="{EF593327-1605-AF46-91A0-F6E1F4507FA8}" type="datetimeFigureOut">
              <a:rPr lang="en-US" smtClean="0"/>
              <a:t>5/6/26</a:t>
            </a:fld>
            <a:endParaRPr lang="en-US"/>
          </a:p>
        </p:txBody>
      </p:sp>
      <p:sp>
        <p:nvSpPr>
          <p:cNvPr id="5" name="Footer Placeholder 4">
            <a:extLst>
              <a:ext uri="{FF2B5EF4-FFF2-40B4-BE49-F238E27FC236}">
                <a16:creationId xmlns:a16="http://schemas.microsoft.com/office/drawing/2014/main" id="{7C0536E9-24BE-C6B4-836B-2CE1105934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F50ECC-F5D8-AC85-FE9C-04AE4B1A8CA4}"/>
              </a:ext>
            </a:extLst>
          </p:cNvPr>
          <p:cNvSpPr>
            <a:spLocks noGrp="1"/>
          </p:cNvSpPr>
          <p:nvPr>
            <p:ph type="sldNum" sz="quarter" idx="12"/>
          </p:nvPr>
        </p:nvSpPr>
        <p:spPr/>
        <p:txBody>
          <a:bodyPr/>
          <a:lstStyle/>
          <a:p>
            <a:fld id="{5C77DCDC-A28C-E64E-AD42-8861EA615284}" type="slidenum">
              <a:rPr lang="en-US" smtClean="0"/>
              <a:t>‹#›</a:t>
            </a:fld>
            <a:endParaRPr lang="en-US"/>
          </a:p>
        </p:txBody>
      </p:sp>
    </p:spTree>
    <p:extLst>
      <p:ext uri="{BB962C8B-B14F-4D97-AF65-F5344CB8AC3E}">
        <p14:creationId xmlns:p14="http://schemas.microsoft.com/office/powerpoint/2010/main" val="36295477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light blue">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3"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11" name="Afbeelding 10" descr="UM40_RGB_B_blauw.png"/>
          <p:cNvPicPr>
            <a:picLocks noChangeAspect="1"/>
          </p:cNvPicPr>
          <p:nvPr userDrawn="1"/>
        </p:nvPicPr>
        <p:blipFill rotWithShape="1">
          <a:blip r:embed="rId2">
            <a:extLst>
              <a:ext uri="{28A0092B-C50C-407E-A947-70E740481C1C}">
                <a14:useLocalDpi xmlns:a14="http://schemas.microsoft.com/office/drawing/2010/main" val="0"/>
              </a:ext>
            </a:extLst>
          </a:blip>
          <a:srcRect r="20321"/>
          <a:stretch/>
        </p:blipFill>
        <p:spPr>
          <a:xfrm>
            <a:off x="480001" y="6174002"/>
            <a:ext cx="2120851" cy="509137"/>
          </a:xfrm>
          <a:prstGeom prst="rect">
            <a:avLst/>
          </a:prstGeom>
        </p:spPr>
      </p:pic>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34561624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Title slide + illustration">
    <p:bg>
      <p:bgPr>
        <a:solidFill>
          <a:schemeClr val="tx2"/>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26928" y="3030584"/>
            <a:ext cx="6065072" cy="4020392"/>
          </a:xfrm>
          <a:prstGeom prst="rect">
            <a:avLst/>
          </a:prstGeom>
        </p:spPr>
      </p:pic>
      <p:sp>
        <p:nvSpPr>
          <p:cNvPr id="2"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3"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11" name="Afbeelding 10" descr="UM40_RGB_B_blauw.png"/>
          <p:cNvPicPr>
            <a:picLocks noChangeAspect="1"/>
          </p:cNvPicPr>
          <p:nvPr userDrawn="1"/>
        </p:nvPicPr>
        <p:blipFill rotWithShape="1">
          <a:blip r:embed="rId3">
            <a:extLst>
              <a:ext uri="{28A0092B-C50C-407E-A947-70E740481C1C}">
                <a14:useLocalDpi xmlns:a14="http://schemas.microsoft.com/office/drawing/2010/main" val="0"/>
              </a:ext>
            </a:extLst>
          </a:blip>
          <a:srcRect r="20321"/>
          <a:stretch/>
        </p:blipFill>
        <p:spPr>
          <a:xfrm>
            <a:off x="480001" y="6174002"/>
            <a:ext cx="2120851" cy="509137"/>
          </a:xfrm>
          <a:prstGeom prst="rect">
            <a:avLst/>
          </a:prstGeom>
        </p:spPr>
      </p:pic>
      <p:pic>
        <p:nvPicPr>
          <p:cNvPr id="6" name="Picture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29390090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 illustration">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3"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11" name="Afbeelding 10" descr="UM40_RGB_B_blauw.png"/>
          <p:cNvPicPr>
            <a:picLocks noChangeAspect="1"/>
          </p:cNvPicPr>
          <p:nvPr userDrawn="1"/>
        </p:nvPicPr>
        <p:blipFill rotWithShape="1">
          <a:blip r:embed="rId2">
            <a:extLst>
              <a:ext uri="{28A0092B-C50C-407E-A947-70E740481C1C}">
                <a14:useLocalDpi xmlns:a14="http://schemas.microsoft.com/office/drawing/2010/main" val="0"/>
              </a:ext>
            </a:extLst>
          </a:blip>
          <a:srcRect r="20321"/>
          <a:stretch/>
        </p:blipFill>
        <p:spPr>
          <a:xfrm>
            <a:off x="480001" y="6174002"/>
            <a:ext cx="2120851" cy="509137"/>
          </a:xfrm>
          <a:prstGeom prst="rect">
            <a:avLst/>
          </a:prstGeom>
        </p:spPr>
      </p:pic>
      <p:pic>
        <p:nvPicPr>
          <p:cNvPr id="5" name="Afbeelding 4" descr="Future look.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95318" y="2513330"/>
            <a:ext cx="4710511" cy="4349289"/>
          </a:xfrm>
          <a:prstGeom prst="rect">
            <a:avLst/>
          </a:prstGeom>
        </p:spPr>
      </p:pic>
      <p:pic>
        <p:nvPicPr>
          <p:cNvPr id="6" name="Picture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18103159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1_Title slide light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3"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6" name="Afbeelding 6" descr="UM40_RGB_B_diap.png"/>
          <p:cNvPicPr>
            <a:picLocks noChangeAspect="1"/>
          </p:cNvPicPr>
          <p:nvPr userDrawn="1"/>
        </p:nvPicPr>
        <p:blipFill rotWithShape="1">
          <a:blip r:embed="rId3">
            <a:extLst>
              <a:ext uri="{28A0092B-C50C-407E-A947-70E740481C1C}">
                <a14:useLocalDpi xmlns:a14="http://schemas.microsoft.com/office/drawing/2010/main" val="0"/>
              </a:ext>
            </a:extLst>
          </a:blip>
          <a:srcRect r="20321"/>
          <a:stretch/>
        </p:blipFill>
        <p:spPr>
          <a:xfrm>
            <a:off x="480001" y="6174000"/>
            <a:ext cx="2120851" cy="509137"/>
          </a:xfrm>
          <a:prstGeom prst="rect">
            <a:avLst/>
          </a:prstGeom>
        </p:spPr>
      </p:pic>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1597992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hoto Randwij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752783" y="253136"/>
            <a:ext cx="9836193" cy="2205259"/>
          </a:xfrm>
        </p:spPr>
        <p:txBody>
          <a:bodyPr>
            <a:noAutofit/>
          </a:bodyPr>
          <a:lstStyle>
            <a:lvl1pPr>
              <a:defRPr sz="7200">
                <a:solidFill>
                  <a:srgbClr val="001A3B"/>
                </a:solidFill>
              </a:defRPr>
            </a:lvl1pPr>
          </a:lstStyle>
          <a:p>
            <a:r>
              <a:rPr lang="nl-NL" dirty="0"/>
              <a:t>Titelstijl van model bewerken</a:t>
            </a:r>
          </a:p>
        </p:txBody>
      </p:sp>
      <p:sp>
        <p:nvSpPr>
          <p:cNvPr id="3" name="Subtitel 2"/>
          <p:cNvSpPr>
            <a:spLocks noGrp="1"/>
          </p:cNvSpPr>
          <p:nvPr>
            <p:ph type="subTitle" idx="1"/>
          </p:nvPr>
        </p:nvSpPr>
        <p:spPr>
          <a:xfrm>
            <a:off x="752784" y="2439519"/>
            <a:ext cx="5595491" cy="1752600"/>
          </a:xfrm>
        </p:spPr>
        <p:txBody>
          <a:bodyPr/>
          <a:lstStyle>
            <a:lvl1pPr marL="0" indent="0" algn="l">
              <a:buNone/>
              <a:defRPr sz="2667">
                <a:solidFill>
                  <a:srgbClr val="001A3B"/>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6" name="Afbeelding 10" descr="UM40_RGB_B_blauw.png"/>
          <p:cNvPicPr>
            <a:picLocks noChangeAspect="1"/>
          </p:cNvPicPr>
          <p:nvPr userDrawn="1"/>
        </p:nvPicPr>
        <p:blipFill rotWithShape="1">
          <a:blip r:embed="rId3">
            <a:extLst>
              <a:ext uri="{28A0092B-C50C-407E-A947-70E740481C1C}">
                <a14:useLocalDpi xmlns:a14="http://schemas.microsoft.com/office/drawing/2010/main" val="0"/>
              </a:ext>
            </a:extLst>
          </a:blip>
          <a:srcRect r="20321"/>
          <a:stretch/>
        </p:blipFill>
        <p:spPr>
          <a:xfrm>
            <a:off x="480001" y="6174002"/>
            <a:ext cx="2120851" cy="509137"/>
          </a:xfrm>
          <a:prstGeom prst="rect">
            <a:avLst/>
          </a:prstGeom>
        </p:spPr>
      </p:pic>
      <p:pic>
        <p:nvPicPr>
          <p:cNvPr id="8" name="Picture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18024733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1_Title slide photo Randwij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752783" y="253136"/>
            <a:ext cx="9836193" cy="2205259"/>
          </a:xfrm>
        </p:spPr>
        <p:txBody>
          <a:bodyPr>
            <a:noAutofit/>
          </a:bodyPr>
          <a:lstStyle>
            <a:lvl1pPr>
              <a:defRPr sz="7200">
                <a:solidFill>
                  <a:srgbClr val="001A3B"/>
                </a:solidFill>
              </a:defRPr>
            </a:lvl1pPr>
          </a:lstStyle>
          <a:p>
            <a:r>
              <a:rPr lang="nl-NL" dirty="0"/>
              <a:t>Titelstijl van model bewerken</a:t>
            </a:r>
          </a:p>
        </p:txBody>
      </p:sp>
      <p:sp>
        <p:nvSpPr>
          <p:cNvPr id="3" name="Subtitel 2"/>
          <p:cNvSpPr>
            <a:spLocks noGrp="1"/>
          </p:cNvSpPr>
          <p:nvPr>
            <p:ph type="subTitle" idx="1"/>
          </p:nvPr>
        </p:nvSpPr>
        <p:spPr>
          <a:xfrm>
            <a:off x="752784" y="2439519"/>
            <a:ext cx="5595491" cy="1752600"/>
          </a:xfrm>
        </p:spPr>
        <p:txBody>
          <a:bodyPr/>
          <a:lstStyle>
            <a:lvl1pPr marL="0" indent="0" algn="l">
              <a:buNone/>
              <a:defRPr sz="2667">
                <a:solidFill>
                  <a:srgbClr val="001A3B"/>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6" name="Afbeelding 10" descr="UM40_RGB_B_blauw.png"/>
          <p:cNvPicPr>
            <a:picLocks noChangeAspect="1"/>
          </p:cNvPicPr>
          <p:nvPr userDrawn="1"/>
        </p:nvPicPr>
        <p:blipFill rotWithShape="1">
          <a:blip r:embed="rId3">
            <a:extLst>
              <a:ext uri="{28A0092B-C50C-407E-A947-70E740481C1C}">
                <a14:useLocalDpi xmlns:a14="http://schemas.microsoft.com/office/drawing/2010/main" val="0"/>
              </a:ext>
            </a:extLst>
          </a:blip>
          <a:srcRect r="20321"/>
          <a:stretch/>
        </p:blipFill>
        <p:spPr>
          <a:xfrm>
            <a:off x="480001" y="6174002"/>
            <a:ext cx="2120851" cy="509137"/>
          </a:xfrm>
          <a:prstGeom prst="rect">
            <a:avLst/>
          </a:prstGeom>
        </p:spPr>
      </p:pic>
      <p:pic>
        <p:nvPicPr>
          <p:cNvPr id="8" name="Picture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9942808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dark blue">
    <p:bg>
      <p:bgPr>
        <a:solidFill>
          <a:schemeClr val="tx1"/>
        </a:solidFill>
        <a:effectLst/>
      </p:bgPr>
    </p:bg>
    <p:spTree>
      <p:nvGrpSpPr>
        <p:cNvPr id="1" name=""/>
        <p:cNvGrpSpPr/>
        <p:nvPr/>
      </p:nvGrpSpPr>
      <p:grpSpPr>
        <a:xfrm>
          <a:off x="0" y="0"/>
          <a:ext cx="0" cy="0"/>
          <a:chOff x="0" y="0"/>
          <a:chExt cx="0" cy="0"/>
        </a:xfrm>
      </p:grpSpPr>
      <p:pic>
        <p:nvPicPr>
          <p:cNvPr id="9" name="Afbeelding 8" descr="UM40_RGB_B_diap.png"/>
          <p:cNvPicPr>
            <a:picLocks noChangeAspect="1"/>
          </p:cNvPicPr>
          <p:nvPr userDrawn="1"/>
        </p:nvPicPr>
        <p:blipFill rotWithShape="1">
          <a:blip r:embed="rId2">
            <a:extLst>
              <a:ext uri="{28A0092B-C50C-407E-A947-70E740481C1C}">
                <a14:useLocalDpi xmlns:a14="http://schemas.microsoft.com/office/drawing/2010/main" val="0"/>
              </a:ext>
            </a:extLst>
          </a:blip>
          <a:srcRect r="20321"/>
          <a:stretch/>
        </p:blipFill>
        <p:spPr>
          <a:xfrm>
            <a:off x="480001" y="6174000"/>
            <a:ext cx="2120851" cy="509137"/>
          </a:xfrm>
          <a:prstGeom prst="rect">
            <a:avLst/>
          </a:prstGeom>
        </p:spPr>
      </p:pic>
      <p:sp>
        <p:nvSpPr>
          <p:cNvPr id="6"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7"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11910389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slide dark blue">
    <p:bg>
      <p:bgPr>
        <a:solidFill>
          <a:schemeClr val="tx1"/>
        </a:solidFill>
        <a:effectLst/>
      </p:bgPr>
    </p:bg>
    <p:spTree>
      <p:nvGrpSpPr>
        <p:cNvPr id="1" name=""/>
        <p:cNvGrpSpPr/>
        <p:nvPr/>
      </p:nvGrpSpPr>
      <p:grpSpPr>
        <a:xfrm>
          <a:off x="0" y="0"/>
          <a:ext cx="0" cy="0"/>
          <a:chOff x="0" y="0"/>
          <a:chExt cx="0" cy="0"/>
        </a:xfrm>
      </p:grpSpPr>
      <p:pic>
        <p:nvPicPr>
          <p:cNvPr id="9" name="Afbeelding 8" descr="UM40_RGB_B_diap.png"/>
          <p:cNvPicPr>
            <a:picLocks noChangeAspect="1"/>
          </p:cNvPicPr>
          <p:nvPr userDrawn="1"/>
        </p:nvPicPr>
        <p:blipFill rotWithShape="1">
          <a:blip r:embed="rId2">
            <a:extLst>
              <a:ext uri="{28A0092B-C50C-407E-A947-70E740481C1C}">
                <a14:useLocalDpi xmlns:a14="http://schemas.microsoft.com/office/drawing/2010/main" val="0"/>
              </a:ext>
            </a:extLst>
          </a:blip>
          <a:srcRect r="20321"/>
          <a:stretch/>
        </p:blipFill>
        <p:spPr>
          <a:xfrm>
            <a:off x="480001" y="6174000"/>
            <a:ext cx="2120851" cy="509137"/>
          </a:xfrm>
          <a:prstGeom prst="rect">
            <a:avLst/>
          </a:prstGeom>
        </p:spPr>
      </p:pic>
      <p:sp>
        <p:nvSpPr>
          <p:cNvPr id="6"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7"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pic>
        <p:nvPicPr>
          <p:cNvPr id="8" name="Picture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126929" y="3030584"/>
            <a:ext cx="6065071" cy="4020392"/>
          </a:xfrm>
          <a:prstGeom prst="rect">
            <a:avLst/>
          </a:prstGeom>
        </p:spPr>
      </p:pic>
    </p:spTree>
    <p:extLst>
      <p:ext uri="{BB962C8B-B14F-4D97-AF65-F5344CB8AC3E}">
        <p14:creationId xmlns:p14="http://schemas.microsoft.com/office/powerpoint/2010/main" val="3026317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orange">
    <p:bg>
      <p:bgPr>
        <a:solidFill>
          <a:schemeClr val="accent1"/>
        </a:solidFill>
        <a:effectLst/>
      </p:bgPr>
    </p:bg>
    <p:spTree>
      <p:nvGrpSpPr>
        <p:cNvPr id="1" name=""/>
        <p:cNvGrpSpPr/>
        <p:nvPr/>
      </p:nvGrpSpPr>
      <p:grpSpPr>
        <a:xfrm>
          <a:off x="0" y="0"/>
          <a:ext cx="0" cy="0"/>
          <a:chOff x="0" y="0"/>
          <a:chExt cx="0" cy="0"/>
        </a:xfrm>
      </p:grpSpPr>
      <p:pic>
        <p:nvPicPr>
          <p:cNvPr id="6" name="Afbeelding 5" descr="UM40_RGB_B_diap.png"/>
          <p:cNvPicPr>
            <a:picLocks noChangeAspect="1"/>
          </p:cNvPicPr>
          <p:nvPr userDrawn="1"/>
        </p:nvPicPr>
        <p:blipFill rotWithShape="1">
          <a:blip r:embed="rId2">
            <a:extLst>
              <a:ext uri="{28A0092B-C50C-407E-A947-70E740481C1C}">
                <a14:useLocalDpi xmlns:a14="http://schemas.microsoft.com/office/drawing/2010/main" val="0"/>
              </a:ext>
            </a:extLst>
          </a:blip>
          <a:srcRect r="20930"/>
          <a:stretch/>
        </p:blipFill>
        <p:spPr>
          <a:xfrm>
            <a:off x="480001" y="6174000"/>
            <a:ext cx="2104645" cy="509137"/>
          </a:xfrm>
          <a:prstGeom prst="rect">
            <a:avLst/>
          </a:prstGeom>
        </p:spPr>
      </p:pic>
      <p:sp>
        <p:nvSpPr>
          <p:cNvPr id="7"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8"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41949974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slide orange">
    <p:bg>
      <p:bgPr>
        <a:solidFill>
          <a:schemeClr val="accent1"/>
        </a:solidFill>
        <a:effectLst/>
      </p:bgPr>
    </p:bg>
    <p:spTree>
      <p:nvGrpSpPr>
        <p:cNvPr id="1" name=""/>
        <p:cNvGrpSpPr/>
        <p:nvPr/>
      </p:nvGrpSpPr>
      <p:grpSpPr>
        <a:xfrm>
          <a:off x="0" y="0"/>
          <a:ext cx="0" cy="0"/>
          <a:chOff x="0" y="0"/>
          <a:chExt cx="0" cy="0"/>
        </a:xfrm>
      </p:grpSpPr>
      <p:pic>
        <p:nvPicPr>
          <p:cNvPr id="6" name="Afbeelding 5" descr="UM40_RGB_B_diap.png"/>
          <p:cNvPicPr>
            <a:picLocks noChangeAspect="1"/>
          </p:cNvPicPr>
          <p:nvPr userDrawn="1"/>
        </p:nvPicPr>
        <p:blipFill rotWithShape="1">
          <a:blip r:embed="rId2">
            <a:extLst>
              <a:ext uri="{28A0092B-C50C-407E-A947-70E740481C1C}">
                <a14:useLocalDpi xmlns:a14="http://schemas.microsoft.com/office/drawing/2010/main" val="0"/>
              </a:ext>
            </a:extLst>
          </a:blip>
          <a:srcRect r="20930"/>
          <a:stretch/>
        </p:blipFill>
        <p:spPr>
          <a:xfrm>
            <a:off x="480001" y="6174000"/>
            <a:ext cx="2104645" cy="509137"/>
          </a:xfrm>
          <a:prstGeom prst="rect">
            <a:avLst/>
          </a:prstGeom>
        </p:spPr>
      </p:pic>
      <p:sp>
        <p:nvSpPr>
          <p:cNvPr id="7"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8"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pic>
        <p:nvPicPr>
          <p:cNvPr id="9" name="Pictur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126928" y="3030584"/>
            <a:ext cx="6065072" cy="4020392"/>
          </a:xfrm>
          <a:prstGeom prst="rect">
            <a:avLst/>
          </a:prstGeom>
        </p:spPr>
      </p:pic>
    </p:spTree>
    <p:extLst>
      <p:ext uri="{BB962C8B-B14F-4D97-AF65-F5344CB8AC3E}">
        <p14:creationId xmlns:p14="http://schemas.microsoft.com/office/powerpoint/2010/main" val="10534244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ext slid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Titelstijl van model bewerken</a:t>
            </a:r>
          </a:p>
        </p:txBody>
      </p:sp>
      <p:sp>
        <p:nvSpPr>
          <p:cNvPr id="3" name="Tijdelijke aanduiding voor inhoud 2"/>
          <p:cNvSpPr>
            <a:spLocks noGrp="1"/>
          </p:cNvSpPr>
          <p:nvPr>
            <p:ph idx="1"/>
          </p:nvPr>
        </p:nvSpPr>
        <p:spPr/>
        <p:txBody>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6" name="Tijdelijke aanduiding voor dianummer 5"/>
          <p:cNvSpPr>
            <a:spLocks noGrp="1"/>
          </p:cNvSpPr>
          <p:nvPr>
            <p:ph type="sldNum" sz="quarter" idx="12"/>
          </p:nvPr>
        </p:nvSpPr>
        <p:spPr/>
        <p:txBody>
          <a:bodyPr/>
          <a:lstStyle/>
          <a:p>
            <a:fld id="{09B7AD4A-C94A-7B42-9E17-606C7F366C4B}" type="slidenum">
              <a:rPr lang="nl-NL" smtClean="0"/>
              <a:t>‹#›</a:t>
            </a:fld>
            <a:endParaRPr lang="nl-NL"/>
          </a:p>
        </p:txBody>
      </p:sp>
      <p:pic>
        <p:nvPicPr>
          <p:cNvPr id="7" name="Afbeelding 6"/>
          <p:cNvPicPr>
            <a:picLocks noChangeAspect="1"/>
          </p:cNvPicPr>
          <p:nvPr userDrawn="1"/>
        </p:nvPicPr>
        <p:blipFill rotWithShape="1">
          <a:blip r:embed="rId2"/>
          <a:srcRect r="19769"/>
          <a:stretch/>
        </p:blipFill>
        <p:spPr>
          <a:xfrm>
            <a:off x="480001" y="6173621"/>
            <a:ext cx="2137056" cy="506307"/>
          </a:xfrm>
          <a:prstGeom prst="rect">
            <a:avLst/>
          </a:prstGeom>
        </p:spPr>
      </p:pic>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
        <p:nvSpPr>
          <p:cNvPr id="9" name="Tijdelijke aanduiding voor datum 3"/>
          <p:cNvSpPr>
            <a:spLocks noGrp="1"/>
          </p:cNvSpPr>
          <p:nvPr>
            <p:ph type="dt" sz="half" idx="10"/>
          </p:nvPr>
        </p:nvSpPr>
        <p:spPr>
          <a:xfrm>
            <a:off x="9781607" y="6314803"/>
            <a:ext cx="1219287" cy="365125"/>
          </a:xfrm>
        </p:spPr>
        <p:txBody>
          <a:bodyPr/>
          <a:lstStyle/>
          <a:p>
            <a:endParaRPr lang="nl-NL" dirty="0"/>
          </a:p>
        </p:txBody>
      </p:sp>
    </p:spTree>
    <p:extLst>
      <p:ext uri="{BB962C8B-B14F-4D97-AF65-F5344CB8AC3E}">
        <p14:creationId xmlns:p14="http://schemas.microsoft.com/office/powerpoint/2010/main" val="10033546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ext slide dark blue">
    <p:bg>
      <p:bgPr>
        <a:solidFill>
          <a:schemeClr val="accent3"/>
        </a:solid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Titelstijl van model bewerken</a:t>
            </a:r>
          </a:p>
        </p:txBody>
      </p:sp>
      <p:sp>
        <p:nvSpPr>
          <p:cNvPr id="3" name="Tijdelijke aanduiding voor inhoud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6" name="Tijdelijke aanduiding voor dianummer 5"/>
          <p:cNvSpPr>
            <a:spLocks noGrp="1"/>
          </p:cNvSpPr>
          <p:nvPr>
            <p:ph type="sldNum" sz="quarter" idx="12"/>
          </p:nvPr>
        </p:nvSpPr>
        <p:spPr/>
        <p:txBody>
          <a:bodyPr/>
          <a:lstStyle>
            <a:lvl1pPr>
              <a:defRPr>
                <a:solidFill>
                  <a:srgbClr val="FFFFFF"/>
                </a:solidFill>
              </a:defRPr>
            </a:lvl1pPr>
          </a:lstStyle>
          <a:p>
            <a:fld id="{09B7AD4A-C94A-7B42-9E17-606C7F366C4B}" type="slidenum">
              <a:rPr lang="nl-NL" smtClean="0"/>
              <a:pPr/>
              <a:t>‹#›</a:t>
            </a:fld>
            <a:endParaRPr lang="nl-NL"/>
          </a:p>
        </p:txBody>
      </p:sp>
      <p:pic>
        <p:nvPicPr>
          <p:cNvPr id="10" name="Afbeelding 9" descr="UM40_RGB_B_diap.png"/>
          <p:cNvPicPr>
            <a:picLocks noChangeAspect="1"/>
          </p:cNvPicPr>
          <p:nvPr userDrawn="1"/>
        </p:nvPicPr>
        <p:blipFill rotWithShape="1">
          <a:blip r:embed="rId2">
            <a:extLst>
              <a:ext uri="{28A0092B-C50C-407E-A947-70E740481C1C}">
                <a14:useLocalDpi xmlns:a14="http://schemas.microsoft.com/office/drawing/2010/main" val="0"/>
              </a:ext>
            </a:extLst>
          </a:blip>
          <a:srcRect r="21235"/>
          <a:stretch/>
        </p:blipFill>
        <p:spPr>
          <a:xfrm>
            <a:off x="480001" y="6174000"/>
            <a:ext cx="2096544" cy="509137"/>
          </a:xfrm>
          <a:prstGeom prst="rect">
            <a:avLst/>
          </a:prstGeom>
        </p:spPr>
      </p:pic>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
        <p:nvSpPr>
          <p:cNvPr id="7" name="Tijdelijke aanduiding voor datum 3"/>
          <p:cNvSpPr>
            <a:spLocks noGrp="1"/>
          </p:cNvSpPr>
          <p:nvPr>
            <p:ph type="dt" sz="half" idx="10"/>
          </p:nvPr>
        </p:nvSpPr>
        <p:spPr>
          <a:xfrm>
            <a:off x="9781607" y="6314803"/>
            <a:ext cx="1219287" cy="365125"/>
          </a:xfrm>
        </p:spPr>
        <p:txBody>
          <a:bodyPr/>
          <a:lstStyle>
            <a:lvl1pPr>
              <a:defRPr>
                <a:solidFill>
                  <a:schemeClr val="bg1"/>
                </a:solidFill>
              </a:defRPr>
            </a:lvl1pPr>
          </a:lstStyle>
          <a:p>
            <a:endParaRPr lang="nl-NL" dirty="0"/>
          </a:p>
        </p:txBody>
      </p:sp>
    </p:spTree>
    <p:extLst>
      <p:ext uri="{BB962C8B-B14F-4D97-AF65-F5344CB8AC3E}">
        <p14:creationId xmlns:p14="http://schemas.microsoft.com/office/powerpoint/2010/main" val="10245642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ext slide light blue">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rgbClr val="FFFFFF"/>
                </a:solidFill>
              </a:defRPr>
            </a:lvl1pPr>
          </a:lstStyle>
          <a:p>
            <a:r>
              <a:rPr lang="nl-NL" dirty="0"/>
              <a:t>Titelstijl van model bewerken</a:t>
            </a:r>
          </a:p>
        </p:txBody>
      </p:sp>
      <p:sp>
        <p:nvSpPr>
          <p:cNvPr id="3" name="Tijdelijke aanduiding voor inhoud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6" name="Tijdelijke aanduiding voor dianummer 5"/>
          <p:cNvSpPr>
            <a:spLocks noGrp="1"/>
          </p:cNvSpPr>
          <p:nvPr>
            <p:ph type="sldNum" sz="quarter" idx="12"/>
          </p:nvPr>
        </p:nvSpPr>
        <p:spPr/>
        <p:txBody>
          <a:bodyPr/>
          <a:lstStyle>
            <a:lvl1pPr>
              <a:defRPr>
                <a:solidFill>
                  <a:srgbClr val="FFFFFF"/>
                </a:solidFill>
              </a:defRPr>
            </a:lvl1pPr>
          </a:lstStyle>
          <a:p>
            <a:fld id="{09B7AD4A-C94A-7B42-9E17-606C7F366C4B}" type="slidenum">
              <a:rPr lang="nl-NL" smtClean="0"/>
              <a:pPr/>
              <a:t>‹#›</a:t>
            </a:fld>
            <a:endParaRPr lang="nl-NL"/>
          </a:p>
        </p:txBody>
      </p:sp>
      <p:pic>
        <p:nvPicPr>
          <p:cNvPr id="10" name="Afbeelding 9" descr="UM40_RGB_B_blauw.png"/>
          <p:cNvPicPr>
            <a:picLocks noChangeAspect="1"/>
          </p:cNvPicPr>
          <p:nvPr userDrawn="1"/>
        </p:nvPicPr>
        <p:blipFill rotWithShape="1">
          <a:blip r:embed="rId2">
            <a:extLst>
              <a:ext uri="{28A0092B-C50C-407E-A947-70E740481C1C}">
                <a14:useLocalDpi xmlns:a14="http://schemas.microsoft.com/office/drawing/2010/main" val="0"/>
              </a:ext>
            </a:extLst>
          </a:blip>
          <a:srcRect r="20321"/>
          <a:stretch/>
        </p:blipFill>
        <p:spPr>
          <a:xfrm>
            <a:off x="480001" y="6174002"/>
            <a:ext cx="2120851" cy="509137"/>
          </a:xfrm>
          <a:prstGeom prst="rect">
            <a:avLst/>
          </a:prstGeom>
        </p:spPr>
      </p:pic>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
        <p:nvSpPr>
          <p:cNvPr id="7" name="Tijdelijke aanduiding voor datum 3"/>
          <p:cNvSpPr>
            <a:spLocks noGrp="1"/>
          </p:cNvSpPr>
          <p:nvPr>
            <p:ph type="dt" sz="half" idx="10"/>
          </p:nvPr>
        </p:nvSpPr>
        <p:spPr>
          <a:xfrm>
            <a:off x="9781607" y="6314803"/>
            <a:ext cx="1219287" cy="365125"/>
          </a:xfrm>
        </p:spPr>
        <p:txBody>
          <a:bodyPr/>
          <a:lstStyle>
            <a:lvl1pPr>
              <a:defRPr>
                <a:solidFill>
                  <a:schemeClr val="bg1"/>
                </a:solidFill>
              </a:defRPr>
            </a:lvl1pPr>
          </a:lstStyle>
          <a:p>
            <a:endParaRPr lang="nl-NL" dirty="0"/>
          </a:p>
        </p:txBody>
      </p:sp>
    </p:spTree>
    <p:extLst>
      <p:ext uri="{BB962C8B-B14F-4D97-AF65-F5344CB8AC3E}">
        <p14:creationId xmlns:p14="http://schemas.microsoft.com/office/powerpoint/2010/main" val="1718416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photo slide">
    <p:spTree>
      <p:nvGrpSpPr>
        <p:cNvPr id="1" name=""/>
        <p:cNvGrpSpPr/>
        <p:nvPr/>
      </p:nvGrpSpPr>
      <p:grpSpPr>
        <a:xfrm>
          <a:off x="0" y="0"/>
          <a:ext cx="0" cy="0"/>
          <a:chOff x="0" y="0"/>
          <a:chExt cx="0" cy="0"/>
        </a:xfrm>
      </p:grpSpPr>
      <p:sp>
        <p:nvSpPr>
          <p:cNvPr id="2" name="Titel 1"/>
          <p:cNvSpPr>
            <a:spLocks noGrp="1"/>
          </p:cNvSpPr>
          <p:nvPr>
            <p:ph type="title"/>
          </p:nvPr>
        </p:nvSpPr>
        <p:spPr>
          <a:xfrm>
            <a:off x="480002" y="414261"/>
            <a:ext cx="5246167" cy="1565897"/>
          </a:xfrm>
        </p:spPr>
        <p:txBody>
          <a:bodyPr/>
          <a:lstStyle/>
          <a:p>
            <a:r>
              <a:rPr lang="nl-NL" dirty="0"/>
              <a:t>Titelstijl van model bewerken</a:t>
            </a:r>
          </a:p>
        </p:txBody>
      </p:sp>
      <p:sp>
        <p:nvSpPr>
          <p:cNvPr id="3" name="Tijdelijke aanduiding voor inhoud 2"/>
          <p:cNvSpPr>
            <a:spLocks noGrp="1"/>
          </p:cNvSpPr>
          <p:nvPr>
            <p:ph idx="1"/>
          </p:nvPr>
        </p:nvSpPr>
        <p:spPr>
          <a:xfrm>
            <a:off x="480001" y="1980156"/>
            <a:ext cx="5246165" cy="3810096"/>
          </a:xfrm>
        </p:spPr>
        <p:txBody>
          <a:bodyPr/>
          <a:lstStyle>
            <a:lvl3pPr marL="954592" indent="0">
              <a:buNone/>
              <a:defRPr/>
            </a:lvl3pPr>
          </a:lstStyle>
          <a:p>
            <a:pPr lvl="0"/>
            <a:r>
              <a:rPr lang="nl-NL" dirty="0"/>
              <a:t>Klik om de tekststijl van het model te bewerken</a:t>
            </a:r>
          </a:p>
          <a:p>
            <a:pPr lvl="1"/>
            <a:r>
              <a:rPr lang="nl-NL" dirty="0"/>
              <a:t>Tweede niveau</a:t>
            </a:r>
          </a:p>
        </p:txBody>
      </p:sp>
      <p:sp>
        <p:nvSpPr>
          <p:cNvPr id="4" name="Tijdelijke aanduiding voor datum 3"/>
          <p:cNvSpPr>
            <a:spLocks noGrp="1"/>
          </p:cNvSpPr>
          <p:nvPr>
            <p:ph type="dt" sz="half" idx="10"/>
          </p:nvPr>
        </p:nvSpPr>
        <p:spPr>
          <a:xfrm>
            <a:off x="6126724" y="6318628"/>
            <a:ext cx="734312" cy="365125"/>
          </a:xfrm>
        </p:spPr>
        <p:txBody>
          <a:bodyPr/>
          <a:lstStyle/>
          <a:p>
            <a:endParaRPr lang="nl-NL"/>
          </a:p>
        </p:txBody>
      </p:sp>
      <p:sp>
        <p:nvSpPr>
          <p:cNvPr id="5" name="Tijdelijke aanduiding voor voettekst 4"/>
          <p:cNvSpPr>
            <a:spLocks noGrp="1"/>
          </p:cNvSpPr>
          <p:nvPr>
            <p:ph type="ftr" sz="quarter" idx="11"/>
          </p:nvPr>
        </p:nvSpPr>
        <p:spPr>
          <a:xfrm>
            <a:off x="6327003" y="6318628"/>
            <a:ext cx="4599935" cy="365125"/>
          </a:xfrm>
        </p:spPr>
        <p:txBody>
          <a:bodyPr/>
          <a:lstStyle/>
          <a:p>
            <a:endParaRPr lang="nl-NL"/>
          </a:p>
        </p:txBody>
      </p:sp>
      <p:sp>
        <p:nvSpPr>
          <p:cNvPr id="6" name="Tijdelijke aanduiding voor dianummer 5"/>
          <p:cNvSpPr>
            <a:spLocks noGrp="1"/>
          </p:cNvSpPr>
          <p:nvPr>
            <p:ph type="sldNum" sz="quarter" idx="12"/>
          </p:nvPr>
        </p:nvSpPr>
        <p:spPr>
          <a:xfrm>
            <a:off x="10926941" y="6318400"/>
            <a:ext cx="759969" cy="365125"/>
          </a:xfrm>
        </p:spPr>
        <p:txBody>
          <a:bodyPr/>
          <a:lstStyle/>
          <a:p>
            <a:fld id="{09B7AD4A-C94A-7B42-9E17-606C7F366C4B}" type="slidenum">
              <a:rPr lang="nl-NL" smtClean="0"/>
              <a:t>‹#›</a:t>
            </a:fld>
            <a:endParaRPr lang="nl-NL"/>
          </a:p>
        </p:txBody>
      </p:sp>
      <p:sp>
        <p:nvSpPr>
          <p:cNvPr id="8" name="Tijdelijke aanduiding voor afbeelding 7"/>
          <p:cNvSpPr>
            <a:spLocks noGrp="1"/>
          </p:cNvSpPr>
          <p:nvPr>
            <p:ph type="pic" sz="quarter" idx="13"/>
          </p:nvPr>
        </p:nvSpPr>
        <p:spPr>
          <a:xfrm>
            <a:off x="6126726" y="0"/>
            <a:ext cx="6065276" cy="6858000"/>
          </a:xfrm>
          <a:solidFill>
            <a:schemeClr val="bg1">
              <a:lumMod val="85000"/>
            </a:schemeClr>
          </a:solidFill>
        </p:spPr>
        <p:txBody>
          <a:bodyPr/>
          <a:lstStyle/>
          <a:p>
            <a:endParaRPr lang="nl-NL"/>
          </a:p>
        </p:txBody>
      </p:sp>
      <p:pic>
        <p:nvPicPr>
          <p:cNvPr id="9" name="Afbeelding 8"/>
          <p:cNvPicPr>
            <a:picLocks noChangeAspect="1"/>
          </p:cNvPicPr>
          <p:nvPr userDrawn="1"/>
        </p:nvPicPr>
        <p:blipFill rotWithShape="1">
          <a:blip r:embed="rId2"/>
          <a:srcRect r="19769"/>
          <a:stretch/>
        </p:blipFill>
        <p:spPr>
          <a:xfrm>
            <a:off x="480001" y="6173621"/>
            <a:ext cx="2137056" cy="506307"/>
          </a:xfrm>
          <a:prstGeom prst="rect">
            <a:avLst/>
          </a:prstGeom>
        </p:spPr>
      </p:pic>
    </p:spTree>
    <p:extLst>
      <p:ext uri="{BB962C8B-B14F-4D97-AF65-F5344CB8AC3E}">
        <p14:creationId xmlns:p14="http://schemas.microsoft.com/office/powerpoint/2010/main" val="17510267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hoto slide">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p:cNvSpPr>
            <a:spLocks noGrp="1"/>
          </p:cNvSpPr>
          <p:nvPr>
            <p:ph type="pic" sz="quarter" idx="13"/>
          </p:nvPr>
        </p:nvSpPr>
        <p:spPr>
          <a:xfrm>
            <a:off x="0" y="0"/>
            <a:ext cx="12192000" cy="6858000"/>
          </a:xfrm>
          <a:solidFill>
            <a:schemeClr val="bg2">
              <a:lumMod val="85000"/>
            </a:schemeClr>
          </a:solidFill>
        </p:spPr>
        <p:txBody>
          <a:bodyPr/>
          <a:lstStyle/>
          <a:p>
            <a:endParaRPr lang="nl-NL" dirty="0"/>
          </a:p>
        </p:txBody>
      </p:sp>
      <p:sp>
        <p:nvSpPr>
          <p:cNvPr id="5" name="Tijdelijke aanduiding voor dianummer 4"/>
          <p:cNvSpPr>
            <a:spLocks noGrp="1"/>
          </p:cNvSpPr>
          <p:nvPr>
            <p:ph type="sldNum" sz="quarter" idx="12"/>
          </p:nvPr>
        </p:nvSpPr>
        <p:spPr/>
        <p:txBody>
          <a:bodyPr/>
          <a:lstStyle/>
          <a:p>
            <a:fld id="{09B7AD4A-C94A-7B42-9E17-606C7F366C4B}" type="slidenum">
              <a:rPr lang="nl-NL" smtClean="0"/>
              <a:pPr/>
              <a:t>‹#›</a:t>
            </a:fld>
            <a:endParaRPr lang="nl-NL" dirty="0"/>
          </a:p>
        </p:txBody>
      </p:sp>
      <p:sp>
        <p:nvSpPr>
          <p:cNvPr id="11" name="Tijdelijke aanduiding voor tekst 6">
            <a:extLst>
              <a:ext uri="{FF2B5EF4-FFF2-40B4-BE49-F238E27FC236}">
                <a16:creationId xmlns:a16="http://schemas.microsoft.com/office/drawing/2014/main" id="{65C5AF04-DC40-0847-A150-8AD1FF13551E}"/>
              </a:ext>
            </a:extLst>
          </p:cNvPr>
          <p:cNvSpPr>
            <a:spLocks noGrp="1"/>
          </p:cNvSpPr>
          <p:nvPr>
            <p:ph type="body" sz="quarter" idx="15" hasCustomPrompt="1"/>
          </p:nvPr>
        </p:nvSpPr>
        <p:spPr>
          <a:xfrm>
            <a:off x="478267" y="6249250"/>
            <a:ext cx="2044800" cy="311151"/>
          </a:xfrm>
          <a:blipFill>
            <a:blip r:embed="rId2"/>
            <a:stretch>
              <a:fillRect/>
            </a:stretch>
          </a:blipFill>
        </p:spPr>
        <p:txBody>
          <a:bodyPr/>
          <a:lstStyle>
            <a:lvl1pPr marL="0" indent="0" algn="ctr">
              <a:buNone/>
              <a:defRPr sz="1067"/>
            </a:lvl1pPr>
            <a:lvl2pPr marL="478355" indent="0">
              <a:buNone/>
              <a:defRPr sz="1067"/>
            </a:lvl2pPr>
            <a:lvl3pPr marL="954592" indent="0">
              <a:buNone/>
              <a:defRPr sz="1067"/>
            </a:lvl3pPr>
            <a:lvl4pPr marL="1432948" indent="0">
              <a:buNone/>
              <a:defRPr sz="1067"/>
            </a:lvl4pPr>
            <a:lvl5pPr marL="1911302" indent="0">
              <a:buNone/>
              <a:defRPr sz="1067"/>
            </a:lvl5pPr>
          </a:lstStyle>
          <a:p>
            <a:pPr lvl="0"/>
            <a:r>
              <a:rPr lang="nl-NL" dirty="0"/>
              <a:t>  </a:t>
            </a:r>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
        <p:nvSpPr>
          <p:cNvPr id="6" name="Tijdelijke aanduiding voor datum 3"/>
          <p:cNvSpPr>
            <a:spLocks noGrp="1"/>
          </p:cNvSpPr>
          <p:nvPr>
            <p:ph type="dt" sz="half" idx="10"/>
          </p:nvPr>
        </p:nvSpPr>
        <p:spPr>
          <a:xfrm>
            <a:off x="9781607" y="6314803"/>
            <a:ext cx="1219287" cy="365125"/>
          </a:xfrm>
        </p:spPr>
        <p:txBody>
          <a:bodyPr/>
          <a:lstStyle>
            <a:lvl1pPr>
              <a:defRPr>
                <a:solidFill>
                  <a:schemeClr val="tx1"/>
                </a:solidFill>
              </a:defRPr>
            </a:lvl1pPr>
          </a:lstStyle>
          <a:p>
            <a:endParaRPr lang="nl-NL" dirty="0"/>
          </a:p>
        </p:txBody>
      </p:sp>
    </p:spTree>
    <p:extLst>
      <p:ext uri="{BB962C8B-B14F-4D97-AF65-F5344CB8AC3E}">
        <p14:creationId xmlns:p14="http://schemas.microsoft.com/office/powerpoint/2010/main" val="40627837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Titelstijl van model bewerken</a:t>
            </a:r>
          </a:p>
        </p:txBody>
      </p:sp>
      <p:sp>
        <p:nvSpPr>
          <p:cNvPr id="5" name="Tijdelijke aanduiding voor dianummer 4"/>
          <p:cNvSpPr>
            <a:spLocks noGrp="1"/>
          </p:cNvSpPr>
          <p:nvPr>
            <p:ph type="sldNum" sz="quarter" idx="12"/>
          </p:nvPr>
        </p:nvSpPr>
        <p:spPr/>
        <p:txBody>
          <a:bodyPr/>
          <a:lstStyle/>
          <a:p>
            <a:fld id="{09B7AD4A-C94A-7B42-9E17-606C7F366C4B}" type="slidenum">
              <a:rPr lang="nl-NL" smtClean="0"/>
              <a:t>‹#›</a:t>
            </a:fld>
            <a:endParaRPr lang="nl-NL"/>
          </a:p>
        </p:txBody>
      </p:sp>
      <p:sp>
        <p:nvSpPr>
          <p:cNvPr id="7" name="Tijdelijke aanduiding voor tabel 6"/>
          <p:cNvSpPr>
            <a:spLocks noGrp="1"/>
          </p:cNvSpPr>
          <p:nvPr>
            <p:ph type="tbl" sz="quarter" idx="13"/>
          </p:nvPr>
        </p:nvSpPr>
        <p:spPr>
          <a:xfrm>
            <a:off x="480486" y="1296001"/>
            <a:ext cx="11101916" cy="4309231"/>
          </a:xfrm>
        </p:spPr>
        <p:txBody>
          <a:bodyPr/>
          <a:lstStyle/>
          <a:p>
            <a:endParaRPr lang="nl-NL"/>
          </a:p>
        </p:txBody>
      </p:sp>
      <p:pic>
        <p:nvPicPr>
          <p:cNvPr id="8" name="Afbeelding 7"/>
          <p:cNvPicPr>
            <a:picLocks noChangeAspect="1"/>
          </p:cNvPicPr>
          <p:nvPr userDrawn="1"/>
        </p:nvPicPr>
        <p:blipFill rotWithShape="1">
          <a:blip r:embed="rId2"/>
          <a:srcRect r="19769"/>
          <a:stretch/>
        </p:blipFill>
        <p:spPr>
          <a:xfrm>
            <a:off x="480001" y="6173621"/>
            <a:ext cx="2137056" cy="506307"/>
          </a:xfrm>
          <a:prstGeom prst="rect">
            <a:avLst/>
          </a:prstGeom>
        </p:spPr>
      </p:pic>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
        <p:nvSpPr>
          <p:cNvPr id="10" name="Tijdelijke aanduiding voor datum 3"/>
          <p:cNvSpPr>
            <a:spLocks noGrp="1"/>
          </p:cNvSpPr>
          <p:nvPr>
            <p:ph type="dt" sz="half" idx="10"/>
          </p:nvPr>
        </p:nvSpPr>
        <p:spPr>
          <a:xfrm>
            <a:off x="9781607" y="6314803"/>
            <a:ext cx="1219287" cy="365125"/>
          </a:xfrm>
        </p:spPr>
        <p:txBody>
          <a:bodyPr/>
          <a:lstStyle/>
          <a:p>
            <a:endParaRPr lang="nl-NL" dirty="0"/>
          </a:p>
        </p:txBody>
      </p:sp>
    </p:spTree>
    <p:extLst>
      <p:ext uri="{BB962C8B-B14F-4D97-AF65-F5344CB8AC3E}">
        <p14:creationId xmlns:p14="http://schemas.microsoft.com/office/powerpoint/2010/main" val="3631561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3F29B3-6C81-E5D2-05C5-CFA2FD5846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1E1E313-F010-F189-951F-FE2F9026DE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22CFD7-CA56-75F3-4ECC-80D243DBE0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F593327-1605-AF46-91A0-F6E1F4507FA8}" type="datetimeFigureOut">
              <a:rPr lang="en-US" smtClean="0"/>
              <a:t>5/6/26</a:t>
            </a:fld>
            <a:endParaRPr lang="en-US"/>
          </a:p>
        </p:txBody>
      </p:sp>
      <p:sp>
        <p:nvSpPr>
          <p:cNvPr id="5" name="Footer Placeholder 4">
            <a:extLst>
              <a:ext uri="{FF2B5EF4-FFF2-40B4-BE49-F238E27FC236}">
                <a16:creationId xmlns:a16="http://schemas.microsoft.com/office/drawing/2014/main" id="{D3F7D3C5-B84E-A9F3-E66E-B90696887C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034CE50-97A0-5749-E554-6BC721ADEE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C77DCDC-A28C-E64E-AD42-8861EA615284}" type="slidenum">
              <a:rPr lang="en-US" smtClean="0"/>
              <a:t>‹#›</a:t>
            </a:fld>
            <a:endParaRPr lang="en-US"/>
          </a:p>
        </p:txBody>
      </p:sp>
    </p:spTree>
    <p:extLst>
      <p:ext uri="{BB962C8B-B14F-4D97-AF65-F5344CB8AC3E}">
        <p14:creationId xmlns:p14="http://schemas.microsoft.com/office/powerpoint/2010/main" val="8516224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480001" y="414260"/>
            <a:ext cx="11102399" cy="756000"/>
          </a:xfrm>
          <a:prstGeom prst="rect">
            <a:avLst/>
          </a:prstGeom>
        </p:spPr>
        <p:txBody>
          <a:bodyPr vert="horz" lIns="0" tIns="0" rIns="0" bIns="0" rtlCol="0" anchor="t" anchorCtr="0">
            <a:normAutofit/>
          </a:bodyPr>
          <a:lstStyle/>
          <a:p>
            <a:r>
              <a:rPr lang="nl-NL" dirty="0"/>
              <a:t>Titelstijl van model bewerken</a:t>
            </a:r>
          </a:p>
        </p:txBody>
      </p:sp>
      <p:sp>
        <p:nvSpPr>
          <p:cNvPr id="3" name="Tijdelijke aanduiding voor tekst 2"/>
          <p:cNvSpPr>
            <a:spLocks noGrp="1"/>
          </p:cNvSpPr>
          <p:nvPr>
            <p:ph type="body" idx="1"/>
          </p:nvPr>
        </p:nvSpPr>
        <p:spPr>
          <a:xfrm>
            <a:off x="480001" y="1296000"/>
            <a:ext cx="11102399" cy="4445149"/>
          </a:xfrm>
          <a:prstGeom prst="rect">
            <a:avLst/>
          </a:prstGeom>
        </p:spPr>
        <p:txBody>
          <a:bodyPr vert="horz" lIns="0" tIns="0" rIns="0" bIns="0" rtlCol="0">
            <a:no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p:cNvSpPr>
            <a:spLocks noGrp="1"/>
          </p:cNvSpPr>
          <p:nvPr>
            <p:ph type="dt" sz="half" idx="2"/>
          </p:nvPr>
        </p:nvSpPr>
        <p:spPr>
          <a:xfrm>
            <a:off x="4312625" y="6318628"/>
            <a:ext cx="1219287" cy="365125"/>
          </a:xfrm>
          <a:prstGeom prst="rect">
            <a:avLst/>
          </a:prstGeom>
        </p:spPr>
        <p:txBody>
          <a:bodyPr vert="horz" lIns="0" tIns="0" rIns="0" bIns="0" rtlCol="0" anchor="t" anchorCtr="0"/>
          <a:lstStyle>
            <a:lvl1pPr algn="r">
              <a:defRPr sz="1333">
                <a:solidFill>
                  <a:schemeClr val="tx1"/>
                </a:solidFill>
                <a:latin typeface="+mj-lt"/>
                <a:cs typeface="Verdana"/>
              </a:defRPr>
            </a:lvl1pPr>
          </a:lstStyle>
          <a:p>
            <a:endParaRPr lang="nl-NL" dirty="0"/>
          </a:p>
        </p:txBody>
      </p:sp>
      <p:sp>
        <p:nvSpPr>
          <p:cNvPr id="5" name="Tijdelijke aanduiding voor voettekst 4"/>
          <p:cNvSpPr>
            <a:spLocks noGrp="1"/>
          </p:cNvSpPr>
          <p:nvPr>
            <p:ph type="ftr" sz="quarter" idx="3"/>
          </p:nvPr>
        </p:nvSpPr>
        <p:spPr>
          <a:xfrm>
            <a:off x="5697661" y="6318628"/>
            <a:ext cx="5303544" cy="365125"/>
          </a:xfrm>
          <a:prstGeom prst="rect">
            <a:avLst/>
          </a:prstGeom>
        </p:spPr>
        <p:txBody>
          <a:bodyPr vert="horz" lIns="0" tIns="0" rIns="0" bIns="0" rtlCol="0" anchor="t" anchorCtr="0"/>
          <a:lstStyle>
            <a:lvl1pPr algn="r">
              <a:defRPr sz="1333">
                <a:solidFill>
                  <a:schemeClr val="tx1"/>
                </a:solidFill>
                <a:latin typeface="+mn-lt"/>
                <a:cs typeface="Verdana"/>
              </a:defRPr>
            </a:lvl1pPr>
          </a:lstStyle>
          <a:p>
            <a:endParaRPr lang="nl-NL" dirty="0"/>
          </a:p>
        </p:txBody>
      </p:sp>
      <p:sp>
        <p:nvSpPr>
          <p:cNvPr id="6" name="Tijdelijke aanduiding voor dianummer 5"/>
          <p:cNvSpPr>
            <a:spLocks noGrp="1"/>
          </p:cNvSpPr>
          <p:nvPr>
            <p:ph type="sldNum" sz="quarter" idx="4"/>
          </p:nvPr>
        </p:nvSpPr>
        <p:spPr>
          <a:xfrm>
            <a:off x="11088190" y="6318400"/>
            <a:ext cx="494209" cy="365125"/>
          </a:xfrm>
          <a:prstGeom prst="rect">
            <a:avLst/>
          </a:prstGeom>
        </p:spPr>
        <p:txBody>
          <a:bodyPr vert="horz" lIns="0" tIns="0" rIns="0" bIns="0" rtlCol="0" anchor="t" anchorCtr="0"/>
          <a:lstStyle>
            <a:lvl1pPr algn="r">
              <a:defRPr sz="1333">
                <a:solidFill>
                  <a:schemeClr val="tx1"/>
                </a:solidFill>
                <a:latin typeface="+mn-lt"/>
                <a:cs typeface="Verdana"/>
              </a:defRPr>
            </a:lvl1pPr>
          </a:lstStyle>
          <a:p>
            <a:fld id="{09B7AD4A-C94A-7B42-9E17-606C7F366C4B}" type="slidenum">
              <a:rPr lang="nl-NL" smtClean="0"/>
              <a:pPr/>
              <a:t>‹#›</a:t>
            </a:fld>
            <a:endParaRPr lang="nl-NL" dirty="0"/>
          </a:p>
        </p:txBody>
      </p:sp>
    </p:spTree>
    <p:extLst>
      <p:ext uri="{BB962C8B-B14F-4D97-AF65-F5344CB8AC3E}">
        <p14:creationId xmlns:p14="http://schemas.microsoft.com/office/powerpoint/2010/main" val="28045983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sldNum="0" hdr="0" ftr="0" dt="0"/>
  <p:txStyles>
    <p:titleStyle>
      <a:lvl1pPr algn="l" defTabSz="609585" rtl="0" eaLnBrk="1" latinLnBrk="0" hangingPunct="1">
        <a:spcBef>
          <a:spcPct val="0"/>
        </a:spcBef>
        <a:buNone/>
        <a:defRPr sz="4267" b="1" kern="1200">
          <a:solidFill>
            <a:schemeClr val="tx2"/>
          </a:solidFill>
          <a:latin typeface="+mj-lt"/>
          <a:ea typeface="+mj-ea"/>
          <a:cs typeface="Verdana"/>
        </a:defRPr>
      </a:lvl1pPr>
    </p:titleStyle>
    <p:body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nl-NL"/>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2.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image" Target="../media/image291.png"/><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8" Type="http://schemas.openxmlformats.org/officeDocument/2006/relationships/image" Target="../media/image270.png"/><Relationship Id="rId3" Type="http://schemas.openxmlformats.org/officeDocument/2006/relationships/image" Target="../media/image18.png"/><Relationship Id="rId7" Type="http://schemas.openxmlformats.org/officeDocument/2006/relationships/image" Target="../media/image261.png"/><Relationship Id="rId2" Type="http://schemas.openxmlformats.org/officeDocument/2006/relationships/image" Target="../media/image14.jpg"/><Relationship Id="rId1" Type="http://schemas.openxmlformats.org/officeDocument/2006/relationships/slideLayout" Target="../slideLayouts/slideLayout22.xml"/><Relationship Id="rId5" Type="http://schemas.openxmlformats.org/officeDocument/2006/relationships/image" Target="../media/image240.png"/></Relationships>
</file>

<file path=ppt/slides/_rels/slide18.xml.rels><?xml version="1.0" encoding="UTF-8" standalone="yes"?>
<Relationships xmlns="http://schemas.openxmlformats.org/package/2006/relationships"><Relationship Id="rId3" Type="http://schemas.openxmlformats.org/officeDocument/2006/relationships/image" Target="../media/image14.jpg"/><Relationship Id="rId7" Type="http://schemas.openxmlformats.org/officeDocument/2006/relationships/image" Target="../media/image290.png"/><Relationship Id="rId2" Type="http://schemas.openxmlformats.org/officeDocument/2006/relationships/image" Target="../media/image19.png"/><Relationship Id="rId1" Type="http://schemas.openxmlformats.org/officeDocument/2006/relationships/slideLayout" Target="../slideLayouts/slideLayout22.xml"/><Relationship Id="rId6" Type="http://schemas.openxmlformats.org/officeDocument/2006/relationships/image" Target="../media/image280.png"/></Relationships>
</file>

<file path=ppt/slides/_rels/slide19.xml.rels><?xml version="1.0" encoding="UTF-8" standalone="yes"?>
<Relationships xmlns="http://schemas.openxmlformats.org/package/2006/relationships"><Relationship Id="rId8" Type="http://schemas.openxmlformats.org/officeDocument/2006/relationships/image" Target="../media/image290.png"/><Relationship Id="rId3" Type="http://schemas.openxmlformats.org/officeDocument/2006/relationships/image" Target="../media/image14.jpg"/><Relationship Id="rId7" Type="http://schemas.openxmlformats.org/officeDocument/2006/relationships/image" Target="../media/image300.png"/><Relationship Id="rId2" Type="http://schemas.openxmlformats.org/officeDocument/2006/relationships/image" Target="../media/image19.png"/><Relationship Id="rId1" Type="http://schemas.openxmlformats.org/officeDocument/2006/relationships/slideLayout" Target="../slideLayouts/slideLayout22.xml"/><Relationship Id="rId6" Type="http://schemas.openxmlformats.org/officeDocument/2006/relationships/image" Target="../media/image280.png"/><Relationship Id="rId5" Type="http://schemas.openxmlformats.org/officeDocument/2006/relationships/image" Target="../media/image251.png"/><Relationship Id="rId4" Type="http://schemas.openxmlformats.org/officeDocument/2006/relationships/image" Target="../media/image230.png"/></Relationships>
</file>

<file path=ppt/slides/_rels/slide20.xml.rels><?xml version="1.0" encoding="UTF-8" standalone="yes"?>
<Relationships xmlns="http://schemas.openxmlformats.org/package/2006/relationships"><Relationship Id="rId8" Type="http://schemas.openxmlformats.org/officeDocument/2006/relationships/image" Target="../media/image370.png"/><Relationship Id="rId13" Type="http://schemas.openxmlformats.org/officeDocument/2006/relationships/image" Target="../media/image42.png"/><Relationship Id="rId3" Type="http://schemas.openxmlformats.org/officeDocument/2006/relationships/image" Target="../media/image14.jpg"/><Relationship Id="rId7" Type="http://schemas.openxmlformats.org/officeDocument/2006/relationships/image" Target="../media/image21.jpg"/><Relationship Id="rId12" Type="http://schemas.openxmlformats.org/officeDocument/2006/relationships/image" Target="../media/image410.png"/><Relationship Id="rId2" Type="http://schemas.openxmlformats.org/officeDocument/2006/relationships/notesSlide" Target="../notesSlides/notesSlide12.xml"/><Relationship Id="rId1" Type="http://schemas.openxmlformats.org/officeDocument/2006/relationships/slideLayout" Target="../slideLayouts/slideLayout22.xml"/><Relationship Id="rId6" Type="http://schemas.openxmlformats.org/officeDocument/2006/relationships/image" Target="../media/image350.png"/><Relationship Id="rId11" Type="http://schemas.openxmlformats.org/officeDocument/2006/relationships/image" Target="../media/image400.png"/><Relationship Id="rId5" Type="http://schemas.openxmlformats.org/officeDocument/2006/relationships/image" Target="../media/image20.jpg"/><Relationship Id="rId15" Type="http://schemas.openxmlformats.org/officeDocument/2006/relationships/image" Target="../media/image44.png"/><Relationship Id="rId10" Type="http://schemas.openxmlformats.org/officeDocument/2006/relationships/image" Target="../media/image390.png"/><Relationship Id="rId4" Type="http://schemas.openxmlformats.org/officeDocument/2006/relationships/image" Target="../media/image230.png"/><Relationship Id="rId9" Type="http://schemas.openxmlformats.org/officeDocument/2006/relationships/image" Target="../media/image380.png"/><Relationship Id="rId14" Type="http://schemas.openxmlformats.org/officeDocument/2006/relationships/image" Target="../media/image43.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20.jpg"/><Relationship Id="rId7" Type="http://schemas.openxmlformats.org/officeDocument/2006/relationships/image" Target="../media/image52.png"/><Relationship Id="rId2" Type="http://schemas.openxmlformats.org/officeDocument/2006/relationships/notesSlide" Target="../notesSlides/notesSlide15.xml"/><Relationship Id="rId1" Type="http://schemas.openxmlformats.org/officeDocument/2006/relationships/slideLayout" Target="../slideLayouts/slideLayout22.xml"/><Relationship Id="rId6" Type="http://schemas.openxmlformats.org/officeDocument/2006/relationships/image" Target="../media/image55.png"/><Relationship Id="rId5" Type="http://schemas.openxmlformats.org/officeDocument/2006/relationships/image" Target="../media/image54.png"/><Relationship Id="rId10" Type="http://schemas.openxmlformats.org/officeDocument/2006/relationships/image" Target="../media/image25.png"/><Relationship Id="rId4" Type="http://schemas.openxmlformats.org/officeDocument/2006/relationships/image" Target="../media/image350.png"/><Relationship Id="rId9" Type="http://schemas.openxmlformats.org/officeDocument/2006/relationships/image" Target="../media/image57.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8.xml"/><Relationship Id="rId1" Type="http://schemas.openxmlformats.org/officeDocument/2006/relationships/slideLayout" Target="../slideLayouts/slideLayout22.xml"/><Relationship Id="rId6" Type="http://schemas.openxmlformats.org/officeDocument/2006/relationships/image" Target="../media/image63.png"/><Relationship Id="rId5" Type="http://schemas.openxmlformats.org/officeDocument/2006/relationships/image" Target="../media/image230.png"/><Relationship Id="rId4" Type="http://schemas.openxmlformats.org/officeDocument/2006/relationships/image" Target="../media/image29.jpg"/></Relationships>
</file>

<file path=ppt/slides/_rels/slide40.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30.jpg"/><Relationship Id="rId7" Type="http://schemas.openxmlformats.org/officeDocument/2006/relationships/image" Target="../media/image32.jpg"/><Relationship Id="rId2" Type="http://schemas.openxmlformats.org/officeDocument/2006/relationships/notesSlide" Target="../notesSlides/notesSlide19.xml"/><Relationship Id="rId1" Type="http://schemas.openxmlformats.org/officeDocument/2006/relationships/slideLayout" Target="../slideLayouts/slideLayout22.xml"/><Relationship Id="rId6" Type="http://schemas.openxmlformats.org/officeDocument/2006/relationships/image" Target="../media/image67.png"/><Relationship Id="rId5" Type="http://schemas.openxmlformats.org/officeDocument/2006/relationships/image" Target="../media/image31.jpg"/><Relationship Id="rId4" Type="http://schemas.openxmlformats.org/officeDocument/2006/relationships/image" Target="../media/image65.png"/><Relationship Id="rId9" Type="http://schemas.openxmlformats.org/officeDocument/2006/relationships/image" Target="../media/image61.png"/></Relationships>
</file>

<file path=ppt/slides/_rels/slide4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0.xml"/><Relationship Id="rId1" Type="http://schemas.openxmlformats.org/officeDocument/2006/relationships/slideLayout" Target="../slideLayouts/slideLayout22.xml"/><Relationship Id="rId6" Type="http://schemas.openxmlformats.org/officeDocument/2006/relationships/image" Target="../media/image51.png"/><Relationship Id="rId5" Type="http://schemas.openxmlformats.org/officeDocument/2006/relationships/image" Target="../media/image230.png"/><Relationship Id="rId4" Type="http://schemas.openxmlformats.org/officeDocument/2006/relationships/image" Target="../media/image29.jpg"/></Relationships>
</file>

<file path=ppt/slides/_rels/slide42.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33.jpg"/><Relationship Id="rId7" Type="http://schemas.openxmlformats.org/officeDocument/2006/relationships/image" Target="../media/image35.jpg"/><Relationship Id="rId2" Type="http://schemas.openxmlformats.org/officeDocument/2006/relationships/notesSlide" Target="../notesSlides/notesSlide21.xml"/><Relationship Id="rId1" Type="http://schemas.openxmlformats.org/officeDocument/2006/relationships/slideLayout" Target="../slideLayouts/slideLayout22.xml"/><Relationship Id="rId6" Type="http://schemas.openxmlformats.org/officeDocument/2006/relationships/image" Target="../media/image67.png"/><Relationship Id="rId5" Type="http://schemas.openxmlformats.org/officeDocument/2006/relationships/image" Target="../media/image34.jpg"/><Relationship Id="rId4" Type="http://schemas.openxmlformats.org/officeDocument/2006/relationships/image" Target="../media/image65.png"/><Relationship Id="rId9" Type="http://schemas.openxmlformats.org/officeDocument/2006/relationships/image" Target="../media/image5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2.xml"/></Relationships>
</file>

<file path=ppt/slides/_rels/slide4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22.xml"/><Relationship Id="rId5" Type="http://schemas.openxmlformats.org/officeDocument/2006/relationships/image" Target="../media/image40.jpeg"/><Relationship Id="rId4" Type="http://schemas.openxmlformats.org/officeDocument/2006/relationships/image" Target="../media/image39.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1.xml.rels><?xml version="1.0" encoding="UTF-8" standalone="yes"?>
<Relationships xmlns="http://schemas.openxmlformats.org/package/2006/relationships"><Relationship Id="rId2" Type="http://schemas.openxmlformats.org/officeDocument/2006/relationships/image" Target="../media/image371.png"/><Relationship Id="rId1" Type="http://schemas.openxmlformats.org/officeDocument/2006/relationships/slideLayout" Target="../slideLayouts/slideLayout2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5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_rels/slide5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14.jpg"/><Relationship Id="rId1" Type="http://schemas.openxmlformats.org/officeDocument/2006/relationships/slideLayout" Target="../slideLayouts/slideLayout22.xml"/><Relationship Id="rId5" Type="http://schemas.openxmlformats.org/officeDocument/2006/relationships/image" Target="../media/image780.png"/><Relationship Id="rId4" Type="http://schemas.openxmlformats.org/officeDocument/2006/relationships/image" Target="../media/image770.png"/></Relationships>
</file>

<file path=ppt/slides/_rels/slide5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6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7.xml"/><Relationship Id="rId1" Type="http://schemas.openxmlformats.org/officeDocument/2006/relationships/slideLayout" Target="../slideLayouts/slideLayout22.xml"/></Relationships>
</file>

<file path=ppt/slides/_rels/slide6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2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2784" y="253136"/>
            <a:ext cx="9247059" cy="2205259"/>
          </a:xfrm>
        </p:spPr>
        <p:txBody>
          <a:bodyPr/>
          <a:lstStyle/>
          <a:p>
            <a:r>
              <a:rPr lang="en-US" dirty="0"/>
              <a:t>BCS1520: Statistics</a:t>
            </a:r>
          </a:p>
        </p:txBody>
      </p:sp>
      <p:sp>
        <p:nvSpPr>
          <p:cNvPr id="3" name="Subtitle 2"/>
          <p:cNvSpPr>
            <a:spLocks noGrp="1"/>
          </p:cNvSpPr>
          <p:nvPr>
            <p:ph type="subTitle" idx="1"/>
          </p:nvPr>
        </p:nvSpPr>
        <p:spPr/>
        <p:txBody>
          <a:bodyPr/>
          <a:lstStyle/>
          <a:p>
            <a:r>
              <a:rPr lang="en-US" b="1" dirty="0"/>
              <a:t>Lecture 8: </a:t>
            </a:r>
          </a:p>
          <a:p>
            <a:r>
              <a:rPr lang="en-US" b="1" dirty="0"/>
              <a:t>Hypothesis Testing</a:t>
            </a:r>
            <a:br>
              <a:rPr lang="en-US" b="1" dirty="0"/>
            </a:br>
            <a:endParaRPr lang="en-US" b="1" dirty="0"/>
          </a:p>
        </p:txBody>
      </p:sp>
    </p:spTree>
    <p:extLst>
      <p:ext uri="{BB962C8B-B14F-4D97-AF65-F5344CB8AC3E}">
        <p14:creationId xmlns:p14="http://schemas.microsoft.com/office/powerpoint/2010/main" val="1104675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9B56C-A12C-54C9-3672-47AC103E631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BF2037-8CDF-71EE-A449-0E75174640FA}"/>
              </a:ext>
            </a:extLst>
          </p:cNvPr>
          <p:cNvSpPr>
            <a:spLocks noGrp="1"/>
          </p:cNvSpPr>
          <p:nvPr>
            <p:ph idx="1"/>
          </p:nvPr>
        </p:nvSpPr>
        <p:spPr>
          <a:xfrm>
            <a:off x="480002" y="1296000"/>
            <a:ext cx="11102398" cy="4445149"/>
          </a:xfrm>
        </p:spPr>
        <p:txBody>
          <a:bodyPr/>
          <a:lstStyle/>
          <a:p>
            <a:r>
              <a:rPr lang="en-US" sz="4000" dirty="0"/>
              <a:t>Discrete and Continuous Random Variables.</a:t>
            </a:r>
          </a:p>
          <a:p>
            <a:r>
              <a:rPr lang="en-US" sz="4000" dirty="0"/>
              <a:t>Every random variable can be said to come from a distribution.</a:t>
            </a:r>
          </a:p>
          <a:p>
            <a:r>
              <a:rPr lang="en-US" sz="4000" dirty="0"/>
              <a:t>Common discrete distributions we went through: Bernoulli, Binomial, Poisson.</a:t>
            </a:r>
          </a:p>
          <a:p>
            <a:r>
              <a:rPr lang="en-US" sz="4000" dirty="0"/>
              <a:t>Common continuous distributions we went over: </a:t>
            </a:r>
            <a:br>
              <a:rPr lang="en-US" sz="4000" dirty="0"/>
            </a:br>
            <a:r>
              <a:rPr lang="en-US" sz="4000" dirty="0"/>
              <a:t>Normal and t-Distribution.</a:t>
            </a:r>
          </a:p>
          <a:p>
            <a:endParaRPr lang="en-US" sz="4000" dirty="0"/>
          </a:p>
        </p:txBody>
      </p:sp>
      <p:sp>
        <p:nvSpPr>
          <p:cNvPr id="2" name="Title 1">
            <a:extLst>
              <a:ext uri="{FF2B5EF4-FFF2-40B4-BE49-F238E27FC236}">
                <a16:creationId xmlns:a16="http://schemas.microsoft.com/office/drawing/2014/main" id="{053CDD83-A018-A31D-F7EC-CC1863A7A9E6}"/>
              </a:ext>
            </a:extLst>
          </p:cNvPr>
          <p:cNvSpPr>
            <a:spLocks noGrp="1"/>
          </p:cNvSpPr>
          <p:nvPr>
            <p:ph type="title"/>
          </p:nvPr>
        </p:nvSpPr>
        <p:spPr/>
        <p:txBody>
          <a:bodyPr>
            <a:normAutofit/>
          </a:bodyPr>
          <a:lstStyle/>
          <a:p>
            <a:r>
              <a:rPr lang="en-US" dirty="0"/>
              <a:t>Recap</a:t>
            </a:r>
          </a:p>
        </p:txBody>
      </p:sp>
    </p:spTree>
    <p:extLst>
      <p:ext uri="{BB962C8B-B14F-4D97-AF65-F5344CB8AC3E}">
        <p14:creationId xmlns:p14="http://schemas.microsoft.com/office/powerpoint/2010/main" val="2753828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84B7C-B966-5C99-5E0C-4BC12CC29AC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708F54-1985-4C28-9BAD-AD9C3CD15037}"/>
              </a:ext>
            </a:extLst>
          </p:cNvPr>
          <p:cNvSpPr>
            <a:spLocks noGrp="1"/>
          </p:cNvSpPr>
          <p:nvPr>
            <p:ph idx="1"/>
          </p:nvPr>
        </p:nvSpPr>
        <p:spPr>
          <a:xfrm>
            <a:off x="480002" y="1296000"/>
            <a:ext cx="5589955" cy="4445149"/>
          </a:xfrm>
        </p:spPr>
        <p:txBody>
          <a:bodyPr/>
          <a:lstStyle/>
          <a:p>
            <a:r>
              <a:rPr lang="en-US" sz="3000" dirty="0"/>
              <a:t>John Arbuthnot looked at birth rates of boys and girls over 82 years from 1629 to 1710.</a:t>
            </a:r>
          </a:p>
          <a:p>
            <a:r>
              <a:rPr lang="en-US" sz="3000" dirty="0"/>
              <a:t>Calculated the sex ratio: Number of boys to 100 girls.</a:t>
            </a:r>
          </a:p>
          <a:p>
            <a:r>
              <a:rPr lang="en-US" sz="3000" dirty="0"/>
              <a:t>If the number of boys and girls born every year is the same, that is, there’s a 50/50 chance of either, then the sex ratio should be 1.</a:t>
            </a:r>
          </a:p>
        </p:txBody>
      </p:sp>
      <p:sp>
        <p:nvSpPr>
          <p:cNvPr id="2" name="Title 1">
            <a:extLst>
              <a:ext uri="{FF2B5EF4-FFF2-40B4-BE49-F238E27FC236}">
                <a16:creationId xmlns:a16="http://schemas.microsoft.com/office/drawing/2014/main" id="{D86A770C-00FD-3F0D-E596-6274887ADDA7}"/>
              </a:ext>
            </a:extLst>
          </p:cNvPr>
          <p:cNvSpPr>
            <a:spLocks noGrp="1"/>
          </p:cNvSpPr>
          <p:nvPr>
            <p:ph type="title"/>
          </p:nvPr>
        </p:nvSpPr>
        <p:spPr/>
        <p:txBody>
          <a:bodyPr>
            <a:normAutofit/>
          </a:bodyPr>
          <a:lstStyle/>
          <a:p>
            <a:r>
              <a:rPr lang="en-US" dirty="0"/>
              <a:t>Are more boys born than girls?</a:t>
            </a:r>
          </a:p>
        </p:txBody>
      </p:sp>
      <p:pic>
        <p:nvPicPr>
          <p:cNvPr id="5" name="Picture 4">
            <a:extLst>
              <a:ext uri="{FF2B5EF4-FFF2-40B4-BE49-F238E27FC236}">
                <a16:creationId xmlns:a16="http://schemas.microsoft.com/office/drawing/2014/main" id="{4D9246B6-856E-8444-3C27-00E804C27C3A}"/>
              </a:ext>
            </a:extLst>
          </p:cNvPr>
          <p:cNvPicPr>
            <a:picLocks noChangeAspect="1"/>
          </p:cNvPicPr>
          <p:nvPr/>
        </p:nvPicPr>
        <p:blipFill>
          <a:blip r:embed="rId3"/>
          <a:stretch>
            <a:fillRect/>
          </a:stretch>
        </p:blipFill>
        <p:spPr>
          <a:xfrm>
            <a:off x="6122044" y="1050718"/>
            <a:ext cx="6069956" cy="5687740"/>
          </a:xfrm>
          <a:prstGeom prst="rect">
            <a:avLst/>
          </a:prstGeom>
        </p:spPr>
      </p:pic>
    </p:spTree>
    <p:extLst>
      <p:ext uri="{BB962C8B-B14F-4D97-AF65-F5344CB8AC3E}">
        <p14:creationId xmlns:p14="http://schemas.microsoft.com/office/powerpoint/2010/main" val="2088086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B62E2-3C92-98D1-F227-149CBE681DA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C3A7DE-D9B5-1754-AA0F-6FA8142A83ED}"/>
              </a:ext>
            </a:extLst>
          </p:cNvPr>
          <p:cNvSpPr>
            <a:spLocks noGrp="1"/>
          </p:cNvSpPr>
          <p:nvPr>
            <p:ph idx="1"/>
          </p:nvPr>
        </p:nvSpPr>
        <p:spPr>
          <a:xfrm>
            <a:off x="480002" y="1296000"/>
            <a:ext cx="5589955" cy="4445149"/>
          </a:xfrm>
        </p:spPr>
        <p:txBody>
          <a:bodyPr/>
          <a:lstStyle/>
          <a:p>
            <a:r>
              <a:rPr lang="en-US" sz="3200" dirty="0"/>
              <a:t>If the number of boys and girls born every year is the same, that is, there’s a 50/50 chance of either, then the sex ratio should be 1.</a:t>
            </a:r>
          </a:p>
          <a:p>
            <a:r>
              <a:rPr lang="en-US" sz="3200" dirty="0"/>
              <a:t>Extrapolating that we would think then there should be 50/50 chance that the ratio is above or below 1.</a:t>
            </a:r>
          </a:p>
        </p:txBody>
      </p:sp>
      <p:sp>
        <p:nvSpPr>
          <p:cNvPr id="2" name="Title 1">
            <a:extLst>
              <a:ext uri="{FF2B5EF4-FFF2-40B4-BE49-F238E27FC236}">
                <a16:creationId xmlns:a16="http://schemas.microsoft.com/office/drawing/2014/main" id="{ED9A1B45-60AA-1E75-72F0-1C6D6478636B}"/>
              </a:ext>
            </a:extLst>
          </p:cNvPr>
          <p:cNvSpPr>
            <a:spLocks noGrp="1"/>
          </p:cNvSpPr>
          <p:nvPr>
            <p:ph type="title"/>
          </p:nvPr>
        </p:nvSpPr>
        <p:spPr/>
        <p:txBody>
          <a:bodyPr>
            <a:normAutofit/>
          </a:bodyPr>
          <a:lstStyle/>
          <a:p>
            <a:r>
              <a:rPr lang="en-US" dirty="0"/>
              <a:t>Are more boys born than girls?</a:t>
            </a:r>
          </a:p>
        </p:txBody>
      </p:sp>
      <p:pic>
        <p:nvPicPr>
          <p:cNvPr id="5" name="Picture 4">
            <a:extLst>
              <a:ext uri="{FF2B5EF4-FFF2-40B4-BE49-F238E27FC236}">
                <a16:creationId xmlns:a16="http://schemas.microsoft.com/office/drawing/2014/main" id="{65ED484D-60C7-6954-1FCD-7ACE791FD2E1}"/>
              </a:ext>
            </a:extLst>
          </p:cNvPr>
          <p:cNvPicPr>
            <a:picLocks noChangeAspect="1"/>
          </p:cNvPicPr>
          <p:nvPr/>
        </p:nvPicPr>
        <p:blipFill>
          <a:blip r:embed="rId3"/>
          <a:stretch>
            <a:fillRect/>
          </a:stretch>
        </p:blipFill>
        <p:spPr>
          <a:xfrm>
            <a:off x="6122044" y="1050718"/>
            <a:ext cx="6069956" cy="5687740"/>
          </a:xfrm>
          <a:prstGeom prst="rect">
            <a:avLst/>
          </a:prstGeom>
        </p:spPr>
      </p:pic>
    </p:spTree>
    <p:extLst>
      <p:ext uri="{BB962C8B-B14F-4D97-AF65-F5344CB8AC3E}">
        <p14:creationId xmlns:p14="http://schemas.microsoft.com/office/powerpoint/2010/main" val="1976775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3A4B9-AEF3-A33D-AD16-B0E5C44747D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4C58121-075B-884F-DD7F-D026CC68A2FE}"/>
                  </a:ext>
                </a:extLst>
              </p:cNvPr>
              <p:cNvSpPr>
                <a:spLocks noGrp="1"/>
              </p:cNvSpPr>
              <p:nvPr>
                <p:ph idx="1"/>
              </p:nvPr>
            </p:nvSpPr>
            <p:spPr>
              <a:xfrm>
                <a:off x="480002" y="1296000"/>
                <a:ext cx="5589955" cy="4445149"/>
              </a:xfrm>
            </p:spPr>
            <p:txBody>
              <a:bodyPr/>
              <a:lstStyle/>
              <a:p>
                <a:r>
                  <a:rPr lang="en-US" sz="3200" dirty="0"/>
                  <a:t>But the actual ratio was 107, with a range of 101 to 116. </a:t>
                </a:r>
              </a:p>
              <a:p>
                <a:r>
                  <a:rPr lang="en-US" sz="3200" dirty="0"/>
                  <a:t>This means every single year there were more boys than girls. </a:t>
                </a:r>
              </a:p>
              <a:p>
                <a:r>
                  <a:rPr lang="en-US" sz="3200" dirty="0"/>
                  <a:t>The probability of this happening over 82 years is infinitesimal (assuming 50/50): </a:t>
                </a:r>
                <a14:m>
                  <m:oMath xmlns:m="http://schemas.openxmlformats.org/officeDocument/2006/math">
                    <m:f>
                      <m:fPr>
                        <m:type m:val="skw"/>
                        <m:ctrlPr>
                          <a:rPr lang="en-US" sz="3200" i="1" smtClean="0">
                            <a:latin typeface="Cambria Math" panose="02040503050406030204" pitchFamily="18" charset="0"/>
                          </a:rPr>
                        </m:ctrlPr>
                      </m:fPr>
                      <m:num>
                        <m:r>
                          <a:rPr lang="en-US" sz="3200" b="0" i="1" smtClean="0">
                            <a:latin typeface="Cambria Math" panose="02040503050406030204" pitchFamily="18" charset="0"/>
                          </a:rPr>
                          <m:t>1</m:t>
                        </m:r>
                      </m:num>
                      <m:den>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m:t>
                            </m:r>
                          </m:e>
                          <m:sup>
                            <m:r>
                              <a:rPr lang="en-US" sz="3200" b="0" i="1" smtClean="0">
                                <a:latin typeface="Cambria Math" panose="02040503050406030204" pitchFamily="18" charset="0"/>
                              </a:rPr>
                              <m:t>82</m:t>
                            </m:r>
                          </m:sup>
                        </m:sSup>
                      </m:den>
                    </m:f>
                  </m:oMath>
                </a14:m>
                <a:endParaRPr lang="en-US" sz="3200" dirty="0"/>
              </a:p>
              <a:p>
                <a14:m>
                  <m:oMath xmlns:m="http://schemas.openxmlformats.org/officeDocument/2006/math">
                    <m:r>
                      <a:rPr lang="en-US" sz="3200" b="0" i="1" smtClean="0">
                        <a:latin typeface="Cambria Math" panose="02040503050406030204" pitchFamily="18" charset="0"/>
                      </a:rPr>
                      <m:t>𝑝</m:t>
                    </m:r>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𝑋</m:t>
                            </m:r>
                          </m:e>
                        </m:d>
                        <m:r>
                          <a:rPr lang="en-US" sz="3200" b="0" i="1" smtClean="0">
                            <a:latin typeface="Cambria Math" panose="02040503050406030204" pitchFamily="18" charset="0"/>
                          </a:rPr>
                          <m:t>≥</m:t>
                        </m:r>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𝑜𝑏𝑠</m:t>
                                </m:r>
                              </m:sub>
                            </m:sSub>
                          </m:e>
                        </m:d>
                      </m:e>
                    </m:d>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𝐻</m:t>
                        </m:r>
                      </m:e>
                      <m:sub>
                        <m:r>
                          <a:rPr lang="en-US" sz="3200" b="0" i="1" smtClean="0">
                            <a:latin typeface="Cambria Math" panose="02040503050406030204" pitchFamily="18" charset="0"/>
                          </a:rPr>
                          <m:t>0</m:t>
                        </m:r>
                      </m:sub>
                    </m:sSub>
                    <m:r>
                      <a:rPr lang="en-US" sz="3200" b="0" i="1" smtClean="0">
                        <a:latin typeface="Cambria Math" panose="02040503050406030204" pitchFamily="18" charset="0"/>
                      </a:rPr>
                      <m:t>)</m:t>
                    </m:r>
                  </m:oMath>
                </a14:m>
                <a:endParaRPr lang="en-US" sz="3200" dirty="0"/>
              </a:p>
            </p:txBody>
          </p:sp>
        </mc:Choice>
        <mc:Fallback xmlns="">
          <p:sp>
            <p:nvSpPr>
              <p:cNvPr id="3" name="Content Placeholder 2">
                <a:extLst>
                  <a:ext uri="{FF2B5EF4-FFF2-40B4-BE49-F238E27FC236}">
                    <a16:creationId xmlns:a16="http://schemas.microsoft.com/office/drawing/2014/main" id="{D4C58121-075B-884F-DD7F-D026CC68A2FE}"/>
                  </a:ext>
                </a:extLst>
              </p:cNvPr>
              <p:cNvSpPr>
                <a:spLocks noGrp="1" noRot="1" noChangeAspect="1" noMove="1" noResize="1" noEditPoints="1" noAdjustHandles="1" noChangeArrowheads="1" noChangeShapeType="1" noTextEdit="1"/>
              </p:cNvSpPr>
              <p:nvPr>
                <p:ph idx="1"/>
              </p:nvPr>
            </p:nvSpPr>
            <p:spPr>
              <a:xfrm>
                <a:off x="480002" y="1296000"/>
                <a:ext cx="5589955" cy="4445149"/>
              </a:xfrm>
              <a:blipFill>
                <a:blip r:embed="rId3"/>
                <a:stretch>
                  <a:fillRect l="-4072" t="-2849" r="-5430" b="-27635"/>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A5EEE23B-3286-9DCC-A0C6-2E74D102FB67}"/>
              </a:ext>
            </a:extLst>
          </p:cNvPr>
          <p:cNvSpPr>
            <a:spLocks noGrp="1"/>
          </p:cNvSpPr>
          <p:nvPr>
            <p:ph type="title"/>
          </p:nvPr>
        </p:nvSpPr>
        <p:spPr/>
        <p:txBody>
          <a:bodyPr>
            <a:normAutofit/>
          </a:bodyPr>
          <a:lstStyle/>
          <a:p>
            <a:r>
              <a:rPr lang="en-US" dirty="0"/>
              <a:t>Are more boys born than girls?</a:t>
            </a:r>
          </a:p>
        </p:txBody>
      </p:sp>
      <p:pic>
        <p:nvPicPr>
          <p:cNvPr id="5" name="Picture 4">
            <a:extLst>
              <a:ext uri="{FF2B5EF4-FFF2-40B4-BE49-F238E27FC236}">
                <a16:creationId xmlns:a16="http://schemas.microsoft.com/office/drawing/2014/main" id="{8F9BCBBF-1576-B84B-C56C-4EDDBB46B630}"/>
              </a:ext>
            </a:extLst>
          </p:cNvPr>
          <p:cNvPicPr>
            <a:picLocks noChangeAspect="1"/>
          </p:cNvPicPr>
          <p:nvPr/>
        </p:nvPicPr>
        <p:blipFill>
          <a:blip r:embed="rId4"/>
          <a:stretch>
            <a:fillRect/>
          </a:stretch>
        </p:blipFill>
        <p:spPr>
          <a:xfrm>
            <a:off x="6122044" y="1050718"/>
            <a:ext cx="6069956" cy="5687740"/>
          </a:xfrm>
          <a:prstGeom prst="rect">
            <a:avLst/>
          </a:prstGeom>
        </p:spPr>
      </p:pic>
    </p:spTree>
    <p:extLst>
      <p:ext uri="{BB962C8B-B14F-4D97-AF65-F5344CB8AC3E}">
        <p14:creationId xmlns:p14="http://schemas.microsoft.com/office/powerpoint/2010/main" val="1341009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8A033-28EE-0FB8-2E78-6AEC6C6BBF8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D4C0DB-85C1-52CE-37F3-1878E12D1239}"/>
              </a:ext>
            </a:extLst>
          </p:cNvPr>
          <p:cNvSpPr>
            <a:spLocks noGrp="1"/>
          </p:cNvSpPr>
          <p:nvPr>
            <p:ph idx="1"/>
          </p:nvPr>
        </p:nvSpPr>
        <p:spPr>
          <a:xfrm>
            <a:off x="480002" y="1296000"/>
            <a:ext cx="11102398" cy="4445149"/>
          </a:xfrm>
        </p:spPr>
        <p:txBody>
          <a:bodyPr/>
          <a:lstStyle/>
          <a:p>
            <a:r>
              <a:rPr lang="en-US" sz="3200" dirty="0"/>
              <a:t>Arbuthnot was sure this was divine providence. </a:t>
            </a:r>
          </a:p>
          <a:p>
            <a:r>
              <a:rPr lang="en-US" sz="3200" dirty="0"/>
              <a:t>Boys went to war and died. So, God made sure there were more boys than girls.</a:t>
            </a:r>
          </a:p>
          <a:p>
            <a:endParaRPr lang="en-US" sz="3200" dirty="0"/>
          </a:p>
          <a:p>
            <a:r>
              <a:rPr lang="en-US" sz="3200" dirty="0"/>
              <a:t>Regardless of his interpretation, Arbuthnot did what we now call a statistical test. He assessed whether the probability was within what would be considered reasonable (which could be for example, the range you may expect from 82 coin tosses).</a:t>
            </a:r>
          </a:p>
          <a:p>
            <a:r>
              <a:rPr lang="en-US" sz="3200" dirty="0"/>
              <a:t>Indeed, his finding still holds!</a:t>
            </a:r>
          </a:p>
          <a:p>
            <a:endParaRPr lang="en-US" sz="3200" dirty="0"/>
          </a:p>
        </p:txBody>
      </p:sp>
      <p:sp>
        <p:nvSpPr>
          <p:cNvPr id="2" name="Title 1">
            <a:extLst>
              <a:ext uri="{FF2B5EF4-FFF2-40B4-BE49-F238E27FC236}">
                <a16:creationId xmlns:a16="http://schemas.microsoft.com/office/drawing/2014/main" id="{5995DA0E-79F7-D94F-BDBC-71F9141D598E}"/>
              </a:ext>
            </a:extLst>
          </p:cNvPr>
          <p:cNvSpPr>
            <a:spLocks noGrp="1"/>
          </p:cNvSpPr>
          <p:nvPr>
            <p:ph type="title"/>
          </p:nvPr>
        </p:nvSpPr>
        <p:spPr/>
        <p:txBody>
          <a:bodyPr>
            <a:normAutofit/>
          </a:bodyPr>
          <a:lstStyle/>
          <a:p>
            <a:r>
              <a:rPr lang="en-US" dirty="0"/>
              <a:t>John Arbuthnot’s Interpretation</a:t>
            </a:r>
          </a:p>
        </p:txBody>
      </p:sp>
    </p:spTree>
    <p:extLst>
      <p:ext uri="{BB962C8B-B14F-4D97-AF65-F5344CB8AC3E}">
        <p14:creationId xmlns:p14="http://schemas.microsoft.com/office/powerpoint/2010/main" val="24677632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1BF68-3C2F-4BC1-F9AC-F37FBC552B0D}"/>
              </a:ext>
            </a:extLst>
          </p:cNvPr>
          <p:cNvSpPr>
            <a:spLocks noGrp="1"/>
          </p:cNvSpPr>
          <p:nvPr>
            <p:ph type="title"/>
          </p:nvPr>
        </p:nvSpPr>
        <p:spPr/>
        <p:txBody>
          <a:bodyPr/>
          <a:lstStyle/>
          <a:p>
            <a:r>
              <a:rPr lang="en-US" dirty="0"/>
              <a:t>Applying the Central Limit Theorem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BA843B-8991-A724-3D52-14AA506C5B45}"/>
                  </a:ext>
                </a:extLst>
              </p:cNvPr>
              <p:cNvSpPr>
                <a:spLocks noGrp="1"/>
              </p:cNvSpPr>
              <p:nvPr>
                <p:ph idx="1"/>
              </p:nvPr>
            </p:nvSpPr>
            <p:spPr/>
            <p:txBody>
              <a:bodyPr/>
              <a:lstStyle/>
              <a:p>
                <a:r>
                  <a:rPr lang="en-US" dirty="0"/>
                  <a:t>Ratio of boys to girls was 1.07</a:t>
                </a:r>
              </a:p>
              <a:p>
                <a:r>
                  <a:rPr lang="en-US" dirty="0"/>
                  <a:t>If we knew the standard deviation we could calculate </a:t>
                </a:r>
                <a14:m>
                  <m:oMath xmlns:m="http://schemas.openxmlformats.org/officeDocument/2006/math">
                    <m:r>
                      <a:rPr lang="en-US" b="0" i="1" smtClean="0">
                        <a:latin typeface="Cambria Math" panose="02040503050406030204" pitchFamily="18" charset="0"/>
                      </a:rPr>
                      <m:t>1.07±1.96 ∗</m:t>
                    </m:r>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 </m:t>
                    </m:r>
                  </m:oMath>
                </a14:m>
                <a:r>
                  <a:rPr lang="en-US" dirty="0"/>
                  <a:t> </a:t>
                </a:r>
              </a:p>
              <a:p>
                <a:r>
                  <a:rPr lang="en-US" dirty="0"/>
                  <a:t>We can then assess whether that 95% range covered 1, we know this is likely not true.</a:t>
                </a:r>
              </a:p>
              <a:p>
                <a:r>
                  <a:rPr lang="en-US" dirty="0"/>
                  <a:t>Demonstrates that we can run multiple types of tests with the same data.</a:t>
                </a:r>
              </a:p>
              <a:p>
                <a:endParaRPr lang="en-US" dirty="0"/>
              </a:p>
            </p:txBody>
          </p:sp>
        </mc:Choice>
        <mc:Fallback xmlns="">
          <p:sp>
            <p:nvSpPr>
              <p:cNvPr id="3" name="Content Placeholder 2">
                <a:extLst>
                  <a:ext uri="{FF2B5EF4-FFF2-40B4-BE49-F238E27FC236}">
                    <a16:creationId xmlns:a16="http://schemas.microsoft.com/office/drawing/2014/main" id="{07BA843B-8991-A724-3D52-14AA506C5B45}"/>
                  </a:ext>
                </a:extLst>
              </p:cNvPr>
              <p:cNvSpPr>
                <a:spLocks noGrp="1" noRot="1" noChangeAspect="1" noMove="1" noResize="1" noEditPoints="1" noAdjustHandles="1" noChangeArrowheads="1" noChangeShapeType="1" noTextEdit="1"/>
              </p:cNvSpPr>
              <p:nvPr>
                <p:ph idx="1"/>
              </p:nvPr>
            </p:nvSpPr>
            <p:spPr>
              <a:blipFill>
                <a:blip r:embed="rId3"/>
                <a:stretch>
                  <a:fillRect l="-2740" t="-3704" r="-1484" b="-9402"/>
                </a:stretch>
              </a:blipFill>
            </p:spPr>
            <p:txBody>
              <a:bodyPr/>
              <a:lstStyle/>
              <a:p>
                <a:r>
                  <a:rPr lang="en-US">
                    <a:noFill/>
                  </a:rPr>
                  <a:t> </a:t>
                </a:r>
              </a:p>
            </p:txBody>
          </p:sp>
        </mc:Fallback>
      </mc:AlternateContent>
    </p:spTree>
    <p:extLst>
      <p:ext uri="{BB962C8B-B14F-4D97-AF65-F5344CB8AC3E}">
        <p14:creationId xmlns:p14="http://schemas.microsoft.com/office/powerpoint/2010/main" val="3269769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1ED67-9BE6-B267-F5A0-3EB0C58B21B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B493FC-BC2F-667C-60CB-972E79D42D6E}"/>
              </a:ext>
            </a:extLst>
          </p:cNvPr>
          <p:cNvSpPr>
            <a:spLocks noGrp="1"/>
          </p:cNvSpPr>
          <p:nvPr>
            <p:ph idx="1"/>
          </p:nvPr>
        </p:nvSpPr>
        <p:spPr>
          <a:xfrm>
            <a:off x="480002" y="3817088"/>
            <a:ext cx="11102398" cy="1924061"/>
          </a:xfrm>
        </p:spPr>
        <p:txBody>
          <a:bodyPr/>
          <a:lstStyle/>
          <a:p>
            <a:r>
              <a:rPr lang="en-US" sz="3200" dirty="0"/>
              <a:t>For Arbuthnot, he rejected the null (our base expectation) of a 50/50 chance of the sex ratio being above 1 given that the probability of that 50/50 chance was so low for his data. </a:t>
            </a:r>
          </a:p>
        </p:txBody>
      </p:sp>
      <p:sp>
        <p:nvSpPr>
          <p:cNvPr id="2" name="Title 1">
            <a:extLst>
              <a:ext uri="{FF2B5EF4-FFF2-40B4-BE49-F238E27FC236}">
                <a16:creationId xmlns:a16="http://schemas.microsoft.com/office/drawing/2014/main" id="{98114342-25FE-3E42-5C2C-5390AA9213F7}"/>
              </a:ext>
            </a:extLst>
          </p:cNvPr>
          <p:cNvSpPr>
            <a:spLocks noGrp="1"/>
          </p:cNvSpPr>
          <p:nvPr>
            <p:ph type="title"/>
          </p:nvPr>
        </p:nvSpPr>
        <p:spPr/>
        <p:txBody>
          <a:bodyPr>
            <a:normAutofit/>
          </a:bodyPr>
          <a:lstStyle/>
          <a:p>
            <a:r>
              <a:rPr lang="en-US" dirty="0"/>
              <a:t>Answering questions with probability</a:t>
            </a:r>
          </a:p>
        </p:txBody>
      </p:sp>
      <p:graphicFrame>
        <p:nvGraphicFramePr>
          <p:cNvPr id="4" name="Content Placeholder 5">
            <a:extLst>
              <a:ext uri="{FF2B5EF4-FFF2-40B4-BE49-F238E27FC236}">
                <a16:creationId xmlns:a16="http://schemas.microsoft.com/office/drawing/2014/main" id="{34997FEC-E769-7CA5-560C-4635D0BCB629}"/>
              </a:ext>
            </a:extLst>
          </p:cNvPr>
          <p:cNvGraphicFramePr>
            <a:graphicFrameLocks/>
          </p:cNvGraphicFramePr>
          <p:nvPr>
            <p:extLst>
              <p:ext uri="{D42A27DB-BD31-4B8C-83A1-F6EECF244321}">
                <p14:modId xmlns:p14="http://schemas.microsoft.com/office/powerpoint/2010/main" val="573951813"/>
              </p:ext>
            </p:extLst>
          </p:nvPr>
        </p:nvGraphicFramePr>
        <p:xfrm>
          <a:off x="550923" y="1170260"/>
          <a:ext cx="10889710" cy="2150105"/>
        </p:xfrm>
        <a:graphic>
          <a:graphicData uri="http://schemas.openxmlformats.org/drawingml/2006/table">
            <a:tbl>
              <a:tblPr firstRow="1" bandRow="1">
                <a:tableStyleId>{5C22544A-7EE6-4342-B048-85BDC9FD1C3A}</a:tableStyleId>
              </a:tblPr>
              <a:tblGrid>
                <a:gridCol w="10889710">
                  <a:extLst>
                    <a:ext uri="{9D8B030D-6E8A-4147-A177-3AD203B41FA5}">
                      <a16:colId xmlns:a16="http://schemas.microsoft.com/office/drawing/2014/main" val="2806566759"/>
                    </a:ext>
                  </a:extLst>
                </a:gridCol>
              </a:tblGrid>
              <a:tr h="49388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dirty="0"/>
                        <a:t>Definition</a:t>
                      </a:r>
                    </a:p>
                  </a:txBody>
                  <a:tcPr>
                    <a:solidFill>
                      <a:srgbClr val="E84E10"/>
                    </a:solidFill>
                  </a:tcPr>
                </a:tc>
                <a:extLst>
                  <a:ext uri="{0D108BD9-81ED-4DB2-BD59-A6C34878D82A}">
                    <a16:rowId xmlns:a16="http://schemas.microsoft.com/office/drawing/2014/main" val="4282699494"/>
                  </a:ext>
                </a:extLst>
              </a:tr>
              <a:tr h="1631945">
                <a:tc>
                  <a:txBody>
                    <a:bodyPr/>
                    <a:lstStyle/>
                    <a:p>
                      <a:r>
                        <a:rPr lang="en-US" sz="2400" b="1" dirty="0"/>
                        <a:t>Hypothesis testing</a:t>
                      </a:r>
                      <a:r>
                        <a:rPr lang="en-US" sz="2400" b="0" dirty="0"/>
                        <a:t>: Assessing whether, given our data and a base expectation (claim that a parameter takes a particular numerical value), we can reject the expectation at some probability. Formally, establishing a null and alternative hypothesis and determining the p-value, with some threshold at which we reject the null.</a:t>
                      </a:r>
                    </a:p>
                  </a:txBody>
                  <a:tcPr>
                    <a:solidFill>
                      <a:srgbClr val="F6D0CC"/>
                    </a:solidFill>
                  </a:tcPr>
                </a:tc>
                <a:extLst>
                  <a:ext uri="{0D108BD9-81ED-4DB2-BD59-A6C34878D82A}">
                    <a16:rowId xmlns:a16="http://schemas.microsoft.com/office/drawing/2014/main" val="2257841623"/>
                  </a:ext>
                </a:extLst>
              </a:tr>
            </a:tbl>
          </a:graphicData>
        </a:graphic>
      </p:graphicFrame>
    </p:spTree>
    <p:extLst>
      <p:ext uri="{BB962C8B-B14F-4D97-AF65-F5344CB8AC3E}">
        <p14:creationId xmlns:p14="http://schemas.microsoft.com/office/powerpoint/2010/main" val="384647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9D10C-2981-D636-4AE6-7ED304CDA7F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737053-21B7-BD4D-9C6A-64485C4845FB}"/>
              </a:ext>
            </a:extLst>
          </p:cNvPr>
          <p:cNvSpPr>
            <a:spLocks noGrp="1"/>
          </p:cNvSpPr>
          <p:nvPr>
            <p:ph idx="1"/>
          </p:nvPr>
        </p:nvSpPr>
        <p:spPr>
          <a:xfrm>
            <a:off x="480002" y="2583712"/>
            <a:ext cx="11102398" cy="3157437"/>
          </a:xfrm>
        </p:spPr>
        <p:txBody>
          <a:bodyPr/>
          <a:lstStyle/>
          <a:p>
            <a:r>
              <a:rPr lang="en-US" sz="2800" dirty="0"/>
              <a:t>A hypothesis is just what we might predict will happen.</a:t>
            </a:r>
          </a:p>
          <a:p>
            <a:r>
              <a:rPr lang="en-US" sz="2800" dirty="0"/>
              <a:t>It’s not the absolute truth, but instead a provisional, working assumption, until we come up with a better hypothesis.</a:t>
            </a:r>
          </a:p>
          <a:p>
            <a:r>
              <a:rPr lang="en-US" sz="2800" dirty="0"/>
              <a:t>Newtonian mechanics was a good hypothesis and explained the data really well, until relativity came along. </a:t>
            </a:r>
          </a:p>
          <a:p>
            <a:r>
              <a:rPr lang="en-US" sz="2800" dirty="0"/>
              <a:t>Remember that some hypotheses can explain the data well but still be not necessarily useful: some hypotheses </a:t>
            </a:r>
            <a:r>
              <a:rPr lang="en-US" sz="2800" i="1" dirty="0"/>
              <a:t>overfit</a:t>
            </a:r>
            <a:r>
              <a:rPr lang="en-US" sz="2800" dirty="0"/>
              <a:t> the data.</a:t>
            </a:r>
          </a:p>
        </p:txBody>
      </p:sp>
      <p:sp>
        <p:nvSpPr>
          <p:cNvPr id="2" name="Title 1">
            <a:extLst>
              <a:ext uri="{FF2B5EF4-FFF2-40B4-BE49-F238E27FC236}">
                <a16:creationId xmlns:a16="http://schemas.microsoft.com/office/drawing/2014/main" id="{7984DDFF-4AC9-731C-02C2-CF6943DDC60E}"/>
              </a:ext>
            </a:extLst>
          </p:cNvPr>
          <p:cNvSpPr>
            <a:spLocks noGrp="1"/>
          </p:cNvSpPr>
          <p:nvPr>
            <p:ph type="title"/>
          </p:nvPr>
        </p:nvSpPr>
        <p:spPr/>
        <p:txBody>
          <a:bodyPr>
            <a:normAutofit/>
          </a:bodyPr>
          <a:lstStyle/>
          <a:p>
            <a:r>
              <a:rPr lang="en-US" dirty="0"/>
              <a:t>Answering questions with probability</a:t>
            </a:r>
          </a:p>
        </p:txBody>
      </p:sp>
      <p:graphicFrame>
        <p:nvGraphicFramePr>
          <p:cNvPr id="4" name="Content Placeholder 5">
            <a:extLst>
              <a:ext uri="{FF2B5EF4-FFF2-40B4-BE49-F238E27FC236}">
                <a16:creationId xmlns:a16="http://schemas.microsoft.com/office/drawing/2014/main" id="{C797C994-37E2-F91B-BFAF-BB0B28344E41}"/>
              </a:ext>
            </a:extLst>
          </p:cNvPr>
          <p:cNvGraphicFramePr>
            <a:graphicFrameLocks/>
          </p:cNvGraphicFramePr>
          <p:nvPr>
            <p:extLst>
              <p:ext uri="{D42A27DB-BD31-4B8C-83A1-F6EECF244321}">
                <p14:modId xmlns:p14="http://schemas.microsoft.com/office/powerpoint/2010/main" val="2694226153"/>
              </p:ext>
            </p:extLst>
          </p:nvPr>
        </p:nvGraphicFramePr>
        <p:xfrm>
          <a:off x="550923" y="1170261"/>
          <a:ext cx="10889710" cy="1308523"/>
        </p:xfrm>
        <a:graphic>
          <a:graphicData uri="http://schemas.openxmlformats.org/drawingml/2006/table">
            <a:tbl>
              <a:tblPr firstRow="1" bandRow="1">
                <a:tableStyleId>{5C22544A-7EE6-4342-B048-85BDC9FD1C3A}</a:tableStyleId>
              </a:tblPr>
              <a:tblGrid>
                <a:gridCol w="10889710">
                  <a:extLst>
                    <a:ext uri="{9D8B030D-6E8A-4147-A177-3AD203B41FA5}">
                      <a16:colId xmlns:a16="http://schemas.microsoft.com/office/drawing/2014/main" val="2806566759"/>
                    </a:ext>
                  </a:extLst>
                </a:gridCol>
              </a:tblGrid>
              <a:tr h="25094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dirty="0"/>
                        <a:t>Definition</a:t>
                      </a:r>
                    </a:p>
                  </a:txBody>
                  <a:tcPr>
                    <a:solidFill>
                      <a:srgbClr val="E84E10"/>
                    </a:solidFill>
                  </a:tcPr>
                </a:tc>
                <a:extLst>
                  <a:ext uri="{0D108BD9-81ED-4DB2-BD59-A6C34878D82A}">
                    <a16:rowId xmlns:a16="http://schemas.microsoft.com/office/drawing/2014/main" val="4282699494"/>
                  </a:ext>
                </a:extLst>
              </a:tr>
              <a:tr h="790363">
                <a:tc>
                  <a:txBody>
                    <a:bodyPr/>
                    <a:lstStyle/>
                    <a:p>
                      <a:r>
                        <a:rPr lang="en-US" sz="2800" b="1" dirty="0"/>
                        <a:t>Hypothesis</a:t>
                      </a:r>
                      <a:r>
                        <a:rPr lang="en-US" sz="2800" b="0" dirty="0"/>
                        <a:t>: A proposed explanation.</a:t>
                      </a:r>
                    </a:p>
                  </a:txBody>
                  <a:tcPr>
                    <a:solidFill>
                      <a:srgbClr val="F6D0CC"/>
                    </a:solidFill>
                  </a:tcPr>
                </a:tc>
                <a:extLst>
                  <a:ext uri="{0D108BD9-81ED-4DB2-BD59-A6C34878D82A}">
                    <a16:rowId xmlns:a16="http://schemas.microsoft.com/office/drawing/2014/main" val="2257841623"/>
                  </a:ext>
                </a:extLst>
              </a:tr>
            </a:tbl>
          </a:graphicData>
        </a:graphic>
      </p:graphicFrame>
    </p:spTree>
    <p:extLst>
      <p:ext uri="{BB962C8B-B14F-4D97-AF65-F5344CB8AC3E}">
        <p14:creationId xmlns:p14="http://schemas.microsoft.com/office/powerpoint/2010/main" val="1864458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5BB6F-80B3-E0B1-E5FD-6E8CD3A5309A}"/>
              </a:ext>
            </a:extLst>
          </p:cNvPr>
          <p:cNvSpPr>
            <a:spLocks noGrp="1"/>
          </p:cNvSpPr>
          <p:nvPr>
            <p:ph type="title"/>
          </p:nvPr>
        </p:nvSpPr>
        <p:spPr/>
        <p:txBody>
          <a:bodyPr/>
          <a:lstStyle/>
          <a:p>
            <a:r>
              <a:rPr lang="en-US" dirty="0"/>
              <a:t>How it all comes together for Hypothesis Testing</a:t>
            </a:r>
          </a:p>
        </p:txBody>
      </p:sp>
      <p:sp>
        <p:nvSpPr>
          <p:cNvPr id="3" name="Content Placeholder 2">
            <a:extLst>
              <a:ext uri="{FF2B5EF4-FFF2-40B4-BE49-F238E27FC236}">
                <a16:creationId xmlns:a16="http://schemas.microsoft.com/office/drawing/2014/main" id="{5625F6AA-114A-4A0A-9C78-915BE9BE4695}"/>
              </a:ext>
            </a:extLst>
          </p:cNvPr>
          <p:cNvSpPr>
            <a:spLocks noGrp="1"/>
          </p:cNvSpPr>
          <p:nvPr>
            <p:ph idx="1"/>
          </p:nvPr>
        </p:nvSpPr>
        <p:spPr/>
        <p:txBody>
          <a:bodyPr/>
          <a:lstStyle/>
          <a:p>
            <a:pPr marL="742950" indent="-742950">
              <a:buFont typeface="+mj-lt"/>
              <a:buAutoNum type="arabicPeriod"/>
            </a:pPr>
            <a:r>
              <a:rPr lang="en-US" sz="3600" dirty="0"/>
              <a:t>Data are gathered from randomization, random sampling, etc. </a:t>
            </a:r>
          </a:p>
          <a:p>
            <a:pPr marL="742950" indent="-742950">
              <a:buFont typeface="+mj-lt"/>
              <a:buAutoNum type="arabicPeriod"/>
            </a:pPr>
            <a:r>
              <a:rPr lang="en-US" sz="3600" dirty="0"/>
              <a:t>We can visualize data to understand it. </a:t>
            </a:r>
          </a:p>
          <a:p>
            <a:pPr marL="742950" indent="-742950">
              <a:buFont typeface="+mj-lt"/>
              <a:buAutoNum type="arabicPeriod"/>
            </a:pPr>
            <a:r>
              <a:rPr lang="en-US" sz="3600" dirty="0"/>
              <a:t>Random sampling enables probability calculations.</a:t>
            </a:r>
          </a:p>
          <a:p>
            <a:pPr marL="742950" indent="-742950">
              <a:buFont typeface="+mj-lt"/>
              <a:buAutoNum type="arabicPeriod"/>
            </a:pPr>
            <a:r>
              <a:rPr lang="en-US" sz="3600" dirty="0"/>
              <a:t>Probability calculations enables us to assign a sampling distribution to a parameter of interest. </a:t>
            </a:r>
          </a:p>
          <a:p>
            <a:pPr marL="742950" indent="-742950">
              <a:buFont typeface="+mj-lt"/>
              <a:buAutoNum type="arabicPeriod"/>
            </a:pPr>
            <a:r>
              <a:rPr lang="en-US" sz="3600" dirty="0"/>
              <a:t>Hypothesis testing lets us make a decision about the parameter (greater than some value, less than some value, related to another parameter, etc.).</a:t>
            </a:r>
          </a:p>
        </p:txBody>
      </p:sp>
    </p:spTree>
    <p:extLst>
      <p:ext uri="{BB962C8B-B14F-4D97-AF65-F5344CB8AC3E}">
        <p14:creationId xmlns:p14="http://schemas.microsoft.com/office/powerpoint/2010/main" val="2310383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 Brief History of Hypothesis Testing</a:t>
            </a:r>
          </a:p>
        </p:txBody>
      </p:sp>
      <p:sp>
        <p:nvSpPr>
          <p:cNvPr id="3" name="Content Placeholder 2"/>
          <p:cNvSpPr>
            <a:spLocks noGrp="1"/>
          </p:cNvSpPr>
          <p:nvPr>
            <p:ph idx="1"/>
          </p:nvPr>
        </p:nvSpPr>
        <p:spPr>
          <a:xfrm>
            <a:off x="480002" y="1200000"/>
            <a:ext cx="11102398" cy="5200000"/>
          </a:xfrm>
        </p:spPr>
        <p:txBody>
          <a:bodyPr/>
          <a:lstStyle/>
          <a:p>
            <a:r>
              <a:rPr lang="en-US" sz="2600" b="1" dirty="0"/>
              <a:t>1925 — Ronald Fisher:</a:t>
            </a:r>
            <a:r>
              <a:rPr lang="en-US" sz="2600" dirty="0"/>
              <a:t>  Introduces significance testing in “Statistical Methods for Research Workers.” Key tool: the p-value as a measure of evidence against the null hypothesis. </a:t>
            </a:r>
            <a:r>
              <a:rPr lang="en-US" sz="2600" dirty="0">
                <a:highlight>
                  <a:srgbClr val="FFFF00"/>
                </a:highlight>
              </a:rPr>
              <a:t>No alternative hypothesis required.</a:t>
            </a:r>
          </a:p>
          <a:p>
            <a:r>
              <a:rPr lang="en-US" sz="2600" b="1" dirty="0"/>
              <a:t>1933 — Neyman &amp; Pearson:</a:t>
            </a:r>
            <a:r>
              <a:rPr lang="en-US" sz="2600" dirty="0"/>
              <a:t>  Publish “On the Problem of the Most Efficient Tests of Statistical Hypotheses.” Key innovations: the alternative hypothesis, Type I and Type II errors, statistical power, and controlled error rates.</a:t>
            </a:r>
          </a:p>
          <a:p>
            <a:r>
              <a:rPr lang="en-US" sz="2600" b="1" dirty="0"/>
              <a:t>Today — A hybrid framework:</a:t>
            </a:r>
            <a:r>
              <a:rPr lang="en-US" sz="2600" dirty="0"/>
              <a:t>  Researchers report p-values (Fisherian) while designing studies with power and sample-size calculations (Neyman-Pearson). The two founders disagreed bitterly — yet their methods are routinely used together.</a:t>
            </a:r>
          </a:p>
        </p:txBody>
      </p:sp>
    </p:spTree>
    <p:extLst>
      <p:ext uri="{BB962C8B-B14F-4D97-AF65-F5344CB8AC3E}">
        <p14:creationId xmlns:p14="http://schemas.microsoft.com/office/powerpoint/2010/main" val="1265443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297A2-053F-5A92-52BC-D61E0B1C562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DB4781-937E-4C91-BCF1-F46634ABB5A7}"/>
              </a:ext>
            </a:extLst>
          </p:cNvPr>
          <p:cNvSpPr>
            <a:spLocks noGrp="1"/>
          </p:cNvSpPr>
          <p:nvPr>
            <p:ph idx="1"/>
          </p:nvPr>
        </p:nvSpPr>
        <p:spPr>
          <a:xfrm>
            <a:off x="480002" y="1296000"/>
            <a:ext cx="11102398" cy="4445149"/>
          </a:xfrm>
        </p:spPr>
        <p:txBody>
          <a:bodyPr/>
          <a:lstStyle/>
          <a:p>
            <a:pPr marL="514350" indent="-514350">
              <a:buFont typeface="+mj-lt"/>
              <a:buAutoNum type="arabicPeriod"/>
            </a:pPr>
            <a:r>
              <a:rPr lang="en-US" sz="3200" dirty="0"/>
              <a:t>Does taking statins reduce the risk of heart attacks and strokes in the elderly? </a:t>
            </a:r>
          </a:p>
          <a:p>
            <a:pPr marL="1013870" lvl="1" indent="-514350"/>
            <a:r>
              <a:rPr lang="en-US" sz="2666" dirty="0"/>
              <a:t>Null hypothesis: Statins do nothing for heart attacks and strokes. </a:t>
            </a:r>
          </a:p>
          <a:p>
            <a:pPr marL="1013870" lvl="1" indent="-514350"/>
            <a:r>
              <a:rPr lang="en-US" sz="2666" dirty="0"/>
              <a:t>Alternative hypothesis: Statins do in fact alter heart attack/stroke rates, the hypothesis being in the direction of reduction. </a:t>
            </a:r>
            <a:br>
              <a:rPr lang="en-US" sz="2666" dirty="0"/>
            </a:br>
            <a:endParaRPr lang="en-US" sz="2666" dirty="0"/>
          </a:p>
          <a:p>
            <a:pPr marL="514350" indent="-514350">
              <a:buFont typeface="+mj-lt"/>
              <a:buAutoNum type="arabicPeriod"/>
            </a:pPr>
            <a:r>
              <a:rPr lang="en-US" sz="3200" dirty="0"/>
              <a:t>Does the Higg’s boson exist?</a:t>
            </a:r>
          </a:p>
          <a:p>
            <a:pPr marL="1013870" lvl="1" indent="-514350"/>
            <a:r>
              <a:rPr lang="en-US" sz="2666" dirty="0"/>
              <a:t>Null hypothesis: No, it does not exist. </a:t>
            </a:r>
          </a:p>
          <a:p>
            <a:pPr marL="1013870" lvl="1" indent="-514350"/>
            <a:r>
              <a:rPr lang="en-US" sz="2666" dirty="0"/>
              <a:t>Alternative: The Higg’s boson exists.</a:t>
            </a:r>
          </a:p>
          <a:p>
            <a:pPr marL="514350" indent="-514350">
              <a:buFont typeface="+mj-lt"/>
              <a:buAutoNum type="arabicPeriod"/>
            </a:pPr>
            <a:endParaRPr lang="en-US" sz="3200" dirty="0"/>
          </a:p>
        </p:txBody>
      </p:sp>
      <p:sp>
        <p:nvSpPr>
          <p:cNvPr id="2" name="Title 1">
            <a:extLst>
              <a:ext uri="{FF2B5EF4-FFF2-40B4-BE49-F238E27FC236}">
                <a16:creationId xmlns:a16="http://schemas.microsoft.com/office/drawing/2014/main" id="{422D448D-FD69-E6A8-6197-3EEC93E713F4}"/>
              </a:ext>
            </a:extLst>
          </p:cNvPr>
          <p:cNvSpPr>
            <a:spLocks noGrp="1"/>
          </p:cNvSpPr>
          <p:nvPr>
            <p:ph type="title"/>
          </p:nvPr>
        </p:nvSpPr>
        <p:spPr/>
        <p:txBody>
          <a:bodyPr>
            <a:normAutofit/>
          </a:bodyPr>
          <a:lstStyle/>
          <a:p>
            <a:r>
              <a:rPr lang="en-US" dirty="0"/>
              <a:t>Answering questions with probability</a:t>
            </a:r>
          </a:p>
        </p:txBody>
      </p:sp>
    </p:spTree>
    <p:extLst>
      <p:ext uri="{BB962C8B-B14F-4D97-AF65-F5344CB8AC3E}">
        <p14:creationId xmlns:p14="http://schemas.microsoft.com/office/powerpoint/2010/main" val="9622207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CA130-B0DD-BAF2-253A-9818E050062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8D204E-711E-D789-D44F-48FD32E4D7A5}"/>
              </a:ext>
            </a:extLst>
          </p:cNvPr>
          <p:cNvSpPr>
            <a:spLocks noGrp="1"/>
          </p:cNvSpPr>
          <p:nvPr>
            <p:ph idx="1"/>
          </p:nvPr>
        </p:nvSpPr>
        <p:spPr>
          <a:xfrm>
            <a:off x="480002" y="1296000"/>
            <a:ext cx="11102398" cy="4445149"/>
          </a:xfrm>
        </p:spPr>
        <p:txBody>
          <a:bodyPr/>
          <a:lstStyle/>
          <a:p>
            <a:r>
              <a:rPr lang="en-US" sz="3200" dirty="0"/>
              <a:t>To be able to reject the null hypotheses about statins and the Higg’s boson’s existence, we need some way to test the hypothesis.</a:t>
            </a:r>
          </a:p>
          <a:p>
            <a:r>
              <a:rPr lang="en-US" sz="3200" dirty="0"/>
              <a:t>Essentially, we need to be able to say, that at some level of certainty (i.e. probability), we don’t believe the null hypothesis is true.</a:t>
            </a:r>
          </a:p>
          <a:p>
            <a:r>
              <a:rPr lang="en-US" sz="3200" dirty="0"/>
              <a:t>We don’t make decisions without being confident that they are approximately the right one. We want to do that for hypotheses.</a:t>
            </a:r>
          </a:p>
          <a:p>
            <a:r>
              <a:rPr lang="en-US" sz="3200" dirty="0"/>
              <a:t>Also remember, we can never prove the null hypothesis, we can however disprove it with experiments.</a:t>
            </a:r>
          </a:p>
        </p:txBody>
      </p:sp>
      <p:sp>
        <p:nvSpPr>
          <p:cNvPr id="2" name="Title 1">
            <a:extLst>
              <a:ext uri="{FF2B5EF4-FFF2-40B4-BE49-F238E27FC236}">
                <a16:creationId xmlns:a16="http://schemas.microsoft.com/office/drawing/2014/main" id="{AA86558D-EC93-3863-6738-BDD94DB015D1}"/>
              </a:ext>
            </a:extLst>
          </p:cNvPr>
          <p:cNvSpPr>
            <a:spLocks noGrp="1"/>
          </p:cNvSpPr>
          <p:nvPr>
            <p:ph type="title"/>
          </p:nvPr>
        </p:nvSpPr>
        <p:spPr/>
        <p:txBody>
          <a:bodyPr>
            <a:normAutofit/>
          </a:bodyPr>
          <a:lstStyle/>
          <a:p>
            <a:r>
              <a:rPr lang="en-US" dirty="0"/>
              <a:t>Answering questions with probability</a:t>
            </a:r>
          </a:p>
        </p:txBody>
      </p:sp>
    </p:spTree>
    <p:extLst>
      <p:ext uri="{BB962C8B-B14F-4D97-AF65-F5344CB8AC3E}">
        <p14:creationId xmlns:p14="http://schemas.microsoft.com/office/powerpoint/2010/main" val="4175817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B8A50-87B0-88CF-AD90-32B119075EF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2368FD-14DC-3603-7B77-A94E5F0E3E14}"/>
              </a:ext>
            </a:extLst>
          </p:cNvPr>
          <p:cNvSpPr>
            <a:spLocks noGrp="1"/>
          </p:cNvSpPr>
          <p:nvPr>
            <p:ph idx="1"/>
          </p:nvPr>
        </p:nvSpPr>
        <p:spPr>
          <a:xfrm>
            <a:off x="480002" y="1296000"/>
            <a:ext cx="11102398" cy="4445149"/>
          </a:xfrm>
        </p:spPr>
        <p:txBody>
          <a:bodyPr/>
          <a:lstStyle/>
          <a:p>
            <a:r>
              <a:rPr lang="en-US" sz="3200" dirty="0"/>
              <a:t>The null is an assumption, there is no data that exists to support it.</a:t>
            </a:r>
          </a:p>
          <a:p>
            <a:r>
              <a:rPr lang="en-US" sz="3200" dirty="0"/>
              <a:t>Instead, we check whether, given the null, how unlikely is the data we actually have? </a:t>
            </a:r>
          </a:p>
          <a:p>
            <a:r>
              <a:rPr lang="en-US" sz="3200" dirty="0"/>
              <a:t>This is akin to assuming that a defendant in a court case is innocent but rejecting that based on the evidence that they are guilty. </a:t>
            </a:r>
          </a:p>
          <a:p>
            <a:r>
              <a:rPr lang="en-US" sz="3200" dirty="0"/>
              <a:t>We aren’t out to prove they are innocent, just guilty or not guilty == “reject or don’t reject the null hypothesis”.</a:t>
            </a:r>
          </a:p>
        </p:txBody>
      </p:sp>
      <p:sp>
        <p:nvSpPr>
          <p:cNvPr id="2" name="Title 1">
            <a:extLst>
              <a:ext uri="{FF2B5EF4-FFF2-40B4-BE49-F238E27FC236}">
                <a16:creationId xmlns:a16="http://schemas.microsoft.com/office/drawing/2014/main" id="{B8E5667F-7FD0-BB4B-D47A-42A3A5EB322B}"/>
              </a:ext>
            </a:extLst>
          </p:cNvPr>
          <p:cNvSpPr>
            <a:spLocks noGrp="1"/>
          </p:cNvSpPr>
          <p:nvPr>
            <p:ph type="title"/>
          </p:nvPr>
        </p:nvSpPr>
        <p:spPr/>
        <p:txBody>
          <a:bodyPr>
            <a:normAutofit/>
          </a:bodyPr>
          <a:lstStyle/>
          <a:p>
            <a:r>
              <a:rPr lang="en-US" dirty="0"/>
              <a:t>Why can’t we prove the null?</a:t>
            </a:r>
          </a:p>
        </p:txBody>
      </p:sp>
    </p:spTree>
    <p:extLst>
      <p:ext uri="{BB962C8B-B14F-4D97-AF65-F5344CB8AC3E}">
        <p14:creationId xmlns:p14="http://schemas.microsoft.com/office/powerpoint/2010/main" val="29674982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Significance Testing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80002" y="3541669"/>
                <a:ext cx="11102398" cy="2758330"/>
              </a:xfrm>
            </p:spPr>
            <p:txBody>
              <a:bodyPr/>
              <a:lstStyle/>
              <a:p>
                <a:r>
                  <a:rPr lang="en-US" sz="2600" dirty="0"/>
                  <a:t>State a null hypothesis </a:t>
                </a:r>
                <a14:m>
                  <m:oMath xmlns:m="http://schemas.openxmlformats.org/officeDocument/2006/math">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𝐻</m:t>
                        </m:r>
                      </m:e>
                      <m:sub>
                        <m:r>
                          <a:rPr lang="en-US" sz="2600" b="0" i="1" smtClean="0">
                            <a:latin typeface="Cambria Math" panose="02040503050406030204" pitchFamily="18" charset="0"/>
                          </a:rPr>
                          <m:t>0</m:t>
                        </m:r>
                      </m:sub>
                    </m:sSub>
                  </m:oMath>
                </a14:m>
                <a:r>
                  <a:rPr lang="en-US" sz="2600" dirty="0"/>
                  <a:t> and alternative </a:t>
                </a:r>
                <a14:m>
                  <m:oMath xmlns:m="http://schemas.openxmlformats.org/officeDocument/2006/math">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𝐻</m:t>
                        </m:r>
                      </m:e>
                      <m:sub>
                        <m:r>
                          <a:rPr lang="en-US" sz="2600" b="0" i="1" smtClean="0">
                            <a:latin typeface="Cambria Math" panose="02040503050406030204" pitchFamily="18" charset="0"/>
                          </a:rPr>
                          <m:t>1</m:t>
                        </m:r>
                      </m:sub>
                    </m:sSub>
                  </m:oMath>
                </a14:m>
                <a:r>
                  <a:rPr lang="en-US" sz="2600" dirty="0"/>
                  <a:t>. Collect data. Compute a p-value.</a:t>
                </a:r>
                <a:br>
                  <a:rPr lang="en-US" sz="2600" dirty="0"/>
                </a:br>
                <a:endParaRPr lang="en-US" sz="2600" dirty="0"/>
              </a:p>
              <a:p>
                <a:r>
                  <a:rPr lang="en-US" sz="2600" dirty="0"/>
                  <a:t>The p-value is a continuous measure of evidence — not a binary decision.</a:t>
                </a:r>
                <a:br>
                  <a:rPr lang="en-US" sz="2600" dirty="0"/>
                </a:br>
                <a:endParaRPr lang="en-US" sz="2600" dirty="0"/>
              </a:p>
              <a:p>
                <a:r>
                  <a:rPr lang="en-US" sz="2600" dirty="0"/>
                  <a:t>Fisher never endorsed a rigid 0.05 cutoff. He saw p as a guide for the experimenter’s judgment, not a mechanical rule.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80002" y="3541669"/>
                <a:ext cx="11102398" cy="2758330"/>
              </a:xfrm>
              <a:blipFill>
                <a:blip r:embed="rId2"/>
                <a:stretch>
                  <a:fillRect l="-1598" t="-3670" r="-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p:cNvGraphicFramePr>
              <p:nvPr>
                <p:extLst>
                  <p:ext uri="{D42A27DB-BD31-4B8C-83A1-F6EECF244321}">
                    <p14:modId xmlns:p14="http://schemas.microsoft.com/office/powerpoint/2010/main" val="575295519"/>
                  </p:ext>
                </p:extLst>
              </p:nvPr>
            </p:nvGraphicFramePr>
            <p:xfrm>
              <a:off x="550923" y="1170261"/>
              <a:ext cx="10889710" cy="2371408"/>
            </p:xfrm>
            <a:graphic>
              <a:graphicData uri="http://schemas.openxmlformats.org/drawingml/2006/table">
                <a:tbl>
                  <a:tblPr firstRow="1" bandRow="1">
                    <a:tableStyleId>{5C22544A-7EE6-4342-B048-85BDC9FD1C3A}</a:tableStyleId>
                  </a:tblPr>
                  <a:tblGrid>
                    <a:gridCol w="10889710">
                      <a:extLst>
                        <a:ext uri="{9D8B030D-6E8A-4147-A177-3AD203B41FA5}">
                          <a16:colId xmlns:a16="http://schemas.microsoft.com/office/drawing/2014/main" val="20000"/>
                        </a:ext>
                      </a:extLst>
                    </a:gridCol>
                  </a:tblGrid>
                  <a:tr h="350000">
                    <a:tc>
                      <a:txBody>
                        <a:bodyPr/>
                        <a:lstStyle/>
                        <a:p>
                          <a:pPr marL="0" marR="0" lvl="0" indent="0" algn="l">
                            <a:buNone/>
                          </a:pPr>
                          <a:r>
                            <a:rPr lang="en-US" sz="2800" dirty="0"/>
                            <a:t>Definition</a:t>
                          </a:r>
                        </a:p>
                      </a:txBody>
                      <a:tcPr>
                        <a:solidFill>
                          <a:srgbClr val="E84E10"/>
                        </a:solidFill>
                      </a:tcPr>
                    </a:tc>
                    <a:extLst>
                      <a:ext uri="{0D108BD9-81ED-4DB2-BD59-A6C34878D82A}">
                        <a16:rowId xmlns:a16="http://schemas.microsoft.com/office/drawing/2014/main" val="10000"/>
                      </a:ext>
                    </a:extLst>
                  </a:tr>
                  <a:tr h="900000">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sz="2800" b="1" dirty="0"/>
                            <a:t>P-value:</a:t>
                          </a:r>
                          <a:r>
                            <a:rPr lang="en-US" sz="2800" b="0" dirty="0"/>
                            <a:t>  Probability of observing data at least as extreme as the sample, assuming H₀ is true. A continuous measure of evidence — no fixed threshold required.</a:t>
                          </a:r>
                          <a:br>
                            <a:rPr lang="en-US" sz="2800" b="0" dirty="0"/>
                          </a:b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𝑝</m:t>
                                </m:r>
                                <m:r>
                                  <a:rPr lang="en-US" sz="2800" b="0" i="1" smtClean="0">
                                    <a:latin typeface="Cambria Math" panose="02040503050406030204" pitchFamily="18" charset="0"/>
                                  </a:rPr>
                                  <m:t>=</m:t>
                                </m:r>
                                <m:r>
                                  <a:rPr lang="en-US" sz="2800" b="0" i="1" smtClean="0">
                                    <a:latin typeface="Cambria Math" panose="02040503050406030204" pitchFamily="18" charset="0"/>
                                  </a:rPr>
                                  <m:t>𝑃</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𝑇</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𝑋</m:t>
                                        </m:r>
                                      </m:e>
                                    </m:d>
                                    <m:r>
                                      <a:rPr lang="en-US" sz="2800" b="0" i="1" smtClean="0">
                                        <a:latin typeface="Cambria Math" panose="02040503050406030204" pitchFamily="18" charset="0"/>
                                      </a:rPr>
                                      <m:t>≥</m:t>
                                    </m:r>
                                    <m:r>
                                      <a:rPr lang="en-US" sz="2800" b="0" i="1" smtClean="0">
                                        <a:latin typeface="Cambria Math" panose="02040503050406030204" pitchFamily="18" charset="0"/>
                                      </a:rPr>
                                      <m:t>𝑇</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𝑜𝑏𝑠</m:t>
                                            </m:r>
                                          </m:sub>
                                        </m:sSub>
                                      </m:e>
                                    </m:d>
                                  </m:e>
                                </m:d>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𝐻</m:t>
                                    </m:r>
                                  </m:e>
                                  <m:sub>
                                    <m:r>
                                      <a:rPr lang="en-US" sz="2800" b="0" i="1" smtClean="0">
                                        <a:latin typeface="Cambria Math" panose="02040503050406030204" pitchFamily="18" charset="0"/>
                                      </a:rPr>
                                      <m:t>0</m:t>
                                    </m:r>
                                  </m:sub>
                                </m:sSub>
                                <m:r>
                                  <a:rPr lang="en-US" sz="2800" b="0" i="1" smtClean="0">
                                    <a:latin typeface="Cambria Math" panose="02040503050406030204" pitchFamily="18" charset="0"/>
                                  </a:rPr>
                                  <m:t>)</m:t>
                                </m:r>
                              </m:oMath>
                            </m:oMathPara>
                          </a14:m>
                          <a:endParaRPr lang="en-US" sz="2800" dirty="0"/>
                        </a:p>
                      </a:txBody>
                      <a:tcPr>
                        <a:solidFill>
                          <a:srgbClr val="F6D0CC"/>
                        </a:solidFill>
                      </a:tcPr>
                    </a:tc>
                    <a:extLst>
                      <a:ext uri="{0D108BD9-81ED-4DB2-BD59-A6C34878D82A}">
                        <a16:rowId xmlns:a16="http://schemas.microsoft.com/office/drawing/2014/main" val="10001"/>
                      </a:ext>
                    </a:extLst>
                  </a:tr>
                </a:tbl>
              </a:graphicData>
            </a:graphic>
          </p:graphicFrame>
        </mc:Choice>
        <mc:Fallback xmlns="">
          <p:graphicFrame>
            <p:nvGraphicFramePr>
              <p:cNvPr id="4" name="Table 3"/>
              <p:cNvGraphicFramePr>
                <a:graphicFrameLocks/>
              </p:cNvGraphicFramePr>
              <p:nvPr>
                <p:extLst>
                  <p:ext uri="{D42A27DB-BD31-4B8C-83A1-F6EECF244321}">
                    <p14:modId xmlns:p14="http://schemas.microsoft.com/office/powerpoint/2010/main" val="575295519"/>
                  </p:ext>
                </p:extLst>
              </p:nvPr>
            </p:nvGraphicFramePr>
            <p:xfrm>
              <a:off x="550923" y="1170261"/>
              <a:ext cx="10889710" cy="2371408"/>
            </p:xfrm>
            <a:graphic>
              <a:graphicData uri="http://schemas.openxmlformats.org/drawingml/2006/table">
                <a:tbl>
                  <a:tblPr firstRow="1" bandRow="1">
                    <a:tableStyleId>{5C22544A-7EE6-4342-B048-85BDC9FD1C3A}</a:tableStyleId>
                  </a:tblPr>
                  <a:tblGrid>
                    <a:gridCol w="10889710">
                      <a:extLst>
                        <a:ext uri="{9D8B030D-6E8A-4147-A177-3AD203B41FA5}">
                          <a16:colId xmlns:a16="http://schemas.microsoft.com/office/drawing/2014/main" val="20000"/>
                        </a:ext>
                      </a:extLst>
                    </a:gridCol>
                  </a:tblGrid>
                  <a:tr h="518160">
                    <a:tc>
                      <a:txBody>
                        <a:bodyPr/>
                        <a:lstStyle/>
                        <a:p>
                          <a:pPr marL="0" marR="0" lvl="0" indent="0" algn="l">
                            <a:buNone/>
                          </a:pPr>
                          <a:r>
                            <a:rPr lang="en-US" sz="2800" dirty="0"/>
                            <a:t>Definition</a:t>
                          </a:r>
                        </a:p>
                      </a:txBody>
                      <a:tcPr>
                        <a:solidFill>
                          <a:srgbClr val="E84E10"/>
                        </a:solidFill>
                      </a:tcPr>
                    </a:tc>
                    <a:extLst>
                      <a:ext uri="{0D108BD9-81ED-4DB2-BD59-A6C34878D82A}">
                        <a16:rowId xmlns:a16="http://schemas.microsoft.com/office/drawing/2014/main" val="10000"/>
                      </a:ext>
                    </a:extLst>
                  </a:tr>
                  <a:tr h="1853248">
                    <a:tc>
                      <a:txBody>
                        <a:bodyPr/>
                        <a:lstStyle/>
                        <a:p>
                          <a:endParaRPr lang="en-US"/>
                        </a:p>
                      </a:txBody>
                      <a:tcPr>
                        <a:blipFill>
                          <a:blip r:embed="rId3"/>
                          <a:stretch>
                            <a:fillRect l="-117" t="-32192" r="-233" b="-4795"/>
                          </a:stretch>
                        </a:blipFill>
                      </a:tcPr>
                    </a:tc>
                    <a:extLst>
                      <a:ext uri="{0D108BD9-81ED-4DB2-BD59-A6C34878D82A}">
                        <a16:rowId xmlns:a16="http://schemas.microsoft.com/office/drawing/2014/main" val="10001"/>
                      </a:ext>
                    </a:extLst>
                  </a:tr>
                </a:tbl>
              </a:graphicData>
            </a:graphic>
          </p:graphicFrame>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1F8A9-6793-E5DD-29AD-DDB5C4C2C0A8}"/>
              </a:ext>
            </a:extLst>
          </p:cNvPr>
          <p:cNvSpPr>
            <a:spLocks noGrp="1"/>
          </p:cNvSpPr>
          <p:nvPr>
            <p:ph type="title"/>
          </p:nvPr>
        </p:nvSpPr>
        <p:spPr/>
        <p:txBody>
          <a:bodyPr/>
          <a:lstStyle/>
          <a:p>
            <a:r>
              <a:rPr lang="en-US" dirty="0"/>
              <a:t>Steps of Hypothesis Testing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CF2B758-AEFA-F516-6967-F09BDE994EB2}"/>
                  </a:ext>
                </a:extLst>
              </p:cNvPr>
              <p:cNvSpPr>
                <a:spLocks noGrp="1"/>
              </p:cNvSpPr>
              <p:nvPr>
                <p:ph idx="1"/>
              </p:nvPr>
            </p:nvSpPr>
            <p:spPr/>
            <p:txBody>
              <a:bodyPr/>
              <a:lstStyle/>
              <a:p>
                <a:pPr marL="0" indent="0">
                  <a:buNone/>
                </a:pPr>
                <a:r>
                  <a:rPr lang="en-US" sz="1800" b="1" dirty="0"/>
                  <a:t>1. Assumptions</a:t>
                </a:r>
                <a:endParaRPr lang="en-US" sz="1800" dirty="0"/>
              </a:p>
              <a:p>
                <a:r>
                  <a:rPr lang="en-US" sz="1800" dirty="0"/>
                  <a:t>Define variables and parameters </a:t>
                </a:r>
              </a:p>
              <a:p>
                <a:r>
                  <a:rPr lang="en-US" sz="1800" dirty="0"/>
                  <a:t>Verify data generation method (e.g., randomization) </a:t>
                </a:r>
              </a:p>
              <a:p>
                <a:r>
                  <a:rPr lang="en-US" sz="1800" dirty="0"/>
                  <a:t>Check sample size adequacy </a:t>
                </a:r>
              </a:p>
              <a:p>
                <a:r>
                  <a:rPr lang="en-US" sz="1800" dirty="0"/>
                  <a:t>Assess population distribution shape </a:t>
                </a:r>
              </a:p>
              <a:p>
                <a:pPr marL="0" indent="0">
                  <a:buNone/>
                </a:pPr>
                <a:r>
                  <a:rPr lang="en-US" sz="1800" b="1" dirty="0"/>
                  <a:t>2. Hypotheses</a:t>
                </a:r>
                <a:endParaRPr lang="en-US" sz="1800" dirty="0"/>
              </a:p>
              <a:p>
                <a:r>
                  <a:rPr lang="en-US" sz="1800" b="1" dirty="0"/>
                  <a:t>Null hypothesis (</a:t>
                </a:r>
                <a14:m>
                  <m:oMath xmlns:m="http://schemas.openxmlformats.org/officeDocument/2006/math">
                    <m:sSub>
                      <m:sSubPr>
                        <m:ctrlPr>
                          <a:rPr lang="en-US" sz="1800" b="1" i="1" smtClean="0">
                            <a:latin typeface="Cambria Math" panose="02040503050406030204" pitchFamily="18" charset="0"/>
                          </a:rPr>
                        </m:ctrlPr>
                      </m:sSubPr>
                      <m:e>
                        <m:r>
                          <a:rPr lang="en-US" sz="1800" b="1" i="1" smtClean="0">
                            <a:latin typeface="Cambria Math" panose="02040503050406030204" pitchFamily="18" charset="0"/>
                          </a:rPr>
                          <m:t>𝑯</m:t>
                        </m:r>
                      </m:e>
                      <m:sub>
                        <m:r>
                          <a:rPr lang="en-US" sz="1800" b="1" i="1" smtClean="0">
                            <a:latin typeface="Cambria Math" panose="02040503050406030204" pitchFamily="18" charset="0"/>
                          </a:rPr>
                          <m:t>𝟎</m:t>
                        </m:r>
                      </m:sub>
                    </m:sSub>
                  </m:oMath>
                </a14:m>
                <a:r>
                  <a:rPr lang="en-US" sz="1800" b="1" dirty="0"/>
                  <a:t>):</a:t>
                </a:r>
                <a:r>
                  <a:rPr lang="en-US" sz="1800" dirty="0"/>
                  <a:t> single parameter value (typically “no effect”) </a:t>
                </a:r>
              </a:p>
              <a:p>
                <a:r>
                  <a:rPr lang="en-US" sz="1800" b="1" dirty="0"/>
                  <a:t>Alternative hypothesis (</a:t>
                </a:r>
                <a14:m>
                  <m:oMath xmlns:m="http://schemas.openxmlformats.org/officeDocument/2006/math">
                    <m:sSub>
                      <m:sSubPr>
                        <m:ctrlPr>
                          <a:rPr lang="en-US" sz="1800" b="1" i="1" smtClean="0">
                            <a:latin typeface="Cambria Math" panose="02040503050406030204" pitchFamily="18" charset="0"/>
                          </a:rPr>
                        </m:ctrlPr>
                      </m:sSubPr>
                      <m:e>
                        <m:r>
                          <a:rPr lang="en-US" sz="1800" b="1" i="1" smtClean="0">
                            <a:latin typeface="Cambria Math" panose="02040503050406030204" pitchFamily="18" charset="0"/>
                          </a:rPr>
                          <m:t>𝑯</m:t>
                        </m:r>
                      </m:e>
                      <m:sub>
                        <m:r>
                          <a:rPr lang="en-US" sz="1800" b="1" i="1" smtClean="0">
                            <a:latin typeface="Cambria Math" panose="02040503050406030204" pitchFamily="18" charset="0"/>
                          </a:rPr>
                          <m:t>𝒂</m:t>
                        </m:r>
                      </m:sub>
                    </m:sSub>
                  </m:oMath>
                </a14:m>
                <a:r>
                  <a:rPr lang="en-US" sz="1800" b="1" dirty="0"/>
                  <a:t> </a:t>
                </a:r>
                <a:r>
                  <a:rPr lang="en-US" sz="1800" b="1" dirty="0">
                    <a:latin typeface="+mn-lt"/>
                  </a:rPr>
                  <a:t>or</a:t>
                </a:r>
                <a:r>
                  <a:rPr lang="en-US" sz="1800" b="1" dirty="0"/>
                  <a:t> </a:t>
                </a:r>
                <a14:m>
                  <m:oMath xmlns:m="http://schemas.openxmlformats.org/officeDocument/2006/math">
                    <m:sSub>
                      <m:sSubPr>
                        <m:ctrlPr>
                          <a:rPr lang="en-US" sz="1800" b="1" i="1" smtClean="0">
                            <a:latin typeface="Cambria Math" panose="02040503050406030204" pitchFamily="18" charset="0"/>
                          </a:rPr>
                        </m:ctrlPr>
                      </m:sSubPr>
                      <m:e>
                        <m:r>
                          <a:rPr lang="en-US" sz="1800" b="1" i="1" smtClean="0">
                            <a:latin typeface="Cambria Math" panose="02040503050406030204" pitchFamily="18" charset="0"/>
                          </a:rPr>
                          <m:t>𝑯</m:t>
                        </m:r>
                      </m:e>
                      <m:sub>
                        <m:r>
                          <a:rPr lang="en-US" sz="1800" b="1" i="1" smtClean="0">
                            <a:latin typeface="Cambria Math" panose="02040503050406030204" pitchFamily="18" charset="0"/>
                          </a:rPr>
                          <m:t>𝟏</m:t>
                        </m:r>
                      </m:sub>
                    </m:sSub>
                  </m:oMath>
                </a14:m>
                <a:r>
                  <a:rPr lang="en-US" sz="1800" b="1" dirty="0"/>
                  <a:t>):</a:t>
                </a:r>
                <a:r>
                  <a:rPr lang="en-US" sz="1800" dirty="0"/>
                  <a:t> range/set of possible parameter values </a:t>
                </a:r>
              </a:p>
              <a:p>
                <a:pPr marL="0" indent="0">
                  <a:buNone/>
                </a:pPr>
                <a:r>
                  <a:rPr lang="en-US" sz="1800" b="1" dirty="0"/>
                  <a:t>3. Test Statistic</a:t>
                </a:r>
                <a:endParaRPr lang="en-US" sz="1800" dirty="0"/>
              </a:p>
              <a:p>
                <a:r>
                  <a:rPr lang="en-US" sz="1800" dirty="0"/>
                  <a:t>Quantifies distance between estimate and H₀ value </a:t>
                </a:r>
              </a:p>
              <a:p>
                <a:r>
                  <a:rPr lang="en-US" sz="1800" dirty="0"/>
                  <a:t>Typically expressed in standard errors </a:t>
                </a:r>
              </a:p>
              <a:p>
                <a:pPr marL="0" indent="0">
                  <a:buNone/>
                </a:pPr>
                <a:r>
                  <a:rPr lang="en-US" sz="1800" b="1" dirty="0"/>
                  <a:t>4. P-value</a:t>
                </a:r>
                <a:endParaRPr lang="en-US" sz="1800" dirty="0"/>
              </a:p>
              <a:p>
                <a:r>
                  <a:rPr lang="en-US" sz="1800" dirty="0"/>
                  <a:t>Probability of observing the test statistic (or more extreme) assuming H₀ is true </a:t>
                </a:r>
              </a:p>
              <a:p>
                <a:r>
                  <a:rPr lang="en-US" sz="1800" dirty="0"/>
                  <a:t>Smaller P-values → stronger evidence against </a:t>
                </a:r>
                <a14:m>
                  <m:oMath xmlns:m="http://schemas.openxmlformats.org/officeDocument/2006/math">
                    <m:sSub>
                      <m:sSubPr>
                        <m:ctrlPr>
                          <a:rPr lang="en-US" sz="1800" b="1" i="1">
                            <a:latin typeface="Cambria Math" panose="02040503050406030204" pitchFamily="18" charset="0"/>
                          </a:rPr>
                        </m:ctrlPr>
                      </m:sSubPr>
                      <m:e>
                        <m:r>
                          <a:rPr lang="en-US" sz="1800" b="1" i="1">
                            <a:latin typeface="Cambria Math" panose="02040503050406030204" pitchFamily="18" charset="0"/>
                          </a:rPr>
                          <m:t>𝑯</m:t>
                        </m:r>
                      </m:e>
                      <m:sub>
                        <m:r>
                          <a:rPr lang="en-US" sz="1800" b="1" i="1">
                            <a:latin typeface="Cambria Math" panose="02040503050406030204" pitchFamily="18" charset="0"/>
                          </a:rPr>
                          <m:t>𝟎</m:t>
                        </m:r>
                      </m:sub>
                    </m:sSub>
                  </m:oMath>
                </a14:m>
                <a:endParaRPr lang="en-US" sz="1800" dirty="0"/>
              </a:p>
              <a:p>
                <a:pPr marL="0" indent="0">
                  <a:buNone/>
                </a:pPr>
                <a:r>
                  <a:rPr lang="en-US" sz="1800" b="1" dirty="0"/>
                  <a:t>5. Conclusion</a:t>
                </a:r>
                <a:endParaRPr lang="en-US" sz="1800" dirty="0"/>
              </a:p>
              <a:p>
                <a:r>
                  <a:rPr lang="en-US" sz="1800" dirty="0"/>
                  <a:t>Interpret P-value in study context </a:t>
                </a:r>
              </a:p>
              <a:p>
                <a:r>
                  <a:rPr lang="en-US" sz="1800" dirty="0"/>
                  <a:t>Decide: </a:t>
                </a:r>
                <a:r>
                  <a:rPr lang="en-US" sz="1800" b="1" dirty="0"/>
                  <a:t>reject</a:t>
                </a:r>
                <a:r>
                  <a:rPr lang="en-US" sz="1800" dirty="0"/>
                  <a:t> or </a:t>
                </a:r>
                <a:r>
                  <a:rPr lang="en-US" sz="1800" b="1" dirty="0"/>
                  <a:t>do not reject H₀</a:t>
                </a:r>
                <a:endParaRPr lang="en-US" sz="1800" dirty="0"/>
              </a:p>
            </p:txBody>
          </p:sp>
        </mc:Choice>
        <mc:Fallback xmlns="">
          <p:sp>
            <p:nvSpPr>
              <p:cNvPr id="3" name="Content Placeholder 2">
                <a:extLst>
                  <a:ext uri="{FF2B5EF4-FFF2-40B4-BE49-F238E27FC236}">
                    <a16:creationId xmlns:a16="http://schemas.microsoft.com/office/drawing/2014/main" id="{0CF2B758-AEFA-F516-6967-F09BDE994EB2}"/>
                  </a:ext>
                </a:extLst>
              </p:cNvPr>
              <p:cNvSpPr>
                <a:spLocks noGrp="1" noRot="1" noChangeAspect="1" noMove="1" noResize="1" noEditPoints="1" noAdjustHandles="1" noChangeArrowheads="1" noChangeShapeType="1" noTextEdit="1"/>
              </p:cNvSpPr>
              <p:nvPr>
                <p:ph idx="1"/>
              </p:nvPr>
            </p:nvSpPr>
            <p:spPr>
              <a:blipFill>
                <a:blip r:embed="rId2"/>
                <a:stretch>
                  <a:fillRect l="-1256" t="-1709" b="-7977"/>
                </a:stretch>
              </a:blipFill>
            </p:spPr>
            <p:txBody>
              <a:bodyPr/>
              <a:lstStyle/>
              <a:p>
                <a:r>
                  <a:rPr lang="en-US">
                    <a:noFill/>
                  </a:rPr>
                  <a:t> </a:t>
                </a:r>
              </a:p>
            </p:txBody>
          </p:sp>
        </mc:Fallback>
      </mc:AlternateContent>
    </p:spTree>
    <p:extLst>
      <p:ext uri="{BB962C8B-B14F-4D97-AF65-F5344CB8AC3E}">
        <p14:creationId xmlns:p14="http://schemas.microsoft.com/office/powerpoint/2010/main" val="12795040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814" y="414260"/>
            <a:ext cx="4753011" cy="756000"/>
          </a:xfrm>
        </p:spPr>
        <p:txBody>
          <a:bodyPr>
            <a:normAutofit fontScale="90000"/>
          </a:bodyPr>
          <a:lstStyle/>
          <a:p>
            <a:r>
              <a:rPr lang="en-US" dirty="0"/>
              <a:t>Statistical Significance and Hypothesis Testing</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60525" y="2878786"/>
            <a:ext cx="5231475" cy="2615737"/>
          </a:xfrm>
          <a:prstGeom prst="rect">
            <a:avLst/>
          </a:prstGeom>
        </p:spPr>
      </p:pic>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endParaRPr lang="en-US" dirty="0"/>
              </a:p>
              <a:p>
                <a:r>
                  <a:rPr lang="en-US" dirty="0"/>
                  <a:t>Data: </a:t>
                </a:r>
                <a14:m>
                  <m:oMath xmlns:m="http://schemas.openxmlformats.org/officeDocument/2006/math">
                    <m:r>
                      <a:rPr lang="en-US" i="1" dirty="0">
                        <a:latin typeface="Cambria Math" panose="02040503050406030204" pitchFamily="18" charset="0"/>
                      </a:rPr>
                      <m:t>𝑋</m:t>
                    </m:r>
                  </m:oMath>
                </a14:m>
                <a:endParaRPr lang="en-US" dirty="0"/>
              </a:p>
              <a:p>
                <a:r>
                  <a:rPr lang="en-US" dirty="0"/>
                  <a:t>Null-hypothesis: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ℋ</m:t>
                        </m:r>
                      </m:e>
                      <m:sub>
                        <m:r>
                          <a:rPr lang="en-US" i="1">
                            <a:latin typeface="Cambria Math" panose="02040503050406030204" pitchFamily="18" charset="0"/>
                            <a:ea typeface="Cambria Math" panose="02040503050406030204" pitchFamily="18" charset="0"/>
                          </a:rPr>
                          <m:t>0</m:t>
                        </m:r>
                      </m:sub>
                    </m:sSub>
                  </m:oMath>
                </a14:m>
                <a:endParaRPr lang="en-US" dirty="0"/>
              </a:p>
              <a:p>
                <a:r>
                  <a:rPr lang="en-US" dirty="0"/>
                  <a:t>Alternative hypothesis: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ℋ</m:t>
                        </m:r>
                      </m:e>
                      <m:sub>
                        <m:r>
                          <a:rPr lang="en-US" i="1">
                            <a:latin typeface="Cambria Math" panose="02040503050406030204" pitchFamily="18" charset="0"/>
                            <a:ea typeface="Cambria Math" panose="02040503050406030204" pitchFamily="18" charset="0"/>
                          </a:rPr>
                          <m:t>1</m:t>
                        </m:r>
                      </m:sub>
                    </m:sSub>
                  </m:oMath>
                </a14:m>
                <a:endParaRPr lang="en-US" dirty="0"/>
              </a:p>
              <a:p>
                <a:r>
                  <a:rPr lang="en-US" dirty="0"/>
                  <a:t>Test statistic: </a:t>
                </a:r>
                <a14:m>
                  <m:oMath xmlns:m="http://schemas.openxmlformats.org/officeDocument/2006/math">
                    <m:r>
                      <a:rPr lang="en-US" sz="4000" i="1">
                        <a:latin typeface="Cambria Math" panose="02040503050406030204" pitchFamily="18" charset="0"/>
                      </a:rPr>
                      <m:t>𝑇</m:t>
                    </m:r>
                    <m:d>
                      <m:dPr>
                        <m:ctrlPr>
                          <a:rPr lang="en-US" sz="4000" i="1">
                            <a:latin typeface="Cambria Math" panose="02040503050406030204" pitchFamily="18" charset="0"/>
                          </a:rPr>
                        </m:ctrlPr>
                      </m:dPr>
                      <m:e>
                        <m:sSub>
                          <m:sSubPr>
                            <m:ctrlPr>
                              <a:rPr lang="en-US" sz="4000" i="1">
                                <a:latin typeface="Cambria Math" panose="02040503050406030204" pitchFamily="18" charset="0"/>
                              </a:rPr>
                            </m:ctrlPr>
                          </m:sSubPr>
                          <m:e>
                            <m:r>
                              <a:rPr lang="en-US" sz="4000" i="1">
                                <a:latin typeface="Cambria Math" panose="02040503050406030204" pitchFamily="18" charset="0"/>
                              </a:rPr>
                              <m:t>𝑥</m:t>
                            </m:r>
                          </m:e>
                          <m:sub>
                            <m:r>
                              <a:rPr lang="en-US" sz="4000" i="1">
                                <a:latin typeface="Cambria Math" panose="02040503050406030204" pitchFamily="18" charset="0"/>
                              </a:rPr>
                              <m:t>𝑜𝑏𝑠</m:t>
                            </m:r>
                          </m:sub>
                        </m:sSub>
                      </m:e>
                    </m:d>
                  </m:oMath>
                </a14:m>
                <a:endParaRPr lang="en-US" dirty="0"/>
              </a:p>
              <a:p>
                <a:r>
                  <a:rPr lang="en-US" dirty="0"/>
                  <a:t>Critical value: </a:t>
                </a:r>
                <a14:m>
                  <m:oMath xmlns:m="http://schemas.openxmlformats.org/officeDocument/2006/math">
                    <m:r>
                      <a:rPr lang="en-US" b="0" i="1" smtClean="0">
                        <a:latin typeface="Cambria Math" panose="02040503050406030204" pitchFamily="18" charset="0"/>
                      </a:rPr>
                      <m:t>𝐶</m:t>
                    </m:r>
                  </m:oMath>
                </a14:m>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27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10155497" y="3817272"/>
                <a:ext cx="577146" cy="7489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267" i="1" dirty="0">
                          <a:latin typeface="Cambria Math" panose="02040503050406030204" pitchFamily="18" charset="0"/>
                        </a:rPr>
                        <m:t>𝑐</m:t>
                      </m:r>
                    </m:oMath>
                  </m:oMathPara>
                </a14:m>
                <a:endParaRPr lang="en-US" sz="4267" dirty="0"/>
              </a:p>
            </p:txBody>
          </p:sp>
        </mc:Choice>
        <mc:Fallback xmlns="">
          <p:sp>
            <p:nvSpPr>
              <p:cNvPr id="21" name="Rectangle 20"/>
              <p:cNvSpPr>
                <a:spLocks noRot="1" noChangeAspect="1" noMove="1" noResize="1" noEditPoints="1" noAdjustHandles="1" noChangeArrowheads="1" noChangeShapeType="1" noTextEdit="1"/>
              </p:cNvSpPr>
              <p:nvPr/>
            </p:nvSpPr>
            <p:spPr>
              <a:xfrm>
                <a:off x="10155497" y="3817272"/>
                <a:ext cx="577146" cy="748988"/>
              </a:xfrm>
              <a:prstGeom prst="rect">
                <a:avLst/>
              </a:prstGeom>
              <a:blipFill>
                <a:blip r:embed="rId5"/>
                <a:stretch>
                  <a:fillRect/>
                </a:stretch>
              </a:blipFill>
            </p:spPr>
            <p:txBody>
              <a:bodyPr/>
              <a:lstStyle/>
              <a:p>
                <a:r>
                  <a:rPr lang="en-US">
                    <a:noFill/>
                  </a:rPr>
                  <a:t> </a:t>
                </a:r>
              </a:p>
            </p:txBody>
          </p:sp>
        </mc:Fallback>
      </mc:AlternateContent>
      <p:cxnSp>
        <p:nvCxnSpPr>
          <p:cNvPr id="31" name="Straight Arrow Connector 30"/>
          <p:cNvCxnSpPr/>
          <p:nvPr/>
        </p:nvCxnSpPr>
        <p:spPr>
          <a:xfrm flipH="1" flipV="1">
            <a:off x="10464625" y="4914012"/>
            <a:ext cx="10745" cy="624365"/>
          </a:xfrm>
          <a:prstGeom prst="straightConnector1">
            <a:avLst/>
          </a:prstGeom>
          <a:ln w="762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Rounded Rectangle 31"/>
              <p:cNvSpPr/>
              <p:nvPr/>
            </p:nvSpPr>
            <p:spPr>
              <a:xfrm>
                <a:off x="8636580" y="5369725"/>
                <a:ext cx="3489435" cy="490484"/>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Reject </a:t>
                </a:r>
                <a14:m>
                  <m:oMath xmlns:m="http://schemas.openxmlformats.org/officeDocument/2006/math">
                    <m:sSub>
                      <m:sSubPr>
                        <m:ctrlPr>
                          <a:rPr lang="en-US" sz="2400" i="1">
                            <a:latin typeface="Cambria Math" panose="02040503050406030204" pitchFamily="18" charset="0"/>
                          </a:rPr>
                        </m:ctrlPr>
                      </m:sSubPr>
                      <m:e>
                        <m:r>
                          <a:rPr lang="en-US" sz="2400">
                            <a:latin typeface="Cambria Math" panose="02040503050406030204" pitchFamily="18" charset="0"/>
                          </a:rPr>
                          <m:t>𝓗</m:t>
                        </m:r>
                      </m:e>
                      <m:sub>
                        <m:r>
                          <a:rPr lang="en-US" sz="2400">
                            <a:latin typeface="Cambria Math" panose="02040503050406030204" pitchFamily="18" charset="0"/>
                          </a:rPr>
                          <m:t>𝟎</m:t>
                        </m:r>
                      </m:sub>
                    </m:sSub>
                  </m:oMath>
                </a14:m>
                <a:r>
                  <a:rPr lang="en-US" sz="2400" dirty="0"/>
                  <a:t> in favor of </a:t>
                </a:r>
                <a14:m>
                  <m:oMath xmlns:m="http://schemas.openxmlformats.org/officeDocument/2006/math">
                    <m:sSub>
                      <m:sSubPr>
                        <m:ctrlPr>
                          <a:rPr lang="en-US" sz="2400" i="1">
                            <a:latin typeface="Cambria Math" panose="02040503050406030204" pitchFamily="18" charset="0"/>
                          </a:rPr>
                        </m:ctrlPr>
                      </m:sSubPr>
                      <m:e>
                        <m:r>
                          <a:rPr lang="en-US" sz="2400">
                            <a:latin typeface="Cambria Math" panose="02040503050406030204" pitchFamily="18" charset="0"/>
                          </a:rPr>
                          <m:t>ℋ</m:t>
                        </m:r>
                      </m:e>
                      <m:sub>
                        <m:r>
                          <a:rPr lang="en-US" sz="2400">
                            <a:latin typeface="Cambria Math" panose="02040503050406030204" pitchFamily="18" charset="0"/>
                          </a:rPr>
                          <m:t>1</m:t>
                        </m:r>
                      </m:sub>
                    </m:sSub>
                  </m:oMath>
                </a14:m>
                <a:endParaRPr lang="en-US" sz="2400" dirty="0"/>
              </a:p>
            </p:txBody>
          </p:sp>
        </mc:Choice>
        <mc:Fallback xmlns="">
          <p:sp>
            <p:nvSpPr>
              <p:cNvPr id="32" name="Rounded Rectangle 31"/>
              <p:cNvSpPr>
                <a:spLocks noRot="1" noChangeAspect="1" noMove="1" noResize="1" noEditPoints="1" noAdjustHandles="1" noChangeArrowheads="1" noChangeShapeType="1" noTextEdit="1"/>
              </p:cNvSpPr>
              <p:nvPr/>
            </p:nvSpPr>
            <p:spPr>
              <a:xfrm>
                <a:off x="8636580" y="5369725"/>
                <a:ext cx="3489435" cy="490484"/>
              </a:xfrm>
              <a:prstGeom prst="roundRect">
                <a:avLst/>
              </a:prstGeom>
              <a:blipFill>
                <a:blip r:embed="rId7"/>
                <a:stretch>
                  <a:fillRect b="-21429"/>
                </a:stretch>
              </a:blipFill>
              <a:ln>
                <a:solidFill>
                  <a:schemeClr val="tx1"/>
                </a:solidFill>
              </a:ln>
            </p:spPr>
            <p:txBody>
              <a:bodyPr/>
              <a:lstStyle/>
              <a:p>
                <a:r>
                  <a:rPr lang="en-US">
                    <a:noFill/>
                  </a:rPr>
                  <a:t> </a:t>
                </a:r>
              </a:p>
            </p:txBody>
          </p:sp>
        </mc:Fallback>
      </mc:AlternateContent>
      <p:cxnSp>
        <p:nvCxnSpPr>
          <p:cNvPr id="33" name="Straight Arrow Connector 32"/>
          <p:cNvCxnSpPr/>
          <p:nvPr/>
        </p:nvCxnSpPr>
        <p:spPr>
          <a:xfrm flipV="1">
            <a:off x="7910787" y="4774500"/>
            <a:ext cx="1477351" cy="846720"/>
          </a:xfrm>
          <a:prstGeom prst="straightConnector1">
            <a:avLst/>
          </a:prstGeom>
          <a:ln w="762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Rounded Rectangle 33"/>
              <p:cNvSpPr/>
              <p:nvPr/>
            </p:nvSpPr>
            <p:spPr>
              <a:xfrm>
                <a:off x="5393599" y="5375822"/>
                <a:ext cx="2734404" cy="490484"/>
              </a:xfrm>
              <a:prstGeom prst="roundRect">
                <a:avLst/>
              </a:prstGeom>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400" dirty="0"/>
                  <a:t>Fail to reject </a:t>
                </a:r>
                <a14:m>
                  <m:oMath xmlns:m="http://schemas.openxmlformats.org/officeDocument/2006/math">
                    <m:sSub>
                      <m:sSubPr>
                        <m:ctrlPr>
                          <a:rPr lang="en-US" sz="2400" i="1">
                            <a:latin typeface="Cambria Math" panose="02040503050406030204" pitchFamily="18" charset="0"/>
                          </a:rPr>
                        </m:ctrlPr>
                      </m:sSubPr>
                      <m:e>
                        <m:r>
                          <a:rPr lang="en-US" sz="2400">
                            <a:latin typeface="Cambria Math" panose="02040503050406030204" pitchFamily="18" charset="0"/>
                          </a:rPr>
                          <m:t>𝓗</m:t>
                        </m:r>
                      </m:e>
                      <m:sub>
                        <m:r>
                          <a:rPr lang="en-US" sz="2400">
                            <a:latin typeface="Cambria Math" panose="02040503050406030204" pitchFamily="18" charset="0"/>
                          </a:rPr>
                          <m:t>𝟎</m:t>
                        </m:r>
                      </m:sub>
                    </m:sSub>
                  </m:oMath>
                </a14:m>
                <a:endParaRPr lang="en-US" sz="2400" dirty="0"/>
              </a:p>
            </p:txBody>
          </p:sp>
        </mc:Choice>
        <mc:Fallback xmlns="">
          <p:sp>
            <p:nvSpPr>
              <p:cNvPr id="34" name="Rounded Rectangle 33"/>
              <p:cNvSpPr>
                <a:spLocks noRot="1" noChangeAspect="1" noMove="1" noResize="1" noEditPoints="1" noAdjustHandles="1" noChangeArrowheads="1" noChangeShapeType="1" noTextEdit="1"/>
              </p:cNvSpPr>
              <p:nvPr/>
            </p:nvSpPr>
            <p:spPr>
              <a:xfrm>
                <a:off x="5393599" y="5375822"/>
                <a:ext cx="2734404" cy="490484"/>
              </a:xfrm>
              <a:prstGeom prst="roundRect">
                <a:avLst/>
              </a:prstGeom>
              <a:blipFill>
                <a:blip r:embed="rId8"/>
                <a:stretch>
                  <a:fillRect t="-2439" b="-21951"/>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719977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Hypothesis testing</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dirty="0"/>
                  <a:t>Data: </a:t>
                </a:r>
                <a14:m>
                  <m:oMath xmlns:m="http://schemas.openxmlformats.org/officeDocument/2006/math">
                    <m:r>
                      <a:rPr lang="en-US" b="0" i="1" dirty="0" smtClean="0">
                        <a:latin typeface="Cambria Math" panose="02040503050406030204" pitchFamily="18" charset="0"/>
                      </a:rPr>
                      <m:t>𝑋</m:t>
                    </m:r>
                  </m:oMath>
                </a14:m>
                <a:endParaRPr lang="en-US" dirty="0"/>
              </a:p>
              <a:p>
                <a:r>
                  <a:rPr lang="en-US" dirty="0"/>
                  <a:t>Null-hypothesis: </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ℋ</m:t>
                        </m:r>
                      </m:e>
                      <m:sub>
                        <m:r>
                          <a:rPr lang="en-US" b="0" i="1" smtClean="0">
                            <a:latin typeface="Cambria Math" panose="02040503050406030204" pitchFamily="18" charset="0"/>
                            <a:ea typeface="Cambria Math" panose="02040503050406030204" pitchFamily="18" charset="0"/>
                          </a:rPr>
                          <m:t>0</m:t>
                        </m:r>
                      </m:sub>
                    </m:sSub>
                  </m:oMath>
                </a14:m>
                <a:endParaRPr lang="en-US" dirty="0"/>
              </a:p>
              <a:p>
                <a:r>
                  <a:rPr lang="en-US" dirty="0"/>
                  <a:t>Alternative hypothesis: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ℋ</m:t>
                        </m:r>
                      </m:e>
                      <m:sub>
                        <m:r>
                          <a:rPr lang="en-US" b="0" i="1" smtClean="0">
                            <a:latin typeface="Cambria Math" panose="02040503050406030204" pitchFamily="18" charset="0"/>
                            <a:ea typeface="Cambria Math" panose="02040503050406030204" pitchFamily="18" charset="0"/>
                          </a:rPr>
                          <m:t>1</m:t>
                        </m:r>
                      </m:sub>
                    </m:sSub>
                  </m:oMath>
                </a14:m>
                <a:endParaRPr lang="en-US" dirty="0"/>
              </a:p>
              <a:p>
                <a:r>
                  <a:rPr lang="en-US" dirty="0"/>
                  <a:t>Test statistic: </a:t>
                </a:r>
                <a14:m>
                  <m:oMath xmlns:m="http://schemas.openxmlformats.org/officeDocument/2006/math">
                    <m:r>
                      <a:rPr lang="en-US" sz="4000" i="1">
                        <a:latin typeface="Cambria Math" panose="02040503050406030204" pitchFamily="18" charset="0"/>
                      </a:rPr>
                      <m:t>𝑇</m:t>
                    </m:r>
                    <m:d>
                      <m:dPr>
                        <m:ctrlPr>
                          <a:rPr lang="en-US" sz="4000" i="1">
                            <a:latin typeface="Cambria Math" panose="02040503050406030204" pitchFamily="18" charset="0"/>
                          </a:rPr>
                        </m:ctrlPr>
                      </m:dPr>
                      <m:e>
                        <m:sSub>
                          <m:sSubPr>
                            <m:ctrlPr>
                              <a:rPr lang="en-US" sz="4000" i="1">
                                <a:latin typeface="Cambria Math" panose="02040503050406030204" pitchFamily="18" charset="0"/>
                              </a:rPr>
                            </m:ctrlPr>
                          </m:sSubPr>
                          <m:e>
                            <m:r>
                              <a:rPr lang="en-US" sz="4000" i="1">
                                <a:latin typeface="Cambria Math" panose="02040503050406030204" pitchFamily="18" charset="0"/>
                              </a:rPr>
                              <m:t>𝑥</m:t>
                            </m:r>
                          </m:e>
                          <m:sub>
                            <m:r>
                              <a:rPr lang="en-US" sz="4000" i="1">
                                <a:latin typeface="Cambria Math" panose="02040503050406030204" pitchFamily="18" charset="0"/>
                              </a:rPr>
                              <m:t>𝑜𝑏𝑠</m:t>
                            </m:r>
                          </m:sub>
                        </m:sSub>
                      </m:e>
                    </m:d>
                  </m:oMath>
                </a14:m>
                <a:endParaRPr lang="en-US" sz="4400" dirty="0"/>
              </a:p>
              <a:p>
                <a:r>
                  <a:rPr lang="en-US" dirty="0"/>
                  <a:t>Critical value: </a:t>
                </a:r>
                <a14:m>
                  <m:oMath xmlns:m="http://schemas.openxmlformats.org/officeDocument/2006/math">
                    <m:r>
                      <a:rPr lang="en-US" i="1">
                        <a:latin typeface="Cambria Math" panose="02040503050406030204" pitchFamily="18" charset="0"/>
                      </a:rPr>
                      <m:t>𝑐</m:t>
                    </m:r>
                  </m:oMath>
                </a14:m>
                <a:endParaRPr lang="en-US" dirty="0"/>
              </a:p>
              <a:p>
                <a:r>
                  <a:rPr lang="en-US" dirty="0"/>
                  <a:t>Level of significance: </a:t>
                </a:r>
                <a14:m>
                  <m:oMath xmlns:m="http://schemas.openxmlformats.org/officeDocument/2006/math">
                    <m:r>
                      <a:rPr lang="en-US" i="1" dirty="0">
                        <a:latin typeface="Cambria Math" panose="02040503050406030204" pitchFamily="18" charset="0"/>
                      </a:rPr>
                      <m:t>𝛼</m:t>
                    </m:r>
                  </m:oMath>
                </a14:m>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2740" t="-3704"/>
                </a:stretch>
              </a:blipFill>
            </p:spPr>
            <p:txBody>
              <a:bodyPr/>
              <a:lstStyle/>
              <a:p>
                <a:r>
                  <a:rPr lang="en-US">
                    <a:noFill/>
                  </a:rPr>
                  <a:t> </a:t>
                </a:r>
              </a:p>
            </p:txBody>
          </p:sp>
        </mc:Fallback>
      </mc:AlternateContent>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0525" y="2759729"/>
            <a:ext cx="5231475" cy="2615737"/>
          </a:xfrm>
          <a:prstGeom prst="rect">
            <a:avLst/>
          </a:prstGeom>
        </p:spPr>
      </p:pic>
      <mc:AlternateContent xmlns:mc="http://schemas.openxmlformats.org/markup-compatibility/2006" xmlns:a14="http://schemas.microsoft.com/office/drawing/2010/main">
        <mc:Choice Requires="a14">
          <p:sp>
            <p:nvSpPr>
              <p:cNvPr id="30" name="Rectangle 29"/>
              <p:cNvSpPr/>
              <p:nvPr/>
            </p:nvSpPr>
            <p:spPr>
              <a:xfrm>
                <a:off x="10155497" y="3698215"/>
                <a:ext cx="577146" cy="7489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267" i="1" dirty="0">
                          <a:latin typeface="Cambria Math" panose="02040503050406030204" pitchFamily="18" charset="0"/>
                        </a:rPr>
                        <m:t>𝑐</m:t>
                      </m:r>
                    </m:oMath>
                  </m:oMathPara>
                </a14:m>
                <a:endParaRPr lang="en-US" sz="4267" dirty="0"/>
              </a:p>
            </p:txBody>
          </p:sp>
        </mc:Choice>
        <mc:Fallback xmlns="">
          <p:sp>
            <p:nvSpPr>
              <p:cNvPr id="30" name="Rectangle 29"/>
              <p:cNvSpPr>
                <a:spLocks noRot="1" noChangeAspect="1" noMove="1" noResize="1" noEditPoints="1" noAdjustHandles="1" noChangeArrowheads="1" noChangeShapeType="1" noTextEdit="1"/>
              </p:cNvSpPr>
              <p:nvPr/>
            </p:nvSpPr>
            <p:spPr>
              <a:xfrm>
                <a:off x="10155497" y="3698215"/>
                <a:ext cx="577146" cy="748988"/>
              </a:xfrm>
              <a:prstGeom prst="rect">
                <a:avLst/>
              </a:prstGeom>
              <a:blipFill>
                <a:blip r:embed="rId6"/>
                <a:stretch>
                  <a:fillRect/>
                </a:stretch>
              </a:blipFill>
            </p:spPr>
            <p:txBody>
              <a:bodyPr/>
              <a:lstStyle/>
              <a:p>
                <a:r>
                  <a:rPr lang="en-US">
                    <a:noFill/>
                  </a:rPr>
                  <a:t> </a:t>
                </a:r>
              </a:p>
            </p:txBody>
          </p:sp>
        </mc:Fallback>
      </mc:AlternateContent>
      <p:cxnSp>
        <p:nvCxnSpPr>
          <p:cNvPr id="31" name="Straight Arrow Connector 30"/>
          <p:cNvCxnSpPr/>
          <p:nvPr/>
        </p:nvCxnSpPr>
        <p:spPr>
          <a:xfrm flipH="1">
            <a:off x="10429483" y="3799489"/>
            <a:ext cx="788559" cy="934485"/>
          </a:xfrm>
          <a:prstGeom prst="straightConnector1">
            <a:avLst/>
          </a:prstGeom>
          <a:ln w="762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1" name="Rectangle 40"/>
              <p:cNvSpPr/>
              <p:nvPr/>
            </p:nvSpPr>
            <p:spPr>
              <a:xfrm>
                <a:off x="11069230" y="3237872"/>
                <a:ext cx="595098" cy="6667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733" i="1" dirty="0">
                          <a:latin typeface="Cambria Math" panose="02040503050406030204" pitchFamily="18" charset="0"/>
                        </a:rPr>
                        <m:t>𝛼</m:t>
                      </m:r>
                    </m:oMath>
                  </m:oMathPara>
                </a14:m>
                <a:endParaRPr lang="en-US" sz="3733" dirty="0"/>
              </a:p>
            </p:txBody>
          </p:sp>
        </mc:Choice>
        <mc:Fallback xmlns="">
          <p:sp>
            <p:nvSpPr>
              <p:cNvPr id="41" name="Rectangle 40"/>
              <p:cNvSpPr>
                <a:spLocks noRot="1" noChangeAspect="1" noMove="1" noResize="1" noEditPoints="1" noAdjustHandles="1" noChangeArrowheads="1" noChangeShapeType="1" noTextEdit="1"/>
              </p:cNvSpPr>
              <p:nvPr/>
            </p:nvSpPr>
            <p:spPr>
              <a:xfrm>
                <a:off x="11069230" y="3237872"/>
                <a:ext cx="595098" cy="666786"/>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54477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Hypothesis testing</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dirty="0"/>
                  <a:t>Data: </a:t>
                </a:r>
                <a14:m>
                  <m:oMath xmlns:m="http://schemas.openxmlformats.org/officeDocument/2006/math">
                    <m:r>
                      <a:rPr lang="en-US" b="0" i="1" dirty="0" smtClean="0">
                        <a:latin typeface="Cambria Math" panose="02040503050406030204" pitchFamily="18" charset="0"/>
                      </a:rPr>
                      <m:t>𝑋</m:t>
                    </m:r>
                  </m:oMath>
                </a14:m>
                <a:endParaRPr lang="en-US" dirty="0"/>
              </a:p>
              <a:p>
                <a:r>
                  <a:rPr lang="en-US" dirty="0"/>
                  <a:t>Null-hypothesis: </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ℋ</m:t>
                        </m:r>
                      </m:e>
                      <m:sub>
                        <m:r>
                          <a:rPr lang="en-US" b="0" i="1" smtClean="0">
                            <a:latin typeface="Cambria Math" panose="02040503050406030204" pitchFamily="18" charset="0"/>
                            <a:ea typeface="Cambria Math" panose="02040503050406030204" pitchFamily="18" charset="0"/>
                          </a:rPr>
                          <m:t>0</m:t>
                        </m:r>
                      </m:sub>
                    </m:sSub>
                  </m:oMath>
                </a14:m>
                <a:endParaRPr lang="en-US" dirty="0"/>
              </a:p>
              <a:p>
                <a:r>
                  <a:rPr lang="en-US" dirty="0"/>
                  <a:t>Alternative hypothesis: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ℋ</m:t>
                        </m:r>
                      </m:e>
                      <m:sub>
                        <m:r>
                          <a:rPr lang="en-US" b="0" i="1" smtClean="0">
                            <a:latin typeface="Cambria Math" panose="02040503050406030204" pitchFamily="18" charset="0"/>
                            <a:ea typeface="Cambria Math" panose="02040503050406030204" pitchFamily="18" charset="0"/>
                          </a:rPr>
                          <m:t>1</m:t>
                        </m:r>
                      </m:sub>
                    </m:sSub>
                  </m:oMath>
                </a14:m>
                <a:endParaRPr lang="en-US" dirty="0"/>
              </a:p>
              <a:p>
                <a:r>
                  <a:rPr lang="en-US" dirty="0"/>
                  <a:t>Test statistic: </a:t>
                </a:r>
                <a14:m>
                  <m:oMath xmlns:m="http://schemas.openxmlformats.org/officeDocument/2006/math">
                    <m:r>
                      <a:rPr lang="en-US" sz="4000" i="1">
                        <a:latin typeface="Cambria Math" panose="02040503050406030204" pitchFamily="18" charset="0"/>
                      </a:rPr>
                      <m:t>𝑇</m:t>
                    </m:r>
                    <m:d>
                      <m:dPr>
                        <m:ctrlPr>
                          <a:rPr lang="en-US" sz="4000" i="1">
                            <a:latin typeface="Cambria Math" panose="02040503050406030204" pitchFamily="18" charset="0"/>
                          </a:rPr>
                        </m:ctrlPr>
                      </m:dPr>
                      <m:e>
                        <m:sSub>
                          <m:sSubPr>
                            <m:ctrlPr>
                              <a:rPr lang="en-US" sz="4000" i="1">
                                <a:latin typeface="Cambria Math" panose="02040503050406030204" pitchFamily="18" charset="0"/>
                              </a:rPr>
                            </m:ctrlPr>
                          </m:sSubPr>
                          <m:e>
                            <m:r>
                              <a:rPr lang="en-US" sz="4000" i="1">
                                <a:latin typeface="Cambria Math" panose="02040503050406030204" pitchFamily="18" charset="0"/>
                              </a:rPr>
                              <m:t>𝑥</m:t>
                            </m:r>
                          </m:e>
                          <m:sub>
                            <m:r>
                              <a:rPr lang="en-US" sz="4000" i="1">
                                <a:latin typeface="Cambria Math" panose="02040503050406030204" pitchFamily="18" charset="0"/>
                              </a:rPr>
                              <m:t>𝑜𝑏𝑠</m:t>
                            </m:r>
                          </m:sub>
                        </m:sSub>
                      </m:e>
                    </m:d>
                  </m:oMath>
                </a14:m>
                <a:endParaRPr lang="en-US" dirty="0"/>
              </a:p>
              <a:p>
                <a:r>
                  <a:rPr lang="en-US" dirty="0"/>
                  <a:t>Critical value: </a:t>
                </a:r>
                <a14:m>
                  <m:oMath xmlns:m="http://schemas.openxmlformats.org/officeDocument/2006/math">
                    <m:r>
                      <a:rPr lang="en-US" i="1">
                        <a:latin typeface="Cambria Math" panose="02040503050406030204" pitchFamily="18" charset="0"/>
                      </a:rPr>
                      <m:t>𝑐</m:t>
                    </m:r>
                  </m:oMath>
                </a14:m>
                <a:endParaRPr lang="en-US" dirty="0"/>
              </a:p>
              <a:p>
                <a:r>
                  <a:rPr lang="en-US" dirty="0"/>
                  <a:t>Level of significance: </a:t>
                </a:r>
                <a14:m>
                  <m:oMath xmlns:m="http://schemas.openxmlformats.org/officeDocument/2006/math">
                    <m:r>
                      <a:rPr lang="en-US" i="1" dirty="0">
                        <a:latin typeface="Cambria Math" panose="02040503050406030204" pitchFamily="18" charset="0"/>
                      </a:rPr>
                      <m:t>𝛼</m:t>
                    </m:r>
                  </m:oMath>
                </a14:m>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2740" t="-3704"/>
                </a:stretch>
              </a:blipFill>
            </p:spPr>
            <p:txBody>
              <a:bodyPr/>
              <a:lstStyle/>
              <a:p>
                <a:r>
                  <a:rPr lang="en-US">
                    <a:noFill/>
                  </a:rPr>
                  <a:t> </a:t>
                </a:r>
              </a:p>
            </p:txBody>
          </p:sp>
        </mc:Fallback>
      </mc:AlternateContent>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0525" y="2338958"/>
            <a:ext cx="5231475" cy="2615737"/>
          </a:xfrm>
          <a:prstGeom prst="rect">
            <a:avLst/>
          </a:prstGeom>
        </p:spPr>
      </p:pic>
      <mc:AlternateContent xmlns:mc="http://schemas.openxmlformats.org/markup-compatibility/2006" xmlns:a14="http://schemas.microsoft.com/office/drawing/2010/main">
        <mc:Choice Requires="a14">
          <p:sp>
            <p:nvSpPr>
              <p:cNvPr id="13" name="Rectangle 12"/>
              <p:cNvSpPr/>
              <p:nvPr/>
            </p:nvSpPr>
            <p:spPr>
              <a:xfrm>
                <a:off x="8672216" y="1632897"/>
                <a:ext cx="693330" cy="7489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267" i="1">
                          <a:latin typeface="Cambria Math" panose="02040503050406030204" pitchFamily="18" charset="0"/>
                        </a:rPr>
                        <m:t>𝛩</m:t>
                      </m:r>
                    </m:oMath>
                  </m:oMathPara>
                </a14:m>
                <a:endParaRPr lang="en-US" sz="4267" dirty="0"/>
              </a:p>
            </p:txBody>
          </p:sp>
        </mc:Choice>
        <mc:Fallback xmlns="">
          <p:sp>
            <p:nvSpPr>
              <p:cNvPr id="13" name="Rectangle 12"/>
              <p:cNvSpPr>
                <a:spLocks noRot="1" noChangeAspect="1" noMove="1" noResize="1" noEditPoints="1" noAdjustHandles="1" noChangeArrowheads="1" noChangeShapeType="1" noTextEdit="1"/>
              </p:cNvSpPr>
              <p:nvPr/>
            </p:nvSpPr>
            <p:spPr>
              <a:xfrm>
                <a:off x="8672216" y="1632897"/>
                <a:ext cx="693330" cy="748988"/>
              </a:xfrm>
              <a:prstGeom prst="rect">
                <a:avLst/>
              </a:prstGeom>
              <a:blipFill>
                <a:blip r:embed="rId4"/>
                <a:stretch>
                  <a:fillRect l="-5455" r="-1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8" name="Table 17"/>
              <p:cNvGraphicFramePr>
                <a:graphicFrameLocks noGrp="1"/>
              </p:cNvGraphicFramePr>
              <p:nvPr/>
            </p:nvGraphicFramePr>
            <p:xfrm>
              <a:off x="5136000" y="0"/>
              <a:ext cx="7056000" cy="2575560"/>
            </p:xfrm>
            <a:graphic>
              <a:graphicData uri="http://schemas.openxmlformats.org/drawingml/2006/table">
                <a:tbl>
                  <a:tblPr firstRow="1" firstCol="1" bandRow="1">
                    <a:tableStyleId>{21E4AEA4-8DFA-4A89-87EB-49C32662AFE0}</a:tableStyleId>
                  </a:tblPr>
                  <a:tblGrid>
                    <a:gridCol w="2544000">
                      <a:extLst>
                        <a:ext uri="{9D8B030D-6E8A-4147-A177-3AD203B41FA5}">
                          <a16:colId xmlns:a16="http://schemas.microsoft.com/office/drawing/2014/main" val="601099609"/>
                        </a:ext>
                      </a:extLst>
                    </a:gridCol>
                    <a:gridCol w="2256000">
                      <a:extLst>
                        <a:ext uri="{9D8B030D-6E8A-4147-A177-3AD203B41FA5}">
                          <a16:colId xmlns:a16="http://schemas.microsoft.com/office/drawing/2014/main" val="1373651834"/>
                        </a:ext>
                      </a:extLst>
                    </a:gridCol>
                    <a:gridCol w="2256000">
                      <a:extLst>
                        <a:ext uri="{9D8B030D-6E8A-4147-A177-3AD203B41FA5}">
                          <a16:colId xmlns:a16="http://schemas.microsoft.com/office/drawing/2014/main" val="3784188223"/>
                        </a:ext>
                      </a:extLst>
                    </a:gridCol>
                  </a:tblGrid>
                  <a:tr h="1097280">
                    <a:tc>
                      <a:txBody>
                        <a:bodyPr/>
                        <a:lstStyle/>
                        <a:p>
                          <a:r>
                            <a:rPr lang="en-US" sz="3200" dirty="0"/>
                            <a:t>Decision \ Truth</a:t>
                          </a:r>
                        </a:p>
                      </a:txBody>
                      <a:tcPr marL="121920" marR="121920" marT="60960" marB="60960"/>
                    </a:tc>
                    <a:tc>
                      <a:txBody>
                        <a:bodyPr/>
                        <a:lstStyle/>
                        <a:p>
                          <a14:m>
                            <m:oMath xmlns:m="http://schemas.openxmlformats.org/officeDocument/2006/math">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ℋ</m:t>
                                  </m:r>
                                </m:e>
                                <m:sub>
                                  <m:r>
                                    <a:rPr lang="en-US" sz="2700" b="0" i="1" smtClean="0">
                                      <a:latin typeface="Cambria Math" panose="02040503050406030204" pitchFamily="18" charset="0"/>
                                      <a:ea typeface="Cambria Math" panose="02040503050406030204" pitchFamily="18" charset="0"/>
                                    </a:rPr>
                                    <m:t>0</m:t>
                                  </m:r>
                                </m:sub>
                              </m:sSub>
                            </m:oMath>
                          </a14:m>
                          <a:r>
                            <a:rPr lang="en-US" sz="2700" dirty="0">
                              <a:solidFill>
                                <a:schemeClr val="bg1"/>
                              </a:solidFill>
                            </a:rPr>
                            <a:t> is</a:t>
                          </a:r>
                          <a:r>
                            <a:rPr lang="en-US" sz="2700" baseline="0" dirty="0">
                              <a:solidFill>
                                <a:schemeClr val="bg1"/>
                              </a:solidFill>
                            </a:rPr>
                            <a:t> true</a:t>
                          </a:r>
                          <a:endParaRPr lang="en-US" sz="2700" b="1" dirty="0">
                            <a:solidFill>
                              <a:schemeClr val="bg1"/>
                            </a:solidFill>
                          </a:endParaRPr>
                        </a:p>
                      </a:txBody>
                      <a:tcPr marL="121920" marR="121920" marT="60960" marB="60960"/>
                    </a:tc>
                    <a:tc>
                      <a:txBody>
                        <a:bodyPr/>
                        <a:lstStyle/>
                        <a:p>
                          <a14:m>
                            <m:oMath xmlns:m="http://schemas.openxmlformats.org/officeDocument/2006/math">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ℋ</m:t>
                                  </m:r>
                                </m:e>
                                <m:sub>
                                  <m:r>
                                    <a:rPr lang="en-US" sz="2700" b="0" i="1" smtClean="0">
                                      <a:latin typeface="Cambria Math" panose="02040503050406030204" pitchFamily="18" charset="0"/>
                                      <a:ea typeface="Cambria Math" panose="02040503050406030204" pitchFamily="18" charset="0"/>
                                    </a:rPr>
                                    <m:t>0</m:t>
                                  </m:r>
                                </m:sub>
                              </m:sSub>
                            </m:oMath>
                          </a14:m>
                          <a:r>
                            <a:rPr lang="en-US" sz="2700" dirty="0">
                              <a:solidFill>
                                <a:schemeClr val="bg1"/>
                              </a:solidFill>
                            </a:rPr>
                            <a:t> is False</a:t>
                          </a:r>
                          <a:endParaRPr lang="en-US" sz="2700" b="1" dirty="0">
                            <a:solidFill>
                              <a:schemeClr val="bg1"/>
                            </a:solidFill>
                          </a:endParaRPr>
                        </a:p>
                      </a:txBody>
                      <a:tcPr marL="121920" marR="121920" marT="60960" marB="60960"/>
                    </a:tc>
                    <a:extLst>
                      <a:ext uri="{0D108BD9-81ED-4DB2-BD59-A6C34878D82A}">
                        <a16:rowId xmlns:a16="http://schemas.microsoft.com/office/drawing/2014/main" val="2274902497"/>
                      </a:ext>
                    </a:extLst>
                  </a:tr>
                  <a:tr h="528320">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700" b="0" i="0" u="none" strike="noStrike" kern="1200" cap="none" spc="0" normalizeH="0" baseline="0" noProof="0" dirty="0">
                              <a:ln>
                                <a:noFill/>
                              </a:ln>
                              <a:solidFill>
                                <a:schemeClr val="bg1"/>
                              </a:solidFill>
                              <a:effectLst/>
                              <a:uLnTx/>
                              <a:uFillTx/>
                              <a:latin typeface="Calibri"/>
                              <a:ea typeface="+mn-ea"/>
                              <a:cs typeface="+mn-cs"/>
                            </a:rPr>
                            <a:t>Reject </a:t>
                          </a:r>
                          <a14:m>
                            <m:oMath xmlns:m="http://schemas.openxmlformats.org/officeDocument/2006/math">
                              <m:sSub>
                                <m:sSubPr>
                                  <m:ctrlPr>
                                    <a:rPr kumimoji="0" lang="en-US" sz="2700" b="0" i="1" u="none" strike="noStrike" kern="1200" cap="none" spc="0" normalizeH="0" baseline="0" noProof="0">
                                      <a:ln>
                                        <a:noFill/>
                                      </a:ln>
                                      <a:solidFill>
                                        <a:schemeClr val="bg1"/>
                                      </a:solidFill>
                                      <a:effectLst/>
                                      <a:uLnTx/>
                                      <a:uFillTx/>
                                      <a:latin typeface="Cambria Math" panose="02040503050406030204" pitchFamily="18" charset="0"/>
                                      <a:ea typeface="+mn-ea"/>
                                      <a:cs typeface="+mn-cs"/>
                                    </a:rPr>
                                  </m:ctrlPr>
                                </m:sSubPr>
                                <m:e>
                                  <m:r>
                                    <a:rPr kumimoji="0" lang="en-US" sz="2700" b="0" i="0" u="none" strike="noStrike" kern="1200" cap="none" spc="0" normalizeH="0" baseline="0" noProof="0">
                                      <a:ln>
                                        <a:noFill/>
                                      </a:ln>
                                      <a:solidFill>
                                        <a:schemeClr val="bg1"/>
                                      </a:solidFill>
                                      <a:effectLst/>
                                      <a:uLnTx/>
                                      <a:uFillTx/>
                                      <a:latin typeface="Cambria Math" panose="02040503050406030204" pitchFamily="18" charset="0"/>
                                      <a:ea typeface="+mn-ea"/>
                                      <a:cs typeface="+mn-cs"/>
                                    </a:rPr>
                                    <m:t>𝓗</m:t>
                                  </m:r>
                                </m:e>
                                <m:sub>
                                  <m:r>
                                    <a:rPr kumimoji="0" lang="en-US" sz="2700" b="0" i="0" u="none" strike="noStrike" kern="1200" cap="none" spc="0" normalizeH="0" baseline="0" noProof="0">
                                      <a:ln>
                                        <a:noFill/>
                                      </a:ln>
                                      <a:solidFill>
                                        <a:schemeClr val="bg1"/>
                                      </a:solidFill>
                                      <a:effectLst/>
                                      <a:uLnTx/>
                                      <a:uFillTx/>
                                      <a:latin typeface="Cambria Math" panose="02040503050406030204" pitchFamily="18" charset="0"/>
                                      <a:ea typeface="+mn-ea"/>
                                      <a:cs typeface="+mn-cs"/>
                                    </a:rPr>
                                    <m:t>𝟎</m:t>
                                  </m:r>
                                </m:sub>
                              </m:sSub>
                            </m:oMath>
                          </a14:m>
                          <a:endParaRPr kumimoji="0" lang="en-US" sz="2700" b="0" i="0" u="none" strike="noStrike" kern="1200" cap="none" spc="0" normalizeH="0" baseline="0" noProof="0" dirty="0">
                            <a:ln>
                              <a:noFill/>
                            </a:ln>
                            <a:solidFill>
                              <a:schemeClr val="bg1"/>
                            </a:solidFill>
                            <a:effectLst/>
                            <a:uLnTx/>
                            <a:uFillTx/>
                            <a:latin typeface="Calibri"/>
                            <a:ea typeface="+mn-ea"/>
                            <a:cs typeface="+mn-cs"/>
                          </a:endParaRPr>
                        </a:p>
                      </a:txBody>
                      <a:tcPr marL="121920" marR="121920" marT="60960" marB="60960"/>
                    </a:tc>
                    <a:tc>
                      <a:txBody>
                        <a:bodyPr/>
                        <a:lstStyle/>
                        <a:p>
                          <a:r>
                            <a:rPr lang="en-US" sz="2400" dirty="0"/>
                            <a:t>Type</a:t>
                          </a:r>
                          <a:r>
                            <a:rPr lang="en-US" sz="2400" baseline="0" dirty="0"/>
                            <a:t> </a:t>
                          </a:r>
                          <a14:m>
                            <m:oMath xmlns:m="http://schemas.openxmlformats.org/officeDocument/2006/math">
                              <m:r>
                                <a:rPr lang="en-US" sz="2400" baseline="0" dirty="0" smtClean="0">
                                  <a:latin typeface="Cambria Math" panose="02040503050406030204" pitchFamily="18" charset="0"/>
                                </a:rPr>
                                <m:t>𝐼</m:t>
                              </m:r>
                            </m:oMath>
                          </a14:m>
                          <a:r>
                            <a:rPr lang="en-US" sz="2400" baseline="0" dirty="0"/>
                            <a:t> error</a:t>
                          </a:r>
                          <a:endParaRPr lang="en-US" sz="2400" dirty="0"/>
                        </a:p>
                      </a:txBody>
                      <a:tcPr marL="121920" marR="121920" marT="60960" marB="60960"/>
                    </a:tc>
                    <a:tc>
                      <a:txBody>
                        <a:bodyPr/>
                        <a:lstStyle/>
                        <a:p>
                          <a:r>
                            <a:rPr lang="en-US" sz="2400" dirty="0"/>
                            <a:t>Correct decision</a:t>
                          </a:r>
                        </a:p>
                      </a:txBody>
                      <a:tcPr marL="121920" marR="121920" marT="60960" marB="60960"/>
                    </a:tc>
                    <a:extLst>
                      <a:ext uri="{0D108BD9-81ED-4DB2-BD59-A6C34878D82A}">
                        <a16:rowId xmlns:a16="http://schemas.microsoft.com/office/drawing/2014/main" val="623273162"/>
                      </a:ext>
                    </a:extLst>
                  </a:tr>
                  <a:tr h="528320">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700" b="0" i="0" u="none" strike="noStrike" kern="1200" cap="none" spc="0" normalizeH="0" baseline="0" noProof="0" dirty="0">
                              <a:ln>
                                <a:noFill/>
                              </a:ln>
                              <a:solidFill>
                                <a:schemeClr val="bg1"/>
                              </a:solidFill>
                              <a:effectLst/>
                              <a:uLnTx/>
                              <a:uFillTx/>
                              <a:latin typeface="Calibri"/>
                              <a:ea typeface="+mn-ea"/>
                              <a:cs typeface="+mn-cs"/>
                            </a:rPr>
                            <a:t>Fail to reject </a:t>
                          </a:r>
                          <a14:m>
                            <m:oMath xmlns:m="http://schemas.openxmlformats.org/officeDocument/2006/math">
                              <m:sSub>
                                <m:sSubPr>
                                  <m:ctrlPr>
                                    <a:rPr kumimoji="0" lang="en-US" sz="2700" b="0" i="1" u="none" strike="noStrike" kern="1200" cap="none" spc="0" normalizeH="0" baseline="0" noProof="0">
                                      <a:ln>
                                        <a:noFill/>
                                      </a:ln>
                                      <a:solidFill>
                                        <a:schemeClr val="bg1"/>
                                      </a:solidFill>
                                      <a:effectLst/>
                                      <a:uLnTx/>
                                      <a:uFillTx/>
                                      <a:latin typeface="Cambria Math" panose="02040503050406030204" pitchFamily="18" charset="0"/>
                                      <a:ea typeface="+mn-ea"/>
                                      <a:cs typeface="+mn-cs"/>
                                    </a:rPr>
                                  </m:ctrlPr>
                                </m:sSubPr>
                                <m:e>
                                  <m:r>
                                    <a:rPr kumimoji="0" lang="en-US" sz="2700" b="0" i="0" u="none" strike="noStrike" kern="1200" cap="none" spc="0" normalizeH="0" baseline="0" noProof="0">
                                      <a:ln>
                                        <a:noFill/>
                                      </a:ln>
                                      <a:solidFill>
                                        <a:schemeClr val="bg1"/>
                                      </a:solidFill>
                                      <a:effectLst/>
                                      <a:uLnTx/>
                                      <a:uFillTx/>
                                      <a:latin typeface="Cambria Math" panose="02040503050406030204" pitchFamily="18" charset="0"/>
                                      <a:ea typeface="+mn-ea"/>
                                      <a:cs typeface="+mn-cs"/>
                                    </a:rPr>
                                    <m:t>𝓗</m:t>
                                  </m:r>
                                </m:e>
                                <m:sub>
                                  <m:r>
                                    <a:rPr kumimoji="0" lang="en-US" sz="2700" b="0" i="0" u="none" strike="noStrike" kern="1200" cap="none" spc="0" normalizeH="0" baseline="0" noProof="0">
                                      <a:ln>
                                        <a:noFill/>
                                      </a:ln>
                                      <a:solidFill>
                                        <a:schemeClr val="bg1"/>
                                      </a:solidFill>
                                      <a:effectLst/>
                                      <a:uLnTx/>
                                      <a:uFillTx/>
                                      <a:latin typeface="Cambria Math" panose="02040503050406030204" pitchFamily="18" charset="0"/>
                                      <a:ea typeface="+mn-ea"/>
                                      <a:cs typeface="+mn-cs"/>
                                    </a:rPr>
                                    <m:t>𝟎</m:t>
                                  </m:r>
                                </m:sub>
                              </m:sSub>
                            </m:oMath>
                          </a14:m>
                          <a:r>
                            <a:rPr kumimoji="0" lang="en-US" sz="2700" b="0" i="0" u="none" strike="noStrike" kern="1200" cap="none" spc="0" normalizeH="0" baseline="0" noProof="0" dirty="0">
                              <a:ln>
                                <a:noFill/>
                              </a:ln>
                              <a:solidFill>
                                <a:schemeClr val="bg1"/>
                              </a:solidFill>
                              <a:effectLst/>
                              <a:uLnTx/>
                              <a:uFillTx/>
                              <a:latin typeface="Calibri"/>
                              <a:ea typeface="+mn-ea"/>
                              <a:cs typeface="+mn-cs"/>
                            </a:rPr>
                            <a:t> </a:t>
                          </a:r>
                        </a:p>
                      </a:txBody>
                      <a:tcPr marL="121920" marR="121920" marT="60960" marB="60960"/>
                    </a:tc>
                    <a:tc>
                      <a:txBody>
                        <a:bodyPr/>
                        <a:lstStyle/>
                        <a:p>
                          <a:r>
                            <a:rPr lang="en-US" sz="2400" dirty="0"/>
                            <a:t>Correct decision</a:t>
                          </a:r>
                        </a:p>
                      </a:txBody>
                      <a:tcPr marL="121920" marR="121920" marT="60960" marB="6096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t>Type</a:t>
                          </a:r>
                          <a:r>
                            <a:rPr lang="en-US" sz="2400" baseline="0" dirty="0"/>
                            <a:t> </a:t>
                          </a:r>
                          <a14:m>
                            <m:oMath xmlns:m="http://schemas.openxmlformats.org/officeDocument/2006/math">
                              <m:r>
                                <a:rPr lang="en-US" sz="2400" baseline="0" dirty="0" smtClean="0">
                                  <a:latin typeface="Cambria Math" panose="02040503050406030204" pitchFamily="18" charset="0"/>
                                </a:rPr>
                                <m:t>𝐼𝐼</m:t>
                              </m:r>
                            </m:oMath>
                          </a14:m>
                          <a:r>
                            <a:rPr lang="en-US" sz="2400" baseline="0" dirty="0"/>
                            <a:t> error</a:t>
                          </a:r>
                          <a:endParaRPr lang="en-US" sz="2400" dirty="0"/>
                        </a:p>
                      </a:txBody>
                      <a:tcPr marL="121920" marR="121920" marT="60960" marB="60960"/>
                    </a:tc>
                    <a:extLst>
                      <a:ext uri="{0D108BD9-81ED-4DB2-BD59-A6C34878D82A}">
                        <a16:rowId xmlns:a16="http://schemas.microsoft.com/office/drawing/2014/main" val="53909996"/>
                      </a:ext>
                    </a:extLst>
                  </a:tr>
                </a:tbl>
              </a:graphicData>
            </a:graphic>
          </p:graphicFrame>
        </mc:Choice>
        <mc:Fallback xmlns="">
          <p:graphicFrame>
            <p:nvGraphicFramePr>
              <p:cNvPr id="18" name="Table 17"/>
              <p:cNvGraphicFramePr>
                <a:graphicFrameLocks noGrp="1"/>
              </p:cNvGraphicFramePr>
              <p:nvPr/>
            </p:nvGraphicFramePr>
            <p:xfrm>
              <a:off x="5136000" y="0"/>
              <a:ext cx="7056000" cy="2575560"/>
            </p:xfrm>
            <a:graphic>
              <a:graphicData uri="http://schemas.openxmlformats.org/drawingml/2006/table">
                <a:tbl>
                  <a:tblPr firstRow="1" firstCol="1" bandRow="1">
                    <a:tableStyleId>{21E4AEA4-8DFA-4A89-87EB-49C32662AFE0}</a:tableStyleId>
                  </a:tblPr>
                  <a:tblGrid>
                    <a:gridCol w="2544000">
                      <a:extLst>
                        <a:ext uri="{9D8B030D-6E8A-4147-A177-3AD203B41FA5}">
                          <a16:colId xmlns:a16="http://schemas.microsoft.com/office/drawing/2014/main" val="601099609"/>
                        </a:ext>
                      </a:extLst>
                    </a:gridCol>
                    <a:gridCol w="2256000">
                      <a:extLst>
                        <a:ext uri="{9D8B030D-6E8A-4147-A177-3AD203B41FA5}">
                          <a16:colId xmlns:a16="http://schemas.microsoft.com/office/drawing/2014/main" val="1373651834"/>
                        </a:ext>
                      </a:extLst>
                    </a:gridCol>
                    <a:gridCol w="2256000">
                      <a:extLst>
                        <a:ext uri="{9D8B030D-6E8A-4147-A177-3AD203B41FA5}">
                          <a16:colId xmlns:a16="http://schemas.microsoft.com/office/drawing/2014/main" val="3784188223"/>
                        </a:ext>
                      </a:extLst>
                    </a:gridCol>
                  </a:tblGrid>
                  <a:tr h="1097280">
                    <a:tc>
                      <a:txBody>
                        <a:bodyPr/>
                        <a:lstStyle/>
                        <a:p>
                          <a:r>
                            <a:rPr lang="en-US" sz="3200" dirty="0"/>
                            <a:t>Decision \ Truth</a:t>
                          </a:r>
                        </a:p>
                      </a:txBody>
                      <a:tcPr marL="121920" marR="121920" marT="60960" marB="60960"/>
                    </a:tc>
                    <a:tc>
                      <a:txBody>
                        <a:bodyPr/>
                        <a:lstStyle/>
                        <a:p>
                          <a:endParaRPr lang="en-US"/>
                        </a:p>
                      </a:txBody>
                      <a:tcPr marL="121920" marR="121920" marT="60960" marB="60960">
                        <a:blipFill>
                          <a:blip r:embed="rId5"/>
                          <a:stretch>
                            <a:fillRect l="-112921" t="-5814" r="-101685" b="-138372"/>
                          </a:stretch>
                        </a:blipFill>
                      </a:tcPr>
                    </a:tc>
                    <a:tc>
                      <a:txBody>
                        <a:bodyPr/>
                        <a:lstStyle/>
                        <a:p>
                          <a:endParaRPr lang="en-US"/>
                        </a:p>
                      </a:txBody>
                      <a:tcPr marL="121920" marR="121920" marT="60960" marB="60960">
                        <a:blipFill>
                          <a:blip r:embed="rId5"/>
                          <a:stretch>
                            <a:fillRect l="-212921" t="-5814" r="-1685" b="-138372"/>
                          </a:stretch>
                        </a:blipFill>
                      </a:tcPr>
                    </a:tc>
                    <a:extLst>
                      <a:ext uri="{0D108BD9-81ED-4DB2-BD59-A6C34878D82A}">
                        <a16:rowId xmlns:a16="http://schemas.microsoft.com/office/drawing/2014/main" val="2274902497"/>
                      </a:ext>
                    </a:extLst>
                  </a:tr>
                  <a:tr h="533400">
                    <a:tc>
                      <a:txBody>
                        <a:bodyPr/>
                        <a:lstStyle/>
                        <a:p>
                          <a:endParaRPr lang="en-US"/>
                        </a:p>
                      </a:txBody>
                      <a:tcPr marL="121920" marR="121920" marT="60960" marB="60960">
                        <a:blipFill>
                          <a:blip r:embed="rId5"/>
                          <a:stretch>
                            <a:fillRect l="-500" t="-211628" r="-179500" b="-176744"/>
                          </a:stretch>
                        </a:blipFill>
                      </a:tcPr>
                    </a:tc>
                    <a:tc>
                      <a:txBody>
                        <a:bodyPr/>
                        <a:lstStyle/>
                        <a:p>
                          <a:endParaRPr lang="en-US"/>
                        </a:p>
                      </a:txBody>
                      <a:tcPr marL="121920" marR="121920" marT="60960" marB="60960">
                        <a:blipFill>
                          <a:blip r:embed="rId5"/>
                          <a:stretch>
                            <a:fillRect l="-112921" t="-211628" r="-101685" b="-176744"/>
                          </a:stretch>
                        </a:blipFill>
                      </a:tcPr>
                    </a:tc>
                    <a:tc>
                      <a:txBody>
                        <a:bodyPr/>
                        <a:lstStyle/>
                        <a:p>
                          <a:r>
                            <a:rPr lang="en-US" sz="2400" dirty="0"/>
                            <a:t>Correct decision</a:t>
                          </a:r>
                        </a:p>
                      </a:txBody>
                      <a:tcPr marL="121920" marR="121920" marT="60960" marB="60960"/>
                    </a:tc>
                    <a:extLst>
                      <a:ext uri="{0D108BD9-81ED-4DB2-BD59-A6C34878D82A}">
                        <a16:rowId xmlns:a16="http://schemas.microsoft.com/office/drawing/2014/main" val="623273162"/>
                      </a:ext>
                    </a:extLst>
                  </a:tr>
                  <a:tr h="944880">
                    <a:tc>
                      <a:txBody>
                        <a:bodyPr/>
                        <a:lstStyle/>
                        <a:p>
                          <a:endParaRPr lang="en-US"/>
                        </a:p>
                      </a:txBody>
                      <a:tcPr marL="121920" marR="121920" marT="60960" marB="60960">
                        <a:blipFill>
                          <a:blip r:embed="rId5"/>
                          <a:stretch>
                            <a:fillRect l="-500" t="-181081" r="-179500" b="-2703"/>
                          </a:stretch>
                        </a:blipFill>
                      </a:tcPr>
                    </a:tc>
                    <a:tc>
                      <a:txBody>
                        <a:bodyPr/>
                        <a:lstStyle/>
                        <a:p>
                          <a:r>
                            <a:rPr lang="en-US" sz="2400" dirty="0"/>
                            <a:t>Correct decision</a:t>
                          </a:r>
                        </a:p>
                      </a:txBody>
                      <a:tcPr marL="121920" marR="121920" marT="60960" marB="60960"/>
                    </a:tc>
                    <a:tc>
                      <a:txBody>
                        <a:bodyPr/>
                        <a:lstStyle/>
                        <a:p>
                          <a:endParaRPr lang="en-US"/>
                        </a:p>
                      </a:txBody>
                      <a:tcPr marL="121920" marR="121920" marT="60960" marB="60960">
                        <a:blipFill>
                          <a:blip r:embed="rId5"/>
                          <a:stretch>
                            <a:fillRect l="-212921" t="-181081" r="-1685" b="-2703"/>
                          </a:stretch>
                        </a:blipFill>
                      </a:tcPr>
                    </a:tc>
                    <a:extLst>
                      <a:ext uri="{0D108BD9-81ED-4DB2-BD59-A6C34878D82A}">
                        <a16:rowId xmlns:a16="http://schemas.microsoft.com/office/drawing/2014/main" val="53909996"/>
                      </a:ext>
                    </a:extLst>
                  </a:tr>
                </a:tbl>
              </a:graphicData>
            </a:graphic>
          </p:graphicFrame>
        </mc:Fallback>
      </mc:AlternateContent>
      <mc:AlternateContent xmlns:mc="http://schemas.openxmlformats.org/markup-compatibility/2006" xmlns:a14="http://schemas.microsoft.com/office/drawing/2010/main">
        <mc:Choice Requires="a14">
          <p:sp>
            <p:nvSpPr>
              <p:cNvPr id="30" name="Rectangle 29"/>
              <p:cNvSpPr/>
              <p:nvPr/>
            </p:nvSpPr>
            <p:spPr>
              <a:xfrm>
                <a:off x="10155497" y="3277444"/>
                <a:ext cx="577146" cy="7489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267" i="1" dirty="0">
                          <a:latin typeface="Cambria Math" panose="02040503050406030204" pitchFamily="18" charset="0"/>
                        </a:rPr>
                        <m:t>𝑐</m:t>
                      </m:r>
                    </m:oMath>
                  </m:oMathPara>
                </a14:m>
                <a:endParaRPr lang="en-US" sz="4267" dirty="0"/>
              </a:p>
            </p:txBody>
          </p:sp>
        </mc:Choice>
        <mc:Fallback xmlns="">
          <p:sp>
            <p:nvSpPr>
              <p:cNvPr id="30" name="Rectangle 29"/>
              <p:cNvSpPr>
                <a:spLocks noRot="1" noChangeAspect="1" noMove="1" noResize="1" noEditPoints="1" noAdjustHandles="1" noChangeArrowheads="1" noChangeShapeType="1" noTextEdit="1"/>
              </p:cNvSpPr>
              <p:nvPr/>
            </p:nvSpPr>
            <p:spPr>
              <a:xfrm>
                <a:off x="10155497" y="3277444"/>
                <a:ext cx="577146" cy="748988"/>
              </a:xfrm>
              <a:prstGeom prst="rect">
                <a:avLst/>
              </a:prstGeom>
              <a:blipFill>
                <a:blip r:embed="rId6"/>
                <a:stretch>
                  <a:fillRect/>
                </a:stretch>
              </a:blipFill>
            </p:spPr>
            <p:txBody>
              <a:bodyPr/>
              <a:lstStyle/>
              <a:p>
                <a:r>
                  <a:rPr lang="en-US">
                    <a:noFill/>
                  </a:rPr>
                  <a:t> </a:t>
                </a:r>
              </a:p>
            </p:txBody>
          </p:sp>
        </mc:Fallback>
      </mc:AlternateContent>
      <p:cxnSp>
        <p:nvCxnSpPr>
          <p:cNvPr id="31" name="Straight Arrow Connector 30"/>
          <p:cNvCxnSpPr/>
          <p:nvPr/>
        </p:nvCxnSpPr>
        <p:spPr>
          <a:xfrm flipH="1">
            <a:off x="10429483" y="3378718"/>
            <a:ext cx="788559" cy="934485"/>
          </a:xfrm>
          <a:prstGeom prst="straightConnector1">
            <a:avLst/>
          </a:prstGeom>
          <a:ln w="762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35" name="Table 34"/>
              <p:cNvGraphicFramePr>
                <a:graphicFrameLocks noGrp="1"/>
              </p:cNvGraphicFramePr>
              <p:nvPr>
                <p:extLst>
                  <p:ext uri="{D42A27DB-BD31-4B8C-83A1-F6EECF244321}">
                    <p14:modId xmlns:p14="http://schemas.microsoft.com/office/powerpoint/2010/main" val="1598839654"/>
                  </p:ext>
                </p:extLst>
              </p:nvPr>
            </p:nvGraphicFramePr>
            <p:xfrm>
              <a:off x="5958176" y="4823239"/>
              <a:ext cx="6144000" cy="1224280"/>
            </p:xfrm>
            <a:graphic>
              <a:graphicData uri="http://schemas.openxmlformats.org/drawingml/2006/table">
                <a:tbl>
                  <a:tblPr firstRow="1" bandRow="1">
                    <a:tableStyleId>{21E4AEA4-8DFA-4A89-87EB-49C32662AFE0}</a:tableStyleId>
                  </a:tblPr>
                  <a:tblGrid>
                    <a:gridCol w="6144000">
                      <a:extLst>
                        <a:ext uri="{9D8B030D-6E8A-4147-A177-3AD203B41FA5}">
                          <a16:colId xmlns:a16="http://schemas.microsoft.com/office/drawing/2014/main" val="2115607167"/>
                        </a:ext>
                      </a:extLst>
                    </a:gridCol>
                  </a:tblGrid>
                  <a:tr h="690880">
                    <a:tc>
                      <a:txBody>
                        <a:bodyPr/>
                        <a:lstStyle/>
                        <a:p>
                          <a:pPr algn="ctr"/>
                          <a:r>
                            <a:rPr lang="en-US" sz="3700" dirty="0"/>
                            <a:t>Significance and Type </a:t>
                          </a:r>
                          <a14:m>
                            <m:oMath xmlns:m="http://schemas.openxmlformats.org/officeDocument/2006/math">
                              <m:r>
                                <m:rPr>
                                  <m:sty m:val="p"/>
                                </m:rPr>
                                <a:rPr lang="en-US" sz="3700" i="0" dirty="0" smtClean="0">
                                  <a:latin typeface="Cambria Math" panose="02040503050406030204" pitchFamily="18" charset="0"/>
                                </a:rPr>
                                <m:t>I</m:t>
                              </m:r>
                            </m:oMath>
                          </a14:m>
                          <a:r>
                            <a:rPr lang="en-US" sz="3700" dirty="0"/>
                            <a:t> Error</a:t>
                          </a:r>
                          <a:endParaRPr lang="en-US" sz="4300" dirty="0"/>
                        </a:p>
                      </a:txBody>
                      <a:tcPr marL="121920" marR="121920" marT="60960" marB="60960"/>
                    </a:tc>
                    <a:extLst>
                      <a:ext uri="{0D108BD9-81ED-4DB2-BD59-A6C34878D82A}">
                        <a16:rowId xmlns:a16="http://schemas.microsoft.com/office/drawing/2014/main" val="928464126"/>
                      </a:ext>
                    </a:extLst>
                  </a:tr>
                  <a:tr h="528320">
                    <a:tc>
                      <a:txBody>
                        <a:bodyPr/>
                        <a:lstStyle/>
                        <a:p>
                          <a:pPr/>
                          <a14:m>
                            <m:oMathPara xmlns:m="http://schemas.openxmlformats.org/officeDocument/2006/math">
                              <m:oMathParaPr>
                                <m:jc m:val="centerGroup"/>
                              </m:oMathParaPr>
                              <m:oMath xmlns:m="http://schemas.openxmlformats.org/officeDocument/2006/math">
                                <m:r>
                                  <a:rPr lang="en-US" sz="2700" i="1" smtClean="0">
                                    <a:latin typeface="Cambria Math" panose="02040503050406030204" pitchFamily="18" charset="0"/>
                                  </a:rPr>
                                  <m:t>𝑃</m:t>
                                </m:r>
                                <m:d>
                                  <m:dPr>
                                    <m:ctrlPr>
                                      <a:rPr lang="en-US" sz="2700" i="1">
                                        <a:latin typeface="Cambria Math" panose="02040503050406030204" pitchFamily="18" charset="0"/>
                                      </a:rPr>
                                    </m:ctrlPr>
                                  </m:dPr>
                                  <m:e>
                                    <m:r>
                                      <m:rPr>
                                        <m:nor/>
                                      </m:rPr>
                                      <a:rPr lang="en-US" sz="2700" dirty="0"/>
                                      <m:t>Type</m:t>
                                    </m:r>
                                    <m:r>
                                      <m:rPr>
                                        <m:nor/>
                                      </m:rPr>
                                      <a:rPr lang="en-US" sz="2700" dirty="0"/>
                                      <m:t> </m:t>
                                    </m:r>
                                    <m:r>
                                      <a:rPr lang="en-US" sz="2700" dirty="0">
                                        <a:latin typeface="Cambria Math" panose="02040503050406030204" pitchFamily="18" charset="0"/>
                                      </a:rPr>
                                      <m:t>𝐼</m:t>
                                    </m:r>
                                    <m:r>
                                      <m:rPr>
                                        <m:nor/>
                                      </m:rPr>
                                      <a:rPr lang="en-US" sz="2700" dirty="0"/>
                                      <m:t> </m:t>
                                    </m:r>
                                    <m:r>
                                      <m:rPr>
                                        <m:nor/>
                                      </m:rPr>
                                      <a:rPr lang="en-US" sz="2700" dirty="0"/>
                                      <m:t>error</m:t>
                                    </m:r>
                                    <m:r>
                                      <m:rPr>
                                        <m:nor/>
                                      </m:rPr>
                                      <a:rPr lang="en-US" sz="2700" dirty="0"/>
                                      <m:t> </m:t>
                                    </m:r>
                                  </m:e>
                                </m:d>
                                <m:r>
                                  <a:rPr lang="en-US" sz="2700" i="1">
                                    <a:latin typeface="Cambria Math" panose="02040503050406030204" pitchFamily="18" charset="0"/>
                                  </a:rPr>
                                  <m:t>=</m:t>
                                </m:r>
                                <m:r>
                                  <a:rPr lang="en-US" sz="2700" i="1">
                                    <a:latin typeface="Cambria Math" panose="02040503050406030204" pitchFamily="18" charset="0"/>
                                  </a:rPr>
                                  <m:t>𝛼</m:t>
                                </m:r>
                              </m:oMath>
                            </m:oMathPara>
                          </a14:m>
                          <a:endParaRPr lang="en-US" sz="2700" dirty="0"/>
                        </a:p>
                      </a:txBody>
                      <a:tcPr marL="121920" marR="121920" marT="60960" marB="60960"/>
                    </a:tc>
                    <a:extLst>
                      <a:ext uri="{0D108BD9-81ED-4DB2-BD59-A6C34878D82A}">
                        <a16:rowId xmlns:a16="http://schemas.microsoft.com/office/drawing/2014/main" val="1722191903"/>
                      </a:ext>
                    </a:extLst>
                  </a:tr>
                </a:tbl>
              </a:graphicData>
            </a:graphic>
          </p:graphicFrame>
        </mc:Choice>
        <mc:Fallback xmlns="">
          <p:graphicFrame>
            <p:nvGraphicFramePr>
              <p:cNvPr id="35" name="Table 34"/>
              <p:cNvGraphicFramePr>
                <a:graphicFrameLocks noGrp="1"/>
              </p:cNvGraphicFramePr>
              <p:nvPr>
                <p:extLst>
                  <p:ext uri="{D42A27DB-BD31-4B8C-83A1-F6EECF244321}">
                    <p14:modId xmlns:p14="http://schemas.microsoft.com/office/powerpoint/2010/main" val="1598839654"/>
                  </p:ext>
                </p:extLst>
              </p:nvPr>
            </p:nvGraphicFramePr>
            <p:xfrm>
              <a:off x="5958176" y="4823239"/>
              <a:ext cx="6144000" cy="1224280"/>
            </p:xfrm>
            <a:graphic>
              <a:graphicData uri="http://schemas.openxmlformats.org/drawingml/2006/table">
                <a:tbl>
                  <a:tblPr firstRow="1" bandRow="1">
                    <a:tableStyleId>{21E4AEA4-8DFA-4A89-87EB-49C32662AFE0}</a:tableStyleId>
                  </a:tblPr>
                  <a:tblGrid>
                    <a:gridCol w="6144000">
                      <a:extLst>
                        <a:ext uri="{9D8B030D-6E8A-4147-A177-3AD203B41FA5}">
                          <a16:colId xmlns:a16="http://schemas.microsoft.com/office/drawing/2014/main" val="2115607167"/>
                        </a:ext>
                      </a:extLst>
                    </a:gridCol>
                  </a:tblGrid>
                  <a:tr h="690880">
                    <a:tc>
                      <a:txBody>
                        <a:bodyPr/>
                        <a:lstStyle/>
                        <a:p>
                          <a:endParaRPr lang="en-US"/>
                        </a:p>
                      </a:txBody>
                      <a:tcPr marL="121920" marR="121920" marT="60960" marB="60960">
                        <a:blipFill>
                          <a:blip r:embed="rId7"/>
                          <a:stretch>
                            <a:fillRect l="-207" t="-10909" r="-620" b="-92727"/>
                          </a:stretch>
                        </a:blipFill>
                      </a:tcPr>
                    </a:tc>
                    <a:extLst>
                      <a:ext uri="{0D108BD9-81ED-4DB2-BD59-A6C34878D82A}">
                        <a16:rowId xmlns:a16="http://schemas.microsoft.com/office/drawing/2014/main" val="928464126"/>
                      </a:ext>
                    </a:extLst>
                  </a:tr>
                  <a:tr h="533400">
                    <a:tc>
                      <a:txBody>
                        <a:bodyPr/>
                        <a:lstStyle/>
                        <a:p>
                          <a:endParaRPr lang="en-US"/>
                        </a:p>
                      </a:txBody>
                      <a:tcPr marL="121920" marR="121920" marT="60960" marB="60960">
                        <a:blipFill>
                          <a:blip r:embed="rId7"/>
                          <a:stretch>
                            <a:fillRect l="-207" t="-141860" r="-620" b="-18605"/>
                          </a:stretch>
                        </a:blipFill>
                      </a:tcPr>
                    </a:tc>
                    <a:extLst>
                      <a:ext uri="{0D108BD9-81ED-4DB2-BD59-A6C34878D82A}">
                        <a16:rowId xmlns:a16="http://schemas.microsoft.com/office/drawing/2014/main" val="1722191903"/>
                      </a:ext>
                    </a:extLst>
                  </a:tr>
                </a:tbl>
              </a:graphicData>
            </a:graphic>
          </p:graphicFrame>
        </mc:Fallback>
      </mc:AlternateContent>
      <mc:AlternateContent xmlns:mc="http://schemas.openxmlformats.org/markup-compatibility/2006" xmlns:a14="http://schemas.microsoft.com/office/drawing/2010/main">
        <mc:Choice Requires="a14">
          <p:sp>
            <p:nvSpPr>
              <p:cNvPr id="41" name="Rectangle 40"/>
              <p:cNvSpPr/>
              <p:nvPr/>
            </p:nvSpPr>
            <p:spPr>
              <a:xfrm>
                <a:off x="11069230" y="2817101"/>
                <a:ext cx="595098" cy="6667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733" i="1" dirty="0">
                          <a:latin typeface="Cambria Math" panose="02040503050406030204" pitchFamily="18" charset="0"/>
                        </a:rPr>
                        <m:t>𝛼</m:t>
                      </m:r>
                    </m:oMath>
                  </m:oMathPara>
                </a14:m>
                <a:endParaRPr lang="en-US" sz="3733" dirty="0"/>
              </a:p>
            </p:txBody>
          </p:sp>
        </mc:Choice>
        <mc:Fallback xmlns="">
          <p:sp>
            <p:nvSpPr>
              <p:cNvPr id="41" name="Rectangle 40"/>
              <p:cNvSpPr>
                <a:spLocks noRot="1" noChangeAspect="1" noMove="1" noResize="1" noEditPoints="1" noAdjustHandles="1" noChangeArrowheads="1" noChangeShapeType="1" noTextEdit="1"/>
              </p:cNvSpPr>
              <p:nvPr/>
            </p:nvSpPr>
            <p:spPr>
              <a:xfrm>
                <a:off x="11069230" y="2817101"/>
                <a:ext cx="595098" cy="666786"/>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918186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One-tailed vs two-tailed hypothesis testing</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5250" y="3271216"/>
            <a:ext cx="4107941" cy="2053971"/>
          </a:xfrm>
          <a:prstGeom prst="rect">
            <a:avLst/>
          </a:prstGeom>
        </p:spPr>
      </p:pic>
      <p:cxnSp>
        <p:nvCxnSpPr>
          <p:cNvPr id="5" name="Straight Arrow Connector 4"/>
          <p:cNvCxnSpPr/>
          <p:nvPr/>
        </p:nvCxnSpPr>
        <p:spPr>
          <a:xfrm flipV="1">
            <a:off x="10595626" y="4900151"/>
            <a:ext cx="248719" cy="790040"/>
          </a:xfrm>
          <a:prstGeom prst="straightConnector1">
            <a:avLst/>
          </a:prstGeom>
          <a:ln w="76200">
            <a:tailEnd type="triangle"/>
          </a:ln>
          <a:effectLst/>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7" name="Rectangle 6"/>
              <p:cNvSpPr/>
              <p:nvPr/>
            </p:nvSpPr>
            <p:spPr>
              <a:xfrm>
                <a:off x="9013918" y="3675536"/>
                <a:ext cx="693330" cy="7489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267" i="1">
                          <a:latin typeface="Cambria Math" panose="02040503050406030204" pitchFamily="18" charset="0"/>
                        </a:rPr>
                        <m:t>𝛩</m:t>
                      </m:r>
                    </m:oMath>
                  </m:oMathPara>
                </a14:m>
                <a:endParaRPr lang="en-US" sz="4267" dirty="0"/>
              </a:p>
            </p:txBody>
          </p:sp>
        </mc:Choice>
        <mc:Fallback xmlns="">
          <p:sp>
            <p:nvSpPr>
              <p:cNvPr id="7" name="Rectangle 6"/>
              <p:cNvSpPr>
                <a:spLocks noRot="1" noChangeAspect="1" noMove="1" noResize="1" noEditPoints="1" noAdjustHandles="1" noChangeArrowheads="1" noChangeShapeType="1" noTextEdit="1"/>
              </p:cNvSpPr>
              <p:nvPr/>
            </p:nvSpPr>
            <p:spPr>
              <a:xfrm>
                <a:off x="9013918" y="3675536"/>
                <a:ext cx="693330" cy="748988"/>
              </a:xfrm>
              <a:prstGeom prst="rect">
                <a:avLst/>
              </a:prstGeom>
              <a:blipFill>
                <a:blip r:embed="rId4"/>
                <a:stretch>
                  <a:fillRect l="-3571" r="-1786"/>
                </a:stretch>
              </a:blipFill>
            </p:spPr>
            <p:txBody>
              <a:bodyPr/>
              <a:lstStyle/>
              <a:p>
                <a:r>
                  <a:rPr lang="en-US">
                    <a:noFill/>
                  </a:rPr>
                  <a:t> </a:t>
                </a:r>
              </a:p>
            </p:txBody>
          </p:sp>
        </mc:Fallback>
      </mc:AlternateContent>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07942" y="3271216"/>
            <a:ext cx="4107941" cy="2053971"/>
          </a:xfrm>
          <a:prstGeom prst="rect">
            <a:avLst/>
          </a:prstGeom>
        </p:spPr>
      </p:pic>
      <p:cxnSp>
        <p:nvCxnSpPr>
          <p:cNvPr id="9" name="Straight Arrow Connector 8"/>
          <p:cNvCxnSpPr/>
          <p:nvPr/>
        </p:nvCxnSpPr>
        <p:spPr>
          <a:xfrm flipV="1">
            <a:off x="6316150" y="4930167"/>
            <a:ext cx="612905" cy="790040"/>
          </a:xfrm>
          <a:prstGeom prst="straightConnector1">
            <a:avLst/>
          </a:prstGeom>
          <a:ln w="76200">
            <a:tailEnd type="triangle"/>
          </a:ln>
          <a:effectLst/>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1" name="Rectangle 10"/>
              <p:cNvSpPr/>
              <p:nvPr/>
            </p:nvSpPr>
            <p:spPr>
              <a:xfrm>
                <a:off x="6298989" y="3238704"/>
                <a:ext cx="693330" cy="7489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267" i="1">
                          <a:latin typeface="Cambria Math" panose="02040503050406030204" pitchFamily="18" charset="0"/>
                        </a:rPr>
                        <m:t>𝛩</m:t>
                      </m:r>
                    </m:oMath>
                  </m:oMathPara>
                </a14:m>
                <a:endParaRPr lang="en-US" sz="4267" dirty="0"/>
              </a:p>
            </p:txBody>
          </p:sp>
        </mc:Choice>
        <mc:Fallback xmlns="">
          <p:sp>
            <p:nvSpPr>
              <p:cNvPr id="11" name="Rectangle 10"/>
              <p:cNvSpPr>
                <a:spLocks noRot="1" noChangeAspect="1" noMove="1" noResize="1" noEditPoints="1" noAdjustHandles="1" noChangeArrowheads="1" noChangeShapeType="1" noTextEdit="1"/>
              </p:cNvSpPr>
              <p:nvPr/>
            </p:nvSpPr>
            <p:spPr>
              <a:xfrm>
                <a:off x="6298989" y="3238704"/>
                <a:ext cx="693330" cy="748988"/>
              </a:xfrm>
              <a:prstGeom prst="rect">
                <a:avLst/>
              </a:prstGeom>
              <a:blipFill>
                <a:blip r:embed="rId6"/>
                <a:stretch>
                  <a:fillRect l="-3571" r="-1786"/>
                </a:stretch>
              </a:blipFill>
            </p:spPr>
            <p:txBody>
              <a:bodyPr/>
              <a:lstStyle/>
              <a:p>
                <a:r>
                  <a:rPr lang="en-US">
                    <a:noFill/>
                  </a:rPr>
                  <a:t> </a:t>
                </a:r>
              </a:p>
            </p:txBody>
          </p:sp>
        </mc:Fallback>
      </mc:AlternateContent>
      <p:pic>
        <p:nvPicPr>
          <p:cNvPr id="12" name="Picture 1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3270200"/>
            <a:ext cx="4107941" cy="2053971"/>
          </a:xfrm>
          <a:prstGeom prst="rect">
            <a:avLst/>
          </a:prstGeom>
        </p:spPr>
      </p:pic>
      <p:cxnSp>
        <p:nvCxnSpPr>
          <p:cNvPr id="13" name="Straight Arrow Connector 12"/>
          <p:cNvCxnSpPr/>
          <p:nvPr/>
        </p:nvCxnSpPr>
        <p:spPr>
          <a:xfrm flipH="1" flipV="1">
            <a:off x="1477277" y="4930167"/>
            <a:ext cx="248719" cy="790040"/>
          </a:xfrm>
          <a:prstGeom prst="straightConnector1">
            <a:avLst/>
          </a:prstGeom>
          <a:ln w="76200">
            <a:tailEnd type="triangle"/>
          </a:ln>
          <a:effectLst/>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5" name="Rectangle 14"/>
              <p:cNvSpPr/>
              <p:nvPr/>
            </p:nvSpPr>
            <p:spPr>
              <a:xfrm>
                <a:off x="2708649" y="3675537"/>
                <a:ext cx="693330" cy="7489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267" i="1">
                          <a:latin typeface="Cambria Math" panose="02040503050406030204" pitchFamily="18" charset="0"/>
                        </a:rPr>
                        <m:t>𝛩</m:t>
                      </m:r>
                    </m:oMath>
                  </m:oMathPara>
                </a14:m>
                <a:endParaRPr lang="en-US" sz="4267" dirty="0"/>
              </a:p>
            </p:txBody>
          </p:sp>
        </mc:Choice>
        <mc:Fallback xmlns="">
          <p:sp>
            <p:nvSpPr>
              <p:cNvPr id="15" name="Rectangle 14"/>
              <p:cNvSpPr>
                <a:spLocks noRot="1" noChangeAspect="1" noMove="1" noResize="1" noEditPoints="1" noAdjustHandles="1" noChangeArrowheads="1" noChangeShapeType="1" noTextEdit="1"/>
              </p:cNvSpPr>
              <p:nvPr/>
            </p:nvSpPr>
            <p:spPr>
              <a:xfrm>
                <a:off x="2708649" y="3675537"/>
                <a:ext cx="693330" cy="748988"/>
              </a:xfrm>
              <a:prstGeom prst="rect">
                <a:avLst/>
              </a:prstGeom>
              <a:blipFill>
                <a:blip r:embed="rId8"/>
                <a:stretch>
                  <a:fillRect l="-5455" r="-3636"/>
                </a:stretch>
              </a:blipFill>
            </p:spPr>
            <p:txBody>
              <a:bodyPr/>
              <a:lstStyle/>
              <a:p>
                <a:r>
                  <a:rPr lang="en-US">
                    <a:noFill/>
                  </a:rPr>
                  <a:t> </a:t>
                </a:r>
              </a:p>
            </p:txBody>
          </p:sp>
        </mc:Fallback>
      </mc:AlternateContent>
      <p:cxnSp>
        <p:nvCxnSpPr>
          <p:cNvPr id="19" name="Straight Arrow Connector 18"/>
          <p:cNvCxnSpPr/>
          <p:nvPr/>
        </p:nvCxnSpPr>
        <p:spPr>
          <a:xfrm flipH="1" flipV="1">
            <a:off x="5532181" y="4930167"/>
            <a:ext cx="612905" cy="790040"/>
          </a:xfrm>
          <a:prstGeom prst="straightConnector1">
            <a:avLst/>
          </a:prstGeom>
          <a:ln w="76200">
            <a:tailEnd type="triangle"/>
          </a:ln>
          <a:effectLst/>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graphicFrame>
            <p:nvGraphicFramePr>
              <p:cNvPr id="20" name="Table 19"/>
              <p:cNvGraphicFramePr>
                <a:graphicFrameLocks noGrp="1"/>
              </p:cNvGraphicFramePr>
              <p:nvPr/>
            </p:nvGraphicFramePr>
            <p:xfrm>
              <a:off x="8210997" y="1290016"/>
              <a:ext cx="3732011" cy="1950720"/>
            </p:xfrm>
            <a:graphic>
              <a:graphicData uri="http://schemas.openxmlformats.org/drawingml/2006/table">
                <a:tbl>
                  <a:tblPr firstRow="1" bandRow="1">
                    <a:tableStyleId>{21E4AEA4-8DFA-4A89-87EB-49C32662AFE0}</a:tableStyleId>
                  </a:tblPr>
                  <a:tblGrid>
                    <a:gridCol w="3732011">
                      <a:extLst>
                        <a:ext uri="{9D8B030D-6E8A-4147-A177-3AD203B41FA5}">
                          <a16:colId xmlns:a16="http://schemas.microsoft.com/office/drawing/2014/main" val="2115607167"/>
                        </a:ext>
                      </a:extLst>
                    </a:gridCol>
                  </a:tblGrid>
                  <a:tr h="690880">
                    <a:tc>
                      <a:txBody>
                        <a:bodyPr/>
                        <a:lstStyle/>
                        <a:p>
                          <a:pPr algn="ctr"/>
                          <a:r>
                            <a:rPr lang="en-US" sz="3700" dirty="0"/>
                            <a:t>One-sided</a:t>
                          </a:r>
                        </a:p>
                      </a:txBody>
                      <a:tcPr marL="121920" marR="121920" marT="60960" marB="60960"/>
                    </a:tc>
                    <a:extLst>
                      <a:ext uri="{0D108BD9-81ED-4DB2-BD59-A6C34878D82A}">
                        <a16:rowId xmlns:a16="http://schemas.microsoft.com/office/drawing/2014/main" val="928464126"/>
                      </a:ext>
                    </a:extLst>
                  </a:tr>
                  <a:tr h="1259840">
                    <a:tc>
                      <a:txBody>
                        <a:bodyPr/>
                        <a:lstStyle/>
                        <a:p>
                          <a:pPr/>
                          <a14:m>
                            <m:oMathPara xmlns:m="http://schemas.openxmlformats.org/officeDocument/2006/math">
                              <m:oMathParaPr>
                                <m:jc m:val="centerGroup"/>
                              </m:oMathParaPr>
                              <m:oMath xmlns:m="http://schemas.openxmlformats.org/officeDocument/2006/math">
                                <m:sSub>
                                  <m:sSubPr>
                                    <m:ctrlPr>
                                      <a:rPr lang="en-US" sz="3700" i="1" smtClean="0">
                                        <a:latin typeface="Cambria Math" panose="02040503050406030204" pitchFamily="18" charset="0"/>
                                        <a:ea typeface="Cambria Math" panose="02040503050406030204" pitchFamily="18" charset="0"/>
                                      </a:rPr>
                                    </m:ctrlPr>
                                  </m:sSubPr>
                                  <m:e>
                                    <m:r>
                                      <a:rPr lang="en-US" sz="3700" i="1">
                                        <a:latin typeface="Cambria Math" panose="02040503050406030204" pitchFamily="18" charset="0"/>
                                        <a:ea typeface="Cambria Math" panose="02040503050406030204" pitchFamily="18" charset="0"/>
                                      </a:rPr>
                                      <m:t>ℋ</m:t>
                                    </m:r>
                                  </m:e>
                                  <m:sub>
                                    <m:r>
                                      <a:rPr lang="en-US" sz="3700" i="1">
                                        <a:latin typeface="Cambria Math" panose="02040503050406030204" pitchFamily="18" charset="0"/>
                                        <a:ea typeface="Cambria Math" panose="02040503050406030204" pitchFamily="18" charset="0"/>
                                      </a:rPr>
                                      <m:t>0</m:t>
                                    </m:r>
                                  </m:sub>
                                </m:sSub>
                                <m:r>
                                  <a:rPr lang="en-US" sz="3700" i="1" smtClean="0">
                                    <a:latin typeface="Cambria Math" panose="02040503050406030204" pitchFamily="18" charset="0"/>
                                    <a:ea typeface="Cambria Math" panose="02040503050406030204" pitchFamily="18" charset="0"/>
                                  </a:rPr>
                                  <m:t>:</m:t>
                                </m:r>
                                <m:sSub>
                                  <m:sSubPr>
                                    <m:ctrlPr>
                                      <a:rPr lang="en-US" sz="3700" i="1" smtClean="0">
                                        <a:latin typeface="Cambria Math" panose="02040503050406030204" pitchFamily="18" charset="0"/>
                                        <a:ea typeface="Cambria Math" panose="02040503050406030204" pitchFamily="18" charset="0"/>
                                      </a:rPr>
                                    </m:ctrlPr>
                                  </m:sSubPr>
                                  <m:e>
                                    <m:r>
                                      <a:rPr lang="en-US" sz="3700" b="0" i="1" smtClean="0">
                                        <a:latin typeface="Cambria Math" panose="02040503050406030204" pitchFamily="18" charset="0"/>
                                        <a:ea typeface="Cambria Math" panose="02040503050406030204" pitchFamily="18" charset="0"/>
                                      </a:rPr>
                                      <m:t>𝜃</m:t>
                                    </m:r>
                                  </m:e>
                                  <m:sub>
                                    <m:r>
                                      <a:rPr lang="en-US" sz="3700" i="1">
                                        <a:latin typeface="Cambria Math" panose="02040503050406030204" pitchFamily="18" charset="0"/>
                                        <a:ea typeface="Cambria Math" panose="02040503050406030204" pitchFamily="18" charset="0"/>
                                      </a:rPr>
                                      <m:t>𝑋</m:t>
                                    </m:r>
                                  </m:sub>
                                </m:sSub>
                                <m:r>
                                  <a:rPr lang="en-US" sz="3700" b="0" i="1" smtClean="0">
                                    <a:latin typeface="Cambria Math" panose="02040503050406030204" pitchFamily="18" charset="0"/>
                                    <a:ea typeface="Cambria Math" panose="02040503050406030204" pitchFamily="18" charset="0"/>
                                  </a:rPr>
                                  <m:t>=</m:t>
                                </m:r>
                                <m:sSub>
                                  <m:sSubPr>
                                    <m:ctrlPr>
                                      <a:rPr lang="en-US" sz="3700" b="0" i="1" smtClean="0">
                                        <a:latin typeface="Cambria Math" panose="02040503050406030204" pitchFamily="18" charset="0"/>
                                        <a:ea typeface="Cambria Math" panose="02040503050406030204" pitchFamily="18" charset="0"/>
                                      </a:rPr>
                                    </m:ctrlPr>
                                  </m:sSubPr>
                                  <m:e>
                                    <m:r>
                                      <a:rPr lang="en-US" sz="3700" b="0" i="1" smtClean="0">
                                        <a:latin typeface="Cambria Math" panose="02040503050406030204" pitchFamily="18" charset="0"/>
                                        <a:ea typeface="Cambria Math" panose="02040503050406030204" pitchFamily="18" charset="0"/>
                                      </a:rPr>
                                      <m:t>𝜃</m:t>
                                    </m:r>
                                  </m:e>
                                  <m:sub>
                                    <m:r>
                                      <a:rPr lang="en-US" sz="3700" b="0" i="1" smtClean="0">
                                        <a:latin typeface="Cambria Math" panose="02040503050406030204" pitchFamily="18" charset="0"/>
                                        <a:ea typeface="Cambria Math" panose="02040503050406030204" pitchFamily="18" charset="0"/>
                                      </a:rPr>
                                      <m:t>0</m:t>
                                    </m:r>
                                  </m:sub>
                                </m:sSub>
                              </m:oMath>
                            </m:oMathPara>
                          </a14:m>
                          <a:endParaRPr lang="en-US" sz="3700" dirty="0"/>
                        </a:p>
                        <a:p>
                          <a:pPr/>
                          <a14:m>
                            <m:oMathPara xmlns:m="http://schemas.openxmlformats.org/officeDocument/2006/math">
                              <m:oMathParaPr>
                                <m:jc m:val="centerGroup"/>
                              </m:oMathParaPr>
                              <m:oMath xmlns:m="http://schemas.openxmlformats.org/officeDocument/2006/math">
                                <m:sSub>
                                  <m:sSubPr>
                                    <m:ctrlPr>
                                      <a:rPr lang="en-US" sz="3700" i="1">
                                        <a:latin typeface="Cambria Math" panose="02040503050406030204" pitchFamily="18" charset="0"/>
                                        <a:ea typeface="Cambria Math" panose="02040503050406030204" pitchFamily="18" charset="0"/>
                                      </a:rPr>
                                    </m:ctrlPr>
                                  </m:sSubPr>
                                  <m:e>
                                    <m:r>
                                      <a:rPr lang="en-US" sz="3700" i="1">
                                        <a:latin typeface="Cambria Math" panose="02040503050406030204" pitchFamily="18" charset="0"/>
                                        <a:ea typeface="Cambria Math" panose="02040503050406030204" pitchFamily="18" charset="0"/>
                                      </a:rPr>
                                      <m:t>ℋ</m:t>
                                    </m:r>
                                  </m:e>
                                  <m:sub>
                                    <m:r>
                                      <a:rPr lang="en-US" sz="3700" b="0" i="1" smtClean="0">
                                        <a:latin typeface="Cambria Math" panose="02040503050406030204" pitchFamily="18" charset="0"/>
                                        <a:ea typeface="Cambria Math" panose="02040503050406030204" pitchFamily="18" charset="0"/>
                                      </a:rPr>
                                      <m:t>1</m:t>
                                    </m:r>
                                  </m:sub>
                                </m:sSub>
                                <m:r>
                                  <a:rPr lang="en-US" sz="3700" i="1">
                                    <a:latin typeface="Cambria Math" panose="02040503050406030204" pitchFamily="18" charset="0"/>
                                    <a:ea typeface="Cambria Math" panose="02040503050406030204" pitchFamily="18" charset="0"/>
                                  </a:rPr>
                                  <m:t>:</m:t>
                                </m:r>
                                <m:sSub>
                                  <m:sSubPr>
                                    <m:ctrlPr>
                                      <a:rPr lang="en-US" sz="3700" i="1" smtClean="0">
                                        <a:latin typeface="Cambria Math" panose="02040503050406030204" pitchFamily="18" charset="0"/>
                                        <a:ea typeface="Cambria Math" panose="02040503050406030204" pitchFamily="18" charset="0"/>
                                      </a:rPr>
                                    </m:ctrlPr>
                                  </m:sSubPr>
                                  <m:e>
                                    <m:r>
                                      <a:rPr lang="en-US" sz="3700" b="0" i="1" smtClean="0">
                                        <a:latin typeface="Cambria Math" panose="02040503050406030204" pitchFamily="18" charset="0"/>
                                        <a:ea typeface="Cambria Math" panose="02040503050406030204" pitchFamily="18" charset="0"/>
                                      </a:rPr>
                                      <m:t>𝜃</m:t>
                                    </m:r>
                                  </m:e>
                                  <m:sub>
                                    <m:r>
                                      <a:rPr lang="en-US" sz="3700" i="1">
                                        <a:latin typeface="Cambria Math" panose="02040503050406030204" pitchFamily="18" charset="0"/>
                                        <a:ea typeface="Cambria Math" panose="02040503050406030204" pitchFamily="18" charset="0"/>
                                      </a:rPr>
                                      <m:t>𝑋</m:t>
                                    </m:r>
                                  </m:sub>
                                </m:sSub>
                                <m:r>
                                  <a:rPr lang="en-US" sz="3700" b="0" i="1" smtClean="0">
                                    <a:latin typeface="Cambria Math" panose="02040503050406030204" pitchFamily="18" charset="0"/>
                                    <a:ea typeface="Cambria Math" panose="02040503050406030204" pitchFamily="18" charset="0"/>
                                  </a:rPr>
                                  <m:t>&gt;</m:t>
                                </m:r>
                                <m:sSub>
                                  <m:sSubPr>
                                    <m:ctrlPr>
                                      <a:rPr lang="en-US" sz="3700" b="0" i="1" smtClean="0">
                                        <a:latin typeface="Cambria Math" panose="02040503050406030204" pitchFamily="18" charset="0"/>
                                        <a:ea typeface="Cambria Math" panose="02040503050406030204" pitchFamily="18" charset="0"/>
                                      </a:rPr>
                                    </m:ctrlPr>
                                  </m:sSubPr>
                                  <m:e>
                                    <m:r>
                                      <a:rPr lang="en-US" sz="3700" b="0" i="1" smtClean="0">
                                        <a:latin typeface="Cambria Math" panose="02040503050406030204" pitchFamily="18" charset="0"/>
                                        <a:ea typeface="Cambria Math" panose="02040503050406030204" pitchFamily="18" charset="0"/>
                                      </a:rPr>
                                      <m:t>𝜃</m:t>
                                    </m:r>
                                  </m:e>
                                  <m:sub>
                                    <m:r>
                                      <a:rPr lang="en-US" sz="3700" b="0" i="1" smtClean="0">
                                        <a:latin typeface="Cambria Math" panose="02040503050406030204" pitchFamily="18" charset="0"/>
                                        <a:ea typeface="Cambria Math" panose="02040503050406030204" pitchFamily="18" charset="0"/>
                                      </a:rPr>
                                      <m:t>0</m:t>
                                    </m:r>
                                  </m:sub>
                                </m:sSub>
                              </m:oMath>
                            </m:oMathPara>
                          </a14:m>
                          <a:endParaRPr lang="en-US" sz="3700" dirty="0"/>
                        </a:p>
                      </a:txBody>
                      <a:tcPr marL="121920" marR="121920" marT="60960" marB="60960"/>
                    </a:tc>
                    <a:extLst>
                      <a:ext uri="{0D108BD9-81ED-4DB2-BD59-A6C34878D82A}">
                        <a16:rowId xmlns:a16="http://schemas.microsoft.com/office/drawing/2014/main" val="1722191903"/>
                      </a:ext>
                    </a:extLst>
                  </a:tr>
                </a:tbl>
              </a:graphicData>
            </a:graphic>
          </p:graphicFrame>
        </mc:Choice>
        <mc:Fallback xmlns="">
          <p:graphicFrame>
            <p:nvGraphicFramePr>
              <p:cNvPr id="20" name="Table 19"/>
              <p:cNvGraphicFramePr>
                <a:graphicFrameLocks noGrp="1"/>
              </p:cNvGraphicFramePr>
              <p:nvPr/>
            </p:nvGraphicFramePr>
            <p:xfrm>
              <a:off x="8210997" y="1290016"/>
              <a:ext cx="3732011" cy="1950720"/>
            </p:xfrm>
            <a:graphic>
              <a:graphicData uri="http://schemas.openxmlformats.org/drawingml/2006/table">
                <a:tbl>
                  <a:tblPr firstRow="1" bandRow="1">
                    <a:tableStyleId>{21E4AEA4-8DFA-4A89-87EB-49C32662AFE0}</a:tableStyleId>
                  </a:tblPr>
                  <a:tblGrid>
                    <a:gridCol w="3732011">
                      <a:extLst>
                        <a:ext uri="{9D8B030D-6E8A-4147-A177-3AD203B41FA5}">
                          <a16:colId xmlns:a16="http://schemas.microsoft.com/office/drawing/2014/main" val="2115607167"/>
                        </a:ext>
                      </a:extLst>
                    </a:gridCol>
                  </a:tblGrid>
                  <a:tr h="690880">
                    <a:tc>
                      <a:txBody>
                        <a:bodyPr/>
                        <a:lstStyle/>
                        <a:p>
                          <a:pPr algn="ctr"/>
                          <a:r>
                            <a:rPr lang="en-US" sz="3700" dirty="0"/>
                            <a:t>One-sided</a:t>
                          </a:r>
                        </a:p>
                      </a:txBody>
                      <a:tcPr marL="121920" marR="121920" marT="60960" marB="60960"/>
                    </a:tc>
                    <a:extLst>
                      <a:ext uri="{0D108BD9-81ED-4DB2-BD59-A6C34878D82A}">
                        <a16:rowId xmlns:a16="http://schemas.microsoft.com/office/drawing/2014/main" val="928464126"/>
                      </a:ext>
                    </a:extLst>
                  </a:tr>
                  <a:tr h="1259840">
                    <a:tc>
                      <a:txBody>
                        <a:bodyPr/>
                        <a:lstStyle/>
                        <a:p>
                          <a:endParaRPr lang="en-US"/>
                        </a:p>
                      </a:txBody>
                      <a:tcPr marL="121920" marR="121920" marT="60960" marB="60960">
                        <a:blipFill>
                          <a:blip r:embed="rId9"/>
                          <a:stretch>
                            <a:fillRect l="-339" t="-61000" r="-678" b="-2000"/>
                          </a:stretch>
                        </a:blipFill>
                      </a:tcPr>
                    </a:tc>
                    <a:extLst>
                      <a:ext uri="{0D108BD9-81ED-4DB2-BD59-A6C34878D82A}">
                        <a16:rowId xmlns:a16="http://schemas.microsoft.com/office/drawing/2014/main" val="172219190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1" name="Table 20"/>
              <p:cNvGraphicFramePr>
                <a:graphicFrameLocks noGrp="1"/>
              </p:cNvGraphicFramePr>
              <p:nvPr/>
            </p:nvGraphicFramePr>
            <p:xfrm>
              <a:off x="4229995" y="1290016"/>
              <a:ext cx="3732011" cy="1950720"/>
            </p:xfrm>
            <a:graphic>
              <a:graphicData uri="http://schemas.openxmlformats.org/drawingml/2006/table">
                <a:tbl>
                  <a:tblPr firstRow="1" bandRow="1">
                    <a:tableStyleId>{21E4AEA4-8DFA-4A89-87EB-49C32662AFE0}</a:tableStyleId>
                  </a:tblPr>
                  <a:tblGrid>
                    <a:gridCol w="3732011">
                      <a:extLst>
                        <a:ext uri="{9D8B030D-6E8A-4147-A177-3AD203B41FA5}">
                          <a16:colId xmlns:a16="http://schemas.microsoft.com/office/drawing/2014/main" val="2115607167"/>
                        </a:ext>
                      </a:extLst>
                    </a:gridCol>
                  </a:tblGrid>
                  <a:tr h="69088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3700" dirty="0"/>
                            <a:t>Two-sided</a:t>
                          </a:r>
                        </a:p>
                      </a:txBody>
                      <a:tcPr marL="121920" marR="121920" marT="60960" marB="60960"/>
                    </a:tc>
                    <a:extLst>
                      <a:ext uri="{0D108BD9-81ED-4DB2-BD59-A6C34878D82A}">
                        <a16:rowId xmlns:a16="http://schemas.microsoft.com/office/drawing/2014/main" val="928464126"/>
                      </a:ext>
                    </a:extLst>
                  </a:tr>
                  <a:tr h="1259840">
                    <a:tc>
                      <a:txBody>
                        <a:bodyPr/>
                        <a:lstStyle/>
                        <a:p>
                          <a:pPr/>
                          <a14:m>
                            <m:oMathPara xmlns:m="http://schemas.openxmlformats.org/officeDocument/2006/math">
                              <m:oMathParaPr>
                                <m:jc m:val="centerGroup"/>
                              </m:oMathParaPr>
                              <m:oMath xmlns:m="http://schemas.openxmlformats.org/officeDocument/2006/math">
                                <m:sSub>
                                  <m:sSubPr>
                                    <m:ctrlPr>
                                      <a:rPr lang="en-US" sz="3700" i="1" smtClean="0">
                                        <a:latin typeface="Cambria Math" panose="02040503050406030204" pitchFamily="18" charset="0"/>
                                        <a:ea typeface="Cambria Math" panose="02040503050406030204" pitchFamily="18" charset="0"/>
                                      </a:rPr>
                                    </m:ctrlPr>
                                  </m:sSubPr>
                                  <m:e>
                                    <m:r>
                                      <a:rPr lang="en-US" sz="3700" i="1">
                                        <a:latin typeface="Cambria Math" panose="02040503050406030204" pitchFamily="18" charset="0"/>
                                        <a:ea typeface="Cambria Math" panose="02040503050406030204" pitchFamily="18" charset="0"/>
                                      </a:rPr>
                                      <m:t>ℋ</m:t>
                                    </m:r>
                                  </m:e>
                                  <m:sub>
                                    <m:r>
                                      <a:rPr lang="en-US" sz="3700" i="1">
                                        <a:latin typeface="Cambria Math" panose="02040503050406030204" pitchFamily="18" charset="0"/>
                                        <a:ea typeface="Cambria Math" panose="02040503050406030204" pitchFamily="18" charset="0"/>
                                      </a:rPr>
                                      <m:t>0</m:t>
                                    </m:r>
                                  </m:sub>
                                </m:sSub>
                                <m:r>
                                  <a:rPr lang="en-US" sz="3700" i="1" smtClean="0">
                                    <a:latin typeface="Cambria Math" panose="02040503050406030204" pitchFamily="18" charset="0"/>
                                    <a:ea typeface="Cambria Math" panose="02040503050406030204" pitchFamily="18" charset="0"/>
                                  </a:rPr>
                                  <m:t>:</m:t>
                                </m:r>
                                <m:sSub>
                                  <m:sSubPr>
                                    <m:ctrlPr>
                                      <a:rPr lang="en-US" sz="3700" i="1" smtClean="0">
                                        <a:latin typeface="Cambria Math" panose="02040503050406030204" pitchFamily="18" charset="0"/>
                                        <a:ea typeface="Cambria Math" panose="02040503050406030204" pitchFamily="18" charset="0"/>
                                      </a:rPr>
                                    </m:ctrlPr>
                                  </m:sSubPr>
                                  <m:e>
                                    <m:r>
                                      <a:rPr lang="en-US" sz="3700" b="0" i="1" smtClean="0">
                                        <a:latin typeface="Cambria Math" panose="02040503050406030204" pitchFamily="18" charset="0"/>
                                        <a:ea typeface="Cambria Math" panose="02040503050406030204" pitchFamily="18" charset="0"/>
                                      </a:rPr>
                                      <m:t>𝜃</m:t>
                                    </m:r>
                                  </m:e>
                                  <m:sub>
                                    <m:r>
                                      <a:rPr lang="en-US" sz="3700" i="1">
                                        <a:latin typeface="Cambria Math" panose="02040503050406030204" pitchFamily="18" charset="0"/>
                                        <a:ea typeface="Cambria Math" panose="02040503050406030204" pitchFamily="18" charset="0"/>
                                      </a:rPr>
                                      <m:t>𝑋</m:t>
                                    </m:r>
                                  </m:sub>
                                </m:sSub>
                                <m:r>
                                  <a:rPr lang="en-US" sz="3700" i="1">
                                    <a:latin typeface="Cambria Math" panose="02040503050406030204" pitchFamily="18" charset="0"/>
                                    <a:ea typeface="Cambria Math" panose="02040503050406030204" pitchFamily="18" charset="0"/>
                                  </a:rPr>
                                  <m:t>=</m:t>
                                </m:r>
                                <m:sSub>
                                  <m:sSubPr>
                                    <m:ctrlPr>
                                      <a:rPr lang="en-US" sz="3700" b="0" i="1" smtClean="0">
                                        <a:latin typeface="Cambria Math" panose="02040503050406030204" pitchFamily="18" charset="0"/>
                                        <a:ea typeface="Cambria Math" panose="02040503050406030204" pitchFamily="18" charset="0"/>
                                      </a:rPr>
                                    </m:ctrlPr>
                                  </m:sSubPr>
                                  <m:e>
                                    <m:r>
                                      <a:rPr lang="en-US" sz="3700" b="0" i="1" smtClean="0">
                                        <a:latin typeface="Cambria Math" panose="02040503050406030204" pitchFamily="18" charset="0"/>
                                        <a:ea typeface="Cambria Math" panose="02040503050406030204" pitchFamily="18" charset="0"/>
                                      </a:rPr>
                                      <m:t>𝜃</m:t>
                                    </m:r>
                                  </m:e>
                                  <m:sub>
                                    <m:r>
                                      <a:rPr lang="en-US" sz="3700" b="0" i="1" smtClean="0">
                                        <a:latin typeface="Cambria Math" panose="02040503050406030204" pitchFamily="18" charset="0"/>
                                        <a:ea typeface="Cambria Math" panose="02040503050406030204" pitchFamily="18" charset="0"/>
                                      </a:rPr>
                                      <m:t>0</m:t>
                                    </m:r>
                                  </m:sub>
                                </m:sSub>
                              </m:oMath>
                            </m:oMathPara>
                          </a14:m>
                          <a:endParaRPr lang="en-US" sz="3700" dirty="0"/>
                        </a:p>
                        <a:p>
                          <a:pPr/>
                          <a14:m>
                            <m:oMathPara xmlns:m="http://schemas.openxmlformats.org/officeDocument/2006/math">
                              <m:oMathParaPr>
                                <m:jc m:val="centerGroup"/>
                              </m:oMathParaPr>
                              <m:oMath xmlns:m="http://schemas.openxmlformats.org/officeDocument/2006/math">
                                <m:sSub>
                                  <m:sSubPr>
                                    <m:ctrlPr>
                                      <a:rPr lang="en-US" sz="3700" i="1">
                                        <a:latin typeface="Cambria Math" panose="02040503050406030204" pitchFamily="18" charset="0"/>
                                        <a:ea typeface="Cambria Math" panose="02040503050406030204" pitchFamily="18" charset="0"/>
                                      </a:rPr>
                                    </m:ctrlPr>
                                  </m:sSubPr>
                                  <m:e>
                                    <m:r>
                                      <a:rPr lang="en-US" sz="3700" i="1">
                                        <a:latin typeface="Cambria Math" panose="02040503050406030204" pitchFamily="18" charset="0"/>
                                        <a:ea typeface="Cambria Math" panose="02040503050406030204" pitchFamily="18" charset="0"/>
                                      </a:rPr>
                                      <m:t>ℋ</m:t>
                                    </m:r>
                                  </m:e>
                                  <m:sub>
                                    <m:r>
                                      <a:rPr lang="en-US" sz="3700" b="0" i="1" smtClean="0">
                                        <a:latin typeface="Cambria Math" panose="02040503050406030204" pitchFamily="18" charset="0"/>
                                        <a:ea typeface="Cambria Math" panose="02040503050406030204" pitchFamily="18" charset="0"/>
                                      </a:rPr>
                                      <m:t>1</m:t>
                                    </m:r>
                                  </m:sub>
                                </m:sSub>
                                <m:r>
                                  <a:rPr lang="en-US" sz="3700" i="1">
                                    <a:latin typeface="Cambria Math" panose="02040503050406030204" pitchFamily="18" charset="0"/>
                                    <a:ea typeface="Cambria Math" panose="02040503050406030204" pitchFamily="18" charset="0"/>
                                  </a:rPr>
                                  <m:t>:</m:t>
                                </m:r>
                                <m:sSub>
                                  <m:sSubPr>
                                    <m:ctrlPr>
                                      <a:rPr lang="en-US" sz="3700" i="1" smtClean="0">
                                        <a:latin typeface="Cambria Math" panose="02040503050406030204" pitchFamily="18" charset="0"/>
                                        <a:ea typeface="Cambria Math" panose="02040503050406030204" pitchFamily="18" charset="0"/>
                                      </a:rPr>
                                    </m:ctrlPr>
                                  </m:sSubPr>
                                  <m:e>
                                    <m:r>
                                      <a:rPr lang="en-US" sz="3700" b="0" i="1" smtClean="0">
                                        <a:latin typeface="Cambria Math" panose="02040503050406030204" pitchFamily="18" charset="0"/>
                                        <a:ea typeface="Cambria Math" panose="02040503050406030204" pitchFamily="18" charset="0"/>
                                      </a:rPr>
                                      <m:t>𝜃</m:t>
                                    </m:r>
                                  </m:e>
                                  <m:sub>
                                    <m:r>
                                      <a:rPr lang="en-US" sz="3700" i="1">
                                        <a:latin typeface="Cambria Math" panose="02040503050406030204" pitchFamily="18" charset="0"/>
                                        <a:ea typeface="Cambria Math" panose="02040503050406030204" pitchFamily="18" charset="0"/>
                                      </a:rPr>
                                      <m:t>𝑋</m:t>
                                    </m:r>
                                  </m:sub>
                                </m:sSub>
                                <m:r>
                                  <a:rPr lang="en-US" sz="3700" b="0" i="1" smtClean="0">
                                    <a:latin typeface="Cambria Math" panose="02040503050406030204" pitchFamily="18" charset="0"/>
                                    <a:ea typeface="Cambria Math" panose="02040503050406030204" pitchFamily="18" charset="0"/>
                                  </a:rPr>
                                  <m:t>≠</m:t>
                                </m:r>
                                <m:sSub>
                                  <m:sSubPr>
                                    <m:ctrlPr>
                                      <a:rPr lang="en-US" sz="3700" b="0" i="1" smtClean="0">
                                        <a:latin typeface="Cambria Math" panose="02040503050406030204" pitchFamily="18" charset="0"/>
                                        <a:ea typeface="Cambria Math" panose="02040503050406030204" pitchFamily="18" charset="0"/>
                                      </a:rPr>
                                    </m:ctrlPr>
                                  </m:sSubPr>
                                  <m:e>
                                    <m:r>
                                      <a:rPr lang="en-US" sz="3700" b="0" i="1" smtClean="0">
                                        <a:latin typeface="Cambria Math" panose="02040503050406030204" pitchFamily="18" charset="0"/>
                                        <a:ea typeface="Cambria Math" panose="02040503050406030204" pitchFamily="18" charset="0"/>
                                      </a:rPr>
                                      <m:t>𝜃</m:t>
                                    </m:r>
                                  </m:e>
                                  <m:sub>
                                    <m:r>
                                      <a:rPr lang="en-US" sz="3700" b="0" i="1" smtClean="0">
                                        <a:latin typeface="Cambria Math" panose="02040503050406030204" pitchFamily="18" charset="0"/>
                                        <a:ea typeface="Cambria Math" panose="02040503050406030204" pitchFamily="18" charset="0"/>
                                      </a:rPr>
                                      <m:t>0</m:t>
                                    </m:r>
                                  </m:sub>
                                </m:sSub>
                              </m:oMath>
                            </m:oMathPara>
                          </a14:m>
                          <a:endParaRPr lang="en-US" sz="3700" dirty="0"/>
                        </a:p>
                      </a:txBody>
                      <a:tcPr marL="121920" marR="121920" marT="60960" marB="60960"/>
                    </a:tc>
                    <a:extLst>
                      <a:ext uri="{0D108BD9-81ED-4DB2-BD59-A6C34878D82A}">
                        <a16:rowId xmlns:a16="http://schemas.microsoft.com/office/drawing/2014/main" val="1722191903"/>
                      </a:ext>
                    </a:extLst>
                  </a:tr>
                </a:tbl>
              </a:graphicData>
            </a:graphic>
          </p:graphicFrame>
        </mc:Choice>
        <mc:Fallback xmlns="">
          <p:graphicFrame>
            <p:nvGraphicFramePr>
              <p:cNvPr id="21" name="Table 20"/>
              <p:cNvGraphicFramePr>
                <a:graphicFrameLocks noGrp="1"/>
              </p:cNvGraphicFramePr>
              <p:nvPr/>
            </p:nvGraphicFramePr>
            <p:xfrm>
              <a:off x="4229995" y="1290016"/>
              <a:ext cx="3732011" cy="1950720"/>
            </p:xfrm>
            <a:graphic>
              <a:graphicData uri="http://schemas.openxmlformats.org/drawingml/2006/table">
                <a:tbl>
                  <a:tblPr firstRow="1" bandRow="1">
                    <a:tableStyleId>{21E4AEA4-8DFA-4A89-87EB-49C32662AFE0}</a:tableStyleId>
                  </a:tblPr>
                  <a:tblGrid>
                    <a:gridCol w="3732011">
                      <a:extLst>
                        <a:ext uri="{9D8B030D-6E8A-4147-A177-3AD203B41FA5}">
                          <a16:colId xmlns:a16="http://schemas.microsoft.com/office/drawing/2014/main" val="2115607167"/>
                        </a:ext>
                      </a:extLst>
                    </a:gridCol>
                  </a:tblGrid>
                  <a:tr h="69088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3700" dirty="0"/>
                            <a:t>Two-sided</a:t>
                          </a:r>
                        </a:p>
                      </a:txBody>
                      <a:tcPr marL="121920" marR="121920" marT="60960" marB="60960"/>
                    </a:tc>
                    <a:extLst>
                      <a:ext uri="{0D108BD9-81ED-4DB2-BD59-A6C34878D82A}">
                        <a16:rowId xmlns:a16="http://schemas.microsoft.com/office/drawing/2014/main" val="928464126"/>
                      </a:ext>
                    </a:extLst>
                  </a:tr>
                  <a:tr h="1259840">
                    <a:tc>
                      <a:txBody>
                        <a:bodyPr/>
                        <a:lstStyle/>
                        <a:p>
                          <a:endParaRPr lang="en-US"/>
                        </a:p>
                      </a:txBody>
                      <a:tcPr marL="121920" marR="121920" marT="60960" marB="60960">
                        <a:blipFill>
                          <a:blip r:embed="rId10"/>
                          <a:stretch>
                            <a:fillRect l="-340" t="-61000" r="-1020" b="-2000"/>
                          </a:stretch>
                        </a:blipFill>
                      </a:tcPr>
                    </a:tc>
                    <a:extLst>
                      <a:ext uri="{0D108BD9-81ED-4DB2-BD59-A6C34878D82A}">
                        <a16:rowId xmlns:a16="http://schemas.microsoft.com/office/drawing/2014/main" val="172219190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2" name="Table 21"/>
              <p:cNvGraphicFramePr>
                <a:graphicFrameLocks noGrp="1"/>
              </p:cNvGraphicFramePr>
              <p:nvPr/>
            </p:nvGraphicFramePr>
            <p:xfrm>
              <a:off x="248992" y="1287984"/>
              <a:ext cx="3732011" cy="1950720"/>
            </p:xfrm>
            <a:graphic>
              <a:graphicData uri="http://schemas.openxmlformats.org/drawingml/2006/table">
                <a:tbl>
                  <a:tblPr firstRow="1" bandRow="1">
                    <a:tableStyleId>{21E4AEA4-8DFA-4A89-87EB-49C32662AFE0}</a:tableStyleId>
                  </a:tblPr>
                  <a:tblGrid>
                    <a:gridCol w="3732011">
                      <a:extLst>
                        <a:ext uri="{9D8B030D-6E8A-4147-A177-3AD203B41FA5}">
                          <a16:colId xmlns:a16="http://schemas.microsoft.com/office/drawing/2014/main" val="2115607167"/>
                        </a:ext>
                      </a:extLst>
                    </a:gridCol>
                  </a:tblGrid>
                  <a:tr h="690880">
                    <a:tc>
                      <a:txBody>
                        <a:bodyPr/>
                        <a:lstStyle/>
                        <a:p>
                          <a:pPr algn="ctr"/>
                          <a:r>
                            <a:rPr lang="en-US" sz="3700" dirty="0"/>
                            <a:t>One-sided</a:t>
                          </a:r>
                        </a:p>
                      </a:txBody>
                      <a:tcPr marL="121920" marR="121920" marT="60960" marB="60960"/>
                    </a:tc>
                    <a:extLst>
                      <a:ext uri="{0D108BD9-81ED-4DB2-BD59-A6C34878D82A}">
                        <a16:rowId xmlns:a16="http://schemas.microsoft.com/office/drawing/2014/main" val="928464126"/>
                      </a:ext>
                    </a:extLst>
                  </a:tr>
                  <a:tr h="1259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3700" i="1" smtClean="0">
                                        <a:latin typeface="Cambria Math" panose="02040503050406030204" pitchFamily="18" charset="0"/>
                                        <a:ea typeface="Cambria Math" panose="02040503050406030204" pitchFamily="18" charset="0"/>
                                      </a:rPr>
                                    </m:ctrlPr>
                                  </m:sSubPr>
                                  <m:e>
                                    <m:r>
                                      <a:rPr lang="en-US" sz="3700" i="1">
                                        <a:latin typeface="Cambria Math" panose="02040503050406030204" pitchFamily="18" charset="0"/>
                                        <a:ea typeface="Cambria Math" panose="02040503050406030204" pitchFamily="18" charset="0"/>
                                      </a:rPr>
                                      <m:t>ℋ</m:t>
                                    </m:r>
                                  </m:e>
                                  <m:sub>
                                    <m:r>
                                      <a:rPr lang="en-US" sz="3700" i="1">
                                        <a:latin typeface="Cambria Math" panose="02040503050406030204" pitchFamily="18" charset="0"/>
                                        <a:ea typeface="Cambria Math" panose="02040503050406030204" pitchFamily="18" charset="0"/>
                                      </a:rPr>
                                      <m:t>0</m:t>
                                    </m:r>
                                  </m:sub>
                                </m:sSub>
                                <m:r>
                                  <a:rPr lang="en-US" sz="3700" i="1">
                                    <a:latin typeface="Cambria Math" panose="02040503050406030204" pitchFamily="18" charset="0"/>
                                    <a:ea typeface="Cambria Math" panose="02040503050406030204" pitchFamily="18" charset="0"/>
                                  </a:rPr>
                                  <m:t>:</m:t>
                                </m:r>
                                <m:sSub>
                                  <m:sSubPr>
                                    <m:ctrlPr>
                                      <a:rPr lang="en-US" sz="3700" i="1">
                                        <a:latin typeface="Cambria Math" panose="02040503050406030204" pitchFamily="18" charset="0"/>
                                        <a:ea typeface="Cambria Math" panose="02040503050406030204" pitchFamily="18" charset="0"/>
                                      </a:rPr>
                                    </m:ctrlPr>
                                  </m:sSubPr>
                                  <m:e>
                                    <m:r>
                                      <a:rPr lang="en-US" sz="3700" b="0" i="1" smtClean="0">
                                        <a:latin typeface="Cambria Math" panose="02040503050406030204" pitchFamily="18" charset="0"/>
                                        <a:ea typeface="Cambria Math" panose="02040503050406030204" pitchFamily="18" charset="0"/>
                                      </a:rPr>
                                      <m:t>𝜃</m:t>
                                    </m:r>
                                  </m:e>
                                  <m:sub>
                                    <m:r>
                                      <a:rPr lang="en-US" sz="3700" i="1">
                                        <a:latin typeface="Cambria Math" panose="02040503050406030204" pitchFamily="18" charset="0"/>
                                        <a:ea typeface="Cambria Math" panose="02040503050406030204" pitchFamily="18" charset="0"/>
                                      </a:rPr>
                                      <m:t>𝑋</m:t>
                                    </m:r>
                                  </m:sub>
                                </m:sSub>
                                <m:r>
                                  <a:rPr lang="en-US" sz="3700" i="1">
                                    <a:latin typeface="Cambria Math" panose="02040503050406030204" pitchFamily="18" charset="0"/>
                                    <a:ea typeface="Cambria Math" panose="02040503050406030204" pitchFamily="18" charset="0"/>
                                  </a:rPr>
                                  <m:t>=</m:t>
                                </m:r>
                                <m:sSub>
                                  <m:sSubPr>
                                    <m:ctrlPr>
                                      <a:rPr lang="en-US" sz="3700" b="0" i="1" smtClean="0">
                                        <a:latin typeface="Cambria Math" panose="02040503050406030204" pitchFamily="18" charset="0"/>
                                        <a:ea typeface="Cambria Math" panose="02040503050406030204" pitchFamily="18" charset="0"/>
                                      </a:rPr>
                                    </m:ctrlPr>
                                  </m:sSubPr>
                                  <m:e>
                                    <m:r>
                                      <a:rPr lang="en-US" sz="3700" b="0" i="1" smtClean="0">
                                        <a:latin typeface="Cambria Math" panose="02040503050406030204" pitchFamily="18" charset="0"/>
                                        <a:ea typeface="Cambria Math" panose="02040503050406030204" pitchFamily="18" charset="0"/>
                                      </a:rPr>
                                      <m:t>𝜃</m:t>
                                    </m:r>
                                  </m:e>
                                  <m:sub>
                                    <m:r>
                                      <a:rPr lang="en-US" sz="3700" b="0" i="1" smtClean="0">
                                        <a:latin typeface="Cambria Math" panose="02040503050406030204" pitchFamily="18" charset="0"/>
                                        <a:ea typeface="Cambria Math" panose="02040503050406030204" pitchFamily="18" charset="0"/>
                                      </a:rPr>
                                      <m:t>0</m:t>
                                    </m:r>
                                  </m:sub>
                                </m:sSub>
                              </m:oMath>
                            </m:oMathPara>
                          </a14:m>
                          <a:endParaRPr lang="en-US" sz="3700" dirty="0"/>
                        </a:p>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3700" i="1">
                                        <a:latin typeface="Cambria Math" panose="02040503050406030204" pitchFamily="18" charset="0"/>
                                        <a:ea typeface="Cambria Math" panose="02040503050406030204" pitchFamily="18" charset="0"/>
                                      </a:rPr>
                                    </m:ctrlPr>
                                  </m:sSubPr>
                                  <m:e>
                                    <m:r>
                                      <a:rPr lang="en-US" sz="3700" i="1">
                                        <a:latin typeface="Cambria Math" panose="02040503050406030204" pitchFamily="18" charset="0"/>
                                        <a:ea typeface="Cambria Math" panose="02040503050406030204" pitchFamily="18" charset="0"/>
                                      </a:rPr>
                                      <m:t>ℋ</m:t>
                                    </m:r>
                                  </m:e>
                                  <m:sub>
                                    <m:r>
                                      <a:rPr lang="en-US" sz="3700" b="0" i="1" smtClean="0">
                                        <a:latin typeface="Cambria Math" panose="02040503050406030204" pitchFamily="18" charset="0"/>
                                        <a:ea typeface="Cambria Math" panose="02040503050406030204" pitchFamily="18" charset="0"/>
                                      </a:rPr>
                                      <m:t>1</m:t>
                                    </m:r>
                                  </m:sub>
                                </m:sSub>
                                <m:r>
                                  <a:rPr lang="en-US" sz="3700" i="1">
                                    <a:latin typeface="Cambria Math" panose="02040503050406030204" pitchFamily="18" charset="0"/>
                                    <a:ea typeface="Cambria Math" panose="02040503050406030204" pitchFamily="18" charset="0"/>
                                  </a:rPr>
                                  <m:t>:</m:t>
                                </m:r>
                                <m:sSub>
                                  <m:sSubPr>
                                    <m:ctrlPr>
                                      <a:rPr lang="en-US" sz="3700" b="0" i="1" smtClean="0">
                                        <a:latin typeface="Cambria Math" panose="02040503050406030204" pitchFamily="18" charset="0"/>
                                        <a:ea typeface="Cambria Math" panose="02040503050406030204" pitchFamily="18" charset="0"/>
                                      </a:rPr>
                                    </m:ctrlPr>
                                  </m:sSubPr>
                                  <m:e>
                                    <m:r>
                                      <a:rPr lang="en-US" sz="3700" b="0" i="1" smtClean="0">
                                        <a:latin typeface="Cambria Math" panose="02040503050406030204" pitchFamily="18" charset="0"/>
                                        <a:ea typeface="Cambria Math" panose="02040503050406030204" pitchFamily="18" charset="0"/>
                                      </a:rPr>
                                      <m:t>𝜃</m:t>
                                    </m:r>
                                  </m:e>
                                  <m:sub>
                                    <m:r>
                                      <a:rPr lang="en-US" sz="3700" dirty="0">
                                        <a:latin typeface="Cambria Math" panose="02040503050406030204" pitchFamily="18" charset="0"/>
                                      </a:rPr>
                                      <m:t>𝑋</m:t>
                                    </m:r>
                                  </m:sub>
                                </m:sSub>
                                <m:r>
                                  <a:rPr lang="en-US" sz="3700" b="0" i="0" dirty="0" smtClean="0">
                                    <a:latin typeface="Cambria Math" panose="02040503050406030204" pitchFamily="18" charset="0"/>
                                  </a:rPr>
                                  <m:t>&lt;</m:t>
                                </m:r>
                                <m:sSub>
                                  <m:sSubPr>
                                    <m:ctrlPr>
                                      <a:rPr lang="en-US" sz="3700" b="0" i="1" smtClean="0">
                                        <a:latin typeface="Cambria Math" panose="02040503050406030204" pitchFamily="18" charset="0"/>
                                        <a:ea typeface="Cambria Math" panose="02040503050406030204" pitchFamily="18" charset="0"/>
                                      </a:rPr>
                                    </m:ctrlPr>
                                  </m:sSubPr>
                                  <m:e>
                                    <m:r>
                                      <a:rPr lang="en-US" sz="3700" b="0" i="1" smtClean="0">
                                        <a:latin typeface="Cambria Math" panose="02040503050406030204" pitchFamily="18" charset="0"/>
                                        <a:ea typeface="Cambria Math" panose="02040503050406030204" pitchFamily="18" charset="0"/>
                                      </a:rPr>
                                      <m:t>𝜃</m:t>
                                    </m:r>
                                  </m:e>
                                  <m:sub>
                                    <m:r>
                                      <a:rPr lang="en-US" sz="3700" b="0" i="1" smtClean="0">
                                        <a:latin typeface="Cambria Math" panose="02040503050406030204" pitchFamily="18" charset="0"/>
                                        <a:ea typeface="Cambria Math" panose="02040503050406030204" pitchFamily="18" charset="0"/>
                                      </a:rPr>
                                      <m:t>0</m:t>
                                    </m:r>
                                  </m:sub>
                                </m:sSub>
                              </m:oMath>
                            </m:oMathPara>
                          </a14:m>
                          <a:endParaRPr lang="en-US" sz="3700" dirty="0"/>
                        </a:p>
                      </a:txBody>
                      <a:tcPr marL="121920" marR="121920" marT="60960" marB="60960"/>
                    </a:tc>
                    <a:extLst>
                      <a:ext uri="{0D108BD9-81ED-4DB2-BD59-A6C34878D82A}">
                        <a16:rowId xmlns:a16="http://schemas.microsoft.com/office/drawing/2014/main" val="1722191903"/>
                      </a:ext>
                    </a:extLst>
                  </a:tr>
                </a:tbl>
              </a:graphicData>
            </a:graphic>
          </p:graphicFrame>
        </mc:Choice>
        <mc:Fallback xmlns="">
          <p:graphicFrame>
            <p:nvGraphicFramePr>
              <p:cNvPr id="22" name="Table 21"/>
              <p:cNvGraphicFramePr>
                <a:graphicFrameLocks noGrp="1"/>
              </p:cNvGraphicFramePr>
              <p:nvPr/>
            </p:nvGraphicFramePr>
            <p:xfrm>
              <a:off x="248992" y="1287984"/>
              <a:ext cx="3732011" cy="1950720"/>
            </p:xfrm>
            <a:graphic>
              <a:graphicData uri="http://schemas.openxmlformats.org/drawingml/2006/table">
                <a:tbl>
                  <a:tblPr firstRow="1" bandRow="1">
                    <a:tableStyleId>{21E4AEA4-8DFA-4A89-87EB-49C32662AFE0}</a:tableStyleId>
                  </a:tblPr>
                  <a:tblGrid>
                    <a:gridCol w="3732011">
                      <a:extLst>
                        <a:ext uri="{9D8B030D-6E8A-4147-A177-3AD203B41FA5}">
                          <a16:colId xmlns:a16="http://schemas.microsoft.com/office/drawing/2014/main" val="2115607167"/>
                        </a:ext>
                      </a:extLst>
                    </a:gridCol>
                  </a:tblGrid>
                  <a:tr h="690880">
                    <a:tc>
                      <a:txBody>
                        <a:bodyPr/>
                        <a:lstStyle/>
                        <a:p>
                          <a:pPr algn="ctr"/>
                          <a:r>
                            <a:rPr lang="en-US" sz="3700" dirty="0"/>
                            <a:t>One-sided</a:t>
                          </a:r>
                        </a:p>
                      </a:txBody>
                      <a:tcPr marL="121920" marR="121920" marT="60960" marB="60960"/>
                    </a:tc>
                    <a:extLst>
                      <a:ext uri="{0D108BD9-81ED-4DB2-BD59-A6C34878D82A}">
                        <a16:rowId xmlns:a16="http://schemas.microsoft.com/office/drawing/2014/main" val="928464126"/>
                      </a:ext>
                    </a:extLst>
                  </a:tr>
                  <a:tr h="1259840">
                    <a:tc>
                      <a:txBody>
                        <a:bodyPr/>
                        <a:lstStyle/>
                        <a:p>
                          <a:endParaRPr lang="en-US"/>
                        </a:p>
                      </a:txBody>
                      <a:tcPr marL="121920" marR="121920" marT="60960" marB="60960">
                        <a:blipFill>
                          <a:blip r:embed="rId11"/>
                          <a:stretch>
                            <a:fillRect l="-339" t="-61000" r="-678" b="-2000"/>
                          </a:stretch>
                        </a:blipFill>
                      </a:tcPr>
                    </a:tc>
                    <a:extLst>
                      <a:ext uri="{0D108BD9-81ED-4DB2-BD59-A6C34878D82A}">
                        <a16:rowId xmlns:a16="http://schemas.microsoft.com/office/drawing/2014/main" val="1722191903"/>
                      </a:ext>
                    </a:extLst>
                  </a:tr>
                </a:tbl>
              </a:graphicData>
            </a:graphic>
          </p:graphicFrame>
        </mc:Fallback>
      </mc:AlternateContent>
      <mc:AlternateContent xmlns:mc="http://schemas.openxmlformats.org/markup-compatibility/2006" xmlns:a14="http://schemas.microsoft.com/office/drawing/2010/main">
        <mc:Choice Requires="a14">
          <p:sp>
            <p:nvSpPr>
              <p:cNvPr id="23" name="Rectangle 22"/>
              <p:cNvSpPr/>
              <p:nvPr/>
            </p:nvSpPr>
            <p:spPr>
              <a:xfrm>
                <a:off x="10527877" y="3821935"/>
                <a:ext cx="577146" cy="7489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267" i="1" dirty="0">
                          <a:latin typeface="Cambria Math" panose="02040503050406030204" pitchFamily="18" charset="0"/>
                        </a:rPr>
                        <m:t>𝑐</m:t>
                      </m:r>
                    </m:oMath>
                  </m:oMathPara>
                </a14:m>
                <a:endParaRPr lang="en-US" sz="4267" dirty="0"/>
              </a:p>
            </p:txBody>
          </p:sp>
        </mc:Choice>
        <mc:Fallback xmlns="">
          <p:sp>
            <p:nvSpPr>
              <p:cNvPr id="23" name="Rectangle 22"/>
              <p:cNvSpPr>
                <a:spLocks noRot="1" noChangeAspect="1" noMove="1" noResize="1" noEditPoints="1" noAdjustHandles="1" noChangeArrowheads="1" noChangeShapeType="1" noTextEdit="1"/>
              </p:cNvSpPr>
              <p:nvPr/>
            </p:nvSpPr>
            <p:spPr>
              <a:xfrm>
                <a:off x="10527877" y="3821935"/>
                <a:ext cx="577146" cy="748988"/>
              </a:xfrm>
              <a:prstGeom prst="rect">
                <a:avLst/>
              </a:prstGeom>
              <a:blipFill>
                <a:blip r:embed="rId12"/>
                <a:stretch>
                  <a:fillRect/>
                </a:stretch>
              </a:blipFill>
            </p:spPr>
            <p:txBody>
              <a:bodyPr/>
              <a:lstStyle/>
              <a:p>
                <a:r>
                  <a:rPr lang="en-US">
                    <a:noFill/>
                  </a:rPr>
                  <a:t> </a:t>
                </a:r>
              </a:p>
            </p:txBody>
          </p:sp>
        </mc:Fallback>
      </mc:AlternateContent>
      <p:sp>
        <p:nvSpPr>
          <p:cNvPr id="25" name="Rounded Rectangle 24"/>
          <p:cNvSpPr/>
          <p:nvPr/>
        </p:nvSpPr>
        <p:spPr>
          <a:xfrm>
            <a:off x="4981280" y="5623703"/>
            <a:ext cx="2361265" cy="490484"/>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Critical region</a:t>
            </a:r>
          </a:p>
        </p:txBody>
      </p:sp>
      <p:sp>
        <p:nvSpPr>
          <p:cNvPr id="26" name="Rounded Rectangle 25"/>
          <p:cNvSpPr/>
          <p:nvPr/>
        </p:nvSpPr>
        <p:spPr>
          <a:xfrm>
            <a:off x="940968" y="5623702"/>
            <a:ext cx="2361265" cy="490484"/>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Critical region</a:t>
            </a:r>
          </a:p>
        </p:txBody>
      </p:sp>
      <p:sp>
        <p:nvSpPr>
          <p:cNvPr id="27" name="Rounded Rectangle 26"/>
          <p:cNvSpPr/>
          <p:nvPr/>
        </p:nvSpPr>
        <p:spPr>
          <a:xfrm>
            <a:off x="8948588" y="5623702"/>
            <a:ext cx="2361265" cy="490484"/>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Critical region</a:t>
            </a:r>
          </a:p>
        </p:txBody>
      </p:sp>
      <mc:AlternateContent xmlns:mc="http://schemas.openxmlformats.org/markup-compatibility/2006" xmlns:a14="http://schemas.microsoft.com/office/drawing/2010/main">
        <mc:Choice Requires="a14">
          <p:sp>
            <p:nvSpPr>
              <p:cNvPr id="28" name="Rectangle 27"/>
              <p:cNvSpPr/>
              <p:nvPr/>
            </p:nvSpPr>
            <p:spPr>
              <a:xfrm>
                <a:off x="1139082" y="3821935"/>
                <a:ext cx="577146" cy="7489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267" i="1" dirty="0">
                          <a:latin typeface="Cambria Math" panose="02040503050406030204" pitchFamily="18" charset="0"/>
                        </a:rPr>
                        <m:t>𝑐</m:t>
                      </m:r>
                    </m:oMath>
                  </m:oMathPara>
                </a14:m>
                <a:endParaRPr lang="en-US" sz="4267" dirty="0"/>
              </a:p>
            </p:txBody>
          </p:sp>
        </mc:Choice>
        <mc:Fallback xmlns="">
          <p:sp>
            <p:nvSpPr>
              <p:cNvPr id="28" name="Rectangle 27"/>
              <p:cNvSpPr>
                <a:spLocks noRot="1" noChangeAspect="1" noMove="1" noResize="1" noEditPoints="1" noAdjustHandles="1" noChangeArrowheads="1" noChangeShapeType="1" noTextEdit="1"/>
              </p:cNvSpPr>
              <p:nvPr/>
            </p:nvSpPr>
            <p:spPr>
              <a:xfrm>
                <a:off x="1139082" y="3821935"/>
                <a:ext cx="577146" cy="748988"/>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p:cNvSpPr/>
              <p:nvPr/>
            </p:nvSpPr>
            <p:spPr>
              <a:xfrm>
                <a:off x="5275367" y="3821935"/>
                <a:ext cx="577146" cy="7489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267" i="1" dirty="0">
                          <a:latin typeface="Cambria Math" panose="02040503050406030204" pitchFamily="18" charset="0"/>
                        </a:rPr>
                        <m:t>𝑐</m:t>
                      </m:r>
                    </m:oMath>
                  </m:oMathPara>
                </a14:m>
                <a:endParaRPr lang="en-US" sz="4267" dirty="0"/>
              </a:p>
            </p:txBody>
          </p:sp>
        </mc:Choice>
        <mc:Fallback xmlns="">
          <p:sp>
            <p:nvSpPr>
              <p:cNvPr id="29" name="Rectangle 28"/>
              <p:cNvSpPr>
                <a:spLocks noRot="1" noChangeAspect="1" noMove="1" noResize="1" noEditPoints="1" noAdjustHandles="1" noChangeArrowheads="1" noChangeShapeType="1" noTextEdit="1"/>
              </p:cNvSpPr>
              <p:nvPr/>
            </p:nvSpPr>
            <p:spPr>
              <a:xfrm>
                <a:off x="5275367" y="3821935"/>
                <a:ext cx="577146" cy="748988"/>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p:cNvSpPr/>
              <p:nvPr/>
            </p:nvSpPr>
            <p:spPr>
              <a:xfrm>
                <a:off x="6542533" y="3821933"/>
                <a:ext cx="577146" cy="7489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267" i="1" dirty="0">
                          <a:latin typeface="Cambria Math" panose="02040503050406030204" pitchFamily="18" charset="0"/>
                        </a:rPr>
                        <m:t>𝑐</m:t>
                      </m:r>
                    </m:oMath>
                  </m:oMathPara>
                </a14:m>
                <a:endParaRPr lang="en-US" sz="4267" dirty="0"/>
              </a:p>
            </p:txBody>
          </p:sp>
        </mc:Choice>
        <mc:Fallback xmlns="">
          <p:sp>
            <p:nvSpPr>
              <p:cNvPr id="30" name="Rectangle 29"/>
              <p:cNvSpPr>
                <a:spLocks noRot="1" noChangeAspect="1" noMove="1" noResize="1" noEditPoints="1" noAdjustHandles="1" noChangeArrowheads="1" noChangeShapeType="1" noTextEdit="1"/>
              </p:cNvSpPr>
              <p:nvPr/>
            </p:nvSpPr>
            <p:spPr>
              <a:xfrm>
                <a:off x="6542533" y="3821933"/>
                <a:ext cx="577146" cy="748988"/>
              </a:xfrm>
              <a:prstGeom prst="rect">
                <a:avLst/>
              </a:prstGeom>
              <a:blipFill>
                <a:blip r:embed="rId1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32368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C5A63-3AB2-1AF2-5CC6-2C7370B2244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46606D-44C2-16C0-9939-FBA89BB4B5A7}"/>
              </a:ext>
            </a:extLst>
          </p:cNvPr>
          <p:cNvSpPr>
            <a:spLocks noGrp="1"/>
          </p:cNvSpPr>
          <p:nvPr>
            <p:ph idx="1"/>
          </p:nvPr>
        </p:nvSpPr>
        <p:spPr>
          <a:xfrm>
            <a:off x="480002" y="2775857"/>
            <a:ext cx="11102398" cy="2965292"/>
          </a:xfrm>
        </p:spPr>
        <p:txBody>
          <a:bodyPr/>
          <a:lstStyle/>
          <a:p>
            <a:endParaRPr lang="en-US" sz="3200" dirty="0"/>
          </a:p>
        </p:txBody>
      </p:sp>
      <p:sp>
        <p:nvSpPr>
          <p:cNvPr id="2" name="Title 1">
            <a:extLst>
              <a:ext uri="{FF2B5EF4-FFF2-40B4-BE49-F238E27FC236}">
                <a16:creationId xmlns:a16="http://schemas.microsoft.com/office/drawing/2014/main" id="{14416007-5C8E-9418-B4AC-62B02E22285D}"/>
              </a:ext>
            </a:extLst>
          </p:cNvPr>
          <p:cNvSpPr>
            <a:spLocks noGrp="1"/>
          </p:cNvSpPr>
          <p:nvPr>
            <p:ph type="title"/>
          </p:nvPr>
        </p:nvSpPr>
        <p:spPr/>
        <p:txBody>
          <a:bodyPr>
            <a:normAutofit/>
          </a:bodyPr>
          <a:lstStyle/>
          <a:p>
            <a:r>
              <a:rPr lang="en-US" dirty="0"/>
              <a:t>What is a P-value?</a:t>
            </a:r>
          </a:p>
        </p:txBody>
      </p:sp>
      <mc:AlternateContent xmlns:mc="http://schemas.openxmlformats.org/markup-compatibility/2006" xmlns:a14="http://schemas.microsoft.com/office/drawing/2010/main">
        <mc:Choice Requires="a14">
          <p:graphicFrame>
            <p:nvGraphicFramePr>
              <p:cNvPr id="4" name="Content Placeholder 5">
                <a:extLst>
                  <a:ext uri="{FF2B5EF4-FFF2-40B4-BE49-F238E27FC236}">
                    <a16:creationId xmlns:a16="http://schemas.microsoft.com/office/drawing/2014/main" id="{3F7F0514-E312-6071-2090-BF99EA55F31A}"/>
                  </a:ext>
                </a:extLst>
              </p:cNvPr>
              <p:cNvGraphicFramePr>
                <a:graphicFrameLocks/>
              </p:cNvGraphicFramePr>
              <p:nvPr>
                <p:extLst>
                  <p:ext uri="{D42A27DB-BD31-4B8C-83A1-F6EECF244321}">
                    <p14:modId xmlns:p14="http://schemas.microsoft.com/office/powerpoint/2010/main" val="915836586"/>
                  </p:ext>
                </p:extLst>
              </p:nvPr>
            </p:nvGraphicFramePr>
            <p:xfrm>
              <a:off x="480001" y="1116851"/>
              <a:ext cx="10889710" cy="5120640"/>
            </p:xfrm>
            <a:graphic>
              <a:graphicData uri="http://schemas.openxmlformats.org/drawingml/2006/table">
                <a:tbl>
                  <a:tblPr firstRow="1" bandRow="1">
                    <a:tableStyleId>{5C22544A-7EE6-4342-B048-85BDC9FD1C3A}</a:tableStyleId>
                  </a:tblPr>
                  <a:tblGrid>
                    <a:gridCol w="10889710">
                      <a:extLst>
                        <a:ext uri="{9D8B030D-6E8A-4147-A177-3AD203B41FA5}">
                          <a16:colId xmlns:a16="http://schemas.microsoft.com/office/drawing/2014/main" val="2806566759"/>
                        </a:ext>
                      </a:extLst>
                    </a:gridCol>
                  </a:tblGrid>
                  <a:tr h="43517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dirty="0"/>
                            <a:t>Definition</a:t>
                          </a:r>
                        </a:p>
                      </a:txBody>
                      <a:tcPr>
                        <a:solidFill>
                          <a:srgbClr val="E84E10"/>
                        </a:solidFill>
                      </a:tcPr>
                    </a:tc>
                    <a:extLst>
                      <a:ext uri="{0D108BD9-81ED-4DB2-BD59-A6C34878D82A}">
                        <a16:rowId xmlns:a16="http://schemas.microsoft.com/office/drawing/2014/main" val="4282699494"/>
                      </a:ext>
                    </a:extLst>
                  </a:tr>
                  <a:tr h="985361">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sz="2800" b="1" dirty="0"/>
                            <a:t>P-value</a:t>
                          </a:r>
                          <a:r>
                            <a:rPr lang="en-US" sz="2800" b="0" dirty="0"/>
                            <a:t>: </a:t>
                          </a:r>
                          <a:r>
                            <a:rPr lang="en-US" sz="2800" dirty="0"/>
                            <a:t>P-value is the probability of, under the null hypothesis, getting at least as extreme a value as I did in the data</a:t>
                          </a:r>
                          <a:r>
                            <a:rPr lang="en-US" sz="2400" b="0" i="0" kern="1200" dirty="0">
                              <a:solidFill>
                                <a:schemeClr val="dk1"/>
                              </a:solidFill>
                              <a:effectLst/>
                              <a:latin typeface="+mn-lt"/>
                              <a:ea typeface="+mn-ea"/>
                              <a:cs typeface="+mn-cs"/>
                            </a:rPr>
                            <a:t>. </a:t>
                          </a:r>
                        </a:p>
                        <a:p>
                          <a:pPr marL="0" marR="0" lvl="0" indent="0" algn="l" defTabSz="609585" rtl="0" eaLnBrk="1" fontAlgn="auto" latinLnBrk="0" hangingPunct="1">
                            <a:lnSpc>
                              <a:spcPct val="100000"/>
                            </a:lnSpc>
                            <a:spcBef>
                              <a:spcPts val="0"/>
                            </a:spcBef>
                            <a:spcAft>
                              <a:spcPts val="0"/>
                            </a:spcAft>
                            <a:buClrTx/>
                            <a:buSzTx/>
                            <a:buFontTx/>
                            <a:buNone/>
                            <a:tabLst/>
                            <a:defRPr/>
                          </a:pPr>
                          <a:endParaRPr lang="en-US" sz="2400" b="0" i="0" kern="1200" dirty="0">
                            <a:solidFill>
                              <a:schemeClr val="dk1"/>
                            </a:solidFill>
                            <a:effectLst/>
                            <a:latin typeface="+mn-lt"/>
                            <a:ea typeface="+mn-ea"/>
                            <a:cs typeface="+mn-cs"/>
                          </a:endParaRPr>
                        </a:p>
                        <a:p>
                          <a:pPr marL="0" marR="0" lvl="0" indent="0" algn="just" defTabSz="609585" rtl="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For a null hypothesis </a:t>
                          </a:r>
                          <a:r>
                            <a:rPr lang="en-US" sz="2400" b="0" i="1" kern="1200" dirty="0">
                              <a:solidFill>
                                <a:schemeClr val="dk1"/>
                              </a:solidFill>
                              <a:effectLst/>
                              <a:latin typeface="+mn-lt"/>
                              <a:ea typeface="+mn-ea"/>
                              <a:cs typeface="+mn-cs"/>
                            </a:rPr>
                            <a:t>H</a:t>
                          </a:r>
                          <a:r>
                            <a:rPr lang="en-US" sz="2400" b="0" i="0" kern="1200" baseline="-25000" dirty="0">
                              <a:solidFill>
                                <a:schemeClr val="dk1"/>
                              </a:solidFill>
                              <a:effectLst/>
                              <a:latin typeface="+mn-lt"/>
                              <a:ea typeface="+mn-ea"/>
                              <a:cs typeface="+mn-cs"/>
                            </a:rPr>
                            <a:t>0</a:t>
                          </a:r>
                          <a:r>
                            <a:rPr lang="en-US" sz="2400" b="0" i="0" kern="1200" dirty="0">
                              <a:solidFill>
                                <a:schemeClr val="dk1"/>
                              </a:solidFill>
                              <a:effectLst/>
                              <a:latin typeface="+mn-lt"/>
                              <a:ea typeface="+mn-ea"/>
                              <a:cs typeface="+mn-cs"/>
                            </a:rPr>
                            <a:t>, let </a:t>
                          </a:r>
                          <a:r>
                            <a:rPr lang="en-US" sz="2400" b="0" i="1" kern="1200" dirty="0">
                              <a:solidFill>
                                <a:schemeClr val="dk1"/>
                              </a:solidFill>
                              <a:effectLst/>
                              <a:latin typeface="+mn-lt"/>
                              <a:ea typeface="+mn-ea"/>
                              <a:cs typeface="+mn-cs"/>
                            </a:rPr>
                            <a:t>T(X)</a:t>
                          </a:r>
                          <a:r>
                            <a:rPr lang="en-US" sz="2400" b="0" i="0" kern="1200" dirty="0">
                              <a:solidFill>
                                <a:schemeClr val="dk1"/>
                              </a:solidFill>
                              <a:effectLst/>
                              <a:latin typeface="+mn-lt"/>
                              <a:ea typeface="+mn-ea"/>
                              <a:cs typeface="+mn-cs"/>
                            </a:rPr>
                            <a:t> be a statistic (like a mean) for which large values indicate inconsistency with </a:t>
                          </a:r>
                          <a:r>
                            <a:rPr lang="en-US" sz="2400" b="0" i="1" kern="1200" dirty="0">
                              <a:solidFill>
                                <a:schemeClr val="dk1"/>
                              </a:solidFill>
                              <a:effectLst/>
                              <a:latin typeface="+mn-lt"/>
                              <a:ea typeface="+mn-ea"/>
                              <a:cs typeface="+mn-cs"/>
                            </a:rPr>
                            <a:t>H</a:t>
                          </a:r>
                          <a:r>
                            <a:rPr lang="en-US" sz="2400" b="0" i="0" kern="1200" baseline="-25000" dirty="0">
                              <a:solidFill>
                                <a:schemeClr val="dk1"/>
                              </a:solidFill>
                              <a:effectLst/>
                              <a:latin typeface="+mn-lt"/>
                              <a:ea typeface="+mn-ea"/>
                              <a:cs typeface="+mn-cs"/>
                            </a:rPr>
                            <a:t>0</a:t>
                          </a:r>
                          <a:r>
                            <a:rPr lang="en-US" sz="2400" b="0" i="0" kern="1200" dirty="0">
                              <a:solidFill>
                                <a:schemeClr val="dk1"/>
                              </a:solidFill>
                              <a:effectLst/>
                              <a:latin typeface="+mn-lt"/>
                              <a:ea typeface="+mn-ea"/>
                              <a:cs typeface="+mn-cs"/>
                            </a:rPr>
                            <a:t>. Suppose we observe a value </a:t>
                          </a:r>
                          <a:r>
                            <a:rPr lang="en-US" sz="2400" b="0" i="1" kern="1200" dirty="0">
                              <a:solidFill>
                                <a:schemeClr val="dk1"/>
                              </a:solidFill>
                              <a:effectLst/>
                              <a:latin typeface="+mn-lt"/>
                              <a:ea typeface="+mn-ea"/>
                              <a:cs typeface="+mn-cs"/>
                            </a:rPr>
                            <a:t>t</a:t>
                          </a:r>
                          <a:r>
                            <a:rPr lang="en-US" sz="2400" b="0" i="0" kern="1200" dirty="0">
                              <a:solidFill>
                                <a:schemeClr val="dk1"/>
                              </a:solidFill>
                              <a:effectLst/>
                              <a:latin typeface="+mn-lt"/>
                              <a:ea typeface="+mn-ea"/>
                              <a:cs typeface="+mn-cs"/>
                            </a:rPr>
                            <a:t>. Then a (one-sided) P-value is the probability of observing such an extreme value, were </a:t>
                          </a:r>
                          <a:r>
                            <a:rPr lang="en-US" sz="2400" b="0" i="1" kern="1200" dirty="0">
                              <a:solidFill>
                                <a:schemeClr val="dk1"/>
                              </a:solidFill>
                              <a:effectLst/>
                              <a:latin typeface="+mn-lt"/>
                              <a:ea typeface="+mn-ea"/>
                              <a:cs typeface="+mn-cs"/>
                            </a:rPr>
                            <a:t>H</a:t>
                          </a:r>
                          <a:r>
                            <a:rPr lang="en-US" sz="2400" b="0" i="0" kern="1200" baseline="-25000" dirty="0">
                              <a:solidFill>
                                <a:schemeClr val="dk1"/>
                              </a:solidFill>
                              <a:effectLst/>
                              <a:latin typeface="+mn-lt"/>
                              <a:ea typeface="+mn-ea"/>
                              <a:cs typeface="+mn-cs"/>
                            </a:rPr>
                            <a:t>0</a:t>
                          </a:r>
                          <a:r>
                            <a:rPr lang="en-US" sz="2400" b="0" i="0" kern="1200" dirty="0">
                              <a:solidFill>
                                <a:schemeClr val="dk1"/>
                              </a:solidFill>
                              <a:effectLst/>
                              <a:latin typeface="+mn-lt"/>
                              <a:ea typeface="+mn-ea"/>
                              <a:cs typeface="+mn-cs"/>
                            </a:rPr>
                            <a:t> true, that is </a:t>
                          </a:r>
                          <a:r>
                            <a:rPr lang="en-US" sz="2400" b="0" i="1" kern="1200" dirty="0">
                              <a:solidFill>
                                <a:schemeClr val="dk1"/>
                              </a:solidFill>
                              <a:effectLst/>
                              <a:latin typeface="+mn-lt"/>
                              <a:ea typeface="+mn-ea"/>
                              <a:cs typeface="+mn-cs"/>
                            </a:rPr>
                            <a:t>P</a:t>
                          </a:r>
                          <a:r>
                            <a:rPr lang="en-US" sz="2400" b="0" i="0" kern="1200" dirty="0">
                              <a:solidFill>
                                <a:schemeClr val="dk1"/>
                              </a:solidFill>
                              <a:effectLst/>
                              <a:latin typeface="+mn-lt"/>
                              <a:ea typeface="+mn-ea"/>
                              <a:cs typeface="+mn-cs"/>
                            </a:rPr>
                            <a:t>(</a:t>
                          </a:r>
                          <a:r>
                            <a:rPr lang="en-US" sz="2400" b="0" i="1" kern="1200" dirty="0">
                              <a:solidFill>
                                <a:schemeClr val="dk1"/>
                              </a:solidFill>
                              <a:effectLst/>
                              <a:latin typeface="+mn-lt"/>
                              <a:ea typeface="+mn-ea"/>
                              <a:cs typeface="+mn-cs"/>
                            </a:rPr>
                            <a:t>T(X)</a:t>
                          </a:r>
                          <a:r>
                            <a:rPr lang="en-US" sz="2400" b="0" i="0" kern="1200" dirty="0">
                              <a:solidFill>
                                <a:schemeClr val="dk1"/>
                              </a:solidFill>
                              <a:effectLst/>
                              <a:latin typeface="+mn-lt"/>
                              <a:ea typeface="+mn-ea"/>
                              <a:cs typeface="+mn-cs"/>
                            </a:rPr>
                            <a:t> ≥ </a:t>
                          </a:r>
                          <a:r>
                            <a:rPr lang="en-US" sz="2400" b="0" i="1" kern="1200" dirty="0">
                              <a:solidFill>
                                <a:schemeClr val="dk1"/>
                              </a:solidFill>
                              <a:effectLst/>
                              <a:latin typeface="+mn-lt"/>
                              <a:ea typeface="+mn-ea"/>
                              <a:cs typeface="+mn-cs"/>
                            </a:rPr>
                            <a:t>T(</a:t>
                          </a:r>
                          <a14:m>
                            <m:oMath xmlns:m="http://schemas.openxmlformats.org/officeDocument/2006/math">
                              <m:sSub>
                                <m:sSubPr>
                                  <m:ctrlPr>
                                    <a:rPr lang="en-US" sz="2400" b="0" i="1" kern="1200" smtClean="0">
                                      <a:solidFill>
                                        <a:schemeClr val="dk1"/>
                                      </a:solidFill>
                                      <a:effectLst/>
                                      <a:latin typeface="Cambria Math" panose="02040503050406030204" pitchFamily="18" charset="0"/>
                                      <a:ea typeface="+mn-ea"/>
                                      <a:cs typeface="+mn-cs"/>
                                    </a:rPr>
                                  </m:ctrlPr>
                                </m:sSubPr>
                                <m:e>
                                  <m:r>
                                    <a:rPr lang="en-US" sz="2400" b="0" i="1" kern="1200" smtClean="0">
                                      <a:solidFill>
                                        <a:schemeClr val="dk1"/>
                                      </a:solidFill>
                                      <a:effectLst/>
                                      <a:latin typeface="Cambria Math" panose="02040503050406030204" pitchFamily="18" charset="0"/>
                                      <a:ea typeface="+mn-ea"/>
                                      <a:cs typeface="+mn-cs"/>
                                    </a:rPr>
                                    <m:t>𝑥</m:t>
                                  </m:r>
                                </m:e>
                                <m:sub>
                                  <m:r>
                                    <a:rPr lang="en-US" sz="2400" b="0" i="1" kern="1200" smtClean="0">
                                      <a:solidFill>
                                        <a:schemeClr val="dk1"/>
                                      </a:solidFill>
                                      <a:effectLst/>
                                      <a:latin typeface="Cambria Math" panose="02040503050406030204" pitchFamily="18" charset="0"/>
                                      <a:ea typeface="+mn-ea"/>
                                      <a:cs typeface="+mn-cs"/>
                                    </a:rPr>
                                    <m:t>𝑜𝑏𝑠</m:t>
                                  </m:r>
                                </m:sub>
                              </m:sSub>
                            </m:oMath>
                          </a14:m>
                          <a:r>
                            <a:rPr lang="en-US" sz="2400" b="0" i="0" kern="1200" dirty="0">
                              <a:solidFill>
                                <a:schemeClr val="dk1"/>
                              </a:solidFill>
                              <a:effectLst/>
                              <a:latin typeface="+mn-lt"/>
                              <a:ea typeface="+mn-ea"/>
                              <a:cs typeface="+mn-cs"/>
                            </a:rPr>
                            <a:t>)|</a:t>
                          </a:r>
                          <a:r>
                            <a:rPr lang="en-US" sz="2400" b="0" i="1" kern="1200" dirty="0">
                              <a:solidFill>
                                <a:schemeClr val="dk1"/>
                              </a:solidFill>
                              <a:effectLst/>
                              <a:latin typeface="+mn-lt"/>
                              <a:ea typeface="+mn-ea"/>
                              <a:cs typeface="+mn-cs"/>
                            </a:rPr>
                            <a:t>H</a:t>
                          </a:r>
                          <a:r>
                            <a:rPr lang="en-US" sz="2400" b="0" i="0" kern="1200" baseline="-25000" dirty="0">
                              <a:solidFill>
                                <a:schemeClr val="dk1"/>
                              </a:solidFill>
                              <a:effectLst/>
                              <a:latin typeface="+mn-lt"/>
                              <a:ea typeface="+mn-ea"/>
                              <a:cs typeface="+mn-cs"/>
                            </a:rPr>
                            <a:t>0</a:t>
                          </a:r>
                          <a:r>
                            <a:rPr lang="en-US" sz="2400" b="0" i="0" kern="1200" dirty="0">
                              <a:solidFill>
                                <a:schemeClr val="dk1"/>
                              </a:solidFill>
                              <a:effectLst/>
                              <a:latin typeface="+mn-lt"/>
                              <a:ea typeface="+mn-ea"/>
                              <a:cs typeface="+mn-cs"/>
                            </a:rPr>
                            <a:t>). </a:t>
                          </a:r>
                        </a:p>
                        <a:p>
                          <a:pPr marL="0" marR="0" lvl="0" indent="0" algn="just" defTabSz="609585" rtl="0" eaLnBrk="1" fontAlgn="auto" latinLnBrk="0" hangingPunct="1">
                            <a:lnSpc>
                              <a:spcPct val="100000"/>
                            </a:lnSpc>
                            <a:spcBef>
                              <a:spcPts val="0"/>
                            </a:spcBef>
                            <a:spcAft>
                              <a:spcPts val="0"/>
                            </a:spcAft>
                            <a:buClrTx/>
                            <a:buSzTx/>
                            <a:buFontTx/>
                            <a:buNone/>
                            <a:tabLst/>
                            <a:defRPr/>
                          </a:pPr>
                          <a:br>
                            <a:rPr lang="en-US" sz="2400" b="0" i="0" kern="1200" dirty="0">
                              <a:solidFill>
                                <a:schemeClr val="dk1"/>
                              </a:solidFill>
                              <a:effectLst/>
                              <a:latin typeface="+mn-lt"/>
                              <a:ea typeface="+mn-ea"/>
                              <a:cs typeface="+mn-cs"/>
                            </a:rPr>
                          </a:br>
                          <a:r>
                            <a:rPr lang="en-US" sz="2400" b="0" i="0" kern="1200" dirty="0">
                              <a:solidFill>
                                <a:schemeClr val="dk1"/>
                              </a:solidFill>
                              <a:effectLst/>
                              <a:latin typeface="+mn-lt"/>
                              <a:ea typeface="+mn-ea"/>
                              <a:cs typeface="+mn-cs"/>
                            </a:rPr>
                            <a:t>If both small and large values of </a:t>
                          </a:r>
                          <a:r>
                            <a:rPr lang="en-US" sz="2400" b="0" i="1" kern="1200" dirty="0">
                              <a:solidFill>
                                <a:schemeClr val="dk1"/>
                              </a:solidFill>
                              <a:effectLst/>
                              <a:latin typeface="+mn-lt"/>
                              <a:ea typeface="+mn-ea"/>
                              <a:cs typeface="+mn-cs"/>
                            </a:rPr>
                            <a:t>T</a:t>
                          </a:r>
                          <a:r>
                            <a:rPr lang="en-US" sz="2400" b="0" i="0" kern="1200" dirty="0">
                              <a:solidFill>
                                <a:schemeClr val="dk1"/>
                              </a:solidFill>
                              <a:effectLst/>
                              <a:latin typeface="+mn-lt"/>
                              <a:ea typeface="+mn-ea"/>
                              <a:cs typeface="+mn-cs"/>
                            </a:rPr>
                            <a:t> indicate inconsistency with </a:t>
                          </a:r>
                          <a:r>
                            <a:rPr lang="en-US" sz="2400" b="0" i="1" kern="1200" dirty="0">
                              <a:solidFill>
                                <a:schemeClr val="dk1"/>
                              </a:solidFill>
                              <a:effectLst/>
                              <a:latin typeface="+mn-lt"/>
                              <a:ea typeface="+mn-ea"/>
                              <a:cs typeface="+mn-cs"/>
                            </a:rPr>
                            <a:t>H</a:t>
                          </a:r>
                          <a:r>
                            <a:rPr lang="en-US" sz="2400" b="0" i="0" kern="1200" baseline="-25000" dirty="0">
                              <a:solidFill>
                                <a:schemeClr val="dk1"/>
                              </a:solidFill>
                              <a:effectLst/>
                              <a:latin typeface="+mn-lt"/>
                              <a:ea typeface="+mn-ea"/>
                              <a:cs typeface="+mn-cs"/>
                            </a:rPr>
                            <a:t>0</a:t>
                          </a:r>
                          <a:r>
                            <a:rPr lang="en-US" sz="2400" b="0" i="0" kern="1200" dirty="0">
                              <a:solidFill>
                                <a:schemeClr val="dk1"/>
                              </a:solidFill>
                              <a:effectLst/>
                              <a:latin typeface="+mn-lt"/>
                              <a:ea typeface="+mn-ea"/>
                              <a:cs typeface="+mn-cs"/>
                            </a:rPr>
                            <a:t>, then the two-sided P-value is the probability of observing such a large value in either direction. Often the two-sided P-value is simply taken as double the one-sided P-value, this works if the distribution is symmetric across the median.</a:t>
                          </a:r>
                          <a:endParaRPr lang="en-US" sz="2400" dirty="0"/>
                        </a:p>
                      </a:txBody>
                      <a:tcPr>
                        <a:solidFill>
                          <a:srgbClr val="F6D0CC"/>
                        </a:solidFill>
                      </a:tcPr>
                    </a:tc>
                    <a:extLst>
                      <a:ext uri="{0D108BD9-81ED-4DB2-BD59-A6C34878D82A}">
                        <a16:rowId xmlns:a16="http://schemas.microsoft.com/office/drawing/2014/main" val="2257841623"/>
                      </a:ext>
                    </a:extLst>
                  </a:tr>
                </a:tbl>
              </a:graphicData>
            </a:graphic>
          </p:graphicFrame>
        </mc:Choice>
        <mc:Fallback xmlns="">
          <p:graphicFrame>
            <p:nvGraphicFramePr>
              <p:cNvPr id="4" name="Content Placeholder 5">
                <a:extLst>
                  <a:ext uri="{FF2B5EF4-FFF2-40B4-BE49-F238E27FC236}">
                    <a16:creationId xmlns:a16="http://schemas.microsoft.com/office/drawing/2014/main" id="{3F7F0514-E312-6071-2090-BF99EA55F31A}"/>
                  </a:ext>
                </a:extLst>
              </p:cNvPr>
              <p:cNvGraphicFramePr>
                <a:graphicFrameLocks/>
              </p:cNvGraphicFramePr>
              <p:nvPr>
                <p:extLst>
                  <p:ext uri="{D42A27DB-BD31-4B8C-83A1-F6EECF244321}">
                    <p14:modId xmlns:p14="http://schemas.microsoft.com/office/powerpoint/2010/main" val="915836586"/>
                  </p:ext>
                </p:extLst>
              </p:nvPr>
            </p:nvGraphicFramePr>
            <p:xfrm>
              <a:off x="480001" y="1116851"/>
              <a:ext cx="10889710" cy="5120640"/>
            </p:xfrm>
            <a:graphic>
              <a:graphicData uri="http://schemas.openxmlformats.org/drawingml/2006/table">
                <a:tbl>
                  <a:tblPr firstRow="1" bandRow="1">
                    <a:tableStyleId>{5C22544A-7EE6-4342-B048-85BDC9FD1C3A}</a:tableStyleId>
                  </a:tblPr>
                  <a:tblGrid>
                    <a:gridCol w="10889710">
                      <a:extLst>
                        <a:ext uri="{9D8B030D-6E8A-4147-A177-3AD203B41FA5}">
                          <a16:colId xmlns:a16="http://schemas.microsoft.com/office/drawing/2014/main" val="2806566759"/>
                        </a:ext>
                      </a:extLst>
                    </a:gridCol>
                  </a:tblGrid>
                  <a:tr h="51816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dirty="0"/>
                            <a:t>Definition</a:t>
                          </a:r>
                        </a:p>
                      </a:txBody>
                      <a:tcPr>
                        <a:solidFill>
                          <a:srgbClr val="E84E10"/>
                        </a:solidFill>
                      </a:tcPr>
                    </a:tc>
                    <a:extLst>
                      <a:ext uri="{0D108BD9-81ED-4DB2-BD59-A6C34878D82A}">
                        <a16:rowId xmlns:a16="http://schemas.microsoft.com/office/drawing/2014/main" val="4282699494"/>
                      </a:ext>
                    </a:extLst>
                  </a:tr>
                  <a:tr h="4602480">
                    <a:tc>
                      <a:txBody>
                        <a:bodyPr/>
                        <a:lstStyle/>
                        <a:p>
                          <a:endParaRPr lang="en-US"/>
                        </a:p>
                      </a:txBody>
                      <a:tcPr>
                        <a:blipFill>
                          <a:blip r:embed="rId3"/>
                          <a:stretch>
                            <a:fillRect l="-116" t="-12363" r="-233" b="-3022"/>
                          </a:stretch>
                        </a:blipFill>
                      </a:tcPr>
                    </a:tc>
                    <a:extLst>
                      <a:ext uri="{0D108BD9-81ED-4DB2-BD59-A6C34878D82A}">
                        <a16:rowId xmlns:a16="http://schemas.microsoft.com/office/drawing/2014/main" val="2257841623"/>
                      </a:ext>
                    </a:extLst>
                  </a:tr>
                </a:tbl>
              </a:graphicData>
            </a:graphic>
          </p:graphicFrame>
        </mc:Fallback>
      </mc:AlternateContent>
    </p:spTree>
    <p:extLst>
      <p:ext uri="{BB962C8B-B14F-4D97-AF65-F5344CB8AC3E}">
        <p14:creationId xmlns:p14="http://schemas.microsoft.com/office/powerpoint/2010/main" val="29193840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14B0F-5406-A8EC-5CD3-EEB8AEAA558E}"/>
              </a:ext>
            </a:extLst>
          </p:cNvPr>
          <p:cNvSpPr>
            <a:spLocks noGrp="1"/>
          </p:cNvSpPr>
          <p:nvPr>
            <p:ph type="title"/>
          </p:nvPr>
        </p:nvSpPr>
        <p:spPr/>
        <p:txBody>
          <a:bodyPr/>
          <a:lstStyle/>
          <a:p>
            <a:r>
              <a:rPr lang="en-US" dirty="0"/>
              <a:t>P-values for a Proportion: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5D25297-F82C-129D-4DF1-0BEFE9D67513}"/>
                  </a:ext>
                </a:extLst>
              </p:cNvPr>
              <p:cNvSpPr>
                <a:spLocks noGrp="1"/>
              </p:cNvSpPr>
              <p:nvPr>
                <p:ph idx="1"/>
              </p:nvPr>
            </p:nvSpPr>
            <p:spPr/>
            <p:txBody>
              <a:bodyPr/>
              <a:lstStyle/>
              <a:p>
                <a:r>
                  <a:rPr lang="en-US" dirty="0"/>
                  <a:t>We sampled 64 people for an exit poll and found 54% voted for candidate B.</a:t>
                </a:r>
              </a:p>
              <a:p>
                <a:r>
                  <a:rPr lang="en-US" dirty="0"/>
                  <a:t>Is this significant at </a:t>
                </a:r>
                <a14:m>
                  <m:oMath xmlns:m="http://schemas.openxmlformats.org/officeDocument/2006/math">
                    <m:r>
                      <a:rPr lang="en-US" b="0" i="1" smtClean="0">
                        <a:latin typeface="Cambria Math" panose="02040503050406030204" pitchFamily="18" charset="0"/>
                      </a:rPr>
                      <m:t>𝛼</m:t>
                    </m:r>
                    <m:r>
                      <a:rPr lang="en-US" b="0" i="1" smtClean="0">
                        <a:latin typeface="Cambria Math" panose="02040503050406030204" pitchFamily="18" charset="0"/>
                      </a:rPr>
                      <m:t>=0.05</m:t>
                    </m:r>
                  </m:oMath>
                </a14:m>
                <a:r>
                  <a:rPr lang="en-US" dirty="0"/>
                  <a:t> under a two-tailed test?</a:t>
                </a:r>
              </a:p>
            </p:txBody>
          </p:sp>
        </mc:Choice>
        <mc:Fallback xmlns="">
          <p:sp>
            <p:nvSpPr>
              <p:cNvPr id="3" name="Content Placeholder 2">
                <a:extLst>
                  <a:ext uri="{FF2B5EF4-FFF2-40B4-BE49-F238E27FC236}">
                    <a16:creationId xmlns:a16="http://schemas.microsoft.com/office/drawing/2014/main" id="{95D25297-F82C-129D-4DF1-0BEFE9D67513}"/>
                  </a:ext>
                </a:extLst>
              </p:cNvPr>
              <p:cNvSpPr>
                <a:spLocks noGrp="1" noRot="1" noChangeAspect="1" noMove="1" noResize="1" noEditPoints="1" noAdjustHandles="1" noChangeArrowheads="1" noChangeShapeType="1" noTextEdit="1"/>
              </p:cNvSpPr>
              <p:nvPr>
                <p:ph idx="1"/>
              </p:nvPr>
            </p:nvSpPr>
            <p:spPr>
              <a:blipFill>
                <a:blip r:embed="rId3"/>
                <a:stretch>
                  <a:fillRect l="-2740" t="-3704" r="-3196"/>
                </a:stretch>
              </a:blipFill>
            </p:spPr>
            <p:txBody>
              <a:bodyPr/>
              <a:lstStyle/>
              <a:p>
                <a:r>
                  <a:rPr lang="en-US">
                    <a:noFill/>
                  </a:rPr>
                  <a:t> </a:t>
                </a:r>
              </a:p>
            </p:txBody>
          </p:sp>
        </mc:Fallback>
      </mc:AlternateContent>
    </p:spTree>
    <p:extLst>
      <p:ext uri="{BB962C8B-B14F-4D97-AF65-F5344CB8AC3E}">
        <p14:creationId xmlns:p14="http://schemas.microsoft.com/office/powerpoint/2010/main" val="33866603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74636-FE7C-F9FD-4992-F6005569C9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1F8F9A-E93D-F061-0C5D-432774A4E4F4}"/>
              </a:ext>
            </a:extLst>
          </p:cNvPr>
          <p:cNvSpPr>
            <a:spLocks noGrp="1"/>
          </p:cNvSpPr>
          <p:nvPr>
            <p:ph type="title"/>
          </p:nvPr>
        </p:nvSpPr>
        <p:spPr/>
        <p:txBody>
          <a:bodyPr/>
          <a:lstStyle/>
          <a:p>
            <a:r>
              <a:rPr lang="en-US" dirty="0"/>
              <a:t>P-values for a Proportion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91E046D-228A-618B-2CAB-50CF130218CE}"/>
                  </a:ext>
                </a:extLst>
              </p:cNvPr>
              <p:cNvSpPr>
                <a:spLocks noGrp="1"/>
              </p:cNvSpPr>
              <p:nvPr>
                <p:ph idx="1"/>
              </p:nvPr>
            </p:nvSpPr>
            <p:spPr/>
            <p:txBody>
              <a:bodyPr/>
              <a:lstStyle/>
              <a:p>
                <a:pPr marL="742950" indent="-742950">
                  <a:buFont typeface="+mj-lt"/>
                  <a:buAutoNum type="arabicPeriod"/>
                </a:pPr>
                <a:r>
                  <a:rPr lang="en-US" sz="4000" dirty="0"/>
                  <a:t>[</a:t>
                </a:r>
                <a:r>
                  <a:rPr lang="en-US" sz="4000" b="1" dirty="0"/>
                  <a:t>Assumptions</a:t>
                </a:r>
                <a:r>
                  <a:rPr lang="en-US" sz="4000" dirty="0"/>
                  <a:t>] We have some randomized survey data, or an exit poll. Our data is categorical and we get a proportion from it. </a:t>
                </a:r>
              </a:p>
              <a:p>
                <a:pPr marL="742950" indent="-742950">
                  <a:buFont typeface="+mj-lt"/>
                  <a:buAutoNum type="arabicPeriod"/>
                </a:pPr>
                <a:r>
                  <a:rPr lang="en-US" sz="4000" dirty="0"/>
                  <a:t>[</a:t>
                </a:r>
                <a:r>
                  <a:rPr lang="en-US" sz="4000" b="1" dirty="0"/>
                  <a:t>Hypotheses</a:t>
                </a:r>
                <a:r>
                  <a:rPr lang="en-US" sz="4000" dirty="0"/>
                  <a:t>] The null hypothesis, say for a poll is that both candidates are equally likely so </a:t>
                </a:r>
                <a:br>
                  <a:rPr lang="en-US" sz="4000" dirty="0"/>
                </a:br>
                <a14:m>
                  <m:oMath xmlns:m="http://schemas.openxmlformats.org/officeDocument/2006/math">
                    <m:sSub>
                      <m:sSubPr>
                        <m:ctrlPr>
                          <a:rPr lang="en-US" sz="4000" b="0" i="1" smtClean="0">
                            <a:latin typeface="Cambria Math" panose="02040503050406030204" pitchFamily="18" charset="0"/>
                          </a:rPr>
                        </m:ctrlPr>
                      </m:sSubPr>
                      <m:e>
                        <m:r>
                          <m:rPr>
                            <m:sty m:val="p"/>
                          </m:rPr>
                          <a:rPr lang="en-US" sz="4000" b="0" i="0" smtClean="0">
                            <a:latin typeface="Cambria Math" panose="02040503050406030204" pitchFamily="18" charset="0"/>
                          </a:rPr>
                          <m:t>H</m:t>
                        </m:r>
                      </m:e>
                      <m:sub>
                        <m:r>
                          <a:rPr lang="en-US" sz="4000" b="0" i="0" smtClean="0">
                            <a:latin typeface="Cambria Math" panose="02040503050406030204" pitchFamily="18" charset="0"/>
                          </a:rPr>
                          <m:t>0</m:t>
                        </m:r>
                      </m:sub>
                    </m:sSub>
                    <m:r>
                      <a:rPr lang="en-US" sz="4000" b="0" i="1" smtClean="0">
                        <a:latin typeface="Cambria Math" panose="02040503050406030204" pitchFamily="18" charset="0"/>
                      </a:rPr>
                      <m:t>: </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𝑝</m:t>
                        </m:r>
                      </m:e>
                      <m:sub>
                        <m:r>
                          <a:rPr lang="en-US" sz="4000" b="0" i="1" smtClean="0">
                            <a:latin typeface="Cambria Math" panose="02040503050406030204" pitchFamily="18" charset="0"/>
                          </a:rPr>
                          <m:t>0</m:t>
                        </m:r>
                      </m:sub>
                    </m:sSub>
                    <m:r>
                      <a:rPr lang="en-US" sz="4000" b="0" i="1" smtClean="0">
                        <a:latin typeface="Cambria Math" panose="02040503050406030204" pitchFamily="18" charset="0"/>
                      </a:rPr>
                      <m:t>=0.5</m:t>
                    </m:r>
                  </m:oMath>
                </a14:m>
                <a:endParaRPr lang="en-US" sz="4000" dirty="0"/>
              </a:p>
              <a:p>
                <a:pPr marL="0" indent="0">
                  <a:buNone/>
                </a:pPr>
                <a:r>
                  <a:rPr lang="en-US" sz="4000" dirty="0"/>
                  <a:t>	Alternative hypothesis is:</a:t>
                </a:r>
                <a:br>
                  <a:rPr lang="en-US" sz="4000" dirty="0"/>
                </a:br>
                <a14:m>
                  <m:oMathPara xmlns:m="http://schemas.openxmlformats.org/officeDocument/2006/math">
                    <m:oMathParaPr>
                      <m:jc m:val="centerGroup"/>
                    </m:oMathParaPr>
                    <m:oMath xmlns:m="http://schemas.openxmlformats.org/officeDocument/2006/math">
                      <m:sSub>
                        <m:sSubPr>
                          <m:ctrlPr>
                            <a:rPr lang="en-US" sz="4000" b="0" i="1" smtClean="0">
                              <a:latin typeface="Cambria Math" panose="02040503050406030204" pitchFamily="18" charset="0"/>
                            </a:rPr>
                          </m:ctrlPr>
                        </m:sSubPr>
                        <m:e>
                          <m:r>
                            <m:rPr>
                              <m:sty m:val="p"/>
                            </m:rPr>
                            <a:rPr lang="en-US" sz="4000" b="0" i="0" smtClean="0">
                              <a:latin typeface="Cambria Math" panose="02040503050406030204" pitchFamily="18" charset="0"/>
                            </a:rPr>
                            <m:t>H</m:t>
                          </m:r>
                        </m:e>
                        <m:sub>
                          <m:r>
                            <a:rPr lang="en-US" sz="4000" b="0" i="0" smtClean="0">
                              <a:latin typeface="Cambria Math" panose="02040503050406030204" pitchFamily="18" charset="0"/>
                            </a:rPr>
                            <m:t>1</m:t>
                          </m:r>
                        </m:sub>
                      </m:sSub>
                      <m:r>
                        <a:rPr lang="en-US" sz="4000" b="0" i="1" smtClean="0">
                          <a:latin typeface="Cambria Math" panose="02040503050406030204" pitchFamily="18" charset="0"/>
                        </a:rPr>
                        <m:t>: </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𝑝</m:t>
                          </m:r>
                        </m:e>
                        <m:sub>
                          <m:r>
                            <a:rPr lang="en-US" sz="4000" b="0" i="1" smtClean="0">
                              <a:latin typeface="Cambria Math" panose="02040503050406030204" pitchFamily="18" charset="0"/>
                            </a:rPr>
                            <m:t>1</m:t>
                          </m:r>
                        </m:sub>
                      </m:sSub>
                      <m:r>
                        <a:rPr lang="en-US" sz="4000" i="1">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rPr>
                        <m:t>0.5</m:t>
                      </m:r>
                    </m:oMath>
                  </m:oMathPara>
                </a14:m>
                <a:endParaRPr lang="en-US" sz="4000" dirty="0"/>
              </a:p>
            </p:txBody>
          </p:sp>
        </mc:Choice>
        <mc:Fallback xmlns="">
          <p:sp>
            <p:nvSpPr>
              <p:cNvPr id="3" name="Content Placeholder 2">
                <a:extLst>
                  <a:ext uri="{FF2B5EF4-FFF2-40B4-BE49-F238E27FC236}">
                    <a16:creationId xmlns:a16="http://schemas.microsoft.com/office/drawing/2014/main" id="{991E046D-228A-618B-2CAB-50CF130218CE}"/>
                  </a:ext>
                </a:extLst>
              </p:cNvPr>
              <p:cNvSpPr>
                <a:spLocks noGrp="1" noRot="1" noChangeAspect="1" noMove="1" noResize="1" noEditPoints="1" noAdjustHandles="1" noChangeArrowheads="1" noChangeShapeType="1" noTextEdit="1"/>
              </p:cNvSpPr>
              <p:nvPr>
                <p:ph idx="1"/>
              </p:nvPr>
            </p:nvSpPr>
            <p:spPr>
              <a:blipFill>
                <a:blip r:embed="rId2"/>
                <a:stretch>
                  <a:fillRect l="-2854" t="-3989" r="-2169" b="-14815"/>
                </a:stretch>
              </a:blipFill>
            </p:spPr>
            <p:txBody>
              <a:bodyPr/>
              <a:lstStyle/>
              <a:p>
                <a:r>
                  <a:rPr lang="en-US">
                    <a:noFill/>
                  </a:rPr>
                  <a:t> </a:t>
                </a:r>
              </a:p>
            </p:txBody>
          </p:sp>
        </mc:Fallback>
      </mc:AlternateContent>
    </p:spTree>
    <p:extLst>
      <p:ext uri="{BB962C8B-B14F-4D97-AF65-F5344CB8AC3E}">
        <p14:creationId xmlns:p14="http://schemas.microsoft.com/office/powerpoint/2010/main" val="21229446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814AC-6280-2005-18DF-CAA255E348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F45C13-5EF1-7656-D0D6-732DF9E59A0A}"/>
              </a:ext>
            </a:extLst>
          </p:cNvPr>
          <p:cNvSpPr>
            <a:spLocks noGrp="1"/>
          </p:cNvSpPr>
          <p:nvPr>
            <p:ph type="title"/>
          </p:nvPr>
        </p:nvSpPr>
        <p:spPr/>
        <p:txBody>
          <a:bodyPr/>
          <a:lstStyle/>
          <a:p>
            <a:r>
              <a:rPr lang="en-US" dirty="0"/>
              <a:t>P-values for a Proportion (two-tailed)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721BB6A-4F37-BF65-0D19-3567DEA8E46C}"/>
                  </a:ext>
                </a:extLst>
              </p:cNvPr>
              <p:cNvSpPr>
                <a:spLocks noGrp="1"/>
              </p:cNvSpPr>
              <p:nvPr>
                <p:ph idx="1"/>
              </p:nvPr>
            </p:nvSpPr>
            <p:spPr/>
            <p:txBody>
              <a:bodyPr/>
              <a:lstStyle/>
              <a:p>
                <a:pPr marL="514350" indent="-514350">
                  <a:buFont typeface="+mj-lt"/>
                  <a:buAutoNum type="arabicPeriod" startAt="3"/>
                </a:pPr>
                <a:r>
                  <a:rPr lang="en-US" sz="2400" dirty="0"/>
                  <a:t>[</a:t>
                </a:r>
                <a:r>
                  <a:rPr lang="en-US" sz="2400" b="1" dirty="0"/>
                  <a:t>Test Statistic</a:t>
                </a:r>
                <a:r>
                  <a:rPr lang="en-US" sz="2400" dirty="0"/>
                  <a:t>] What is our test statistic? We will calculate the mean from the exist poll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i="1">
                            <a:latin typeface="Cambria Math" panose="02040503050406030204" pitchFamily="18" charset="0"/>
                          </a:rPr>
                          <m:t>1</m:t>
                        </m:r>
                      </m:sub>
                    </m:sSub>
                    <m:r>
                      <a:rPr lang="en-US" sz="2400" i="1">
                        <a:latin typeface="Cambria Math" panose="02040503050406030204" pitchFamily="18" charset="0"/>
                      </a:rPr>
                      <m:t> </m:t>
                    </m:r>
                  </m:oMath>
                </a14:m>
                <a:r>
                  <a:rPr lang="en-US" sz="2400" dirty="0"/>
                  <a:t>= 0.54,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=0.5</m:t>
                    </m:r>
                  </m:oMath>
                </a14:m>
                <a:r>
                  <a:rPr lang="en-US" sz="2400" dirty="0"/>
                  <a:t>).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𝑧</m:t>
                          </m:r>
                        </m:e>
                        <m:sub>
                          <m:r>
                            <a:rPr lang="en-US" sz="2400" b="0" i="1" smtClean="0">
                              <a:latin typeface="Cambria Math" panose="02040503050406030204" pitchFamily="18" charset="0"/>
                            </a:rPr>
                            <m:t>𝑡𝑒𝑠𝑡</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i="1">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0</m:t>
                              </m:r>
                            </m:sub>
                          </m:sSub>
                        </m:num>
                        <m:den>
                          <m:r>
                            <a:rPr lang="en-US" sz="2400" b="0" i="1" smtClean="0">
                              <a:latin typeface="Cambria Math" panose="02040503050406030204" pitchFamily="18" charset="0"/>
                            </a:rPr>
                            <m:t>𝑠</m:t>
                          </m:r>
                          <m:r>
                            <a:rPr lang="en-US" sz="2400" b="0" i="1" smtClean="0">
                              <a:latin typeface="Cambria Math" panose="02040503050406030204" pitchFamily="18" charset="0"/>
                            </a:rPr>
                            <m:t>.</m:t>
                          </m:r>
                          <m:r>
                            <a:rPr lang="en-US" sz="2400" b="0" i="1" smtClean="0">
                              <a:latin typeface="Cambria Math" panose="02040503050406030204" pitchFamily="18" charset="0"/>
                            </a:rPr>
                            <m:t>𝑒</m:t>
                          </m:r>
                          <m:r>
                            <a:rPr lang="en-US" sz="2400" b="0" i="1" smtClean="0">
                              <a:latin typeface="Cambria Math" panose="02040503050406030204" pitchFamily="18" charset="0"/>
                            </a:rPr>
                            <m:t>.</m:t>
                          </m:r>
                        </m:den>
                      </m:f>
                    </m:oMath>
                  </m:oMathPara>
                </a14:m>
                <a:endParaRPr lang="en-US" sz="2400" b="0" dirty="0"/>
              </a:p>
              <a:p>
                <a:pPr marL="514350" indent="-514350">
                  <a:buFont typeface="+mj-lt"/>
                  <a:buAutoNum type="arabicPeriod" startAt="4"/>
                </a:pPr>
                <a:r>
                  <a:rPr lang="en-US" sz="2400" dirty="0"/>
                  <a:t>[</a:t>
                </a:r>
                <a:r>
                  <a:rPr lang="en-US" sz="2400" b="1" dirty="0"/>
                  <a:t>Critical value</a:t>
                </a:r>
                <a:r>
                  <a:rPr lang="en-US" sz="2400" dirty="0"/>
                  <a:t>] We set the </a:t>
                </a:r>
                <a14:m>
                  <m:oMath xmlns:m="http://schemas.openxmlformats.org/officeDocument/2006/math">
                    <m:r>
                      <a:rPr lang="en-US" sz="2400" b="0" i="1" smtClean="0">
                        <a:latin typeface="Cambria Math" panose="02040503050406030204" pitchFamily="18" charset="0"/>
                      </a:rPr>
                      <m:t>𝛼</m:t>
                    </m:r>
                    <m:r>
                      <a:rPr lang="en-US" sz="2400" b="0" i="1" smtClean="0">
                        <a:latin typeface="Cambria Math" panose="02040503050406030204" pitchFamily="18" charset="0"/>
                      </a:rPr>
                      <m:t>=0.05</m:t>
                    </m:r>
                  </m:oMath>
                </a14:m>
                <a:r>
                  <a:rPr lang="en-US" sz="2400" dirty="0"/>
                  <a:t>, this means if our estimate is outside the 95% probability under the sampling distribution of null hypothesis then, we can say it is significant. </a:t>
                </a:r>
                <a:br>
                  <a:rPr lang="en-US" sz="2400" dirty="0"/>
                </a:br>
                <a:r>
                  <a:rPr lang="en-US" sz="2400" dirty="0"/>
                  <a:t>Critical value (in terms of the proportion, what compare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i="1">
                            <a:latin typeface="Cambria Math" panose="02040503050406030204" pitchFamily="18" charset="0"/>
                          </a:rPr>
                          <m:t>1</m:t>
                        </m:r>
                      </m:sub>
                    </m:sSub>
                  </m:oMath>
                </a14:m>
                <a:r>
                  <a:rPr lang="en-US" sz="2400" dirty="0"/>
                  <a:t>with):</a:t>
                </a:r>
                <a:br>
                  <a:rPr lang="en-US" sz="2800" dirty="0"/>
                </a:b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𝑝</m:t>
                        </m:r>
                      </m:e>
                      <m:sub>
                        <m:r>
                          <a:rPr lang="en-US" sz="1800" i="1">
                            <a:latin typeface="Cambria Math" panose="02040503050406030204" pitchFamily="18" charset="0"/>
                          </a:rPr>
                          <m:t>0</m:t>
                        </m:r>
                      </m:sub>
                    </m:sSub>
                    <m:r>
                      <a:rPr lang="en-US" sz="1800" i="1">
                        <a:latin typeface="Cambria Math" panose="02040503050406030204" pitchFamily="18" charset="0"/>
                      </a:rPr>
                      <m:t>+</m:t>
                    </m:r>
                    <m:sSub>
                      <m:sSubPr>
                        <m:ctrlPr>
                          <a:rPr lang="en-US" sz="1800" b="1" i="1">
                            <a:latin typeface="Cambria Math" panose="02040503050406030204" pitchFamily="18" charset="0"/>
                          </a:rPr>
                        </m:ctrlPr>
                      </m:sSubPr>
                      <m:e>
                        <m:r>
                          <a:rPr lang="en-US" sz="1800" b="1" i="1">
                            <a:latin typeface="Cambria Math" panose="02040503050406030204" pitchFamily="18" charset="0"/>
                          </a:rPr>
                          <m:t>𝒛</m:t>
                        </m:r>
                      </m:e>
                      <m:sub>
                        <m:f>
                          <m:fPr>
                            <m:ctrlPr>
                              <a:rPr lang="en-US" sz="1800" b="1" i="1" smtClean="0">
                                <a:latin typeface="Cambria Math" panose="02040503050406030204" pitchFamily="18" charset="0"/>
                              </a:rPr>
                            </m:ctrlPr>
                          </m:fPr>
                          <m:num>
                            <m:r>
                              <a:rPr lang="en-US" sz="1800" b="1" i="1" smtClean="0">
                                <a:latin typeface="Cambria Math" panose="02040503050406030204" pitchFamily="18" charset="0"/>
                              </a:rPr>
                              <m:t>𝜶</m:t>
                            </m:r>
                          </m:num>
                          <m:den>
                            <m:r>
                              <a:rPr lang="en-US" sz="1800" b="1" i="1" smtClean="0">
                                <a:latin typeface="Cambria Math" panose="02040503050406030204" pitchFamily="18" charset="0"/>
                              </a:rPr>
                              <m:t>𝟐</m:t>
                            </m:r>
                          </m:den>
                        </m:f>
                      </m:sub>
                    </m:sSub>
                    <m:r>
                      <a:rPr lang="en-US" sz="1800" i="1">
                        <a:latin typeface="Cambria Math" panose="02040503050406030204" pitchFamily="18" charset="0"/>
                      </a:rPr>
                      <m:t> </m:t>
                    </m:r>
                    <m:rad>
                      <m:radPr>
                        <m:degHide m:val="on"/>
                        <m:ctrlPr>
                          <a:rPr lang="en-US" sz="1800" i="1">
                            <a:latin typeface="Cambria Math" panose="02040503050406030204" pitchFamily="18" charset="0"/>
                          </a:rPr>
                        </m:ctrlPr>
                      </m:radPr>
                      <m:deg/>
                      <m:e>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𝑝</m:t>
                                </m:r>
                              </m:e>
                              <m:sub>
                                <m:r>
                                  <a:rPr lang="en-US" sz="1800" i="1">
                                    <a:latin typeface="Cambria Math" panose="02040503050406030204" pitchFamily="18" charset="0"/>
                                  </a:rPr>
                                  <m:t>0</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1−</m:t>
                                </m:r>
                                <m:sSub>
                                  <m:sSubPr>
                                    <m:ctrlPr>
                                      <a:rPr lang="en-US" sz="1800" i="1">
                                        <a:latin typeface="Cambria Math" panose="02040503050406030204" pitchFamily="18" charset="0"/>
                                      </a:rPr>
                                    </m:ctrlPr>
                                  </m:sSubPr>
                                  <m:e>
                                    <m:r>
                                      <a:rPr lang="en-US" sz="1800" i="1">
                                        <a:latin typeface="Cambria Math" panose="02040503050406030204" pitchFamily="18" charset="0"/>
                                      </a:rPr>
                                      <m:t>𝑝</m:t>
                                    </m:r>
                                  </m:e>
                                  <m:sub>
                                    <m:r>
                                      <a:rPr lang="en-US" sz="1800" i="1">
                                        <a:latin typeface="Cambria Math" panose="02040503050406030204" pitchFamily="18" charset="0"/>
                                      </a:rPr>
                                      <m:t>0</m:t>
                                    </m:r>
                                  </m:sub>
                                </m:sSub>
                              </m:e>
                            </m:d>
                          </m:num>
                          <m:den>
                            <m:r>
                              <a:rPr lang="en-US" sz="1800" i="1">
                                <a:latin typeface="Cambria Math" panose="02040503050406030204" pitchFamily="18" charset="0"/>
                              </a:rPr>
                              <m:t>𝑛</m:t>
                            </m:r>
                          </m:den>
                        </m:f>
                      </m:e>
                    </m:rad>
                    <m:r>
                      <a:rPr lang="en-US" sz="1800" b="0" i="1" smtClean="0">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𝑝</m:t>
                        </m:r>
                      </m:e>
                      <m:sub>
                        <m:r>
                          <a:rPr lang="en-US" sz="1800" i="1">
                            <a:latin typeface="Cambria Math" panose="02040503050406030204" pitchFamily="18" charset="0"/>
                          </a:rPr>
                          <m:t>0</m:t>
                        </m:r>
                      </m:sub>
                    </m:sSub>
                    <m:r>
                      <a:rPr lang="en-US" sz="1800" b="0" i="1" smtClean="0">
                        <a:latin typeface="Cambria Math" panose="02040503050406030204" pitchFamily="18" charset="0"/>
                      </a:rPr>
                      <m:t>+</m:t>
                    </m:r>
                    <m:sSub>
                      <m:sSubPr>
                        <m:ctrlPr>
                          <a:rPr lang="en-US" sz="1800" b="1" i="1" smtClean="0">
                            <a:latin typeface="Cambria Math" panose="02040503050406030204" pitchFamily="18" charset="0"/>
                          </a:rPr>
                        </m:ctrlPr>
                      </m:sSubPr>
                      <m:e>
                        <m:r>
                          <a:rPr lang="en-US" sz="1800" b="1" i="1">
                            <a:latin typeface="Cambria Math" panose="02040503050406030204" pitchFamily="18" charset="0"/>
                          </a:rPr>
                          <m:t>𝒛</m:t>
                        </m:r>
                      </m:e>
                      <m:sub>
                        <m:r>
                          <a:rPr lang="en-US" sz="1800" b="1" i="1" smtClean="0">
                            <a:latin typeface="Cambria Math" panose="02040503050406030204" pitchFamily="18" charset="0"/>
                          </a:rPr>
                          <m:t>𝟎</m:t>
                        </m:r>
                        <m:r>
                          <a:rPr lang="en-US" sz="1800" b="1" i="1" smtClean="0">
                            <a:latin typeface="Cambria Math" panose="02040503050406030204" pitchFamily="18" charset="0"/>
                          </a:rPr>
                          <m:t>.</m:t>
                        </m:r>
                        <m:r>
                          <a:rPr lang="en-US" sz="1800" b="1" i="1" smtClean="0">
                            <a:latin typeface="Cambria Math" panose="02040503050406030204" pitchFamily="18" charset="0"/>
                          </a:rPr>
                          <m:t>𝟎𝟓</m:t>
                        </m:r>
                      </m:sub>
                    </m:sSub>
                    <m:r>
                      <a:rPr lang="en-US" sz="1800" i="1" smtClean="0">
                        <a:latin typeface="Cambria Math" panose="02040503050406030204" pitchFamily="18" charset="0"/>
                      </a:rPr>
                      <m:t> </m:t>
                    </m:r>
                    <m:rad>
                      <m:radPr>
                        <m:degHide m:val="on"/>
                        <m:ctrlPr>
                          <a:rPr lang="en-US" sz="1800" i="1">
                            <a:latin typeface="Cambria Math" panose="02040503050406030204" pitchFamily="18" charset="0"/>
                          </a:rPr>
                        </m:ctrlPr>
                      </m:radPr>
                      <m:deg/>
                      <m:e>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𝑝</m:t>
                                </m:r>
                              </m:e>
                              <m:sub>
                                <m:r>
                                  <a:rPr lang="en-US" sz="1800" i="1">
                                    <a:latin typeface="Cambria Math" panose="02040503050406030204" pitchFamily="18" charset="0"/>
                                  </a:rPr>
                                  <m:t>0</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1−</m:t>
                                </m:r>
                                <m:sSub>
                                  <m:sSubPr>
                                    <m:ctrlPr>
                                      <a:rPr lang="en-US" sz="1800" i="1">
                                        <a:latin typeface="Cambria Math" panose="02040503050406030204" pitchFamily="18" charset="0"/>
                                      </a:rPr>
                                    </m:ctrlPr>
                                  </m:sSubPr>
                                  <m:e>
                                    <m:r>
                                      <a:rPr lang="en-US" sz="1800" i="1">
                                        <a:latin typeface="Cambria Math" panose="02040503050406030204" pitchFamily="18" charset="0"/>
                                      </a:rPr>
                                      <m:t>𝑝</m:t>
                                    </m:r>
                                  </m:e>
                                  <m:sub>
                                    <m:r>
                                      <a:rPr lang="en-US" sz="1800" i="1">
                                        <a:latin typeface="Cambria Math" panose="02040503050406030204" pitchFamily="18" charset="0"/>
                                      </a:rPr>
                                      <m:t>0</m:t>
                                    </m:r>
                                  </m:sub>
                                </m:sSub>
                              </m:e>
                            </m:d>
                          </m:num>
                          <m:den>
                            <m:r>
                              <a:rPr lang="en-US" sz="1800" i="1">
                                <a:latin typeface="Cambria Math" panose="02040503050406030204" pitchFamily="18" charset="0"/>
                              </a:rPr>
                              <m:t>𝑛</m:t>
                            </m:r>
                          </m:den>
                        </m:f>
                      </m:e>
                    </m:rad>
                  </m:oMath>
                </a14:m>
                <a:endParaRPr lang="en-US" sz="1800" dirty="0"/>
              </a:p>
              <a:p>
                <a:pPr marL="0" indent="0">
                  <a:buNone/>
                </a:pPr>
                <a:r>
                  <a:rPr lang="en-US" sz="1800" dirty="0"/>
                  <a:t>	</a:t>
                </a:r>
                <a:r>
                  <a:rPr lang="en-US" sz="2400" dirty="0"/>
                  <a:t>Critical value (in terms of the standard normal itself) – this is what we compare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𝑧</m:t>
                        </m:r>
                      </m:e>
                      <m:sub>
                        <m:r>
                          <a:rPr lang="en-US" sz="2400" b="0" i="1" smtClean="0">
                            <a:latin typeface="Cambria Math" panose="02040503050406030204" pitchFamily="18" charset="0"/>
                          </a:rPr>
                          <m:t>𝑡𝑒𝑠𝑡</m:t>
                        </m:r>
                      </m:sub>
                    </m:sSub>
                  </m:oMath>
                </a14:m>
                <a:r>
                  <a:rPr lang="en-US" sz="2400" dirty="0"/>
                  <a:t> 	with: </a:t>
                </a:r>
                <a:endParaRPr lang="en-US" sz="1800" dirty="0"/>
              </a:p>
              <a:p>
                <a:pPr marL="0" indent="0">
                  <a:buNone/>
                </a:pPr>
                <a:r>
                  <a:rPr lang="en-US" sz="2800" b="1" dirty="0"/>
                  <a:t>         </a:t>
                </a:r>
                <a14:m>
                  <m:oMath xmlns:m="http://schemas.openxmlformats.org/officeDocument/2006/math">
                    <m:sSub>
                      <m:sSubPr>
                        <m:ctrlPr>
                          <a:rPr lang="en-US" sz="2800" b="1" i="1">
                            <a:latin typeface="Cambria Math" panose="02040503050406030204" pitchFamily="18" charset="0"/>
                          </a:rPr>
                        </m:ctrlPr>
                      </m:sSubPr>
                      <m:e>
                        <m:r>
                          <a:rPr lang="en-US" sz="2800" b="1" i="1">
                            <a:latin typeface="Cambria Math" panose="02040503050406030204" pitchFamily="18" charset="0"/>
                          </a:rPr>
                          <m:t>𝒛</m:t>
                        </m:r>
                      </m:e>
                      <m:sub>
                        <m:r>
                          <a:rPr lang="en-US" sz="2800" b="1" i="1">
                            <a:latin typeface="Cambria Math" panose="02040503050406030204" pitchFamily="18" charset="0"/>
                          </a:rPr>
                          <m:t>𝟎</m:t>
                        </m:r>
                        <m:r>
                          <a:rPr lang="en-US" sz="2800" b="1" i="1">
                            <a:latin typeface="Cambria Math" panose="02040503050406030204" pitchFamily="18" charset="0"/>
                          </a:rPr>
                          <m:t>.</m:t>
                        </m:r>
                        <m:r>
                          <a:rPr lang="en-US" sz="2800" b="1" i="1">
                            <a:latin typeface="Cambria Math" panose="02040503050406030204" pitchFamily="18" charset="0"/>
                          </a:rPr>
                          <m:t>𝟎𝟓</m:t>
                        </m:r>
                      </m:sub>
                    </m:sSub>
                  </m:oMath>
                </a14:m>
                <a:r>
                  <a:rPr lang="en-US" sz="2800" dirty="0"/>
                  <a:t> = 1.96 </a:t>
                </a:r>
              </a:p>
              <a:p>
                <a:pPr marL="0" indent="0">
                  <a:buNone/>
                </a:pPr>
                <a:endParaRPr lang="en-US" sz="3200" dirty="0"/>
              </a:p>
            </p:txBody>
          </p:sp>
        </mc:Choice>
        <mc:Fallback xmlns="">
          <p:sp>
            <p:nvSpPr>
              <p:cNvPr id="3" name="Content Placeholder 2">
                <a:extLst>
                  <a:ext uri="{FF2B5EF4-FFF2-40B4-BE49-F238E27FC236}">
                    <a16:creationId xmlns:a16="http://schemas.microsoft.com/office/drawing/2014/main" id="{6721BB6A-4F37-BF65-0D19-3567DEA8E46C}"/>
                  </a:ext>
                </a:extLst>
              </p:cNvPr>
              <p:cNvSpPr>
                <a:spLocks noGrp="1" noRot="1" noChangeAspect="1" noMove="1" noResize="1" noEditPoints="1" noAdjustHandles="1" noChangeArrowheads="1" noChangeShapeType="1" noTextEdit="1"/>
              </p:cNvSpPr>
              <p:nvPr>
                <p:ph idx="1"/>
              </p:nvPr>
            </p:nvSpPr>
            <p:spPr>
              <a:blipFill>
                <a:blip r:embed="rId2"/>
                <a:stretch>
                  <a:fillRect l="-1598" t="-2564" b="-12536"/>
                </a:stretch>
              </a:blipFill>
            </p:spPr>
            <p:txBody>
              <a:bodyPr/>
              <a:lstStyle/>
              <a:p>
                <a:r>
                  <a:rPr lang="en-US">
                    <a:noFill/>
                  </a:rPr>
                  <a:t> </a:t>
                </a:r>
              </a:p>
            </p:txBody>
          </p:sp>
        </mc:Fallback>
      </mc:AlternateContent>
    </p:spTree>
    <p:extLst>
      <p:ext uri="{BB962C8B-B14F-4D97-AF65-F5344CB8AC3E}">
        <p14:creationId xmlns:p14="http://schemas.microsoft.com/office/powerpoint/2010/main" val="8025925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A5DA0-A14E-B383-85CD-2CC28984BA77}"/>
              </a:ext>
            </a:extLst>
          </p:cNvPr>
          <p:cNvSpPr>
            <a:spLocks noGrp="1"/>
          </p:cNvSpPr>
          <p:nvPr>
            <p:ph type="title"/>
          </p:nvPr>
        </p:nvSpPr>
        <p:spPr/>
        <p:txBody>
          <a:bodyPr/>
          <a:lstStyle/>
          <a:p>
            <a:r>
              <a:rPr lang="en-US" dirty="0"/>
              <a:t>P-values for a Proportion (two-tailed)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B352D43-BAD6-B00A-2D1A-A5C0ED5946B8}"/>
                  </a:ext>
                </a:extLst>
              </p:cNvPr>
              <p:cNvSpPr>
                <a:spLocks noGrp="1"/>
              </p:cNvSpPr>
              <p:nvPr>
                <p:ph idx="1"/>
              </p:nvPr>
            </p:nvSpPr>
            <p:spPr/>
            <p:txBody>
              <a:bodyPr/>
              <a:lstStyle/>
              <a:p>
                <a:pPr marL="0" indent="0">
                  <a:buNone/>
                </a:pPr>
                <a:r>
                  <a:rPr lang="en-US" dirty="0"/>
                  <a:t>5. [</a:t>
                </a:r>
                <a:r>
                  <a:rPr lang="en-US" b="1" dirty="0"/>
                  <a:t>p-value</a:t>
                </a:r>
                <a:r>
                  <a:rPr lang="en-US" dirty="0"/>
                  <a:t>] Given a null distribution with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oMath>
                </a14:m>
                <a:r>
                  <a:rPr lang="en-US" dirty="0"/>
                  <a:t> = 0.5, we can find a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𝑣𝑎𝑙𝑢𝑒</m:t>
                    </m:r>
                  </m:oMath>
                </a14:m>
                <a:r>
                  <a:rPr lang="en-US" dirty="0"/>
                  <a:t> using the CLT. </a:t>
                </a:r>
              </a:p>
              <a:p>
                <a:pPr marL="0" indent="0">
                  <a:buNone/>
                </a:pPr>
                <a:r>
                  <a:rPr lang="en-US" dirty="0"/>
                  <a:t>Essentially, we will ask, how much probability mass exists in the null sampling distribution until 0.54?</a:t>
                </a:r>
              </a:p>
              <a:p>
                <a:pPr marL="0" indent="0">
                  <a:buNone/>
                </a:pPr>
                <a:r>
                  <a:rPr lang="en-US" dirty="0"/>
                  <a:t>i.e. </a:t>
                </a:r>
                <a14:m>
                  <m:oMath xmlns:m="http://schemas.openxmlformats.org/officeDocument/2006/math">
                    <m:r>
                      <a:rPr lang="en-US" sz="4000" b="0" i="1" smtClean="0">
                        <a:latin typeface="Cambria Math" panose="02040503050406030204" pitchFamily="18" charset="0"/>
                      </a:rPr>
                      <m:t>𝑃</m:t>
                    </m:r>
                    <m:d>
                      <m:dPr>
                        <m:ctrlPr>
                          <a:rPr lang="en-US" sz="4000" b="0" i="1" smtClean="0">
                            <a:latin typeface="Cambria Math" panose="02040503050406030204" pitchFamily="18" charset="0"/>
                          </a:rPr>
                        </m:ctrlPr>
                      </m:dPr>
                      <m:e>
                        <m:r>
                          <a:rPr lang="en-US" sz="4000" b="0" i="1" smtClean="0">
                            <a:latin typeface="Cambria Math" panose="02040503050406030204" pitchFamily="18" charset="0"/>
                          </a:rPr>
                          <m:t>𝑋</m:t>
                        </m:r>
                        <m:r>
                          <a:rPr lang="en-US" sz="4000" b="0" i="1" smtClean="0">
                            <a:latin typeface="Cambria Math" panose="02040503050406030204" pitchFamily="18" charset="0"/>
                          </a:rPr>
                          <m:t>&lt;0.54</m:t>
                        </m:r>
                      </m:e>
                    </m:d>
                    <m:r>
                      <a:rPr lang="en-US" sz="4000" b="0" i="1" smtClean="0">
                        <a:latin typeface="Cambria Math" panose="02040503050406030204" pitchFamily="18" charset="0"/>
                      </a:rPr>
                      <m:t>= </m:t>
                    </m:r>
                    <m:nary>
                      <m:naryPr>
                        <m:ctrlPr>
                          <a:rPr lang="en-US" sz="4000" b="0" i="1" smtClean="0">
                            <a:latin typeface="Cambria Math" panose="02040503050406030204" pitchFamily="18" charset="0"/>
                          </a:rPr>
                        </m:ctrlPr>
                      </m:naryPr>
                      <m:sub>
                        <m:r>
                          <m:rPr>
                            <m:brk m:alnAt="23"/>
                          </m:rPr>
                          <a:rPr lang="en-US" sz="4000" b="0" i="1" smtClean="0">
                            <a:latin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m:t>
                        </m:r>
                      </m:sub>
                      <m:sup>
                        <m:r>
                          <a:rPr lang="en-US" sz="4000" b="0" i="1" smtClean="0">
                            <a:latin typeface="Cambria Math" panose="02040503050406030204" pitchFamily="18" charset="0"/>
                          </a:rPr>
                          <m:t>0.54</m:t>
                        </m:r>
                      </m:sup>
                      <m:e>
                        <m:r>
                          <a:rPr lang="en-US" sz="4000" b="0" i="1" smtClean="0">
                            <a:latin typeface="Cambria Math" panose="02040503050406030204" pitchFamily="18" charset="0"/>
                          </a:rPr>
                          <m:t>𝑁</m:t>
                        </m:r>
                        <m:r>
                          <a:rPr lang="en-US" sz="4000" b="0" i="1" smtClean="0">
                            <a:latin typeface="Cambria Math" panose="02040503050406030204" pitchFamily="18" charset="0"/>
                          </a:rPr>
                          <m:t>(</m:t>
                        </m:r>
                        <m:r>
                          <a:rPr lang="en-US" sz="4000" b="0" i="1" smtClean="0">
                            <a:latin typeface="Cambria Math" panose="02040503050406030204" pitchFamily="18" charset="0"/>
                          </a:rPr>
                          <m:t>𝜇</m:t>
                        </m:r>
                        <m:r>
                          <a:rPr lang="en-US" sz="4000" b="0" i="1" smtClean="0">
                            <a:latin typeface="Cambria Math" panose="02040503050406030204" pitchFamily="18" charset="0"/>
                          </a:rPr>
                          <m:t>=0.5, </m:t>
                        </m:r>
                        <m:r>
                          <a:rPr lang="en-US" sz="4000" b="0" i="1" smtClean="0">
                            <a:latin typeface="Cambria Math" panose="02040503050406030204" pitchFamily="18" charset="0"/>
                          </a:rPr>
                          <m:t>𝜎</m:t>
                        </m:r>
                        <m:r>
                          <a:rPr lang="en-US" sz="4000" b="0" i="1" smtClean="0">
                            <a:latin typeface="Cambria Math" panose="02040503050406030204" pitchFamily="18" charset="0"/>
                          </a:rPr>
                          <m:t>= 0.0625)</m:t>
                        </m:r>
                      </m:e>
                    </m:nary>
                  </m:oMath>
                </a14:m>
                <a:endParaRPr lang="en-US" dirty="0"/>
              </a:p>
              <a:p>
                <a:pPr marL="0" indent="0">
                  <a:buNone/>
                </a:pPr>
                <a:r>
                  <a:rPr lang="en-US" sz="4000" dirty="0"/>
                  <a:t>Equivalent to asking: </a:t>
                </a:r>
                <a14:m>
                  <m:oMath xmlns:m="http://schemas.openxmlformats.org/officeDocument/2006/math">
                    <m:r>
                      <a:rPr lang="en-US" sz="4000" i="1">
                        <a:latin typeface="Cambria Math" panose="02040503050406030204" pitchFamily="18" charset="0"/>
                      </a:rPr>
                      <m:t>𝑃</m:t>
                    </m:r>
                    <m:d>
                      <m:dPr>
                        <m:ctrlPr>
                          <a:rPr lang="en-US" sz="4000" i="1">
                            <a:latin typeface="Cambria Math" panose="02040503050406030204" pitchFamily="18" charset="0"/>
                          </a:rPr>
                        </m:ctrlPr>
                      </m:dPr>
                      <m:e>
                        <m:r>
                          <a:rPr lang="en-US" sz="4000" b="0" i="1" smtClean="0">
                            <a:latin typeface="Cambria Math" panose="02040503050406030204" pitchFamily="18" charset="0"/>
                          </a:rPr>
                          <m:t>𝑧</m:t>
                        </m:r>
                        <m:r>
                          <a:rPr lang="en-US" sz="4000" i="1">
                            <a:latin typeface="Cambria Math" panose="02040503050406030204" pitchFamily="18" charset="0"/>
                          </a:rPr>
                          <m:t>&lt;</m:t>
                        </m:r>
                        <m:f>
                          <m:fPr>
                            <m:ctrlPr>
                              <a:rPr lang="en-US" sz="4000" i="1">
                                <a:latin typeface="Cambria Math" panose="02040503050406030204" pitchFamily="18" charset="0"/>
                              </a:rPr>
                            </m:ctrlPr>
                          </m:fPr>
                          <m:num>
                            <m:sSub>
                              <m:sSubPr>
                                <m:ctrlPr>
                                  <a:rPr lang="en-US" sz="4000" i="1">
                                    <a:latin typeface="Cambria Math" panose="02040503050406030204" pitchFamily="18" charset="0"/>
                                  </a:rPr>
                                </m:ctrlPr>
                              </m:sSubPr>
                              <m:e>
                                <m:r>
                                  <a:rPr lang="en-US" sz="4000" i="1">
                                    <a:latin typeface="Cambria Math" panose="02040503050406030204" pitchFamily="18" charset="0"/>
                                  </a:rPr>
                                  <m:t>𝑝</m:t>
                                </m:r>
                              </m:e>
                              <m:sub>
                                <m:r>
                                  <a:rPr lang="en-US" sz="4000" i="1">
                                    <a:latin typeface="Cambria Math" panose="02040503050406030204" pitchFamily="18" charset="0"/>
                                  </a:rPr>
                                  <m:t>1</m:t>
                                </m:r>
                              </m:sub>
                            </m:sSub>
                            <m:r>
                              <a:rPr lang="en-US" sz="4000" i="1">
                                <a:latin typeface="Cambria Math" panose="02040503050406030204" pitchFamily="18" charset="0"/>
                              </a:rPr>
                              <m:t>−</m:t>
                            </m:r>
                            <m:sSub>
                              <m:sSubPr>
                                <m:ctrlPr>
                                  <a:rPr lang="en-US" sz="4000" i="1">
                                    <a:latin typeface="Cambria Math" panose="02040503050406030204" pitchFamily="18" charset="0"/>
                                  </a:rPr>
                                </m:ctrlPr>
                              </m:sSubPr>
                              <m:e>
                                <m:r>
                                  <a:rPr lang="en-US" sz="4000" i="1">
                                    <a:latin typeface="Cambria Math" panose="02040503050406030204" pitchFamily="18" charset="0"/>
                                  </a:rPr>
                                  <m:t>𝑝</m:t>
                                </m:r>
                              </m:e>
                              <m:sub>
                                <m:r>
                                  <a:rPr lang="en-US" sz="4000" i="1">
                                    <a:latin typeface="Cambria Math" panose="02040503050406030204" pitchFamily="18" charset="0"/>
                                  </a:rPr>
                                  <m:t>0</m:t>
                                </m:r>
                              </m:sub>
                            </m:sSub>
                          </m:num>
                          <m:den>
                            <m:r>
                              <a:rPr lang="en-US" sz="4000" i="1">
                                <a:latin typeface="Cambria Math" panose="02040503050406030204" pitchFamily="18" charset="0"/>
                              </a:rPr>
                              <m:t>𝑠</m:t>
                            </m:r>
                            <m:r>
                              <a:rPr lang="en-US" sz="4000" i="1">
                                <a:latin typeface="Cambria Math" panose="02040503050406030204" pitchFamily="18" charset="0"/>
                              </a:rPr>
                              <m:t>.</m:t>
                            </m:r>
                            <m:r>
                              <a:rPr lang="en-US" sz="4000" i="1">
                                <a:latin typeface="Cambria Math" panose="02040503050406030204" pitchFamily="18" charset="0"/>
                              </a:rPr>
                              <m:t>𝑒</m:t>
                            </m:r>
                            <m:r>
                              <a:rPr lang="en-US" sz="4000" i="1">
                                <a:latin typeface="Cambria Math" panose="02040503050406030204" pitchFamily="18" charset="0"/>
                              </a:rPr>
                              <m:t>.</m:t>
                            </m:r>
                          </m:den>
                        </m:f>
                      </m:e>
                    </m:d>
                  </m:oMath>
                </a14:m>
                <a:r>
                  <a:rPr lang="en-US" dirty="0"/>
                  <a:t>, for </a:t>
                </a:r>
                <a14:m>
                  <m:oMath xmlns:m="http://schemas.openxmlformats.org/officeDocument/2006/math">
                    <m:r>
                      <a:rPr lang="en-US" sz="3600" b="0" i="1" smtClean="0">
                        <a:latin typeface="Cambria Math" panose="02040503050406030204" pitchFamily="18" charset="0"/>
                      </a:rPr>
                      <m:t>𝑧</m:t>
                    </m:r>
                    <m:r>
                      <a:rPr lang="en-US" sz="3600" b="0" i="1" smtClean="0">
                        <a:latin typeface="Cambria Math" panose="02040503050406030204" pitchFamily="18" charset="0"/>
                      </a:rPr>
                      <m:t> ~ </m:t>
                    </m:r>
                    <m:r>
                      <a:rPr lang="en-US" sz="3600" b="0" i="1" smtClean="0">
                        <a:latin typeface="Cambria Math" panose="02040503050406030204" pitchFamily="18" charset="0"/>
                      </a:rPr>
                      <m:t>𝑁</m:t>
                    </m:r>
                    <m:r>
                      <a:rPr lang="en-US" sz="3600" b="0" i="1" smtClean="0">
                        <a:latin typeface="Cambria Math" panose="02040503050406030204" pitchFamily="18" charset="0"/>
                      </a:rPr>
                      <m:t>(0,1)</m:t>
                    </m:r>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EB352D43-BAD6-B00A-2D1A-A5C0ED5946B8}"/>
                  </a:ext>
                </a:extLst>
              </p:cNvPr>
              <p:cNvSpPr>
                <a:spLocks noGrp="1" noRot="1" noChangeAspect="1" noMove="1" noResize="1" noEditPoints="1" noAdjustHandles="1" noChangeArrowheads="1" noChangeShapeType="1" noTextEdit="1"/>
              </p:cNvSpPr>
              <p:nvPr>
                <p:ph idx="1"/>
              </p:nvPr>
            </p:nvSpPr>
            <p:spPr>
              <a:blipFill>
                <a:blip r:embed="rId2"/>
                <a:stretch>
                  <a:fillRect l="-2854" t="-3704" r="-3082" b="-33048"/>
                </a:stretch>
              </a:blipFill>
            </p:spPr>
            <p:txBody>
              <a:bodyPr/>
              <a:lstStyle/>
              <a:p>
                <a:r>
                  <a:rPr lang="en-US">
                    <a:noFill/>
                  </a:rPr>
                  <a:t> </a:t>
                </a:r>
              </a:p>
            </p:txBody>
          </p:sp>
        </mc:Fallback>
      </mc:AlternateContent>
    </p:spTree>
    <p:extLst>
      <p:ext uri="{BB962C8B-B14F-4D97-AF65-F5344CB8AC3E}">
        <p14:creationId xmlns:p14="http://schemas.microsoft.com/office/powerpoint/2010/main" val="41334343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A1E7F-6221-AFB7-A416-CB32DB667C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73F641-6DEA-4B2B-24A5-DE2309B3336F}"/>
              </a:ext>
            </a:extLst>
          </p:cNvPr>
          <p:cNvSpPr>
            <a:spLocks noGrp="1"/>
          </p:cNvSpPr>
          <p:nvPr>
            <p:ph type="title"/>
          </p:nvPr>
        </p:nvSpPr>
        <p:spPr/>
        <p:txBody>
          <a:bodyPr/>
          <a:lstStyle/>
          <a:p>
            <a:r>
              <a:rPr lang="en-US" dirty="0"/>
              <a:t>Two-tailed hypothesis testing: Conclusion</a:t>
            </a:r>
          </a:p>
        </p:txBody>
      </p:sp>
      <p:pic>
        <p:nvPicPr>
          <p:cNvPr id="8" name="Picture 7">
            <a:extLst>
              <a:ext uri="{FF2B5EF4-FFF2-40B4-BE49-F238E27FC236}">
                <a16:creationId xmlns:a16="http://schemas.microsoft.com/office/drawing/2014/main" id="{0E8040E4-5983-445D-2EE0-076B5DD706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07942" y="3271216"/>
            <a:ext cx="4107941" cy="2053971"/>
          </a:xfrm>
          <a:prstGeom prst="rect">
            <a:avLst/>
          </a:prstGeom>
        </p:spPr>
      </p:pic>
      <p:cxnSp>
        <p:nvCxnSpPr>
          <p:cNvPr id="9" name="Straight Arrow Connector 8">
            <a:extLst>
              <a:ext uri="{FF2B5EF4-FFF2-40B4-BE49-F238E27FC236}">
                <a16:creationId xmlns:a16="http://schemas.microsoft.com/office/drawing/2014/main" id="{F3F5F9D1-C9D4-A754-BFB5-98BB64F630CD}"/>
              </a:ext>
            </a:extLst>
          </p:cNvPr>
          <p:cNvCxnSpPr/>
          <p:nvPr/>
        </p:nvCxnSpPr>
        <p:spPr>
          <a:xfrm flipV="1">
            <a:off x="6316150" y="4930167"/>
            <a:ext cx="612905" cy="790040"/>
          </a:xfrm>
          <a:prstGeom prst="straightConnector1">
            <a:avLst/>
          </a:prstGeom>
          <a:ln w="76200">
            <a:tailEnd type="triangle"/>
          </a:ln>
          <a:effectLst/>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4DC8A4DB-54BE-6FC6-BAEC-AF1F10B48719}"/>
                  </a:ext>
                </a:extLst>
              </p:cNvPr>
              <p:cNvSpPr/>
              <p:nvPr/>
            </p:nvSpPr>
            <p:spPr>
              <a:xfrm>
                <a:off x="6298989" y="3238704"/>
                <a:ext cx="693330" cy="7489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267" i="1">
                          <a:latin typeface="Cambria Math" panose="02040503050406030204" pitchFamily="18" charset="0"/>
                        </a:rPr>
                        <m:t>𝛩</m:t>
                      </m:r>
                    </m:oMath>
                  </m:oMathPara>
                </a14:m>
                <a:endParaRPr lang="en-US" sz="4267" dirty="0"/>
              </a:p>
            </p:txBody>
          </p:sp>
        </mc:Choice>
        <mc:Fallback xmlns="">
          <p:sp>
            <p:nvSpPr>
              <p:cNvPr id="11" name="Rectangle 10">
                <a:extLst>
                  <a:ext uri="{FF2B5EF4-FFF2-40B4-BE49-F238E27FC236}">
                    <a16:creationId xmlns:a16="http://schemas.microsoft.com/office/drawing/2014/main" id="{4DC8A4DB-54BE-6FC6-BAEC-AF1F10B48719}"/>
                  </a:ext>
                </a:extLst>
              </p:cNvPr>
              <p:cNvSpPr>
                <a:spLocks noRot="1" noChangeAspect="1" noMove="1" noResize="1" noEditPoints="1" noAdjustHandles="1" noChangeArrowheads="1" noChangeShapeType="1" noTextEdit="1"/>
              </p:cNvSpPr>
              <p:nvPr/>
            </p:nvSpPr>
            <p:spPr>
              <a:xfrm>
                <a:off x="6298989" y="3238704"/>
                <a:ext cx="693330" cy="748988"/>
              </a:xfrm>
              <a:prstGeom prst="rect">
                <a:avLst/>
              </a:prstGeom>
              <a:blipFill>
                <a:blip r:embed="rId4"/>
                <a:stretch>
                  <a:fillRect l="-3571" r="-1786"/>
                </a:stretch>
              </a:blipFill>
            </p:spPr>
            <p:txBody>
              <a:bodyPr/>
              <a:lstStyle/>
              <a:p>
                <a:r>
                  <a:rPr lang="en-US">
                    <a:noFill/>
                  </a:rPr>
                  <a:t> </a:t>
                </a:r>
              </a:p>
            </p:txBody>
          </p:sp>
        </mc:Fallback>
      </mc:AlternateContent>
      <p:cxnSp>
        <p:nvCxnSpPr>
          <p:cNvPr id="19" name="Straight Arrow Connector 18">
            <a:extLst>
              <a:ext uri="{FF2B5EF4-FFF2-40B4-BE49-F238E27FC236}">
                <a16:creationId xmlns:a16="http://schemas.microsoft.com/office/drawing/2014/main" id="{BEC92A67-0986-0BF9-0ADB-22D1075FA20B}"/>
              </a:ext>
            </a:extLst>
          </p:cNvPr>
          <p:cNvCxnSpPr/>
          <p:nvPr/>
        </p:nvCxnSpPr>
        <p:spPr>
          <a:xfrm flipH="1" flipV="1">
            <a:off x="5532181" y="4930167"/>
            <a:ext cx="612905" cy="790040"/>
          </a:xfrm>
          <a:prstGeom prst="straightConnector1">
            <a:avLst/>
          </a:prstGeom>
          <a:ln w="76200">
            <a:tailEnd type="triangle"/>
          </a:ln>
          <a:effectLst/>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graphicFrame>
            <p:nvGraphicFramePr>
              <p:cNvPr id="21" name="Table 20">
                <a:extLst>
                  <a:ext uri="{FF2B5EF4-FFF2-40B4-BE49-F238E27FC236}">
                    <a16:creationId xmlns:a16="http://schemas.microsoft.com/office/drawing/2014/main" id="{57E5AB50-930F-9092-02E3-89E7FBD639E1}"/>
                  </a:ext>
                </a:extLst>
              </p:cNvPr>
              <p:cNvGraphicFramePr>
                <a:graphicFrameLocks noGrp="1"/>
              </p:cNvGraphicFramePr>
              <p:nvPr>
                <p:extLst>
                  <p:ext uri="{D42A27DB-BD31-4B8C-83A1-F6EECF244321}">
                    <p14:modId xmlns:p14="http://schemas.microsoft.com/office/powerpoint/2010/main" val="3562632039"/>
                  </p:ext>
                </p:extLst>
              </p:nvPr>
            </p:nvGraphicFramePr>
            <p:xfrm>
              <a:off x="4229995" y="1290016"/>
              <a:ext cx="3732011" cy="1950720"/>
            </p:xfrm>
            <a:graphic>
              <a:graphicData uri="http://schemas.openxmlformats.org/drawingml/2006/table">
                <a:tbl>
                  <a:tblPr firstRow="1" bandRow="1">
                    <a:tableStyleId>{21E4AEA4-8DFA-4A89-87EB-49C32662AFE0}</a:tableStyleId>
                  </a:tblPr>
                  <a:tblGrid>
                    <a:gridCol w="3732011">
                      <a:extLst>
                        <a:ext uri="{9D8B030D-6E8A-4147-A177-3AD203B41FA5}">
                          <a16:colId xmlns:a16="http://schemas.microsoft.com/office/drawing/2014/main" val="2115607167"/>
                        </a:ext>
                      </a:extLst>
                    </a:gridCol>
                  </a:tblGrid>
                  <a:tr h="69088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3700" dirty="0"/>
                            <a:t>Two-sided</a:t>
                          </a:r>
                        </a:p>
                      </a:txBody>
                      <a:tcPr marL="121920" marR="121920" marT="60960" marB="60960"/>
                    </a:tc>
                    <a:extLst>
                      <a:ext uri="{0D108BD9-81ED-4DB2-BD59-A6C34878D82A}">
                        <a16:rowId xmlns:a16="http://schemas.microsoft.com/office/drawing/2014/main" val="928464126"/>
                      </a:ext>
                    </a:extLst>
                  </a:tr>
                  <a:tr h="1259840">
                    <a:tc>
                      <a:txBody>
                        <a:bodyPr/>
                        <a:lstStyle/>
                        <a:p>
                          <a:pPr/>
                          <a14:m>
                            <m:oMathPara xmlns:m="http://schemas.openxmlformats.org/officeDocument/2006/math">
                              <m:oMathParaPr>
                                <m:jc m:val="centerGroup"/>
                              </m:oMathParaPr>
                              <m:oMath xmlns:m="http://schemas.openxmlformats.org/officeDocument/2006/math">
                                <m:sSub>
                                  <m:sSubPr>
                                    <m:ctrlPr>
                                      <a:rPr lang="en-US" sz="3700" i="1" smtClean="0">
                                        <a:latin typeface="Cambria Math" panose="02040503050406030204" pitchFamily="18" charset="0"/>
                                        <a:ea typeface="Cambria Math" panose="02040503050406030204" pitchFamily="18" charset="0"/>
                                      </a:rPr>
                                    </m:ctrlPr>
                                  </m:sSubPr>
                                  <m:e>
                                    <m:r>
                                      <a:rPr lang="en-US" sz="3700" i="1">
                                        <a:latin typeface="Cambria Math" panose="02040503050406030204" pitchFamily="18" charset="0"/>
                                        <a:ea typeface="Cambria Math" panose="02040503050406030204" pitchFamily="18" charset="0"/>
                                      </a:rPr>
                                      <m:t>ℋ</m:t>
                                    </m:r>
                                  </m:e>
                                  <m:sub>
                                    <m:r>
                                      <a:rPr lang="en-US" sz="3700" i="1">
                                        <a:latin typeface="Cambria Math" panose="02040503050406030204" pitchFamily="18" charset="0"/>
                                        <a:ea typeface="Cambria Math" panose="02040503050406030204" pitchFamily="18" charset="0"/>
                                      </a:rPr>
                                      <m:t>0</m:t>
                                    </m:r>
                                  </m:sub>
                                </m:sSub>
                                <m:r>
                                  <a:rPr lang="en-US" sz="3700" i="1" smtClean="0">
                                    <a:latin typeface="Cambria Math" panose="02040503050406030204" pitchFamily="18" charset="0"/>
                                    <a:ea typeface="Cambria Math" panose="02040503050406030204" pitchFamily="18" charset="0"/>
                                  </a:rPr>
                                  <m:t>:</m:t>
                                </m:r>
                                <m:sSub>
                                  <m:sSubPr>
                                    <m:ctrlPr>
                                      <a:rPr lang="en-US" sz="3700" b="0" i="1" smtClean="0">
                                        <a:latin typeface="Cambria Math" panose="02040503050406030204" pitchFamily="18" charset="0"/>
                                        <a:ea typeface="Cambria Math" panose="02040503050406030204" pitchFamily="18" charset="0"/>
                                      </a:rPr>
                                    </m:ctrlPr>
                                  </m:sSubPr>
                                  <m:e>
                                    <m:r>
                                      <a:rPr lang="en-US" sz="3700" b="0" i="1" smtClean="0">
                                        <a:latin typeface="Cambria Math" panose="02040503050406030204" pitchFamily="18" charset="0"/>
                                        <a:ea typeface="Cambria Math" panose="02040503050406030204" pitchFamily="18" charset="0"/>
                                      </a:rPr>
                                      <m:t>𝑝</m:t>
                                    </m:r>
                                  </m:e>
                                  <m:sub>
                                    <m:r>
                                      <a:rPr lang="en-US" sz="3700" b="0" i="1" smtClean="0">
                                        <a:latin typeface="Cambria Math" panose="02040503050406030204" pitchFamily="18" charset="0"/>
                                        <a:ea typeface="Cambria Math" panose="02040503050406030204" pitchFamily="18" charset="0"/>
                                      </a:rPr>
                                      <m:t>1</m:t>
                                    </m:r>
                                  </m:sub>
                                </m:sSub>
                                <m:r>
                                  <a:rPr lang="en-US" sz="3700" i="1">
                                    <a:latin typeface="Cambria Math" panose="02040503050406030204" pitchFamily="18" charset="0"/>
                                    <a:ea typeface="Cambria Math" panose="02040503050406030204" pitchFamily="18" charset="0"/>
                                  </a:rPr>
                                  <m:t>=</m:t>
                                </m:r>
                                <m:sSub>
                                  <m:sSubPr>
                                    <m:ctrlPr>
                                      <a:rPr lang="en-US" sz="3700" b="0" i="1" smtClean="0">
                                        <a:latin typeface="Cambria Math" panose="02040503050406030204" pitchFamily="18" charset="0"/>
                                        <a:ea typeface="Cambria Math" panose="02040503050406030204" pitchFamily="18" charset="0"/>
                                      </a:rPr>
                                    </m:ctrlPr>
                                  </m:sSubPr>
                                  <m:e>
                                    <m:r>
                                      <a:rPr lang="en-US" sz="3700" b="0" i="1" smtClean="0">
                                        <a:latin typeface="Cambria Math" panose="02040503050406030204" pitchFamily="18" charset="0"/>
                                        <a:ea typeface="Cambria Math" panose="02040503050406030204" pitchFamily="18" charset="0"/>
                                      </a:rPr>
                                      <m:t>𝑝</m:t>
                                    </m:r>
                                  </m:e>
                                  <m:sub>
                                    <m:r>
                                      <a:rPr lang="en-US" sz="3700" b="0" i="1" smtClean="0">
                                        <a:latin typeface="Cambria Math" panose="02040503050406030204" pitchFamily="18" charset="0"/>
                                        <a:ea typeface="Cambria Math" panose="02040503050406030204" pitchFamily="18" charset="0"/>
                                      </a:rPr>
                                      <m:t>0</m:t>
                                    </m:r>
                                  </m:sub>
                                </m:sSub>
                              </m:oMath>
                            </m:oMathPara>
                          </a14:m>
                          <a:endParaRPr lang="en-US" sz="3700" dirty="0"/>
                        </a:p>
                        <a:p>
                          <a:pPr/>
                          <a14:m>
                            <m:oMathPara xmlns:m="http://schemas.openxmlformats.org/officeDocument/2006/math">
                              <m:oMathParaPr>
                                <m:jc m:val="centerGroup"/>
                              </m:oMathParaPr>
                              <m:oMath xmlns:m="http://schemas.openxmlformats.org/officeDocument/2006/math">
                                <m:sSub>
                                  <m:sSubPr>
                                    <m:ctrlPr>
                                      <a:rPr lang="en-US" sz="3700" i="1">
                                        <a:latin typeface="Cambria Math" panose="02040503050406030204" pitchFamily="18" charset="0"/>
                                        <a:ea typeface="Cambria Math" panose="02040503050406030204" pitchFamily="18" charset="0"/>
                                      </a:rPr>
                                    </m:ctrlPr>
                                  </m:sSubPr>
                                  <m:e>
                                    <m:r>
                                      <a:rPr lang="en-US" sz="3700" i="1">
                                        <a:latin typeface="Cambria Math" panose="02040503050406030204" pitchFamily="18" charset="0"/>
                                        <a:ea typeface="Cambria Math" panose="02040503050406030204" pitchFamily="18" charset="0"/>
                                      </a:rPr>
                                      <m:t>ℋ</m:t>
                                    </m:r>
                                  </m:e>
                                  <m:sub>
                                    <m:r>
                                      <a:rPr lang="en-US" sz="3700" b="0" i="1" smtClean="0">
                                        <a:latin typeface="Cambria Math" panose="02040503050406030204" pitchFamily="18" charset="0"/>
                                        <a:ea typeface="Cambria Math" panose="02040503050406030204" pitchFamily="18" charset="0"/>
                                      </a:rPr>
                                      <m:t>1</m:t>
                                    </m:r>
                                  </m:sub>
                                </m:sSub>
                                <m:r>
                                  <a:rPr lang="en-US" sz="3700" i="1">
                                    <a:latin typeface="Cambria Math" panose="02040503050406030204" pitchFamily="18" charset="0"/>
                                    <a:ea typeface="Cambria Math" panose="02040503050406030204" pitchFamily="18" charset="0"/>
                                  </a:rPr>
                                  <m:t>:</m:t>
                                </m:r>
                                <m:sSub>
                                  <m:sSubPr>
                                    <m:ctrlPr>
                                      <a:rPr lang="en-US" sz="3700" b="0" i="1" smtClean="0">
                                        <a:latin typeface="Cambria Math" panose="02040503050406030204" pitchFamily="18" charset="0"/>
                                        <a:ea typeface="Cambria Math" panose="02040503050406030204" pitchFamily="18" charset="0"/>
                                      </a:rPr>
                                    </m:ctrlPr>
                                  </m:sSubPr>
                                  <m:e>
                                    <m:r>
                                      <a:rPr lang="en-US" sz="3700" b="0" i="1" smtClean="0">
                                        <a:latin typeface="Cambria Math" panose="02040503050406030204" pitchFamily="18" charset="0"/>
                                        <a:ea typeface="Cambria Math" panose="02040503050406030204" pitchFamily="18" charset="0"/>
                                      </a:rPr>
                                      <m:t>𝑝</m:t>
                                    </m:r>
                                  </m:e>
                                  <m:sub>
                                    <m:r>
                                      <a:rPr lang="en-US" sz="3700" b="0" i="1" smtClean="0">
                                        <a:latin typeface="Cambria Math" panose="02040503050406030204" pitchFamily="18" charset="0"/>
                                        <a:ea typeface="Cambria Math" panose="02040503050406030204" pitchFamily="18" charset="0"/>
                                      </a:rPr>
                                      <m:t>1</m:t>
                                    </m:r>
                                  </m:sub>
                                </m:sSub>
                                <m:r>
                                  <a:rPr lang="en-US" sz="3700" b="0" i="1" smtClean="0">
                                    <a:latin typeface="Cambria Math" panose="02040503050406030204" pitchFamily="18" charset="0"/>
                                    <a:ea typeface="Cambria Math" panose="02040503050406030204" pitchFamily="18" charset="0"/>
                                  </a:rPr>
                                  <m:t>≠</m:t>
                                </m:r>
                                <m:sSub>
                                  <m:sSubPr>
                                    <m:ctrlPr>
                                      <a:rPr lang="en-US" sz="3700" b="0" i="1" smtClean="0">
                                        <a:latin typeface="Cambria Math" panose="02040503050406030204" pitchFamily="18" charset="0"/>
                                        <a:ea typeface="Cambria Math" panose="02040503050406030204" pitchFamily="18" charset="0"/>
                                      </a:rPr>
                                    </m:ctrlPr>
                                  </m:sSubPr>
                                  <m:e>
                                    <m:r>
                                      <a:rPr lang="en-US" sz="3700" b="0" i="1" smtClean="0">
                                        <a:latin typeface="Cambria Math" panose="02040503050406030204" pitchFamily="18" charset="0"/>
                                        <a:ea typeface="Cambria Math" panose="02040503050406030204" pitchFamily="18" charset="0"/>
                                      </a:rPr>
                                      <m:t>𝑝</m:t>
                                    </m:r>
                                  </m:e>
                                  <m:sub>
                                    <m:r>
                                      <a:rPr lang="en-US" sz="3700" b="0" i="1" smtClean="0">
                                        <a:latin typeface="Cambria Math" panose="02040503050406030204" pitchFamily="18" charset="0"/>
                                        <a:ea typeface="Cambria Math" panose="02040503050406030204" pitchFamily="18" charset="0"/>
                                      </a:rPr>
                                      <m:t>0</m:t>
                                    </m:r>
                                  </m:sub>
                                </m:sSub>
                              </m:oMath>
                            </m:oMathPara>
                          </a14:m>
                          <a:endParaRPr lang="en-US" sz="3700" dirty="0"/>
                        </a:p>
                      </a:txBody>
                      <a:tcPr marL="121920" marR="121920" marT="60960" marB="60960"/>
                    </a:tc>
                    <a:extLst>
                      <a:ext uri="{0D108BD9-81ED-4DB2-BD59-A6C34878D82A}">
                        <a16:rowId xmlns:a16="http://schemas.microsoft.com/office/drawing/2014/main" val="1722191903"/>
                      </a:ext>
                    </a:extLst>
                  </a:tr>
                </a:tbl>
              </a:graphicData>
            </a:graphic>
          </p:graphicFrame>
        </mc:Choice>
        <mc:Fallback xmlns="">
          <p:graphicFrame>
            <p:nvGraphicFramePr>
              <p:cNvPr id="21" name="Table 20">
                <a:extLst>
                  <a:ext uri="{FF2B5EF4-FFF2-40B4-BE49-F238E27FC236}">
                    <a16:creationId xmlns:a16="http://schemas.microsoft.com/office/drawing/2014/main" id="{57E5AB50-930F-9092-02E3-89E7FBD639E1}"/>
                  </a:ext>
                </a:extLst>
              </p:cNvPr>
              <p:cNvGraphicFramePr>
                <a:graphicFrameLocks noGrp="1"/>
              </p:cNvGraphicFramePr>
              <p:nvPr>
                <p:extLst>
                  <p:ext uri="{D42A27DB-BD31-4B8C-83A1-F6EECF244321}">
                    <p14:modId xmlns:p14="http://schemas.microsoft.com/office/powerpoint/2010/main" val="3562632039"/>
                  </p:ext>
                </p:extLst>
              </p:nvPr>
            </p:nvGraphicFramePr>
            <p:xfrm>
              <a:off x="4229995" y="1290016"/>
              <a:ext cx="3732011" cy="1950720"/>
            </p:xfrm>
            <a:graphic>
              <a:graphicData uri="http://schemas.openxmlformats.org/drawingml/2006/table">
                <a:tbl>
                  <a:tblPr firstRow="1" bandRow="1">
                    <a:tableStyleId>{21E4AEA4-8DFA-4A89-87EB-49C32662AFE0}</a:tableStyleId>
                  </a:tblPr>
                  <a:tblGrid>
                    <a:gridCol w="3732011">
                      <a:extLst>
                        <a:ext uri="{9D8B030D-6E8A-4147-A177-3AD203B41FA5}">
                          <a16:colId xmlns:a16="http://schemas.microsoft.com/office/drawing/2014/main" val="2115607167"/>
                        </a:ext>
                      </a:extLst>
                    </a:gridCol>
                  </a:tblGrid>
                  <a:tr h="69088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3700" dirty="0"/>
                            <a:t>Two-sided</a:t>
                          </a:r>
                        </a:p>
                      </a:txBody>
                      <a:tcPr marL="121920" marR="121920" marT="60960" marB="60960"/>
                    </a:tc>
                    <a:extLst>
                      <a:ext uri="{0D108BD9-81ED-4DB2-BD59-A6C34878D82A}">
                        <a16:rowId xmlns:a16="http://schemas.microsoft.com/office/drawing/2014/main" val="928464126"/>
                      </a:ext>
                    </a:extLst>
                  </a:tr>
                  <a:tr h="1259840">
                    <a:tc>
                      <a:txBody>
                        <a:bodyPr/>
                        <a:lstStyle/>
                        <a:p>
                          <a:endParaRPr lang="en-US"/>
                        </a:p>
                      </a:txBody>
                      <a:tcPr marL="121920" marR="121920" marT="60960" marB="60960">
                        <a:blipFill>
                          <a:blip r:embed="rId5"/>
                          <a:stretch>
                            <a:fillRect l="-340" t="-61000" r="-1020" b="-6000"/>
                          </a:stretch>
                        </a:blipFill>
                      </a:tcPr>
                    </a:tc>
                    <a:extLst>
                      <a:ext uri="{0D108BD9-81ED-4DB2-BD59-A6C34878D82A}">
                        <a16:rowId xmlns:a16="http://schemas.microsoft.com/office/drawing/2014/main" val="1722191903"/>
                      </a:ext>
                    </a:extLst>
                  </a:tr>
                </a:tbl>
              </a:graphicData>
            </a:graphic>
          </p:graphicFrame>
        </mc:Fallback>
      </mc:AlternateContent>
      <p:sp>
        <p:nvSpPr>
          <p:cNvPr id="25" name="Rounded Rectangle 24">
            <a:extLst>
              <a:ext uri="{FF2B5EF4-FFF2-40B4-BE49-F238E27FC236}">
                <a16:creationId xmlns:a16="http://schemas.microsoft.com/office/drawing/2014/main" id="{75499B7B-2BCD-CC90-57A8-4A1859DEFEEB}"/>
              </a:ext>
            </a:extLst>
          </p:cNvPr>
          <p:cNvSpPr/>
          <p:nvPr/>
        </p:nvSpPr>
        <p:spPr>
          <a:xfrm>
            <a:off x="4981280" y="5623703"/>
            <a:ext cx="2361265" cy="490484"/>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Critical region</a:t>
            </a:r>
          </a:p>
        </p:txBody>
      </p:sp>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5B9ADAD4-ADF5-738C-D6F5-5DEA07085379}"/>
                  </a:ext>
                </a:extLst>
              </p:cNvPr>
              <p:cNvSpPr/>
              <p:nvPr/>
            </p:nvSpPr>
            <p:spPr>
              <a:xfrm>
                <a:off x="3612546" y="4027076"/>
                <a:ext cx="231108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0.5 −0.1225</m:t>
                      </m:r>
                    </m:oMath>
                  </m:oMathPara>
                </a14:m>
                <a:endParaRPr lang="en-US" sz="4267" dirty="0"/>
              </a:p>
            </p:txBody>
          </p:sp>
        </mc:Choice>
        <mc:Fallback xmlns="">
          <p:sp>
            <p:nvSpPr>
              <p:cNvPr id="29" name="Rectangle 28">
                <a:extLst>
                  <a:ext uri="{FF2B5EF4-FFF2-40B4-BE49-F238E27FC236}">
                    <a16:creationId xmlns:a16="http://schemas.microsoft.com/office/drawing/2014/main" id="{5B9ADAD4-ADF5-738C-D6F5-5DEA07085379}"/>
                  </a:ext>
                </a:extLst>
              </p:cNvPr>
              <p:cNvSpPr>
                <a:spLocks noRot="1" noChangeAspect="1" noMove="1" noResize="1" noEditPoints="1" noAdjustHandles="1" noChangeArrowheads="1" noChangeShapeType="1" noTextEdit="1"/>
              </p:cNvSpPr>
              <p:nvPr/>
            </p:nvSpPr>
            <p:spPr>
              <a:xfrm>
                <a:off x="3612546" y="4027076"/>
                <a:ext cx="2311081" cy="523220"/>
              </a:xfrm>
              <a:prstGeom prst="rect">
                <a:avLst/>
              </a:prstGeom>
              <a:blipFill>
                <a:blip r:embed="rId6"/>
                <a:stretch>
                  <a:fillRect b="-21429"/>
                </a:stretch>
              </a:blipFill>
            </p:spPr>
            <p:txBody>
              <a:bodyPr/>
              <a:lstStyle/>
              <a:p>
                <a:r>
                  <a:rPr lang="en-US">
                    <a:noFill/>
                  </a:rPr>
                  <a:t> </a:t>
                </a:r>
              </a:p>
            </p:txBody>
          </p:sp>
        </mc:Fallback>
      </mc:AlternateContent>
      <p:cxnSp>
        <p:nvCxnSpPr>
          <p:cNvPr id="14" name="Straight Connector 13">
            <a:extLst>
              <a:ext uri="{FF2B5EF4-FFF2-40B4-BE49-F238E27FC236}">
                <a16:creationId xmlns:a16="http://schemas.microsoft.com/office/drawing/2014/main" id="{7ED2F3F8-FD42-ADDC-172F-49A29A8D8569}"/>
              </a:ext>
            </a:extLst>
          </p:cNvPr>
          <p:cNvCxnSpPr/>
          <p:nvPr/>
        </p:nvCxnSpPr>
        <p:spPr>
          <a:xfrm>
            <a:off x="6240231" y="4800998"/>
            <a:ext cx="0" cy="520817"/>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AD97EE1-9F56-6751-5855-08DB7E8C3C15}"/>
                  </a:ext>
                </a:extLst>
              </p:cNvPr>
              <p:cNvSpPr txBox="1"/>
              <p:nvPr/>
            </p:nvSpPr>
            <p:spPr>
              <a:xfrm>
                <a:off x="5809976" y="4313896"/>
                <a:ext cx="693330" cy="5847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3200" i="1" smtClean="0">
                              <a:latin typeface="Cambria Math" panose="02040503050406030204" pitchFamily="18" charset="0"/>
                            </a:rPr>
                          </m:ctrlPr>
                        </m:sSubPr>
                        <m:e>
                          <m:r>
                            <a:rPr lang="en-US" sz="3200" i="1">
                              <a:latin typeface="Cambria Math" panose="02040503050406030204" pitchFamily="18" charset="0"/>
                            </a:rPr>
                            <m:t>𝑝</m:t>
                          </m:r>
                        </m:e>
                        <m:sub>
                          <m:r>
                            <a:rPr lang="en-US" sz="3200" i="1">
                              <a:latin typeface="Cambria Math" panose="02040503050406030204" pitchFamily="18" charset="0"/>
                            </a:rPr>
                            <m:t>0</m:t>
                          </m:r>
                        </m:sub>
                      </m:sSub>
                    </m:oMath>
                  </m:oMathPara>
                </a14:m>
                <a:endParaRPr lang="en-US" sz="3200" dirty="0"/>
              </a:p>
            </p:txBody>
          </p:sp>
        </mc:Choice>
        <mc:Fallback xmlns="">
          <p:sp>
            <p:nvSpPr>
              <p:cNvPr id="18" name="TextBox 17">
                <a:extLst>
                  <a:ext uri="{FF2B5EF4-FFF2-40B4-BE49-F238E27FC236}">
                    <a16:creationId xmlns:a16="http://schemas.microsoft.com/office/drawing/2014/main" id="{CAD97EE1-9F56-6751-5855-08DB7E8C3C15}"/>
                  </a:ext>
                </a:extLst>
              </p:cNvPr>
              <p:cNvSpPr txBox="1">
                <a:spLocks noRot="1" noChangeAspect="1" noMove="1" noResize="1" noEditPoints="1" noAdjustHandles="1" noChangeArrowheads="1" noChangeShapeType="1" noTextEdit="1"/>
              </p:cNvSpPr>
              <p:nvPr/>
            </p:nvSpPr>
            <p:spPr>
              <a:xfrm>
                <a:off x="5809976" y="4313896"/>
                <a:ext cx="693330" cy="584775"/>
              </a:xfrm>
              <a:prstGeom prst="rect">
                <a:avLst/>
              </a:prstGeom>
              <a:blipFill>
                <a:blip r:embed="rId7"/>
                <a:stretch>
                  <a:fillRect b="-12766"/>
                </a:stretch>
              </a:blipFill>
            </p:spPr>
            <p:txBody>
              <a:bodyPr/>
              <a:lstStyle/>
              <a:p>
                <a:r>
                  <a:rPr lang="en-US">
                    <a:noFill/>
                  </a:rPr>
                  <a:t> </a:t>
                </a:r>
              </a:p>
            </p:txBody>
          </p:sp>
        </mc:Fallback>
      </mc:AlternateContent>
      <p:sp>
        <p:nvSpPr>
          <p:cNvPr id="31" name="Rounded Rectangle 30">
            <a:extLst>
              <a:ext uri="{FF2B5EF4-FFF2-40B4-BE49-F238E27FC236}">
                <a16:creationId xmlns:a16="http://schemas.microsoft.com/office/drawing/2014/main" id="{8CA3A090-DC0A-9D5B-B5A2-FB775240A5ED}"/>
              </a:ext>
            </a:extLst>
          </p:cNvPr>
          <p:cNvSpPr/>
          <p:nvPr/>
        </p:nvSpPr>
        <p:spPr>
          <a:xfrm>
            <a:off x="3481331" y="1137209"/>
            <a:ext cx="5321146" cy="5142405"/>
          </a:xfrm>
          <a:prstGeom prst="roundRect">
            <a:avLst>
              <a:gd name="adj" fmla="val 9417"/>
            </a:avLst>
          </a:prstGeom>
          <a:noFill/>
          <a:ln w="3810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45D9C457-2ABC-1677-51DD-6E0FEC03B9A7}"/>
                  </a:ext>
                </a:extLst>
              </p:cNvPr>
              <p:cNvSpPr/>
              <p:nvPr/>
            </p:nvSpPr>
            <p:spPr>
              <a:xfrm>
                <a:off x="6618655" y="4052286"/>
                <a:ext cx="223253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0.5+0.1225</m:t>
                      </m:r>
                    </m:oMath>
                  </m:oMathPara>
                </a14:m>
                <a:endParaRPr lang="en-US" sz="4267" dirty="0"/>
              </a:p>
            </p:txBody>
          </p:sp>
        </mc:Choice>
        <mc:Fallback xmlns="">
          <p:sp>
            <p:nvSpPr>
              <p:cNvPr id="3" name="Rectangle 2">
                <a:extLst>
                  <a:ext uri="{FF2B5EF4-FFF2-40B4-BE49-F238E27FC236}">
                    <a16:creationId xmlns:a16="http://schemas.microsoft.com/office/drawing/2014/main" id="{45D9C457-2ABC-1677-51DD-6E0FEC03B9A7}"/>
                  </a:ext>
                </a:extLst>
              </p:cNvPr>
              <p:cNvSpPr>
                <a:spLocks noRot="1" noChangeAspect="1" noMove="1" noResize="1" noEditPoints="1" noAdjustHandles="1" noChangeArrowheads="1" noChangeShapeType="1" noTextEdit="1"/>
              </p:cNvSpPr>
              <p:nvPr/>
            </p:nvSpPr>
            <p:spPr>
              <a:xfrm>
                <a:off x="6618655" y="4052286"/>
                <a:ext cx="2232534"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0B321C1-9F29-2B69-1403-61231506C2B2}"/>
                  </a:ext>
                </a:extLst>
              </p:cNvPr>
              <p:cNvSpPr txBox="1"/>
              <p:nvPr/>
            </p:nvSpPr>
            <p:spPr>
              <a:xfrm>
                <a:off x="264405" y="2368627"/>
                <a:ext cx="2908453" cy="2308324"/>
              </a:xfrm>
              <a:prstGeom prst="rect">
                <a:avLst/>
              </a:prstGeom>
              <a:noFill/>
            </p:spPr>
            <p:txBody>
              <a:bodyPr wrap="square" rtlCol="0">
                <a:spAutoFit/>
              </a:bodyPr>
              <a:lstStyle/>
              <a:p>
                <a:pPr algn="just"/>
                <a:r>
                  <a:rPr lang="en-US" sz="3600" dirty="0"/>
                  <a:t>Assuming a population of 64 and the </a:t>
                </a:r>
                <a:br>
                  <a:rPr lang="en-US" sz="3600" dirty="0"/>
                </a:br>
                <a14:m>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𝑝</m:t>
                        </m:r>
                      </m:e>
                      <m:sub>
                        <m:r>
                          <a:rPr lang="en-US" sz="3600" b="0" i="1" smtClean="0">
                            <a:latin typeface="Cambria Math" panose="02040503050406030204" pitchFamily="18" charset="0"/>
                          </a:rPr>
                          <m:t>0</m:t>
                        </m:r>
                      </m:sub>
                    </m:sSub>
                  </m:oMath>
                </a14:m>
                <a:r>
                  <a:rPr lang="en-US" sz="3600" dirty="0"/>
                  <a:t> = 0.5.</a:t>
                </a:r>
              </a:p>
            </p:txBody>
          </p:sp>
        </mc:Choice>
        <mc:Fallback xmlns="">
          <p:sp>
            <p:nvSpPr>
              <p:cNvPr id="16" name="TextBox 15">
                <a:extLst>
                  <a:ext uri="{FF2B5EF4-FFF2-40B4-BE49-F238E27FC236}">
                    <a16:creationId xmlns:a16="http://schemas.microsoft.com/office/drawing/2014/main" id="{C0B321C1-9F29-2B69-1403-61231506C2B2}"/>
                  </a:ext>
                </a:extLst>
              </p:cNvPr>
              <p:cNvSpPr txBox="1">
                <a:spLocks noRot="1" noChangeAspect="1" noMove="1" noResize="1" noEditPoints="1" noAdjustHandles="1" noChangeArrowheads="1" noChangeShapeType="1" noTextEdit="1"/>
              </p:cNvSpPr>
              <p:nvPr/>
            </p:nvSpPr>
            <p:spPr>
              <a:xfrm>
                <a:off x="264405" y="2368627"/>
                <a:ext cx="2908453" cy="2308324"/>
              </a:xfrm>
              <a:prstGeom prst="rect">
                <a:avLst/>
              </a:prstGeom>
              <a:blipFill>
                <a:blip r:embed="rId9"/>
                <a:stretch>
                  <a:fillRect l="-6087" t="-3825" r="-6522" b="-8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03CCA17-809D-0D7F-34E2-ACBC01BC8BCD}"/>
                  </a:ext>
                </a:extLst>
              </p:cNvPr>
              <p:cNvSpPr txBox="1"/>
              <p:nvPr/>
            </p:nvSpPr>
            <p:spPr>
              <a:xfrm>
                <a:off x="8933692" y="3799788"/>
                <a:ext cx="2908453" cy="1754326"/>
              </a:xfrm>
              <a:prstGeom prst="rect">
                <a:avLst/>
              </a:prstGeom>
              <a:noFill/>
            </p:spPr>
            <p:txBody>
              <a:bodyPr wrap="square" rtlCol="0">
                <a:spAutoFit/>
              </a:bodyPr>
              <a:lstStyle/>
              <a:p>
                <a:pPr algn="just"/>
                <a14:m>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𝑝</m:t>
                        </m:r>
                      </m:e>
                      <m:sub>
                        <m:r>
                          <a:rPr lang="en-US" sz="3600" b="0" i="1" smtClean="0">
                            <a:latin typeface="Cambria Math" panose="02040503050406030204" pitchFamily="18" charset="0"/>
                          </a:rPr>
                          <m:t>1</m:t>
                        </m:r>
                      </m:sub>
                    </m:sSub>
                  </m:oMath>
                </a14:m>
                <a:r>
                  <a:rPr lang="en-US" sz="3600" dirty="0"/>
                  <a:t> = 0.54</a:t>
                </a:r>
                <a:br>
                  <a:rPr lang="en-US" sz="3600" dirty="0"/>
                </a:br>
                <a:br>
                  <a:rPr lang="en-US" sz="3600" dirty="0"/>
                </a:br>
                <a:endParaRPr lang="en-US" sz="3600" dirty="0"/>
              </a:p>
            </p:txBody>
          </p:sp>
        </mc:Choice>
        <mc:Fallback xmlns="">
          <p:sp>
            <p:nvSpPr>
              <p:cNvPr id="4" name="TextBox 3">
                <a:extLst>
                  <a:ext uri="{FF2B5EF4-FFF2-40B4-BE49-F238E27FC236}">
                    <a16:creationId xmlns:a16="http://schemas.microsoft.com/office/drawing/2014/main" id="{A03CCA17-809D-0D7F-34E2-ACBC01BC8BCD}"/>
                  </a:ext>
                </a:extLst>
              </p:cNvPr>
              <p:cNvSpPr txBox="1">
                <a:spLocks noRot="1" noChangeAspect="1" noMove="1" noResize="1" noEditPoints="1" noAdjustHandles="1" noChangeArrowheads="1" noChangeShapeType="1" noTextEdit="1"/>
              </p:cNvSpPr>
              <p:nvPr/>
            </p:nvSpPr>
            <p:spPr>
              <a:xfrm>
                <a:off x="8933692" y="3799788"/>
                <a:ext cx="2908453" cy="1754326"/>
              </a:xfrm>
              <a:prstGeom prst="rect">
                <a:avLst/>
              </a:prstGeom>
              <a:blipFill>
                <a:blip r:embed="rId10"/>
                <a:stretch>
                  <a:fillRect l="-2609" t="-5755" r="-6522"/>
                </a:stretch>
              </a:blipFill>
            </p:spPr>
            <p:txBody>
              <a:bodyPr/>
              <a:lstStyle/>
              <a:p>
                <a:r>
                  <a:rPr lang="en-US">
                    <a:noFill/>
                  </a:rPr>
                  <a:t> </a:t>
                </a:r>
              </a:p>
            </p:txBody>
          </p:sp>
        </mc:Fallback>
      </mc:AlternateContent>
    </p:spTree>
    <p:extLst>
      <p:ext uri="{BB962C8B-B14F-4D97-AF65-F5344CB8AC3E}">
        <p14:creationId xmlns:p14="http://schemas.microsoft.com/office/powerpoint/2010/main" val="42861804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5532A-05D8-FB8D-C475-E99E02BF65F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0E1D66-EA54-C4B7-0E21-60F7A8E478C8}"/>
              </a:ext>
            </a:extLst>
          </p:cNvPr>
          <p:cNvSpPr>
            <a:spLocks noGrp="1"/>
          </p:cNvSpPr>
          <p:nvPr>
            <p:ph idx="1"/>
          </p:nvPr>
        </p:nvSpPr>
        <p:spPr>
          <a:xfrm>
            <a:off x="480002" y="1296000"/>
            <a:ext cx="11102398" cy="4445149"/>
          </a:xfrm>
        </p:spPr>
        <p:txBody>
          <a:bodyPr/>
          <a:lstStyle/>
          <a:p>
            <a:r>
              <a:rPr lang="en-US" sz="3200" dirty="0"/>
              <a:t>C – Clarify the research question before running </a:t>
            </a:r>
            <a:r>
              <a:rPr lang="en-US" sz="3200" i="1" dirty="0"/>
              <a:t>any </a:t>
            </a:r>
            <a:r>
              <a:rPr lang="en-US" sz="3200" dirty="0"/>
              <a:t>tests or looking at results.</a:t>
            </a:r>
          </a:p>
          <a:p>
            <a:r>
              <a:rPr lang="en-US" sz="3200" dirty="0"/>
              <a:t>O – Operationalize the variables. </a:t>
            </a:r>
          </a:p>
          <a:p>
            <a:r>
              <a:rPr lang="en-US" sz="3200" dirty="0"/>
              <a:t>N – Null and alternative hypotheses.</a:t>
            </a:r>
          </a:p>
          <a:p>
            <a:r>
              <a:rPr lang="en-US" sz="3200" dirty="0"/>
              <a:t>D – Design: Independent, paired, repeated, randomized?</a:t>
            </a:r>
          </a:p>
          <a:p>
            <a:r>
              <a:rPr lang="en-US" sz="3200" dirty="0"/>
              <a:t>O – Observe the data before testing.</a:t>
            </a:r>
          </a:p>
          <a:p>
            <a:r>
              <a:rPr lang="en-US" sz="3200" dirty="0"/>
              <a:t>M – Match the test to the variable types and assumptions. </a:t>
            </a:r>
          </a:p>
          <a:p>
            <a:r>
              <a:rPr lang="en-US" sz="3200" dirty="0"/>
              <a:t>S – State the result accurately. </a:t>
            </a:r>
          </a:p>
          <a:p>
            <a:pPr marL="0" indent="0">
              <a:buNone/>
            </a:pPr>
            <a:r>
              <a:rPr lang="en-US" sz="3200" i="1" dirty="0"/>
              <a:t>Why? Because just like you were taught in sex-ed, you should always protect yourself against bad outcomes. </a:t>
            </a:r>
          </a:p>
          <a:p>
            <a:pPr marL="0" indent="0">
              <a:buNone/>
            </a:pPr>
            <a:endParaRPr lang="en-US" sz="3200" b="1" dirty="0"/>
          </a:p>
        </p:txBody>
      </p:sp>
      <p:sp>
        <p:nvSpPr>
          <p:cNvPr id="2" name="Title 1">
            <a:extLst>
              <a:ext uri="{FF2B5EF4-FFF2-40B4-BE49-F238E27FC236}">
                <a16:creationId xmlns:a16="http://schemas.microsoft.com/office/drawing/2014/main" id="{BC14715B-C839-2FBC-E7E6-892F0FBED434}"/>
              </a:ext>
            </a:extLst>
          </p:cNvPr>
          <p:cNvSpPr>
            <a:spLocks noGrp="1"/>
          </p:cNvSpPr>
          <p:nvPr>
            <p:ph type="title"/>
          </p:nvPr>
        </p:nvSpPr>
        <p:spPr/>
        <p:txBody>
          <a:bodyPr>
            <a:normAutofit/>
          </a:bodyPr>
          <a:lstStyle/>
          <a:p>
            <a:r>
              <a:rPr lang="en-US" dirty="0"/>
              <a:t>The CONDOMS checklist for Hypothesis Testing</a:t>
            </a:r>
          </a:p>
        </p:txBody>
      </p:sp>
    </p:spTree>
    <p:extLst>
      <p:ext uri="{BB962C8B-B14F-4D97-AF65-F5344CB8AC3E}">
        <p14:creationId xmlns:p14="http://schemas.microsoft.com/office/powerpoint/2010/main" val="9709316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D1A09-CD38-9779-6C1E-234EA26B55DC}"/>
              </a:ext>
            </a:extLst>
          </p:cNvPr>
          <p:cNvSpPr>
            <a:spLocks noGrp="1"/>
          </p:cNvSpPr>
          <p:nvPr>
            <p:ph type="title"/>
          </p:nvPr>
        </p:nvSpPr>
        <p:spPr/>
        <p:txBody>
          <a:bodyPr/>
          <a:lstStyle/>
          <a:p>
            <a:r>
              <a:rPr lang="en-US" sz="4400" dirty="0"/>
              <a:t>C – Clarify the research question</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B69880-8471-B4BC-84F0-266EB80D079E}"/>
                  </a:ext>
                </a:extLst>
              </p:cNvPr>
              <p:cNvSpPr>
                <a:spLocks noGrp="1"/>
              </p:cNvSpPr>
              <p:nvPr>
                <p:ph idx="1"/>
              </p:nvPr>
            </p:nvSpPr>
            <p:spPr/>
            <p:txBody>
              <a:bodyPr/>
              <a:lstStyle/>
              <a:p>
                <a:r>
                  <a:rPr lang="en-US" sz="3600" dirty="0"/>
                  <a:t>Bad:</a:t>
                </a:r>
              </a:p>
              <a:p>
                <a:pPr lvl="1"/>
                <a:r>
                  <a:rPr lang="en-US" sz="3200" dirty="0"/>
                  <a:t>“We collected some data, let’s see what is significant (</a:t>
                </a:r>
                <a14:m>
                  <m:oMath xmlns:m="http://schemas.openxmlformats.org/officeDocument/2006/math">
                    <m:r>
                      <a:rPr lang="en-US" sz="3200" b="0" i="1" smtClean="0">
                        <a:latin typeface="Cambria Math" panose="02040503050406030204" pitchFamily="18" charset="0"/>
                      </a:rPr>
                      <m:t>𝑝</m:t>
                    </m:r>
                    <m:r>
                      <a:rPr lang="en-US" sz="3200" b="0" i="1" smtClean="0">
                        <a:latin typeface="Cambria Math" panose="02040503050406030204" pitchFamily="18" charset="0"/>
                      </a:rPr>
                      <m:t>&lt;0.05</m:t>
                    </m:r>
                  </m:oMath>
                </a14:m>
                <a:r>
                  <a:rPr lang="en-US" sz="3200" dirty="0"/>
                  <a:t>).”</a:t>
                </a:r>
              </a:p>
              <a:p>
                <a:r>
                  <a:rPr lang="en-US" sz="3600" dirty="0"/>
                  <a:t>Good: </a:t>
                </a:r>
              </a:p>
              <a:p>
                <a:pPr lvl="1"/>
                <a:r>
                  <a:rPr lang="en-US" sz="3200" dirty="0"/>
                  <a:t>“Does dark mode change the probability of detecting a bug in a code screenshot?”</a:t>
                </a:r>
              </a:p>
              <a:p>
                <a:r>
                  <a:rPr lang="en-US" sz="3600" dirty="0"/>
                  <a:t>Great:</a:t>
                </a:r>
              </a:p>
              <a:p>
                <a:pPr lvl="1"/>
                <a:r>
                  <a:rPr lang="en-US" sz="3200" dirty="0"/>
                  <a:t>“Does dark mode increase probability of detecting a bug in a code screenshot by 2x?”</a:t>
                </a:r>
              </a:p>
            </p:txBody>
          </p:sp>
        </mc:Choice>
        <mc:Fallback xmlns="">
          <p:sp>
            <p:nvSpPr>
              <p:cNvPr id="3" name="Content Placeholder 2">
                <a:extLst>
                  <a:ext uri="{FF2B5EF4-FFF2-40B4-BE49-F238E27FC236}">
                    <a16:creationId xmlns:a16="http://schemas.microsoft.com/office/drawing/2014/main" id="{A7B69880-8471-B4BC-84F0-266EB80D079E}"/>
                  </a:ext>
                </a:extLst>
              </p:cNvPr>
              <p:cNvSpPr>
                <a:spLocks noGrp="1" noRot="1" noChangeAspect="1" noMove="1" noResize="1" noEditPoints="1" noAdjustHandles="1" noChangeArrowheads="1" noChangeShapeType="1" noTextEdit="1"/>
              </p:cNvSpPr>
              <p:nvPr>
                <p:ph idx="1"/>
              </p:nvPr>
            </p:nvSpPr>
            <p:spPr>
              <a:blipFill>
                <a:blip r:embed="rId2"/>
                <a:stretch>
                  <a:fillRect l="-2283" t="-3134" r="-1484" b="-8262"/>
                </a:stretch>
              </a:blipFill>
            </p:spPr>
            <p:txBody>
              <a:bodyPr/>
              <a:lstStyle/>
              <a:p>
                <a:r>
                  <a:rPr lang="en-US">
                    <a:noFill/>
                  </a:rPr>
                  <a:t> </a:t>
                </a:r>
              </a:p>
            </p:txBody>
          </p:sp>
        </mc:Fallback>
      </mc:AlternateContent>
    </p:spTree>
    <p:extLst>
      <p:ext uri="{BB962C8B-B14F-4D97-AF65-F5344CB8AC3E}">
        <p14:creationId xmlns:p14="http://schemas.microsoft.com/office/powerpoint/2010/main" val="194154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9A7E6-4394-0BB7-2851-E00B1827B513}"/>
              </a:ext>
            </a:extLst>
          </p:cNvPr>
          <p:cNvSpPr>
            <a:spLocks noGrp="1"/>
          </p:cNvSpPr>
          <p:nvPr>
            <p:ph type="title"/>
          </p:nvPr>
        </p:nvSpPr>
        <p:spPr/>
        <p:txBody>
          <a:bodyPr>
            <a:normAutofit/>
          </a:bodyPr>
          <a:lstStyle/>
          <a:p>
            <a:r>
              <a:rPr lang="en-US" sz="4400" dirty="0"/>
              <a:t>O – what is the Outcome variable?</a:t>
            </a:r>
            <a:endParaRPr lang="en-US" dirty="0"/>
          </a:p>
        </p:txBody>
      </p:sp>
      <p:graphicFrame>
        <p:nvGraphicFramePr>
          <p:cNvPr id="4" name="Content Placeholder 3">
            <a:extLst>
              <a:ext uri="{FF2B5EF4-FFF2-40B4-BE49-F238E27FC236}">
                <a16:creationId xmlns:a16="http://schemas.microsoft.com/office/drawing/2014/main" id="{EC91D76F-1730-24B2-40EE-57A828006BCA}"/>
              </a:ext>
            </a:extLst>
          </p:cNvPr>
          <p:cNvGraphicFramePr>
            <a:graphicFrameLocks noGrp="1"/>
          </p:cNvGraphicFramePr>
          <p:nvPr>
            <p:ph idx="1"/>
            <p:extLst>
              <p:ext uri="{D42A27DB-BD31-4B8C-83A1-F6EECF244321}">
                <p14:modId xmlns:p14="http://schemas.microsoft.com/office/powerpoint/2010/main" val="3151912822"/>
              </p:ext>
            </p:extLst>
          </p:nvPr>
        </p:nvGraphicFramePr>
        <p:xfrm>
          <a:off x="2760401" y="2286000"/>
          <a:ext cx="8574140" cy="2286000"/>
        </p:xfrm>
        <a:graphic>
          <a:graphicData uri="http://schemas.openxmlformats.org/drawingml/2006/table">
            <a:tbl>
              <a:tblPr/>
              <a:tblGrid>
                <a:gridCol w="3039391">
                  <a:extLst>
                    <a:ext uri="{9D8B030D-6E8A-4147-A177-3AD203B41FA5}">
                      <a16:colId xmlns:a16="http://schemas.microsoft.com/office/drawing/2014/main" val="4248812265"/>
                    </a:ext>
                  </a:extLst>
                </a:gridCol>
                <a:gridCol w="5534749">
                  <a:extLst>
                    <a:ext uri="{9D8B030D-6E8A-4147-A177-3AD203B41FA5}">
                      <a16:colId xmlns:a16="http://schemas.microsoft.com/office/drawing/2014/main" val="2119172108"/>
                    </a:ext>
                  </a:extLst>
                </a:gridCol>
              </a:tblGrid>
              <a:tr h="457200">
                <a:tc>
                  <a:txBody>
                    <a:bodyPr/>
                    <a:lstStyle/>
                    <a:p>
                      <a:pPr>
                        <a:buNone/>
                      </a:pPr>
                      <a:r>
                        <a:rPr lang="en-US" sz="2400" b="1" dirty="0"/>
                        <a:t>Concept</a:t>
                      </a:r>
                    </a:p>
                  </a:txBody>
                  <a:tcPr anchor="ctr">
                    <a:lnL>
                      <a:noFill/>
                    </a:lnL>
                    <a:lnR>
                      <a:noFill/>
                    </a:lnR>
                    <a:lnT>
                      <a:noFill/>
                    </a:lnT>
                    <a:lnB>
                      <a:noFill/>
                    </a:lnB>
                    <a:noFill/>
                  </a:tcPr>
                </a:tc>
                <a:tc>
                  <a:txBody>
                    <a:bodyPr/>
                    <a:lstStyle/>
                    <a:p>
                      <a:pPr>
                        <a:buNone/>
                      </a:pPr>
                      <a:r>
                        <a:rPr lang="en-US" sz="2400" b="1" dirty="0"/>
                        <a:t>Outcome variable</a:t>
                      </a:r>
                    </a:p>
                  </a:txBody>
                  <a:tcPr anchor="ctr">
                    <a:lnL>
                      <a:noFill/>
                    </a:lnL>
                    <a:lnR>
                      <a:noFill/>
                    </a:lnR>
                    <a:lnT>
                      <a:noFill/>
                    </a:lnT>
                    <a:lnB>
                      <a:noFill/>
                    </a:lnB>
                    <a:noFill/>
                  </a:tcPr>
                </a:tc>
                <a:extLst>
                  <a:ext uri="{0D108BD9-81ED-4DB2-BD59-A6C34878D82A}">
                    <a16:rowId xmlns:a16="http://schemas.microsoft.com/office/drawing/2014/main" val="3433293275"/>
                  </a:ext>
                </a:extLst>
              </a:tr>
              <a:tr h="457200">
                <a:tc>
                  <a:txBody>
                    <a:bodyPr/>
                    <a:lstStyle/>
                    <a:p>
                      <a:pPr>
                        <a:buNone/>
                      </a:pPr>
                      <a:r>
                        <a:rPr lang="en-US" sz="2400" dirty="0"/>
                        <a:t>Code readability</a:t>
                      </a:r>
                    </a:p>
                  </a:txBody>
                  <a:tcPr anchor="ctr">
                    <a:lnL>
                      <a:noFill/>
                    </a:lnL>
                    <a:lnR>
                      <a:noFill/>
                    </a:lnR>
                    <a:lnT>
                      <a:noFill/>
                    </a:lnT>
                    <a:lnB>
                      <a:noFill/>
                    </a:lnB>
                    <a:noFill/>
                  </a:tcPr>
                </a:tc>
                <a:tc>
                  <a:txBody>
                    <a:bodyPr/>
                    <a:lstStyle/>
                    <a:p>
                      <a:pPr>
                        <a:buNone/>
                      </a:pPr>
                      <a:r>
                        <a:rPr lang="en-US" sz="2400" dirty="0"/>
                        <a:t>time to correct answer</a:t>
                      </a:r>
                    </a:p>
                  </a:txBody>
                  <a:tcPr anchor="ctr">
                    <a:lnL>
                      <a:noFill/>
                    </a:lnL>
                    <a:lnR>
                      <a:noFill/>
                    </a:lnR>
                    <a:lnT>
                      <a:noFill/>
                    </a:lnT>
                    <a:lnB>
                      <a:noFill/>
                    </a:lnB>
                    <a:noFill/>
                  </a:tcPr>
                </a:tc>
                <a:extLst>
                  <a:ext uri="{0D108BD9-81ED-4DB2-BD59-A6C34878D82A}">
                    <a16:rowId xmlns:a16="http://schemas.microsoft.com/office/drawing/2014/main" val="1167568345"/>
                  </a:ext>
                </a:extLst>
              </a:tr>
              <a:tr h="457200">
                <a:tc>
                  <a:txBody>
                    <a:bodyPr/>
                    <a:lstStyle/>
                    <a:p>
                      <a:pPr>
                        <a:buNone/>
                      </a:pPr>
                      <a:r>
                        <a:rPr lang="en-US" sz="2400" dirty="0"/>
                        <a:t>UI error detection</a:t>
                      </a:r>
                    </a:p>
                  </a:txBody>
                  <a:tcPr anchor="ctr">
                    <a:lnL>
                      <a:noFill/>
                    </a:lnL>
                    <a:lnR>
                      <a:noFill/>
                    </a:lnR>
                    <a:lnT>
                      <a:noFill/>
                    </a:lnT>
                    <a:lnB>
                      <a:noFill/>
                    </a:lnB>
                    <a:noFill/>
                  </a:tcPr>
                </a:tc>
                <a:tc>
                  <a:txBody>
                    <a:bodyPr/>
                    <a:lstStyle/>
                    <a:p>
                      <a:pPr>
                        <a:buNone/>
                      </a:pPr>
                      <a:r>
                        <a:rPr lang="en-US" sz="2400" dirty="0"/>
                        <a:t>correct/incorrect detection</a:t>
                      </a:r>
                    </a:p>
                  </a:txBody>
                  <a:tcPr anchor="ctr">
                    <a:lnL>
                      <a:noFill/>
                    </a:lnL>
                    <a:lnR>
                      <a:noFill/>
                    </a:lnR>
                    <a:lnT>
                      <a:noFill/>
                    </a:lnT>
                    <a:lnB>
                      <a:noFill/>
                    </a:lnB>
                    <a:noFill/>
                  </a:tcPr>
                </a:tc>
                <a:extLst>
                  <a:ext uri="{0D108BD9-81ED-4DB2-BD59-A6C34878D82A}">
                    <a16:rowId xmlns:a16="http://schemas.microsoft.com/office/drawing/2014/main" val="1492395791"/>
                  </a:ext>
                </a:extLst>
              </a:tr>
              <a:tr h="457200">
                <a:tc>
                  <a:txBody>
                    <a:bodyPr/>
                    <a:lstStyle/>
                    <a:p>
                      <a:pPr>
                        <a:buNone/>
                      </a:pPr>
                      <a:r>
                        <a:rPr lang="en-US" sz="2400"/>
                        <a:t>Restaurant appeal</a:t>
                      </a:r>
                    </a:p>
                  </a:txBody>
                  <a:tcPr anchor="ctr">
                    <a:lnL>
                      <a:noFill/>
                    </a:lnL>
                    <a:lnR>
                      <a:noFill/>
                    </a:lnR>
                    <a:lnT>
                      <a:noFill/>
                    </a:lnT>
                    <a:lnB>
                      <a:noFill/>
                    </a:lnB>
                    <a:noFill/>
                  </a:tcPr>
                </a:tc>
                <a:tc>
                  <a:txBody>
                    <a:bodyPr/>
                    <a:lstStyle/>
                    <a:p>
                      <a:pPr>
                        <a:buNone/>
                      </a:pPr>
                      <a:r>
                        <a:rPr lang="en-US" sz="2400"/>
                        <a:t>1–7 rating</a:t>
                      </a:r>
                    </a:p>
                  </a:txBody>
                  <a:tcPr anchor="ctr">
                    <a:lnL>
                      <a:noFill/>
                    </a:lnL>
                    <a:lnR>
                      <a:noFill/>
                    </a:lnR>
                    <a:lnT>
                      <a:noFill/>
                    </a:lnT>
                    <a:lnB>
                      <a:noFill/>
                    </a:lnB>
                    <a:noFill/>
                  </a:tcPr>
                </a:tc>
                <a:extLst>
                  <a:ext uri="{0D108BD9-81ED-4DB2-BD59-A6C34878D82A}">
                    <a16:rowId xmlns:a16="http://schemas.microsoft.com/office/drawing/2014/main" val="1695029663"/>
                  </a:ext>
                </a:extLst>
              </a:tr>
              <a:tr h="457200">
                <a:tc>
                  <a:txBody>
                    <a:bodyPr/>
                    <a:lstStyle/>
                    <a:p>
                      <a:pPr>
                        <a:buNone/>
                      </a:pPr>
                      <a:r>
                        <a:rPr lang="en-US" sz="2400"/>
                        <a:t>Ranking disagreement</a:t>
                      </a:r>
                    </a:p>
                  </a:txBody>
                  <a:tcPr anchor="ctr">
                    <a:lnL>
                      <a:noFill/>
                    </a:lnL>
                    <a:lnR>
                      <a:noFill/>
                    </a:lnR>
                    <a:lnT>
                      <a:noFill/>
                    </a:lnT>
                    <a:lnB>
                      <a:noFill/>
                    </a:lnB>
                    <a:noFill/>
                  </a:tcPr>
                </a:tc>
                <a:tc>
                  <a:txBody>
                    <a:bodyPr/>
                    <a:lstStyle/>
                    <a:p>
                      <a:pPr>
                        <a:buNone/>
                      </a:pPr>
                      <a:r>
                        <a:rPr lang="en-US" sz="2400" dirty="0"/>
                        <a:t>rank order / agreement score</a:t>
                      </a:r>
                    </a:p>
                  </a:txBody>
                  <a:tcPr anchor="ctr">
                    <a:lnL>
                      <a:noFill/>
                    </a:lnL>
                    <a:lnR>
                      <a:noFill/>
                    </a:lnR>
                    <a:lnT>
                      <a:noFill/>
                    </a:lnT>
                    <a:lnB>
                      <a:noFill/>
                    </a:lnB>
                    <a:noFill/>
                  </a:tcPr>
                </a:tc>
                <a:extLst>
                  <a:ext uri="{0D108BD9-81ED-4DB2-BD59-A6C34878D82A}">
                    <a16:rowId xmlns:a16="http://schemas.microsoft.com/office/drawing/2014/main" val="258843668"/>
                  </a:ext>
                </a:extLst>
              </a:tr>
            </a:tbl>
          </a:graphicData>
        </a:graphic>
      </p:graphicFrame>
    </p:spTree>
    <p:extLst>
      <p:ext uri="{BB962C8B-B14F-4D97-AF65-F5344CB8AC3E}">
        <p14:creationId xmlns:p14="http://schemas.microsoft.com/office/powerpoint/2010/main" val="13781194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78EB8-47AA-FC06-4CAE-0510E3F6C4AF}"/>
              </a:ext>
            </a:extLst>
          </p:cNvPr>
          <p:cNvSpPr>
            <a:spLocks noGrp="1"/>
          </p:cNvSpPr>
          <p:nvPr>
            <p:ph type="title"/>
          </p:nvPr>
        </p:nvSpPr>
        <p:spPr/>
        <p:txBody>
          <a:bodyPr>
            <a:normAutofit fontScale="90000"/>
          </a:bodyPr>
          <a:lstStyle/>
          <a:p>
            <a:r>
              <a:rPr lang="en-US" sz="4400" dirty="0"/>
              <a:t>N – Null and alternative hypotheses.</a:t>
            </a:r>
            <a:br>
              <a:rPr lang="en-US" sz="4400" dirty="0"/>
            </a:b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F08471E-EF9B-358C-0391-4CBF4A9FD463}"/>
                  </a:ext>
                </a:extLst>
              </p:cNvPr>
              <p:cNvSpPr>
                <a:spLocks noGrp="1"/>
              </p:cNvSpPr>
              <p:nvPr>
                <p:ph idx="1"/>
              </p:nvPr>
            </p:nvSpPr>
            <p:spPr/>
            <p:txBody>
              <a:bodyPr/>
              <a:lstStyle/>
              <a:p>
                <a:r>
                  <a:rPr lang="en-US" sz="3200" dirty="0"/>
                  <a:t>Write out your null and alternative hypotheses in both plain English and in quantitative statistical notation. </a:t>
                </a:r>
              </a:p>
              <a:p>
                <a:r>
                  <a:rPr lang="en-US" sz="3200" dirty="0"/>
                  <a:t>Example – Plain English:</a:t>
                </a:r>
              </a:p>
              <a:p>
                <a:pPr lvl="1"/>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𝐻</m:t>
                        </m:r>
                      </m:e>
                      <m:sub>
                        <m:r>
                          <a:rPr lang="en-US" sz="2800" b="0" i="1" smtClean="0">
                            <a:latin typeface="Cambria Math" panose="02040503050406030204" pitchFamily="18" charset="0"/>
                          </a:rPr>
                          <m:t>0</m:t>
                        </m:r>
                      </m:sub>
                    </m:sSub>
                    <m:r>
                      <a:rPr lang="en-US" sz="2800" b="0" i="1" smtClean="0">
                        <a:latin typeface="Cambria Math" panose="02040503050406030204" pitchFamily="18" charset="0"/>
                      </a:rPr>
                      <m:t>: </m:t>
                    </m:r>
                  </m:oMath>
                </a14:m>
                <a:r>
                  <a:rPr lang="en-US" sz="2800" dirty="0"/>
                  <a:t>Mean response time is the same for Python and Java code snippets.</a:t>
                </a:r>
              </a:p>
              <a:p>
                <a:pPr lvl="1"/>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𝐻</m:t>
                        </m:r>
                      </m:e>
                      <m:sub>
                        <m:r>
                          <a:rPr lang="en-US" sz="2800" b="0" i="1" smtClean="0">
                            <a:latin typeface="Cambria Math" panose="02040503050406030204" pitchFamily="18" charset="0"/>
                          </a:rPr>
                          <m:t>1</m:t>
                        </m:r>
                      </m:sub>
                    </m:sSub>
                  </m:oMath>
                </a14:m>
                <a:r>
                  <a:rPr lang="en-US" sz="2800" dirty="0"/>
                  <a:t>: Mean response time differs between Python and Java code snippets.</a:t>
                </a:r>
              </a:p>
              <a:p>
                <a:r>
                  <a:rPr lang="en-US" sz="3600" dirty="0"/>
                  <a:t>Example – Statistical notation:</a:t>
                </a:r>
              </a:p>
              <a:p>
                <a:pPr lvl="1"/>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𝐻</m:t>
                        </m:r>
                      </m:e>
                      <m:sub>
                        <m:r>
                          <a:rPr lang="en-US" sz="2800" b="0" i="1" smtClean="0">
                            <a:latin typeface="Cambria Math" panose="02040503050406030204" pitchFamily="18" charset="0"/>
                          </a:rPr>
                          <m:t>0</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𝑅𝑇</m:t>
                            </m:r>
                          </m:e>
                        </m:acc>
                      </m:e>
                      <m:sub>
                        <m:r>
                          <a:rPr lang="en-US" sz="2800" b="0" i="1" smtClean="0">
                            <a:latin typeface="Cambria Math" panose="02040503050406030204" pitchFamily="18" charset="0"/>
                          </a:rPr>
                          <m:t>𝑃𝑦𝑡h𝑜𝑛</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panose="02040503050406030204" pitchFamily="18" charset="0"/>
                              </a:rPr>
                              <m:t>𝑅𝑇</m:t>
                            </m:r>
                          </m:e>
                        </m:acc>
                      </m:e>
                      <m:sub>
                        <m:r>
                          <a:rPr lang="en-US" sz="2800" b="0" i="1" smtClean="0">
                            <a:latin typeface="Cambria Math" panose="02040503050406030204" pitchFamily="18" charset="0"/>
                          </a:rPr>
                          <m:t>𝐽𝑎𝑣𝑎</m:t>
                        </m:r>
                      </m:sub>
                    </m:sSub>
                  </m:oMath>
                </a14:m>
                <a:endParaRPr lang="en-US" sz="2800" dirty="0"/>
              </a:p>
              <a:p>
                <a:pPr lvl="1"/>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𝐻</m:t>
                        </m:r>
                      </m:e>
                      <m:sub>
                        <m:r>
                          <a:rPr lang="en-US" sz="2800" b="0" i="1" smtClean="0">
                            <a:latin typeface="Cambria Math" panose="02040503050406030204" pitchFamily="18" charset="0"/>
                          </a:rPr>
                          <m:t>1</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panose="02040503050406030204" pitchFamily="18" charset="0"/>
                              </a:rPr>
                              <m:t>𝑅𝑇</m:t>
                            </m:r>
                          </m:e>
                        </m:acc>
                      </m:e>
                      <m:sub>
                        <m:r>
                          <a:rPr lang="en-US" sz="2800" i="1">
                            <a:latin typeface="Cambria Math" panose="02040503050406030204" pitchFamily="18" charset="0"/>
                          </a:rPr>
                          <m:t>𝑃𝑦𝑡h𝑜𝑛</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panose="02040503050406030204" pitchFamily="18" charset="0"/>
                              </a:rPr>
                              <m:t>𝑅𝑇</m:t>
                            </m:r>
                          </m:e>
                        </m:acc>
                      </m:e>
                      <m:sub>
                        <m:r>
                          <a:rPr lang="en-US" sz="2800" i="1">
                            <a:latin typeface="Cambria Math" panose="02040503050406030204" pitchFamily="18" charset="0"/>
                          </a:rPr>
                          <m:t>𝐽𝑎𝑣𝑎</m:t>
                        </m:r>
                      </m:sub>
                    </m:sSub>
                  </m:oMath>
                </a14:m>
                <a:endParaRPr lang="en-US" sz="2800" dirty="0"/>
              </a:p>
              <a:p>
                <a:endParaRPr lang="en-US" dirty="0"/>
              </a:p>
            </p:txBody>
          </p:sp>
        </mc:Choice>
        <mc:Fallback xmlns="">
          <p:sp>
            <p:nvSpPr>
              <p:cNvPr id="3" name="Content Placeholder 2">
                <a:extLst>
                  <a:ext uri="{FF2B5EF4-FFF2-40B4-BE49-F238E27FC236}">
                    <a16:creationId xmlns:a16="http://schemas.microsoft.com/office/drawing/2014/main" id="{EF08471E-EF9B-358C-0391-4CBF4A9FD463}"/>
                  </a:ext>
                </a:extLst>
              </p:cNvPr>
              <p:cNvSpPr>
                <a:spLocks noGrp="1" noRot="1" noChangeAspect="1" noMove="1" noResize="1" noEditPoints="1" noAdjustHandles="1" noChangeArrowheads="1" noChangeShapeType="1" noTextEdit="1"/>
              </p:cNvSpPr>
              <p:nvPr>
                <p:ph idx="1"/>
              </p:nvPr>
            </p:nvSpPr>
            <p:spPr>
              <a:blipFill>
                <a:blip r:embed="rId2"/>
                <a:stretch>
                  <a:fillRect l="-2283" t="-2849" b="-8262"/>
                </a:stretch>
              </a:blipFill>
            </p:spPr>
            <p:txBody>
              <a:bodyPr/>
              <a:lstStyle/>
              <a:p>
                <a:r>
                  <a:rPr lang="en-US">
                    <a:noFill/>
                  </a:rPr>
                  <a:t> </a:t>
                </a:r>
              </a:p>
            </p:txBody>
          </p:sp>
        </mc:Fallback>
      </mc:AlternateContent>
    </p:spTree>
    <p:extLst>
      <p:ext uri="{BB962C8B-B14F-4D97-AF65-F5344CB8AC3E}">
        <p14:creationId xmlns:p14="http://schemas.microsoft.com/office/powerpoint/2010/main" val="35183825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83F13-6A6B-0997-BCC6-E12BD3105AC9}"/>
              </a:ext>
            </a:extLst>
          </p:cNvPr>
          <p:cNvSpPr>
            <a:spLocks noGrp="1"/>
          </p:cNvSpPr>
          <p:nvPr>
            <p:ph type="title"/>
          </p:nvPr>
        </p:nvSpPr>
        <p:spPr/>
        <p:txBody>
          <a:bodyPr>
            <a:normAutofit fontScale="90000"/>
          </a:bodyPr>
          <a:lstStyle/>
          <a:p>
            <a:r>
              <a:rPr lang="en-US" sz="4400" dirty="0"/>
              <a:t>D – Design: Independent, paired, repeated, randomized?</a:t>
            </a:r>
            <a:br>
              <a:rPr lang="en-US" sz="4400" dirty="0"/>
            </a:br>
            <a:endParaRPr lang="en-US" dirty="0"/>
          </a:p>
        </p:txBody>
      </p:sp>
      <p:sp>
        <p:nvSpPr>
          <p:cNvPr id="3" name="Content Placeholder 2">
            <a:extLst>
              <a:ext uri="{FF2B5EF4-FFF2-40B4-BE49-F238E27FC236}">
                <a16:creationId xmlns:a16="http://schemas.microsoft.com/office/drawing/2014/main" id="{668851C1-6B6E-548F-F4DC-23411859D4CC}"/>
              </a:ext>
            </a:extLst>
          </p:cNvPr>
          <p:cNvSpPr>
            <a:spLocks noGrp="1"/>
          </p:cNvSpPr>
          <p:nvPr>
            <p:ph idx="1"/>
          </p:nvPr>
        </p:nvSpPr>
        <p:spPr>
          <a:xfrm>
            <a:off x="480001" y="1567543"/>
            <a:ext cx="11102399" cy="4173606"/>
          </a:xfrm>
        </p:spPr>
        <p:txBody>
          <a:bodyPr/>
          <a:lstStyle/>
          <a:p>
            <a:r>
              <a:rPr lang="en-US" sz="3600" dirty="0"/>
              <a:t>Are the groups you have made of different people or did the same person experience both conditions? </a:t>
            </a:r>
          </a:p>
          <a:p>
            <a:endParaRPr lang="en-US" sz="3600" dirty="0"/>
          </a:p>
          <a:p>
            <a:pPr lvl="1"/>
            <a:r>
              <a:rPr lang="en-US" sz="3066" dirty="0"/>
              <a:t>Independent: distinct people in groups</a:t>
            </a:r>
          </a:p>
          <a:p>
            <a:pPr lvl="1"/>
            <a:r>
              <a:rPr lang="en-US" sz="3066" dirty="0"/>
              <a:t>Pairs: same people in both groups</a:t>
            </a:r>
          </a:p>
          <a:p>
            <a:pPr lvl="1"/>
            <a:r>
              <a:rPr lang="en-US" sz="3066" dirty="0"/>
              <a:t>Repeated: same people tested multiple times</a:t>
            </a:r>
          </a:p>
          <a:p>
            <a:pPr lvl="1"/>
            <a:r>
              <a:rPr lang="en-US" sz="3066" dirty="0"/>
              <a:t>Randomized: distinct and randomly assigned people in groups</a:t>
            </a:r>
          </a:p>
        </p:txBody>
      </p:sp>
    </p:spTree>
    <p:extLst>
      <p:ext uri="{BB962C8B-B14F-4D97-AF65-F5344CB8AC3E}">
        <p14:creationId xmlns:p14="http://schemas.microsoft.com/office/powerpoint/2010/main" val="41101803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0631F-AC9D-0399-10F3-5E86D16A4B8A}"/>
              </a:ext>
            </a:extLst>
          </p:cNvPr>
          <p:cNvSpPr>
            <a:spLocks noGrp="1"/>
          </p:cNvSpPr>
          <p:nvPr>
            <p:ph type="title"/>
          </p:nvPr>
        </p:nvSpPr>
        <p:spPr/>
        <p:txBody>
          <a:bodyPr>
            <a:normAutofit fontScale="90000"/>
          </a:bodyPr>
          <a:lstStyle/>
          <a:p>
            <a:r>
              <a:rPr lang="en-US" sz="4400" dirty="0"/>
              <a:t>O – Observe the data before testing.</a:t>
            </a:r>
            <a:br>
              <a:rPr lang="en-US" sz="4400" dirty="0"/>
            </a:br>
            <a:endParaRPr lang="en-US" dirty="0"/>
          </a:p>
        </p:txBody>
      </p:sp>
      <p:sp>
        <p:nvSpPr>
          <p:cNvPr id="3" name="Content Placeholder 2">
            <a:extLst>
              <a:ext uri="{FF2B5EF4-FFF2-40B4-BE49-F238E27FC236}">
                <a16:creationId xmlns:a16="http://schemas.microsoft.com/office/drawing/2014/main" id="{612C6794-9A4D-A5A1-DFD6-6E52BCA0FB58}"/>
              </a:ext>
            </a:extLst>
          </p:cNvPr>
          <p:cNvSpPr>
            <a:spLocks noGrp="1"/>
          </p:cNvSpPr>
          <p:nvPr>
            <p:ph idx="1"/>
          </p:nvPr>
        </p:nvSpPr>
        <p:spPr/>
        <p:txBody>
          <a:bodyPr/>
          <a:lstStyle/>
          <a:p>
            <a:r>
              <a:rPr lang="en-US" dirty="0"/>
              <a:t>Before running any test, visualize your data and:</a:t>
            </a:r>
          </a:p>
          <a:p>
            <a:pPr lvl="1"/>
            <a:r>
              <a:rPr lang="en-US" dirty="0"/>
              <a:t>Check for missing data (and fill it in, with a mean/median/more complex approach)</a:t>
            </a:r>
          </a:p>
          <a:p>
            <a:pPr lvl="1"/>
            <a:r>
              <a:rPr lang="en-US" dirty="0"/>
              <a:t>Check for impossible values</a:t>
            </a:r>
          </a:p>
          <a:p>
            <a:pPr lvl="1"/>
            <a:r>
              <a:rPr lang="en-US" dirty="0"/>
              <a:t>Count group sizes</a:t>
            </a:r>
          </a:p>
          <a:p>
            <a:pPr lvl="1"/>
            <a:r>
              <a:rPr lang="en-US" dirty="0"/>
              <a:t>Inspect potential outliers and decide what to do about them (justify this!)</a:t>
            </a:r>
          </a:p>
          <a:p>
            <a:pPr lvl="1"/>
            <a:endParaRPr lang="en-US" dirty="0"/>
          </a:p>
        </p:txBody>
      </p:sp>
    </p:spTree>
    <p:extLst>
      <p:ext uri="{BB962C8B-B14F-4D97-AF65-F5344CB8AC3E}">
        <p14:creationId xmlns:p14="http://schemas.microsoft.com/office/powerpoint/2010/main" val="14823889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31128-6CC3-36E3-4B75-E622874160EE}"/>
              </a:ext>
            </a:extLst>
          </p:cNvPr>
          <p:cNvSpPr>
            <a:spLocks noGrp="1"/>
          </p:cNvSpPr>
          <p:nvPr>
            <p:ph type="title"/>
          </p:nvPr>
        </p:nvSpPr>
        <p:spPr/>
        <p:txBody>
          <a:bodyPr>
            <a:normAutofit fontScale="90000"/>
          </a:bodyPr>
          <a:lstStyle/>
          <a:p>
            <a:r>
              <a:rPr lang="en-US" sz="4400" dirty="0"/>
              <a:t>M – Match the test to the variable types and assumptions. </a:t>
            </a:r>
            <a:br>
              <a:rPr lang="en-US" sz="4400" dirty="0"/>
            </a:br>
            <a:endParaRPr lang="en-US" dirty="0"/>
          </a:p>
        </p:txBody>
      </p:sp>
      <p:sp>
        <p:nvSpPr>
          <p:cNvPr id="3" name="Content Placeholder 2">
            <a:extLst>
              <a:ext uri="{FF2B5EF4-FFF2-40B4-BE49-F238E27FC236}">
                <a16:creationId xmlns:a16="http://schemas.microsoft.com/office/drawing/2014/main" id="{DEC01E69-7E84-0A60-1EFB-DD67491248BF}"/>
              </a:ext>
            </a:extLst>
          </p:cNvPr>
          <p:cNvSpPr>
            <a:spLocks noGrp="1"/>
          </p:cNvSpPr>
          <p:nvPr>
            <p:ph idx="1"/>
          </p:nvPr>
        </p:nvSpPr>
        <p:spPr>
          <a:xfrm>
            <a:off x="480001" y="1689463"/>
            <a:ext cx="11102399" cy="4051686"/>
          </a:xfrm>
        </p:spPr>
        <p:txBody>
          <a:bodyPr/>
          <a:lstStyle/>
          <a:p>
            <a:r>
              <a:rPr lang="en-US" dirty="0"/>
              <a:t>Depending on variable types (numeric/count/etc.) </a:t>
            </a:r>
          </a:p>
          <a:p>
            <a:r>
              <a:rPr lang="en-US" dirty="0"/>
              <a:t>Depending on the design (independent or paired)</a:t>
            </a:r>
          </a:p>
          <a:p>
            <a:r>
              <a:rPr lang="en-US" dirty="0"/>
              <a:t>Depending on research question</a:t>
            </a:r>
          </a:p>
          <a:p>
            <a:r>
              <a:rPr lang="en-US" dirty="0"/>
              <a:t>Choose the correct test!</a:t>
            </a:r>
          </a:p>
        </p:txBody>
      </p:sp>
    </p:spTree>
    <p:extLst>
      <p:ext uri="{BB962C8B-B14F-4D97-AF65-F5344CB8AC3E}">
        <p14:creationId xmlns:p14="http://schemas.microsoft.com/office/powerpoint/2010/main" val="31694263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CAFA5-61A1-5F89-946C-7237691AC0FF}"/>
              </a:ext>
            </a:extLst>
          </p:cNvPr>
          <p:cNvSpPr>
            <a:spLocks noGrp="1"/>
          </p:cNvSpPr>
          <p:nvPr>
            <p:ph type="title"/>
          </p:nvPr>
        </p:nvSpPr>
        <p:spPr/>
        <p:txBody>
          <a:bodyPr>
            <a:normAutofit fontScale="90000"/>
          </a:bodyPr>
          <a:lstStyle/>
          <a:p>
            <a:r>
              <a:rPr lang="en-US" sz="4400" dirty="0"/>
              <a:t>S – State the result accurately. </a:t>
            </a:r>
            <a:br>
              <a:rPr lang="en-US" sz="4400" dirty="0"/>
            </a:br>
            <a:endParaRPr lang="en-US" dirty="0"/>
          </a:p>
        </p:txBody>
      </p:sp>
      <p:sp>
        <p:nvSpPr>
          <p:cNvPr id="3" name="Content Placeholder 2">
            <a:extLst>
              <a:ext uri="{FF2B5EF4-FFF2-40B4-BE49-F238E27FC236}">
                <a16:creationId xmlns:a16="http://schemas.microsoft.com/office/drawing/2014/main" id="{8E10C2C0-FCED-F9AE-1ADB-B9710B3D021B}"/>
              </a:ext>
            </a:extLst>
          </p:cNvPr>
          <p:cNvSpPr>
            <a:spLocks noGrp="1"/>
          </p:cNvSpPr>
          <p:nvPr>
            <p:ph idx="1"/>
          </p:nvPr>
        </p:nvSpPr>
        <p:spPr/>
        <p:txBody>
          <a:bodyPr/>
          <a:lstStyle/>
          <a:p>
            <a:r>
              <a:rPr lang="en-US" sz="3200" dirty="0"/>
              <a:t>Every result you present should include:</a:t>
            </a:r>
          </a:p>
          <a:p>
            <a:pPr lvl="1"/>
            <a:r>
              <a:rPr lang="en-US" sz="2800" dirty="0"/>
              <a:t>Descriptive statistic value</a:t>
            </a:r>
          </a:p>
          <a:p>
            <a:pPr lvl="1"/>
            <a:r>
              <a:rPr lang="en-US" sz="2800" dirty="0"/>
              <a:t>Test statistic value</a:t>
            </a:r>
          </a:p>
          <a:p>
            <a:pPr lvl="1"/>
            <a:r>
              <a:rPr lang="en-US" sz="2800" dirty="0"/>
              <a:t>Degrees of freedom, when relevant</a:t>
            </a:r>
          </a:p>
          <a:p>
            <a:pPr lvl="1"/>
            <a:r>
              <a:rPr lang="en-US" sz="2800" dirty="0"/>
              <a:t>P-value</a:t>
            </a:r>
          </a:p>
          <a:p>
            <a:pPr lvl="1"/>
            <a:r>
              <a:rPr lang="en-US" sz="2800" dirty="0"/>
              <a:t>Confidence limits (when possible)</a:t>
            </a:r>
          </a:p>
          <a:p>
            <a:pPr lvl="1"/>
            <a:r>
              <a:rPr lang="en-US" sz="2800" dirty="0"/>
              <a:t>Plain English interpretation</a:t>
            </a:r>
          </a:p>
          <a:p>
            <a:r>
              <a:rPr lang="en-US" sz="3200" dirty="0"/>
              <a:t>E.g. Mean rection time difference was 1.5 s (paired t-test p&lt;0.05, </a:t>
            </a:r>
            <a:r>
              <a:rPr lang="en-US" sz="3200" dirty="0" err="1"/>
              <a:t>df</a:t>
            </a:r>
            <a:r>
              <a:rPr lang="en-US" sz="3200" dirty="0"/>
              <a:t> = 12, t= </a:t>
            </a:r>
            <a:r>
              <a:rPr lang="en-US" sz="3200" dirty="0" err="1"/>
              <a:t>xyz</a:t>
            </a:r>
            <a:r>
              <a:rPr lang="en-US" sz="3200" dirty="0"/>
              <a:t>, [1.0,2.0]) suggesting Python was quicker judged than Java.</a:t>
            </a:r>
          </a:p>
        </p:txBody>
      </p:sp>
    </p:spTree>
    <p:extLst>
      <p:ext uri="{BB962C8B-B14F-4D97-AF65-F5344CB8AC3E}">
        <p14:creationId xmlns:p14="http://schemas.microsoft.com/office/powerpoint/2010/main" val="41532831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7CCEC-AB08-D68E-8783-6D69149AE588}"/>
              </a:ext>
            </a:extLst>
          </p:cNvPr>
          <p:cNvSpPr>
            <a:spLocks noGrp="1"/>
          </p:cNvSpPr>
          <p:nvPr>
            <p:ph type="title"/>
          </p:nvPr>
        </p:nvSpPr>
        <p:spPr/>
        <p:txBody>
          <a:bodyPr/>
          <a:lstStyle/>
          <a:p>
            <a:r>
              <a:rPr lang="en-US" sz="4000" dirty="0"/>
              <a:t>M – Match the test</a:t>
            </a:r>
            <a:endParaRPr lang="en-US" dirty="0"/>
          </a:p>
        </p:txBody>
      </p:sp>
      <p:graphicFrame>
        <p:nvGraphicFramePr>
          <p:cNvPr id="4" name="Content Placeholder 3">
            <a:extLst>
              <a:ext uri="{FF2B5EF4-FFF2-40B4-BE49-F238E27FC236}">
                <a16:creationId xmlns:a16="http://schemas.microsoft.com/office/drawing/2014/main" id="{0F60061F-5BC2-4E9F-302B-A410E0A60412}"/>
              </a:ext>
            </a:extLst>
          </p:cNvPr>
          <p:cNvGraphicFramePr>
            <a:graphicFrameLocks noGrp="1"/>
          </p:cNvGraphicFramePr>
          <p:nvPr>
            <p:ph idx="1"/>
            <p:extLst>
              <p:ext uri="{D42A27DB-BD31-4B8C-83A1-F6EECF244321}">
                <p14:modId xmlns:p14="http://schemas.microsoft.com/office/powerpoint/2010/main" val="3647266507"/>
              </p:ext>
            </p:extLst>
          </p:nvPr>
        </p:nvGraphicFramePr>
        <p:xfrm>
          <a:off x="480000" y="1177333"/>
          <a:ext cx="11102400" cy="5057752"/>
        </p:xfrm>
        <a:graphic>
          <a:graphicData uri="http://schemas.openxmlformats.org/drawingml/2006/table">
            <a:tbl>
              <a:tblPr/>
              <a:tblGrid>
                <a:gridCol w="2220480">
                  <a:extLst>
                    <a:ext uri="{9D8B030D-6E8A-4147-A177-3AD203B41FA5}">
                      <a16:colId xmlns:a16="http://schemas.microsoft.com/office/drawing/2014/main" val="2756978377"/>
                    </a:ext>
                  </a:extLst>
                </a:gridCol>
                <a:gridCol w="2220480">
                  <a:extLst>
                    <a:ext uri="{9D8B030D-6E8A-4147-A177-3AD203B41FA5}">
                      <a16:colId xmlns:a16="http://schemas.microsoft.com/office/drawing/2014/main" val="1797948061"/>
                    </a:ext>
                  </a:extLst>
                </a:gridCol>
                <a:gridCol w="2220480">
                  <a:extLst>
                    <a:ext uri="{9D8B030D-6E8A-4147-A177-3AD203B41FA5}">
                      <a16:colId xmlns:a16="http://schemas.microsoft.com/office/drawing/2014/main" val="1654039160"/>
                    </a:ext>
                  </a:extLst>
                </a:gridCol>
                <a:gridCol w="2220480">
                  <a:extLst>
                    <a:ext uri="{9D8B030D-6E8A-4147-A177-3AD203B41FA5}">
                      <a16:colId xmlns:a16="http://schemas.microsoft.com/office/drawing/2014/main" val="2010441716"/>
                    </a:ext>
                  </a:extLst>
                </a:gridCol>
                <a:gridCol w="2220480">
                  <a:extLst>
                    <a:ext uri="{9D8B030D-6E8A-4147-A177-3AD203B41FA5}">
                      <a16:colId xmlns:a16="http://schemas.microsoft.com/office/drawing/2014/main" val="4131881930"/>
                    </a:ext>
                  </a:extLst>
                </a:gridCol>
              </a:tblGrid>
              <a:tr h="313970">
                <a:tc>
                  <a:txBody>
                    <a:bodyPr/>
                    <a:lstStyle/>
                    <a:p>
                      <a:pPr algn="ctr">
                        <a:buNone/>
                      </a:pPr>
                      <a:r>
                        <a:rPr lang="en-US" sz="1800" b="1" i="1" dirty="0"/>
                        <a:t>Research question type</a:t>
                      </a:r>
                    </a:p>
                  </a:txBody>
                  <a:tcPr marL="32445" marR="32445" marT="16223" marB="16223"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US" sz="1800" b="1" i="1" dirty="0"/>
                        <a:t>Outcome</a:t>
                      </a:r>
                    </a:p>
                  </a:txBody>
                  <a:tcPr marL="32445" marR="32445" marT="16223" marB="16223"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US" sz="1800" b="1" i="1" dirty="0"/>
                        <a:t>Predictor / groups</a:t>
                      </a:r>
                    </a:p>
                  </a:txBody>
                  <a:tcPr marL="32445" marR="32445" marT="16223" marB="16223"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US" sz="1800" b="1" i="1" dirty="0"/>
                        <a:t>Typical test</a:t>
                      </a:r>
                    </a:p>
                  </a:txBody>
                  <a:tcPr marL="32445" marR="32445" marT="16223" marB="16223"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US" sz="1800" b="1" i="1" dirty="0"/>
                        <a:t>What to visualize</a:t>
                      </a:r>
                    </a:p>
                  </a:txBody>
                  <a:tcPr marL="32445" marR="32445" marT="16223" marB="16223"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2150692"/>
                  </a:ext>
                </a:extLst>
              </a:tr>
              <a:tr h="453513">
                <a:tc>
                  <a:txBody>
                    <a:bodyPr/>
                    <a:lstStyle/>
                    <a:p>
                      <a:pPr>
                        <a:buNone/>
                      </a:pPr>
                      <a:r>
                        <a:rPr lang="en-US" sz="1400" b="1" dirty="0"/>
                        <a:t>Do two independent groups differ?</a:t>
                      </a:r>
                    </a:p>
                  </a:txBody>
                  <a:tcPr marL="32445" marR="32445" marT="16223" marB="16223"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buNone/>
                      </a:pPr>
                      <a:r>
                        <a:rPr lang="en-US" sz="1400" b="1" dirty="0"/>
                        <a:t>Numeric</a:t>
                      </a:r>
                    </a:p>
                  </a:txBody>
                  <a:tcPr marL="32445" marR="32445" marT="16223" marB="16223"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buNone/>
                      </a:pPr>
                      <a:r>
                        <a:rPr lang="en-US" sz="1400" b="1"/>
                        <a:t>2 independent groups</a:t>
                      </a:r>
                    </a:p>
                  </a:txBody>
                  <a:tcPr marL="32445" marR="32445" marT="16223" marB="16223"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buNone/>
                      </a:pPr>
                      <a:r>
                        <a:rPr lang="en-US" sz="1400" b="1"/>
                        <a:t>Welch two-sample t-test</a:t>
                      </a:r>
                    </a:p>
                  </a:txBody>
                  <a:tcPr marL="32445" marR="32445" marT="16223" marB="16223"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buNone/>
                      </a:pPr>
                      <a:r>
                        <a:rPr lang="en-US" sz="1400" b="1"/>
                        <a:t>boxplot/violin + points</a:t>
                      </a:r>
                    </a:p>
                  </a:txBody>
                  <a:tcPr marL="32445" marR="32445" marT="16223" marB="16223"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191450371"/>
                  </a:ext>
                </a:extLst>
              </a:tr>
              <a:tr h="593056">
                <a:tc>
                  <a:txBody>
                    <a:bodyPr/>
                    <a:lstStyle/>
                    <a:p>
                      <a:pPr>
                        <a:buNone/>
                      </a:pPr>
                      <a:r>
                        <a:rPr lang="en-US" sz="1400" b="1" dirty="0"/>
                        <a:t>Do the same people differ across two conditions?</a:t>
                      </a:r>
                    </a:p>
                  </a:txBody>
                  <a:tcPr marL="32445" marR="32445" marT="16223" marB="16223" anchor="ctr">
                    <a:lnL>
                      <a:noFill/>
                    </a:lnL>
                    <a:lnR>
                      <a:noFill/>
                    </a:lnR>
                    <a:lnT>
                      <a:noFill/>
                    </a:lnT>
                    <a:lnB>
                      <a:noFill/>
                    </a:lnB>
                    <a:noFill/>
                  </a:tcPr>
                </a:tc>
                <a:tc>
                  <a:txBody>
                    <a:bodyPr/>
                    <a:lstStyle/>
                    <a:p>
                      <a:pPr algn="ctr">
                        <a:buNone/>
                      </a:pPr>
                      <a:r>
                        <a:rPr lang="en-US" sz="1400" b="1" dirty="0"/>
                        <a:t>Numeric</a:t>
                      </a:r>
                    </a:p>
                  </a:txBody>
                  <a:tcPr marL="32445" marR="32445" marT="16223" marB="16223" anchor="ctr">
                    <a:lnL>
                      <a:noFill/>
                    </a:lnL>
                    <a:lnR>
                      <a:noFill/>
                    </a:lnR>
                    <a:lnT>
                      <a:noFill/>
                    </a:lnT>
                    <a:lnB>
                      <a:noFill/>
                    </a:lnB>
                    <a:noFill/>
                  </a:tcPr>
                </a:tc>
                <a:tc>
                  <a:txBody>
                    <a:bodyPr/>
                    <a:lstStyle/>
                    <a:p>
                      <a:pPr algn="ctr">
                        <a:buNone/>
                      </a:pPr>
                      <a:r>
                        <a:rPr lang="en-US" sz="1400" b="1" dirty="0"/>
                        <a:t>2 paired measurements</a:t>
                      </a:r>
                    </a:p>
                  </a:txBody>
                  <a:tcPr marL="32445" marR="32445" marT="16223" marB="16223" anchor="ctr">
                    <a:lnL>
                      <a:noFill/>
                    </a:lnL>
                    <a:lnR>
                      <a:noFill/>
                    </a:lnR>
                    <a:lnT>
                      <a:noFill/>
                    </a:lnT>
                    <a:lnB>
                      <a:noFill/>
                    </a:lnB>
                    <a:noFill/>
                  </a:tcPr>
                </a:tc>
                <a:tc>
                  <a:txBody>
                    <a:bodyPr/>
                    <a:lstStyle/>
                    <a:p>
                      <a:pPr algn="ctr">
                        <a:buNone/>
                      </a:pPr>
                      <a:r>
                        <a:rPr lang="en-US" sz="1400" b="1"/>
                        <a:t>Paired t-test</a:t>
                      </a:r>
                    </a:p>
                  </a:txBody>
                  <a:tcPr marL="32445" marR="32445" marT="16223" marB="16223" anchor="ctr">
                    <a:lnL>
                      <a:noFill/>
                    </a:lnL>
                    <a:lnR>
                      <a:noFill/>
                    </a:lnR>
                    <a:lnT>
                      <a:noFill/>
                    </a:lnT>
                    <a:lnB>
                      <a:noFill/>
                    </a:lnB>
                    <a:noFill/>
                  </a:tcPr>
                </a:tc>
                <a:tc>
                  <a:txBody>
                    <a:bodyPr/>
                    <a:lstStyle/>
                    <a:p>
                      <a:pPr algn="ctr">
                        <a:buNone/>
                      </a:pPr>
                      <a:r>
                        <a:rPr lang="en-US" sz="1400" b="1"/>
                        <a:t>paired line plot</a:t>
                      </a:r>
                    </a:p>
                  </a:txBody>
                  <a:tcPr marL="32445" marR="32445" marT="16223" marB="16223" anchor="ctr">
                    <a:lnL>
                      <a:noFill/>
                    </a:lnL>
                    <a:lnR>
                      <a:noFill/>
                    </a:lnR>
                    <a:lnT>
                      <a:noFill/>
                    </a:lnT>
                    <a:lnB>
                      <a:noFill/>
                    </a:lnB>
                    <a:noFill/>
                  </a:tcPr>
                </a:tc>
                <a:extLst>
                  <a:ext uri="{0D108BD9-81ED-4DB2-BD59-A6C34878D82A}">
                    <a16:rowId xmlns:a16="http://schemas.microsoft.com/office/drawing/2014/main" val="850547482"/>
                  </a:ext>
                </a:extLst>
              </a:tr>
              <a:tr h="313970">
                <a:tc>
                  <a:txBody>
                    <a:bodyPr/>
                    <a:lstStyle/>
                    <a:p>
                      <a:pPr>
                        <a:buNone/>
                      </a:pPr>
                      <a:r>
                        <a:rPr lang="en-US" sz="1400" b="1"/>
                        <a:t>Do 3+ groups differ?</a:t>
                      </a:r>
                    </a:p>
                  </a:txBody>
                  <a:tcPr marL="32445" marR="32445" marT="16223" marB="16223" anchor="ctr">
                    <a:lnL>
                      <a:noFill/>
                    </a:lnL>
                    <a:lnR>
                      <a:noFill/>
                    </a:lnR>
                    <a:lnT>
                      <a:noFill/>
                    </a:lnT>
                    <a:lnB>
                      <a:noFill/>
                    </a:lnB>
                    <a:noFill/>
                  </a:tcPr>
                </a:tc>
                <a:tc>
                  <a:txBody>
                    <a:bodyPr/>
                    <a:lstStyle/>
                    <a:p>
                      <a:pPr algn="ctr">
                        <a:buNone/>
                      </a:pPr>
                      <a:r>
                        <a:rPr lang="en-US" sz="1400" b="1" dirty="0"/>
                        <a:t>Numeric</a:t>
                      </a:r>
                    </a:p>
                  </a:txBody>
                  <a:tcPr marL="32445" marR="32445" marT="16223" marB="16223" anchor="ctr">
                    <a:lnL>
                      <a:noFill/>
                    </a:lnL>
                    <a:lnR>
                      <a:noFill/>
                    </a:lnR>
                    <a:lnT>
                      <a:noFill/>
                    </a:lnT>
                    <a:lnB>
                      <a:noFill/>
                    </a:lnB>
                    <a:noFill/>
                  </a:tcPr>
                </a:tc>
                <a:tc>
                  <a:txBody>
                    <a:bodyPr/>
                    <a:lstStyle/>
                    <a:p>
                      <a:pPr algn="ctr">
                        <a:buNone/>
                      </a:pPr>
                      <a:r>
                        <a:rPr lang="en-US" sz="1400" b="1" dirty="0"/>
                        <a:t>3+ groups</a:t>
                      </a:r>
                    </a:p>
                  </a:txBody>
                  <a:tcPr marL="32445" marR="32445" marT="16223" marB="16223" anchor="ctr">
                    <a:lnL>
                      <a:noFill/>
                    </a:lnL>
                    <a:lnR>
                      <a:noFill/>
                    </a:lnR>
                    <a:lnT>
                      <a:noFill/>
                    </a:lnT>
                    <a:lnB>
                      <a:noFill/>
                    </a:lnB>
                    <a:noFill/>
                  </a:tcPr>
                </a:tc>
                <a:tc>
                  <a:txBody>
                    <a:bodyPr/>
                    <a:lstStyle/>
                    <a:p>
                      <a:pPr algn="ctr">
                        <a:buNone/>
                      </a:pPr>
                      <a:r>
                        <a:rPr lang="en-US" sz="1400" b="1" dirty="0"/>
                        <a:t>One-way ANOVA, F-test</a:t>
                      </a:r>
                    </a:p>
                  </a:txBody>
                  <a:tcPr marL="32445" marR="32445" marT="16223" marB="16223" anchor="ctr">
                    <a:lnL>
                      <a:noFill/>
                    </a:lnL>
                    <a:lnR>
                      <a:noFill/>
                    </a:lnR>
                    <a:lnT>
                      <a:noFill/>
                    </a:lnT>
                    <a:lnB>
                      <a:noFill/>
                    </a:lnB>
                    <a:noFill/>
                  </a:tcPr>
                </a:tc>
                <a:tc>
                  <a:txBody>
                    <a:bodyPr/>
                    <a:lstStyle/>
                    <a:p>
                      <a:pPr algn="ctr">
                        <a:buNone/>
                      </a:pPr>
                      <a:r>
                        <a:rPr lang="en-US" sz="1400" b="1"/>
                        <a:t>boxplot by group</a:t>
                      </a:r>
                    </a:p>
                  </a:txBody>
                  <a:tcPr marL="32445" marR="32445" marT="16223" marB="16223" anchor="ctr">
                    <a:lnL>
                      <a:noFill/>
                    </a:lnL>
                    <a:lnR>
                      <a:noFill/>
                    </a:lnR>
                    <a:lnT>
                      <a:noFill/>
                    </a:lnT>
                    <a:lnB>
                      <a:noFill/>
                    </a:lnB>
                    <a:noFill/>
                  </a:tcPr>
                </a:tc>
                <a:extLst>
                  <a:ext uri="{0D108BD9-81ED-4DB2-BD59-A6C34878D82A}">
                    <a16:rowId xmlns:a16="http://schemas.microsoft.com/office/drawing/2014/main" val="4009832080"/>
                  </a:ext>
                </a:extLst>
              </a:tr>
              <a:tr h="593056">
                <a:tc>
                  <a:txBody>
                    <a:bodyPr/>
                    <a:lstStyle/>
                    <a:p>
                      <a:pPr>
                        <a:buNone/>
                      </a:pPr>
                      <a:r>
                        <a:rPr lang="en-US" sz="1400" b="1"/>
                        <a:t>Are two categorical variables associated?</a:t>
                      </a:r>
                    </a:p>
                  </a:txBody>
                  <a:tcPr marL="32445" marR="32445" marT="16223" marB="16223" anchor="ctr">
                    <a:lnL>
                      <a:noFill/>
                    </a:lnL>
                    <a:lnR>
                      <a:noFill/>
                    </a:lnR>
                    <a:lnT>
                      <a:noFill/>
                    </a:lnT>
                    <a:lnB>
                      <a:noFill/>
                    </a:lnB>
                    <a:noFill/>
                  </a:tcPr>
                </a:tc>
                <a:tc>
                  <a:txBody>
                    <a:bodyPr/>
                    <a:lstStyle/>
                    <a:p>
                      <a:pPr algn="ctr">
                        <a:buNone/>
                      </a:pPr>
                      <a:r>
                        <a:rPr lang="en-US" sz="1400" b="1" dirty="0"/>
                        <a:t>Categorical</a:t>
                      </a:r>
                    </a:p>
                  </a:txBody>
                  <a:tcPr marL="32445" marR="32445" marT="16223" marB="16223" anchor="ctr">
                    <a:lnL>
                      <a:noFill/>
                    </a:lnL>
                    <a:lnR>
                      <a:noFill/>
                    </a:lnR>
                    <a:lnT>
                      <a:noFill/>
                    </a:lnT>
                    <a:lnB>
                      <a:noFill/>
                    </a:lnB>
                    <a:noFill/>
                  </a:tcPr>
                </a:tc>
                <a:tc>
                  <a:txBody>
                    <a:bodyPr/>
                    <a:lstStyle/>
                    <a:p>
                      <a:pPr algn="ctr">
                        <a:buNone/>
                      </a:pPr>
                      <a:r>
                        <a:rPr lang="en-US" sz="1400" b="1" dirty="0"/>
                        <a:t>Categorical</a:t>
                      </a:r>
                    </a:p>
                  </a:txBody>
                  <a:tcPr marL="32445" marR="32445" marT="16223" marB="16223" anchor="ctr">
                    <a:lnL>
                      <a:noFill/>
                    </a:lnL>
                    <a:lnR>
                      <a:noFill/>
                    </a:lnR>
                    <a:lnT>
                      <a:noFill/>
                    </a:lnT>
                    <a:lnB>
                      <a:noFill/>
                    </a:lnB>
                    <a:noFill/>
                  </a:tcPr>
                </a:tc>
                <a:tc>
                  <a:txBody>
                    <a:bodyPr/>
                    <a:lstStyle/>
                    <a:p>
                      <a:pPr algn="ctr">
                        <a:buNone/>
                      </a:pPr>
                      <a:r>
                        <a:rPr lang="en-US" sz="1400" b="1" dirty="0"/>
                        <a:t>Chi-square test of independence</a:t>
                      </a:r>
                    </a:p>
                  </a:txBody>
                  <a:tcPr marL="32445" marR="32445" marT="16223" marB="16223" anchor="ctr">
                    <a:lnL>
                      <a:noFill/>
                    </a:lnL>
                    <a:lnR>
                      <a:noFill/>
                    </a:lnR>
                    <a:lnT>
                      <a:noFill/>
                    </a:lnT>
                    <a:lnB>
                      <a:noFill/>
                    </a:lnB>
                    <a:noFill/>
                  </a:tcPr>
                </a:tc>
                <a:tc>
                  <a:txBody>
                    <a:bodyPr/>
                    <a:lstStyle/>
                    <a:p>
                      <a:pPr algn="ctr">
                        <a:buNone/>
                      </a:pPr>
                      <a:r>
                        <a:rPr lang="en-US" sz="1400" b="1"/>
                        <a:t>contingency table / stacked bar</a:t>
                      </a:r>
                    </a:p>
                  </a:txBody>
                  <a:tcPr marL="32445" marR="32445" marT="16223" marB="16223" anchor="ctr">
                    <a:lnL>
                      <a:noFill/>
                    </a:lnL>
                    <a:lnR>
                      <a:noFill/>
                    </a:lnR>
                    <a:lnT>
                      <a:noFill/>
                    </a:lnT>
                    <a:lnB>
                      <a:noFill/>
                    </a:lnB>
                    <a:noFill/>
                  </a:tcPr>
                </a:tc>
                <a:extLst>
                  <a:ext uri="{0D108BD9-81ED-4DB2-BD59-A6C34878D82A}">
                    <a16:rowId xmlns:a16="http://schemas.microsoft.com/office/drawing/2014/main" val="712226930"/>
                  </a:ext>
                </a:extLst>
              </a:tr>
              <a:tr h="732598">
                <a:tc>
                  <a:txBody>
                    <a:bodyPr/>
                    <a:lstStyle/>
                    <a:p>
                      <a:pPr>
                        <a:buNone/>
                      </a:pPr>
                      <a:r>
                        <a:rPr lang="en-US" sz="1400" b="1"/>
                        <a:t>Does observed category frequency match expectation?</a:t>
                      </a:r>
                    </a:p>
                  </a:txBody>
                  <a:tcPr marL="32445" marR="32445" marT="16223" marB="16223" anchor="ctr">
                    <a:lnL>
                      <a:noFill/>
                    </a:lnL>
                    <a:lnR>
                      <a:noFill/>
                    </a:lnR>
                    <a:lnT>
                      <a:noFill/>
                    </a:lnT>
                    <a:lnB>
                      <a:noFill/>
                    </a:lnB>
                    <a:noFill/>
                  </a:tcPr>
                </a:tc>
                <a:tc>
                  <a:txBody>
                    <a:bodyPr/>
                    <a:lstStyle/>
                    <a:p>
                      <a:pPr algn="ctr">
                        <a:buNone/>
                      </a:pPr>
                      <a:r>
                        <a:rPr lang="en-US" sz="1400" b="1"/>
                        <a:t>Counts</a:t>
                      </a:r>
                    </a:p>
                  </a:txBody>
                  <a:tcPr marL="32445" marR="32445" marT="16223" marB="16223" anchor="ctr">
                    <a:lnL>
                      <a:noFill/>
                    </a:lnL>
                    <a:lnR>
                      <a:noFill/>
                    </a:lnR>
                    <a:lnT>
                      <a:noFill/>
                    </a:lnT>
                    <a:lnB>
                      <a:noFill/>
                    </a:lnB>
                    <a:noFill/>
                  </a:tcPr>
                </a:tc>
                <a:tc>
                  <a:txBody>
                    <a:bodyPr/>
                    <a:lstStyle/>
                    <a:p>
                      <a:pPr algn="ctr">
                        <a:buNone/>
                      </a:pPr>
                      <a:r>
                        <a:rPr lang="en-US" sz="1400" b="1"/>
                        <a:t>Expected proportions</a:t>
                      </a:r>
                    </a:p>
                  </a:txBody>
                  <a:tcPr marL="32445" marR="32445" marT="16223" marB="16223" anchor="ctr">
                    <a:lnL>
                      <a:noFill/>
                    </a:lnL>
                    <a:lnR>
                      <a:noFill/>
                    </a:lnR>
                    <a:lnT>
                      <a:noFill/>
                    </a:lnT>
                    <a:lnB>
                      <a:noFill/>
                    </a:lnB>
                    <a:noFill/>
                  </a:tcPr>
                </a:tc>
                <a:tc>
                  <a:txBody>
                    <a:bodyPr/>
                    <a:lstStyle/>
                    <a:p>
                      <a:pPr algn="ctr">
                        <a:buNone/>
                      </a:pPr>
                      <a:r>
                        <a:rPr lang="en-US" sz="1400" b="1" dirty="0"/>
                        <a:t>Chi-square goodness-of-fit</a:t>
                      </a:r>
                    </a:p>
                  </a:txBody>
                  <a:tcPr marL="32445" marR="32445" marT="16223" marB="16223" anchor="ctr">
                    <a:lnL>
                      <a:noFill/>
                    </a:lnL>
                    <a:lnR>
                      <a:noFill/>
                    </a:lnR>
                    <a:lnT>
                      <a:noFill/>
                    </a:lnT>
                    <a:lnB>
                      <a:noFill/>
                    </a:lnB>
                    <a:noFill/>
                  </a:tcPr>
                </a:tc>
                <a:tc>
                  <a:txBody>
                    <a:bodyPr/>
                    <a:lstStyle/>
                    <a:p>
                      <a:pPr algn="ctr">
                        <a:buNone/>
                      </a:pPr>
                      <a:r>
                        <a:rPr lang="en-US" sz="1400" b="1"/>
                        <a:t>observed vs expected bar chart</a:t>
                      </a:r>
                    </a:p>
                  </a:txBody>
                  <a:tcPr marL="32445" marR="32445" marT="16223" marB="16223" anchor="ctr">
                    <a:lnL>
                      <a:noFill/>
                    </a:lnL>
                    <a:lnR>
                      <a:noFill/>
                    </a:lnR>
                    <a:lnT>
                      <a:noFill/>
                    </a:lnT>
                    <a:lnB>
                      <a:noFill/>
                    </a:lnB>
                    <a:noFill/>
                  </a:tcPr>
                </a:tc>
                <a:extLst>
                  <a:ext uri="{0D108BD9-81ED-4DB2-BD59-A6C34878D82A}">
                    <a16:rowId xmlns:a16="http://schemas.microsoft.com/office/drawing/2014/main" val="3921300690"/>
                  </a:ext>
                </a:extLst>
              </a:tr>
              <a:tr h="453513">
                <a:tc>
                  <a:txBody>
                    <a:bodyPr/>
                    <a:lstStyle/>
                    <a:p>
                      <a:pPr>
                        <a:buNone/>
                      </a:pPr>
                      <a:r>
                        <a:rPr lang="en-US" sz="1400" b="1"/>
                        <a:t>Do two groups have different variances?</a:t>
                      </a:r>
                    </a:p>
                  </a:txBody>
                  <a:tcPr marL="32445" marR="32445" marT="16223" marB="16223" anchor="ctr">
                    <a:lnL>
                      <a:noFill/>
                    </a:lnL>
                    <a:lnR>
                      <a:noFill/>
                    </a:lnR>
                    <a:lnT>
                      <a:noFill/>
                    </a:lnT>
                    <a:lnB>
                      <a:noFill/>
                    </a:lnB>
                    <a:noFill/>
                  </a:tcPr>
                </a:tc>
                <a:tc>
                  <a:txBody>
                    <a:bodyPr/>
                    <a:lstStyle/>
                    <a:p>
                      <a:pPr algn="ctr">
                        <a:buNone/>
                      </a:pPr>
                      <a:r>
                        <a:rPr lang="en-US" sz="1400" b="1"/>
                        <a:t>Numeric</a:t>
                      </a:r>
                    </a:p>
                  </a:txBody>
                  <a:tcPr marL="32445" marR="32445" marT="16223" marB="16223" anchor="ctr">
                    <a:lnL>
                      <a:noFill/>
                    </a:lnL>
                    <a:lnR>
                      <a:noFill/>
                    </a:lnR>
                    <a:lnT>
                      <a:noFill/>
                    </a:lnT>
                    <a:lnB>
                      <a:noFill/>
                    </a:lnB>
                    <a:noFill/>
                  </a:tcPr>
                </a:tc>
                <a:tc>
                  <a:txBody>
                    <a:bodyPr/>
                    <a:lstStyle/>
                    <a:p>
                      <a:pPr algn="ctr">
                        <a:buNone/>
                      </a:pPr>
                      <a:r>
                        <a:rPr lang="en-US" sz="1400" b="1"/>
                        <a:t>2 groups</a:t>
                      </a:r>
                    </a:p>
                  </a:txBody>
                  <a:tcPr marL="32445" marR="32445" marT="16223" marB="16223" anchor="ctr">
                    <a:lnL>
                      <a:noFill/>
                    </a:lnL>
                    <a:lnR>
                      <a:noFill/>
                    </a:lnR>
                    <a:lnT>
                      <a:noFill/>
                    </a:lnT>
                    <a:lnB>
                      <a:noFill/>
                    </a:lnB>
                    <a:noFill/>
                  </a:tcPr>
                </a:tc>
                <a:tc>
                  <a:txBody>
                    <a:bodyPr/>
                    <a:lstStyle/>
                    <a:p>
                      <a:pPr algn="ctr">
                        <a:buNone/>
                      </a:pPr>
                      <a:r>
                        <a:rPr lang="en-US" sz="1400" b="1" dirty="0"/>
                        <a:t>F-test for variance, but be cautious</a:t>
                      </a:r>
                    </a:p>
                  </a:txBody>
                  <a:tcPr marL="32445" marR="32445" marT="16223" marB="16223" anchor="ctr">
                    <a:lnL>
                      <a:noFill/>
                    </a:lnL>
                    <a:lnR>
                      <a:noFill/>
                    </a:lnR>
                    <a:lnT>
                      <a:noFill/>
                    </a:lnT>
                    <a:lnB>
                      <a:noFill/>
                    </a:lnB>
                    <a:noFill/>
                  </a:tcPr>
                </a:tc>
                <a:tc>
                  <a:txBody>
                    <a:bodyPr/>
                    <a:lstStyle/>
                    <a:p>
                      <a:pPr algn="ctr">
                        <a:buNone/>
                      </a:pPr>
                      <a:r>
                        <a:rPr lang="en-US" sz="1400" b="1" dirty="0"/>
                        <a:t>distribution/boxplot</a:t>
                      </a:r>
                    </a:p>
                  </a:txBody>
                  <a:tcPr marL="32445" marR="32445" marT="16223" marB="16223" anchor="ctr">
                    <a:lnL>
                      <a:noFill/>
                    </a:lnL>
                    <a:lnR>
                      <a:noFill/>
                    </a:lnR>
                    <a:lnT>
                      <a:noFill/>
                    </a:lnT>
                    <a:lnB>
                      <a:noFill/>
                    </a:lnB>
                    <a:noFill/>
                  </a:tcPr>
                </a:tc>
                <a:extLst>
                  <a:ext uri="{0D108BD9-81ED-4DB2-BD59-A6C34878D82A}">
                    <a16:rowId xmlns:a16="http://schemas.microsoft.com/office/drawing/2014/main" val="3684661396"/>
                  </a:ext>
                </a:extLst>
              </a:tr>
              <a:tr h="593056">
                <a:tc>
                  <a:txBody>
                    <a:bodyPr/>
                    <a:lstStyle/>
                    <a:p>
                      <a:pPr>
                        <a:buNone/>
                      </a:pPr>
                      <a:r>
                        <a:rPr lang="en-US" sz="1400" b="1"/>
                        <a:t>Are ordinal/ranked responses different?</a:t>
                      </a:r>
                    </a:p>
                  </a:txBody>
                  <a:tcPr marL="32445" marR="32445" marT="16223" marB="16223" anchor="ctr">
                    <a:lnL>
                      <a:noFill/>
                    </a:lnL>
                    <a:lnR>
                      <a:noFill/>
                    </a:lnR>
                    <a:lnT>
                      <a:noFill/>
                    </a:lnT>
                    <a:lnB>
                      <a:noFill/>
                    </a:lnB>
                    <a:noFill/>
                  </a:tcPr>
                </a:tc>
                <a:tc>
                  <a:txBody>
                    <a:bodyPr/>
                    <a:lstStyle/>
                    <a:p>
                      <a:pPr algn="ctr">
                        <a:buNone/>
                      </a:pPr>
                      <a:r>
                        <a:rPr lang="en-US" sz="1400" b="1"/>
                        <a:t>Ordinal/ranks</a:t>
                      </a:r>
                    </a:p>
                  </a:txBody>
                  <a:tcPr marL="32445" marR="32445" marT="16223" marB="16223" anchor="ctr">
                    <a:lnL>
                      <a:noFill/>
                    </a:lnL>
                    <a:lnR>
                      <a:noFill/>
                    </a:lnR>
                    <a:lnT>
                      <a:noFill/>
                    </a:lnT>
                    <a:lnB>
                      <a:noFill/>
                    </a:lnB>
                    <a:noFill/>
                  </a:tcPr>
                </a:tc>
                <a:tc>
                  <a:txBody>
                    <a:bodyPr/>
                    <a:lstStyle/>
                    <a:p>
                      <a:pPr algn="ctr">
                        <a:buNone/>
                      </a:pPr>
                      <a:r>
                        <a:rPr lang="en-US" sz="1400" b="1"/>
                        <a:t>Groups or conditions</a:t>
                      </a:r>
                    </a:p>
                  </a:txBody>
                  <a:tcPr marL="32445" marR="32445" marT="16223" marB="16223" anchor="ctr">
                    <a:lnL>
                      <a:noFill/>
                    </a:lnL>
                    <a:lnR>
                      <a:noFill/>
                    </a:lnR>
                    <a:lnT>
                      <a:noFill/>
                    </a:lnT>
                    <a:lnB>
                      <a:noFill/>
                    </a:lnB>
                    <a:noFill/>
                  </a:tcPr>
                </a:tc>
                <a:tc>
                  <a:txBody>
                    <a:bodyPr/>
                    <a:lstStyle/>
                    <a:p>
                      <a:pPr algn="ctr">
                        <a:buNone/>
                      </a:pPr>
                      <a:r>
                        <a:rPr lang="en-US" sz="1400" b="1" dirty="0"/>
                        <a:t>Mann–Whitney / Wilcoxon / Kruskal–Wallis</a:t>
                      </a:r>
                    </a:p>
                  </a:txBody>
                  <a:tcPr marL="32445" marR="32445" marT="16223" marB="16223" anchor="ctr">
                    <a:lnL>
                      <a:noFill/>
                    </a:lnL>
                    <a:lnR>
                      <a:noFill/>
                    </a:lnR>
                    <a:lnT>
                      <a:noFill/>
                    </a:lnT>
                    <a:lnB>
                      <a:noFill/>
                    </a:lnB>
                    <a:noFill/>
                  </a:tcPr>
                </a:tc>
                <a:tc>
                  <a:txBody>
                    <a:bodyPr/>
                    <a:lstStyle/>
                    <a:p>
                      <a:pPr algn="ctr">
                        <a:buNone/>
                      </a:pPr>
                      <a:r>
                        <a:rPr lang="en-US" sz="1400" b="1" dirty="0"/>
                        <a:t>dot/box/rank plot</a:t>
                      </a:r>
                    </a:p>
                  </a:txBody>
                  <a:tcPr marL="32445" marR="32445" marT="16223" marB="16223" anchor="ctr">
                    <a:lnL>
                      <a:noFill/>
                    </a:lnL>
                    <a:lnR>
                      <a:noFill/>
                    </a:lnR>
                    <a:lnT>
                      <a:noFill/>
                    </a:lnT>
                    <a:lnB>
                      <a:noFill/>
                    </a:lnB>
                    <a:noFill/>
                  </a:tcPr>
                </a:tc>
                <a:extLst>
                  <a:ext uri="{0D108BD9-81ED-4DB2-BD59-A6C34878D82A}">
                    <a16:rowId xmlns:a16="http://schemas.microsoft.com/office/drawing/2014/main" val="1631648256"/>
                  </a:ext>
                </a:extLst>
              </a:tr>
              <a:tr h="732598">
                <a:tc>
                  <a:txBody>
                    <a:bodyPr/>
                    <a:lstStyle/>
                    <a:p>
                      <a:pPr>
                        <a:buNone/>
                      </a:pPr>
                      <a:r>
                        <a:rPr lang="en-US" sz="1400" b="1"/>
                        <a:t>Is a numeric outcome related to a numeric predictor?</a:t>
                      </a:r>
                    </a:p>
                  </a:txBody>
                  <a:tcPr marL="32445" marR="32445" marT="16223" marB="16223" anchor="ctr">
                    <a:lnL>
                      <a:noFill/>
                    </a:lnL>
                    <a:lnR>
                      <a:noFill/>
                    </a:lnR>
                    <a:lnT>
                      <a:noFill/>
                    </a:lnT>
                    <a:lnB>
                      <a:noFill/>
                    </a:lnB>
                    <a:noFill/>
                  </a:tcPr>
                </a:tc>
                <a:tc>
                  <a:txBody>
                    <a:bodyPr/>
                    <a:lstStyle/>
                    <a:p>
                      <a:pPr algn="ctr">
                        <a:buNone/>
                      </a:pPr>
                      <a:r>
                        <a:rPr lang="en-US" sz="1400" b="1"/>
                        <a:t>Numeric</a:t>
                      </a:r>
                    </a:p>
                  </a:txBody>
                  <a:tcPr marL="32445" marR="32445" marT="16223" marB="16223" anchor="ctr">
                    <a:lnL>
                      <a:noFill/>
                    </a:lnL>
                    <a:lnR>
                      <a:noFill/>
                    </a:lnR>
                    <a:lnT>
                      <a:noFill/>
                    </a:lnT>
                    <a:lnB>
                      <a:noFill/>
                    </a:lnB>
                    <a:noFill/>
                  </a:tcPr>
                </a:tc>
                <a:tc>
                  <a:txBody>
                    <a:bodyPr/>
                    <a:lstStyle/>
                    <a:p>
                      <a:pPr algn="ctr">
                        <a:buNone/>
                      </a:pPr>
                      <a:r>
                        <a:rPr lang="en-US" sz="1400" b="1"/>
                        <a:t>Numeric</a:t>
                      </a:r>
                    </a:p>
                  </a:txBody>
                  <a:tcPr marL="32445" marR="32445" marT="16223" marB="16223" anchor="ctr">
                    <a:lnL>
                      <a:noFill/>
                    </a:lnL>
                    <a:lnR>
                      <a:noFill/>
                    </a:lnR>
                    <a:lnT>
                      <a:noFill/>
                    </a:lnT>
                    <a:lnB>
                      <a:noFill/>
                    </a:lnB>
                    <a:noFill/>
                  </a:tcPr>
                </a:tc>
                <a:tc>
                  <a:txBody>
                    <a:bodyPr/>
                    <a:lstStyle/>
                    <a:p>
                      <a:pPr algn="ctr">
                        <a:buNone/>
                      </a:pPr>
                      <a:r>
                        <a:rPr lang="en-US" sz="1400" b="1" dirty="0"/>
                        <a:t>Correlation / regression F-test</a:t>
                      </a:r>
                    </a:p>
                  </a:txBody>
                  <a:tcPr marL="32445" marR="32445" marT="16223" marB="16223" anchor="ctr">
                    <a:lnL>
                      <a:noFill/>
                    </a:lnL>
                    <a:lnR>
                      <a:noFill/>
                    </a:lnR>
                    <a:lnT>
                      <a:noFill/>
                    </a:lnT>
                    <a:lnB>
                      <a:noFill/>
                    </a:lnB>
                    <a:noFill/>
                  </a:tcPr>
                </a:tc>
                <a:tc>
                  <a:txBody>
                    <a:bodyPr/>
                    <a:lstStyle/>
                    <a:p>
                      <a:pPr algn="ctr">
                        <a:buNone/>
                      </a:pPr>
                      <a:r>
                        <a:rPr lang="en-US" sz="1400" b="1" dirty="0"/>
                        <a:t>scatterplot</a:t>
                      </a:r>
                    </a:p>
                  </a:txBody>
                  <a:tcPr marL="32445" marR="32445" marT="16223" marB="16223" anchor="ctr">
                    <a:lnL>
                      <a:noFill/>
                    </a:lnL>
                    <a:lnR>
                      <a:noFill/>
                    </a:lnR>
                    <a:lnT>
                      <a:noFill/>
                    </a:lnT>
                    <a:lnB>
                      <a:noFill/>
                    </a:lnB>
                    <a:noFill/>
                  </a:tcPr>
                </a:tc>
                <a:extLst>
                  <a:ext uri="{0D108BD9-81ED-4DB2-BD59-A6C34878D82A}">
                    <a16:rowId xmlns:a16="http://schemas.microsoft.com/office/drawing/2014/main" val="2486399105"/>
                  </a:ext>
                </a:extLst>
              </a:tr>
            </a:tbl>
          </a:graphicData>
        </a:graphic>
      </p:graphicFrame>
    </p:spTree>
    <p:extLst>
      <p:ext uri="{BB962C8B-B14F-4D97-AF65-F5344CB8AC3E}">
        <p14:creationId xmlns:p14="http://schemas.microsoft.com/office/powerpoint/2010/main" val="37731231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DC271-2405-BE0C-99E6-AE8A6C85B502}"/>
              </a:ext>
            </a:extLst>
          </p:cNvPr>
          <p:cNvSpPr>
            <a:spLocks noGrp="1"/>
          </p:cNvSpPr>
          <p:nvPr>
            <p:ph type="title"/>
          </p:nvPr>
        </p:nvSpPr>
        <p:spPr/>
        <p:txBody>
          <a:bodyPr/>
          <a:lstStyle/>
          <a:p>
            <a:r>
              <a:rPr lang="en-US" dirty="0"/>
              <a:t>M- Match the test</a:t>
            </a:r>
          </a:p>
        </p:txBody>
      </p:sp>
      <p:sp>
        <p:nvSpPr>
          <p:cNvPr id="3" name="Content Placeholder 2">
            <a:extLst>
              <a:ext uri="{FF2B5EF4-FFF2-40B4-BE49-F238E27FC236}">
                <a16:creationId xmlns:a16="http://schemas.microsoft.com/office/drawing/2014/main" id="{A2682BBF-7FD1-5D44-8E8C-62094E22E472}"/>
              </a:ext>
            </a:extLst>
          </p:cNvPr>
          <p:cNvSpPr>
            <a:spLocks noGrp="1"/>
          </p:cNvSpPr>
          <p:nvPr>
            <p:ph idx="1"/>
          </p:nvPr>
        </p:nvSpPr>
        <p:spPr/>
        <p:txBody>
          <a:bodyPr/>
          <a:lstStyle/>
          <a:p>
            <a:r>
              <a:rPr lang="en-US" dirty="0"/>
              <a:t>If you believe that your data does not satisfy any of the potential tests. </a:t>
            </a:r>
          </a:p>
          <a:p>
            <a:r>
              <a:rPr lang="en-US" dirty="0"/>
              <a:t>Or you use a descriptive statistic that cannot be tested in the ways described. </a:t>
            </a:r>
          </a:p>
          <a:p>
            <a:r>
              <a:rPr lang="en-US" dirty="0"/>
              <a:t>Then you can always do a bootstrap test!</a:t>
            </a:r>
          </a:p>
          <a:p>
            <a:r>
              <a:rPr lang="en-US" dirty="0"/>
              <a:t>Resample from your dataset appropriately, re-calculate your statistics and assess significance.</a:t>
            </a:r>
          </a:p>
        </p:txBody>
      </p:sp>
    </p:spTree>
    <p:extLst>
      <p:ext uri="{BB962C8B-B14F-4D97-AF65-F5344CB8AC3E}">
        <p14:creationId xmlns:p14="http://schemas.microsoft.com/office/powerpoint/2010/main" val="9767795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9C9C7-6135-F64B-241F-C55A9321E5CA}"/>
              </a:ext>
            </a:extLst>
          </p:cNvPr>
          <p:cNvSpPr>
            <a:spLocks noGrp="1"/>
          </p:cNvSpPr>
          <p:nvPr>
            <p:ph type="title"/>
          </p:nvPr>
        </p:nvSpPr>
        <p:spPr>
          <a:xfrm>
            <a:off x="480001" y="414260"/>
            <a:ext cx="11102399" cy="756000"/>
          </a:xfrm>
        </p:spPr>
        <p:txBody>
          <a:bodyPr anchor="t">
            <a:normAutofit/>
          </a:bodyPr>
          <a:lstStyle/>
          <a:p>
            <a:r>
              <a:rPr lang="en-US" dirty="0"/>
              <a:t>Fill out the following for your experiment:</a:t>
            </a:r>
          </a:p>
        </p:txBody>
      </p:sp>
      <p:pic>
        <p:nvPicPr>
          <p:cNvPr id="6" name="Picture 5">
            <a:extLst>
              <a:ext uri="{FF2B5EF4-FFF2-40B4-BE49-F238E27FC236}">
                <a16:creationId xmlns:a16="http://schemas.microsoft.com/office/drawing/2014/main" id="{812F8372-6621-E018-0DDA-9D01FF01D479}"/>
              </a:ext>
            </a:extLst>
          </p:cNvPr>
          <p:cNvPicPr>
            <a:picLocks noChangeAspect="1"/>
          </p:cNvPicPr>
          <p:nvPr/>
        </p:nvPicPr>
        <p:blipFill>
          <a:blip r:embed="rId2"/>
          <a:stretch>
            <a:fillRect/>
          </a:stretch>
        </p:blipFill>
        <p:spPr>
          <a:xfrm>
            <a:off x="3757385" y="1296000"/>
            <a:ext cx="4547630" cy="4445149"/>
          </a:xfrm>
          <a:prstGeom prst="rect">
            <a:avLst/>
          </a:prstGeom>
          <a:noFill/>
        </p:spPr>
      </p:pic>
    </p:spTree>
    <p:extLst>
      <p:ext uri="{BB962C8B-B14F-4D97-AF65-F5344CB8AC3E}">
        <p14:creationId xmlns:p14="http://schemas.microsoft.com/office/powerpoint/2010/main" val="26351614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F887B-AB7C-5CEE-79DD-291C559DEFA4}"/>
              </a:ext>
            </a:extLst>
          </p:cNvPr>
          <p:cNvSpPr>
            <a:spLocks noGrp="1"/>
          </p:cNvSpPr>
          <p:nvPr>
            <p:ph type="title"/>
          </p:nvPr>
        </p:nvSpPr>
        <p:spPr/>
        <p:txBody>
          <a:bodyPr/>
          <a:lstStyle/>
          <a:p>
            <a:r>
              <a:rPr lang="en-US" dirty="0"/>
              <a:t>Potential limitations</a:t>
            </a:r>
          </a:p>
        </p:txBody>
      </p:sp>
      <p:sp>
        <p:nvSpPr>
          <p:cNvPr id="3" name="Content Placeholder 2">
            <a:extLst>
              <a:ext uri="{FF2B5EF4-FFF2-40B4-BE49-F238E27FC236}">
                <a16:creationId xmlns:a16="http://schemas.microsoft.com/office/drawing/2014/main" id="{2C7BB026-C05A-AF87-65CF-05DCD9CF249F}"/>
              </a:ext>
            </a:extLst>
          </p:cNvPr>
          <p:cNvSpPr>
            <a:spLocks noGrp="1"/>
          </p:cNvSpPr>
          <p:nvPr>
            <p:ph idx="1"/>
          </p:nvPr>
        </p:nvSpPr>
        <p:spPr/>
        <p:txBody>
          <a:bodyPr/>
          <a:lstStyle/>
          <a:p>
            <a:r>
              <a:rPr lang="en-US" dirty="0"/>
              <a:t>Too little data</a:t>
            </a:r>
          </a:p>
          <a:p>
            <a:r>
              <a:rPr lang="en-US" dirty="0"/>
              <a:t>Data isn’t truly continuous across full real line</a:t>
            </a:r>
          </a:p>
          <a:p>
            <a:r>
              <a:rPr lang="en-US" dirty="0"/>
              <a:t>Data is skewed and there’s too little data for CLT to kick in for the mean</a:t>
            </a:r>
          </a:p>
          <a:p>
            <a:endParaRPr lang="en-US" dirty="0"/>
          </a:p>
          <a:p>
            <a:r>
              <a:rPr lang="en-US" dirty="0"/>
              <a:t>Make sure to note the limitations in your report!</a:t>
            </a:r>
          </a:p>
          <a:p>
            <a:endParaRPr lang="en-US" dirty="0"/>
          </a:p>
          <a:p>
            <a:endParaRPr lang="en-US" dirty="0"/>
          </a:p>
        </p:txBody>
      </p:sp>
    </p:spTree>
    <p:extLst>
      <p:ext uri="{BB962C8B-B14F-4D97-AF65-F5344CB8AC3E}">
        <p14:creationId xmlns:p14="http://schemas.microsoft.com/office/powerpoint/2010/main" val="30602342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P-values for the mean (treat as reaction time)</a:t>
            </a: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nvGraphicFramePr>
            <p:xfrm>
              <a:off x="479999" y="1296000"/>
              <a:ext cx="6384000" cy="4906264"/>
            </p:xfrm>
            <a:graphic>
              <a:graphicData uri="http://schemas.openxmlformats.org/drawingml/2006/table">
                <a:tbl>
                  <a:tblPr firstRow="1" firstCol="1" bandRow="1">
                    <a:tableStyleId>{5C22544A-7EE6-4342-B048-85BDC9FD1C3A}</a:tableStyleId>
                  </a:tblPr>
                  <a:tblGrid>
                    <a:gridCol w="2688000">
                      <a:extLst>
                        <a:ext uri="{9D8B030D-6E8A-4147-A177-3AD203B41FA5}">
                          <a16:colId xmlns:a16="http://schemas.microsoft.com/office/drawing/2014/main" val="4013297149"/>
                        </a:ext>
                      </a:extLst>
                    </a:gridCol>
                    <a:gridCol w="3696000">
                      <a:extLst>
                        <a:ext uri="{9D8B030D-6E8A-4147-A177-3AD203B41FA5}">
                          <a16:colId xmlns:a16="http://schemas.microsoft.com/office/drawing/2014/main" val="2929873868"/>
                        </a:ext>
                      </a:extLst>
                    </a:gridCol>
                  </a:tblGrid>
                  <a:tr h="93472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700" dirty="0"/>
                            <a:t>Data (</a:t>
                          </a:r>
                          <a14:m>
                            <m:oMath xmlns:m="http://schemas.openxmlformats.org/officeDocument/2006/math">
                              <m:r>
                                <a:rPr lang="en-US" sz="2700" b="0" i="1" smtClean="0">
                                  <a:latin typeface="Cambria Math" panose="02040503050406030204" pitchFamily="18" charset="0"/>
                                </a:rPr>
                                <m:t>𝑋</m:t>
                              </m:r>
                            </m:oMath>
                          </a14:m>
                          <a:r>
                            <a:rPr lang="en-US" sz="2700" dirty="0"/>
                            <a:t>)</a:t>
                          </a:r>
                        </a:p>
                      </a:txBody>
                      <a:tcPr marL="121920" marR="121920" marT="60960" marB="60960"/>
                    </a:tc>
                    <a:tc>
                      <a:txBody>
                        <a:bodyPr/>
                        <a:lstStyle/>
                        <a:p>
                          <a:r>
                            <a:rPr lang="en-US" sz="2700" dirty="0"/>
                            <a:t>Population</a:t>
                          </a:r>
                          <a:r>
                            <a:rPr lang="en-US" sz="2700" baseline="0" dirty="0"/>
                            <a:t> mean </a:t>
                          </a:r>
                          <a14:m>
                            <m:oMath xmlns:m="http://schemas.openxmlformats.org/officeDocument/2006/math">
                              <m:sSub>
                                <m:sSubPr>
                                  <m:ctrlPr>
                                    <a:rPr lang="en-US" sz="2700" b="0" i="1" baseline="0" smtClean="0">
                                      <a:latin typeface="Cambria Math" panose="02040503050406030204" pitchFamily="18" charset="0"/>
                                    </a:rPr>
                                  </m:ctrlPr>
                                </m:sSubPr>
                                <m:e>
                                  <m:r>
                                    <a:rPr lang="en-US" sz="2700" b="0" i="1" baseline="0" smtClean="0">
                                      <a:latin typeface="Cambria Math" panose="02040503050406030204" pitchFamily="18" charset="0"/>
                                    </a:rPr>
                                    <m:t>𝜇</m:t>
                                  </m:r>
                                </m:e>
                                <m:sub>
                                  <m:r>
                                    <a:rPr lang="en-US" sz="2700" b="0" i="1" baseline="0" smtClean="0">
                                      <a:latin typeface="Cambria Math" panose="02040503050406030204" pitchFamily="18" charset="0"/>
                                    </a:rPr>
                                    <m:t>𝑋</m:t>
                                  </m:r>
                                </m:sub>
                              </m:sSub>
                            </m:oMath>
                          </a14:m>
                          <a:r>
                            <a:rPr lang="en-US" sz="2700" dirty="0"/>
                            <a:t> with known variance </a:t>
                          </a:r>
                          <a14:m>
                            <m:oMath xmlns:m="http://schemas.openxmlformats.org/officeDocument/2006/math">
                              <m:sSup>
                                <m:sSupPr>
                                  <m:ctrlPr>
                                    <a:rPr lang="en-US" sz="2700" b="0" i="1" smtClean="0">
                                      <a:latin typeface="Cambria Math" panose="02040503050406030204" pitchFamily="18" charset="0"/>
                                    </a:rPr>
                                  </m:ctrlPr>
                                </m:sSupPr>
                                <m:e>
                                  <m:r>
                                    <a:rPr lang="en-US" sz="2700" b="0" i="1" smtClean="0">
                                      <a:latin typeface="Cambria Math" panose="02040503050406030204" pitchFamily="18" charset="0"/>
                                    </a:rPr>
                                    <m:t>𝜎</m:t>
                                  </m:r>
                                </m:e>
                                <m:sup>
                                  <m:r>
                                    <a:rPr lang="en-US" sz="2700" b="0" i="1" smtClean="0">
                                      <a:latin typeface="Cambria Math" panose="02040503050406030204" pitchFamily="18" charset="0"/>
                                    </a:rPr>
                                    <m:t>2</m:t>
                                  </m:r>
                                </m:sup>
                              </m:sSup>
                            </m:oMath>
                          </a14:m>
                          <a:endParaRPr lang="en-US" sz="2700" dirty="0"/>
                        </a:p>
                      </a:txBody>
                      <a:tcPr marL="121920" marR="121920" marT="60960" marB="60960"/>
                    </a:tc>
                    <a:extLst>
                      <a:ext uri="{0D108BD9-81ED-4DB2-BD59-A6C34878D82A}">
                        <a16:rowId xmlns:a16="http://schemas.microsoft.com/office/drawing/2014/main" val="821838495"/>
                      </a:ext>
                    </a:extLst>
                  </a:tr>
                  <a:tr h="528320">
                    <a:tc>
                      <a:txBody>
                        <a:bodyPr/>
                        <a:lstStyle/>
                        <a:p>
                          <a:r>
                            <a:rPr lang="en-US" sz="2700" b="1" dirty="0">
                              <a:ea typeface="Cambria Math" panose="02040503050406030204" pitchFamily="18" charset="0"/>
                            </a:rPr>
                            <a:t>Null hypothesis</a:t>
                          </a:r>
                          <a:endParaRPr lang="en-US" sz="2700" dirty="0"/>
                        </a:p>
                      </a:txBody>
                      <a:tcPr marL="121920" marR="121920" marT="60960" marB="60960"/>
                    </a:tc>
                    <a:tc>
                      <a:txBody>
                        <a:bodyPr/>
                        <a:lstStyle/>
                        <a:p>
                          <a:pPr/>
                          <a14:m>
                            <m:oMathPara xmlns:m="http://schemas.openxmlformats.org/officeDocument/2006/math">
                              <m:oMathParaPr>
                                <m:jc m:val="centerGroup"/>
                              </m:oMathParaPr>
                              <m:oMath xmlns:m="http://schemas.openxmlformats.org/officeDocument/2006/math">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ℋ</m:t>
                                    </m:r>
                                  </m:e>
                                  <m:sub>
                                    <m:r>
                                      <a:rPr lang="en-US" sz="2700" b="0" i="1" smtClean="0">
                                        <a:latin typeface="Cambria Math" panose="02040503050406030204" pitchFamily="18" charset="0"/>
                                        <a:ea typeface="Cambria Math" panose="02040503050406030204" pitchFamily="18" charset="0"/>
                                      </a:rPr>
                                      <m:t>0</m:t>
                                    </m:r>
                                  </m:sub>
                                </m:sSub>
                                <m:r>
                                  <a:rPr lang="en-US" sz="2700" b="0" i="1" smtClean="0">
                                    <a:latin typeface="Cambria Math" panose="02040503050406030204" pitchFamily="18" charset="0"/>
                                    <a:ea typeface="Cambria Math" panose="02040503050406030204" pitchFamily="18" charset="0"/>
                                  </a:rPr>
                                  <m:t>: </m:t>
                                </m:r>
                                <m:sSub>
                                  <m:sSubPr>
                                    <m:ctrlPr>
                                      <a:rPr lang="en-US" sz="2700" i="1" smtClean="0">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𝑋</m:t>
                                    </m:r>
                                  </m:sub>
                                </m:sSub>
                                <m:r>
                                  <a:rPr lang="en-US" sz="2700" i="1">
                                    <a:latin typeface="Cambria Math" panose="02040503050406030204" pitchFamily="18" charset="0"/>
                                    <a:ea typeface="Cambria Math" panose="02040503050406030204" pitchFamily="18" charset="0"/>
                                  </a:rPr>
                                  <m:t>=</m:t>
                                </m:r>
                                <m:sSub>
                                  <m:sSubPr>
                                    <m:ctrlPr>
                                      <a:rPr lang="en-US" sz="2700" i="1">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0</m:t>
                                    </m:r>
                                  </m:sub>
                                </m:sSub>
                              </m:oMath>
                            </m:oMathPara>
                          </a14:m>
                          <a:endParaRPr lang="en-US" sz="2700" dirty="0"/>
                        </a:p>
                      </a:txBody>
                      <a:tcPr marL="121920" marR="121920" marT="60960" marB="60960"/>
                    </a:tc>
                    <a:extLst>
                      <a:ext uri="{0D108BD9-81ED-4DB2-BD59-A6C34878D82A}">
                        <a16:rowId xmlns:a16="http://schemas.microsoft.com/office/drawing/2014/main" val="4133731926"/>
                      </a:ext>
                    </a:extLst>
                  </a:tr>
                  <a:tr h="141935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700" b="1" dirty="0">
                              <a:ea typeface="Cambria Math" panose="02040503050406030204" pitchFamily="18" charset="0"/>
                            </a:rPr>
                            <a:t>Alternative hypothesis</a:t>
                          </a:r>
                          <a:endParaRPr lang="en-US" sz="2700" dirty="0"/>
                        </a:p>
                      </a:txBody>
                      <a:tcPr marL="121920" marR="121920" marT="60960" marB="6096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ℋ</m:t>
                                    </m:r>
                                  </m:e>
                                  <m:sub>
                                    <m:r>
                                      <a:rPr lang="en-US" sz="2700" b="0" i="1" smtClean="0">
                                        <a:latin typeface="Cambria Math" panose="02040503050406030204" pitchFamily="18" charset="0"/>
                                        <a:ea typeface="Cambria Math" panose="02040503050406030204" pitchFamily="18" charset="0"/>
                                      </a:rPr>
                                      <m:t>1</m:t>
                                    </m:r>
                                  </m:sub>
                                </m:sSub>
                                <m:r>
                                  <a:rPr lang="en-US" sz="2700" b="0" i="1" smtClean="0">
                                    <a:latin typeface="Cambria Math" panose="02040503050406030204" pitchFamily="18" charset="0"/>
                                    <a:ea typeface="Cambria Math" panose="02040503050406030204" pitchFamily="18" charset="0"/>
                                  </a:rPr>
                                  <m:t>: </m:t>
                                </m:r>
                                <m:d>
                                  <m:dPr>
                                    <m:begChr m:val="{"/>
                                    <m:endChr m:val=""/>
                                    <m:ctrlPr>
                                      <a:rPr lang="en-US" sz="2700" b="0" i="1" smtClean="0">
                                        <a:latin typeface="Cambria Math" panose="02040503050406030204" pitchFamily="18" charset="0"/>
                                        <a:ea typeface="Cambria Math" panose="02040503050406030204" pitchFamily="18" charset="0"/>
                                      </a:rPr>
                                    </m:ctrlPr>
                                  </m:dPr>
                                  <m:e>
                                    <m:eqArr>
                                      <m:eqArrPr>
                                        <m:ctrlPr>
                                          <a:rPr lang="en-US" sz="2700" b="0" i="1" smtClean="0">
                                            <a:latin typeface="Cambria Math" panose="02040503050406030204" pitchFamily="18" charset="0"/>
                                            <a:ea typeface="Cambria Math" panose="02040503050406030204" pitchFamily="18" charset="0"/>
                                          </a:rPr>
                                        </m:ctrlPr>
                                      </m:eqArrPr>
                                      <m:e>
                                        <m:sSub>
                                          <m:sSubPr>
                                            <m:ctrlPr>
                                              <a:rPr lang="en-US" sz="2700" i="1" smtClean="0">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𝑋</m:t>
                                            </m:r>
                                          </m:sub>
                                        </m:sSub>
                                        <m:r>
                                          <a:rPr lang="en-US" sz="2700" b="0" i="1" smtClean="0">
                                            <a:latin typeface="Cambria Math" panose="02040503050406030204" pitchFamily="18" charset="0"/>
                                            <a:ea typeface="Cambria Math" panose="02040503050406030204" pitchFamily="18" charset="0"/>
                                          </a:rPr>
                                          <m:t>&gt;</m:t>
                                        </m:r>
                                        <m:sSub>
                                          <m:sSubPr>
                                            <m:ctrlPr>
                                              <a:rPr lang="en-US" sz="2700" i="1" smtClean="0">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0</m:t>
                                            </m:r>
                                          </m:sub>
                                        </m:sSub>
                                      </m:e>
                                      <m:e>
                                        <m:sSub>
                                          <m:sSubPr>
                                            <m:ctrlPr>
                                              <a:rPr lang="en-US" sz="2700" i="1" smtClean="0">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𝑋</m:t>
                                            </m:r>
                                          </m:sub>
                                        </m:sSub>
                                        <m:r>
                                          <a:rPr lang="en-US" sz="2700" i="1">
                                            <a:latin typeface="Cambria Math" panose="02040503050406030204" pitchFamily="18" charset="0"/>
                                            <a:ea typeface="Cambria Math" panose="02040503050406030204" pitchFamily="18" charset="0"/>
                                          </a:rPr>
                                          <m:t>≠</m:t>
                                        </m:r>
                                        <m:sSub>
                                          <m:sSubPr>
                                            <m:ctrlPr>
                                              <a:rPr lang="en-US" sz="2700" i="1">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0</m:t>
                                            </m:r>
                                          </m:sub>
                                        </m:sSub>
                                      </m:e>
                                      <m:e>
                                        <m:sSub>
                                          <m:sSubPr>
                                            <m:ctrlPr>
                                              <a:rPr lang="en-US" sz="2700" i="1" smtClean="0">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𝑋</m:t>
                                            </m:r>
                                          </m:sub>
                                        </m:sSub>
                                        <m:r>
                                          <a:rPr lang="en-US" sz="2700" b="0" i="1" smtClean="0">
                                            <a:latin typeface="Cambria Math" panose="02040503050406030204" pitchFamily="18" charset="0"/>
                                            <a:ea typeface="Cambria Math" panose="02040503050406030204" pitchFamily="18" charset="0"/>
                                          </a:rPr>
                                          <m:t>&lt;</m:t>
                                        </m:r>
                                        <m:sSub>
                                          <m:sSubPr>
                                            <m:ctrlPr>
                                              <a:rPr lang="en-US" sz="2700" i="1">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0</m:t>
                                            </m:r>
                                          </m:sub>
                                        </m:sSub>
                                        <m:r>
                                          <m:rPr>
                                            <m:nor/>
                                          </m:rPr>
                                          <a:rPr lang="en-US" sz="2700" dirty="0"/>
                                          <m:t> </m:t>
                                        </m:r>
                                      </m:e>
                                    </m:eqArr>
                                  </m:e>
                                </m:d>
                              </m:oMath>
                            </m:oMathPara>
                          </a14:m>
                          <a:endParaRPr lang="en-US" sz="2700" dirty="0"/>
                        </a:p>
                      </a:txBody>
                      <a:tcPr marL="121920" marR="121920" marT="60960" marB="60960"/>
                    </a:tc>
                    <a:extLst>
                      <a:ext uri="{0D108BD9-81ED-4DB2-BD59-A6C34878D82A}">
                        <a16:rowId xmlns:a16="http://schemas.microsoft.com/office/drawing/2014/main" val="1347873052"/>
                      </a:ext>
                    </a:extLst>
                  </a:tr>
                  <a:tr h="528320">
                    <a:tc>
                      <a:txBody>
                        <a:bodyPr/>
                        <a:lstStyle/>
                        <a:p>
                          <a:r>
                            <a:rPr lang="en-US" sz="2700" dirty="0"/>
                            <a:t>Significance</a:t>
                          </a:r>
                          <a:r>
                            <a:rPr lang="en-US" sz="2700" baseline="0" dirty="0"/>
                            <a:t> level</a:t>
                          </a:r>
                          <a:endParaRPr lang="en-US" sz="2700" dirty="0"/>
                        </a:p>
                      </a:txBody>
                      <a:tcPr marL="121920" marR="121920" marT="60960" marB="6096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700" b="0" i="1" smtClean="0">
                                    <a:latin typeface="Cambria Math" panose="02040503050406030204" pitchFamily="18" charset="0"/>
                                  </a:rPr>
                                  <m:t>𝛼</m:t>
                                </m:r>
                              </m:oMath>
                            </m:oMathPara>
                          </a14:m>
                          <a:endParaRPr lang="en-US" sz="2700" b="0" dirty="0"/>
                        </a:p>
                      </a:txBody>
                      <a:tcPr marL="121920" marR="121920" marT="60960" marB="60960"/>
                    </a:tc>
                    <a:extLst>
                      <a:ext uri="{0D108BD9-81ED-4DB2-BD59-A6C34878D82A}">
                        <a16:rowId xmlns:a16="http://schemas.microsoft.com/office/drawing/2014/main" val="1085276441"/>
                      </a:ext>
                    </a:extLst>
                  </a:tr>
                  <a:tr h="144480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700" dirty="0"/>
                            <a:t>Test statistic (</a:t>
                          </a:r>
                          <a14:m>
                            <m:oMath xmlns:m="http://schemas.openxmlformats.org/officeDocument/2006/math">
                              <m:r>
                                <a:rPr lang="en-US" sz="2700" i="1" smtClean="0">
                                  <a:latin typeface="Cambria Math" panose="02040503050406030204" pitchFamily="18" charset="0"/>
                                </a:rPr>
                                <m:t>𝛩</m:t>
                              </m:r>
                            </m:oMath>
                          </a14:m>
                          <a:r>
                            <a:rPr lang="en-US" sz="2700" dirty="0"/>
                            <a:t>)</a:t>
                          </a:r>
                        </a:p>
                      </a:txBody>
                      <a:tcPr marL="121920" marR="121920" marT="60960" marB="60960"/>
                    </a:tc>
                    <a:tc>
                      <a:txBody>
                        <a:bodyPr/>
                        <a:lstStyle/>
                        <a:p>
                          <a:pPr/>
                          <a14:m>
                            <m:oMathPara xmlns:m="http://schemas.openxmlformats.org/officeDocument/2006/math">
                              <m:oMathParaPr>
                                <m:jc m:val="centerGroup"/>
                              </m:oMathParaPr>
                              <m:oMath xmlns:m="http://schemas.openxmlformats.org/officeDocument/2006/math">
                                <m:r>
                                  <a:rPr lang="en-US" sz="2700" b="0" i="1" smtClean="0">
                                    <a:latin typeface="Cambria Math" panose="02040503050406030204" pitchFamily="18" charset="0"/>
                                  </a:rPr>
                                  <m:t>𝑍</m:t>
                                </m:r>
                                <m:r>
                                  <a:rPr lang="en-US" sz="2700" b="0" i="1" smtClean="0">
                                    <a:latin typeface="Cambria Math" panose="02040503050406030204" pitchFamily="18" charset="0"/>
                                  </a:rPr>
                                  <m:t>=</m:t>
                                </m:r>
                                <m:f>
                                  <m:fPr>
                                    <m:ctrlPr>
                                      <a:rPr lang="en-US" sz="2700" i="1" smtClean="0">
                                        <a:latin typeface="Cambria Math" panose="02040503050406030204" pitchFamily="18" charset="0"/>
                                      </a:rPr>
                                    </m:ctrlPr>
                                  </m:fPr>
                                  <m:num>
                                    <m:acc>
                                      <m:accPr>
                                        <m:chr m:val="̅"/>
                                        <m:ctrlPr>
                                          <a:rPr lang="en-US" sz="2700" i="1">
                                            <a:latin typeface="Cambria Math" panose="02040503050406030204" pitchFamily="18" charset="0"/>
                                          </a:rPr>
                                        </m:ctrlPr>
                                      </m:accPr>
                                      <m:e>
                                        <m:r>
                                          <a:rPr lang="en-US" sz="2700" i="1">
                                            <a:latin typeface="Cambria Math" panose="02040503050406030204" pitchFamily="18" charset="0"/>
                                          </a:rPr>
                                          <m:t>𝑋</m:t>
                                        </m:r>
                                      </m:e>
                                    </m:acc>
                                    <m:r>
                                      <a:rPr lang="en-US" sz="2700" i="1">
                                        <a:latin typeface="Cambria Math" panose="02040503050406030204" pitchFamily="18" charset="0"/>
                                      </a:rPr>
                                      <m:t>−</m:t>
                                    </m:r>
                                    <m:sSub>
                                      <m:sSubPr>
                                        <m:ctrlPr>
                                          <a:rPr lang="en-US" sz="2700" i="1">
                                            <a:latin typeface="Cambria Math" panose="02040503050406030204" pitchFamily="18" charset="0"/>
                                          </a:rPr>
                                        </m:ctrlPr>
                                      </m:sSubPr>
                                      <m:e>
                                        <m:r>
                                          <a:rPr lang="en-US" sz="2700" i="1">
                                            <a:latin typeface="Cambria Math" panose="02040503050406030204" pitchFamily="18" charset="0"/>
                                          </a:rPr>
                                          <m:t>𝜇</m:t>
                                        </m:r>
                                      </m:e>
                                      <m:sub>
                                        <m:r>
                                          <a:rPr lang="en-US" sz="2700" i="1">
                                            <a:latin typeface="Cambria Math" panose="02040503050406030204" pitchFamily="18" charset="0"/>
                                          </a:rPr>
                                          <m:t>0</m:t>
                                        </m:r>
                                      </m:sub>
                                    </m:sSub>
                                  </m:num>
                                  <m:den>
                                    <m:rad>
                                      <m:radPr>
                                        <m:degHide m:val="on"/>
                                        <m:ctrlPr>
                                          <a:rPr lang="en-US" sz="2700" i="1">
                                            <a:latin typeface="Cambria Math" panose="02040503050406030204" pitchFamily="18" charset="0"/>
                                          </a:rPr>
                                        </m:ctrlPr>
                                      </m:radPr>
                                      <m:deg/>
                                      <m:e>
                                        <m:f>
                                          <m:fPr>
                                            <m:ctrlPr>
                                              <a:rPr lang="en-US" sz="2700" i="1">
                                                <a:latin typeface="Cambria Math" panose="02040503050406030204" pitchFamily="18" charset="0"/>
                                              </a:rPr>
                                            </m:ctrlPr>
                                          </m:fPr>
                                          <m:num>
                                            <m:sSup>
                                              <m:sSupPr>
                                                <m:ctrlPr>
                                                  <a:rPr lang="en-US" sz="2700" i="1">
                                                    <a:latin typeface="Cambria Math" panose="02040503050406030204" pitchFamily="18" charset="0"/>
                                                  </a:rPr>
                                                </m:ctrlPr>
                                              </m:sSupPr>
                                              <m:e>
                                                <m:r>
                                                  <a:rPr lang="en-US" sz="2700" b="0" i="1" smtClean="0">
                                                    <a:latin typeface="Cambria Math" panose="02040503050406030204" pitchFamily="18" charset="0"/>
                                                  </a:rPr>
                                                  <m:t>𝜎</m:t>
                                                </m:r>
                                              </m:e>
                                              <m:sup>
                                                <m:r>
                                                  <a:rPr lang="en-US" sz="2700" i="1">
                                                    <a:latin typeface="Cambria Math" panose="02040503050406030204" pitchFamily="18" charset="0"/>
                                                  </a:rPr>
                                                  <m:t>2</m:t>
                                                </m:r>
                                              </m:sup>
                                            </m:sSup>
                                          </m:num>
                                          <m:den>
                                            <m:r>
                                              <a:rPr lang="en-US" sz="2700" i="1">
                                                <a:latin typeface="Cambria Math" panose="02040503050406030204" pitchFamily="18" charset="0"/>
                                              </a:rPr>
                                              <m:t>𝑛</m:t>
                                            </m:r>
                                          </m:den>
                                        </m:f>
                                      </m:e>
                                    </m:rad>
                                  </m:den>
                                </m:f>
                              </m:oMath>
                            </m:oMathPara>
                          </a14:m>
                          <a:endParaRPr lang="en-US" sz="2700" dirty="0"/>
                        </a:p>
                      </a:txBody>
                      <a:tcPr marL="121920" marR="121920" marT="60960" marB="60960"/>
                    </a:tc>
                    <a:extLst>
                      <a:ext uri="{0D108BD9-81ED-4DB2-BD59-A6C34878D82A}">
                        <a16:rowId xmlns:a16="http://schemas.microsoft.com/office/drawing/2014/main" val="2665732580"/>
                      </a:ext>
                    </a:extLst>
                  </a:tr>
                </a:tbl>
              </a:graphicData>
            </a:graphic>
          </p:graphicFrame>
        </mc:Choice>
        <mc:Fallback xmlns="">
          <p:graphicFrame>
            <p:nvGraphicFramePr>
              <p:cNvPr id="4" name="Table 3"/>
              <p:cNvGraphicFramePr>
                <a:graphicFrameLocks noGrp="1"/>
              </p:cNvGraphicFramePr>
              <p:nvPr/>
            </p:nvGraphicFramePr>
            <p:xfrm>
              <a:off x="479999" y="1296000"/>
              <a:ext cx="6384000" cy="4906264"/>
            </p:xfrm>
            <a:graphic>
              <a:graphicData uri="http://schemas.openxmlformats.org/drawingml/2006/table">
                <a:tbl>
                  <a:tblPr firstRow="1" firstCol="1" bandRow="1">
                    <a:tableStyleId>{5C22544A-7EE6-4342-B048-85BDC9FD1C3A}</a:tableStyleId>
                  </a:tblPr>
                  <a:tblGrid>
                    <a:gridCol w="2688000">
                      <a:extLst>
                        <a:ext uri="{9D8B030D-6E8A-4147-A177-3AD203B41FA5}">
                          <a16:colId xmlns:a16="http://schemas.microsoft.com/office/drawing/2014/main" val="4013297149"/>
                        </a:ext>
                      </a:extLst>
                    </a:gridCol>
                    <a:gridCol w="3696000">
                      <a:extLst>
                        <a:ext uri="{9D8B030D-6E8A-4147-A177-3AD203B41FA5}">
                          <a16:colId xmlns:a16="http://schemas.microsoft.com/office/drawing/2014/main" val="2929873868"/>
                        </a:ext>
                      </a:extLst>
                    </a:gridCol>
                  </a:tblGrid>
                  <a:tr h="944880">
                    <a:tc>
                      <a:txBody>
                        <a:bodyPr/>
                        <a:lstStyle/>
                        <a:p>
                          <a:endParaRPr lang="en-US"/>
                        </a:p>
                      </a:txBody>
                      <a:tcPr marL="121920" marR="121920" marT="60960" marB="60960">
                        <a:blipFill>
                          <a:blip r:embed="rId3"/>
                          <a:stretch>
                            <a:fillRect l="-472" t="-164000" r="-138679" b="-614667"/>
                          </a:stretch>
                        </a:blipFill>
                      </a:tcPr>
                    </a:tc>
                    <a:tc>
                      <a:txBody>
                        <a:bodyPr/>
                        <a:lstStyle/>
                        <a:p>
                          <a:endParaRPr lang="en-US"/>
                        </a:p>
                      </a:txBody>
                      <a:tcPr marL="121920" marR="121920" marT="60960" marB="60960">
                        <a:blipFill>
                          <a:blip r:embed="rId3"/>
                          <a:stretch>
                            <a:fillRect l="-72945" t="-164000" r="-685" b="-614667"/>
                          </a:stretch>
                        </a:blipFill>
                      </a:tcPr>
                    </a:tc>
                    <a:extLst>
                      <a:ext uri="{0D108BD9-81ED-4DB2-BD59-A6C34878D82A}">
                        <a16:rowId xmlns:a16="http://schemas.microsoft.com/office/drawing/2014/main" val="821838495"/>
                      </a:ext>
                    </a:extLst>
                  </a:tr>
                  <a:tr h="533400">
                    <a:tc>
                      <a:txBody>
                        <a:bodyPr/>
                        <a:lstStyle/>
                        <a:p>
                          <a:r>
                            <a:rPr lang="en-US" sz="2700" b="1" dirty="0">
                              <a:ea typeface="Cambria Math" panose="02040503050406030204" pitchFamily="18" charset="0"/>
                            </a:rPr>
                            <a:t>Null hypothesis</a:t>
                          </a:r>
                          <a:endParaRPr lang="en-US" sz="2700" dirty="0"/>
                        </a:p>
                      </a:txBody>
                      <a:tcPr marL="121920" marR="121920" marT="60960" marB="60960"/>
                    </a:tc>
                    <a:tc>
                      <a:txBody>
                        <a:bodyPr/>
                        <a:lstStyle/>
                        <a:p>
                          <a:endParaRPr lang="en-US"/>
                        </a:p>
                      </a:txBody>
                      <a:tcPr marL="121920" marR="121920" marT="60960" marB="60960">
                        <a:blipFill>
                          <a:blip r:embed="rId3"/>
                          <a:stretch>
                            <a:fillRect l="-72945" t="-471429" r="-685" b="-997619"/>
                          </a:stretch>
                        </a:blipFill>
                      </a:tcPr>
                    </a:tc>
                    <a:extLst>
                      <a:ext uri="{0D108BD9-81ED-4DB2-BD59-A6C34878D82A}">
                        <a16:rowId xmlns:a16="http://schemas.microsoft.com/office/drawing/2014/main" val="4133731926"/>
                      </a:ext>
                    </a:extLst>
                  </a:tr>
                  <a:tr h="143560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700" b="1" dirty="0">
                              <a:ea typeface="Cambria Math" panose="02040503050406030204" pitchFamily="18" charset="0"/>
                            </a:rPr>
                            <a:t>Alternative hypothesis</a:t>
                          </a:r>
                          <a:endParaRPr lang="en-US" sz="2700" dirty="0"/>
                        </a:p>
                      </a:txBody>
                      <a:tcPr marL="121920" marR="121920" marT="60960" marB="60960"/>
                    </a:tc>
                    <a:tc>
                      <a:txBody>
                        <a:bodyPr/>
                        <a:lstStyle/>
                        <a:p>
                          <a:endParaRPr lang="en-US"/>
                        </a:p>
                      </a:txBody>
                      <a:tcPr marL="121920" marR="121920" marT="60960" marB="60960">
                        <a:blipFill>
                          <a:blip r:embed="rId3"/>
                          <a:stretch>
                            <a:fillRect l="-72945" t="-212389" r="-685" b="-270796"/>
                          </a:stretch>
                        </a:blipFill>
                      </a:tcPr>
                    </a:tc>
                    <a:extLst>
                      <a:ext uri="{0D108BD9-81ED-4DB2-BD59-A6C34878D82A}">
                        <a16:rowId xmlns:a16="http://schemas.microsoft.com/office/drawing/2014/main" val="1347873052"/>
                      </a:ext>
                    </a:extLst>
                  </a:tr>
                  <a:tr h="533400">
                    <a:tc>
                      <a:txBody>
                        <a:bodyPr/>
                        <a:lstStyle/>
                        <a:p>
                          <a:r>
                            <a:rPr lang="en-US" sz="2700" dirty="0"/>
                            <a:t>Significance</a:t>
                          </a:r>
                          <a:r>
                            <a:rPr lang="en-US" sz="2700" baseline="0" dirty="0"/>
                            <a:t xml:space="preserve"> level</a:t>
                          </a:r>
                          <a:endParaRPr lang="en-US" sz="2700" dirty="0"/>
                        </a:p>
                      </a:txBody>
                      <a:tcPr marL="121920" marR="121920" marT="60960" marB="60960"/>
                    </a:tc>
                    <a:tc>
                      <a:txBody>
                        <a:bodyPr/>
                        <a:lstStyle/>
                        <a:p>
                          <a:endParaRPr lang="en-US"/>
                        </a:p>
                      </a:txBody>
                      <a:tcPr marL="121920" marR="121920" marT="60960" marB="60960">
                        <a:blipFill>
                          <a:blip r:embed="rId3"/>
                          <a:stretch>
                            <a:fillRect l="-72945" t="-840476" r="-685" b="-628571"/>
                          </a:stretch>
                        </a:blipFill>
                      </a:tcPr>
                    </a:tc>
                    <a:extLst>
                      <a:ext uri="{0D108BD9-81ED-4DB2-BD59-A6C34878D82A}">
                        <a16:rowId xmlns:a16="http://schemas.microsoft.com/office/drawing/2014/main" val="1085276441"/>
                      </a:ext>
                    </a:extLst>
                  </a:tr>
                  <a:tr h="1458976">
                    <a:tc>
                      <a:txBody>
                        <a:bodyPr/>
                        <a:lstStyle/>
                        <a:p>
                          <a:endParaRPr lang="en-US"/>
                        </a:p>
                      </a:txBody>
                      <a:tcPr marL="121920" marR="121920" marT="60960" marB="60960">
                        <a:blipFill>
                          <a:blip r:embed="rId3"/>
                          <a:stretch>
                            <a:fillRect l="-472" t="-343478" r="-138679" b="-129565"/>
                          </a:stretch>
                        </a:blipFill>
                      </a:tcPr>
                    </a:tc>
                    <a:tc>
                      <a:txBody>
                        <a:bodyPr/>
                        <a:lstStyle/>
                        <a:p>
                          <a:endParaRPr lang="en-US"/>
                        </a:p>
                      </a:txBody>
                      <a:tcPr marL="121920" marR="121920" marT="60960" marB="60960">
                        <a:blipFill>
                          <a:blip r:embed="rId3"/>
                          <a:stretch>
                            <a:fillRect l="-72945" t="-343478" r="-685" b="-129565"/>
                          </a:stretch>
                        </a:blipFill>
                      </a:tcPr>
                    </a:tc>
                    <a:extLst>
                      <a:ext uri="{0D108BD9-81ED-4DB2-BD59-A6C34878D82A}">
                        <a16:rowId xmlns:a16="http://schemas.microsoft.com/office/drawing/2014/main" val="2665732580"/>
                      </a:ext>
                    </a:extLst>
                  </a:tr>
                </a:tbl>
              </a:graphicData>
            </a:graphic>
          </p:graphicFrame>
        </mc:Fallback>
      </mc:AlternateContent>
      <p:sp>
        <p:nvSpPr>
          <p:cNvPr id="14" name="Content Placeholder 2"/>
          <p:cNvSpPr txBox="1">
            <a:spLocks/>
          </p:cNvSpPr>
          <p:nvPr/>
        </p:nvSpPr>
        <p:spPr>
          <a:xfrm>
            <a:off x="1046419" y="6302766"/>
            <a:ext cx="11102399" cy="4445149"/>
          </a:xfrm>
          <a:prstGeom prst="rect">
            <a:avLst/>
          </a:prstGeom>
        </p:spPr>
        <p:txBody>
          <a:bodyPr vert="horz" lIns="0" tIns="0" rIns="0" bIns="0" rtlCol="0">
            <a:noAutofit/>
          </a:bodyPr>
          <a:lstStyle>
            <a:lvl1pPr marL="342900" indent="-342900" algn="l" defTabSz="457200" rtl="0" eaLnBrk="1" latinLnBrk="0" hangingPunct="1">
              <a:spcBef>
                <a:spcPts val="0"/>
              </a:spcBef>
              <a:buFont typeface="Arial"/>
              <a:buChar char="•"/>
              <a:defRPr sz="3200" kern="1200">
                <a:solidFill>
                  <a:schemeClr val="tx1"/>
                </a:solidFill>
                <a:latin typeface="+mj-lt"/>
                <a:ea typeface="+mn-ea"/>
                <a:cs typeface="Verdana"/>
              </a:defRPr>
            </a:lvl1pPr>
            <a:lvl2pPr marL="717550" indent="-358775" algn="l" defTabSz="457200" rtl="0" eaLnBrk="1" latinLnBrk="0" hangingPunct="1">
              <a:spcBef>
                <a:spcPts val="0"/>
              </a:spcBef>
              <a:buFont typeface="Lucida Grande"/>
              <a:buChar char="-"/>
              <a:defRPr sz="2800" kern="1200">
                <a:solidFill>
                  <a:schemeClr val="tx1"/>
                </a:solidFill>
                <a:latin typeface="+mj-lt"/>
                <a:ea typeface="+mn-ea"/>
                <a:cs typeface="Verdana"/>
              </a:defRPr>
            </a:lvl2pPr>
            <a:lvl3pPr marL="1073150" indent="-357188" algn="l" defTabSz="457200" rtl="0" eaLnBrk="1" latinLnBrk="0" hangingPunct="1">
              <a:spcBef>
                <a:spcPts val="0"/>
              </a:spcBef>
              <a:buFont typeface="Lucida Grande"/>
              <a:buChar char="-"/>
              <a:defRPr sz="2400" kern="1200">
                <a:solidFill>
                  <a:schemeClr val="tx1"/>
                </a:solidFill>
                <a:latin typeface="+mj-lt"/>
                <a:ea typeface="+mn-ea"/>
                <a:cs typeface="Verdana"/>
              </a:defRPr>
            </a:lvl3pPr>
            <a:lvl4pPr marL="1430338" indent="-355600" algn="l" defTabSz="457200" rtl="0" eaLnBrk="1" latinLnBrk="0" hangingPunct="1">
              <a:spcBef>
                <a:spcPts val="0"/>
              </a:spcBef>
              <a:buFont typeface="Lucida Grande"/>
              <a:buChar char="-"/>
              <a:defRPr sz="2000" kern="1200">
                <a:solidFill>
                  <a:schemeClr val="tx1"/>
                </a:solidFill>
                <a:latin typeface="+mj-lt"/>
                <a:ea typeface="+mn-ea"/>
                <a:cs typeface="Verdana"/>
              </a:defRPr>
            </a:lvl4pPr>
            <a:lvl5pPr marL="1793875" indent="-360363" algn="l" defTabSz="457200" rtl="0" eaLnBrk="1" latinLnBrk="0" hangingPunct="1">
              <a:spcBef>
                <a:spcPts val="0"/>
              </a:spcBef>
              <a:buFont typeface="Lucida Grande"/>
              <a:buChar char="-"/>
              <a:defRPr sz="2000" kern="1200">
                <a:solidFill>
                  <a:schemeClr val="tx1"/>
                </a:solidFill>
                <a:latin typeface="+mj-lt"/>
                <a:ea typeface="+mn-ea"/>
                <a:cs typeface="Verdan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sz="3733" dirty="0"/>
          </a:p>
          <a:p>
            <a:endParaRPr lang="en-US" sz="3733" dirty="0"/>
          </a:p>
          <a:p>
            <a:endParaRPr lang="en-US" sz="3733" dirty="0"/>
          </a:p>
          <a:p>
            <a:endParaRPr lang="en-US" sz="3733" dirty="0"/>
          </a:p>
          <a:p>
            <a:endParaRPr lang="en-US" sz="3733" dirty="0"/>
          </a:p>
          <a:p>
            <a:endParaRPr lang="en-US" sz="3733" dirty="0"/>
          </a:p>
          <a:p>
            <a:pPr marL="0" indent="0">
              <a:buNone/>
            </a:pPr>
            <a:endParaRPr lang="en-US" sz="3733" dirty="0"/>
          </a:p>
        </p:txBody>
      </p:sp>
      <p:pic>
        <p:nvPicPr>
          <p:cNvPr id="17" name="Picture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60525" y="1020764"/>
            <a:ext cx="5231475" cy="2615737"/>
          </a:xfrm>
          <a:prstGeom prst="rect">
            <a:avLst/>
          </a:prstGeom>
        </p:spPr>
      </p:pic>
      <mc:AlternateContent xmlns:mc="http://schemas.openxmlformats.org/markup-compatibility/2006" xmlns:a14="http://schemas.microsoft.com/office/drawing/2010/main">
        <mc:Choice Requires="a14">
          <p:sp>
            <p:nvSpPr>
              <p:cNvPr id="18" name="Rectangle 17"/>
              <p:cNvSpPr/>
              <p:nvPr/>
            </p:nvSpPr>
            <p:spPr>
              <a:xfrm>
                <a:off x="8672216" y="881303"/>
                <a:ext cx="693330" cy="7489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267" i="1">
                          <a:latin typeface="Cambria Math" panose="02040503050406030204" pitchFamily="18" charset="0"/>
                        </a:rPr>
                        <m:t>𝛩</m:t>
                      </m:r>
                    </m:oMath>
                  </m:oMathPara>
                </a14:m>
                <a:endParaRPr lang="en-US" sz="4267" i="1" dirty="0"/>
              </a:p>
            </p:txBody>
          </p:sp>
        </mc:Choice>
        <mc:Fallback xmlns="">
          <p:sp>
            <p:nvSpPr>
              <p:cNvPr id="18" name="Rectangle 17"/>
              <p:cNvSpPr>
                <a:spLocks noRot="1" noChangeAspect="1" noMove="1" noResize="1" noEditPoints="1" noAdjustHandles="1" noChangeArrowheads="1" noChangeShapeType="1" noTextEdit="1"/>
              </p:cNvSpPr>
              <p:nvPr/>
            </p:nvSpPr>
            <p:spPr>
              <a:xfrm>
                <a:off x="8672216" y="881303"/>
                <a:ext cx="693330" cy="748988"/>
              </a:xfrm>
              <a:prstGeom prst="rect">
                <a:avLst/>
              </a:prstGeom>
              <a:blipFill>
                <a:blip r:embed="rId5"/>
                <a:stretch>
                  <a:fillRect l="-5455" r="-1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9" name="Table 18"/>
              <p:cNvGraphicFramePr>
                <a:graphicFrameLocks noGrp="1"/>
              </p:cNvGraphicFramePr>
              <p:nvPr>
                <p:extLst>
                  <p:ext uri="{D42A27DB-BD31-4B8C-83A1-F6EECF244321}">
                    <p14:modId xmlns:p14="http://schemas.microsoft.com/office/powerpoint/2010/main" val="3447549532"/>
                  </p:ext>
                </p:extLst>
              </p:nvPr>
            </p:nvGraphicFramePr>
            <p:xfrm>
              <a:off x="6960525" y="3487004"/>
              <a:ext cx="4704000" cy="2683828"/>
            </p:xfrm>
            <a:graphic>
              <a:graphicData uri="http://schemas.openxmlformats.org/drawingml/2006/table">
                <a:tbl>
                  <a:tblPr firstRow="1" bandRow="1">
                    <a:tableStyleId>{5C22544A-7EE6-4342-B048-85BDC9FD1C3A}</a:tableStyleId>
                  </a:tblPr>
                  <a:tblGrid>
                    <a:gridCol w="4704000">
                      <a:extLst>
                        <a:ext uri="{9D8B030D-6E8A-4147-A177-3AD203B41FA5}">
                          <a16:colId xmlns:a16="http://schemas.microsoft.com/office/drawing/2014/main" val="2832399611"/>
                        </a:ext>
                      </a:extLst>
                    </a:gridCol>
                  </a:tblGrid>
                  <a:tr h="6908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3700" dirty="0"/>
                            <a:t>Sample mean</a:t>
                          </a:r>
                        </a:p>
                      </a:txBody>
                      <a:tcPr marL="121920" marR="121920" marT="60960" marB="60960"/>
                    </a:tc>
                    <a:extLst>
                      <a:ext uri="{0D108BD9-81ED-4DB2-BD59-A6C34878D82A}">
                        <a16:rowId xmlns:a16="http://schemas.microsoft.com/office/drawing/2014/main" val="696953177"/>
                      </a:ext>
                    </a:extLst>
                  </a:tr>
                  <a:tr h="1442805">
                    <a:tc>
                      <a:txBody>
                        <a:bodyPr/>
                        <a:lstStyle/>
                        <a:p>
                          <a:pPr/>
                          <a14:m>
                            <m:oMathPara xmlns:m="http://schemas.openxmlformats.org/officeDocument/2006/math">
                              <m:oMathParaPr>
                                <m:jc m:val="centerGroup"/>
                              </m:oMathParaPr>
                              <m:oMath xmlns:m="http://schemas.openxmlformats.org/officeDocument/2006/math">
                                <m:acc>
                                  <m:accPr>
                                    <m:chr m:val="̅"/>
                                    <m:ctrlPr>
                                      <a:rPr lang="en-US" sz="2700" b="0" i="1" smtClean="0">
                                        <a:latin typeface="Cambria Math" panose="02040503050406030204" pitchFamily="18" charset="0"/>
                                      </a:rPr>
                                    </m:ctrlPr>
                                  </m:accPr>
                                  <m:e>
                                    <m:r>
                                      <a:rPr lang="en-US" sz="2700" b="0" i="1" smtClean="0">
                                        <a:latin typeface="Cambria Math" panose="02040503050406030204" pitchFamily="18" charset="0"/>
                                      </a:rPr>
                                      <m:t>𝑋</m:t>
                                    </m:r>
                                  </m:e>
                                </m:acc>
                                <m:r>
                                  <a:rPr lang="en-US" sz="2700" b="0" i="1" dirty="0" smtClean="0">
                                    <a:latin typeface="Cambria Math" panose="02040503050406030204" pitchFamily="18" charset="0"/>
                                  </a:rPr>
                                  <m:t>∼</m:t>
                                </m:r>
                                <m:r>
                                  <a:rPr lang="en-US" sz="2700" b="0" i="1" dirty="0" smtClean="0">
                                    <a:latin typeface="Cambria Math" panose="02040503050406030204" pitchFamily="18" charset="0"/>
                                  </a:rPr>
                                  <m:t>𝑁</m:t>
                                </m:r>
                                <m:d>
                                  <m:dPr>
                                    <m:ctrlPr>
                                      <a:rPr lang="en-US" sz="2700" b="0" i="1" dirty="0" smtClean="0">
                                        <a:latin typeface="Cambria Math" panose="02040503050406030204" pitchFamily="18" charset="0"/>
                                      </a:rPr>
                                    </m:ctrlPr>
                                  </m:dPr>
                                  <m:e>
                                    <m:sSub>
                                      <m:sSubPr>
                                        <m:ctrlPr>
                                          <a:rPr lang="en-US" sz="2700" b="0" i="1" dirty="0" smtClean="0">
                                            <a:latin typeface="Cambria Math" panose="02040503050406030204" pitchFamily="18" charset="0"/>
                                          </a:rPr>
                                        </m:ctrlPr>
                                      </m:sSubPr>
                                      <m:e>
                                        <m:r>
                                          <a:rPr lang="en-US" sz="2700" b="0" i="1" dirty="0" smtClean="0">
                                            <a:latin typeface="Cambria Math" panose="02040503050406030204" pitchFamily="18" charset="0"/>
                                          </a:rPr>
                                          <m:t>𝜇</m:t>
                                        </m:r>
                                      </m:e>
                                      <m:sub>
                                        <m:r>
                                          <a:rPr lang="en-US" sz="2700" b="0" i="1" dirty="0" smtClean="0">
                                            <a:latin typeface="Cambria Math" panose="02040503050406030204" pitchFamily="18" charset="0"/>
                                          </a:rPr>
                                          <m:t>𝑋</m:t>
                                        </m:r>
                                      </m:sub>
                                    </m:sSub>
                                    <m:r>
                                      <a:rPr lang="en-US" sz="2700" b="0" i="1" dirty="0" smtClean="0">
                                        <a:latin typeface="Cambria Math" panose="02040503050406030204" pitchFamily="18" charset="0"/>
                                      </a:rPr>
                                      <m:t>,</m:t>
                                    </m:r>
                                    <m:f>
                                      <m:fPr>
                                        <m:ctrlPr>
                                          <a:rPr lang="en-US" sz="2700" b="0" i="1" dirty="0" smtClean="0">
                                            <a:latin typeface="Cambria Math" panose="02040503050406030204" pitchFamily="18" charset="0"/>
                                          </a:rPr>
                                        </m:ctrlPr>
                                      </m:fPr>
                                      <m:num>
                                        <m:sSup>
                                          <m:sSupPr>
                                            <m:ctrlPr>
                                              <a:rPr lang="en-US" sz="2700" b="0" i="1" dirty="0" smtClean="0">
                                                <a:latin typeface="Cambria Math" panose="02040503050406030204" pitchFamily="18" charset="0"/>
                                              </a:rPr>
                                            </m:ctrlPr>
                                          </m:sSupPr>
                                          <m:e>
                                            <m:r>
                                              <a:rPr lang="en-US" sz="2700" b="0" i="1" dirty="0" smtClean="0">
                                                <a:latin typeface="Cambria Math" panose="02040503050406030204" pitchFamily="18" charset="0"/>
                                              </a:rPr>
                                              <m:t>𝜎</m:t>
                                            </m:r>
                                          </m:e>
                                          <m:sup>
                                            <m:r>
                                              <a:rPr lang="en-US" sz="2700" b="0" i="1" dirty="0" smtClean="0">
                                                <a:latin typeface="Cambria Math" panose="02040503050406030204" pitchFamily="18" charset="0"/>
                                              </a:rPr>
                                              <m:t>2</m:t>
                                            </m:r>
                                          </m:sup>
                                        </m:sSup>
                                      </m:num>
                                      <m:den>
                                        <m:r>
                                          <a:rPr lang="en-US" sz="2700" b="0" i="1" dirty="0" smtClean="0">
                                            <a:latin typeface="Cambria Math" panose="02040503050406030204" pitchFamily="18" charset="0"/>
                                          </a:rPr>
                                          <m:t>𝑛</m:t>
                                        </m:r>
                                      </m:den>
                                    </m:f>
                                  </m:e>
                                </m:d>
                                <m:r>
                                  <a:rPr lang="en-US" sz="2700" b="0" i="1" dirty="0" smtClean="0">
                                    <a:latin typeface="Cambria Math" panose="02040503050406030204" pitchFamily="18" charset="0"/>
                                  </a:rPr>
                                  <m:t>⇒</m:t>
                                </m:r>
                                <m:f>
                                  <m:fPr>
                                    <m:ctrlPr>
                                      <a:rPr lang="en-US" sz="2700" i="1" smtClean="0">
                                        <a:latin typeface="Cambria Math" panose="02040503050406030204" pitchFamily="18" charset="0"/>
                                      </a:rPr>
                                    </m:ctrlPr>
                                  </m:fPr>
                                  <m:num>
                                    <m:acc>
                                      <m:accPr>
                                        <m:chr m:val="̅"/>
                                        <m:ctrlPr>
                                          <a:rPr lang="en-US" sz="2700" i="1">
                                            <a:latin typeface="Cambria Math" panose="02040503050406030204" pitchFamily="18" charset="0"/>
                                          </a:rPr>
                                        </m:ctrlPr>
                                      </m:accPr>
                                      <m:e>
                                        <m:r>
                                          <a:rPr lang="en-US" sz="2700" i="1">
                                            <a:latin typeface="Cambria Math" panose="02040503050406030204" pitchFamily="18" charset="0"/>
                                          </a:rPr>
                                          <m:t>𝑋</m:t>
                                        </m:r>
                                      </m:e>
                                    </m:acc>
                                    <m:r>
                                      <a:rPr lang="en-US" sz="2700" i="1">
                                        <a:latin typeface="Cambria Math" panose="02040503050406030204" pitchFamily="18" charset="0"/>
                                      </a:rPr>
                                      <m:t>−</m:t>
                                    </m:r>
                                    <m:sSub>
                                      <m:sSubPr>
                                        <m:ctrlPr>
                                          <a:rPr lang="en-US" sz="2700" i="1">
                                            <a:latin typeface="Cambria Math" panose="02040503050406030204" pitchFamily="18" charset="0"/>
                                          </a:rPr>
                                        </m:ctrlPr>
                                      </m:sSubPr>
                                      <m:e>
                                        <m:r>
                                          <a:rPr lang="en-US" sz="2700" i="1">
                                            <a:latin typeface="Cambria Math" panose="02040503050406030204" pitchFamily="18" charset="0"/>
                                          </a:rPr>
                                          <m:t>𝜇</m:t>
                                        </m:r>
                                      </m:e>
                                      <m:sub>
                                        <m:r>
                                          <a:rPr lang="en-US" sz="2700" i="1">
                                            <a:latin typeface="Cambria Math" panose="02040503050406030204" pitchFamily="18" charset="0"/>
                                          </a:rPr>
                                          <m:t>0</m:t>
                                        </m:r>
                                      </m:sub>
                                    </m:sSub>
                                  </m:num>
                                  <m:den>
                                    <m:rad>
                                      <m:radPr>
                                        <m:degHide m:val="on"/>
                                        <m:ctrlPr>
                                          <a:rPr lang="en-US" sz="2700" i="1">
                                            <a:latin typeface="Cambria Math" panose="02040503050406030204" pitchFamily="18" charset="0"/>
                                          </a:rPr>
                                        </m:ctrlPr>
                                      </m:radPr>
                                      <m:deg/>
                                      <m:e>
                                        <m:f>
                                          <m:fPr>
                                            <m:ctrlPr>
                                              <a:rPr lang="en-US" sz="2700" i="1">
                                                <a:latin typeface="Cambria Math" panose="02040503050406030204" pitchFamily="18" charset="0"/>
                                              </a:rPr>
                                            </m:ctrlPr>
                                          </m:fPr>
                                          <m:num>
                                            <m:sSup>
                                              <m:sSupPr>
                                                <m:ctrlPr>
                                                  <a:rPr lang="en-US" sz="2700" i="1">
                                                    <a:latin typeface="Cambria Math" panose="02040503050406030204" pitchFamily="18" charset="0"/>
                                                  </a:rPr>
                                                </m:ctrlPr>
                                              </m:sSupPr>
                                              <m:e>
                                                <m:r>
                                                  <a:rPr lang="en-US" sz="2700" b="0" i="1" smtClean="0">
                                                    <a:latin typeface="Cambria Math" panose="02040503050406030204" pitchFamily="18" charset="0"/>
                                                  </a:rPr>
                                                  <m:t>𝜎</m:t>
                                                </m:r>
                                              </m:e>
                                              <m:sup>
                                                <m:r>
                                                  <a:rPr lang="en-US" sz="2700" i="1">
                                                    <a:latin typeface="Cambria Math" panose="02040503050406030204" pitchFamily="18" charset="0"/>
                                                  </a:rPr>
                                                  <m:t>2</m:t>
                                                </m:r>
                                              </m:sup>
                                            </m:sSup>
                                          </m:num>
                                          <m:den>
                                            <m:r>
                                              <a:rPr lang="en-US" sz="2700" i="1">
                                                <a:latin typeface="Cambria Math" panose="02040503050406030204" pitchFamily="18" charset="0"/>
                                              </a:rPr>
                                              <m:t>𝑛</m:t>
                                            </m:r>
                                          </m:den>
                                        </m:f>
                                      </m:e>
                                    </m:rad>
                                  </m:den>
                                </m:f>
                                <m:r>
                                  <a:rPr lang="en-US" sz="2700" b="0" i="1" smtClean="0">
                                    <a:latin typeface="Cambria Math" panose="02040503050406030204" pitchFamily="18" charset="0"/>
                                  </a:rPr>
                                  <m:t>∼</m:t>
                                </m:r>
                                <m:r>
                                  <a:rPr lang="en-US" sz="2700" b="0" i="1" smtClean="0">
                                    <a:latin typeface="Cambria Math" panose="02040503050406030204" pitchFamily="18" charset="0"/>
                                  </a:rPr>
                                  <m:t>𝑍</m:t>
                                </m:r>
                              </m:oMath>
                            </m:oMathPara>
                          </a14:m>
                          <a:endParaRPr lang="en-US" sz="2700" dirty="0"/>
                        </a:p>
                      </a:txBody>
                      <a:tcPr marL="121920" marR="121920" marT="60960" marB="60960"/>
                    </a:tc>
                    <a:extLst>
                      <a:ext uri="{0D108BD9-81ED-4DB2-BD59-A6C34878D82A}">
                        <a16:rowId xmlns:a16="http://schemas.microsoft.com/office/drawing/2014/main" val="3851161824"/>
                      </a:ext>
                    </a:extLst>
                  </a:tr>
                  <a:tr h="528320">
                    <a:tc>
                      <a:txBody>
                        <a:bodyPr/>
                        <a:lstStyle/>
                        <a:p>
                          <a:r>
                            <a:rPr lang="en-US" sz="2700" dirty="0"/>
                            <a:t>Thus,</a:t>
                          </a:r>
                          <a:r>
                            <a:rPr lang="en-US" sz="2700" baseline="0" dirty="0"/>
                            <a:t> called </a:t>
                          </a:r>
                          <a14:m>
                            <m:oMath xmlns:m="http://schemas.openxmlformats.org/officeDocument/2006/math">
                              <m:r>
                                <a:rPr lang="en-US" sz="2700" b="1" i="1" dirty="0" smtClean="0">
                                  <a:latin typeface="Cambria Math" panose="02040503050406030204" pitchFamily="18" charset="0"/>
                                </a:rPr>
                                <m:t>𝒛</m:t>
                              </m:r>
                            </m:oMath>
                          </a14:m>
                          <a:r>
                            <a:rPr lang="en-US" sz="2700" b="1" i="1" dirty="0"/>
                            <a:t>-test </a:t>
                          </a:r>
                          <a:r>
                            <a:rPr lang="en-US" sz="2700" b="0" i="0" dirty="0"/>
                            <a:t>for the mean</a:t>
                          </a:r>
                        </a:p>
                      </a:txBody>
                      <a:tcPr marL="121920" marR="121920" marT="60960" marB="60960"/>
                    </a:tc>
                    <a:extLst>
                      <a:ext uri="{0D108BD9-81ED-4DB2-BD59-A6C34878D82A}">
                        <a16:rowId xmlns:a16="http://schemas.microsoft.com/office/drawing/2014/main" val="632013633"/>
                      </a:ext>
                    </a:extLst>
                  </a:tr>
                </a:tbl>
              </a:graphicData>
            </a:graphic>
          </p:graphicFrame>
        </mc:Choice>
        <mc:Fallback xmlns="">
          <p:graphicFrame>
            <p:nvGraphicFramePr>
              <p:cNvPr id="19" name="Table 18"/>
              <p:cNvGraphicFramePr>
                <a:graphicFrameLocks noGrp="1"/>
              </p:cNvGraphicFramePr>
              <p:nvPr>
                <p:extLst>
                  <p:ext uri="{D42A27DB-BD31-4B8C-83A1-F6EECF244321}">
                    <p14:modId xmlns:p14="http://schemas.microsoft.com/office/powerpoint/2010/main" val="3447549532"/>
                  </p:ext>
                </p:extLst>
              </p:nvPr>
            </p:nvGraphicFramePr>
            <p:xfrm>
              <a:off x="6960525" y="3487004"/>
              <a:ext cx="4704000" cy="2683828"/>
            </p:xfrm>
            <a:graphic>
              <a:graphicData uri="http://schemas.openxmlformats.org/drawingml/2006/table">
                <a:tbl>
                  <a:tblPr firstRow="1" bandRow="1">
                    <a:tableStyleId>{5C22544A-7EE6-4342-B048-85BDC9FD1C3A}</a:tableStyleId>
                  </a:tblPr>
                  <a:tblGrid>
                    <a:gridCol w="4704000">
                      <a:extLst>
                        <a:ext uri="{9D8B030D-6E8A-4147-A177-3AD203B41FA5}">
                          <a16:colId xmlns:a16="http://schemas.microsoft.com/office/drawing/2014/main" val="2832399611"/>
                        </a:ext>
                      </a:extLst>
                    </a:gridCol>
                  </a:tblGrid>
                  <a:tr h="6908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3700" dirty="0"/>
                            <a:t>Sample mean</a:t>
                          </a:r>
                        </a:p>
                      </a:txBody>
                      <a:tcPr marL="121920" marR="121920" marT="60960" marB="60960"/>
                    </a:tc>
                    <a:extLst>
                      <a:ext uri="{0D108BD9-81ED-4DB2-BD59-A6C34878D82A}">
                        <a16:rowId xmlns:a16="http://schemas.microsoft.com/office/drawing/2014/main" val="696953177"/>
                      </a:ext>
                    </a:extLst>
                  </a:tr>
                  <a:tr h="1459548">
                    <a:tc>
                      <a:txBody>
                        <a:bodyPr/>
                        <a:lstStyle/>
                        <a:p>
                          <a:endParaRPr lang="en-US"/>
                        </a:p>
                      </a:txBody>
                      <a:tcPr marL="121920" marR="121920" marT="60960" marB="60960">
                        <a:blipFill>
                          <a:blip r:embed="rId6"/>
                          <a:stretch>
                            <a:fillRect l="-270" t="-53043" r="-539" b="-46087"/>
                          </a:stretch>
                        </a:blipFill>
                      </a:tcPr>
                    </a:tc>
                    <a:extLst>
                      <a:ext uri="{0D108BD9-81ED-4DB2-BD59-A6C34878D82A}">
                        <a16:rowId xmlns:a16="http://schemas.microsoft.com/office/drawing/2014/main" val="3851161824"/>
                      </a:ext>
                    </a:extLst>
                  </a:tr>
                  <a:tr h="533400">
                    <a:tc>
                      <a:txBody>
                        <a:bodyPr/>
                        <a:lstStyle/>
                        <a:p>
                          <a:endParaRPr lang="en-US"/>
                        </a:p>
                      </a:txBody>
                      <a:tcPr marL="121920" marR="121920" marT="60960" marB="60960">
                        <a:blipFill>
                          <a:blip r:embed="rId6"/>
                          <a:stretch>
                            <a:fillRect l="-270" t="-419048" r="-539" b="-26190"/>
                          </a:stretch>
                        </a:blipFill>
                      </a:tcPr>
                    </a:tc>
                    <a:extLst>
                      <a:ext uri="{0D108BD9-81ED-4DB2-BD59-A6C34878D82A}">
                        <a16:rowId xmlns:a16="http://schemas.microsoft.com/office/drawing/2014/main" val="632013633"/>
                      </a:ext>
                    </a:extLst>
                  </a:tr>
                </a:tbl>
              </a:graphicData>
            </a:graphic>
          </p:graphicFrame>
        </mc:Fallback>
      </mc:AlternateContent>
    </p:spTree>
    <p:extLst>
      <p:ext uri="{BB962C8B-B14F-4D97-AF65-F5344CB8AC3E}">
        <p14:creationId xmlns:p14="http://schemas.microsoft.com/office/powerpoint/2010/main" val="5491324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P-values for the mean</a:t>
            </a:r>
          </a:p>
        </p:txBody>
      </p:sp>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8565" y="956159"/>
            <a:ext cx="3840000" cy="1920000"/>
          </a:xfrm>
          <a:prstGeom prst="rect">
            <a:avLst/>
          </a:prstGeom>
        </p:spPr>
      </p:pic>
      <mc:AlternateContent xmlns:mc="http://schemas.openxmlformats.org/markup-compatibility/2006" xmlns:a14="http://schemas.microsoft.com/office/drawing/2010/main">
        <mc:Choice Requires="a14">
          <p:sp>
            <p:nvSpPr>
              <p:cNvPr id="18" name="Rectangle 17"/>
              <p:cNvSpPr/>
              <p:nvPr/>
            </p:nvSpPr>
            <p:spPr>
              <a:xfrm>
                <a:off x="8435562" y="879083"/>
                <a:ext cx="693330" cy="7489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267" i="1" dirty="0">
                          <a:latin typeface="Cambria Math" panose="02040503050406030204" pitchFamily="18" charset="0"/>
                        </a:rPr>
                        <m:t>𝛩</m:t>
                      </m:r>
                    </m:oMath>
                  </m:oMathPara>
                </a14:m>
                <a:endParaRPr lang="en-US" sz="4267" dirty="0"/>
              </a:p>
            </p:txBody>
          </p:sp>
        </mc:Choice>
        <mc:Fallback xmlns="">
          <p:sp>
            <p:nvSpPr>
              <p:cNvPr id="18" name="Rectangle 17"/>
              <p:cNvSpPr>
                <a:spLocks noRot="1" noChangeAspect="1" noMove="1" noResize="1" noEditPoints="1" noAdjustHandles="1" noChangeArrowheads="1" noChangeShapeType="1" noTextEdit="1"/>
              </p:cNvSpPr>
              <p:nvPr/>
            </p:nvSpPr>
            <p:spPr>
              <a:xfrm>
                <a:off x="8435562" y="879083"/>
                <a:ext cx="693330" cy="748988"/>
              </a:xfrm>
              <a:prstGeom prst="rect">
                <a:avLst/>
              </a:prstGeom>
              <a:blipFill>
                <a:blip r:embed="rId4"/>
                <a:stretch>
                  <a:fillRect l="-5357"/>
                </a:stretch>
              </a:blipFill>
            </p:spPr>
            <p:txBody>
              <a:bodyPr/>
              <a:lstStyle/>
              <a:p>
                <a:r>
                  <a:rPr lang="en-US">
                    <a:noFill/>
                  </a:rPr>
                  <a:t> </a:t>
                </a:r>
              </a:p>
            </p:txBody>
          </p:sp>
        </mc:Fallback>
      </mc:AlternateContent>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08565" y="4796159"/>
            <a:ext cx="3840000" cy="1920000"/>
          </a:xfrm>
          <a:prstGeom prst="rect">
            <a:avLst/>
          </a:prstGeom>
        </p:spPr>
      </p:pic>
      <mc:AlternateContent xmlns:mc="http://schemas.openxmlformats.org/markup-compatibility/2006" xmlns:a14="http://schemas.microsoft.com/office/drawing/2010/main">
        <mc:Choice Requires="a14">
          <p:sp>
            <p:nvSpPr>
              <p:cNvPr id="9" name="Rectangle 8"/>
              <p:cNvSpPr/>
              <p:nvPr/>
            </p:nvSpPr>
            <p:spPr>
              <a:xfrm>
                <a:off x="8435562" y="4719083"/>
                <a:ext cx="693330" cy="7489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267" i="1" dirty="0">
                          <a:latin typeface="Cambria Math" panose="02040503050406030204" pitchFamily="18" charset="0"/>
                        </a:rPr>
                        <m:t>𝛩</m:t>
                      </m:r>
                    </m:oMath>
                  </m:oMathPara>
                </a14:m>
                <a:endParaRPr lang="en-US" sz="4267" dirty="0"/>
              </a:p>
            </p:txBody>
          </p:sp>
        </mc:Choice>
        <mc:Fallback xmlns="">
          <p:sp>
            <p:nvSpPr>
              <p:cNvPr id="9" name="Rectangle 8"/>
              <p:cNvSpPr>
                <a:spLocks noRot="1" noChangeAspect="1" noMove="1" noResize="1" noEditPoints="1" noAdjustHandles="1" noChangeArrowheads="1" noChangeShapeType="1" noTextEdit="1"/>
              </p:cNvSpPr>
              <p:nvPr/>
            </p:nvSpPr>
            <p:spPr>
              <a:xfrm>
                <a:off x="8435562" y="4719083"/>
                <a:ext cx="693330" cy="748988"/>
              </a:xfrm>
              <a:prstGeom prst="rect">
                <a:avLst/>
              </a:prstGeom>
              <a:blipFill>
                <a:blip r:embed="rId6"/>
                <a:stretch>
                  <a:fillRect l="-5357"/>
                </a:stretch>
              </a:blipFill>
            </p:spPr>
            <p:txBody>
              <a:bodyPr/>
              <a:lstStyle/>
              <a:p>
                <a:r>
                  <a:rPr lang="en-US">
                    <a:noFill/>
                  </a:rPr>
                  <a:t> </a:t>
                </a:r>
              </a:p>
            </p:txBody>
          </p:sp>
        </mc:Fallback>
      </mc:AlternateContent>
      <p:pic>
        <p:nvPicPr>
          <p:cNvPr id="10" name="Picture 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08565" y="2876160"/>
            <a:ext cx="3840000" cy="1920000"/>
          </a:xfrm>
          <a:prstGeom prst="rect">
            <a:avLst/>
          </a:prstGeom>
        </p:spPr>
      </p:pic>
      <mc:AlternateContent xmlns:mc="http://schemas.openxmlformats.org/markup-compatibility/2006" xmlns:a14="http://schemas.microsoft.com/office/drawing/2010/main">
        <mc:Choice Requires="a14">
          <p:sp>
            <p:nvSpPr>
              <p:cNvPr id="11" name="Rectangle 10"/>
              <p:cNvSpPr/>
              <p:nvPr/>
            </p:nvSpPr>
            <p:spPr>
              <a:xfrm>
                <a:off x="8435562" y="2799084"/>
                <a:ext cx="693330" cy="7489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267" i="1" dirty="0">
                          <a:latin typeface="Cambria Math" panose="02040503050406030204" pitchFamily="18" charset="0"/>
                        </a:rPr>
                        <m:t>𝛩</m:t>
                      </m:r>
                    </m:oMath>
                  </m:oMathPara>
                </a14:m>
                <a:endParaRPr lang="en-US" sz="4267" dirty="0"/>
              </a:p>
            </p:txBody>
          </p:sp>
        </mc:Choice>
        <mc:Fallback xmlns="">
          <p:sp>
            <p:nvSpPr>
              <p:cNvPr id="11" name="Rectangle 10"/>
              <p:cNvSpPr>
                <a:spLocks noRot="1" noChangeAspect="1" noMove="1" noResize="1" noEditPoints="1" noAdjustHandles="1" noChangeArrowheads="1" noChangeShapeType="1" noTextEdit="1"/>
              </p:cNvSpPr>
              <p:nvPr/>
            </p:nvSpPr>
            <p:spPr>
              <a:xfrm>
                <a:off x="8435562" y="2799084"/>
                <a:ext cx="693330" cy="748988"/>
              </a:xfrm>
              <a:prstGeom prst="rect">
                <a:avLst/>
              </a:prstGeom>
              <a:blipFill>
                <a:blip r:embed="rId6"/>
                <a:stretch>
                  <a:fillRect l="-53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 name="Table 5"/>
              <p:cNvGraphicFramePr>
                <a:graphicFrameLocks noGrp="1"/>
              </p:cNvGraphicFramePr>
              <p:nvPr/>
            </p:nvGraphicFramePr>
            <p:xfrm>
              <a:off x="9696000" y="251265"/>
              <a:ext cx="2496000" cy="6450880"/>
            </p:xfrm>
            <a:graphic>
              <a:graphicData uri="http://schemas.openxmlformats.org/drawingml/2006/table">
                <a:tbl>
                  <a:tblPr firstRow="1" bandRow="1">
                    <a:tableStyleId>{5C22544A-7EE6-4342-B048-85BDC9FD1C3A}</a:tableStyleId>
                  </a:tblPr>
                  <a:tblGrid>
                    <a:gridCol w="2496000">
                      <a:extLst>
                        <a:ext uri="{9D8B030D-6E8A-4147-A177-3AD203B41FA5}">
                          <a16:colId xmlns:a16="http://schemas.microsoft.com/office/drawing/2014/main" val="306824079"/>
                        </a:ext>
                      </a:extLst>
                    </a:gridCol>
                  </a:tblGrid>
                  <a:tr h="6908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3700" dirty="0"/>
                            <a:t>Reject </a:t>
                          </a:r>
                          <a14:m>
                            <m:oMath xmlns:m="http://schemas.openxmlformats.org/officeDocument/2006/math">
                              <m:sSub>
                                <m:sSubPr>
                                  <m:ctrlPr>
                                    <a:rPr lang="en-US" sz="3700" i="1">
                                      <a:latin typeface="Cambria Math" panose="02040503050406030204" pitchFamily="18" charset="0"/>
                                      <a:ea typeface="Cambria Math" panose="02040503050406030204" pitchFamily="18" charset="0"/>
                                    </a:rPr>
                                  </m:ctrlPr>
                                </m:sSubPr>
                                <m:e>
                                  <m:r>
                                    <a:rPr lang="en-US" sz="3700" i="1">
                                      <a:latin typeface="Cambria Math" panose="02040503050406030204" pitchFamily="18" charset="0"/>
                                      <a:ea typeface="Cambria Math" panose="02040503050406030204" pitchFamily="18" charset="0"/>
                                    </a:rPr>
                                    <m:t>ℋ</m:t>
                                  </m:r>
                                </m:e>
                                <m:sub>
                                  <m:r>
                                    <a:rPr lang="en-US" sz="3700" i="1">
                                      <a:latin typeface="Cambria Math" panose="02040503050406030204" pitchFamily="18" charset="0"/>
                                      <a:ea typeface="Cambria Math" panose="02040503050406030204" pitchFamily="18" charset="0"/>
                                    </a:rPr>
                                    <m:t>0</m:t>
                                  </m:r>
                                </m:sub>
                              </m:sSub>
                            </m:oMath>
                          </a14:m>
                          <a:r>
                            <a:rPr lang="en-US" sz="3700" dirty="0"/>
                            <a:t>if </a:t>
                          </a:r>
                          <a:endParaRPr lang="en-US" sz="3700" i="1" dirty="0">
                            <a:latin typeface="Cambria Math" panose="02040503050406030204" pitchFamily="18" charset="0"/>
                          </a:endParaRPr>
                        </a:p>
                      </a:txBody>
                      <a:tcPr marL="121920" marR="121920" marT="60960" marB="60960"/>
                    </a:tc>
                    <a:extLst>
                      <a:ext uri="{0D108BD9-81ED-4DB2-BD59-A6C34878D82A}">
                        <a16:rowId xmlns:a16="http://schemas.microsoft.com/office/drawing/2014/main" val="3602488048"/>
                      </a:ext>
                    </a:extLst>
                  </a:tr>
                  <a:tr h="1920000">
                    <a:tc>
                      <a:txBody>
                        <a:bodyPr/>
                        <a:lstStyle/>
                        <a:p>
                          <a:pPr/>
                          <a14:m>
                            <m:oMathPara xmlns:m="http://schemas.openxmlformats.org/officeDocument/2006/math">
                              <m:oMathParaPr>
                                <m:jc m:val="centerGroup"/>
                              </m:oMathParaPr>
                              <m:oMath xmlns:m="http://schemas.openxmlformats.org/officeDocument/2006/math">
                                <m:r>
                                  <a:rPr lang="en-US" sz="2700" b="0" i="1" smtClean="0">
                                    <a:latin typeface="Cambria Math" panose="02040503050406030204" pitchFamily="18" charset="0"/>
                                  </a:rPr>
                                  <m:t>𝑍</m:t>
                                </m:r>
                                <m:r>
                                  <a:rPr lang="en-US" sz="2700" b="0" i="1" smtClean="0">
                                    <a:latin typeface="Cambria Math" panose="02040503050406030204" pitchFamily="18" charset="0"/>
                                  </a:rPr>
                                  <m:t>&gt;</m:t>
                                </m:r>
                                <m:sSub>
                                  <m:sSubPr>
                                    <m:ctrlPr>
                                      <a:rPr lang="en-US" sz="2700" i="1">
                                        <a:latin typeface="Cambria Math" panose="02040503050406030204" pitchFamily="18" charset="0"/>
                                      </a:rPr>
                                    </m:ctrlPr>
                                  </m:sSubPr>
                                  <m:e>
                                    <m:r>
                                      <a:rPr lang="en-US" sz="2700" i="1">
                                        <a:latin typeface="Cambria Math" panose="02040503050406030204" pitchFamily="18" charset="0"/>
                                      </a:rPr>
                                      <m:t>𝑧</m:t>
                                    </m:r>
                                  </m:e>
                                  <m:sub>
                                    <m:r>
                                      <a:rPr lang="en-US" sz="2700" b="0" i="1" smtClean="0">
                                        <a:latin typeface="Cambria Math" panose="02040503050406030204" pitchFamily="18" charset="0"/>
                                      </a:rPr>
                                      <m:t>𝛼</m:t>
                                    </m:r>
                                  </m:sub>
                                </m:sSub>
                              </m:oMath>
                            </m:oMathPara>
                          </a14:m>
                          <a:endParaRPr lang="en-US" sz="2700" dirty="0"/>
                        </a:p>
                      </a:txBody>
                      <a:tcPr marL="121920" marR="121920" marT="60960" marB="60960" anchor="ctr"/>
                    </a:tc>
                    <a:extLst>
                      <a:ext uri="{0D108BD9-81ED-4DB2-BD59-A6C34878D82A}">
                        <a16:rowId xmlns:a16="http://schemas.microsoft.com/office/drawing/2014/main" val="1112798827"/>
                      </a:ext>
                    </a:extLst>
                  </a:tr>
                  <a:tr h="1920000">
                    <a:tc>
                      <a:txBody>
                        <a:bodyPr/>
                        <a:lstStyle/>
                        <a:p>
                          <a:pPr/>
                          <a14:m>
                            <m:oMathPara xmlns:m="http://schemas.openxmlformats.org/officeDocument/2006/math">
                              <m:oMathParaPr>
                                <m:jc m:val="centerGroup"/>
                              </m:oMathParaPr>
                              <m:oMath xmlns:m="http://schemas.openxmlformats.org/officeDocument/2006/math">
                                <m:r>
                                  <a:rPr lang="en-US" sz="2700" b="0" i="1" smtClean="0">
                                    <a:latin typeface="Cambria Math" panose="02040503050406030204" pitchFamily="18" charset="0"/>
                                  </a:rPr>
                                  <m:t>𝑍</m:t>
                                </m:r>
                                <m:r>
                                  <a:rPr lang="en-US" sz="2700" b="0" i="1" smtClean="0">
                                    <a:latin typeface="Cambria Math" panose="02040503050406030204" pitchFamily="18" charset="0"/>
                                  </a:rPr>
                                  <m:t>&gt;</m:t>
                                </m:r>
                                <m:sSub>
                                  <m:sSubPr>
                                    <m:ctrlPr>
                                      <a:rPr lang="en-US" sz="2700" i="1">
                                        <a:latin typeface="Cambria Math" panose="02040503050406030204" pitchFamily="18" charset="0"/>
                                      </a:rPr>
                                    </m:ctrlPr>
                                  </m:sSubPr>
                                  <m:e>
                                    <m:r>
                                      <a:rPr lang="en-US" sz="2700" i="1">
                                        <a:latin typeface="Cambria Math" panose="02040503050406030204" pitchFamily="18" charset="0"/>
                                      </a:rPr>
                                      <m:t>𝑧</m:t>
                                    </m:r>
                                  </m:e>
                                  <m:sub>
                                    <m:f>
                                      <m:fPr>
                                        <m:ctrlPr>
                                          <a:rPr lang="en-US" sz="2700" i="1">
                                            <a:latin typeface="Cambria Math" panose="02040503050406030204" pitchFamily="18" charset="0"/>
                                          </a:rPr>
                                        </m:ctrlPr>
                                      </m:fPr>
                                      <m:num>
                                        <m:r>
                                          <a:rPr lang="en-US" sz="2700" i="1">
                                            <a:latin typeface="Cambria Math" panose="02040503050406030204" pitchFamily="18" charset="0"/>
                                          </a:rPr>
                                          <m:t>𝛼</m:t>
                                        </m:r>
                                      </m:num>
                                      <m:den>
                                        <m:r>
                                          <a:rPr lang="en-US" sz="2700" i="1">
                                            <a:latin typeface="Cambria Math" panose="02040503050406030204" pitchFamily="18" charset="0"/>
                                          </a:rPr>
                                          <m:t>2</m:t>
                                        </m:r>
                                      </m:den>
                                    </m:f>
                                  </m:sub>
                                </m:sSub>
                              </m:oMath>
                            </m:oMathPara>
                          </a14:m>
                          <a:endParaRPr lang="en-US" sz="2700" dirty="0"/>
                        </a:p>
                        <a:p>
                          <a:r>
                            <a:rPr lang="en-US" sz="2700" dirty="0"/>
                            <a:t>or </a:t>
                          </a:r>
                        </a:p>
                        <a:p>
                          <a:pPr/>
                          <a14:m>
                            <m:oMathPara xmlns:m="http://schemas.openxmlformats.org/officeDocument/2006/math">
                              <m:oMathParaPr>
                                <m:jc m:val="centerGroup"/>
                              </m:oMathParaPr>
                              <m:oMath xmlns:m="http://schemas.openxmlformats.org/officeDocument/2006/math">
                                <m:r>
                                  <a:rPr lang="en-US" sz="2700" b="0" i="1" smtClean="0">
                                    <a:latin typeface="Cambria Math" panose="02040503050406030204" pitchFamily="18" charset="0"/>
                                  </a:rPr>
                                  <m:t>𝑍</m:t>
                                </m:r>
                                <m:r>
                                  <a:rPr lang="en-US" sz="2700" b="0" i="1" smtClean="0">
                                    <a:latin typeface="Cambria Math" panose="02040503050406030204" pitchFamily="18" charset="0"/>
                                  </a:rPr>
                                  <m:t>&lt;−</m:t>
                                </m:r>
                                <m:sSub>
                                  <m:sSubPr>
                                    <m:ctrlPr>
                                      <a:rPr lang="en-US" sz="2700" i="1">
                                        <a:latin typeface="Cambria Math" panose="02040503050406030204" pitchFamily="18" charset="0"/>
                                      </a:rPr>
                                    </m:ctrlPr>
                                  </m:sSubPr>
                                  <m:e>
                                    <m:r>
                                      <a:rPr lang="en-US" sz="2700" i="1">
                                        <a:latin typeface="Cambria Math" panose="02040503050406030204" pitchFamily="18" charset="0"/>
                                      </a:rPr>
                                      <m:t>𝑧</m:t>
                                    </m:r>
                                  </m:e>
                                  <m:sub>
                                    <m:f>
                                      <m:fPr>
                                        <m:ctrlPr>
                                          <a:rPr lang="en-US" sz="2700" i="1">
                                            <a:latin typeface="Cambria Math" panose="02040503050406030204" pitchFamily="18" charset="0"/>
                                          </a:rPr>
                                        </m:ctrlPr>
                                      </m:fPr>
                                      <m:num>
                                        <m:r>
                                          <a:rPr lang="en-US" sz="2700" i="1">
                                            <a:latin typeface="Cambria Math" panose="02040503050406030204" pitchFamily="18" charset="0"/>
                                          </a:rPr>
                                          <m:t>𝛼</m:t>
                                        </m:r>
                                      </m:num>
                                      <m:den>
                                        <m:r>
                                          <a:rPr lang="en-US" sz="2700" i="1">
                                            <a:latin typeface="Cambria Math" panose="02040503050406030204" pitchFamily="18" charset="0"/>
                                          </a:rPr>
                                          <m:t>2</m:t>
                                        </m:r>
                                      </m:den>
                                    </m:f>
                                  </m:sub>
                                </m:sSub>
                              </m:oMath>
                            </m:oMathPara>
                          </a14:m>
                          <a:endParaRPr lang="en-US" sz="2700" dirty="0"/>
                        </a:p>
                      </a:txBody>
                      <a:tcPr marL="121920" marR="121920" marT="60960" marB="60960" anchor="ctr"/>
                    </a:tc>
                    <a:extLst>
                      <a:ext uri="{0D108BD9-81ED-4DB2-BD59-A6C34878D82A}">
                        <a16:rowId xmlns:a16="http://schemas.microsoft.com/office/drawing/2014/main" val="548525464"/>
                      </a:ext>
                    </a:extLst>
                  </a:tr>
                  <a:tr h="192000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700" b="0" i="1" smtClean="0">
                                    <a:latin typeface="Cambria Math" panose="02040503050406030204" pitchFamily="18" charset="0"/>
                                  </a:rPr>
                                  <m:t>𝑍</m:t>
                                </m:r>
                                <m:r>
                                  <a:rPr lang="en-US" sz="2700" b="0" i="1" smtClean="0">
                                    <a:latin typeface="Cambria Math" panose="02040503050406030204" pitchFamily="18" charset="0"/>
                                  </a:rPr>
                                  <m:t>&lt;−</m:t>
                                </m:r>
                                <m:sSub>
                                  <m:sSubPr>
                                    <m:ctrlPr>
                                      <a:rPr lang="en-US" sz="2700" i="1">
                                        <a:latin typeface="Cambria Math" panose="02040503050406030204" pitchFamily="18" charset="0"/>
                                      </a:rPr>
                                    </m:ctrlPr>
                                  </m:sSubPr>
                                  <m:e>
                                    <m:r>
                                      <a:rPr lang="en-US" sz="2700" i="1">
                                        <a:latin typeface="Cambria Math" panose="02040503050406030204" pitchFamily="18" charset="0"/>
                                      </a:rPr>
                                      <m:t>𝑧</m:t>
                                    </m:r>
                                  </m:e>
                                  <m:sub>
                                    <m:r>
                                      <a:rPr lang="en-US" sz="2700" b="0" i="1" smtClean="0">
                                        <a:latin typeface="Cambria Math" panose="02040503050406030204" pitchFamily="18" charset="0"/>
                                      </a:rPr>
                                      <m:t>𝛼</m:t>
                                    </m:r>
                                  </m:sub>
                                </m:sSub>
                              </m:oMath>
                            </m:oMathPara>
                          </a14:m>
                          <a:endParaRPr lang="en-US" sz="2700" dirty="0"/>
                        </a:p>
                      </a:txBody>
                      <a:tcPr marL="121920" marR="121920" marT="60960" marB="60960" anchor="ctr"/>
                    </a:tc>
                    <a:extLst>
                      <a:ext uri="{0D108BD9-81ED-4DB2-BD59-A6C34878D82A}">
                        <a16:rowId xmlns:a16="http://schemas.microsoft.com/office/drawing/2014/main" val="265939577"/>
                      </a:ext>
                    </a:extLst>
                  </a:tr>
                </a:tbl>
              </a:graphicData>
            </a:graphic>
          </p:graphicFrame>
        </mc:Choice>
        <mc:Fallback xmlns="">
          <p:graphicFrame>
            <p:nvGraphicFramePr>
              <p:cNvPr id="6" name="Table 5"/>
              <p:cNvGraphicFramePr>
                <a:graphicFrameLocks noGrp="1"/>
              </p:cNvGraphicFramePr>
              <p:nvPr/>
            </p:nvGraphicFramePr>
            <p:xfrm>
              <a:off x="9696000" y="251265"/>
              <a:ext cx="2496000" cy="6450880"/>
            </p:xfrm>
            <a:graphic>
              <a:graphicData uri="http://schemas.openxmlformats.org/drawingml/2006/table">
                <a:tbl>
                  <a:tblPr firstRow="1" bandRow="1">
                    <a:tableStyleId>{5C22544A-7EE6-4342-B048-85BDC9FD1C3A}</a:tableStyleId>
                  </a:tblPr>
                  <a:tblGrid>
                    <a:gridCol w="2496000">
                      <a:extLst>
                        <a:ext uri="{9D8B030D-6E8A-4147-A177-3AD203B41FA5}">
                          <a16:colId xmlns:a16="http://schemas.microsoft.com/office/drawing/2014/main" val="306824079"/>
                        </a:ext>
                      </a:extLst>
                    </a:gridCol>
                  </a:tblGrid>
                  <a:tr h="690880">
                    <a:tc>
                      <a:txBody>
                        <a:bodyPr/>
                        <a:lstStyle/>
                        <a:p>
                          <a:endParaRPr lang="en-US"/>
                        </a:p>
                      </a:txBody>
                      <a:tcPr marL="121920" marR="121920" marT="60960" marB="60960">
                        <a:blipFill>
                          <a:blip r:embed="rId8"/>
                          <a:stretch>
                            <a:fillRect l="-508" t="-10909" r="-1523" b="-827273"/>
                          </a:stretch>
                        </a:blipFill>
                      </a:tcPr>
                    </a:tc>
                    <a:extLst>
                      <a:ext uri="{0D108BD9-81ED-4DB2-BD59-A6C34878D82A}">
                        <a16:rowId xmlns:a16="http://schemas.microsoft.com/office/drawing/2014/main" val="3602488048"/>
                      </a:ext>
                    </a:extLst>
                  </a:tr>
                  <a:tr h="1920000">
                    <a:tc>
                      <a:txBody>
                        <a:bodyPr/>
                        <a:lstStyle/>
                        <a:p>
                          <a:endParaRPr lang="en-US"/>
                        </a:p>
                      </a:txBody>
                      <a:tcPr marL="121920" marR="121920" marT="60960" marB="60960" anchor="ctr">
                        <a:blipFill>
                          <a:blip r:embed="rId8"/>
                          <a:stretch>
                            <a:fillRect l="-508" t="-40397" r="-1523" b="-201325"/>
                          </a:stretch>
                        </a:blipFill>
                      </a:tcPr>
                    </a:tc>
                    <a:extLst>
                      <a:ext uri="{0D108BD9-81ED-4DB2-BD59-A6C34878D82A}">
                        <a16:rowId xmlns:a16="http://schemas.microsoft.com/office/drawing/2014/main" val="1112798827"/>
                      </a:ext>
                    </a:extLst>
                  </a:tr>
                  <a:tr h="1920000">
                    <a:tc>
                      <a:txBody>
                        <a:bodyPr/>
                        <a:lstStyle/>
                        <a:p>
                          <a:endParaRPr lang="en-US"/>
                        </a:p>
                      </a:txBody>
                      <a:tcPr marL="121920" marR="121920" marT="60960" marB="60960" anchor="ctr">
                        <a:blipFill>
                          <a:blip r:embed="rId8"/>
                          <a:stretch>
                            <a:fillRect l="-508" t="-139474" r="-1523" b="-100000"/>
                          </a:stretch>
                        </a:blipFill>
                      </a:tcPr>
                    </a:tc>
                    <a:extLst>
                      <a:ext uri="{0D108BD9-81ED-4DB2-BD59-A6C34878D82A}">
                        <a16:rowId xmlns:a16="http://schemas.microsoft.com/office/drawing/2014/main" val="548525464"/>
                      </a:ext>
                    </a:extLst>
                  </a:tr>
                  <a:tr h="1920000">
                    <a:tc>
                      <a:txBody>
                        <a:bodyPr/>
                        <a:lstStyle/>
                        <a:p>
                          <a:endParaRPr lang="en-US"/>
                        </a:p>
                      </a:txBody>
                      <a:tcPr marL="121920" marR="121920" marT="60960" marB="60960" anchor="ctr">
                        <a:blipFill>
                          <a:blip r:embed="rId8"/>
                          <a:stretch>
                            <a:fillRect l="-508" t="-241060" r="-1523" b="-662"/>
                          </a:stretch>
                        </a:blipFill>
                      </a:tcPr>
                    </a:tc>
                    <a:extLst>
                      <a:ext uri="{0D108BD9-81ED-4DB2-BD59-A6C34878D82A}">
                        <a16:rowId xmlns:a16="http://schemas.microsoft.com/office/drawing/2014/main" val="26593957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nvGraphicFramePr>
            <p:xfrm>
              <a:off x="479999" y="1296000"/>
              <a:ext cx="6384000" cy="4906264"/>
            </p:xfrm>
            <a:graphic>
              <a:graphicData uri="http://schemas.openxmlformats.org/drawingml/2006/table">
                <a:tbl>
                  <a:tblPr firstRow="1" firstCol="1" bandRow="1">
                    <a:tableStyleId>{5C22544A-7EE6-4342-B048-85BDC9FD1C3A}</a:tableStyleId>
                  </a:tblPr>
                  <a:tblGrid>
                    <a:gridCol w="2688000">
                      <a:extLst>
                        <a:ext uri="{9D8B030D-6E8A-4147-A177-3AD203B41FA5}">
                          <a16:colId xmlns:a16="http://schemas.microsoft.com/office/drawing/2014/main" val="4013297149"/>
                        </a:ext>
                      </a:extLst>
                    </a:gridCol>
                    <a:gridCol w="3696000">
                      <a:extLst>
                        <a:ext uri="{9D8B030D-6E8A-4147-A177-3AD203B41FA5}">
                          <a16:colId xmlns:a16="http://schemas.microsoft.com/office/drawing/2014/main" val="2929873868"/>
                        </a:ext>
                      </a:extLst>
                    </a:gridCol>
                  </a:tblGrid>
                  <a:tr h="93472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700" dirty="0"/>
                            <a:t>Data (</a:t>
                          </a:r>
                          <a14:m>
                            <m:oMath xmlns:m="http://schemas.openxmlformats.org/officeDocument/2006/math">
                              <m:r>
                                <a:rPr lang="en-US" sz="2700" b="0" i="1" smtClean="0">
                                  <a:latin typeface="Cambria Math" panose="02040503050406030204" pitchFamily="18" charset="0"/>
                                </a:rPr>
                                <m:t>𝑋</m:t>
                              </m:r>
                            </m:oMath>
                          </a14:m>
                          <a:r>
                            <a:rPr lang="en-US" sz="2700" dirty="0"/>
                            <a:t>)</a:t>
                          </a:r>
                        </a:p>
                      </a:txBody>
                      <a:tcPr marL="121920" marR="121920" marT="60960" marB="60960"/>
                    </a:tc>
                    <a:tc>
                      <a:txBody>
                        <a:bodyPr/>
                        <a:lstStyle/>
                        <a:p>
                          <a:r>
                            <a:rPr lang="en-US" sz="2700" dirty="0"/>
                            <a:t>Population</a:t>
                          </a:r>
                          <a:r>
                            <a:rPr lang="en-US" sz="2700" baseline="0" dirty="0"/>
                            <a:t> mean </a:t>
                          </a:r>
                          <a14:m>
                            <m:oMath xmlns:m="http://schemas.openxmlformats.org/officeDocument/2006/math">
                              <m:sSub>
                                <m:sSubPr>
                                  <m:ctrlPr>
                                    <a:rPr lang="en-US" sz="2700" b="0" i="1" baseline="0" smtClean="0">
                                      <a:latin typeface="Cambria Math" panose="02040503050406030204" pitchFamily="18" charset="0"/>
                                    </a:rPr>
                                  </m:ctrlPr>
                                </m:sSubPr>
                                <m:e>
                                  <m:r>
                                    <a:rPr lang="en-US" sz="2700" b="0" i="1" baseline="0" smtClean="0">
                                      <a:latin typeface="Cambria Math" panose="02040503050406030204" pitchFamily="18" charset="0"/>
                                    </a:rPr>
                                    <m:t>𝜇</m:t>
                                  </m:r>
                                </m:e>
                                <m:sub>
                                  <m:r>
                                    <a:rPr lang="en-US" sz="2700" b="0" i="1" baseline="0" smtClean="0">
                                      <a:latin typeface="Cambria Math" panose="02040503050406030204" pitchFamily="18" charset="0"/>
                                    </a:rPr>
                                    <m:t>𝑋</m:t>
                                  </m:r>
                                </m:sub>
                              </m:sSub>
                            </m:oMath>
                          </a14:m>
                          <a:r>
                            <a:rPr lang="en-US" sz="2700" dirty="0"/>
                            <a:t> with known variance </a:t>
                          </a:r>
                          <a14:m>
                            <m:oMath xmlns:m="http://schemas.openxmlformats.org/officeDocument/2006/math">
                              <m:sSup>
                                <m:sSupPr>
                                  <m:ctrlPr>
                                    <a:rPr lang="en-US" sz="2700" b="0" i="1" smtClean="0">
                                      <a:latin typeface="Cambria Math" panose="02040503050406030204" pitchFamily="18" charset="0"/>
                                    </a:rPr>
                                  </m:ctrlPr>
                                </m:sSupPr>
                                <m:e>
                                  <m:r>
                                    <a:rPr lang="en-US" sz="2700" b="0" i="1" smtClean="0">
                                      <a:latin typeface="Cambria Math" panose="02040503050406030204" pitchFamily="18" charset="0"/>
                                    </a:rPr>
                                    <m:t>𝜎</m:t>
                                  </m:r>
                                </m:e>
                                <m:sup>
                                  <m:r>
                                    <a:rPr lang="en-US" sz="2700" b="0" i="1" smtClean="0">
                                      <a:latin typeface="Cambria Math" panose="02040503050406030204" pitchFamily="18" charset="0"/>
                                    </a:rPr>
                                    <m:t>2</m:t>
                                  </m:r>
                                </m:sup>
                              </m:sSup>
                            </m:oMath>
                          </a14:m>
                          <a:endParaRPr lang="en-US" sz="2700" dirty="0"/>
                        </a:p>
                      </a:txBody>
                      <a:tcPr marL="121920" marR="121920" marT="60960" marB="60960"/>
                    </a:tc>
                    <a:extLst>
                      <a:ext uri="{0D108BD9-81ED-4DB2-BD59-A6C34878D82A}">
                        <a16:rowId xmlns:a16="http://schemas.microsoft.com/office/drawing/2014/main" val="821838495"/>
                      </a:ext>
                    </a:extLst>
                  </a:tr>
                  <a:tr h="528320">
                    <a:tc>
                      <a:txBody>
                        <a:bodyPr/>
                        <a:lstStyle/>
                        <a:p>
                          <a:r>
                            <a:rPr lang="en-US" sz="2700" b="1" dirty="0">
                              <a:ea typeface="Cambria Math" panose="02040503050406030204" pitchFamily="18" charset="0"/>
                            </a:rPr>
                            <a:t>Null hypothesis</a:t>
                          </a:r>
                          <a:endParaRPr lang="en-US" sz="2700" dirty="0"/>
                        </a:p>
                      </a:txBody>
                      <a:tcPr marL="121920" marR="121920" marT="60960" marB="60960"/>
                    </a:tc>
                    <a:tc>
                      <a:txBody>
                        <a:bodyPr/>
                        <a:lstStyle/>
                        <a:p>
                          <a:pPr/>
                          <a14:m>
                            <m:oMathPara xmlns:m="http://schemas.openxmlformats.org/officeDocument/2006/math">
                              <m:oMathParaPr>
                                <m:jc m:val="centerGroup"/>
                              </m:oMathParaPr>
                              <m:oMath xmlns:m="http://schemas.openxmlformats.org/officeDocument/2006/math">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ℋ</m:t>
                                    </m:r>
                                  </m:e>
                                  <m:sub>
                                    <m:r>
                                      <a:rPr lang="en-US" sz="2700" b="0" i="1" smtClean="0">
                                        <a:latin typeface="Cambria Math" panose="02040503050406030204" pitchFamily="18" charset="0"/>
                                        <a:ea typeface="Cambria Math" panose="02040503050406030204" pitchFamily="18" charset="0"/>
                                      </a:rPr>
                                      <m:t>0</m:t>
                                    </m:r>
                                  </m:sub>
                                </m:sSub>
                                <m:r>
                                  <a:rPr lang="en-US" sz="2700" b="0" i="1" smtClean="0">
                                    <a:latin typeface="Cambria Math" panose="02040503050406030204" pitchFamily="18" charset="0"/>
                                    <a:ea typeface="Cambria Math" panose="02040503050406030204" pitchFamily="18" charset="0"/>
                                  </a:rPr>
                                  <m:t>: </m:t>
                                </m:r>
                                <m:sSub>
                                  <m:sSubPr>
                                    <m:ctrlPr>
                                      <a:rPr lang="en-US" sz="2700" i="1" smtClean="0">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𝑋</m:t>
                                    </m:r>
                                  </m:sub>
                                </m:sSub>
                                <m:r>
                                  <a:rPr lang="en-US" sz="2700" i="1">
                                    <a:latin typeface="Cambria Math" panose="02040503050406030204" pitchFamily="18" charset="0"/>
                                    <a:ea typeface="Cambria Math" panose="02040503050406030204" pitchFamily="18" charset="0"/>
                                  </a:rPr>
                                  <m:t>=</m:t>
                                </m:r>
                                <m:sSub>
                                  <m:sSubPr>
                                    <m:ctrlPr>
                                      <a:rPr lang="en-US" sz="2700" i="1">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0</m:t>
                                    </m:r>
                                  </m:sub>
                                </m:sSub>
                              </m:oMath>
                            </m:oMathPara>
                          </a14:m>
                          <a:endParaRPr lang="en-US" sz="2700" dirty="0"/>
                        </a:p>
                      </a:txBody>
                      <a:tcPr marL="121920" marR="121920" marT="60960" marB="60960"/>
                    </a:tc>
                    <a:extLst>
                      <a:ext uri="{0D108BD9-81ED-4DB2-BD59-A6C34878D82A}">
                        <a16:rowId xmlns:a16="http://schemas.microsoft.com/office/drawing/2014/main" val="4133731926"/>
                      </a:ext>
                    </a:extLst>
                  </a:tr>
                  <a:tr h="141935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700" b="1" dirty="0">
                              <a:ea typeface="Cambria Math" panose="02040503050406030204" pitchFamily="18" charset="0"/>
                            </a:rPr>
                            <a:t>Alternative hypothesis</a:t>
                          </a:r>
                          <a:endParaRPr lang="en-US" sz="2700" dirty="0"/>
                        </a:p>
                      </a:txBody>
                      <a:tcPr marL="121920" marR="121920" marT="60960" marB="60960"/>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ℋ</m:t>
                                    </m:r>
                                  </m:e>
                                  <m:sub>
                                    <m:r>
                                      <a:rPr lang="en-US" sz="2700" b="0" i="1" smtClean="0">
                                        <a:latin typeface="Cambria Math" panose="02040503050406030204" pitchFamily="18" charset="0"/>
                                        <a:ea typeface="Cambria Math" panose="02040503050406030204" pitchFamily="18" charset="0"/>
                                      </a:rPr>
                                      <m:t>1</m:t>
                                    </m:r>
                                  </m:sub>
                                </m:sSub>
                                <m:r>
                                  <a:rPr lang="en-US" sz="2700" b="0" i="1" smtClean="0">
                                    <a:latin typeface="Cambria Math" panose="02040503050406030204" pitchFamily="18" charset="0"/>
                                    <a:ea typeface="Cambria Math" panose="02040503050406030204" pitchFamily="18" charset="0"/>
                                  </a:rPr>
                                  <m:t>: </m:t>
                                </m:r>
                                <m:d>
                                  <m:dPr>
                                    <m:begChr m:val="{"/>
                                    <m:endChr m:val=""/>
                                    <m:ctrlPr>
                                      <a:rPr lang="en-US" sz="2700" b="0" i="1" smtClean="0">
                                        <a:latin typeface="Cambria Math" panose="02040503050406030204" pitchFamily="18" charset="0"/>
                                        <a:ea typeface="Cambria Math" panose="02040503050406030204" pitchFamily="18" charset="0"/>
                                      </a:rPr>
                                    </m:ctrlPr>
                                  </m:dPr>
                                  <m:e>
                                    <m:eqArr>
                                      <m:eqArrPr>
                                        <m:ctrlPr>
                                          <a:rPr lang="en-US" sz="2700" b="0" i="1" smtClean="0">
                                            <a:latin typeface="Cambria Math" panose="02040503050406030204" pitchFamily="18" charset="0"/>
                                            <a:ea typeface="Cambria Math" panose="02040503050406030204" pitchFamily="18" charset="0"/>
                                          </a:rPr>
                                        </m:ctrlPr>
                                      </m:eqArrPr>
                                      <m:e>
                                        <m:sSub>
                                          <m:sSubPr>
                                            <m:ctrlPr>
                                              <a:rPr lang="en-US" sz="2700" i="1" smtClean="0">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𝑋</m:t>
                                            </m:r>
                                          </m:sub>
                                        </m:sSub>
                                        <m:r>
                                          <a:rPr lang="en-US" sz="2700" b="0" i="1" smtClean="0">
                                            <a:latin typeface="Cambria Math" panose="02040503050406030204" pitchFamily="18" charset="0"/>
                                            <a:ea typeface="Cambria Math" panose="02040503050406030204" pitchFamily="18" charset="0"/>
                                          </a:rPr>
                                          <m:t>&gt;</m:t>
                                        </m:r>
                                        <m:sSub>
                                          <m:sSubPr>
                                            <m:ctrlPr>
                                              <a:rPr lang="en-US" sz="2700" i="1">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0</m:t>
                                            </m:r>
                                          </m:sub>
                                        </m:sSub>
                                      </m:e>
                                      <m:e>
                                        <m:sSub>
                                          <m:sSubPr>
                                            <m:ctrlPr>
                                              <a:rPr lang="en-US" sz="2700" i="1" smtClean="0">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𝑋</m:t>
                                            </m:r>
                                          </m:sub>
                                        </m:sSub>
                                        <m:r>
                                          <a:rPr lang="en-US" sz="2700" i="1">
                                            <a:latin typeface="Cambria Math" panose="02040503050406030204" pitchFamily="18" charset="0"/>
                                            <a:ea typeface="Cambria Math" panose="02040503050406030204" pitchFamily="18" charset="0"/>
                                          </a:rPr>
                                          <m:t>≠</m:t>
                                        </m:r>
                                        <m:sSub>
                                          <m:sSubPr>
                                            <m:ctrlPr>
                                              <a:rPr lang="en-US" sz="2700" i="1">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0</m:t>
                                            </m:r>
                                          </m:sub>
                                        </m:sSub>
                                      </m:e>
                                      <m:e>
                                        <m:sSub>
                                          <m:sSubPr>
                                            <m:ctrlPr>
                                              <a:rPr lang="en-US" sz="2700" i="1" smtClean="0">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𝑋</m:t>
                                            </m:r>
                                          </m:sub>
                                        </m:sSub>
                                        <m:r>
                                          <a:rPr lang="en-US" sz="2700" b="0" i="1" smtClean="0">
                                            <a:latin typeface="Cambria Math" panose="02040503050406030204" pitchFamily="18" charset="0"/>
                                            <a:ea typeface="Cambria Math" panose="02040503050406030204" pitchFamily="18" charset="0"/>
                                          </a:rPr>
                                          <m:t>&lt;</m:t>
                                        </m:r>
                                        <m:sSub>
                                          <m:sSubPr>
                                            <m:ctrlPr>
                                              <a:rPr lang="en-US" sz="2700" i="1">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0</m:t>
                                            </m:r>
                                          </m:sub>
                                        </m:sSub>
                                        <m:r>
                                          <m:rPr>
                                            <m:nor/>
                                          </m:rPr>
                                          <a:rPr lang="en-US" sz="2700" dirty="0"/>
                                          <m:t> </m:t>
                                        </m:r>
                                      </m:e>
                                    </m:eqArr>
                                  </m:e>
                                </m:d>
                              </m:oMath>
                            </m:oMathPara>
                          </a14:m>
                          <a:endParaRPr lang="en-US" sz="2700" dirty="0"/>
                        </a:p>
                      </a:txBody>
                      <a:tcPr marL="121920" marR="121920" marT="60960" marB="60960"/>
                    </a:tc>
                    <a:extLst>
                      <a:ext uri="{0D108BD9-81ED-4DB2-BD59-A6C34878D82A}">
                        <a16:rowId xmlns:a16="http://schemas.microsoft.com/office/drawing/2014/main" val="1347873052"/>
                      </a:ext>
                    </a:extLst>
                  </a:tr>
                  <a:tr h="528320">
                    <a:tc>
                      <a:txBody>
                        <a:bodyPr/>
                        <a:lstStyle/>
                        <a:p>
                          <a:r>
                            <a:rPr lang="en-US" sz="2700" dirty="0"/>
                            <a:t>Significance</a:t>
                          </a:r>
                          <a:r>
                            <a:rPr lang="en-US" sz="2700" baseline="0" dirty="0"/>
                            <a:t> level</a:t>
                          </a:r>
                          <a:endParaRPr lang="en-US" sz="2700" dirty="0"/>
                        </a:p>
                      </a:txBody>
                      <a:tcPr marL="121920" marR="121920" marT="60960" marB="6096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700" b="0" i="1" smtClean="0">
                                    <a:latin typeface="Cambria Math" panose="02040503050406030204" pitchFamily="18" charset="0"/>
                                  </a:rPr>
                                  <m:t>𝛼</m:t>
                                </m:r>
                              </m:oMath>
                            </m:oMathPara>
                          </a14:m>
                          <a:endParaRPr lang="en-US" sz="2700" b="0" dirty="0"/>
                        </a:p>
                      </a:txBody>
                      <a:tcPr marL="121920" marR="121920" marT="60960" marB="60960"/>
                    </a:tc>
                    <a:extLst>
                      <a:ext uri="{0D108BD9-81ED-4DB2-BD59-A6C34878D82A}">
                        <a16:rowId xmlns:a16="http://schemas.microsoft.com/office/drawing/2014/main" val="1085276441"/>
                      </a:ext>
                    </a:extLst>
                  </a:tr>
                  <a:tr h="144480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700" dirty="0"/>
                            <a:t>Test statistic (</a:t>
                          </a:r>
                          <a14:m>
                            <m:oMath xmlns:m="http://schemas.openxmlformats.org/officeDocument/2006/math">
                              <m:r>
                                <a:rPr lang="en-US" sz="2700" i="1" smtClean="0">
                                  <a:latin typeface="Cambria Math" panose="02040503050406030204" pitchFamily="18" charset="0"/>
                                </a:rPr>
                                <m:t>𝛩</m:t>
                              </m:r>
                            </m:oMath>
                          </a14:m>
                          <a:r>
                            <a:rPr lang="en-US" sz="2700" dirty="0"/>
                            <a:t>)</a:t>
                          </a:r>
                        </a:p>
                      </a:txBody>
                      <a:tcPr marL="121920" marR="121920" marT="60960" marB="60960"/>
                    </a:tc>
                    <a:tc>
                      <a:txBody>
                        <a:bodyPr/>
                        <a:lstStyle/>
                        <a:p>
                          <a:pPr/>
                          <a14:m>
                            <m:oMathPara xmlns:m="http://schemas.openxmlformats.org/officeDocument/2006/math">
                              <m:oMathParaPr>
                                <m:jc m:val="centerGroup"/>
                              </m:oMathParaPr>
                              <m:oMath xmlns:m="http://schemas.openxmlformats.org/officeDocument/2006/math">
                                <m:r>
                                  <a:rPr lang="en-US" sz="2700" b="0" i="1" smtClean="0">
                                    <a:latin typeface="Cambria Math" panose="02040503050406030204" pitchFamily="18" charset="0"/>
                                  </a:rPr>
                                  <m:t>𝑍</m:t>
                                </m:r>
                                <m:r>
                                  <a:rPr lang="en-US" sz="2700" b="0" i="1" smtClean="0">
                                    <a:latin typeface="Cambria Math" panose="02040503050406030204" pitchFamily="18" charset="0"/>
                                  </a:rPr>
                                  <m:t>=</m:t>
                                </m:r>
                                <m:f>
                                  <m:fPr>
                                    <m:ctrlPr>
                                      <a:rPr lang="en-US" sz="2700" i="1" smtClean="0">
                                        <a:latin typeface="Cambria Math" panose="02040503050406030204" pitchFamily="18" charset="0"/>
                                      </a:rPr>
                                    </m:ctrlPr>
                                  </m:fPr>
                                  <m:num>
                                    <m:acc>
                                      <m:accPr>
                                        <m:chr m:val="̅"/>
                                        <m:ctrlPr>
                                          <a:rPr lang="en-US" sz="2700" i="1">
                                            <a:latin typeface="Cambria Math" panose="02040503050406030204" pitchFamily="18" charset="0"/>
                                          </a:rPr>
                                        </m:ctrlPr>
                                      </m:accPr>
                                      <m:e>
                                        <m:r>
                                          <a:rPr lang="en-US" sz="2700" i="1">
                                            <a:latin typeface="Cambria Math" panose="02040503050406030204" pitchFamily="18" charset="0"/>
                                          </a:rPr>
                                          <m:t>𝑋</m:t>
                                        </m:r>
                                      </m:e>
                                    </m:acc>
                                    <m:r>
                                      <a:rPr lang="en-US" sz="2700" i="1">
                                        <a:latin typeface="Cambria Math" panose="02040503050406030204" pitchFamily="18" charset="0"/>
                                      </a:rPr>
                                      <m:t>−</m:t>
                                    </m:r>
                                    <m:sSub>
                                      <m:sSubPr>
                                        <m:ctrlPr>
                                          <a:rPr lang="en-US" sz="2700" i="1">
                                            <a:latin typeface="Cambria Math" panose="02040503050406030204" pitchFamily="18" charset="0"/>
                                          </a:rPr>
                                        </m:ctrlPr>
                                      </m:sSubPr>
                                      <m:e>
                                        <m:r>
                                          <a:rPr lang="en-US" sz="2700" i="1">
                                            <a:latin typeface="Cambria Math" panose="02040503050406030204" pitchFamily="18" charset="0"/>
                                          </a:rPr>
                                          <m:t>𝜇</m:t>
                                        </m:r>
                                      </m:e>
                                      <m:sub>
                                        <m:r>
                                          <a:rPr lang="en-US" sz="2700" i="1">
                                            <a:latin typeface="Cambria Math" panose="02040503050406030204" pitchFamily="18" charset="0"/>
                                          </a:rPr>
                                          <m:t>0</m:t>
                                        </m:r>
                                      </m:sub>
                                    </m:sSub>
                                  </m:num>
                                  <m:den>
                                    <m:rad>
                                      <m:radPr>
                                        <m:degHide m:val="on"/>
                                        <m:ctrlPr>
                                          <a:rPr lang="en-US" sz="2700" i="1">
                                            <a:latin typeface="Cambria Math" panose="02040503050406030204" pitchFamily="18" charset="0"/>
                                          </a:rPr>
                                        </m:ctrlPr>
                                      </m:radPr>
                                      <m:deg/>
                                      <m:e>
                                        <m:f>
                                          <m:fPr>
                                            <m:ctrlPr>
                                              <a:rPr lang="en-US" sz="2700" i="1">
                                                <a:latin typeface="Cambria Math" panose="02040503050406030204" pitchFamily="18" charset="0"/>
                                              </a:rPr>
                                            </m:ctrlPr>
                                          </m:fPr>
                                          <m:num>
                                            <m:sSup>
                                              <m:sSupPr>
                                                <m:ctrlPr>
                                                  <a:rPr lang="en-US" sz="2700" i="1">
                                                    <a:latin typeface="Cambria Math" panose="02040503050406030204" pitchFamily="18" charset="0"/>
                                                  </a:rPr>
                                                </m:ctrlPr>
                                              </m:sSupPr>
                                              <m:e>
                                                <m:r>
                                                  <a:rPr lang="en-US" sz="2700" b="0" i="1" smtClean="0">
                                                    <a:latin typeface="Cambria Math" panose="02040503050406030204" pitchFamily="18" charset="0"/>
                                                  </a:rPr>
                                                  <m:t>𝜎</m:t>
                                                </m:r>
                                              </m:e>
                                              <m:sup>
                                                <m:r>
                                                  <a:rPr lang="en-US" sz="2700" i="1">
                                                    <a:latin typeface="Cambria Math" panose="02040503050406030204" pitchFamily="18" charset="0"/>
                                                  </a:rPr>
                                                  <m:t>2</m:t>
                                                </m:r>
                                              </m:sup>
                                            </m:sSup>
                                          </m:num>
                                          <m:den>
                                            <m:r>
                                              <a:rPr lang="en-US" sz="2700" i="1">
                                                <a:latin typeface="Cambria Math" panose="02040503050406030204" pitchFamily="18" charset="0"/>
                                              </a:rPr>
                                              <m:t>𝑛</m:t>
                                            </m:r>
                                          </m:den>
                                        </m:f>
                                      </m:e>
                                    </m:rad>
                                  </m:den>
                                </m:f>
                              </m:oMath>
                            </m:oMathPara>
                          </a14:m>
                          <a:endParaRPr lang="en-US" sz="2700" dirty="0"/>
                        </a:p>
                      </a:txBody>
                      <a:tcPr marL="121920" marR="121920" marT="60960" marB="60960"/>
                    </a:tc>
                    <a:extLst>
                      <a:ext uri="{0D108BD9-81ED-4DB2-BD59-A6C34878D82A}">
                        <a16:rowId xmlns:a16="http://schemas.microsoft.com/office/drawing/2014/main" val="2665732580"/>
                      </a:ext>
                    </a:extLst>
                  </a:tr>
                </a:tbl>
              </a:graphicData>
            </a:graphic>
          </p:graphicFrame>
        </mc:Choice>
        <mc:Fallback xmlns="">
          <p:graphicFrame>
            <p:nvGraphicFramePr>
              <p:cNvPr id="4" name="Table 3"/>
              <p:cNvGraphicFramePr>
                <a:graphicFrameLocks noGrp="1"/>
              </p:cNvGraphicFramePr>
              <p:nvPr/>
            </p:nvGraphicFramePr>
            <p:xfrm>
              <a:off x="479999" y="1296000"/>
              <a:ext cx="6384000" cy="4906264"/>
            </p:xfrm>
            <a:graphic>
              <a:graphicData uri="http://schemas.openxmlformats.org/drawingml/2006/table">
                <a:tbl>
                  <a:tblPr firstRow="1" firstCol="1" bandRow="1">
                    <a:tableStyleId>{5C22544A-7EE6-4342-B048-85BDC9FD1C3A}</a:tableStyleId>
                  </a:tblPr>
                  <a:tblGrid>
                    <a:gridCol w="2688000">
                      <a:extLst>
                        <a:ext uri="{9D8B030D-6E8A-4147-A177-3AD203B41FA5}">
                          <a16:colId xmlns:a16="http://schemas.microsoft.com/office/drawing/2014/main" val="4013297149"/>
                        </a:ext>
                      </a:extLst>
                    </a:gridCol>
                    <a:gridCol w="3696000">
                      <a:extLst>
                        <a:ext uri="{9D8B030D-6E8A-4147-A177-3AD203B41FA5}">
                          <a16:colId xmlns:a16="http://schemas.microsoft.com/office/drawing/2014/main" val="2929873868"/>
                        </a:ext>
                      </a:extLst>
                    </a:gridCol>
                  </a:tblGrid>
                  <a:tr h="944880">
                    <a:tc>
                      <a:txBody>
                        <a:bodyPr/>
                        <a:lstStyle/>
                        <a:p>
                          <a:endParaRPr lang="en-US"/>
                        </a:p>
                      </a:txBody>
                      <a:tcPr marL="121920" marR="121920" marT="60960" marB="60960">
                        <a:blipFill>
                          <a:blip r:embed="rId9"/>
                          <a:stretch>
                            <a:fillRect l="-472" t="-164000" r="-138679" b="-614667"/>
                          </a:stretch>
                        </a:blipFill>
                      </a:tcPr>
                    </a:tc>
                    <a:tc>
                      <a:txBody>
                        <a:bodyPr/>
                        <a:lstStyle/>
                        <a:p>
                          <a:endParaRPr lang="en-US"/>
                        </a:p>
                      </a:txBody>
                      <a:tcPr marL="121920" marR="121920" marT="60960" marB="60960">
                        <a:blipFill>
                          <a:blip r:embed="rId9"/>
                          <a:stretch>
                            <a:fillRect l="-72945" t="-164000" r="-685" b="-614667"/>
                          </a:stretch>
                        </a:blipFill>
                      </a:tcPr>
                    </a:tc>
                    <a:extLst>
                      <a:ext uri="{0D108BD9-81ED-4DB2-BD59-A6C34878D82A}">
                        <a16:rowId xmlns:a16="http://schemas.microsoft.com/office/drawing/2014/main" val="821838495"/>
                      </a:ext>
                    </a:extLst>
                  </a:tr>
                  <a:tr h="533400">
                    <a:tc>
                      <a:txBody>
                        <a:bodyPr/>
                        <a:lstStyle/>
                        <a:p>
                          <a:r>
                            <a:rPr lang="en-US" sz="2700" b="1" dirty="0">
                              <a:ea typeface="Cambria Math" panose="02040503050406030204" pitchFamily="18" charset="0"/>
                            </a:rPr>
                            <a:t>Null hypothesis</a:t>
                          </a:r>
                          <a:endParaRPr lang="en-US" sz="2700" dirty="0"/>
                        </a:p>
                      </a:txBody>
                      <a:tcPr marL="121920" marR="121920" marT="60960" marB="60960"/>
                    </a:tc>
                    <a:tc>
                      <a:txBody>
                        <a:bodyPr/>
                        <a:lstStyle/>
                        <a:p>
                          <a:endParaRPr lang="en-US"/>
                        </a:p>
                      </a:txBody>
                      <a:tcPr marL="121920" marR="121920" marT="60960" marB="60960">
                        <a:blipFill>
                          <a:blip r:embed="rId9"/>
                          <a:stretch>
                            <a:fillRect l="-72945" t="-471429" r="-685" b="-997619"/>
                          </a:stretch>
                        </a:blipFill>
                      </a:tcPr>
                    </a:tc>
                    <a:extLst>
                      <a:ext uri="{0D108BD9-81ED-4DB2-BD59-A6C34878D82A}">
                        <a16:rowId xmlns:a16="http://schemas.microsoft.com/office/drawing/2014/main" val="4133731926"/>
                      </a:ext>
                    </a:extLst>
                  </a:tr>
                  <a:tr h="143560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700" b="1" dirty="0">
                              <a:ea typeface="Cambria Math" panose="02040503050406030204" pitchFamily="18" charset="0"/>
                            </a:rPr>
                            <a:t>Alternative hypothesis</a:t>
                          </a:r>
                          <a:endParaRPr lang="en-US" sz="2700" dirty="0"/>
                        </a:p>
                      </a:txBody>
                      <a:tcPr marL="121920" marR="121920" marT="60960" marB="60960"/>
                    </a:tc>
                    <a:tc>
                      <a:txBody>
                        <a:bodyPr/>
                        <a:lstStyle/>
                        <a:p>
                          <a:endParaRPr lang="en-US"/>
                        </a:p>
                      </a:txBody>
                      <a:tcPr marL="121920" marR="121920" marT="60960" marB="60960">
                        <a:blipFill>
                          <a:blip r:embed="rId9"/>
                          <a:stretch>
                            <a:fillRect l="-72945" t="-212389" r="-685" b="-270796"/>
                          </a:stretch>
                        </a:blipFill>
                      </a:tcPr>
                    </a:tc>
                    <a:extLst>
                      <a:ext uri="{0D108BD9-81ED-4DB2-BD59-A6C34878D82A}">
                        <a16:rowId xmlns:a16="http://schemas.microsoft.com/office/drawing/2014/main" val="1347873052"/>
                      </a:ext>
                    </a:extLst>
                  </a:tr>
                  <a:tr h="533400">
                    <a:tc>
                      <a:txBody>
                        <a:bodyPr/>
                        <a:lstStyle/>
                        <a:p>
                          <a:r>
                            <a:rPr lang="en-US" sz="2700" dirty="0"/>
                            <a:t>Significance</a:t>
                          </a:r>
                          <a:r>
                            <a:rPr lang="en-US" sz="2700" baseline="0" dirty="0"/>
                            <a:t xml:space="preserve"> level</a:t>
                          </a:r>
                          <a:endParaRPr lang="en-US" sz="2700" dirty="0"/>
                        </a:p>
                      </a:txBody>
                      <a:tcPr marL="121920" marR="121920" marT="60960" marB="60960"/>
                    </a:tc>
                    <a:tc>
                      <a:txBody>
                        <a:bodyPr/>
                        <a:lstStyle/>
                        <a:p>
                          <a:endParaRPr lang="en-US"/>
                        </a:p>
                      </a:txBody>
                      <a:tcPr marL="121920" marR="121920" marT="60960" marB="60960">
                        <a:blipFill>
                          <a:blip r:embed="rId9"/>
                          <a:stretch>
                            <a:fillRect l="-72945" t="-840476" r="-685" b="-628571"/>
                          </a:stretch>
                        </a:blipFill>
                      </a:tcPr>
                    </a:tc>
                    <a:extLst>
                      <a:ext uri="{0D108BD9-81ED-4DB2-BD59-A6C34878D82A}">
                        <a16:rowId xmlns:a16="http://schemas.microsoft.com/office/drawing/2014/main" val="1085276441"/>
                      </a:ext>
                    </a:extLst>
                  </a:tr>
                  <a:tr h="1458976">
                    <a:tc>
                      <a:txBody>
                        <a:bodyPr/>
                        <a:lstStyle/>
                        <a:p>
                          <a:endParaRPr lang="en-US"/>
                        </a:p>
                      </a:txBody>
                      <a:tcPr marL="121920" marR="121920" marT="60960" marB="60960">
                        <a:blipFill>
                          <a:blip r:embed="rId9"/>
                          <a:stretch>
                            <a:fillRect l="-472" t="-343478" r="-138679" b="-129565"/>
                          </a:stretch>
                        </a:blipFill>
                      </a:tcPr>
                    </a:tc>
                    <a:tc>
                      <a:txBody>
                        <a:bodyPr/>
                        <a:lstStyle/>
                        <a:p>
                          <a:endParaRPr lang="en-US"/>
                        </a:p>
                      </a:txBody>
                      <a:tcPr marL="121920" marR="121920" marT="60960" marB="60960">
                        <a:blipFill>
                          <a:blip r:embed="rId9"/>
                          <a:stretch>
                            <a:fillRect l="-72945" t="-343478" r="-685" b="-129565"/>
                          </a:stretch>
                        </a:blipFill>
                      </a:tcPr>
                    </a:tc>
                    <a:extLst>
                      <a:ext uri="{0D108BD9-81ED-4DB2-BD59-A6C34878D82A}">
                        <a16:rowId xmlns:a16="http://schemas.microsoft.com/office/drawing/2014/main" val="2665732580"/>
                      </a:ext>
                    </a:extLst>
                  </a:tr>
                </a:tbl>
              </a:graphicData>
            </a:graphic>
          </p:graphicFrame>
        </mc:Fallback>
      </mc:AlternateContent>
    </p:spTree>
    <p:extLst>
      <p:ext uri="{BB962C8B-B14F-4D97-AF65-F5344CB8AC3E}">
        <p14:creationId xmlns:p14="http://schemas.microsoft.com/office/powerpoint/2010/main" val="588925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P-values for the mean (SD unknown, &lt;30 samples)</a:t>
            </a: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nvGraphicFramePr>
            <p:xfrm>
              <a:off x="479999" y="1296000"/>
              <a:ext cx="6384000" cy="4906264"/>
            </p:xfrm>
            <a:graphic>
              <a:graphicData uri="http://schemas.openxmlformats.org/drawingml/2006/table">
                <a:tbl>
                  <a:tblPr firstRow="1" firstCol="1" bandRow="1">
                    <a:tableStyleId>{5C22544A-7EE6-4342-B048-85BDC9FD1C3A}</a:tableStyleId>
                  </a:tblPr>
                  <a:tblGrid>
                    <a:gridCol w="2688000">
                      <a:extLst>
                        <a:ext uri="{9D8B030D-6E8A-4147-A177-3AD203B41FA5}">
                          <a16:colId xmlns:a16="http://schemas.microsoft.com/office/drawing/2014/main" val="4013297149"/>
                        </a:ext>
                      </a:extLst>
                    </a:gridCol>
                    <a:gridCol w="3696000">
                      <a:extLst>
                        <a:ext uri="{9D8B030D-6E8A-4147-A177-3AD203B41FA5}">
                          <a16:colId xmlns:a16="http://schemas.microsoft.com/office/drawing/2014/main" val="2929873868"/>
                        </a:ext>
                      </a:extLst>
                    </a:gridCol>
                  </a:tblGrid>
                  <a:tr h="93472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700" dirty="0"/>
                            <a:t>Data (</a:t>
                          </a:r>
                          <a14:m>
                            <m:oMath xmlns:m="http://schemas.openxmlformats.org/officeDocument/2006/math">
                              <m:r>
                                <a:rPr lang="en-US" sz="2700" b="0" i="1" smtClean="0">
                                  <a:latin typeface="Cambria Math" panose="02040503050406030204" pitchFamily="18" charset="0"/>
                                </a:rPr>
                                <m:t>𝑋</m:t>
                              </m:r>
                            </m:oMath>
                          </a14:m>
                          <a:r>
                            <a:rPr lang="en-US" sz="2700" dirty="0"/>
                            <a:t>)</a:t>
                          </a:r>
                        </a:p>
                      </a:txBody>
                      <a:tcPr marL="121920" marR="121920" marT="60960" marB="60960"/>
                    </a:tc>
                    <a:tc>
                      <a:txBody>
                        <a:bodyPr/>
                        <a:lstStyle/>
                        <a:p>
                          <a:r>
                            <a:rPr lang="en-US" sz="2700" dirty="0"/>
                            <a:t>Population</a:t>
                          </a:r>
                          <a:r>
                            <a:rPr lang="en-US" sz="2700" baseline="0" dirty="0"/>
                            <a:t> mean </a:t>
                          </a:r>
                          <a14:m>
                            <m:oMath xmlns:m="http://schemas.openxmlformats.org/officeDocument/2006/math">
                              <m:sSub>
                                <m:sSubPr>
                                  <m:ctrlPr>
                                    <a:rPr lang="en-US" sz="2700" b="0" i="1" baseline="0" smtClean="0">
                                      <a:latin typeface="Cambria Math" panose="02040503050406030204" pitchFamily="18" charset="0"/>
                                    </a:rPr>
                                  </m:ctrlPr>
                                </m:sSubPr>
                                <m:e>
                                  <m:r>
                                    <a:rPr lang="en-US" sz="2700" b="0" i="1" baseline="0" smtClean="0">
                                      <a:latin typeface="Cambria Math" panose="02040503050406030204" pitchFamily="18" charset="0"/>
                                    </a:rPr>
                                    <m:t>𝜇</m:t>
                                  </m:r>
                                </m:e>
                                <m:sub>
                                  <m:r>
                                    <a:rPr lang="en-US" sz="2700" b="0" i="1" baseline="0" smtClean="0">
                                      <a:latin typeface="Cambria Math" panose="02040503050406030204" pitchFamily="18" charset="0"/>
                                    </a:rPr>
                                    <m:t>𝑋</m:t>
                                  </m:r>
                                </m:sub>
                              </m:sSub>
                            </m:oMath>
                          </a14:m>
                          <a:r>
                            <a:rPr lang="en-US" sz="2700" dirty="0"/>
                            <a:t> with unknown variance</a:t>
                          </a:r>
                        </a:p>
                      </a:txBody>
                      <a:tcPr marL="121920" marR="121920" marT="60960" marB="60960"/>
                    </a:tc>
                    <a:extLst>
                      <a:ext uri="{0D108BD9-81ED-4DB2-BD59-A6C34878D82A}">
                        <a16:rowId xmlns:a16="http://schemas.microsoft.com/office/drawing/2014/main" val="821838495"/>
                      </a:ext>
                    </a:extLst>
                  </a:tr>
                  <a:tr h="528320">
                    <a:tc>
                      <a:txBody>
                        <a:bodyPr/>
                        <a:lstStyle/>
                        <a:p>
                          <a:r>
                            <a:rPr lang="en-US" sz="2700" b="1" dirty="0">
                              <a:ea typeface="Cambria Math" panose="02040503050406030204" pitchFamily="18" charset="0"/>
                            </a:rPr>
                            <a:t>Null hypothesis</a:t>
                          </a:r>
                          <a:endParaRPr lang="en-US" sz="2700" dirty="0"/>
                        </a:p>
                      </a:txBody>
                      <a:tcPr marL="121920" marR="121920" marT="60960" marB="60960"/>
                    </a:tc>
                    <a:tc>
                      <a:txBody>
                        <a:bodyPr/>
                        <a:lstStyle/>
                        <a:p>
                          <a:pPr/>
                          <a14:m>
                            <m:oMathPara xmlns:m="http://schemas.openxmlformats.org/officeDocument/2006/math">
                              <m:oMathParaPr>
                                <m:jc m:val="centerGroup"/>
                              </m:oMathParaPr>
                              <m:oMath xmlns:m="http://schemas.openxmlformats.org/officeDocument/2006/math">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ℋ</m:t>
                                    </m:r>
                                  </m:e>
                                  <m:sub>
                                    <m:r>
                                      <a:rPr lang="en-US" sz="2700" b="0" i="1" smtClean="0">
                                        <a:latin typeface="Cambria Math" panose="02040503050406030204" pitchFamily="18" charset="0"/>
                                        <a:ea typeface="Cambria Math" panose="02040503050406030204" pitchFamily="18" charset="0"/>
                                      </a:rPr>
                                      <m:t>0</m:t>
                                    </m:r>
                                  </m:sub>
                                </m:sSub>
                                <m:r>
                                  <a:rPr lang="en-US" sz="2700" b="0" i="1" smtClean="0">
                                    <a:latin typeface="Cambria Math" panose="02040503050406030204" pitchFamily="18" charset="0"/>
                                    <a:ea typeface="Cambria Math" panose="02040503050406030204" pitchFamily="18" charset="0"/>
                                  </a:rPr>
                                  <m:t>: </m:t>
                                </m:r>
                                <m:sSub>
                                  <m:sSubPr>
                                    <m:ctrlPr>
                                      <a:rPr lang="en-US" sz="2700" i="1" smtClean="0">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𝑋</m:t>
                                    </m:r>
                                  </m:sub>
                                </m:sSub>
                                <m:r>
                                  <a:rPr lang="en-US" sz="2700" i="1">
                                    <a:latin typeface="Cambria Math" panose="02040503050406030204" pitchFamily="18" charset="0"/>
                                    <a:ea typeface="Cambria Math" panose="02040503050406030204" pitchFamily="18" charset="0"/>
                                  </a:rPr>
                                  <m:t>=</m:t>
                                </m:r>
                                <m:sSub>
                                  <m:sSubPr>
                                    <m:ctrlPr>
                                      <a:rPr lang="en-US" sz="2700" i="1">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0</m:t>
                                    </m:r>
                                  </m:sub>
                                </m:sSub>
                              </m:oMath>
                            </m:oMathPara>
                          </a14:m>
                          <a:endParaRPr lang="en-US" sz="2700" dirty="0"/>
                        </a:p>
                      </a:txBody>
                      <a:tcPr marL="121920" marR="121920" marT="60960" marB="60960"/>
                    </a:tc>
                    <a:extLst>
                      <a:ext uri="{0D108BD9-81ED-4DB2-BD59-A6C34878D82A}">
                        <a16:rowId xmlns:a16="http://schemas.microsoft.com/office/drawing/2014/main" val="4133731926"/>
                      </a:ext>
                    </a:extLst>
                  </a:tr>
                  <a:tr h="141935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700" b="1" dirty="0">
                              <a:ea typeface="Cambria Math" panose="02040503050406030204" pitchFamily="18" charset="0"/>
                            </a:rPr>
                            <a:t>Alternative hypothesis</a:t>
                          </a:r>
                          <a:endParaRPr lang="en-US" sz="2700" dirty="0"/>
                        </a:p>
                      </a:txBody>
                      <a:tcPr marL="121920" marR="121920" marT="60960" marB="6096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ℋ</m:t>
                                    </m:r>
                                  </m:e>
                                  <m:sub>
                                    <m:r>
                                      <a:rPr lang="en-US" sz="2700" b="0" i="1" smtClean="0">
                                        <a:latin typeface="Cambria Math" panose="02040503050406030204" pitchFamily="18" charset="0"/>
                                        <a:ea typeface="Cambria Math" panose="02040503050406030204" pitchFamily="18" charset="0"/>
                                      </a:rPr>
                                      <m:t>1</m:t>
                                    </m:r>
                                  </m:sub>
                                </m:sSub>
                                <m:r>
                                  <a:rPr lang="en-US" sz="2700" b="0" i="1" smtClean="0">
                                    <a:latin typeface="Cambria Math" panose="02040503050406030204" pitchFamily="18" charset="0"/>
                                    <a:ea typeface="Cambria Math" panose="02040503050406030204" pitchFamily="18" charset="0"/>
                                  </a:rPr>
                                  <m:t>: </m:t>
                                </m:r>
                                <m:d>
                                  <m:dPr>
                                    <m:begChr m:val="{"/>
                                    <m:endChr m:val=""/>
                                    <m:ctrlPr>
                                      <a:rPr lang="en-US" sz="2700" b="0" i="1" smtClean="0">
                                        <a:latin typeface="Cambria Math" panose="02040503050406030204" pitchFamily="18" charset="0"/>
                                        <a:ea typeface="Cambria Math" panose="02040503050406030204" pitchFamily="18" charset="0"/>
                                      </a:rPr>
                                    </m:ctrlPr>
                                  </m:dPr>
                                  <m:e>
                                    <m:eqArr>
                                      <m:eqArrPr>
                                        <m:ctrlPr>
                                          <a:rPr lang="en-US" sz="2700" b="0" i="1" smtClean="0">
                                            <a:latin typeface="Cambria Math" panose="02040503050406030204" pitchFamily="18" charset="0"/>
                                            <a:ea typeface="Cambria Math" panose="02040503050406030204" pitchFamily="18" charset="0"/>
                                          </a:rPr>
                                        </m:ctrlPr>
                                      </m:eqArrPr>
                                      <m:e>
                                        <m:sSub>
                                          <m:sSubPr>
                                            <m:ctrlPr>
                                              <a:rPr lang="en-US" sz="2700" i="1" smtClean="0">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𝑋</m:t>
                                            </m:r>
                                          </m:sub>
                                        </m:sSub>
                                        <m:r>
                                          <a:rPr lang="en-US" sz="2700" b="0" i="1" smtClean="0">
                                            <a:latin typeface="Cambria Math" panose="02040503050406030204" pitchFamily="18" charset="0"/>
                                            <a:ea typeface="Cambria Math" panose="02040503050406030204" pitchFamily="18" charset="0"/>
                                          </a:rPr>
                                          <m:t>&gt;</m:t>
                                        </m:r>
                                        <m:sSub>
                                          <m:sSubPr>
                                            <m:ctrlPr>
                                              <a:rPr lang="en-US" sz="2700" i="1">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0</m:t>
                                            </m:r>
                                          </m:sub>
                                        </m:sSub>
                                      </m:e>
                                      <m:e>
                                        <m:sSub>
                                          <m:sSubPr>
                                            <m:ctrlPr>
                                              <a:rPr lang="en-US" sz="2700" i="1" smtClean="0">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𝑋</m:t>
                                            </m:r>
                                          </m:sub>
                                        </m:sSub>
                                        <m:r>
                                          <a:rPr lang="en-US" sz="2700" i="1">
                                            <a:latin typeface="Cambria Math" panose="02040503050406030204" pitchFamily="18" charset="0"/>
                                            <a:ea typeface="Cambria Math" panose="02040503050406030204" pitchFamily="18" charset="0"/>
                                          </a:rPr>
                                          <m:t>≠</m:t>
                                        </m:r>
                                        <m:sSub>
                                          <m:sSubPr>
                                            <m:ctrlPr>
                                              <a:rPr lang="en-US" sz="2700" i="1">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0</m:t>
                                            </m:r>
                                          </m:sub>
                                        </m:sSub>
                                      </m:e>
                                      <m:e>
                                        <m:sSub>
                                          <m:sSubPr>
                                            <m:ctrlPr>
                                              <a:rPr lang="en-US" sz="2700" i="1" smtClean="0">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𝑋</m:t>
                                            </m:r>
                                          </m:sub>
                                        </m:sSub>
                                        <m:r>
                                          <a:rPr lang="en-US" sz="2700" b="0" i="1" smtClean="0">
                                            <a:latin typeface="Cambria Math" panose="02040503050406030204" pitchFamily="18" charset="0"/>
                                            <a:ea typeface="Cambria Math" panose="02040503050406030204" pitchFamily="18" charset="0"/>
                                          </a:rPr>
                                          <m:t>&lt;</m:t>
                                        </m:r>
                                        <m:sSub>
                                          <m:sSubPr>
                                            <m:ctrlPr>
                                              <a:rPr lang="en-US" sz="2700" i="1">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0</m:t>
                                            </m:r>
                                          </m:sub>
                                        </m:sSub>
                                        <m:r>
                                          <m:rPr>
                                            <m:nor/>
                                          </m:rPr>
                                          <a:rPr lang="en-US" sz="2700" dirty="0"/>
                                          <m:t> </m:t>
                                        </m:r>
                                      </m:e>
                                    </m:eqArr>
                                  </m:e>
                                </m:d>
                              </m:oMath>
                            </m:oMathPara>
                          </a14:m>
                          <a:endParaRPr lang="en-US" sz="2700" dirty="0"/>
                        </a:p>
                      </a:txBody>
                      <a:tcPr marL="121920" marR="121920" marT="60960" marB="60960"/>
                    </a:tc>
                    <a:extLst>
                      <a:ext uri="{0D108BD9-81ED-4DB2-BD59-A6C34878D82A}">
                        <a16:rowId xmlns:a16="http://schemas.microsoft.com/office/drawing/2014/main" val="1347873052"/>
                      </a:ext>
                    </a:extLst>
                  </a:tr>
                  <a:tr h="528320">
                    <a:tc>
                      <a:txBody>
                        <a:bodyPr/>
                        <a:lstStyle/>
                        <a:p>
                          <a:r>
                            <a:rPr lang="en-US" sz="2700" dirty="0"/>
                            <a:t>Significance</a:t>
                          </a:r>
                          <a:r>
                            <a:rPr lang="en-US" sz="2700" baseline="0" dirty="0"/>
                            <a:t> level</a:t>
                          </a:r>
                          <a:endParaRPr lang="en-US" sz="2700" dirty="0"/>
                        </a:p>
                      </a:txBody>
                      <a:tcPr marL="121920" marR="121920" marT="60960" marB="6096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700" b="0" i="1" smtClean="0">
                                    <a:latin typeface="Cambria Math" panose="02040503050406030204" pitchFamily="18" charset="0"/>
                                  </a:rPr>
                                  <m:t>𝛼</m:t>
                                </m:r>
                              </m:oMath>
                            </m:oMathPara>
                          </a14:m>
                          <a:endParaRPr lang="en-US" sz="2700" b="0" dirty="0"/>
                        </a:p>
                      </a:txBody>
                      <a:tcPr marL="121920" marR="121920" marT="60960" marB="60960"/>
                    </a:tc>
                    <a:extLst>
                      <a:ext uri="{0D108BD9-81ED-4DB2-BD59-A6C34878D82A}">
                        <a16:rowId xmlns:a16="http://schemas.microsoft.com/office/drawing/2014/main" val="1085276441"/>
                      </a:ext>
                    </a:extLst>
                  </a:tr>
                  <a:tr h="144480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700" dirty="0"/>
                            <a:t>Test statistic (</a:t>
                          </a:r>
                          <a14:m>
                            <m:oMath xmlns:m="http://schemas.openxmlformats.org/officeDocument/2006/math">
                              <m:r>
                                <a:rPr lang="en-US" sz="2700" i="1" smtClean="0">
                                  <a:latin typeface="Cambria Math" panose="02040503050406030204" pitchFamily="18" charset="0"/>
                                </a:rPr>
                                <m:t>𝛩</m:t>
                              </m:r>
                            </m:oMath>
                          </a14:m>
                          <a:r>
                            <a:rPr lang="en-US" sz="2700" dirty="0"/>
                            <a:t>)</a:t>
                          </a:r>
                        </a:p>
                      </a:txBody>
                      <a:tcPr marL="121920" marR="121920" marT="60960" marB="6096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700" b="0" i="1" smtClean="0">
                                        <a:latin typeface="Cambria Math" panose="02040503050406030204" pitchFamily="18" charset="0"/>
                                      </a:rPr>
                                    </m:ctrlPr>
                                  </m:sSubPr>
                                  <m:e>
                                    <m:r>
                                      <a:rPr lang="en-US" sz="2700" b="0" i="1" smtClean="0">
                                        <a:latin typeface="Cambria Math" panose="02040503050406030204" pitchFamily="18" charset="0"/>
                                      </a:rPr>
                                      <m:t>𝑇</m:t>
                                    </m:r>
                                  </m:e>
                                  <m:sub>
                                    <m:r>
                                      <a:rPr lang="en-US" sz="2700" b="0" i="1" smtClean="0">
                                        <a:latin typeface="Cambria Math" panose="02040503050406030204" pitchFamily="18" charset="0"/>
                                      </a:rPr>
                                      <m:t>𝑛</m:t>
                                    </m:r>
                                    <m:r>
                                      <a:rPr lang="en-US" sz="2700" b="0" i="1" smtClean="0">
                                        <a:latin typeface="Cambria Math" panose="02040503050406030204" pitchFamily="18" charset="0"/>
                                      </a:rPr>
                                      <m:t>−1</m:t>
                                    </m:r>
                                  </m:sub>
                                </m:sSub>
                                <m:r>
                                  <a:rPr lang="en-US" sz="2700" b="0" i="1" smtClean="0">
                                    <a:latin typeface="Cambria Math" panose="02040503050406030204" pitchFamily="18" charset="0"/>
                                  </a:rPr>
                                  <m:t>=</m:t>
                                </m:r>
                                <m:f>
                                  <m:fPr>
                                    <m:ctrlPr>
                                      <a:rPr lang="en-US" sz="2700" i="1" smtClean="0">
                                        <a:latin typeface="Cambria Math" panose="02040503050406030204" pitchFamily="18" charset="0"/>
                                      </a:rPr>
                                    </m:ctrlPr>
                                  </m:fPr>
                                  <m:num>
                                    <m:acc>
                                      <m:accPr>
                                        <m:chr m:val="̅"/>
                                        <m:ctrlPr>
                                          <a:rPr lang="en-US" sz="2700" i="1">
                                            <a:latin typeface="Cambria Math" panose="02040503050406030204" pitchFamily="18" charset="0"/>
                                          </a:rPr>
                                        </m:ctrlPr>
                                      </m:accPr>
                                      <m:e>
                                        <m:r>
                                          <a:rPr lang="en-US" sz="2700" i="1">
                                            <a:latin typeface="Cambria Math" panose="02040503050406030204" pitchFamily="18" charset="0"/>
                                          </a:rPr>
                                          <m:t>𝑋</m:t>
                                        </m:r>
                                      </m:e>
                                    </m:acc>
                                    <m:r>
                                      <a:rPr lang="en-US" sz="2700" i="1">
                                        <a:latin typeface="Cambria Math" panose="02040503050406030204" pitchFamily="18" charset="0"/>
                                      </a:rPr>
                                      <m:t>−</m:t>
                                    </m:r>
                                    <m:sSub>
                                      <m:sSubPr>
                                        <m:ctrlPr>
                                          <a:rPr lang="en-US" sz="2700" i="1">
                                            <a:latin typeface="Cambria Math" panose="02040503050406030204" pitchFamily="18" charset="0"/>
                                          </a:rPr>
                                        </m:ctrlPr>
                                      </m:sSubPr>
                                      <m:e>
                                        <m:r>
                                          <a:rPr lang="en-US" sz="2700" i="1">
                                            <a:latin typeface="Cambria Math" panose="02040503050406030204" pitchFamily="18" charset="0"/>
                                          </a:rPr>
                                          <m:t>𝜇</m:t>
                                        </m:r>
                                      </m:e>
                                      <m:sub>
                                        <m:r>
                                          <a:rPr lang="en-US" sz="2700" i="1">
                                            <a:latin typeface="Cambria Math" panose="02040503050406030204" pitchFamily="18" charset="0"/>
                                          </a:rPr>
                                          <m:t>0</m:t>
                                        </m:r>
                                      </m:sub>
                                    </m:sSub>
                                  </m:num>
                                  <m:den>
                                    <m:rad>
                                      <m:radPr>
                                        <m:degHide m:val="on"/>
                                        <m:ctrlPr>
                                          <a:rPr lang="en-US" sz="2700" i="1">
                                            <a:latin typeface="Cambria Math" panose="02040503050406030204" pitchFamily="18" charset="0"/>
                                          </a:rPr>
                                        </m:ctrlPr>
                                      </m:radPr>
                                      <m:deg/>
                                      <m:e>
                                        <m:f>
                                          <m:fPr>
                                            <m:ctrlPr>
                                              <a:rPr lang="en-US" sz="2700" i="1">
                                                <a:latin typeface="Cambria Math" panose="02040503050406030204" pitchFamily="18" charset="0"/>
                                              </a:rPr>
                                            </m:ctrlPr>
                                          </m:fPr>
                                          <m:num>
                                            <m:sSup>
                                              <m:sSupPr>
                                                <m:ctrlPr>
                                                  <a:rPr lang="en-US" sz="2700" i="1">
                                                    <a:latin typeface="Cambria Math" panose="02040503050406030204" pitchFamily="18" charset="0"/>
                                                  </a:rPr>
                                                </m:ctrlPr>
                                              </m:sSupPr>
                                              <m:e>
                                                <m:r>
                                                  <a:rPr lang="en-US" sz="2700" b="0" i="1" smtClean="0">
                                                    <a:latin typeface="Cambria Math" panose="02040503050406030204" pitchFamily="18" charset="0"/>
                                                  </a:rPr>
                                                  <m:t>𝑠</m:t>
                                                </m:r>
                                              </m:e>
                                              <m:sup>
                                                <m:r>
                                                  <a:rPr lang="en-US" sz="2700" i="1">
                                                    <a:latin typeface="Cambria Math" panose="02040503050406030204" pitchFamily="18" charset="0"/>
                                                  </a:rPr>
                                                  <m:t>2</m:t>
                                                </m:r>
                                              </m:sup>
                                            </m:sSup>
                                          </m:num>
                                          <m:den>
                                            <m:r>
                                              <a:rPr lang="en-US" sz="2700" i="1">
                                                <a:latin typeface="Cambria Math" panose="02040503050406030204" pitchFamily="18" charset="0"/>
                                              </a:rPr>
                                              <m:t>𝑛</m:t>
                                            </m:r>
                                          </m:den>
                                        </m:f>
                                      </m:e>
                                    </m:rad>
                                  </m:den>
                                </m:f>
                              </m:oMath>
                            </m:oMathPara>
                          </a14:m>
                          <a:endParaRPr lang="en-US" sz="2700" dirty="0"/>
                        </a:p>
                      </a:txBody>
                      <a:tcPr marL="121920" marR="121920" marT="60960" marB="60960"/>
                    </a:tc>
                    <a:extLst>
                      <a:ext uri="{0D108BD9-81ED-4DB2-BD59-A6C34878D82A}">
                        <a16:rowId xmlns:a16="http://schemas.microsoft.com/office/drawing/2014/main" val="2665732580"/>
                      </a:ext>
                    </a:extLst>
                  </a:tr>
                </a:tbl>
              </a:graphicData>
            </a:graphic>
          </p:graphicFrame>
        </mc:Choice>
        <mc:Fallback xmlns="">
          <p:graphicFrame>
            <p:nvGraphicFramePr>
              <p:cNvPr id="4" name="Table 3"/>
              <p:cNvGraphicFramePr>
                <a:graphicFrameLocks noGrp="1"/>
              </p:cNvGraphicFramePr>
              <p:nvPr/>
            </p:nvGraphicFramePr>
            <p:xfrm>
              <a:off x="479999" y="1296000"/>
              <a:ext cx="6384000" cy="4906264"/>
            </p:xfrm>
            <a:graphic>
              <a:graphicData uri="http://schemas.openxmlformats.org/drawingml/2006/table">
                <a:tbl>
                  <a:tblPr firstRow="1" firstCol="1" bandRow="1">
                    <a:tableStyleId>{5C22544A-7EE6-4342-B048-85BDC9FD1C3A}</a:tableStyleId>
                  </a:tblPr>
                  <a:tblGrid>
                    <a:gridCol w="2688000">
                      <a:extLst>
                        <a:ext uri="{9D8B030D-6E8A-4147-A177-3AD203B41FA5}">
                          <a16:colId xmlns:a16="http://schemas.microsoft.com/office/drawing/2014/main" val="4013297149"/>
                        </a:ext>
                      </a:extLst>
                    </a:gridCol>
                    <a:gridCol w="3696000">
                      <a:extLst>
                        <a:ext uri="{9D8B030D-6E8A-4147-A177-3AD203B41FA5}">
                          <a16:colId xmlns:a16="http://schemas.microsoft.com/office/drawing/2014/main" val="2929873868"/>
                        </a:ext>
                      </a:extLst>
                    </a:gridCol>
                  </a:tblGrid>
                  <a:tr h="944880">
                    <a:tc>
                      <a:txBody>
                        <a:bodyPr/>
                        <a:lstStyle/>
                        <a:p>
                          <a:endParaRPr lang="en-US"/>
                        </a:p>
                      </a:txBody>
                      <a:tcPr marL="121920" marR="121920" marT="60960" marB="60960">
                        <a:blipFill>
                          <a:blip r:embed="rId3"/>
                          <a:stretch>
                            <a:fillRect l="-472" t="-164000" r="-138679" b="-614667"/>
                          </a:stretch>
                        </a:blipFill>
                      </a:tcPr>
                    </a:tc>
                    <a:tc>
                      <a:txBody>
                        <a:bodyPr/>
                        <a:lstStyle/>
                        <a:p>
                          <a:endParaRPr lang="en-US"/>
                        </a:p>
                      </a:txBody>
                      <a:tcPr marL="121920" marR="121920" marT="60960" marB="60960">
                        <a:blipFill>
                          <a:blip r:embed="rId3"/>
                          <a:stretch>
                            <a:fillRect l="-72945" t="-164000" r="-685" b="-614667"/>
                          </a:stretch>
                        </a:blipFill>
                      </a:tcPr>
                    </a:tc>
                    <a:extLst>
                      <a:ext uri="{0D108BD9-81ED-4DB2-BD59-A6C34878D82A}">
                        <a16:rowId xmlns:a16="http://schemas.microsoft.com/office/drawing/2014/main" val="821838495"/>
                      </a:ext>
                    </a:extLst>
                  </a:tr>
                  <a:tr h="533400">
                    <a:tc>
                      <a:txBody>
                        <a:bodyPr/>
                        <a:lstStyle/>
                        <a:p>
                          <a:r>
                            <a:rPr lang="en-US" sz="2700" b="1" dirty="0">
                              <a:ea typeface="Cambria Math" panose="02040503050406030204" pitchFamily="18" charset="0"/>
                            </a:rPr>
                            <a:t>Null hypothesis</a:t>
                          </a:r>
                          <a:endParaRPr lang="en-US" sz="2700" dirty="0"/>
                        </a:p>
                      </a:txBody>
                      <a:tcPr marL="121920" marR="121920" marT="60960" marB="60960"/>
                    </a:tc>
                    <a:tc>
                      <a:txBody>
                        <a:bodyPr/>
                        <a:lstStyle/>
                        <a:p>
                          <a:endParaRPr lang="en-US"/>
                        </a:p>
                      </a:txBody>
                      <a:tcPr marL="121920" marR="121920" marT="60960" marB="60960">
                        <a:blipFill>
                          <a:blip r:embed="rId3"/>
                          <a:stretch>
                            <a:fillRect l="-72945" t="-471429" r="-685" b="-997619"/>
                          </a:stretch>
                        </a:blipFill>
                      </a:tcPr>
                    </a:tc>
                    <a:extLst>
                      <a:ext uri="{0D108BD9-81ED-4DB2-BD59-A6C34878D82A}">
                        <a16:rowId xmlns:a16="http://schemas.microsoft.com/office/drawing/2014/main" val="4133731926"/>
                      </a:ext>
                    </a:extLst>
                  </a:tr>
                  <a:tr h="143560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700" b="1" dirty="0">
                              <a:ea typeface="Cambria Math" panose="02040503050406030204" pitchFamily="18" charset="0"/>
                            </a:rPr>
                            <a:t>Alternative hypothesis</a:t>
                          </a:r>
                          <a:endParaRPr lang="en-US" sz="2700" dirty="0"/>
                        </a:p>
                      </a:txBody>
                      <a:tcPr marL="121920" marR="121920" marT="60960" marB="60960"/>
                    </a:tc>
                    <a:tc>
                      <a:txBody>
                        <a:bodyPr/>
                        <a:lstStyle/>
                        <a:p>
                          <a:endParaRPr lang="en-US"/>
                        </a:p>
                      </a:txBody>
                      <a:tcPr marL="121920" marR="121920" marT="60960" marB="60960">
                        <a:blipFill>
                          <a:blip r:embed="rId3"/>
                          <a:stretch>
                            <a:fillRect l="-72945" t="-212389" r="-685" b="-270796"/>
                          </a:stretch>
                        </a:blipFill>
                      </a:tcPr>
                    </a:tc>
                    <a:extLst>
                      <a:ext uri="{0D108BD9-81ED-4DB2-BD59-A6C34878D82A}">
                        <a16:rowId xmlns:a16="http://schemas.microsoft.com/office/drawing/2014/main" val="1347873052"/>
                      </a:ext>
                    </a:extLst>
                  </a:tr>
                  <a:tr h="533400">
                    <a:tc>
                      <a:txBody>
                        <a:bodyPr/>
                        <a:lstStyle/>
                        <a:p>
                          <a:r>
                            <a:rPr lang="en-US" sz="2700" dirty="0"/>
                            <a:t>Significance</a:t>
                          </a:r>
                          <a:r>
                            <a:rPr lang="en-US" sz="2700" baseline="0" dirty="0"/>
                            <a:t xml:space="preserve"> level</a:t>
                          </a:r>
                          <a:endParaRPr lang="en-US" sz="2700" dirty="0"/>
                        </a:p>
                      </a:txBody>
                      <a:tcPr marL="121920" marR="121920" marT="60960" marB="60960"/>
                    </a:tc>
                    <a:tc>
                      <a:txBody>
                        <a:bodyPr/>
                        <a:lstStyle/>
                        <a:p>
                          <a:endParaRPr lang="en-US"/>
                        </a:p>
                      </a:txBody>
                      <a:tcPr marL="121920" marR="121920" marT="60960" marB="60960">
                        <a:blipFill>
                          <a:blip r:embed="rId3"/>
                          <a:stretch>
                            <a:fillRect l="-72945" t="-840476" r="-685" b="-628571"/>
                          </a:stretch>
                        </a:blipFill>
                      </a:tcPr>
                    </a:tc>
                    <a:extLst>
                      <a:ext uri="{0D108BD9-81ED-4DB2-BD59-A6C34878D82A}">
                        <a16:rowId xmlns:a16="http://schemas.microsoft.com/office/drawing/2014/main" val="1085276441"/>
                      </a:ext>
                    </a:extLst>
                  </a:tr>
                  <a:tr h="1458976">
                    <a:tc>
                      <a:txBody>
                        <a:bodyPr/>
                        <a:lstStyle/>
                        <a:p>
                          <a:endParaRPr lang="en-US"/>
                        </a:p>
                      </a:txBody>
                      <a:tcPr marL="121920" marR="121920" marT="60960" marB="60960">
                        <a:blipFill>
                          <a:blip r:embed="rId3"/>
                          <a:stretch>
                            <a:fillRect l="-472" t="-343478" r="-138679" b="-129565"/>
                          </a:stretch>
                        </a:blipFill>
                      </a:tcPr>
                    </a:tc>
                    <a:tc>
                      <a:txBody>
                        <a:bodyPr/>
                        <a:lstStyle/>
                        <a:p>
                          <a:endParaRPr lang="en-US"/>
                        </a:p>
                      </a:txBody>
                      <a:tcPr marL="121920" marR="121920" marT="60960" marB="60960">
                        <a:blipFill>
                          <a:blip r:embed="rId3"/>
                          <a:stretch>
                            <a:fillRect l="-72945" t="-343478" r="-685" b="-129565"/>
                          </a:stretch>
                        </a:blipFill>
                      </a:tcPr>
                    </a:tc>
                    <a:extLst>
                      <a:ext uri="{0D108BD9-81ED-4DB2-BD59-A6C34878D82A}">
                        <a16:rowId xmlns:a16="http://schemas.microsoft.com/office/drawing/2014/main" val="2665732580"/>
                      </a:ext>
                    </a:extLst>
                  </a:tr>
                </a:tbl>
              </a:graphicData>
            </a:graphic>
          </p:graphicFrame>
        </mc:Fallback>
      </mc:AlternateContent>
      <p:sp>
        <p:nvSpPr>
          <p:cNvPr id="14" name="Content Placeholder 2"/>
          <p:cNvSpPr txBox="1">
            <a:spLocks/>
          </p:cNvSpPr>
          <p:nvPr/>
        </p:nvSpPr>
        <p:spPr>
          <a:xfrm>
            <a:off x="1046419" y="6302766"/>
            <a:ext cx="11102399" cy="4445149"/>
          </a:xfrm>
          <a:prstGeom prst="rect">
            <a:avLst/>
          </a:prstGeom>
        </p:spPr>
        <p:txBody>
          <a:bodyPr vert="horz" lIns="0" tIns="0" rIns="0" bIns="0" rtlCol="0">
            <a:noAutofit/>
          </a:bodyPr>
          <a:lstStyle>
            <a:lvl1pPr marL="342900" indent="-342900" algn="l" defTabSz="457200" rtl="0" eaLnBrk="1" latinLnBrk="0" hangingPunct="1">
              <a:spcBef>
                <a:spcPts val="0"/>
              </a:spcBef>
              <a:buFont typeface="Arial"/>
              <a:buChar char="•"/>
              <a:defRPr sz="3200" kern="1200">
                <a:solidFill>
                  <a:schemeClr val="tx1"/>
                </a:solidFill>
                <a:latin typeface="+mj-lt"/>
                <a:ea typeface="+mn-ea"/>
                <a:cs typeface="Verdana"/>
              </a:defRPr>
            </a:lvl1pPr>
            <a:lvl2pPr marL="717550" indent="-358775" algn="l" defTabSz="457200" rtl="0" eaLnBrk="1" latinLnBrk="0" hangingPunct="1">
              <a:spcBef>
                <a:spcPts val="0"/>
              </a:spcBef>
              <a:buFont typeface="Lucida Grande"/>
              <a:buChar char="-"/>
              <a:defRPr sz="2800" kern="1200">
                <a:solidFill>
                  <a:schemeClr val="tx1"/>
                </a:solidFill>
                <a:latin typeface="+mj-lt"/>
                <a:ea typeface="+mn-ea"/>
                <a:cs typeface="Verdana"/>
              </a:defRPr>
            </a:lvl2pPr>
            <a:lvl3pPr marL="1073150" indent="-357188" algn="l" defTabSz="457200" rtl="0" eaLnBrk="1" latinLnBrk="0" hangingPunct="1">
              <a:spcBef>
                <a:spcPts val="0"/>
              </a:spcBef>
              <a:buFont typeface="Lucida Grande"/>
              <a:buChar char="-"/>
              <a:defRPr sz="2400" kern="1200">
                <a:solidFill>
                  <a:schemeClr val="tx1"/>
                </a:solidFill>
                <a:latin typeface="+mj-lt"/>
                <a:ea typeface="+mn-ea"/>
                <a:cs typeface="Verdana"/>
              </a:defRPr>
            </a:lvl3pPr>
            <a:lvl4pPr marL="1430338" indent="-355600" algn="l" defTabSz="457200" rtl="0" eaLnBrk="1" latinLnBrk="0" hangingPunct="1">
              <a:spcBef>
                <a:spcPts val="0"/>
              </a:spcBef>
              <a:buFont typeface="Lucida Grande"/>
              <a:buChar char="-"/>
              <a:defRPr sz="2000" kern="1200">
                <a:solidFill>
                  <a:schemeClr val="tx1"/>
                </a:solidFill>
                <a:latin typeface="+mj-lt"/>
                <a:ea typeface="+mn-ea"/>
                <a:cs typeface="Verdana"/>
              </a:defRPr>
            </a:lvl4pPr>
            <a:lvl5pPr marL="1793875" indent="-360363" algn="l" defTabSz="457200" rtl="0" eaLnBrk="1" latinLnBrk="0" hangingPunct="1">
              <a:spcBef>
                <a:spcPts val="0"/>
              </a:spcBef>
              <a:buFont typeface="Lucida Grande"/>
              <a:buChar char="-"/>
              <a:defRPr sz="2000" kern="1200">
                <a:solidFill>
                  <a:schemeClr val="tx1"/>
                </a:solidFill>
                <a:latin typeface="+mj-lt"/>
                <a:ea typeface="+mn-ea"/>
                <a:cs typeface="Verdan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sz="3733" dirty="0"/>
          </a:p>
          <a:p>
            <a:endParaRPr lang="en-US" sz="3733" dirty="0"/>
          </a:p>
          <a:p>
            <a:endParaRPr lang="en-US" sz="3733" dirty="0"/>
          </a:p>
          <a:p>
            <a:endParaRPr lang="en-US" sz="3733" dirty="0"/>
          </a:p>
          <a:p>
            <a:endParaRPr lang="en-US" sz="3733" dirty="0"/>
          </a:p>
          <a:p>
            <a:endParaRPr lang="en-US" sz="3733" dirty="0"/>
          </a:p>
          <a:p>
            <a:pPr marL="0" indent="0">
              <a:buNone/>
            </a:pPr>
            <a:endParaRPr lang="en-US" sz="3733" dirty="0"/>
          </a:p>
        </p:txBody>
      </p:sp>
      <p:pic>
        <p:nvPicPr>
          <p:cNvPr id="17" name="Picture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63999" y="1120775"/>
            <a:ext cx="5231475" cy="2615737"/>
          </a:xfrm>
          <a:prstGeom prst="rect">
            <a:avLst/>
          </a:prstGeom>
        </p:spPr>
      </p:pic>
      <mc:AlternateContent xmlns:mc="http://schemas.openxmlformats.org/markup-compatibility/2006" xmlns:a14="http://schemas.microsoft.com/office/drawing/2010/main">
        <mc:Choice Requires="a14">
          <p:sp>
            <p:nvSpPr>
              <p:cNvPr id="18" name="Rectangle 17"/>
              <p:cNvSpPr/>
              <p:nvPr/>
            </p:nvSpPr>
            <p:spPr>
              <a:xfrm>
                <a:off x="8672216" y="881303"/>
                <a:ext cx="693330" cy="7489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267" i="1">
                          <a:latin typeface="Cambria Math" panose="02040503050406030204" pitchFamily="18" charset="0"/>
                        </a:rPr>
                        <m:t>𝛩</m:t>
                      </m:r>
                    </m:oMath>
                  </m:oMathPara>
                </a14:m>
                <a:endParaRPr lang="en-US" sz="4267" i="1" dirty="0"/>
              </a:p>
            </p:txBody>
          </p:sp>
        </mc:Choice>
        <mc:Fallback xmlns="">
          <p:sp>
            <p:nvSpPr>
              <p:cNvPr id="18" name="Rectangle 17"/>
              <p:cNvSpPr>
                <a:spLocks noRot="1" noChangeAspect="1" noMove="1" noResize="1" noEditPoints="1" noAdjustHandles="1" noChangeArrowheads="1" noChangeShapeType="1" noTextEdit="1"/>
              </p:cNvSpPr>
              <p:nvPr/>
            </p:nvSpPr>
            <p:spPr>
              <a:xfrm>
                <a:off x="8672216" y="881303"/>
                <a:ext cx="693330" cy="748988"/>
              </a:xfrm>
              <a:prstGeom prst="rect">
                <a:avLst/>
              </a:prstGeom>
              <a:blipFill>
                <a:blip r:embed="rId5"/>
                <a:stretch>
                  <a:fillRect l="-5455" r="-1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9" name="Table 18"/>
              <p:cNvGraphicFramePr>
                <a:graphicFrameLocks noGrp="1"/>
              </p:cNvGraphicFramePr>
              <p:nvPr>
                <p:extLst>
                  <p:ext uri="{D42A27DB-BD31-4B8C-83A1-F6EECF244321}">
                    <p14:modId xmlns:p14="http://schemas.microsoft.com/office/powerpoint/2010/main" val="2962475863"/>
                  </p:ext>
                </p:extLst>
              </p:nvPr>
            </p:nvGraphicFramePr>
            <p:xfrm>
              <a:off x="6960525" y="3487005"/>
              <a:ext cx="4704000" cy="2946569"/>
            </p:xfrm>
            <a:graphic>
              <a:graphicData uri="http://schemas.openxmlformats.org/drawingml/2006/table">
                <a:tbl>
                  <a:tblPr firstRow="1" bandRow="1">
                    <a:tableStyleId>{5C22544A-7EE6-4342-B048-85BDC9FD1C3A}</a:tableStyleId>
                  </a:tblPr>
                  <a:tblGrid>
                    <a:gridCol w="4704000">
                      <a:extLst>
                        <a:ext uri="{9D8B030D-6E8A-4147-A177-3AD203B41FA5}">
                          <a16:colId xmlns:a16="http://schemas.microsoft.com/office/drawing/2014/main" val="2832399611"/>
                        </a:ext>
                      </a:extLst>
                    </a:gridCol>
                  </a:tblGrid>
                  <a:tr h="6908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3700" dirty="0"/>
                            <a:t>Sample mean</a:t>
                          </a:r>
                        </a:p>
                      </a:txBody>
                      <a:tcPr marL="121920" marR="121920" marT="60960" marB="60960"/>
                    </a:tc>
                    <a:extLst>
                      <a:ext uri="{0D108BD9-81ED-4DB2-BD59-A6C34878D82A}">
                        <a16:rowId xmlns:a16="http://schemas.microsoft.com/office/drawing/2014/main" val="696953177"/>
                      </a:ext>
                    </a:extLst>
                  </a:tr>
                  <a:tr h="1310809">
                    <a:tc>
                      <a:txBody>
                        <a:bodyPr/>
                        <a:lstStyle/>
                        <a:p>
                          <a:pPr/>
                          <a14:m>
                            <m:oMathPara xmlns:m="http://schemas.openxmlformats.org/officeDocument/2006/math">
                              <m:oMathParaPr>
                                <m:jc m:val="centerGroup"/>
                              </m:oMathParaPr>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𝑋</m:t>
                                    </m:r>
                                  </m:e>
                                </m:acc>
                                <m:r>
                                  <a:rPr lang="en-US" sz="2400" b="0" i="1" dirty="0" smtClean="0">
                                    <a:latin typeface="Cambria Math" panose="02040503050406030204" pitchFamily="18" charset="0"/>
                                  </a:rPr>
                                  <m:t>∼</m:t>
                                </m:r>
                                <m:r>
                                  <a:rPr lang="en-US" sz="2400" b="0" i="1" dirty="0" smtClean="0">
                                    <a:latin typeface="Cambria Math" panose="02040503050406030204" pitchFamily="18" charset="0"/>
                                  </a:rPr>
                                  <m:t>𝑁</m:t>
                                </m:r>
                                <m:d>
                                  <m:dPr>
                                    <m:ctrlPr>
                                      <a:rPr lang="en-US" sz="2400" b="0" i="1" dirty="0" smtClean="0">
                                        <a:latin typeface="Cambria Math" panose="02040503050406030204" pitchFamily="18" charset="0"/>
                                      </a:rPr>
                                    </m:ctrlPr>
                                  </m:dPr>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𝜇</m:t>
                                        </m:r>
                                      </m:e>
                                      <m:sub>
                                        <m:r>
                                          <a:rPr lang="en-US" sz="2400" b="0" i="1" dirty="0" smtClean="0">
                                            <a:latin typeface="Cambria Math" panose="02040503050406030204" pitchFamily="18" charset="0"/>
                                          </a:rPr>
                                          <m:t>𝑋</m:t>
                                        </m:r>
                                      </m:sub>
                                    </m:sSub>
                                    <m:r>
                                      <a:rPr lang="en-US" sz="2400" b="0" i="1" dirty="0" smtClean="0">
                                        <a:latin typeface="Cambria Math" panose="02040503050406030204" pitchFamily="18" charset="0"/>
                                      </a:rPr>
                                      <m:t>,</m:t>
                                    </m:r>
                                    <m:f>
                                      <m:fPr>
                                        <m:ctrlPr>
                                          <a:rPr lang="en-US" sz="2400" b="0" i="1" dirty="0" smtClean="0">
                                            <a:latin typeface="Cambria Math" panose="02040503050406030204" pitchFamily="18" charset="0"/>
                                          </a:rPr>
                                        </m:ctrlPr>
                                      </m:fPr>
                                      <m:num>
                                        <m:sSup>
                                          <m:sSupPr>
                                            <m:ctrlPr>
                                              <a:rPr lang="en-US" sz="2400" b="0" i="1" dirty="0" smtClean="0">
                                                <a:latin typeface="Cambria Math" panose="02040503050406030204" pitchFamily="18" charset="0"/>
                                              </a:rPr>
                                            </m:ctrlPr>
                                          </m:sSupPr>
                                          <m:e>
                                            <m:r>
                                              <a:rPr lang="en-US" sz="2400" b="0" i="1" dirty="0" smtClean="0">
                                                <a:latin typeface="Cambria Math" panose="02040503050406030204" pitchFamily="18" charset="0"/>
                                              </a:rPr>
                                              <m:t>𝑆</m:t>
                                            </m:r>
                                          </m:e>
                                          <m:sup>
                                            <m:r>
                                              <a:rPr lang="en-US" sz="2400" b="0" i="1" dirty="0" smtClean="0">
                                                <a:latin typeface="Cambria Math" panose="02040503050406030204" pitchFamily="18" charset="0"/>
                                              </a:rPr>
                                              <m:t>2</m:t>
                                            </m:r>
                                          </m:sup>
                                        </m:sSup>
                                      </m:num>
                                      <m:den>
                                        <m:r>
                                          <a:rPr lang="en-US" sz="2400" b="0" i="1" dirty="0" smtClean="0">
                                            <a:latin typeface="Cambria Math" panose="02040503050406030204" pitchFamily="18" charset="0"/>
                                          </a:rPr>
                                          <m:t>𝑛</m:t>
                                        </m:r>
                                      </m:den>
                                    </m:f>
                                  </m:e>
                                </m:d>
                                <m:r>
                                  <a:rPr lang="en-US" sz="2400" b="0" i="1" dirty="0" smtClean="0">
                                    <a:latin typeface="Cambria Math" panose="02040503050406030204" pitchFamily="18" charset="0"/>
                                  </a:rPr>
                                  <m:t>⇒</m:t>
                                </m:r>
                                <m:f>
                                  <m:fPr>
                                    <m:ctrlPr>
                                      <a:rPr lang="en-US" sz="2400" i="1" smtClean="0">
                                        <a:latin typeface="Cambria Math" panose="02040503050406030204" pitchFamily="18" charset="0"/>
                                      </a:rPr>
                                    </m:ctrlPr>
                                  </m:fPr>
                                  <m:num>
                                    <m:acc>
                                      <m:accPr>
                                        <m:chr m:val="̅"/>
                                        <m:ctrlPr>
                                          <a:rPr lang="en-US" sz="2400" i="1">
                                            <a:latin typeface="Cambria Math" panose="02040503050406030204" pitchFamily="18" charset="0"/>
                                          </a:rPr>
                                        </m:ctrlPr>
                                      </m:accPr>
                                      <m:e>
                                        <m:r>
                                          <a:rPr lang="en-US" sz="2400" i="1">
                                            <a:latin typeface="Cambria Math" panose="02040503050406030204" pitchFamily="18" charset="0"/>
                                          </a:rPr>
                                          <m:t>𝑋</m:t>
                                        </m:r>
                                      </m:e>
                                    </m:acc>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0</m:t>
                                        </m:r>
                                      </m:sub>
                                    </m:sSub>
                                  </m:num>
                                  <m:den>
                                    <m:rad>
                                      <m:radPr>
                                        <m:degHide m:val="on"/>
                                        <m:ctrlPr>
                                          <a:rPr lang="en-US" sz="2400" i="1">
                                            <a:latin typeface="Cambria Math" panose="02040503050406030204" pitchFamily="18" charset="0"/>
                                          </a:rPr>
                                        </m:ctrlPr>
                                      </m:radPr>
                                      <m:deg/>
                                      <m:e>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b="0" i="1" smtClean="0">
                                                    <a:latin typeface="Cambria Math" panose="02040503050406030204" pitchFamily="18" charset="0"/>
                                                  </a:rPr>
                                                  <m:t>𝑆</m:t>
                                                </m:r>
                                              </m:e>
                                              <m:sup>
                                                <m:r>
                                                  <a:rPr lang="en-US" sz="2400" i="1">
                                                    <a:latin typeface="Cambria Math" panose="02040503050406030204" pitchFamily="18" charset="0"/>
                                                  </a:rPr>
                                                  <m:t>2</m:t>
                                                </m:r>
                                              </m:sup>
                                            </m:sSup>
                                          </m:num>
                                          <m:den>
                                            <m:r>
                                              <a:rPr lang="en-US" sz="2400" i="1">
                                                <a:latin typeface="Cambria Math" panose="02040503050406030204" pitchFamily="18" charset="0"/>
                                              </a:rPr>
                                              <m:t>𝑛</m:t>
                                            </m:r>
                                          </m:den>
                                        </m:f>
                                      </m:e>
                                    </m:rad>
                                  </m:den>
                                </m:f>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𝑛</m:t>
                                    </m:r>
                                    <m:r>
                                      <a:rPr lang="en-US" sz="2400" b="0" i="1" smtClean="0">
                                        <a:latin typeface="Cambria Math" panose="02040503050406030204" pitchFamily="18" charset="0"/>
                                      </a:rPr>
                                      <m:t>−1</m:t>
                                    </m:r>
                                  </m:sub>
                                </m:sSub>
                              </m:oMath>
                            </m:oMathPara>
                          </a14:m>
                          <a:endParaRPr lang="en-US" sz="2700" dirty="0"/>
                        </a:p>
                      </a:txBody>
                      <a:tcPr marL="121920" marR="121920" marT="60960" marB="60960"/>
                    </a:tc>
                    <a:extLst>
                      <a:ext uri="{0D108BD9-81ED-4DB2-BD59-A6C34878D82A}">
                        <a16:rowId xmlns:a16="http://schemas.microsoft.com/office/drawing/2014/main" val="3851161824"/>
                      </a:ext>
                    </a:extLst>
                  </a:tr>
                  <a:tr h="528320">
                    <a:tc>
                      <a:txBody>
                        <a:bodyPr/>
                        <a:lstStyle/>
                        <a:p>
                          <a:r>
                            <a:rPr lang="en-US" sz="2700" dirty="0"/>
                            <a:t>This is</a:t>
                          </a:r>
                          <a:r>
                            <a:rPr lang="en-US" sz="2700" baseline="0" dirty="0"/>
                            <a:t> called </a:t>
                          </a:r>
                          <a14:m>
                            <m:oMath xmlns:m="http://schemas.openxmlformats.org/officeDocument/2006/math">
                              <m:r>
                                <a:rPr lang="en-US" sz="2700" b="1" i="1" dirty="0" smtClean="0">
                                  <a:latin typeface="Cambria Math" panose="02040503050406030204" pitchFamily="18" charset="0"/>
                                </a:rPr>
                                <m:t>𝒕</m:t>
                              </m:r>
                            </m:oMath>
                          </a14:m>
                          <a:r>
                            <a:rPr lang="en-US" sz="2700" b="1" i="1" dirty="0"/>
                            <a:t>-test </a:t>
                          </a:r>
                          <a:r>
                            <a:rPr lang="en-US" sz="2700" b="0" i="0" dirty="0"/>
                            <a:t>for the mean</a:t>
                          </a:r>
                        </a:p>
                      </a:txBody>
                      <a:tcPr marL="121920" marR="121920" marT="60960" marB="60960"/>
                    </a:tc>
                    <a:extLst>
                      <a:ext uri="{0D108BD9-81ED-4DB2-BD59-A6C34878D82A}">
                        <a16:rowId xmlns:a16="http://schemas.microsoft.com/office/drawing/2014/main" val="632013633"/>
                      </a:ext>
                    </a:extLst>
                  </a:tr>
                </a:tbl>
              </a:graphicData>
            </a:graphic>
          </p:graphicFrame>
        </mc:Choice>
        <mc:Fallback xmlns="">
          <p:graphicFrame>
            <p:nvGraphicFramePr>
              <p:cNvPr id="19" name="Table 18"/>
              <p:cNvGraphicFramePr>
                <a:graphicFrameLocks noGrp="1"/>
              </p:cNvGraphicFramePr>
              <p:nvPr>
                <p:extLst>
                  <p:ext uri="{D42A27DB-BD31-4B8C-83A1-F6EECF244321}">
                    <p14:modId xmlns:p14="http://schemas.microsoft.com/office/powerpoint/2010/main" val="2962475863"/>
                  </p:ext>
                </p:extLst>
              </p:nvPr>
            </p:nvGraphicFramePr>
            <p:xfrm>
              <a:off x="6960525" y="3487005"/>
              <a:ext cx="4704000" cy="2946569"/>
            </p:xfrm>
            <a:graphic>
              <a:graphicData uri="http://schemas.openxmlformats.org/drawingml/2006/table">
                <a:tbl>
                  <a:tblPr firstRow="1" bandRow="1">
                    <a:tableStyleId>{5C22544A-7EE6-4342-B048-85BDC9FD1C3A}</a:tableStyleId>
                  </a:tblPr>
                  <a:tblGrid>
                    <a:gridCol w="4704000">
                      <a:extLst>
                        <a:ext uri="{9D8B030D-6E8A-4147-A177-3AD203B41FA5}">
                          <a16:colId xmlns:a16="http://schemas.microsoft.com/office/drawing/2014/main" val="2832399611"/>
                        </a:ext>
                      </a:extLst>
                    </a:gridCol>
                  </a:tblGrid>
                  <a:tr h="6908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3700" dirty="0"/>
                            <a:t>Sample mean</a:t>
                          </a:r>
                        </a:p>
                      </a:txBody>
                      <a:tcPr marL="121920" marR="121920" marT="60960" marB="60960"/>
                    </a:tc>
                    <a:extLst>
                      <a:ext uri="{0D108BD9-81ED-4DB2-BD59-A6C34878D82A}">
                        <a16:rowId xmlns:a16="http://schemas.microsoft.com/office/drawing/2014/main" val="696953177"/>
                      </a:ext>
                    </a:extLst>
                  </a:tr>
                  <a:tr h="1310809">
                    <a:tc>
                      <a:txBody>
                        <a:bodyPr/>
                        <a:lstStyle/>
                        <a:p>
                          <a:endParaRPr lang="en-US"/>
                        </a:p>
                      </a:txBody>
                      <a:tcPr marL="121920" marR="121920" marT="60960" marB="60960">
                        <a:blipFill>
                          <a:blip r:embed="rId6"/>
                          <a:stretch>
                            <a:fillRect l="-270" t="-59223" r="-539" b="-84466"/>
                          </a:stretch>
                        </a:blipFill>
                      </a:tcPr>
                    </a:tc>
                    <a:extLst>
                      <a:ext uri="{0D108BD9-81ED-4DB2-BD59-A6C34878D82A}">
                        <a16:rowId xmlns:a16="http://schemas.microsoft.com/office/drawing/2014/main" val="3851161824"/>
                      </a:ext>
                    </a:extLst>
                  </a:tr>
                  <a:tr h="944880">
                    <a:tc>
                      <a:txBody>
                        <a:bodyPr/>
                        <a:lstStyle/>
                        <a:p>
                          <a:endParaRPr lang="en-US"/>
                        </a:p>
                      </a:txBody>
                      <a:tcPr marL="121920" marR="121920" marT="60960" marB="60960">
                        <a:blipFill>
                          <a:blip r:embed="rId6"/>
                          <a:stretch>
                            <a:fillRect l="-270" t="-218667" r="-539" b="-16000"/>
                          </a:stretch>
                        </a:blipFill>
                      </a:tcPr>
                    </a:tc>
                    <a:extLst>
                      <a:ext uri="{0D108BD9-81ED-4DB2-BD59-A6C34878D82A}">
                        <a16:rowId xmlns:a16="http://schemas.microsoft.com/office/drawing/2014/main" val="632013633"/>
                      </a:ext>
                    </a:extLst>
                  </a:tr>
                </a:tbl>
              </a:graphicData>
            </a:graphic>
          </p:graphicFrame>
        </mc:Fallback>
      </mc:AlternateContent>
    </p:spTree>
    <p:extLst>
      <p:ext uri="{BB962C8B-B14F-4D97-AF65-F5344CB8AC3E}">
        <p14:creationId xmlns:p14="http://schemas.microsoft.com/office/powerpoint/2010/main" val="1725805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P-values for the mean</a:t>
            </a:r>
          </a:p>
        </p:txBody>
      </p:sp>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8565" y="956159"/>
            <a:ext cx="3840000" cy="1920000"/>
          </a:xfrm>
          <a:prstGeom prst="rect">
            <a:avLst/>
          </a:prstGeom>
        </p:spPr>
      </p:pic>
      <mc:AlternateContent xmlns:mc="http://schemas.openxmlformats.org/markup-compatibility/2006" xmlns:a14="http://schemas.microsoft.com/office/drawing/2010/main">
        <mc:Choice Requires="a14">
          <p:sp>
            <p:nvSpPr>
              <p:cNvPr id="18" name="Rectangle 17"/>
              <p:cNvSpPr/>
              <p:nvPr/>
            </p:nvSpPr>
            <p:spPr>
              <a:xfrm>
                <a:off x="8435562" y="879083"/>
                <a:ext cx="693330" cy="7489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267" i="1" dirty="0">
                          <a:latin typeface="Cambria Math" panose="02040503050406030204" pitchFamily="18" charset="0"/>
                        </a:rPr>
                        <m:t>𝛩</m:t>
                      </m:r>
                    </m:oMath>
                  </m:oMathPara>
                </a14:m>
                <a:endParaRPr lang="en-US" sz="4267" dirty="0"/>
              </a:p>
            </p:txBody>
          </p:sp>
        </mc:Choice>
        <mc:Fallback xmlns="">
          <p:sp>
            <p:nvSpPr>
              <p:cNvPr id="18" name="Rectangle 17"/>
              <p:cNvSpPr>
                <a:spLocks noRot="1" noChangeAspect="1" noMove="1" noResize="1" noEditPoints="1" noAdjustHandles="1" noChangeArrowheads="1" noChangeShapeType="1" noTextEdit="1"/>
              </p:cNvSpPr>
              <p:nvPr/>
            </p:nvSpPr>
            <p:spPr>
              <a:xfrm>
                <a:off x="8435562" y="879083"/>
                <a:ext cx="693330" cy="748988"/>
              </a:xfrm>
              <a:prstGeom prst="rect">
                <a:avLst/>
              </a:prstGeom>
              <a:blipFill>
                <a:blip r:embed="rId4"/>
                <a:stretch>
                  <a:fillRect l="-5357"/>
                </a:stretch>
              </a:blipFill>
            </p:spPr>
            <p:txBody>
              <a:bodyPr/>
              <a:lstStyle/>
              <a:p>
                <a:r>
                  <a:rPr lang="en-US">
                    <a:noFill/>
                  </a:rPr>
                  <a:t> </a:t>
                </a:r>
              </a:p>
            </p:txBody>
          </p:sp>
        </mc:Fallback>
      </mc:AlternateContent>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08565" y="4796159"/>
            <a:ext cx="3840000" cy="1920000"/>
          </a:xfrm>
          <a:prstGeom prst="rect">
            <a:avLst/>
          </a:prstGeom>
        </p:spPr>
      </p:pic>
      <mc:AlternateContent xmlns:mc="http://schemas.openxmlformats.org/markup-compatibility/2006" xmlns:a14="http://schemas.microsoft.com/office/drawing/2010/main">
        <mc:Choice Requires="a14">
          <p:sp>
            <p:nvSpPr>
              <p:cNvPr id="9" name="Rectangle 8"/>
              <p:cNvSpPr/>
              <p:nvPr/>
            </p:nvSpPr>
            <p:spPr>
              <a:xfrm>
                <a:off x="8435562" y="4719083"/>
                <a:ext cx="693330" cy="7489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267" i="1" dirty="0">
                          <a:latin typeface="Cambria Math" panose="02040503050406030204" pitchFamily="18" charset="0"/>
                        </a:rPr>
                        <m:t>𝛩</m:t>
                      </m:r>
                    </m:oMath>
                  </m:oMathPara>
                </a14:m>
                <a:endParaRPr lang="en-US" sz="4267" dirty="0"/>
              </a:p>
            </p:txBody>
          </p:sp>
        </mc:Choice>
        <mc:Fallback xmlns="">
          <p:sp>
            <p:nvSpPr>
              <p:cNvPr id="9" name="Rectangle 8"/>
              <p:cNvSpPr>
                <a:spLocks noRot="1" noChangeAspect="1" noMove="1" noResize="1" noEditPoints="1" noAdjustHandles="1" noChangeArrowheads="1" noChangeShapeType="1" noTextEdit="1"/>
              </p:cNvSpPr>
              <p:nvPr/>
            </p:nvSpPr>
            <p:spPr>
              <a:xfrm>
                <a:off x="8435562" y="4719083"/>
                <a:ext cx="693330" cy="748988"/>
              </a:xfrm>
              <a:prstGeom prst="rect">
                <a:avLst/>
              </a:prstGeom>
              <a:blipFill>
                <a:blip r:embed="rId6"/>
                <a:stretch>
                  <a:fillRect l="-5357"/>
                </a:stretch>
              </a:blipFill>
            </p:spPr>
            <p:txBody>
              <a:bodyPr/>
              <a:lstStyle/>
              <a:p>
                <a:r>
                  <a:rPr lang="en-US">
                    <a:noFill/>
                  </a:rPr>
                  <a:t> </a:t>
                </a:r>
              </a:p>
            </p:txBody>
          </p:sp>
        </mc:Fallback>
      </mc:AlternateContent>
      <p:pic>
        <p:nvPicPr>
          <p:cNvPr id="10" name="Picture 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08565" y="2876160"/>
            <a:ext cx="3840000" cy="1920000"/>
          </a:xfrm>
          <a:prstGeom prst="rect">
            <a:avLst/>
          </a:prstGeom>
        </p:spPr>
      </p:pic>
      <mc:AlternateContent xmlns:mc="http://schemas.openxmlformats.org/markup-compatibility/2006" xmlns:a14="http://schemas.microsoft.com/office/drawing/2010/main">
        <mc:Choice Requires="a14">
          <p:sp>
            <p:nvSpPr>
              <p:cNvPr id="11" name="Rectangle 10"/>
              <p:cNvSpPr/>
              <p:nvPr/>
            </p:nvSpPr>
            <p:spPr>
              <a:xfrm>
                <a:off x="8435562" y="2799084"/>
                <a:ext cx="693330" cy="7489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267" i="1" dirty="0">
                          <a:latin typeface="Cambria Math" panose="02040503050406030204" pitchFamily="18" charset="0"/>
                        </a:rPr>
                        <m:t>𝛩</m:t>
                      </m:r>
                    </m:oMath>
                  </m:oMathPara>
                </a14:m>
                <a:endParaRPr lang="en-US" sz="4267" dirty="0"/>
              </a:p>
            </p:txBody>
          </p:sp>
        </mc:Choice>
        <mc:Fallback xmlns="">
          <p:sp>
            <p:nvSpPr>
              <p:cNvPr id="11" name="Rectangle 10"/>
              <p:cNvSpPr>
                <a:spLocks noRot="1" noChangeAspect="1" noMove="1" noResize="1" noEditPoints="1" noAdjustHandles="1" noChangeArrowheads="1" noChangeShapeType="1" noTextEdit="1"/>
              </p:cNvSpPr>
              <p:nvPr/>
            </p:nvSpPr>
            <p:spPr>
              <a:xfrm>
                <a:off x="8435562" y="2799084"/>
                <a:ext cx="693330" cy="748988"/>
              </a:xfrm>
              <a:prstGeom prst="rect">
                <a:avLst/>
              </a:prstGeom>
              <a:blipFill>
                <a:blip r:embed="rId6"/>
                <a:stretch>
                  <a:fillRect l="-53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 name="Table 5"/>
              <p:cNvGraphicFramePr>
                <a:graphicFrameLocks noGrp="1"/>
              </p:cNvGraphicFramePr>
              <p:nvPr/>
            </p:nvGraphicFramePr>
            <p:xfrm>
              <a:off x="9696000" y="251265"/>
              <a:ext cx="2496000" cy="6450880"/>
            </p:xfrm>
            <a:graphic>
              <a:graphicData uri="http://schemas.openxmlformats.org/drawingml/2006/table">
                <a:tbl>
                  <a:tblPr firstRow="1" bandRow="1">
                    <a:tableStyleId>{5C22544A-7EE6-4342-B048-85BDC9FD1C3A}</a:tableStyleId>
                  </a:tblPr>
                  <a:tblGrid>
                    <a:gridCol w="2496000">
                      <a:extLst>
                        <a:ext uri="{9D8B030D-6E8A-4147-A177-3AD203B41FA5}">
                          <a16:colId xmlns:a16="http://schemas.microsoft.com/office/drawing/2014/main" val="306824079"/>
                        </a:ext>
                      </a:extLst>
                    </a:gridCol>
                  </a:tblGrid>
                  <a:tr h="6908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3700" dirty="0"/>
                            <a:t>Reject </a:t>
                          </a:r>
                          <a14:m>
                            <m:oMath xmlns:m="http://schemas.openxmlformats.org/officeDocument/2006/math">
                              <m:sSub>
                                <m:sSubPr>
                                  <m:ctrlPr>
                                    <a:rPr lang="en-US" sz="3700" i="1">
                                      <a:latin typeface="Cambria Math" panose="02040503050406030204" pitchFamily="18" charset="0"/>
                                      <a:ea typeface="Cambria Math" panose="02040503050406030204" pitchFamily="18" charset="0"/>
                                    </a:rPr>
                                  </m:ctrlPr>
                                </m:sSubPr>
                                <m:e>
                                  <m:r>
                                    <a:rPr lang="en-US" sz="3700" i="1">
                                      <a:latin typeface="Cambria Math" panose="02040503050406030204" pitchFamily="18" charset="0"/>
                                      <a:ea typeface="Cambria Math" panose="02040503050406030204" pitchFamily="18" charset="0"/>
                                    </a:rPr>
                                    <m:t>ℋ</m:t>
                                  </m:r>
                                </m:e>
                                <m:sub>
                                  <m:r>
                                    <a:rPr lang="en-US" sz="3700" i="1">
                                      <a:latin typeface="Cambria Math" panose="02040503050406030204" pitchFamily="18" charset="0"/>
                                      <a:ea typeface="Cambria Math" panose="02040503050406030204" pitchFamily="18" charset="0"/>
                                    </a:rPr>
                                    <m:t>0</m:t>
                                  </m:r>
                                </m:sub>
                              </m:sSub>
                            </m:oMath>
                          </a14:m>
                          <a:r>
                            <a:rPr lang="en-US" sz="3700" dirty="0"/>
                            <a:t>if </a:t>
                          </a:r>
                          <a:endParaRPr lang="en-US" sz="3700" i="1" dirty="0">
                            <a:latin typeface="Cambria Math" panose="02040503050406030204" pitchFamily="18" charset="0"/>
                          </a:endParaRPr>
                        </a:p>
                      </a:txBody>
                      <a:tcPr marL="121920" marR="121920" marT="60960" marB="60960"/>
                    </a:tc>
                    <a:extLst>
                      <a:ext uri="{0D108BD9-81ED-4DB2-BD59-A6C34878D82A}">
                        <a16:rowId xmlns:a16="http://schemas.microsoft.com/office/drawing/2014/main" val="3602488048"/>
                      </a:ext>
                    </a:extLst>
                  </a:tr>
                  <a:tr h="1920000">
                    <a:tc>
                      <a:txBody>
                        <a:bodyPr/>
                        <a:lstStyle/>
                        <a:p>
                          <a:pPr/>
                          <a14:m>
                            <m:oMathPara xmlns:m="http://schemas.openxmlformats.org/officeDocument/2006/math">
                              <m:oMathParaPr>
                                <m:jc m:val="centerGroup"/>
                              </m:oMathParaPr>
                              <m:oMath xmlns:m="http://schemas.openxmlformats.org/officeDocument/2006/math">
                                <m:sSub>
                                  <m:sSubPr>
                                    <m:ctrlPr>
                                      <a:rPr lang="en-US" sz="2700" i="1" smtClean="0">
                                        <a:latin typeface="Cambria Math" panose="02040503050406030204" pitchFamily="18" charset="0"/>
                                      </a:rPr>
                                    </m:ctrlPr>
                                  </m:sSubPr>
                                  <m:e>
                                    <m:r>
                                      <a:rPr lang="en-US" sz="2700" b="0" i="1" smtClean="0">
                                        <a:latin typeface="Cambria Math" panose="02040503050406030204" pitchFamily="18" charset="0"/>
                                      </a:rPr>
                                      <m:t>𝑇</m:t>
                                    </m:r>
                                  </m:e>
                                  <m:sub>
                                    <m:r>
                                      <a:rPr lang="en-US" sz="2700" b="0" i="1" smtClean="0">
                                        <a:latin typeface="Cambria Math" panose="02040503050406030204" pitchFamily="18" charset="0"/>
                                      </a:rPr>
                                      <m:t>𝑛</m:t>
                                    </m:r>
                                    <m:r>
                                      <a:rPr lang="en-US" sz="2700" b="0" i="1" smtClean="0">
                                        <a:latin typeface="Cambria Math" panose="02040503050406030204" pitchFamily="18" charset="0"/>
                                      </a:rPr>
                                      <m:t>−1</m:t>
                                    </m:r>
                                  </m:sub>
                                </m:sSub>
                                <m:r>
                                  <a:rPr lang="en-US" sz="2700" b="0" i="1" smtClean="0">
                                    <a:latin typeface="Cambria Math" panose="02040503050406030204" pitchFamily="18" charset="0"/>
                                  </a:rPr>
                                  <m:t>&gt;</m:t>
                                </m:r>
                                <m:sSub>
                                  <m:sSubPr>
                                    <m:ctrlPr>
                                      <a:rPr lang="en-US" sz="2700" i="1">
                                        <a:latin typeface="Cambria Math" panose="02040503050406030204" pitchFamily="18" charset="0"/>
                                      </a:rPr>
                                    </m:ctrlPr>
                                  </m:sSubPr>
                                  <m:e>
                                    <m:r>
                                      <a:rPr lang="en-US" sz="2700" b="0" i="1" smtClean="0">
                                        <a:latin typeface="Cambria Math" panose="02040503050406030204" pitchFamily="18" charset="0"/>
                                      </a:rPr>
                                      <m:t>𝑡</m:t>
                                    </m:r>
                                  </m:e>
                                  <m:sub>
                                    <m:r>
                                      <a:rPr lang="en-US" sz="2700" b="0" i="1" smtClean="0">
                                        <a:latin typeface="Cambria Math" panose="02040503050406030204" pitchFamily="18" charset="0"/>
                                      </a:rPr>
                                      <m:t>𝑛</m:t>
                                    </m:r>
                                    <m:r>
                                      <a:rPr lang="en-US" sz="2700" b="0" i="1" smtClean="0">
                                        <a:latin typeface="Cambria Math" panose="02040503050406030204" pitchFamily="18" charset="0"/>
                                      </a:rPr>
                                      <m:t>−1,</m:t>
                                    </m:r>
                                    <m:r>
                                      <a:rPr lang="en-US" sz="2700" b="0" i="1" smtClean="0">
                                        <a:latin typeface="Cambria Math" panose="02040503050406030204" pitchFamily="18" charset="0"/>
                                      </a:rPr>
                                      <m:t>𝛼</m:t>
                                    </m:r>
                                  </m:sub>
                                </m:sSub>
                              </m:oMath>
                            </m:oMathPara>
                          </a14:m>
                          <a:endParaRPr lang="en-US" sz="2700" dirty="0"/>
                        </a:p>
                      </a:txBody>
                      <a:tcPr marL="121920" marR="121920" marT="60960" marB="60960" anchor="ctr"/>
                    </a:tc>
                    <a:extLst>
                      <a:ext uri="{0D108BD9-81ED-4DB2-BD59-A6C34878D82A}">
                        <a16:rowId xmlns:a16="http://schemas.microsoft.com/office/drawing/2014/main" val="1112798827"/>
                      </a:ext>
                    </a:extLst>
                  </a:tr>
                  <a:tr h="1920000">
                    <a:tc>
                      <a:txBody>
                        <a:bodyPr/>
                        <a:lstStyle/>
                        <a:p>
                          <a:pPr/>
                          <a14:m>
                            <m:oMathPara xmlns:m="http://schemas.openxmlformats.org/officeDocument/2006/math">
                              <m:oMathParaPr>
                                <m:jc m:val="centerGroup"/>
                              </m:oMathParaPr>
                              <m:oMath xmlns:m="http://schemas.openxmlformats.org/officeDocument/2006/math">
                                <m:sSub>
                                  <m:sSubPr>
                                    <m:ctrlPr>
                                      <a:rPr lang="en-US" sz="2700" i="1" smtClean="0">
                                        <a:latin typeface="Cambria Math" panose="02040503050406030204" pitchFamily="18" charset="0"/>
                                      </a:rPr>
                                    </m:ctrlPr>
                                  </m:sSubPr>
                                  <m:e>
                                    <m:r>
                                      <a:rPr lang="en-US" sz="2700" b="0" i="1" smtClean="0">
                                        <a:latin typeface="Cambria Math" panose="02040503050406030204" pitchFamily="18" charset="0"/>
                                      </a:rPr>
                                      <m:t>𝑇</m:t>
                                    </m:r>
                                  </m:e>
                                  <m:sub>
                                    <m:r>
                                      <a:rPr lang="en-US" sz="2700" b="0" i="1" smtClean="0">
                                        <a:latin typeface="Cambria Math" panose="02040503050406030204" pitchFamily="18" charset="0"/>
                                      </a:rPr>
                                      <m:t>𝑛</m:t>
                                    </m:r>
                                    <m:r>
                                      <a:rPr lang="en-US" sz="2700" b="0" i="1" smtClean="0">
                                        <a:latin typeface="Cambria Math" panose="02040503050406030204" pitchFamily="18" charset="0"/>
                                      </a:rPr>
                                      <m:t>−1</m:t>
                                    </m:r>
                                  </m:sub>
                                </m:sSub>
                                <m:r>
                                  <a:rPr lang="en-US" sz="2700" b="0" i="1" smtClean="0">
                                    <a:latin typeface="Cambria Math" panose="02040503050406030204" pitchFamily="18" charset="0"/>
                                  </a:rPr>
                                  <m:t>&gt;</m:t>
                                </m:r>
                                <m:sSub>
                                  <m:sSubPr>
                                    <m:ctrlPr>
                                      <a:rPr lang="en-US" sz="2700" i="1">
                                        <a:latin typeface="Cambria Math" panose="02040503050406030204" pitchFamily="18" charset="0"/>
                                      </a:rPr>
                                    </m:ctrlPr>
                                  </m:sSubPr>
                                  <m:e>
                                    <m:r>
                                      <a:rPr lang="en-US" sz="2700" b="0" i="1" smtClean="0">
                                        <a:latin typeface="Cambria Math" panose="02040503050406030204" pitchFamily="18" charset="0"/>
                                      </a:rPr>
                                      <m:t>𝑡</m:t>
                                    </m:r>
                                  </m:e>
                                  <m:sub>
                                    <m:r>
                                      <a:rPr lang="en-US" sz="2700" b="0" i="1" smtClean="0">
                                        <a:latin typeface="Cambria Math" panose="02040503050406030204" pitchFamily="18" charset="0"/>
                                      </a:rPr>
                                      <m:t>𝑛</m:t>
                                    </m:r>
                                    <m:r>
                                      <a:rPr lang="en-US" sz="2700" b="0" i="1" smtClean="0">
                                        <a:latin typeface="Cambria Math" panose="02040503050406030204" pitchFamily="18" charset="0"/>
                                      </a:rPr>
                                      <m:t>−1,</m:t>
                                    </m:r>
                                    <m:f>
                                      <m:fPr>
                                        <m:ctrlPr>
                                          <a:rPr lang="en-US" sz="2700" i="1">
                                            <a:latin typeface="Cambria Math" panose="02040503050406030204" pitchFamily="18" charset="0"/>
                                          </a:rPr>
                                        </m:ctrlPr>
                                      </m:fPr>
                                      <m:num>
                                        <m:r>
                                          <a:rPr lang="en-US" sz="2700" i="1">
                                            <a:latin typeface="Cambria Math" panose="02040503050406030204" pitchFamily="18" charset="0"/>
                                          </a:rPr>
                                          <m:t>𝛼</m:t>
                                        </m:r>
                                      </m:num>
                                      <m:den>
                                        <m:r>
                                          <a:rPr lang="en-US" sz="2700" i="1">
                                            <a:latin typeface="Cambria Math" panose="02040503050406030204" pitchFamily="18" charset="0"/>
                                          </a:rPr>
                                          <m:t>2</m:t>
                                        </m:r>
                                      </m:den>
                                    </m:f>
                                  </m:sub>
                                </m:sSub>
                              </m:oMath>
                            </m:oMathPara>
                          </a14:m>
                          <a:endParaRPr lang="en-US" sz="2700" dirty="0"/>
                        </a:p>
                        <a:p>
                          <a:r>
                            <a:rPr lang="en-US" sz="2700" dirty="0"/>
                            <a:t>or </a:t>
                          </a:r>
                        </a:p>
                        <a:p>
                          <a:pPr/>
                          <a14:m>
                            <m:oMathPara xmlns:m="http://schemas.openxmlformats.org/officeDocument/2006/math">
                              <m:oMathParaPr>
                                <m:jc m:val="centerGroup"/>
                              </m:oMathParaPr>
                              <m:oMath xmlns:m="http://schemas.openxmlformats.org/officeDocument/2006/math">
                                <m:sSub>
                                  <m:sSubPr>
                                    <m:ctrlPr>
                                      <a:rPr lang="en-US" sz="2700" i="1" smtClean="0">
                                        <a:latin typeface="Cambria Math" panose="02040503050406030204" pitchFamily="18" charset="0"/>
                                      </a:rPr>
                                    </m:ctrlPr>
                                  </m:sSubPr>
                                  <m:e>
                                    <m:r>
                                      <a:rPr lang="en-US" sz="2700" b="0" i="1" smtClean="0">
                                        <a:latin typeface="Cambria Math" panose="02040503050406030204" pitchFamily="18" charset="0"/>
                                      </a:rPr>
                                      <m:t>𝑇</m:t>
                                    </m:r>
                                  </m:e>
                                  <m:sub>
                                    <m:r>
                                      <a:rPr lang="en-US" sz="2700" b="0" i="1" smtClean="0">
                                        <a:latin typeface="Cambria Math" panose="02040503050406030204" pitchFamily="18" charset="0"/>
                                      </a:rPr>
                                      <m:t>𝑛</m:t>
                                    </m:r>
                                    <m:r>
                                      <a:rPr lang="en-US" sz="2700" b="0" i="1" smtClean="0">
                                        <a:latin typeface="Cambria Math" panose="02040503050406030204" pitchFamily="18" charset="0"/>
                                      </a:rPr>
                                      <m:t>−1</m:t>
                                    </m:r>
                                  </m:sub>
                                </m:sSub>
                                <m:r>
                                  <a:rPr lang="en-US" sz="2700" b="0" i="1" smtClean="0">
                                    <a:latin typeface="Cambria Math" panose="02040503050406030204" pitchFamily="18" charset="0"/>
                                  </a:rPr>
                                  <m:t>&lt;−</m:t>
                                </m:r>
                                <m:sSub>
                                  <m:sSubPr>
                                    <m:ctrlPr>
                                      <a:rPr lang="en-US" sz="2700" i="1">
                                        <a:latin typeface="Cambria Math" panose="02040503050406030204" pitchFamily="18" charset="0"/>
                                      </a:rPr>
                                    </m:ctrlPr>
                                  </m:sSubPr>
                                  <m:e>
                                    <m:r>
                                      <a:rPr lang="en-US" sz="2700" b="0" i="1" smtClean="0">
                                        <a:latin typeface="Cambria Math" panose="02040503050406030204" pitchFamily="18" charset="0"/>
                                      </a:rPr>
                                      <m:t>𝑡</m:t>
                                    </m:r>
                                  </m:e>
                                  <m:sub>
                                    <m:r>
                                      <a:rPr lang="en-US" sz="2700" b="0" i="1" smtClean="0">
                                        <a:latin typeface="Cambria Math" panose="02040503050406030204" pitchFamily="18" charset="0"/>
                                      </a:rPr>
                                      <m:t>𝑛</m:t>
                                    </m:r>
                                    <m:r>
                                      <a:rPr lang="en-US" sz="2700" b="0" i="1" smtClean="0">
                                        <a:latin typeface="Cambria Math" panose="02040503050406030204" pitchFamily="18" charset="0"/>
                                      </a:rPr>
                                      <m:t>−1,</m:t>
                                    </m:r>
                                    <m:f>
                                      <m:fPr>
                                        <m:ctrlPr>
                                          <a:rPr lang="en-US" sz="2700" i="1">
                                            <a:latin typeface="Cambria Math" panose="02040503050406030204" pitchFamily="18" charset="0"/>
                                          </a:rPr>
                                        </m:ctrlPr>
                                      </m:fPr>
                                      <m:num>
                                        <m:r>
                                          <a:rPr lang="en-US" sz="2700" i="1">
                                            <a:latin typeface="Cambria Math" panose="02040503050406030204" pitchFamily="18" charset="0"/>
                                          </a:rPr>
                                          <m:t>𝛼</m:t>
                                        </m:r>
                                      </m:num>
                                      <m:den>
                                        <m:r>
                                          <a:rPr lang="en-US" sz="2700" i="1">
                                            <a:latin typeface="Cambria Math" panose="02040503050406030204" pitchFamily="18" charset="0"/>
                                          </a:rPr>
                                          <m:t>2</m:t>
                                        </m:r>
                                      </m:den>
                                    </m:f>
                                  </m:sub>
                                </m:sSub>
                              </m:oMath>
                            </m:oMathPara>
                          </a14:m>
                          <a:endParaRPr lang="en-US" sz="2700" dirty="0"/>
                        </a:p>
                      </a:txBody>
                      <a:tcPr marL="121920" marR="121920" marT="60960" marB="60960" anchor="ctr"/>
                    </a:tc>
                    <a:extLst>
                      <a:ext uri="{0D108BD9-81ED-4DB2-BD59-A6C34878D82A}">
                        <a16:rowId xmlns:a16="http://schemas.microsoft.com/office/drawing/2014/main" val="548525464"/>
                      </a:ext>
                    </a:extLst>
                  </a:tr>
                  <a:tr h="192000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700" i="1" smtClean="0">
                                        <a:latin typeface="Cambria Math" panose="02040503050406030204" pitchFamily="18" charset="0"/>
                                      </a:rPr>
                                    </m:ctrlPr>
                                  </m:sSubPr>
                                  <m:e>
                                    <m:r>
                                      <a:rPr lang="en-US" sz="2700" b="0" i="1" smtClean="0">
                                        <a:latin typeface="Cambria Math" panose="02040503050406030204" pitchFamily="18" charset="0"/>
                                      </a:rPr>
                                      <m:t>𝑇</m:t>
                                    </m:r>
                                  </m:e>
                                  <m:sub>
                                    <m:r>
                                      <a:rPr lang="en-US" sz="2700" b="0" i="1" smtClean="0">
                                        <a:latin typeface="Cambria Math" panose="02040503050406030204" pitchFamily="18" charset="0"/>
                                      </a:rPr>
                                      <m:t>𝑛</m:t>
                                    </m:r>
                                    <m:r>
                                      <a:rPr lang="en-US" sz="2700" b="0" i="1" smtClean="0">
                                        <a:latin typeface="Cambria Math" panose="02040503050406030204" pitchFamily="18" charset="0"/>
                                      </a:rPr>
                                      <m:t>−1</m:t>
                                    </m:r>
                                  </m:sub>
                                </m:sSub>
                                <m:r>
                                  <a:rPr lang="en-US" sz="2700" b="0" i="1" smtClean="0">
                                    <a:latin typeface="Cambria Math" panose="02040503050406030204" pitchFamily="18" charset="0"/>
                                  </a:rPr>
                                  <m:t>&lt;−</m:t>
                                </m:r>
                                <m:sSub>
                                  <m:sSubPr>
                                    <m:ctrlPr>
                                      <a:rPr lang="en-US" sz="2700" i="1">
                                        <a:latin typeface="Cambria Math" panose="02040503050406030204" pitchFamily="18" charset="0"/>
                                      </a:rPr>
                                    </m:ctrlPr>
                                  </m:sSubPr>
                                  <m:e>
                                    <m:r>
                                      <a:rPr lang="en-US" sz="2700" b="0" i="1" smtClean="0">
                                        <a:latin typeface="Cambria Math" panose="02040503050406030204" pitchFamily="18" charset="0"/>
                                      </a:rPr>
                                      <m:t>𝑡</m:t>
                                    </m:r>
                                  </m:e>
                                  <m:sub>
                                    <m:r>
                                      <a:rPr lang="en-US" sz="2700" b="0" i="1" smtClean="0">
                                        <a:latin typeface="Cambria Math" panose="02040503050406030204" pitchFamily="18" charset="0"/>
                                      </a:rPr>
                                      <m:t>𝑛</m:t>
                                    </m:r>
                                    <m:r>
                                      <a:rPr lang="en-US" sz="2700" b="0" i="1" smtClean="0">
                                        <a:latin typeface="Cambria Math" panose="02040503050406030204" pitchFamily="18" charset="0"/>
                                      </a:rPr>
                                      <m:t>−1,</m:t>
                                    </m:r>
                                    <m:r>
                                      <a:rPr lang="en-US" sz="2700" b="0" i="1" smtClean="0">
                                        <a:latin typeface="Cambria Math" panose="02040503050406030204" pitchFamily="18" charset="0"/>
                                      </a:rPr>
                                      <m:t>𝛼</m:t>
                                    </m:r>
                                  </m:sub>
                                </m:sSub>
                              </m:oMath>
                            </m:oMathPara>
                          </a14:m>
                          <a:endParaRPr lang="en-US" sz="2700" dirty="0"/>
                        </a:p>
                      </a:txBody>
                      <a:tcPr marL="121920" marR="121920" marT="60960" marB="60960" anchor="ctr"/>
                    </a:tc>
                    <a:extLst>
                      <a:ext uri="{0D108BD9-81ED-4DB2-BD59-A6C34878D82A}">
                        <a16:rowId xmlns:a16="http://schemas.microsoft.com/office/drawing/2014/main" val="265939577"/>
                      </a:ext>
                    </a:extLst>
                  </a:tr>
                </a:tbl>
              </a:graphicData>
            </a:graphic>
          </p:graphicFrame>
        </mc:Choice>
        <mc:Fallback xmlns="">
          <p:graphicFrame>
            <p:nvGraphicFramePr>
              <p:cNvPr id="6" name="Table 5"/>
              <p:cNvGraphicFramePr>
                <a:graphicFrameLocks noGrp="1"/>
              </p:cNvGraphicFramePr>
              <p:nvPr/>
            </p:nvGraphicFramePr>
            <p:xfrm>
              <a:off x="9696000" y="251265"/>
              <a:ext cx="2496000" cy="6450880"/>
            </p:xfrm>
            <a:graphic>
              <a:graphicData uri="http://schemas.openxmlformats.org/drawingml/2006/table">
                <a:tbl>
                  <a:tblPr firstRow="1" bandRow="1">
                    <a:tableStyleId>{5C22544A-7EE6-4342-B048-85BDC9FD1C3A}</a:tableStyleId>
                  </a:tblPr>
                  <a:tblGrid>
                    <a:gridCol w="2496000">
                      <a:extLst>
                        <a:ext uri="{9D8B030D-6E8A-4147-A177-3AD203B41FA5}">
                          <a16:colId xmlns:a16="http://schemas.microsoft.com/office/drawing/2014/main" val="306824079"/>
                        </a:ext>
                      </a:extLst>
                    </a:gridCol>
                  </a:tblGrid>
                  <a:tr h="690880">
                    <a:tc>
                      <a:txBody>
                        <a:bodyPr/>
                        <a:lstStyle/>
                        <a:p>
                          <a:endParaRPr lang="en-US"/>
                        </a:p>
                      </a:txBody>
                      <a:tcPr marL="121920" marR="121920" marT="60960" marB="60960">
                        <a:blipFill>
                          <a:blip r:embed="rId8"/>
                          <a:stretch>
                            <a:fillRect l="-508" t="-10909" r="-1523" b="-827273"/>
                          </a:stretch>
                        </a:blipFill>
                      </a:tcPr>
                    </a:tc>
                    <a:extLst>
                      <a:ext uri="{0D108BD9-81ED-4DB2-BD59-A6C34878D82A}">
                        <a16:rowId xmlns:a16="http://schemas.microsoft.com/office/drawing/2014/main" val="3602488048"/>
                      </a:ext>
                    </a:extLst>
                  </a:tr>
                  <a:tr h="1920000">
                    <a:tc>
                      <a:txBody>
                        <a:bodyPr/>
                        <a:lstStyle/>
                        <a:p>
                          <a:endParaRPr lang="en-US"/>
                        </a:p>
                      </a:txBody>
                      <a:tcPr marL="121920" marR="121920" marT="60960" marB="60960" anchor="ctr">
                        <a:blipFill>
                          <a:blip r:embed="rId8"/>
                          <a:stretch>
                            <a:fillRect l="-508" t="-40397" r="-1523" b="-201325"/>
                          </a:stretch>
                        </a:blipFill>
                      </a:tcPr>
                    </a:tc>
                    <a:extLst>
                      <a:ext uri="{0D108BD9-81ED-4DB2-BD59-A6C34878D82A}">
                        <a16:rowId xmlns:a16="http://schemas.microsoft.com/office/drawing/2014/main" val="1112798827"/>
                      </a:ext>
                    </a:extLst>
                  </a:tr>
                  <a:tr h="1920000">
                    <a:tc>
                      <a:txBody>
                        <a:bodyPr/>
                        <a:lstStyle/>
                        <a:p>
                          <a:endParaRPr lang="en-US"/>
                        </a:p>
                      </a:txBody>
                      <a:tcPr marL="121920" marR="121920" marT="60960" marB="60960" anchor="ctr">
                        <a:blipFill>
                          <a:blip r:embed="rId8"/>
                          <a:stretch>
                            <a:fillRect l="-508" t="-139474" r="-1523" b="-100000"/>
                          </a:stretch>
                        </a:blipFill>
                      </a:tcPr>
                    </a:tc>
                    <a:extLst>
                      <a:ext uri="{0D108BD9-81ED-4DB2-BD59-A6C34878D82A}">
                        <a16:rowId xmlns:a16="http://schemas.microsoft.com/office/drawing/2014/main" val="548525464"/>
                      </a:ext>
                    </a:extLst>
                  </a:tr>
                  <a:tr h="1920000">
                    <a:tc>
                      <a:txBody>
                        <a:bodyPr/>
                        <a:lstStyle/>
                        <a:p>
                          <a:endParaRPr lang="en-US"/>
                        </a:p>
                      </a:txBody>
                      <a:tcPr marL="121920" marR="121920" marT="60960" marB="60960" anchor="ctr">
                        <a:blipFill>
                          <a:blip r:embed="rId8"/>
                          <a:stretch>
                            <a:fillRect l="-508" t="-241060" r="-1523" b="-662"/>
                          </a:stretch>
                        </a:blipFill>
                      </a:tcPr>
                    </a:tc>
                    <a:extLst>
                      <a:ext uri="{0D108BD9-81ED-4DB2-BD59-A6C34878D82A}">
                        <a16:rowId xmlns:a16="http://schemas.microsoft.com/office/drawing/2014/main" val="26593957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3853895345"/>
                  </p:ext>
                </p:extLst>
              </p:nvPr>
            </p:nvGraphicFramePr>
            <p:xfrm>
              <a:off x="479999" y="1296000"/>
              <a:ext cx="6384000" cy="4906264"/>
            </p:xfrm>
            <a:graphic>
              <a:graphicData uri="http://schemas.openxmlformats.org/drawingml/2006/table">
                <a:tbl>
                  <a:tblPr firstRow="1" firstCol="1" bandRow="1">
                    <a:tableStyleId>{5C22544A-7EE6-4342-B048-85BDC9FD1C3A}</a:tableStyleId>
                  </a:tblPr>
                  <a:tblGrid>
                    <a:gridCol w="2688000">
                      <a:extLst>
                        <a:ext uri="{9D8B030D-6E8A-4147-A177-3AD203B41FA5}">
                          <a16:colId xmlns:a16="http://schemas.microsoft.com/office/drawing/2014/main" val="4013297149"/>
                        </a:ext>
                      </a:extLst>
                    </a:gridCol>
                    <a:gridCol w="3696000">
                      <a:extLst>
                        <a:ext uri="{9D8B030D-6E8A-4147-A177-3AD203B41FA5}">
                          <a16:colId xmlns:a16="http://schemas.microsoft.com/office/drawing/2014/main" val="2929873868"/>
                        </a:ext>
                      </a:extLst>
                    </a:gridCol>
                  </a:tblGrid>
                  <a:tr h="93472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700" dirty="0"/>
                            <a:t>Data (</a:t>
                          </a:r>
                          <a14:m>
                            <m:oMath xmlns:m="http://schemas.openxmlformats.org/officeDocument/2006/math">
                              <m:r>
                                <a:rPr lang="en-US" sz="2700" b="0" i="1" smtClean="0">
                                  <a:latin typeface="Cambria Math" panose="02040503050406030204" pitchFamily="18" charset="0"/>
                                </a:rPr>
                                <m:t>𝑋</m:t>
                              </m:r>
                            </m:oMath>
                          </a14:m>
                          <a:r>
                            <a:rPr lang="en-US" sz="2700" dirty="0"/>
                            <a:t>)</a:t>
                          </a:r>
                        </a:p>
                      </a:txBody>
                      <a:tcPr marL="121920" marR="121920" marT="60960" marB="60960"/>
                    </a:tc>
                    <a:tc>
                      <a:txBody>
                        <a:bodyPr/>
                        <a:lstStyle/>
                        <a:p>
                          <a:r>
                            <a:rPr lang="en-US" sz="2700" dirty="0"/>
                            <a:t>Population</a:t>
                          </a:r>
                          <a:r>
                            <a:rPr lang="en-US" sz="2700" baseline="0" dirty="0"/>
                            <a:t> mean </a:t>
                          </a:r>
                          <a14:m>
                            <m:oMath xmlns:m="http://schemas.openxmlformats.org/officeDocument/2006/math">
                              <m:sSub>
                                <m:sSubPr>
                                  <m:ctrlPr>
                                    <a:rPr lang="en-US" sz="2700" b="0" i="1" baseline="0" smtClean="0">
                                      <a:latin typeface="Cambria Math" panose="02040503050406030204" pitchFamily="18" charset="0"/>
                                    </a:rPr>
                                  </m:ctrlPr>
                                </m:sSubPr>
                                <m:e>
                                  <m:r>
                                    <a:rPr lang="en-US" sz="2700" b="0" i="1" baseline="0" smtClean="0">
                                      <a:latin typeface="Cambria Math" panose="02040503050406030204" pitchFamily="18" charset="0"/>
                                    </a:rPr>
                                    <m:t>𝜇</m:t>
                                  </m:r>
                                </m:e>
                                <m:sub>
                                  <m:r>
                                    <a:rPr lang="en-US" sz="2700" b="0" i="1" baseline="0" smtClean="0">
                                      <a:latin typeface="Cambria Math" panose="02040503050406030204" pitchFamily="18" charset="0"/>
                                    </a:rPr>
                                    <m:t>𝑋</m:t>
                                  </m:r>
                                </m:sub>
                              </m:sSub>
                            </m:oMath>
                          </a14:m>
                          <a:r>
                            <a:rPr lang="en-US" sz="2700" dirty="0"/>
                            <a:t> with unknown variance</a:t>
                          </a:r>
                        </a:p>
                      </a:txBody>
                      <a:tcPr marL="121920" marR="121920" marT="60960" marB="60960"/>
                    </a:tc>
                    <a:extLst>
                      <a:ext uri="{0D108BD9-81ED-4DB2-BD59-A6C34878D82A}">
                        <a16:rowId xmlns:a16="http://schemas.microsoft.com/office/drawing/2014/main" val="821838495"/>
                      </a:ext>
                    </a:extLst>
                  </a:tr>
                  <a:tr h="528320">
                    <a:tc>
                      <a:txBody>
                        <a:bodyPr/>
                        <a:lstStyle/>
                        <a:p>
                          <a:r>
                            <a:rPr lang="en-US" sz="2700" b="1" dirty="0">
                              <a:ea typeface="Cambria Math" panose="02040503050406030204" pitchFamily="18" charset="0"/>
                            </a:rPr>
                            <a:t>Null hypothesis</a:t>
                          </a:r>
                          <a:endParaRPr lang="en-US" sz="2700" dirty="0"/>
                        </a:p>
                      </a:txBody>
                      <a:tcPr marL="121920" marR="121920" marT="60960" marB="60960"/>
                    </a:tc>
                    <a:tc>
                      <a:txBody>
                        <a:bodyPr/>
                        <a:lstStyle/>
                        <a:p>
                          <a:pPr/>
                          <a14:m>
                            <m:oMathPara xmlns:m="http://schemas.openxmlformats.org/officeDocument/2006/math">
                              <m:oMathParaPr>
                                <m:jc m:val="centerGroup"/>
                              </m:oMathParaPr>
                              <m:oMath xmlns:m="http://schemas.openxmlformats.org/officeDocument/2006/math">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ℋ</m:t>
                                    </m:r>
                                  </m:e>
                                  <m:sub>
                                    <m:r>
                                      <a:rPr lang="en-US" sz="2700" b="0" i="1" smtClean="0">
                                        <a:latin typeface="Cambria Math" panose="02040503050406030204" pitchFamily="18" charset="0"/>
                                        <a:ea typeface="Cambria Math" panose="02040503050406030204" pitchFamily="18" charset="0"/>
                                      </a:rPr>
                                      <m:t>0</m:t>
                                    </m:r>
                                  </m:sub>
                                </m:sSub>
                                <m:r>
                                  <a:rPr lang="en-US" sz="2700" b="0" i="1" smtClean="0">
                                    <a:latin typeface="Cambria Math" panose="02040503050406030204" pitchFamily="18" charset="0"/>
                                    <a:ea typeface="Cambria Math" panose="02040503050406030204" pitchFamily="18" charset="0"/>
                                  </a:rPr>
                                  <m:t>: </m:t>
                                </m:r>
                                <m:sSub>
                                  <m:sSubPr>
                                    <m:ctrlPr>
                                      <a:rPr lang="en-US" sz="2700" i="1" smtClean="0">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𝑋</m:t>
                                    </m:r>
                                  </m:sub>
                                </m:sSub>
                                <m:r>
                                  <a:rPr lang="en-US" sz="2700" i="1">
                                    <a:latin typeface="Cambria Math" panose="02040503050406030204" pitchFamily="18" charset="0"/>
                                    <a:ea typeface="Cambria Math" panose="02040503050406030204" pitchFamily="18" charset="0"/>
                                  </a:rPr>
                                  <m:t>=</m:t>
                                </m:r>
                                <m:sSub>
                                  <m:sSubPr>
                                    <m:ctrlPr>
                                      <a:rPr lang="en-US" sz="2700" i="1">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0</m:t>
                                    </m:r>
                                  </m:sub>
                                </m:sSub>
                              </m:oMath>
                            </m:oMathPara>
                          </a14:m>
                          <a:endParaRPr lang="en-US" sz="2700" dirty="0"/>
                        </a:p>
                      </a:txBody>
                      <a:tcPr marL="121920" marR="121920" marT="60960" marB="60960"/>
                    </a:tc>
                    <a:extLst>
                      <a:ext uri="{0D108BD9-81ED-4DB2-BD59-A6C34878D82A}">
                        <a16:rowId xmlns:a16="http://schemas.microsoft.com/office/drawing/2014/main" val="4133731926"/>
                      </a:ext>
                    </a:extLst>
                  </a:tr>
                  <a:tr h="141935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700" b="1" dirty="0">
                              <a:ea typeface="Cambria Math" panose="02040503050406030204" pitchFamily="18" charset="0"/>
                            </a:rPr>
                            <a:t>Alternative hypothesis</a:t>
                          </a:r>
                          <a:endParaRPr lang="en-US" sz="2700" dirty="0"/>
                        </a:p>
                      </a:txBody>
                      <a:tcPr marL="121920" marR="121920" marT="60960" marB="60960"/>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ℋ</m:t>
                                    </m:r>
                                  </m:e>
                                  <m:sub>
                                    <m:r>
                                      <a:rPr lang="en-US" sz="2700" b="0" i="1" smtClean="0">
                                        <a:latin typeface="Cambria Math" panose="02040503050406030204" pitchFamily="18" charset="0"/>
                                        <a:ea typeface="Cambria Math" panose="02040503050406030204" pitchFamily="18" charset="0"/>
                                      </a:rPr>
                                      <m:t>1</m:t>
                                    </m:r>
                                  </m:sub>
                                </m:sSub>
                                <m:r>
                                  <a:rPr lang="en-US" sz="2700" b="0" i="1" smtClean="0">
                                    <a:latin typeface="Cambria Math" panose="02040503050406030204" pitchFamily="18" charset="0"/>
                                    <a:ea typeface="Cambria Math" panose="02040503050406030204" pitchFamily="18" charset="0"/>
                                  </a:rPr>
                                  <m:t>: </m:t>
                                </m:r>
                                <m:d>
                                  <m:dPr>
                                    <m:begChr m:val="{"/>
                                    <m:endChr m:val=""/>
                                    <m:ctrlPr>
                                      <a:rPr lang="en-US" sz="2700" b="0" i="1" smtClean="0">
                                        <a:latin typeface="Cambria Math" panose="02040503050406030204" pitchFamily="18" charset="0"/>
                                        <a:ea typeface="Cambria Math" panose="02040503050406030204" pitchFamily="18" charset="0"/>
                                      </a:rPr>
                                    </m:ctrlPr>
                                  </m:dPr>
                                  <m:e>
                                    <m:eqArr>
                                      <m:eqArrPr>
                                        <m:ctrlPr>
                                          <a:rPr lang="en-US" sz="2700" b="0" i="1" smtClean="0">
                                            <a:latin typeface="Cambria Math" panose="02040503050406030204" pitchFamily="18" charset="0"/>
                                            <a:ea typeface="Cambria Math" panose="02040503050406030204" pitchFamily="18" charset="0"/>
                                          </a:rPr>
                                        </m:ctrlPr>
                                      </m:eqArrPr>
                                      <m:e>
                                        <m:sSub>
                                          <m:sSubPr>
                                            <m:ctrlPr>
                                              <a:rPr lang="en-US" sz="2700" i="1" smtClean="0">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𝑋</m:t>
                                            </m:r>
                                          </m:sub>
                                        </m:sSub>
                                        <m:r>
                                          <a:rPr lang="en-US" sz="2700" b="0" i="1" smtClean="0">
                                            <a:latin typeface="Cambria Math" panose="02040503050406030204" pitchFamily="18" charset="0"/>
                                            <a:ea typeface="Cambria Math" panose="02040503050406030204" pitchFamily="18" charset="0"/>
                                          </a:rPr>
                                          <m:t>&gt;</m:t>
                                        </m:r>
                                        <m:sSub>
                                          <m:sSubPr>
                                            <m:ctrlPr>
                                              <a:rPr lang="en-US" sz="2700" i="1">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0</m:t>
                                            </m:r>
                                          </m:sub>
                                        </m:sSub>
                                      </m:e>
                                      <m:e>
                                        <m:sSub>
                                          <m:sSubPr>
                                            <m:ctrlPr>
                                              <a:rPr lang="en-US" sz="2700" i="1" smtClean="0">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𝑋</m:t>
                                            </m:r>
                                          </m:sub>
                                        </m:sSub>
                                        <m:r>
                                          <a:rPr lang="en-US" sz="2700" i="1">
                                            <a:latin typeface="Cambria Math" panose="02040503050406030204" pitchFamily="18" charset="0"/>
                                            <a:ea typeface="Cambria Math" panose="02040503050406030204" pitchFamily="18" charset="0"/>
                                          </a:rPr>
                                          <m:t>≠</m:t>
                                        </m:r>
                                        <m:sSub>
                                          <m:sSubPr>
                                            <m:ctrlPr>
                                              <a:rPr lang="en-US" sz="2700" i="1">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0</m:t>
                                            </m:r>
                                          </m:sub>
                                        </m:sSub>
                                      </m:e>
                                      <m:e>
                                        <m:sSub>
                                          <m:sSubPr>
                                            <m:ctrlPr>
                                              <a:rPr lang="en-US" sz="2700" i="1" smtClean="0">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𝑋</m:t>
                                            </m:r>
                                          </m:sub>
                                        </m:sSub>
                                        <m:r>
                                          <a:rPr lang="en-US" sz="2700" b="0" i="1" smtClean="0">
                                            <a:latin typeface="Cambria Math" panose="02040503050406030204" pitchFamily="18" charset="0"/>
                                            <a:ea typeface="Cambria Math" panose="02040503050406030204" pitchFamily="18" charset="0"/>
                                          </a:rPr>
                                          <m:t>&lt;</m:t>
                                        </m:r>
                                        <m:sSub>
                                          <m:sSubPr>
                                            <m:ctrlPr>
                                              <a:rPr lang="en-US" sz="2700" i="1">
                                                <a:latin typeface="Cambria Math" panose="02040503050406030204" pitchFamily="18" charset="0"/>
                                                <a:ea typeface="Cambria Math" panose="02040503050406030204" pitchFamily="18" charset="0"/>
                                              </a:rPr>
                                            </m:ctrlPr>
                                          </m:sSubPr>
                                          <m:e>
                                            <m:r>
                                              <a:rPr lang="en-US" sz="2700" i="1">
                                                <a:latin typeface="Cambria Math" panose="02040503050406030204" pitchFamily="18" charset="0"/>
                                                <a:ea typeface="Cambria Math" panose="02040503050406030204" pitchFamily="18" charset="0"/>
                                              </a:rPr>
                                              <m:t>𝜇</m:t>
                                            </m:r>
                                          </m:e>
                                          <m:sub>
                                            <m:r>
                                              <a:rPr lang="en-US" sz="2700" i="1">
                                                <a:latin typeface="Cambria Math" panose="02040503050406030204" pitchFamily="18" charset="0"/>
                                                <a:ea typeface="Cambria Math" panose="02040503050406030204" pitchFamily="18" charset="0"/>
                                              </a:rPr>
                                              <m:t>0</m:t>
                                            </m:r>
                                          </m:sub>
                                        </m:sSub>
                                        <m:r>
                                          <m:rPr>
                                            <m:nor/>
                                          </m:rPr>
                                          <a:rPr lang="en-US" sz="2700" dirty="0"/>
                                          <m:t> </m:t>
                                        </m:r>
                                      </m:e>
                                    </m:eqArr>
                                  </m:e>
                                </m:d>
                              </m:oMath>
                            </m:oMathPara>
                          </a14:m>
                          <a:endParaRPr lang="en-US" sz="2700" dirty="0"/>
                        </a:p>
                      </a:txBody>
                      <a:tcPr marL="121920" marR="121920" marT="60960" marB="60960"/>
                    </a:tc>
                    <a:extLst>
                      <a:ext uri="{0D108BD9-81ED-4DB2-BD59-A6C34878D82A}">
                        <a16:rowId xmlns:a16="http://schemas.microsoft.com/office/drawing/2014/main" val="1347873052"/>
                      </a:ext>
                    </a:extLst>
                  </a:tr>
                  <a:tr h="528320">
                    <a:tc>
                      <a:txBody>
                        <a:bodyPr/>
                        <a:lstStyle/>
                        <a:p>
                          <a:r>
                            <a:rPr lang="en-US" sz="2700" dirty="0"/>
                            <a:t>Significance</a:t>
                          </a:r>
                          <a:r>
                            <a:rPr lang="en-US" sz="2700" baseline="0" dirty="0"/>
                            <a:t> level</a:t>
                          </a:r>
                          <a:endParaRPr lang="en-US" sz="2700" dirty="0"/>
                        </a:p>
                      </a:txBody>
                      <a:tcPr marL="121920" marR="121920" marT="60960" marB="6096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700" b="0" i="1" smtClean="0">
                                    <a:latin typeface="Cambria Math" panose="02040503050406030204" pitchFamily="18" charset="0"/>
                                  </a:rPr>
                                  <m:t>𝛼</m:t>
                                </m:r>
                              </m:oMath>
                            </m:oMathPara>
                          </a14:m>
                          <a:endParaRPr lang="en-US" sz="2700" b="0" dirty="0"/>
                        </a:p>
                      </a:txBody>
                      <a:tcPr marL="121920" marR="121920" marT="60960" marB="60960"/>
                    </a:tc>
                    <a:extLst>
                      <a:ext uri="{0D108BD9-81ED-4DB2-BD59-A6C34878D82A}">
                        <a16:rowId xmlns:a16="http://schemas.microsoft.com/office/drawing/2014/main" val="1085276441"/>
                      </a:ext>
                    </a:extLst>
                  </a:tr>
                  <a:tr h="1444800">
                    <a:tc>
                      <a:txBody>
                        <a:bodyPr/>
                        <a:lstStyle/>
                        <a:p>
                          <a:r>
                            <a:rPr lang="en-US" sz="2700" dirty="0"/>
                            <a:t>Test statistic (</a:t>
                          </a:r>
                          <a14:m>
                            <m:oMath xmlns:m="http://schemas.openxmlformats.org/officeDocument/2006/math">
                              <m:r>
                                <a:rPr lang="en-US" sz="2700" b="0" i="1" dirty="0" smtClean="0">
                                  <a:latin typeface="Cambria Math" panose="02040503050406030204" pitchFamily="18" charset="0"/>
                                </a:rPr>
                                <m:t>𝛩</m:t>
                              </m:r>
                            </m:oMath>
                          </a14:m>
                          <a:r>
                            <a:rPr lang="en-US" sz="2700" dirty="0"/>
                            <a:t>)</a:t>
                          </a:r>
                        </a:p>
                      </a:txBody>
                      <a:tcPr marL="121920" marR="121920" marT="60960" marB="60960"/>
                    </a:tc>
                    <a:tc>
                      <a:txBody>
                        <a:bodyPr/>
                        <a:lstStyle/>
                        <a:p>
                          <a:pPr/>
                          <a14:m>
                            <m:oMathPara xmlns:m="http://schemas.openxmlformats.org/officeDocument/2006/math">
                              <m:oMathParaPr>
                                <m:jc m:val="centerGroup"/>
                              </m:oMathParaPr>
                              <m:oMath xmlns:m="http://schemas.openxmlformats.org/officeDocument/2006/math">
                                <m:sSub>
                                  <m:sSubPr>
                                    <m:ctrlPr>
                                      <a:rPr lang="en-US" sz="2700" b="0" i="1" smtClean="0">
                                        <a:latin typeface="Cambria Math" panose="02040503050406030204" pitchFamily="18" charset="0"/>
                                      </a:rPr>
                                    </m:ctrlPr>
                                  </m:sSubPr>
                                  <m:e>
                                    <m:r>
                                      <a:rPr lang="en-US" sz="2700" b="0" i="1" smtClean="0">
                                        <a:latin typeface="Cambria Math" panose="02040503050406030204" pitchFamily="18" charset="0"/>
                                      </a:rPr>
                                      <m:t>𝑇</m:t>
                                    </m:r>
                                  </m:e>
                                  <m:sub>
                                    <m:r>
                                      <a:rPr lang="en-US" sz="2700" b="0" i="1" smtClean="0">
                                        <a:latin typeface="Cambria Math" panose="02040503050406030204" pitchFamily="18" charset="0"/>
                                      </a:rPr>
                                      <m:t>𝑛</m:t>
                                    </m:r>
                                    <m:r>
                                      <a:rPr lang="en-US" sz="2700" b="0" i="1" smtClean="0">
                                        <a:latin typeface="Cambria Math" panose="02040503050406030204" pitchFamily="18" charset="0"/>
                                      </a:rPr>
                                      <m:t>−1</m:t>
                                    </m:r>
                                  </m:sub>
                                </m:sSub>
                                <m:r>
                                  <a:rPr lang="en-US" sz="2700" b="0" i="1" smtClean="0">
                                    <a:latin typeface="Cambria Math" panose="02040503050406030204" pitchFamily="18" charset="0"/>
                                  </a:rPr>
                                  <m:t>=</m:t>
                                </m:r>
                                <m:f>
                                  <m:fPr>
                                    <m:ctrlPr>
                                      <a:rPr lang="en-US" sz="2700" i="1" smtClean="0">
                                        <a:latin typeface="Cambria Math" panose="02040503050406030204" pitchFamily="18" charset="0"/>
                                      </a:rPr>
                                    </m:ctrlPr>
                                  </m:fPr>
                                  <m:num>
                                    <m:acc>
                                      <m:accPr>
                                        <m:chr m:val="̅"/>
                                        <m:ctrlPr>
                                          <a:rPr lang="en-US" sz="2700" i="1">
                                            <a:latin typeface="Cambria Math" panose="02040503050406030204" pitchFamily="18" charset="0"/>
                                          </a:rPr>
                                        </m:ctrlPr>
                                      </m:accPr>
                                      <m:e>
                                        <m:r>
                                          <a:rPr lang="en-US" sz="2700" i="1">
                                            <a:latin typeface="Cambria Math" panose="02040503050406030204" pitchFamily="18" charset="0"/>
                                          </a:rPr>
                                          <m:t>𝑋</m:t>
                                        </m:r>
                                      </m:e>
                                    </m:acc>
                                    <m:r>
                                      <a:rPr lang="en-US" sz="2700" i="1">
                                        <a:latin typeface="Cambria Math" panose="02040503050406030204" pitchFamily="18" charset="0"/>
                                      </a:rPr>
                                      <m:t>−</m:t>
                                    </m:r>
                                    <m:sSub>
                                      <m:sSubPr>
                                        <m:ctrlPr>
                                          <a:rPr lang="en-US" sz="2700" i="1">
                                            <a:latin typeface="Cambria Math" panose="02040503050406030204" pitchFamily="18" charset="0"/>
                                          </a:rPr>
                                        </m:ctrlPr>
                                      </m:sSubPr>
                                      <m:e>
                                        <m:r>
                                          <a:rPr lang="en-US" sz="2700" i="1">
                                            <a:latin typeface="Cambria Math" panose="02040503050406030204" pitchFamily="18" charset="0"/>
                                          </a:rPr>
                                          <m:t>𝜇</m:t>
                                        </m:r>
                                      </m:e>
                                      <m:sub>
                                        <m:r>
                                          <a:rPr lang="en-US" sz="2700" i="1">
                                            <a:latin typeface="Cambria Math" panose="02040503050406030204" pitchFamily="18" charset="0"/>
                                          </a:rPr>
                                          <m:t>0</m:t>
                                        </m:r>
                                      </m:sub>
                                    </m:sSub>
                                  </m:num>
                                  <m:den>
                                    <m:rad>
                                      <m:radPr>
                                        <m:degHide m:val="on"/>
                                        <m:ctrlPr>
                                          <a:rPr lang="en-US" sz="2700" i="1">
                                            <a:latin typeface="Cambria Math" panose="02040503050406030204" pitchFamily="18" charset="0"/>
                                          </a:rPr>
                                        </m:ctrlPr>
                                      </m:radPr>
                                      <m:deg/>
                                      <m:e>
                                        <m:f>
                                          <m:fPr>
                                            <m:ctrlPr>
                                              <a:rPr lang="en-US" sz="2700" i="1">
                                                <a:latin typeface="Cambria Math" panose="02040503050406030204" pitchFamily="18" charset="0"/>
                                              </a:rPr>
                                            </m:ctrlPr>
                                          </m:fPr>
                                          <m:num>
                                            <m:sSup>
                                              <m:sSupPr>
                                                <m:ctrlPr>
                                                  <a:rPr lang="en-US" sz="2700" i="1">
                                                    <a:latin typeface="Cambria Math" panose="02040503050406030204" pitchFamily="18" charset="0"/>
                                                  </a:rPr>
                                                </m:ctrlPr>
                                              </m:sSupPr>
                                              <m:e>
                                                <m:r>
                                                  <a:rPr lang="en-US" sz="2700" b="0" i="1" smtClean="0">
                                                    <a:latin typeface="Cambria Math" panose="02040503050406030204" pitchFamily="18" charset="0"/>
                                                  </a:rPr>
                                                  <m:t>𝑠</m:t>
                                                </m:r>
                                              </m:e>
                                              <m:sup>
                                                <m:r>
                                                  <a:rPr lang="en-US" sz="2700" i="1">
                                                    <a:latin typeface="Cambria Math" panose="02040503050406030204" pitchFamily="18" charset="0"/>
                                                  </a:rPr>
                                                  <m:t>2</m:t>
                                                </m:r>
                                              </m:sup>
                                            </m:sSup>
                                          </m:num>
                                          <m:den>
                                            <m:r>
                                              <a:rPr lang="en-US" sz="2700" i="1">
                                                <a:latin typeface="Cambria Math" panose="02040503050406030204" pitchFamily="18" charset="0"/>
                                              </a:rPr>
                                              <m:t>𝑛</m:t>
                                            </m:r>
                                          </m:den>
                                        </m:f>
                                      </m:e>
                                    </m:rad>
                                  </m:den>
                                </m:f>
                              </m:oMath>
                            </m:oMathPara>
                          </a14:m>
                          <a:endParaRPr lang="en-US" sz="2700" dirty="0"/>
                        </a:p>
                      </a:txBody>
                      <a:tcPr marL="121920" marR="121920" marT="60960" marB="60960"/>
                    </a:tc>
                    <a:extLst>
                      <a:ext uri="{0D108BD9-81ED-4DB2-BD59-A6C34878D82A}">
                        <a16:rowId xmlns:a16="http://schemas.microsoft.com/office/drawing/2014/main" val="2665732580"/>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3853895345"/>
                  </p:ext>
                </p:extLst>
              </p:nvPr>
            </p:nvGraphicFramePr>
            <p:xfrm>
              <a:off x="479999" y="1296000"/>
              <a:ext cx="6384000" cy="4906264"/>
            </p:xfrm>
            <a:graphic>
              <a:graphicData uri="http://schemas.openxmlformats.org/drawingml/2006/table">
                <a:tbl>
                  <a:tblPr firstRow="1" firstCol="1" bandRow="1">
                    <a:tableStyleId>{5C22544A-7EE6-4342-B048-85BDC9FD1C3A}</a:tableStyleId>
                  </a:tblPr>
                  <a:tblGrid>
                    <a:gridCol w="2688000">
                      <a:extLst>
                        <a:ext uri="{9D8B030D-6E8A-4147-A177-3AD203B41FA5}">
                          <a16:colId xmlns:a16="http://schemas.microsoft.com/office/drawing/2014/main" val="4013297149"/>
                        </a:ext>
                      </a:extLst>
                    </a:gridCol>
                    <a:gridCol w="3696000">
                      <a:extLst>
                        <a:ext uri="{9D8B030D-6E8A-4147-A177-3AD203B41FA5}">
                          <a16:colId xmlns:a16="http://schemas.microsoft.com/office/drawing/2014/main" val="2929873868"/>
                        </a:ext>
                      </a:extLst>
                    </a:gridCol>
                  </a:tblGrid>
                  <a:tr h="944880">
                    <a:tc>
                      <a:txBody>
                        <a:bodyPr/>
                        <a:lstStyle/>
                        <a:p>
                          <a:endParaRPr lang="en-US"/>
                        </a:p>
                      </a:txBody>
                      <a:tcPr marL="121920" marR="121920" marT="60960" marB="60960">
                        <a:blipFill>
                          <a:blip r:embed="rId9"/>
                          <a:stretch>
                            <a:fillRect l="-472" t="-164000" r="-138679" b="-614667"/>
                          </a:stretch>
                        </a:blipFill>
                      </a:tcPr>
                    </a:tc>
                    <a:tc>
                      <a:txBody>
                        <a:bodyPr/>
                        <a:lstStyle/>
                        <a:p>
                          <a:endParaRPr lang="en-US"/>
                        </a:p>
                      </a:txBody>
                      <a:tcPr marL="121920" marR="121920" marT="60960" marB="60960">
                        <a:blipFill>
                          <a:blip r:embed="rId9"/>
                          <a:stretch>
                            <a:fillRect l="-72945" t="-164000" r="-685" b="-614667"/>
                          </a:stretch>
                        </a:blipFill>
                      </a:tcPr>
                    </a:tc>
                    <a:extLst>
                      <a:ext uri="{0D108BD9-81ED-4DB2-BD59-A6C34878D82A}">
                        <a16:rowId xmlns:a16="http://schemas.microsoft.com/office/drawing/2014/main" val="821838495"/>
                      </a:ext>
                    </a:extLst>
                  </a:tr>
                  <a:tr h="533400">
                    <a:tc>
                      <a:txBody>
                        <a:bodyPr/>
                        <a:lstStyle/>
                        <a:p>
                          <a:r>
                            <a:rPr lang="en-US" sz="2700" b="1" dirty="0">
                              <a:ea typeface="Cambria Math" panose="02040503050406030204" pitchFamily="18" charset="0"/>
                            </a:rPr>
                            <a:t>Null hypothesis</a:t>
                          </a:r>
                          <a:endParaRPr lang="en-US" sz="2700" dirty="0"/>
                        </a:p>
                      </a:txBody>
                      <a:tcPr marL="121920" marR="121920" marT="60960" marB="60960"/>
                    </a:tc>
                    <a:tc>
                      <a:txBody>
                        <a:bodyPr/>
                        <a:lstStyle/>
                        <a:p>
                          <a:endParaRPr lang="en-US"/>
                        </a:p>
                      </a:txBody>
                      <a:tcPr marL="121920" marR="121920" marT="60960" marB="60960">
                        <a:blipFill>
                          <a:blip r:embed="rId9"/>
                          <a:stretch>
                            <a:fillRect l="-72945" t="-471429" r="-685" b="-997619"/>
                          </a:stretch>
                        </a:blipFill>
                      </a:tcPr>
                    </a:tc>
                    <a:extLst>
                      <a:ext uri="{0D108BD9-81ED-4DB2-BD59-A6C34878D82A}">
                        <a16:rowId xmlns:a16="http://schemas.microsoft.com/office/drawing/2014/main" val="4133731926"/>
                      </a:ext>
                    </a:extLst>
                  </a:tr>
                  <a:tr h="143560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700" b="1" dirty="0">
                              <a:ea typeface="Cambria Math" panose="02040503050406030204" pitchFamily="18" charset="0"/>
                            </a:rPr>
                            <a:t>Alternative hypothesis</a:t>
                          </a:r>
                          <a:endParaRPr lang="en-US" sz="2700" dirty="0"/>
                        </a:p>
                      </a:txBody>
                      <a:tcPr marL="121920" marR="121920" marT="60960" marB="60960"/>
                    </a:tc>
                    <a:tc>
                      <a:txBody>
                        <a:bodyPr/>
                        <a:lstStyle/>
                        <a:p>
                          <a:endParaRPr lang="en-US"/>
                        </a:p>
                      </a:txBody>
                      <a:tcPr marL="121920" marR="121920" marT="60960" marB="60960">
                        <a:blipFill>
                          <a:blip r:embed="rId9"/>
                          <a:stretch>
                            <a:fillRect l="-72945" t="-212389" r="-685" b="-270796"/>
                          </a:stretch>
                        </a:blipFill>
                      </a:tcPr>
                    </a:tc>
                    <a:extLst>
                      <a:ext uri="{0D108BD9-81ED-4DB2-BD59-A6C34878D82A}">
                        <a16:rowId xmlns:a16="http://schemas.microsoft.com/office/drawing/2014/main" val="1347873052"/>
                      </a:ext>
                    </a:extLst>
                  </a:tr>
                  <a:tr h="533400">
                    <a:tc>
                      <a:txBody>
                        <a:bodyPr/>
                        <a:lstStyle/>
                        <a:p>
                          <a:r>
                            <a:rPr lang="en-US" sz="2700" dirty="0"/>
                            <a:t>Significance</a:t>
                          </a:r>
                          <a:r>
                            <a:rPr lang="en-US" sz="2700" baseline="0" dirty="0"/>
                            <a:t> level</a:t>
                          </a:r>
                          <a:endParaRPr lang="en-US" sz="2700" dirty="0"/>
                        </a:p>
                      </a:txBody>
                      <a:tcPr marL="121920" marR="121920" marT="60960" marB="60960"/>
                    </a:tc>
                    <a:tc>
                      <a:txBody>
                        <a:bodyPr/>
                        <a:lstStyle/>
                        <a:p>
                          <a:endParaRPr lang="en-US"/>
                        </a:p>
                      </a:txBody>
                      <a:tcPr marL="121920" marR="121920" marT="60960" marB="60960">
                        <a:blipFill>
                          <a:blip r:embed="rId9"/>
                          <a:stretch>
                            <a:fillRect l="-72945" t="-840476" r="-685" b="-628571"/>
                          </a:stretch>
                        </a:blipFill>
                      </a:tcPr>
                    </a:tc>
                    <a:extLst>
                      <a:ext uri="{0D108BD9-81ED-4DB2-BD59-A6C34878D82A}">
                        <a16:rowId xmlns:a16="http://schemas.microsoft.com/office/drawing/2014/main" val="1085276441"/>
                      </a:ext>
                    </a:extLst>
                  </a:tr>
                  <a:tr h="1458976">
                    <a:tc>
                      <a:txBody>
                        <a:bodyPr/>
                        <a:lstStyle/>
                        <a:p>
                          <a:endParaRPr lang="en-US"/>
                        </a:p>
                      </a:txBody>
                      <a:tcPr marL="121920" marR="121920" marT="60960" marB="60960">
                        <a:blipFill>
                          <a:blip r:embed="rId9"/>
                          <a:stretch>
                            <a:fillRect l="-472" t="-343478" r="-138679" b="-129565"/>
                          </a:stretch>
                        </a:blipFill>
                      </a:tcPr>
                    </a:tc>
                    <a:tc>
                      <a:txBody>
                        <a:bodyPr/>
                        <a:lstStyle/>
                        <a:p>
                          <a:endParaRPr lang="en-US"/>
                        </a:p>
                      </a:txBody>
                      <a:tcPr marL="121920" marR="121920" marT="60960" marB="60960">
                        <a:blipFill>
                          <a:blip r:embed="rId9"/>
                          <a:stretch>
                            <a:fillRect l="-72945" t="-343478" r="-685" b="-129565"/>
                          </a:stretch>
                        </a:blipFill>
                      </a:tcPr>
                    </a:tc>
                    <a:extLst>
                      <a:ext uri="{0D108BD9-81ED-4DB2-BD59-A6C34878D82A}">
                        <a16:rowId xmlns:a16="http://schemas.microsoft.com/office/drawing/2014/main" val="2665732580"/>
                      </a:ext>
                    </a:extLst>
                  </a:tr>
                </a:tbl>
              </a:graphicData>
            </a:graphic>
          </p:graphicFrame>
        </mc:Fallback>
      </mc:AlternateContent>
    </p:spTree>
    <p:extLst>
      <p:ext uri="{BB962C8B-B14F-4D97-AF65-F5344CB8AC3E}">
        <p14:creationId xmlns:p14="http://schemas.microsoft.com/office/powerpoint/2010/main" val="16163754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EADE3-4912-A112-C2D7-B23D44202854}"/>
              </a:ext>
            </a:extLst>
          </p:cNvPr>
          <p:cNvSpPr>
            <a:spLocks noGrp="1"/>
          </p:cNvSpPr>
          <p:nvPr>
            <p:ph type="title"/>
          </p:nvPr>
        </p:nvSpPr>
        <p:spPr/>
        <p:txBody>
          <a:bodyPr/>
          <a:lstStyle/>
          <a:p>
            <a:r>
              <a:rPr lang="en-US" dirty="0"/>
              <a:t>Example 1: Numeric Outcome, two groups</a:t>
            </a:r>
          </a:p>
        </p:txBody>
      </p:sp>
      <p:sp>
        <p:nvSpPr>
          <p:cNvPr id="3" name="Content Placeholder 2">
            <a:extLst>
              <a:ext uri="{FF2B5EF4-FFF2-40B4-BE49-F238E27FC236}">
                <a16:creationId xmlns:a16="http://schemas.microsoft.com/office/drawing/2014/main" id="{6680714A-9E79-4F41-6244-3A7CE25CCEAC}"/>
              </a:ext>
            </a:extLst>
          </p:cNvPr>
          <p:cNvSpPr>
            <a:spLocks noGrp="1"/>
          </p:cNvSpPr>
          <p:nvPr>
            <p:ph idx="1"/>
          </p:nvPr>
        </p:nvSpPr>
        <p:spPr/>
        <p:txBody>
          <a:bodyPr/>
          <a:lstStyle/>
          <a:p>
            <a:r>
              <a:rPr lang="en-US" b="1" dirty="0"/>
              <a:t>Research Q</a:t>
            </a:r>
            <a:r>
              <a:rPr lang="en-US" dirty="0"/>
              <a:t>: Do students find Python code more </a:t>
            </a:r>
            <a:r>
              <a:rPr lang="en-US" dirty="0" err="1"/>
              <a:t>readeable</a:t>
            </a:r>
            <a:r>
              <a:rPr lang="en-US" dirty="0"/>
              <a:t> than Java code? </a:t>
            </a:r>
          </a:p>
          <a:p>
            <a:r>
              <a:rPr lang="en-US" b="1" dirty="0"/>
              <a:t>Outcome</a:t>
            </a:r>
            <a:r>
              <a:rPr lang="en-US" dirty="0"/>
              <a:t>: Time to correct answer, continuous positive-valued variable, in seconds</a:t>
            </a:r>
          </a:p>
          <a:p>
            <a:r>
              <a:rPr lang="en-US" b="1" dirty="0"/>
              <a:t>Groups</a:t>
            </a:r>
            <a:r>
              <a:rPr lang="en-US" dirty="0"/>
              <a:t>: Python vs Java</a:t>
            </a:r>
          </a:p>
          <a:p>
            <a:r>
              <a:rPr lang="en-US" b="1" dirty="0"/>
              <a:t>Test</a:t>
            </a:r>
            <a:r>
              <a:rPr lang="en-US" dirty="0"/>
              <a:t>: Welch t-test if independent groups</a:t>
            </a:r>
          </a:p>
          <a:p>
            <a:endParaRPr lang="en-US" dirty="0"/>
          </a:p>
        </p:txBody>
      </p:sp>
    </p:spTree>
    <p:extLst>
      <p:ext uri="{BB962C8B-B14F-4D97-AF65-F5344CB8AC3E}">
        <p14:creationId xmlns:p14="http://schemas.microsoft.com/office/powerpoint/2010/main" val="36159313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0B084-4530-1B9A-F6CD-67353F425252}"/>
              </a:ext>
            </a:extLst>
          </p:cNvPr>
          <p:cNvSpPr>
            <a:spLocks noGrp="1"/>
          </p:cNvSpPr>
          <p:nvPr>
            <p:ph type="title"/>
          </p:nvPr>
        </p:nvSpPr>
        <p:spPr/>
        <p:txBody>
          <a:bodyPr/>
          <a:lstStyle/>
          <a:p>
            <a:r>
              <a:rPr lang="en-US" dirty="0"/>
              <a:t>Example 1: Numeric Outcome, two groups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5FAB3A-E602-ADA2-3B7D-BD5ACEF599BF}"/>
                  </a:ext>
                </a:extLst>
              </p:cNvPr>
              <p:cNvSpPr>
                <a:spLocks noGrp="1"/>
              </p:cNvSpPr>
              <p:nvPr>
                <p:ph idx="1"/>
              </p:nvPr>
            </p:nvSpPr>
            <p:spPr/>
            <p:txBody>
              <a:bodyPr/>
              <a:lstStyle/>
              <a:p>
                <a:r>
                  <a:rPr lang="en-US" dirty="0"/>
                  <a:t>Interpretation template for results:</a:t>
                </a:r>
              </a:p>
              <a:p>
                <a:endParaRPr lang="en-US" dirty="0"/>
              </a:p>
              <a:p>
                <a:pPr marL="0" indent="0">
                  <a:buNone/>
                </a:pPr>
                <a:r>
                  <a:rPr lang="en-US" sz="2400" dirty="0"/>
                  <a:t>Students shown Python code answered in </a:t>
                </a:r>
                <a14:m>
                  <m:oMath xmlns:m="http://schemas.openxmlformats.org/officeDocument/2006/math">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𝑅𝑇</m:t>
                            </m:r>
                          </m:e>
                        </m:acc>
                      </m:e>
                      <m:sub>
                        <m:r>
                          <a:rPr lang="en-US" sz="2400" i="1">
                            <a:latin typeface="Cambria Math" panose="02040503050406030204" pitchFamily="18" charset="0"/>
                          </a:rPr>
                          <m:t>𝑃𝑦𝑡h𝑜𝑛</m:t>
                        </m:r>
                      </m:sub>
                    </m:sSub>
                  </m:oMath>
                </a14:m>
                <a:r>
                  <a:rPr lang="en-US" sz="2400" dirty="0"/>
                  <a:t>= 18.2s on average, while students shown Java code answered in </a:t>
                </a:r>
                <a14:m>
                  <m:oMath xmlns:m="http://schemas.openxmlformats.org/officeDocument/2006/math">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𝑅𝑇</m:t>
                            </m:r>
                          </m:e>
                        </m:acc>
                      </m:e>
                      <m:sub>
                        <m:r>
                          <a:rPr lang="en-US" sz="2400" b="0" i="1" smtClean="0">
                            <a:latin typeface="Cambria Math" panose="02040503050406030204" pitchFamily="18" charset="0"/>
                          </a:rPr>
                          <m:t>𝐽𝑎𝑣𝑎</m:t>
                        </m:r>
                      </m:sub>
                    </m:sSub>
                  </m:oMath>
                </a14:m>
                <a:r>
                  <a:rPr lang="en-US" sz="2400" dirty="0"/>
                  <a:t> = 24.7s. A Welch two-sample t-test found evidence of a difference, t(</a:t>
                </a:r>
                <a:r>
                  <a:rPr lang="en-US" sz="2400" dirty="0" err="1"/>
                  <a:t>df</a:t>
                </a:r>
                <a:r>
                  <a:rPr lang="en-US" sz="2400" dirty="0"/>
                  <a:t>) = X, p = Y. The estimated mean difference was 6.5 seconds, with a 95% CI of [lower, upper]. This suggests that, in this sample, Python snippets were solved faster. However, this does not prove Python is universally more readable; snippet difficulty and prior experience likely confound the result.</a:t>
                </a:r>
              </a:p>
            </p:txBody>
          </p:sp>
        </mc:Choice>
        <mc:Fallback xmlns="">
          <p:sp>
            <p:nvSpPr>
              <p:cNvPr id="3" name="Content Placeholder 2">
                <a:extLst>
                  <a:ext uri="{FF2B5EF4-FFF2-40B4-BE49-F238E27FC236}">
                    <a16:creationId xmlns:a16="http://schemas.microsoft.com/office/drawing/2014/main" id="{CF5FAB3A-E602-ADA2-3B7D-BD5ACEF599BF}"/>
                  </a:ext>
                </a:extLst>
              </p:cNvPr>
              <p:cNvSpPr>
                <a:spLocks noGrp="1" noRot="1" noChangeAspect="1" noMove="1" noResize="1" noEditPoints="1" noAdjustHandles="1" noChangeArrowheads="1" noChangeShapeType="1" noTextEdit="1"/>
              </p:cNvSpPr>
              <p:nvPr>
                <p:ph idx="1"/>
              </p:nvPr>
            </p:nvSpPr>
            <p:spPr>
              <a:blipFill>
                <a:blip r:embed="rId2"/>
                <a:stretch>
                  <a:fillRect l="-2740" t="-3704" r="-457"/>
                </a:stretch>
              </a:blipFill>
            </p:spPr>
            <p:txBody>
              <a:bodyPr/>
              <a:lstStyle/>
              <a:p>
                <a:r>
                  <a:rPr lang="en-US">
                    <a:noFill/>
                  </a:rPr>
                  <a:t> </a:t>
                </a:r>
              </a:p>
            </p:txBody>
          </p:sp>
        </mc:Fallback>
      </mc:AlternateContent>
    </p:spTree>
    <p:extLst>
      <p:ext uri="{BB962C8B-B14F-4D97-AF65-F5344CB8AC3E}">
        <p14:creationId xmlns:p14="http://schemas.microsoft.com/office/powerpoint/2010/main" val="10497394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567AC-61E6-EA67-8002-E7340B4F2B2B}"/>
              </a:ext>
            </a:extLst>
          </p:cNvPr>
          <p:cNvSpPr>
            <a:spLocks noGrp="1"/>
          </p:cNvSpPr>
          <p:nvPr>
            <p:ph type="title"/>
          </p:nvPr>
        </p:nvSpPr>
        <p:spPr/>
        <p:txBody>
          <a:bodyPr>
            <a:normAutofit fontScale="90000"/>
          </a:bodyPr>
          <a:lstStyle/>
          <a:p>
            <a:r>
              <a:rPr lang="en-US" dirty="0"/>
              <a:t>Example 2: Numeric (ordinal) outcome, 3+ groups</a:t>
            </a:r>
          </a:p>
        </p:txBody>
      </p:sp>
      <p:sp>
        <p:nvSpPr>
          <p:cNvPr id="3" name="Content Placeholder 2">
            <a:extLst>
              <a:ext uri="{FF2B5EF4-FFF2-40B4-BE49-F238E27FC236}">
                <a16:creationId xmlns:a16="http://schemas.microsoft.com/office/drawing/2014/main" id="{1C62DCE4-50B2-ACE6-E0E3-7DA4A815ACFD}"/>
              </a:ext>
            </a:extLst>
          </p:cNvPr>
          <p:cNvSpPr>
            <a:spLocks noGrp="1"/>
          </p:cNvSpPr>
          <p:nvPr>
            <p:ph idx="1"/>
          </p:nvPr>
        </p:nvSpPr>
        <p:spPr/>
        <p:txBody>
          <a:bodyPr/>
          <a:lstStyle/>
          <a:p>
            <a:r>
              <a:rPr lang="en-US" b="1" dirty="0"/>
              <a:t>Research Q</a:t>
            </a:r>
            <a:r>
              <a:rPr lang="en-US" dirty="0"/>
              <a:t>: Do restaurant ratings differ by cuisine type?</a:t>
            </a:r>
          </a:p>
          <a:p>
            <a:r>
              <a:rPr lang="en-US" b="1" dirty="0"/>
              <a:t>Outcome</a:t>
            </a:r>
            <a:r>
              <a:rPr lang="en-US" dirty="0"/>
              <a:t>: rating from 1–7.</a:t>
            </a:r>
          </a:p>
          <a:p>
            <a:r>
              <a:rPr lang="en-US" b="1" dirty="0"/>
              <a:t>Groups</a:t>
            </a:r>
            <a:r>
              <a:rPr lang="en-US" dirty="0"/>
              <a:t>: Italian, Chinese, French, etc.</a:t>
            </a:r>
          </a:p>
          <a:p>
            <a:r>
              <a:rPr lang="en-US" b="1" dirty="0"/>
              <a:t>Test</a:t>
            </a:r>
            <a:r>
              <a:rPr lang="en-US" dirty="0"/>
              <a:t>: One-way ANOVA. Or pairwise </a:t>
            </a:r>
            <a:r>
              <a:rPr lang="en-US" sz="4000" dirty="0"/>
              <a:t>Mann–Whitney / Wilcoxon / Kruskal–Wallis tests.</a:t>
            </a:r>
          </a:p>
          <a:p>
            <a:pPr lvl="1"/>
            <a:r>
              <a:rPr lang="en-US" sz="2666" dirty="0"/>
              <a:t>ANOVA only says there </a:t>
            </a:r>
            <a:r>
              <a:rPr lang="en-US" sz="2666" b="1" dirty="0"/>
              <a:t>are</a:t>
            </a:r>
            <a:r>
              <a:rPr lang="en-US" sz="2666" dirty="0"/>
              <a:t> differences (by looking at between-group variation against within-group variation), but not between any particular pair – need to do follow up tests for that.</a:t>
            </a:r>
          </a:p>
        </p:txBody>
      </p:sp>
    </p:spTree>
    <p:extLst>
      <p:ext uri="{BB962C8B-B14F-4D97-AF65-F5344CB8AC3E}">
        <p14:creationId xmlns:p14="http://schemas.microsoft.com/office/powerpoint/2010/main" val="4032478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C4529-8B11-74D2-5FB5-A8DD3107FF9F}"/>
              </a:ext>
            </a:extLst>
          </p:cNvPr>
          <p:cNvSpPr>
            <a:spLocks noGrp="1"/>
          </p:cNvSpPr>
          <p:nvPr>
            <p:ph type="title"/>
          </p:nvPr>
        </p:nvSpPr>
        <p:spPr/>
        <p:txBody>
          <a:bodyPr/>
          <a:lstStyle/>
          <a:p>
            <a:r>
              <a:rPr lang="en-US" dirty="0"/>
              <a:t>Example 3: Numeric outcome, 3+ groups</a:t>
            </a:r>
          </a:p>
        </p:txBody>
      </p:sp>
      <p:sp>
        <p:nvSpPr>
          <p:cNvPr id="3" name="Content Placeholder 2">
            <a:extLst>
              <a:ext uri="{FF2B5EF4-FFF2-40B4-BE49-F238E27FC236}">
                <a16:creationId xmlns:a16="http://schemas.microsoft.com/office/drawing/2014/main" id="{BD98813A-BADE-C91B-357B-5136E8739F92}"/>
              </a:ext>
            </a:extLst>
          </p:cNvPr>
          <p:cNvSpPr>
            <a:spLocks noGrp="1"/>
          </p:cNvSpPr>
          <p:nvPr>
            <p:ph idx="1"/>
          </p:nvPr>
        </p:nvSpPr>
        <p:spPr/>
        <p:txBody>
          <a:bodyPr/>
          <a:lstStyle/>
          <a:p>
            <a:r>
              <a:rPr lang="en-US" dirty="0"/>
              <a:t>Interpretation template for results:</a:t>
            </a:r>
          </a:p>
          <a:p>
            <a:endParaRPr lang="en-US" dirty="0"/>
          </a:p>
          <a:p>
            <a:pPr marL="0" indent="0">
              <a:buNone/>
            </a:pPr>
            <a:r>
              <a:rPr lang="en-US" sz="2800" dirty="0"/>
              <a:t>A one-way ANOVA (a test that compares between-group variation to within-group variation) found that mean rating differed across cuisine conditions, F(</a:t>
            </a:r>
            <a:r>
              <a:rPr lang="en-US" sz="2800" dirty="0" err="1"/>
              <a:t>df_between</a:t>
            </a:r>
            <a:r>
              <a:rPr lang="en-US" sz="2800" dirty="0"/>
              <a:t>, </a:t>
            </a:r>
            <a:r>
              <a:rPr lang="en-US" sz="2800" dirty="0" err="1"/>
              <a:t>df_within</a:t>
            </a:r>
            <a:r>
              <a:rPr lang="en-US" sz="2800" dirty="0"/>
              <a:t>) = X, p = Y. Because ANOVA only tells us that at least one group differs, follow-up pairwise comparisons using xxx (</a:t>
            </a:r>
            <a:r>
              <a:rPr lang="en-US" sz="2800" i="1" dirty="0"/>
              <a:t>use any of Mann–Whitney / Wilcoxon / Kruskal–Wallis</a:t>
            </a:r>
            <a:r>
              <a:rPr lang="en-US" sz="2800" dirty="0"/>
              <a:t>) were used to identify which cuisines differed. </a:t>
            </a:r>
          </a:p>
        </p:txBody>
      </p:sp>
    </p:spTree>
    <p:extLst>
      <p:ext uri="{BB962C8B-B14F-4D97-AF65-F5344CB8AC3E}">
        <p14:creationId xmlns:p14="http://schemas.microsoft.com/office/powerpoint/2010/main" val="1627301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A99CD-F0A5-3087-7964-FDDC8D36E0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852961-BA64-12F7-4FEB-4D8DC2749196}"/>
              </a:ext>
            </a:extLst>
          </p:cNvPr>
          <p:cNvSpPr>
            <a:spLocks noGrp="1"/>
          </p:cNvSpPr>
          <p:nvPr>
            <p:ph type="title"/>
          </p:nvPr>
        </p:nvSpPr>
        <p:spPr/>
        <p:txBody>
          <a:bodyPr/>
          <a:lstStyle/>
          <a:p>
            <a:r>
              <a:rPr lang="en-US" dirty="0"/>
              <a:t>Example 3: Categorical outcomes </a:t>
            </a:r>
          </a:p>
        </p:txBody>
      </p:sp>
      <p:sp>
        <p:nvSpPr>
          <p:cNvPr id="3" name="Content Placeholder 2">
            <a:extLst>
              <a:ext uri="{FF2B5EF4-FFF2-40B4-BE49-F238E27FC236}">
                <a16:creationId xmlns:a16="http://schemas.microsoft.com/office/drawing/2014/main" id="{3883170B-FC69-C68F-F9D3-7E22BDAF4579}"/>
              </a:ext>
            </a:extLst>
          </p:cNvPr>
          <p:cNvSpPr>
            <a:spLocks noGrp="1"/>
          </p:cNvSpPr>
          <p:nvPr>
            <p:ph idx="1"/>
          </p:nvPr>
        </p:nvSpPr>
        <p:spPr/>
        <p:txBody>
          <a:bodyPr/>
          <a:lstStyle/>
          <a:p>
            <a:r>
              <a:rPr lang="en-US" b="1" dirty="0"/>
              <a:t>Research Q</a:t>
            </a:r>
            <a:r>
              <a:rPr lang="en-US" dirty="0"/>
              <a:t>: Does dark mode affect whether students detect a planted code error?</a:t>
            </a:r>
          </a:p>
          <a:p>
            <a:r>
              <a:rPr lang="en-US" b="1" dirty="0"/>
              <a:t>Outcome</a:t>
            </a:r>
            <a:r>
              <a:rPr lang="en-US" dirty="0"/>
              <a:t>: Detected error (yes/no).</a:t>
            </a:r>
          </a:p>
          <a:p>
            <a:r>
              <a:rPr lang="en-US" b="1" dirty="0"/>
              <a:t>Groups</a:t>
            </a:r>
            <a:r>
              <a:rPr lang="en-US" dirty="0"/>
              <a:t>: Dark mode/light mode.</a:t>
            </a:r>
          </a:p>
          <a:p>
            <a:r>
              <a:rPr lang="en-US" b="1" dirty="0"/>
              <a:t>Test</a:t>
            </a:r>
            <a:r>
              <a:rPr lang="en-US" dirty="0"/>
              <a:t>: Chi-square test of independence.</a:t>
            </a:r>
          </a:p>
          <a:p>
            <a:pPr lvl="1"/>
            <a:r>
              <a:rPr lang="en-US" sz="2666" dirty="0"/>
              <a:t>Chi-square tests counts, not percentages. Percentages are good for interpretation but the test needs counts, and in fact, it can fail to be a good way to test for association when the counts are too small (note that in limitations!).</a:t>
            </a:r>
          </a:p>
        </p:txBody>
      </p:sp>
    </p:spTree>
    <p:extLst>
      <p:ext uri="{BB962C8B-B14F-4D97-AF65-F5344CB8AC3E}">
        <p14:creationId xmlns:p14="http://schemas.microsoft.com/office/powerpoint/2010/main" val="24628385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5A022-1838-1DFD-BF1E-637CD7287670}"/>
              </a:ext>
            </a:extLst>
          </p:cNvPr>
          <p:cNvSpPr>
            <a:spLocks noGrp="1"/>
          </p:cNvSpPr>
          <p:nvPr>
            <p:ph type="title"/>
          </p:nvPr>
        </p:nvSpPr>
        <p:spPr/>
        <p:txBody>
          <a:bodyPr/>
          <a:lstStyle/>
          <a:p>
            <a:r>
              <a:rPr lang="en-US" dirty="0"/>
              <a:t>Example 4: Two numeric variables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AB4BDF2-FCAD-69EB-5D62-18C2BB638B43}"/>
                  </a:ext>
                </a:extLst>
              </p:cNvPr>
              <p:cNvSpPr>
                <a:spLocks noGrp="1"/>
              </p:cNvSpPr>
              <p:nvPr>
                <p:ph idx="1"/>
              </p:nvPr>
            </p:nvSpPr>
            <p:spPr/>
            <p:txBody>
              <a:bodyPr/>
              <a:lstStyle/>
              <a:p>
                <a:r>
                  <a:rPr lang="en-US" b="1" dirty="0"/>
                  <a:t>Research Q</a:t>
                </a:r>
                <a:r>
                  <a:rPr lang="en-US" dirty="0"/>
                  <a:t>: Does reaction time for Python bug detection relate to reaction time for Java bug detection?</a:t>
                </a:r>
              </a:p>
              <a:p>
                <a:r>
                  <a:rPr lang="en-US" b="1" dirty="0"/>
                  <a:t>Outcome</a:t>
                </a:r>
                <a:r>
                  <a:rPr lang="en-US" dirty="0"/>
                  <a:t>: Reaction time (Java).</a:t>
                </a:r>
              </a:p>
              <a:p>
                <a:r>
                  <a:rPr lang="en-US" b="1" dirty="0"/>
                  <a:t>Groups</a:t>
                </a:r>
                <a:r>
                  <a:rPr lang="en-US" dirty="0"/>
                  <a:t>: None.</a:t>
                </a:r>
              </a:p>
              <a:p>
                <a:r>
                  <a:rPr lang="en-US" b="1" dirty="0"/>
                  <a:t>Test</a:t>
                </a:r>
                <a:r>
                  <a:rPr lang="en-US" dirty="0"/>
                  <a:t>: F-test for variance explained.</a:t>
                </a:r>
              </a:p>
              <a:p>
                <a:pPr lvl="1"/>
                <a:r>
                  <a:rPr lang="en-US" sz="1866" dirty="0"/>
                  <a:t>If you fit a linear model where the </a:t>
                </a:r>
                <a14:m>
                  <m:oMath xmlns:m="http://schemas.openxmlformats.org/officeDocument/2006/math">
                    <m:r>
                      <a:rPr lang="en-US" sz="1866" b="0" i="1" smtClean="0">
                        <a:latin typeface="Cambria Math" panose="02040503050406030204" pitchFamily="18" charset="0"/>
                      </a:rPr>
                      <m:t>𝑋</m:t>
                    </m:r>
                  </m:oMath>
                </a14:m>
                <a:r>
                  <a:rPr lang="en-US" sz="1866" dirty="0"/>
                  <a:t> variable is reaction time for Python, and </a:t>
                </a:r>
                <a14:m>
                  <m:oMath xmlns:m="http://schemas.openxmlformats.org/officeDocument/2006/math">
                    <m:r>
                      <a:rPr lang="en-US" sz="1866" b="0" i="1" smtClean="0">
                        <a:latin typeface="Cambria Math" panose="02040503050406030204" pitchFamily="18" charset="0"/>
                      </a:rPr>
                      <m:t>𝑌</m:t>
                    </m:r>
                  </m:oMath>
                </a14:m>
                <a:r>
                  <a:rPr lang="en-US" sz="1866" dirty="0"/>
                  <a:t> variables is the reaction time for Java, then </a:t>
                </a:r>
                <a14:m>
                  <m:oMath xmlns:m="http://schemas.openxmlformats.org/officeDocument/2006/math">
                    <m:r>
                      <a:rPr lang="en-US" sz="1866" b="0" i="1" smtClean="0">
                        <a:latin typeface="Cambria Math" panose="02040503050406030204" pitchFamily="18" charset="0"/>
                      </a:rPr>
                      <m:t>𝑠𝑡𝑎𝑡𝑠</m:t>
                    </m:r>
                  </m:oMath>
                </a14:m>
                <a:r>
                  <a:rPr lang="en-US" sz="1866" dirty="0"/>
                  <a:t> models in Python will automatically give you the F-test for the relationship. Follow earlier templates to report results.</a:t>
                </a:r>
              </a:p>
              <a:p>
                <a:endParaRPr lang="en-US" dirty="0"/>
              </a:p>
            </p:txBody>
          </p:sp>
        </mc:Choice>
        <mc:Fallback xmlns="">
          <p:sp>
            <p:nvSpPr>
              <p:cNvPr id="3" name="Content Placeholder 2">
                <a:extLst>
                  <a:ext uri="{FF2B5EF4-FFF2-40B4-BE49-F238E27FC236}">
                    <a16:creationId xmlns:a16="http://schemas.microsoft.com/office/drawing/2014/main" id="{DAB4BDF2-FCAD-69EB-5D62-18C2BB638B43}"/>
                  </a:ext>
                </a:extLst>
              </p:cNvPr>
              <p:cNvSpPr>
                <a:spLocks noGrp="1" noRot="1" noChangeAspect="1" noMove="1" noResize="1" noEditPoints="1" noAdjustHandles="1" noChangeArrowheads="1" noChangeShapeType="1" noTextEdit="1"/>
              </p:cNvSpPr>
              <p:nvPr>
                <p:ph idx="1"/>
              </p:nvPr>
            </p:nvSpPr>
            <p:spPr>
              <a:blipFill>
                <a:blip r:embed="rId2"/>
                <a:stretch>
                  <a:fillRect l="-2740" t="-3704" r="-1256" b="-9972"/>
                </a:stretch>
              </a:blipFill>
            </p:spPr>
            <p:txBody>
              <a:bodyPr/>
              <a:lstStyle/>
              <a:p>
                <a:r>
                  <a:rPr lang="en-US">
                    <a:noFill/>
                  </a:rPr>
                  <a:t> </a:t>
                </a:r>
              </a:p>
            </p:txBody>
          </p:sp>
        </mc:Fallback>
      </mc:AlternateContent>
    </p:spTree>
    <p:extLst>
      <p:ext uri="{BB962C8B-B14F-4D97-AF65-F5344CB8AC3E}">
        <p14:creationId xmlns:p14="http://schemas.microsoft.com/office/powerpoint/2010/main" val="24299472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840BD-4B81-14FF-066E-B9A1AA826FD3}"/>
              </a:ext>
            </a:extLst>
          </p:cNvPr>
          <p:cNvSpPr>
            <a:spLocks noGrp="1"/>
          </p:cNvSpPr>
          <p:nvPr>
            <p:ph type="title"/>
          </p:nvPr>
        </p:nvSpPr>
        <p:spPr/>
        <p:txBody>
          <a:bodyPr/>
          <a:lstStyle/>
          <a:p>
            <a:r>
              <a:rPr lang="en-US" dirty="0"/>
              <a:t>The dead fish’s brain is active!</a:t>
            </a:r>
          </a:p>
        </p:txBody>
      </p:sp>
      <p:sp>
        <p:nvSpPr>
          <p:cNvPr id="3" name="Content Placeholder 2">
            <a:extLst>
              <a:ext uri="{FF2B5EF4-FFF2-40B4-BE49-F238E27FC236}">
                <a16:creationId xmlns:a16="http://schemas.microsoft.com/office/drawing/2014/main" id="{8CAB0626-E00A-FF58-3DC8-0F04A0D001F6}"/>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02014E30-0F9E-736B-CD52-D4389D253623}"/>
              </a:ext>
            </a:extLst>
          </p:cNvPr>
          <p:cNvPicPr>
            <a:picLocks noChangeAspect="1"/>
          </p:cNvPicPr>
          <p:nvPr/>
        </p:nvPicPr>
        <p:blipFill>
          <a:blip r:embed="rId3"/>
          <a:stretch>
            <a:fillRect/>
          </a:stretch>
        </p:blipFill>
        <p:spPr>
          <a:xfrm>
            <a:off x="712200" y="1116851"/>
            <a:ext cx="10999799" cy="2045914"/>
          </a:xfrm>
          <a:prstGeom prst="rect">
            <a:avLst/>
          </a:prstGeom>
        </p:spPr>
      </p:pic>
      <p:pic>
        <p:nvPicPr>
          <p:cNvPr id="1026" name="Picture 2" descr="Scanning Dead Salmon in fMRI Machine Highlights Risk of Red Herrings | WIRED">
            <a:extLst>
              <a:ext uri="{FF2B5EF4-FFF2-40B4-BE49-F238E27FC236}">
                <a16:creationId xmlns:a16="http://schemas.microsoft.com/office/drawing/2014/main" id="{07482C79-88E0-686C-FDEA-020F903FF4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2200" y="2298451"/>
            <a:ext cx="7149574" cy="389491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cience Fail Monday: How a dead salmon taught us about statistics – The  Pipettepen">
            <a:extLst>
              <a:ext uri="{FF2B5EF4-FFF2-40B4-BE49-F238E27FC236}">
                <a16:creationId xmlns:a16="http://schemas.microsoft.com/office/drawing/2014/main" id="{8B390041-0D82-E714-BB8D-1257F51A18D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43297"/>
          <a:stretch/>
        </p:blipFill>
        <p:spPr bwMode="auto">
          <a:xfrm>
            <a:off x="7861774" y="2232784"/>
            <a:ext cx="3830126" cy="42109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70039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4EB53-8BAB-244F-7781-2CF8288BFB3C}"/>
              </a:ext>
            </a:extLst>
          </p:cNvPr>
          <p:cNvSpPr>
            <a:spLocks noGrp="1"/>
          </p:cNvSpPr>
          <p:nvPr>
            <p:ph type="title"/>
          </p:nvPr>
        </p:nvSpPr>
        <p:spPr/>
        <p:txBody>
          <a:bodyPr/>
          <a:lstStyle/>
          <a:p>
            <a:r>
              <a:rPr lang="en-US" dirty="0"/>
              <a:t>P-values: Multiple Testing</a:t>
            </a:r>
          </a:p>
        </p:txBody>
      </p:sp>
      <p:sp>
        <p:nvSpPr>
          <p:cNvPr id="3" name="Content Placeholder 2">
            <a:extLst>
              <a:ext uri="{FF2B5EF4-FFF2-40B4-BE49-F238E27FC236}">
                <a16:creationId xmlns:a16="http://schemas.microsoft.com/office/drawing/2014/main" id="{A51E467E-CFF1-53CC-0863-38E0357FA74F}"/>
              </a:ext>
            </a:extLst>
          </p:cNvPr>
          <p:cNvSpPr>
            <a:spLocks noGrp="1"/>
          </p:cNvSpPr>
          <p:nvPr>
            <p:ph idx="1"/>
          </p:nvPr>
        </p:nvSpPr>
        <p:spPr/>
        <p:txBody>
          <a:bodyPr/>
          <a:lstStyle/>
          <a:p>
            <a:r>
              <a:rPr lang="en-US" sz="2800" dirty="0"/>
              <a:t>Consider what a p-value of 0.05 means. 1 in 20 tests will not reject the null and we get a Type 1 error. </a:t>
            </a:r>
          </a:p>
          <a:p>
            <a:r>
              <a:rPr lang="en-US" sz="2800" dirty="0"/>
              <a:t>In fact, even when doing just 10 tests, the chance of one significant value is at 40% meaning there is a 40% chance of a false positive (can you prove this to yourself?).</a:t>
            </a:r>
          </a:p>
          <a:p>
            <a:r>
              <a:rPr lang="en-US" sz="2800" dirty="0"/>
              <a:t>To fix this, if we’re doing 20 tests, we can be conservative and say that we will reduce the p-value to 0.05/20 or 0.0025 – this is called the Bonferroni correction.</a:t>
            </a:r>
          </a:p>
          <a:p>
            <a:r>
              <a:rPr lang="en-US" sz="2800" dirty="0"/>
              <a:t>So, for example, the tests at each site of the salmon’s brain could be carried out demanding a P-value of 0.05/8,000 = 0.00000625, or 1 in 160,000.</a:t>
            </a:r>
          </a:p>
          <a:p>
            <a:endParaRPr lang="en-US" sz="2800" dirty="0"/>
          </a:p>
          <a:p>
            <a:endParaRPr lang="en-US" sz="2800" dirty="0"/>
          </a:p>
        </p:txBody>
      </p:sp>
    </p:spTree>
    <p:extLst>
      <p:ext uri="{BB962C8B-B14F-4D97-AF65-F5344CB8AC3E}">
        <p14:creationId xmlns:p14="http://schemas.microsoft.com/office/powerpoint/2010/main" val="1958879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96C72-BA5A-6E9B-1762-A8C3D0F7DA63}"/>
              </a:ext>
            </a:extLst>
          </p:cNvPr>
          <p:cNvSpPr>
            <a:spLocks noGrp="1"/>
          </p:cNvSpPr>
          <p:nvPr>
            <p:ph type="title"/>
          </p:nvPr>
        </p:nvSpPr>
        <p:spPr/>
        <p:txBody>
          <a:bodyPr/>
          <a:lstStyle/>
          <a:p>
            <a:r>
              <a:rPr lang="en-US" dirty="0"/>
              <a:t>Other potential limitations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2FB553D-9158-7B60-7B1E-53E2C6B15019}"/>
                  </a:ext>
                </a:extLst>
              </p:cNvPr>
              <p:cNvSpPr>
                <a:spLocks noGrp="1"/>
              </p:cNvSpPr>
              <p:nvPr>
                <p:ph idx="1"/>
              </p:nvPr>
            </p:nvSpPr>
            <p:spPr/>
            <p:txBody>
              <a:bodyPr/>
              <a:lstStyle/>
              <a:p>
                <a:r>
                  <a:rPr lang="en-US" sz="4000" dirty="0"/>
                  <a:t>Don’t treat </a:t>
                </a:r>
                <a14:m>
                  <m:oMath xmlns:m="http://schemas.openxmlformats.org/officeDocument/2006/math">
                    <m:r>
                      <a:rPr lang="en-US" sz="4000" b="0" i="1" smtClean="0">
                        <a:latin typeface="Cambria Math" panose="02040503050406030204" pitchFamily="18" charset="0"/>
                      </a:rPr>
                      <m:t>𝑝</m:t>
                    </m:r>
                    <m:r>
                      <a:rPr lang="en-US" sz="4000" b="0" i="1" smtClean="0">
                        <a:latin typeface="Cambria Math" panose="02040503050406030204" pitchFamily="18" charset="0"/>
                      </a:rPr>
                      <m:t>&gt;0.05</m:t>
                    </m:r>
                  </m:oMath>
                </a14:m>
                <a:r>
                  <a:rPr lang="en-US" sz="4000" dirty="0"/>
                  <a:t> as suggesting no effect at all, instead try to interpret what happened (small sample size? Outliers? Etc.) and always give a confidence limit to help us judge strength of the effect.</a:t>
                </a:r>
              </a:p>
              <a:p>
                <a:r>
                  <a:rPr lang="en-US" sz="4000" dirty="0"/>
                  <a:t>Are the samples independent? Did people within a group talk to one another and influence the results?</a:t>
                </a:r>
              </a:p>
            </p:txBody>
          </p:sp>
        </mc:Choice>
        <mc:Fallback xmlns="">
          <p:sp>
            <p:nvSpPr>
              <p:cNvPr id="3" name="Content Placeholder 2">
                <a:extLst>
                  <a:ext uri="{FF2B5EF4-FFF2-40B4-BE49-F238E27FC236}">
                    <a16:creationId xmlns:a16="http://schemas.microsoft.com/office/drawing/2014/main" id="{52FB553D-9158-7B60-7B1E-53E2C6B15019}"/>
                  </a:ext>
                </a:extLst>
              </p:cNvPr>
              <p:cNvSpPr>
                <a:spLocks noGrp="1" noRot="1" noChangeAspect="1" noMove="1" noResize="1" noEditPoints="1" noAdjustHandles="1" noChangeArrowheads="1" noChangeShapeType="1" noTextEdit="1"/>
              </p:cNvSpPr>
              <p:nvPr>
                <p:ph idx="1"/>
              </p:nvPr>
            </p:nvSpPr>
            <p:spPr>
              <a:blipFill>
                <a:blip r:embed="rId2"/>
                <a:stretch>
                  <a:fillRect l="-2626" t="-3419" r="-685" b="-16524"/>
                </a:stretch>
              </a:blipFill>
            </p:spPr>
            <p:txBody>
              <a:bodyPr/>
              <a:lstStyle/>
              <a:p>
                <a:r>
                  <a:rPr lang="en-US">
                    <a:noFill/>
                  </a:rPr>
                  <a:t> </a:t>
                </a:r>
              </a:p>
            </p:txBody>
          </p:sp>
        </mc:Fallback>
      </mc:AlternateContent>
    </p:spTree>
    <p:extLst>
      <p:ext uri="{BB962C8B-B14F-4D97-AF65-F5344CB8AC3E}">
        <p14:creationId xmlns:p14="http://schemas.microsoft.com/office/powerpoint/2010/main" val="7810951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48ED0-9B39-0D19-D1D8-C3727DCA11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2E392B-A271-EAF1-A114-46AECABA62B5}"/>
              </a:ext>
            </a:extLst>
          </p:cNvPr>
          <p:cNvSpPr>
            <a:spLocks noGrp="1"/>
          </p:cNvSpPr>
          <p:nvPr>
            <p:ph type="title"/>
          </p:nvPr>
        </p:nvSpPr>
        <p:spPr/>
        <p:txBody>
          <a:bodyPr/>
          <a:lstStyle/>
          <a:p>
            <a:r>
              <a:rPr lang="en-US" dirty="0"/>
              <a:t>Other potential limitations</a:t>
            </a:r>
          </a:p>
        </p:txBody>
      </p:sp>
      <p:sp>
        <p:nvSpPr>
          <p:cNvPr id="3" name="Content Placeholder 2">
            <a:extLst>
              <a:ext uri="{FF2B5EF4-FFF2-40B4-BE49-F238E27FC236}">
                <a16:creationId xmlns:a16="http://schemas.microsoft.com/office/drawing/2014/main" id="{69B6C5FE-C6AD-9C8B-296F-AFAFB5601E56}"/>
              </a:ext>
            </a:extLst>
          </p:cNvPr>
          <p:cNvSpPr>
            <a:spLocks noGrp="1"/>
          </p:cNvSpPr>
          <p:nvPr>
            <p:ph idx="1"/>
          </p:nvPr>
        </p:nvSpPr>
        <p:spPr/>
        <p:txBody>
          <a:bodyPr/>
          <a:lstStyle/>
          <a:p>
            <a:r>
              <a:rPr lang="en-US" sz="4000" dirty="0"/>
              <a:t>When using ANOVA or t-tests make sure to check the assumptions. </a:t>
            </a:r>
          </a:p>
          <a:p>
            <a:r>
              <a:rPr lang="en-US" sz="4000" dirty="0"/>
              <a:t>In the example we discussed, I suggested ANOVA for ordinal data because it was reasonably continuous. But we could alternatively use tests that respect the fact that there are ordinal variables (see earlier table). </a:t>
            </a:r>
          </a:p>
        </p:txBody>
      </p:sp>
    </p:spTree>
    <p:extLst>
      <p:ext uri="{BB962C8B-B14F-4D97-AF65-F5344CB8AC3E}">
        <p14:creationId xmlns:p14="http://schemas.microsoft.com/office/powerpoint/2010/main" val="21586442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2AFBD-5BF1-28E9-E1B9-81B382AC97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DF9CD1-5C9C-7CEB-C22F-210040060EC6}"/>
              </a:ext>
            </a:extLst>
          </p:cNvPr>
          <p:cNvSpPr>
            <a:spLocks noGrp="1"/>
          </p:cNvSpPr>
          <p:nvPr>
            <p:ph type="title"/>
          </p:nvPr>
        </p:nvSpPr>
        <p:spPr/>
        <p:txBody>
          <a:bodyPr/>
          <a:lstStyle/>
          <a:p>
            <a:r>
              <a:rPr lang="en-US" dirty="0"/>
              <a:t>Other potential limitations</a:t>
            </a:r>
          </a:p>
        </p:txBody>
      </p:sp>
      <p:sp>
        <p:nvSpPr>
          <p:cNvPr id="3" name="Content Placeholder 2">
            <a:extLst>
              <a:ext uri="{FF2B5EF4-FFF2-40B4-BE49-F238E27FC236}">
                <a16:creationId xmlns:a16="http://schemas.microsoft.com/office/drawing/2014/main" id="{EB4CB1A6-03B4-B517-C8BC-804A4BE8659D}"/>
              </a:ext>
            </a:extLst>
          </p:cNvPr>
          <p:cNvSpPr>
            <a:spLocks noGrp="1"/>
          </p:cNvSpPr>
          <p:nvPr>
            <p:ph idx="1"/>
          </p:nvPr>
        </p:nvSpPr>
        <p:spPr/>
        <p:txBody>
          <a:bodyPr/>
          <a:lstStyle/>
          <a:p>
            <a:r>
              <a:rPr lang="en-US" dirty="0"/>
              <a:t>Don’t p-hack!</a:t>
            </a:r>
          </a:p>
          <a:p>
            <a:pPr lvl="1"/>
            <a:r>
              <a:rPr lang="en-US" dirty="0"/>
              <a:t>Don’t exclude data to get a p-value below 0.05.</a:t>
            </a:r>
          </a:p>
          <a:p>
            <a:pPr lvl="1"/>
            <a:r>
              <a:rPr lang="en-US" dirty="0"/>
              <a:t>Don’t try several tests randomly and report the one with p&lt;0.05.</a:t>
            </a:r>
          </a:p>
          <a:p>
            <a:r>
              <a:rPr lang="en-US" dirty="0"/>
              <a:t>Ideally, decide hypotheses and outliers before running tests. </a:t>
            </a:r>
          </a:p>
        </p:txBody>
      </p:sp>
    </p:spTree>
    <p:extLst>
      <p:ext uri="{BB962C8B-B14F-4D97-AF65-F5344CB8AC3E}">
        <p14:creationId xmlns:p14="http://schemas.microsoft.com/office/powerpoint/2010/main" val="22618382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1A1A3-E0C7-657E-E71B-5A4F1585AD95}"/>
              </a:ext>
            </a:extLst>
          </p:cNvPr>
          <p:cNvSpPr>
            <a:spLocks noGrp="1"/>
          </p:cNvSpPr>
          <p:nvPr>
            <p:ph type="title"/>
          </p:nvPr>
        </p:nvSpPr>
        <p:spPr/>
        <p:txBody>
          <a:bodyPr>
            <a:normAutofit fontScale="90000"/>
          </a:bodyPr>
          <a:lstStyle/>
          <a:p>
            <a:r>
              <a:rPr lang="en-US" dirty="0"/>
              <a:t>Reporting Checklist: Before submitting your report check this.</a:t>
            </a:r>
          </a:p>
        </p:txBody>
      </p:sp>
      <p:sp>
        <p:nvSpPr>
          <p:cNvPr id="3" name="Content Placeholder 2">
            <a:extLst>
              <a:ext uri="{FF2B5EF4-FFF2-40B4-BE49-F238E27FC236}">
                <a16:creationId xmlns:a16="http://schemas.microsoft.com/office/drawing/2014/main" id="{5A2B08F7-AB5B-8490-5E76-979EB6E0F2FF}"/>
              </a:ext>
            </a:extLst>
          </p:cNvPr>
          <p:cNvSpPr>
            <a:spLocks noGrp="1"/>
          </p:cNvSpPr>
          <p:nvPr>
            <p:ph idx="1"/>
          </p:nvPr>
        </p:nvSpPr>
        <p:spPr>
          <a:xfrm>
            <a:off x="480001" y="1584960"/>
            <a:ext cx="11102399" cy="4156189"/>
          </a:xfrm>
        </p:spPr>
        <p:txBody>
          <a:bodyPr/>
          <a:lstStyle/>
          <a:p>
            <a:pPr marL="742950" indent="-742950">
              <a:buFont typeface="+mj-lt"/>
              <a:buAutoNum type="arabicPeriod"/>
            </a:pPr>
            <a:r>
              <a:rPr lang="en-US" sz="3200" dirty="0"/>
              <a:t>Did we state null and alternative hypotheses? </a:t>
            </a:r>
          </a:p>
          <a:p>
            <a:pPr marL="742950" indent="-742950">
              <a:buFont typeface="+mj-lt"/>
              <a:buAutoNum type="arabicPeriod"/>
            </a:pPr>
            <a:r>
              <a:rPr lang="en-US" sz="3200" dirty="0"/>
              <a:t>Did we identify the outcome and predictor variables?</a:t>
            </a:r>
          </a:p>
          <a:p>
            <a:pPr marL="742950" indent="-742950">
              <a:buFont typeface="+mj-lt"/>
              <a:buAutoNum type="arabicPeriod"/>
            </a:pPr>
            <a:r>
              <a:rPr lang="en-US" sz="3200" dirty="0"/>
              <a:t>Did we state the measurement scale?</a:t>
            </a:r>
          </a:p>
          <a:p>
            <a:pPr marL="742950" indent="-742950">
              <a:buFont typeface="+mj-lt"/>
              <a:buAutoNum type="arabicPeriod"/>
            </a:pPr>
            <a:r>
              <a:rPr lang="en-US" sz="3200" dirty="0"/>
              <a:t>Did we visualize the data appropriately?</a:t>
            </a:r>
          </a:p>
          <a:p>
            <a:pPr marL="742950" indent="-742950">
              <a:buFont typeface="+mj-lt"/>
              <a:buAutoNum type="arabicPeriod"/>
            </a:pPr>
            <a:r>
              <a:rPr lang="en-US" sz="3200" dirty="0"/>
              <a:t>Did we report the sample sizes?</a:t>
            </a:r>
          </a:p>
          <a:p>
            <a:pPr marL="742950" indent="-742950">
              <a:buFont typeface="+mj-lt"/>
              <a:buAutoNum type="arabicPeriod"/>
            </a:pPr>
            <a:r>
              <a:rPr lang="en-US" sz="3200" dirty="0"/>
              <a:t>Did we justify the statistical test used?</a:t>
            </a:r>
          </a:p>
          <a:p>
            <a:pPr marL="742950" indent="-742950">
              <a:buFont typeface="+mj-lt"/>
              <a:buAutoNum type="arabicPeriod"/>
            </a:pPr>
            <a:r>
              <a:rPr lang="en-US" sz="3200" dirty="0"/>
              <a:t>Did we report the confidence limits as well as p-value?</a:t>
            </a:r>
          </a:p>
          <a:p>
            <a:pPr marL="742950" indent="-742950">
              <a:buFont typeface="+mj-lt"/>
              <a:buAutoNum type="arabicPeriod"/>
            </a:pPr>
            <a:r>
              <a:rPr lang="en-US" sz="3200" dirty="0"/>
              <a:t>Did we discuss limitations?</a:t>
            </a:r>
          </a:p>
          <a:p>
            <a:pPr marL="742950" indent="-742950">
              <a:buFont typeface="+mj-lt"/>
              <a:buAutoNum type="arabicPeriod"/>
            </a:pPr>
            <a:r>
              <a:rPr lang="en-US" sz="3200" dirty="0"/>
              <a:t>Did our conclusion answer the original research questions?</a:t>
            </a:r>
          </a:p>
        </p:txBody>
      </p:sp>
    </p:spTree>
    <p:extLst>
      <p:ext uri="{BB962C8B-B14F-4D97-AF65-F5344CB8AC3E}">
        <p14:creationId xmlns:p14="http://schemas.microsoft.com/office/powerpoint/2010/main" val="38702718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44ADB-FF6E-368C-B091-782F2AEB8B2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BAF534-3CE4-3D0E-5CA4-D78441F84CF0}"/>
              </a:ext>
            </a:extLst>
          </p:cNvPr>
          <p:cNvSpPr>
            <a:spLocks noGrp="1"/>
          </p:cNvSpPr>
          <p:nvPr>
            <p:ph idx="1"/>
          </p:nvPr>
        </p:nvSpPr>
        <p:spPr>
          <a:xfrm>
            <a:off x="480002" y="1296000"/>
            <a:ext cx="11102398" cy="4445149"/>
          </a:xfrm>
        </p:spPr>
        <p:txBody>
          <a:bodyPr/>
          <a:lstStyle/>
          <a:p>
            <a:r>
              <a:rPr lang="en-US" sz="3200" dirty="0"/>
              <a:t>Obviously, we want to now look at his murders through the lens of statistical significance:</a:t>
            </a:r>
          </a:p>
          <a:p>
            <a:r>
              <a:rPr lang="en-US" sz="3200" dirty="0"/>
              <a:t>Were his patients dying at a rate that was significantly higher than expected?</a:t>
            </a:r>
          </a:p>
          <a:p>
            <a:r>
              <a:rPr lang="en-US" sz="3200" dirty="0"/>
              <a:t>We would want to control for events like flu outbreaks and sudden temperature irregularities among other factors that may influence the rates of death.  </a:t>
            </a:r>
          </a:p>
        </p:txBody>
      </p:sp>
      <p:sp>
        <p:nvSpPr>
          <p:cNvPr id="2" name="Title 1">
            <a:extLst>
              <a:ext uri="{FF2B5EF4-FFF2-40B4-BE49-F238E27FC236}">
                <a16:creationId xmlns:a16="http://schemas.microsoft.com/office/drawing/2014/main" id="{87CDAE6B-6CC3-EE2C-A9E3-184A0CBD5D99}"/>
              </a:ext>
            </a:extLst>
          </p:cNvPr>
          <p:cNvSpPr>
            <a:spLocks noGrp="1"/>
          </p:cNvSpPr>
          <p:nvPr>
            <p:ph type="title"/>
          </p:nvPr>
        </p:nvSpPr>
        <p:spPr/>
        <p:txBody>
          <a:bodyPr>
            <a:normAutofit/>
          </a:bodyPr>
          <a:lstStyle/>
          <a:p>
            <a:r>
              <a:rPr lang="en-US" dirty="0"/>
              <a:t>Could Harold Shipman have been caught earlier?</a:t>
            </a:r>
          </a:p>
        </p:txBody>
      </p:sp>
    </p:spTree>
    <p:extLst>
      <p:ext uri="{BB962C8B-B14F-4D97-AF65-F5344CB8AC3E}">
        <p14:creationId xmlns:p14="http://schemas.microsoft.com/office/powerpoint/2010/main" val="4174513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1C282-970D-6D98-CCB8-7FC498E3902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F32602-600D-68A9-7D54-298F33FA4AED}"/>
              </a:ext>
            </a:extLst>
          </p:cNvPr>
          <p:cNvSpPr>
            <a:spLocks noGrp="1"/>
          </p:cNvSpPr>
          <p:nvPr>
            <p:ph idx="1"/>
          </p:nvPr>
        </p:nvSpPr>
        <p:spPr>
          <a:xfrm>
            <a:off x="480002" y="1296000"/>
            <a:ext cx="5448319" cy="4445149"/>
          </a:xfrm>
        </p:spPr>
        <p:txBody>
          <a:bodyPr/>
          <a:lstStyle/>
          <a:p>
            <a:r>
              <a:rPr lang="en-US" sz="3200" dirty="0"/>
              <a:t>The excess mortality after accounting for the baseline yields 174 women and 49 men, which is very similar to the total number that was eventually discovered from the inquiry.</a:t>
            </a:r>
          </a:p>
        </p:txBody>
      </p:sp>
      <p:sp>
        <p:nvSpPr>
          <p:cNvPr id="2" name="Title 1">
            <a:extLst>
              <a:ext uri="{FF2B5EF4-FFF2-40B4-BE49-F238E27FC236}">
                <a16:creationId xmlns:a16="http://schemas.microsoft.com/office/drawing/2014/main" id="{296C694F-B9EF-3FFF-C453-0EEF7C89B0FC}"/>
              </a:ext>
            </a:extLst>
          </p:cNvPr>
          <p:cNvSpPr>
            <a:spLocks noGrp="1"/>
          </p:cNvSpPr>
          <p:nvPr>
            <p:ph type="title"/>
          </p:nvPr>
        </p:nvSpPr>
        <p:spPr/>
        <p:txBody>
          <a:bodyPr>
            <a:normAutofit/>
          </a:bodyPr>
          <a:lstStyle/>
          <a:p>
            <a:r>
              <a:rPr lang="en-US" dirty="0"/>
              <a:t>Could Harold Shipman have been caught earlier?</a:t>
            </a:r>
          </a:p>
        </p:txBody>
      </p:sp>
      <p:pic>
        <p:nvPicPr>
          <p:cNvPr id="6" name="Picture 5">
            <a:extLst>
              <a:ext uri="{FF2B5EF4-FFF2-40B4-BE49-F238E27FC236}">
                <a16:creationId xmlns:a16="http://schemas.microsoft.com/office/drawing/2014/main" id="{D7C49C4D-FE95-C2A1-BC3E-C41A070E9D74}"/>
              </a:ext>
            </a:extLst>
          </p:cNvPr>
          <p:cNvPicPr>
            <a:picLocks noChangeAspect="1"/>
          </p:cNvPicPr>
          <p:nvPr/>
        </p:nvPicPr>
        <p:blipFill>
          <a:blip r:embed="rId3"/>
          <a:stretch>
            <a:fillRect/>
          </a:stretch>
        </p:blipFill>
        <p:spPr>
          <a:xfrm>
            <a:off x="5928321" y="1194859"/>
            <a:ext cx="6263679" cy="5663141"/>
          </a:xfrm>
          <a:prstGeom prst="rect">
            <a:avLst/>
          </a:prstGeom>
        </p:spPr>
      </p:pic>
    </p:spTree>
    <p:extLst>
      <p:ext uri="{BB962C8B-B14F-4D97-AF65-F5344CB8AC3E}">
        <p14:creationId xmlns:p14="http://schemas.microsoft.com/office/powerpoint/2010/main" val="13517644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17CEB-1D75-CDB5-EE13-777EF1C2ABA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00A6E3-8986-25C2-ABC9-9CB9AABC48DB}"/>
              </a:ext>
            </a:extLst>
          </p:cNvPr>
          <p:cNvSpPr>
            <a:spLocks noGrp="1"/>
          </p:cNvSpPr>
          <p:nvPr>
            <p:ph idx="1"/>
          </p:nvPr>
        </p:nvSpPr>
        <p:spPr>
          <a:xfrm>
            <a:off x="480002" y="1296000"/>
            <a:ext cx="5448319" cy="4445149"/>
          </a:xfrm>
        </p:spPr>
        <p:txBody>
          <a:bodyPr/>
          <a:lstStyle/>
          <a:p>
            <a:r>
              <a:rPr lang="en-US" sz="3000" dirty="0"/>
              <a:t>Can assume the Poisson distribution for this since it is a count of people dying.</a:t>
            </a:r>
          </a:p>
          <a:p>
            <a:r>
              <a:rPr lang="en-US" sz="3000" dirty="0"/>
              <a:t>Then by the time we are at the 3</a:t>
            </a:r>
            <a:r>
              <a:rPr lang="en-US" sz="3000" baseline="30000" dirty="0"/>
              <a:t>rd</a:t>
            </a:r>
            <a:r>
              <a:rPr lang="en-US" sz="3000" dirty="0"/>
              <a:t> year, when a Poisson with mean of 25.3 is expected, we have a P-value of 0.004!</a:t>
            </a:r>
          </a:p>
          <a:p>
            <a:r>
              <a:rPr lang="en-US" sz="3000" dirty="0"/>
              <a:t>Then we could have stopped Shipman so much earlier! Right?</a:t>
            </a:r>
          </a:p>
        </p:txBody>
      </p:sp>
      <p:sp>
        <p:nvSpPr>
          <p:cNvPr id="2" name="Title 1">
            <a:extLst>
              <a:ext uri="{FF2B5EF4-FFF2-40B4-BE49-F238E27FC236}">
                <a16:creationId xmlns:a16="http://schemas.microsoft.com/office/drawing/2014/main" id="{A04106FF-0F7C-444C-4518-7E3C61A63B7C}"/>
              </a:ext>
            </a:extLst>
          </p:cNvPr>
          <p:cNvSpPr>
            <a:spLocks noGrp="1"/>
          </p:cNvSpPr>
          <p:nvPr>
            <p:ph type="title"/>
          </p:nvPr>
        </p:nvSpPr>
        <p:spPr/>
        <p:txBody>
          <a:bodyPr>
            <a:normAutofit/>
          </a:bodyPr>
          <a:lstStyle/>
          <a:p>
            <a:r>
              <a:rPr lang="en-US" dirty="0"/>
              <a:t>Could Harold Shipman have been caught earlier?</a:t>
            </a:r>
          </a:p>
        </p:txBody>
      </p:sp>
      <p:pic>
        <p:nvPicPr>
          <p:cNvPr id="6" name="Picture 5">
            <a:extLst>
              <a:ext uri="{FF2B5EF4-FFF2-40B4-BE49-F238E27FC236}">
                <a16:creationId xmlns:a16="http://schemas.microsoft.com/office/drawing/2014/main" id="{A8ABD488-D4D5-EF80-94B8-7FC208B4A883}"/>
              </a:ext>
            </a:extLst>
          </p:cNvPr>
          <p:cNvPicPr>
            <a:picLocks noChangeAspect="1"/>
          </p:cNvPicPr>
          <p:nvPr/>
        </p:nvPicPr>
        <p:blipFill>
          <a:blip r:embed="rId3"/>
          <a:stretch>
            <a:fillRect/>
          </a:stretch>
        </p:blipFill>
        <p:spPr>
          <a:xfrm>
            <a:off x="5928321" y="1194859"/>
            <a:ext cx="6263679" cy="5663141"/>
          </a:xfrm>
          <a:prstGeom prst="rect">
            <a:avLst/>
          </a:prstGeom>
        </p:spPr>
      </p:pic>
      <p:cxnSp>
        <p:nvCxnSpPr>
          <p:cNvPr id="8" name="Straight Arrow Connector 7">
            <a:extLst>
              <a:ext uri="{FF2B5EF4-FFF2-40B4-BE49-F238E27FC236}">
                <a16:creationId xmlns:a16="http://schemas.microsoft.com/office/drawing/2014/main" id="{B023FFD5-62D5-47C5-2314-37BEBEC2CE67}"/>
              </a:ext>
            </a:extLst>
          </p:cNvPr>
          <p:cNvCxnSpPr>
            <a:cxnSpLocks/>
          </p:cNvCxnSpPr>
          <p:nvPr/>
        </p:nvCxnSpPr>
        <p:spPr>
          <a:xfrm>
            <a:off x="7260771" y="4800600"/>
            <a:ext cx="0" cy="5878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AA6901DB-1351-800F-78E1-C4147285D16B}"/>
              </a:ext>
            </a:extLst>
          </p:cNvPr>
          <p:cNvSpPr txBox="1"/>
          <p:nvPr/>
        </p:nvSpPr>
        <p:spPr>
          <a:xfrm>
            <a:off x="6847109" y="4463146"/>
            <a:ext cx="1143000" cy="369332"/>
          </a:xfrm>
          <a:prstGeom prst="rect">
            <a:avLst/>
          </a:prstGeom>
          <a:noFill/>
        </p:spPr>
        <p:txBody>
          <a:bodyPr wrap="square" rtlCol="0">
            <a:spAutoFit/>
          </a:bodyPr>
          <a:lstStyle/>
          <a:p>
            <a:r>
              <a:rPr lang="en-US" dirty="0"/>
              <a:t>P = 0.004</a:t>
            </a:r>
          </a:p>
        </p:txBody>
      </p:sp>
    </p:spTree>
    <p:extLst>
      <p:ext uri="{BB962C8B-B14F-4D97-AF65-F5344CB8AC3E}">
        <p14:creationId xmlns:p14="http://schemas.microsoft.com/office/powerpoint/2010/main" val="2180536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6F4D6-F6B4-31DE-4C20-B4D4442F7D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952256-B768-E0EF-0DF0-C9F642219C21}"/>
              </a:ext>
            </a:extLst>
          </p:cNvPr>
          <p:cNvSpPr>
            <a:spLocks noGrp="1"/>
          </p:cNvSpPr>
          <p:nvPr>
            <p:ph type="title"/>
          </p:nvPr>
        </p:nvSpPr>
        <p:spPr/>
        <p:txBody>
          <a:bodyPr/>
          <a:lstStyle/>
          <a:p>
            <a:r>
              <a:rPr lang="en-US" dirty="0"/>
              <a:t>Hypothesis testing</a:t>
            </a:r>
          </a:p>
        </p:txBody>
      </p:sp>
      <p:grpSp>
        <p:nvGrpSpPr>
          <p:cNvPr id="8" name="Group 7">
            <a:extLst>
              <a:ext uri="{FF2B5EF4-FFF2-40B4-BE49-F238E27FC236}">
                <a16:creationId xmlns:a16="http://schemas.microsoft.com/office/drawing/2014/main" id="{64B40CA3-DFA2-70F7-58B1-93A568255CA9}"/>
              </a:ext>
            </a:extLst>
          </p:cNvPr>
          <p:cNvGrpSpPr/>
          <p:nvPr/>
        </p:nvGrpSpPr>
        <p:grpSpPr>
          <a:xfrm>
            <a:off x="6772266" y="4203982"/>
            <a:ext cx="5231475" cy="2615737"/>
            <a:chOff x="7112925" y="2912129"/>
            <a:chExt cx="5231475" cy="2615737"/>
          </a:xfrm>
        </p:grpSpPr>
        <p:pic>
          <p:nvPicPr>
            <p:cNvPr id="4" name="Picture 3">
              <a:extLst>
                <a:ext uri="{FF2B5EF4-FFF2-40B4-BE49-F238E27FC236}">
                  <a16:creationId xmlns:a16="http://schemas.microsoft.com/office/drawing/2014/main" id="{61AA254E-FA89-4D76-7872-29BBEC37E5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12925" y="2912129"/>
              <a:ext cx="5231475" cy="2615737"/>
            </a:xfrm>
            <a:prstGeom prst="rect">
              <a:avLst/>
            </a:prstGeom>
          </p:spPr>
        </p:pic>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E2F4A4E0-FD73-2F6C-B71F-EC28189D8922}"/>
                    </a:ext>
                  </a:extLst>
                </p:cNvPr>
                <p:cNvSpPr/>
                <p:nvPr/>
              </p:nvSpPr>
              <p:spPr>
                <a:xfrm>
                  <a:off x="10307897" y="3850615"/>
                  <a:ext cx="577146" cy="7489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267" i="1" dirty="0">
                            <a:latin typeface="Cambria Math" panose="02040503050406030204" pitchFamily="18" charset="0"/>
                          </a:rPr>
                          <m:t>𝑐</m:t>
                        </m:r>
                      </m:oMath>
                    </m:oMathPara>
                  </a14:m>
                  <a:endParaRPr lang="en-US" sz="4267" dirty="0"/>
                </a:p>
              </p:txBody>
            </p:sp>
          </mc:Choice>
          <mc:Fallback xmlns="">
            <p:sp>
              <p:nvSpPr>
                <p:cNvPr id="5" name="Rectangle 4">
                  <a:extLst>
                    <a:ext uri="{FF2B5EF4-FFF2-40B4-BE49-F238E27FC236}">
                      <a16:creationId xmlns:a16="http://schemas.microsoft.com/office/drawing/2014/main" id="{E2F4A4E0-FD73-2F6C-B71F-EC28189D8922}"/>
                    </a:ext>
                  </a:extLst>
                </p:cNvPr>
                <p:cNvSpPr>
                  <a:spLocks noRot="1" noChangeAspect="1" noMove="1" noResize="1" noEditPoints="1" noAdjustHandles="1" noChangeArrowheads="1" noChangeShapeType="1" noTextEdit="1"/>
                </p:cNvSpPr>
                <p:nvPr/>
              </p:nvSpPr>
              <p:spPr>
                <a:xfrm>
                  <a:off x="10307897" y="3850615"/>
                  <a:ext cx="577146" cy="748988"/>
                </a:xfrm>
                <a:prstGeom prst="rect">
                  <a:avLst/>
                </a:prstGeom>
                <a:blipFill>
                  <a:blip r:embed="rId3"/>
                  <a:stretch>
                    <a:fillRect/>
                  </a:stretch>
                </a:blipFill>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0DA81210-E0C6-FA50-0360-01E45E5186FF}"/>
                </a:ext>
              </a:extLst>
            </p:cNvPr>
            <p:cNvCxnSpPr/>
            <p:nvPr/>
          </p:nvCxnSpPr>
          <p:spPr>
            <a:xfrm flipH="1">
              <a:off x="10581883" y="3951889"/>
              <a:ext cx="788559" cy="934485"/>
            </a:xfrm>
            <a:prstGeom prst="straightConnector1">
              <a:avLst/>
            </a:prstGeom>
            <a:ln w="762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BF2CF59B-1E64-B83B-7FC2-ABD8E2EE7D0F}"/>
                    </a:ext>
                  </a:extLst>
                </p:cNvPr>
                <p:cNvSpPr/>
                <p:nvPr/>
              </p:nvSpPr>
              <p:spPr>
                <a:xfrm>
                  <a:off x="11221630" y="3390272"/>
                  <a:ext cx="595098" cy="6667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733" i="1" dirty="0">
                            <a:latin typeface="Cambria Math" panose="02040503050406030204" pitchFamily="18" charset="0"/>
                          </a:rPr>
                          <m:t>𝛼</m:t>
                        </m:r>
                      </m:oMath>
                    </m:oMathPara>
                  </a14:m>
                  <a:endParaRPr lang="en-US" sz="3733" dirty="0"/>
                </a:p>
              </p:txBody>
            </p:sp>
          </mc:Choice>
          <mc:Fallback xmlns="">
            <p:sp>
              <p:nvSpPr>
                <p:cNvPr id="7" name="Rectangle 6">
                  <a:extLst>
                    <a:ext uri="{FF2B5EF4-FFF2-40B4-BE49-F238E27FC236}">
                      <a16:creationId xmlns:a16="http://schemas.microsoft.com/office/drawing/2014/main" id="{BF2CF59B-1E64-B83B-7FC2-ABD8E2EE7D0F}"/>
                    </a:ext>
                  </a:extLst>
                </p:cNvPr>
                <p:cNvSpPr>
                  <a:spLocks noRot="1" noChangeAspect="1" noMove="1" noResize="1" noEditPoints="1" noAdjustHandles="1" noChangeArrowheads="1" noChangeShapeType="1" noTextEdit="1"/>
                </p:cNvSpPr>
                <p:nvPr/>
              </p:nvSpPr>
              <p:spPr>
                <a:xfrm>
                  <a:off x="11221630" y="3390272"/>
                  <a:ext cx="595098" cy="666786"/>
                </a:xfrm>
                <a:prstGeom prst="rect">
                  <a:avLst/>
                </a:prstGeom>
                <a:blipFill>
                  <a:blip r:embed="rId4"/>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A42655B-ADD6-E2A7-A1C8-5EC9A868DD28}"/>
                  </a:ext>
                </a:extLst>
              </p:cNvPr>
              <p:cNvSpPr>
                <a:spLocks noGrp="1"/>
              </p:cNvSpPr>
              <p:nvPr>
                <p:ph idx="1"/>
              </p:nvPr>
            </p:nvSpPr>
            <p:spPr/>
            <p:txBody>
              <a:bodyPr/>
              <a:lstStyle/>
              <a:p>
                <a:r>
                  <a:rPr lang="en-US" sz="4000" dirty="0"/>
                  <a:t>Data: Number of People dead</a:t>
                </a:r>
              </a:p>
              <a:p>
                <a:r>
                  <a:rPr lang="en-US" sz="4000" dirty="0"/>
                  <a:t>Null-hypothesis: Number dead is reasonable.</a:t>
                </a:r>
              </a:p>
              <a:p>
                <a:r>
                  <a:rPr lang="en-US" sz="4000" dirty="0"/>
                  <a:t>Alternative hypothesis: Number dead is too high.</a:t>
                </a:r>
              </a:p>
              <a:p>
                <a:r>
                  <a:rPr lang="en-US" sz="4000" dirty="0"/>
                  <a:t>Test statistic: Rate of death/year</a:t>
                </a:r>
              </a:p>
              <a:p>
                <a:r>
                  <a:rPr lang="en-US" sz="4000" dirty="0"/>
                  <a:t>Critical value: </a:t>
                </a:r>
                <a14:m>
                  <m:oMath xmlns:m="http://schemas.openxmlformats.org/officeDocument/2006/math">
                    <m:r>
                      <a:rPr lang="en-US" sz="4000" i="1">
                        <a:latin typeface="Cambria Math" panose="02040503050406030204" pitchFamily="18" charset="0"/>
                      </a:rPr>
                      <m:t>𝑐</m:t>
                    </m:r>
                  </m:oMath>
                </a14:m>
                <a:endParaRPr lang="en-US" sz="4000" dirty="0"/>
              </a:p>
              <a:p>
                <a:r>
                  <a:rPr lang="en-US" sz="4000" dirty="0"/>
                  <a:t>Level of significance: </a:t>
                </a:r>
                <a14:m>
                  <m:oMath xmlns:m="http://schemas.openxmlformats.org/officeDocument/2006/math">
                    <m:r>
                      <a:rPr lang="en-US" sz="4000" i="1" dirty="0">
                        <a:latin typeface="Cambria Math" panose="02040503050406030204" pitchFamily="18" charset="0"/>
                      </a:rPr>
                      <m:t>𝛼</m:t>
                    </m:r>
                    <m:r>
                      <a:rPr lang="en-US" sz="4000" b="0" i="1" dirty="0" smtClean="0">
                        <a:latin typeface="Cambria Math" panose="02040503050406030204" pitchFamily="18" charset="0"/>
                      </a:rPr>
                      <m:t>=0.05</m:t>
                    </m:r>
                  </m:oMath>
                </a14:m>
                <a:endParaRPr lang="en-US" sz="4000" dirty="0"/>
              </a:p>
            </p:txBody>
          </p:sp>
        </mc:Choice>
        <mc:Fallback xmlns="">
          <p:sp>
            <p:nvSpPr>
              <p:cNvPr id="3" name="Content Placeholder 2">
                <a:extLst>
                  <a:ext uri="{FF2B5EF4-FFF2-40B4-BE49-F238E27FC236}">
                    <a16:creationId xmlns:a16="http://schemas.microsoft.com/office/drawing/2014/main" id="{DA42655B-ADD6-E2A7-A1C8-5EC9A868DD28}"/>
                  </a:ext>
                </a:extLst>
              </p:cNvPr>
              <p:cNvSpPr>
                <a:spLocks noGrp="1" noRot="1" noChangeAspect="1" noMove="1" noResize="1" noEditPoints="1" noAdjustHandles="1" noChangeArrowheads="1" noChangeShapeType="1" noTextEdit="1"/>
              </p:cNvSpPr>
              <p:nvPr>
                <p:ph idx="1"/>
              </p:nvPr>
            </p:nvSpPr>
            <p:spPr>
              <a:blipFill>
                <a:blip r:embed="rId5"/>
                <a:stretch>
                  <a:fillRect l="-2626" t="-3704"/>
                </a:stretch>
              </a:blipFill>
            </p:spPr>
            <p:txBody>
              <a:bodyPr/>
              <a:lstStyle/>
              <a:p>
                <a:r>
                  <a:rPr lang="en-US">
                    <a:noFill/>
                  </a:rPr>
                  <a:t> </a:t>
                </a:r>
              </a:p>
            </p:txBody>
          </p:sp>
        </mc:Fallback>
      </mc:AlternateContent>
    </p:spTree>
    <p:extLst>
      <p:ext uri="{BB962C8B-B14F-4D97-AF65-F5344CB8AC3E}">
        <p14:creationId xmlns:p14="http://schemas.microsoft.com/office/powerpoint/2010/main" val="32090897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56BCF-DB78-F3E3-B561-54427B839D7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14C31C-A691-293A-B010-992DF593C654}"/>
              </a:ext>
            </a:extLst>
          </p:cNvPr>
          <p:cNvSpPr>
            <a:spLocks noGrp="1"/>
          </p:cNvSpPr>
          <p:nvPr>
            <p:ph idx="1"/>
          </p:nvPr>
        </p:nvSpPr>
        <p:spPr>
          <a:xfrm>
            <a:off x="480002" y="1296000"/>
            <a:ext cx="5448319" cy="4445149"/>
          </a:xfrm>
        </p:spPr>
        <p:txBody>
          <a:bodyPr/>
          <a:lstStyle/>
          <a:p>
            <a:r>
              <a:rPr lang="en-US" sz="3000" dirty="0"/>
              <a:t>Unfortunately, we‘re forgetting that unless we already had our eye on Shipman, we need to run this test for every single doctor – and we don’t want to run investigations on all the false positives since that would be a waste of resources. </a:t>
            </a:r>
          </a:p>
          <a:p>
            <a:r>
              <a:rPr lang="en-US" sz="3000" dirty="0"/>
              <a:t>What’s an alternative testing strategy?</a:t>
            </a:r>
          </a:p>
        </p:txBody>
      </p:sp>
      <p:sp>
        <p:nvSpPr>
          <p:cNvPr id="2" name="Title 1">
            <a:extLst>
              <a:ext uri="{FF2B5EF4-FFF2-40B4-BE49-F238E27FC236}">
                <a16:creationId xmlns:a16="http://schemas.microsoft.com/office/drawing/2014/main" id="{8646C571-DA70-1A08-B890-8873C96317ED}"/>
              </a:ext>
            </a:extLst>
          </p:cNvPr>
          <p:cNvSpPr>
            <a:spLocks noGrp="1"/>
          </p:cNvSpPr>
          <p:nvPr>
            <p:ph type="title"/>
          </p:nvPr>
        </p:nvSpPr>
        <p:spPr/>
        <p:txBody>
          <a:bodyPr>
            <a:normAutofit/>
          </a:bodyPr>
          <a:lstStyle/>
          <a:p>
            <a:r>
              <a:rPr lang="en-US" dirty="0"/>
              <a:t>Could Harold Shipman have been caught earlier?</a:t>
            </a:r>
          </a:p>
        </p:txBody>
      </p:sp>
      <p:pic>
        <p:nvPicPr>
          <p:cNvPr id="6" name="Picture 5">
            <a:extLst>
              <a:ext uri="{FF2B5EF4-FFF2-40B4-BE49-F238E27FC236}">
                <a16:creationId xmlns:a16="http://schemas.microsoft.com/office/drawing/2014/main" id="{0EB45953-7289-C760-5466-68E36D5BF445}"/>
              </a:ext>
            </a:extLst>
          </p:cNvPr>
          <p:cNvPicPr>
            <a:picLocks noChangeAspect="1"/>
          </p:cNvPicPr>
          <p:nvPr/>
        </p:nvPicPr>
        <p:blipFill>
          <a:blip r:embed="rId3"/>
          <a:stretch>
            <a:fillRect/>
          </a:stretch>
        </p:blipFill>
        <p:spPr>
          <a:xfrm>
            <a:off x="5928321" y="1194859"/>
            <a:ext cx="6263679" cy="5663141"/>
          </a:xfrm>
          <a:prstGeom prst="rect">
            <a:avLst/>
          </a:prstGeom>
        </p:spPr>
      </p:pic>
      <p:cxnSp>
        <p:nvCxnSpPr>
          <p:cNvPr id="8" name="Straight Arrow Connector 7">
            <a:extLst>
              <a:ext uri="{FF2B5EF4-FFF2-40B4-BE49-F238E27FC236}">
                <a16:creationId xmlns:a16="http://schemas.microsoft.com/office/drawing/2014/main" id="{6FD06C58-CDC2-682F-14B3-84E0A480574F}"/>
              </a:ext>
            </a:extLst>
          </p:cNvPr>
          <p:cNvCxnSpPr>
            <a:cxnSpLocks/>
          </p:cNvCxnSpPr>
          <p:nvPr/>
        </p:nvCxnSpPr>
        <p:spPr>
          <a:xfrm>
            <a:off x="7260771" y="4800600"/>
            <a:ext cx="0" cy="5878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4D6FDA19-A2CD-3195-13DD-431F3F461554}"/>
              </a:ext>
            </a:extLst>
          </p:cNvPr>
          <p:cNvSpPr txBox="1"/>
          <p:nvPr/>
        </p:nvSpPr>
        <p:spPr>
          <a:xfrm>
            <a:off x="6847109" y="4463146"/>
            <a:ext cx="1143000" cy="369332"/>
          </a:xfrm>
          <a:prstGeom prst="rect">
            <a:avLst/>
          </a:prstGeom>
          <a:noFill/>
        </p:spPr>
        <p:txBody>
          <a:bodyPr wrap="square" rtlCol="0">
            <a:spAutoFit/>
          </a:bodyPr>
          <a:lstStyle/>
          <a:p>
            <a:r>
              <a:rPr lang="en-US" dirty="0"/>
              <a:t>P = 0.004</a:t>
            </a:r>
          </a:p>
        </p:txBody>
      </p:sp>
    </p:spTree>
    <p:extLst>
      <p:ext uri="{BB962C8B-B14F-4D97-AF65-F5344CB8AC3E}">
        <p14:creationId xmlns:p14="http://schemas.microsoft.com/office/powerpoint/2010/main" val="35602763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CAA0A-E44F-2667-4A3A-2B75403C906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EF6772-2037-C1A7-8F1A-2B30809AA200}"/>
              </a:ext>
            </a:extLst>
          </p:cNvPr>
          <p:cNvSpPr>
            <a:spLocks noGrp="1"/>
          </p:cNvSpPr>
          <p:nvPr>
            <p:ph idx="1"/>
          </p:nvPr>
        </p:nvSpPr>
        <p:spPr>
          <a:xfrm>
            <a:off x="480003" y="1296000"/>
            <a:ext cx="5626884" cy="4445149"/>
          </a:xfrm>
        </p:spPr>
        <p:txBody>
          <a:bodyPr/>
          <a:lstStyle/>
          <a:p>
            <a:r>
              <a:rPr lang="en-US" sz="3000" dirty="0"/>
              <a:t>Say we did do a Bonferroni approach instead, there’s 25000 doctors, so we correct by that number and so, need a p-value of 1 in 500,000 for significance.</a:t>
            </a:r>
            <a:br>
              <a:rPr lang="en-US" sz="3000" dirty="0"/>
            </a:br>
            <a:endParaRPr lang="en-US" sz="3000" dirty="0"/>
          </a:p>
          <a:p>
            <a:r>
              <a:rPr lang="en-US" sz="3000" dirty="0"/>
              <a:t>Unfortunately, for sequential tests, you’re sure to end up getting a false positive.</a:t>
            </a:r>
          </a:p>
          <a:p>
            <a:pPr marL="0" indent="0">
              <a:buNone/>
            </a:pPr>
            <a:endParaRPr lang="en-US" sz="3000" dirty="0"/>
          </a:p>
          <a:p>
            <a:endParaRPr lang="en-US" sz="3000" dirty="0"/>
          </a:p>
        </p:txBody>
      </p:sp>
      <p:sp>
        <p:nvSpPr>
          <p:cNvPr id="2" name="Title 1">
            <a:extLst>
              <a:ext uri="{FF2B5EF4-FFF2-40B4-BE49-F238E27FC236}">
                <a16:creationId xmlns:a16="http://schemas.microsoft.com/office/drawing/2014/main" id="{D1DFA5A4-DCEA-E78F-CB7F-06DCE3AD5613}"/>
              </a:ext>
            </a:extLst>
          </p:cNvPr>
          <p:cNvSpPr>
            <a:spLocks noGrp="1"/>
          </p:cNvSpPr>
          <p:nvPr>
            <p:ph type="title"/>
          </p:nvPr>
        </p:nvSpPr>
        <p:spPr/>
        <p:txBody>
          <a:bodyPr>
            <a:normAutofit/>
          </a:bodyPr>
          <a:lstStyle/>
          <a:p>
            <a:r>
              <a:rPr lang="en-US" dirty="0"/>
              <a:t>Could Harold Shipman have been caught earlier?</a:t>
            </a:r>
          </a:p>
        </p:txBody>
      </p:sp>
      <p:pic>
        <p:nvPicPr>
          <p:cNvPr id="4" name="Picture 3">
            <a:extLst>
              <a:ext uri="{FF2B5EF4-FFF2-40B4-BE49-F238E27FC236}">
                <a16:creationId xmlns:a16="http://schemas.microsoft.com/office/drawing/2014/main" id="{6E2089A5-D227-32D7-7909-C5DF663B6117}"/>
              </a:ext>
            </a:extLst>
          </p:cNvPr>
          <p:cNvPicPr>
            <a:picLocks noChangeAspect="1"/>
          </p:cNvPicPr>
          <p:nvPr/>
        </p:nvPicPr>
        <p:blipFill>
          <a:blip r:embed="rId3"/>
          <a:stretch>
            <a:fillRect/>
          </a:stretch>
        </p:blipFill>
        <p:spPr>
          <a:xfrm>
            <a:off x="5928321" y="1194859"/>
            <a:ext cx="6263679" cy="5663141"/>
          </a:xfrm>
          <a:prstGeom prst="rect">
            <a:avLst/>
          </a:prstGeom>
        </p:spPr>
      </p:pic>
      <p:cxnSp>
        <p:nvCxnSpPr>
          <p:cNvPr id="5" name="Straight Arrow Connector 4">
            <a:extLst>
              <a:ext uri="{FF2B5EF4-FFF2-40B4-BE49-F238E27FC236}">
                <a16:creationId xmlns:a16="http://schemas.microsoft.com/office/drawing/2014/main" id="{13C124F4-22FF-F8C3-BB6A-975B4A057E66}"/>
              </a:ext>
            </a:extLst>
          </p:cNvPr>
          <p:cNvCxnSpPr>
            <a:cxnSpLocks/>
          </p:cNvCxnSpPr>
          <p:nvPr/>
        </p:nvCxnSpPr>
        <p:spPr>
          <a:xfrm>
            <a:off x="7260771" y="4800600"/>
            <a:ext cx="0" cy="5878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DBEC270B-3E33-4232-F087-2E2E3679193D}"/>
              </a:ext>
            </a:extLst>
          </p:cNvPr>
          <p:cNvSpPr txBox="1"/>
          <p:nvPr/>
        </p:nvSpPr>
        <p:spPr>
          <a:xfrm>
            <a:off x="6847109" y="4463146"/>
            <a:ext cx="1143000" cy="369332"/>
          </a:xfrm>
          <a:prstGeom prst="rect">
            <a:avLst/>
          </a:prstGeom>
          <a:noFill/>
        </p:spPr>
        <p:txBody>
          <a:bodyPr wrap="square" rtlCol="0">
            <a:spAutoFit/>
          </a:bodyPr>
          <a:lstStyle/>
          <a:p>
            <a:r>
              <a:rPr lang="en-US" dirty="0"/>
              <a:t>P = 0.004</a:t>
            </a:r>
          </a:p>
        </p:txBody>
      </p:sp>
      <p:cxnSp>
        <p:nvCxnSpPr>
          <p:cNvPr id="10" name="Straight Arrow Connector 9">
            <a:extLst>
              <a:ext uri="{FF2B5EF4-FFF2-40B4-BE49-F238E27FC236}">
                <a16:creationId xmlns:a16="http://schemas.microsoft.com/office/drawing/2014/main" id="{EB669785-690C-896C-F6DF-D04E2D2E3343}"/>
              </a:ext>
            </a:extLst>
          </p:cNvPr>
          <p:cNvCxnSpPr>
            <a:cxnSpLocks/>
          </p:cNvCxnSpPr>
          <p:nvPr/>
        </p:nvCxnSpPr>
        <p:spPr>
          <a:xfrm>
            <a:off x="8403771" y="4452260"/>
            <a:ext cx="0" cy="5878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3FE4EEEA-8E3B-94DC-10B5-11B8CF7E53B1}"/>
              </a:ext>
            </a:extLst>
          </p:cNvPr>
          <p:cNvSpPr txBox="1"/>
          <p:nvPr/>
        </p:nvSpPr>
        <p:spPr>
          <a:xfrm>
            <a:off x="7990109" y="4114806"/>
            <a:ext cx="957941" cy="369332"/>
          </a:xfrm>
          <a:prstGeom prst="rect">
            <a:avLst/>
          </a:prstGeom>
          <a:noFill/>
        </p:spPr>
        <p:txBody>
          <a:bodyPr wrap="square" rtlCol="0">
            <a:spAutoFit/>
          </a:bodyPr>
          <a:lstStyle/>
          <a:p>
            <a:r>
              <a:rPr lang="en-US" dirty="0"/>
              <a:t>P &lt;2e-6</a:t>
            </a:r>
          </a:p>
        </p:txBody>
      </p:sp>
    </p:spTree>
    <p:extLst>
      <p:ext uri="{BB962C8B-B14F-4D97-AF65-F5344CB8AC3E}">
        <p14:creationId xmlns:p14="http://schemas.microsoft.com/office/powerpoint/2010/main" val="2890835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D34AE-069B-0CA9-E89E-DFF854718BF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7DA896-7990-7766-6ADB-58AD9227583A}"/>
              </a:ext>
            </a:extLst>
          </p:cNvPr>
          <p:cNvSpPr>
            <a:spLocks noGrp="1"/>
          </p:cNvSpPr>
          <p:nvPr>
            <p:ph idx="1"/>
          </p:nvPr>
        </p:nvSpPr>
        <p:spPr>
          <a:xfrm>
            <a:off x="480003" y="1296000"/>
            <a:ext cx="5448317" cy="4445149"/>
          </a:xfrm>
        </p:spPr>
        <p:txBody>
          <a:bodyPr/>
          <a:lstStyle/>
          <a:p>
            <a:pPr marL="0" indent="0">
              <a:buNone/>
            </a:pPr>
            <a:r>
              <a:rPr lang="en-US" sz="2800" b="1" dirty="0"/>
              <a:t>However, when an appropriate sequential testing regimen is performed, we could have caught Shipman in 1984!</a:t>
            </a:r>
          </a:p>
          <a:p>
            <a:pPr marL="0" indent="0">
              <a:buNone/>
            </a:pPr>
            <a:endParaRPr lang="en-US" sz="2800" dirty="0"/>
          </a:p>
          <a:p>
            <a:pPr marL="0" indent="0">
              <a:buNone/>
            </a:pPr>
            <a:r>
              <a:rPr lang="en-US" sz="2800" dirty="0"/>
              <a:t>This test was then applied to all doctors, and it seemed there was one more doctor with a huge excess of mortalities! Turned out he was helping elderly people stay out of the hospital for their death.</a:t>
            </a:r>
          </a:p>
          <a:p>
            <a:endParaRPr lang="en-US" sz="2800" dirty="0"/>
          </a:p>
        </p:txBody>
      </p:sp>
      <p:sp>
        <p:nvSpPr>
          <p:cNvPr id="2" name="Title 1">
            <a:extLst>
              <a:ext uri="{FF2B5EF4-FFF2-40B4-BE49-F238E27FC236}">
                <a16:creationId xmlns:a16="http://schemas.microsoft.com/office/drawing/2014/main" id="{F57CE7FC-00A2-0931-B07B-3A6BFA12703B}"/>
              </a:ext>
            </a:extLst>
          </p:cNvPr>
          <p:cNvSpPr>
            <a:spLocks noGrp="1"/>
          </p:cNvSpPr>
          <p:nvPr>
            <p:ph type="title"/>
          </p:nvPr>
        </p:nvSpPr>
        <p:spPr/>
        <p:txBody>
          <a:bodyPr>
            <a:normAutofit/>
          </a:bodyPr>
          <a:lstStyle/>
          <a:p>
            <a:r>
              <a:rPr lang="en-US" dirty="0"/>
              <a:t>Could Harold Shipman have been caught earlier?</a:t>
            </a:r>
          </a:p>
        </p:txBody>
      </p:sp>
      <p:pic>
        <p:nvPicPr>
          <p:cNvPr id="4" name="Picture 3">
            <a:extLst>
              <a:ext uri="{FF2B5EF4-FFF2-40B4-BE49-F238E27FC236}">
                <a16:creationId xmlns:a16="http://schemas.microsoft.com/office/drawing/2014/main" id="{1C1616F1-7F5D-4F13-7BE9-812CFEC50FC7}"/>
              </a:ext>
            </a:extLst>
          </p:cNvPr>
          <p:cNvPicPr>
            <a:picLocks noChangeAspect="1"/>
          </p:cNvPicPr>
          <p:nvPr/>
        </p:nvPicPr>
        <p:blipFill>
          <a:blip r:embed="rId3"/>
          <a:stretch>
            <a:fillRect/>
          </a:stretch>
        </p:blipFill>
        <p:spPr>
          <a:xfrm>
            <a:off x="5928321" y="1194859"/>
            <a:ext cx="6263679" cy="5663141"/>
          </a:xfrm>
          <a:prstGeom prst="rect">
            <a:avLst/>
          </a:prstGeom>
        </p:spPr>
      </p:pic>
      <p:cxnSp>
        <p:nvCxnSpPr>
          <p:cNvPr id="5" name="Straight Arrow Connector 4">
            <a:extLst>
              <a:ext uri="{FF2B5EF4-FFF2-40B4-BE49-F238E27FC236}">
                <a16:creationId xmlns:a16="http://schemas.microsoft.com/office/drawing/2014/main" id="{27EFCBF2-62DF-2F58-1AD4-D4B5DBA1437C}"/>
              </a:ext>
            </a:extLst>
          </p:cNvPr>
          <p:cNvCxnSpPr>
            <a:cxnSpLocks/>
          </p:cNvCxnSpPr>
          <p:nvPr/>
        </p:nvCxnSpPr>
        <p:spPr>
          <a:xfrm>
            <a:off x="7260771" y="4800600"/>
            <a:ext cx="0" cy="5878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48E58A23-795D-7F95-DD67-46F9B22A1D87}"/>
              </a:ext>
            </a:extLst>
          </p:cNvPr>
          <p:cNvSpPr txBox="1"/>
          <p:nvPr/>
        </p:nvSpPr>
        <p:spPr>
          <a:xfrm>
            <a:off x="6847109" y="4463146"/>
            <a:ext cx="1143000" cy="369332"/>
          </a:xfrm>
          <a:prstGeom prst="rect">
            <a:avLst/>
          </a:prstGeom>
          <a:noFill/>
        </p:spPr>
        <p:txBody>
          <a:bodyPr wrap="square" rtlCol="0">
            <a:spAutoFit/>
          </a:bodyPr>
          <a:lstStyle/>
          <a:p>
            <a:r>
              <a:rPr lang="en-US" dirty="0"/>
              <a:t>P = 0.004</a:t>
            </a:r>
          </a:p>
        </p:txBody>
      </p:sp>
      <p:cxnSp>
        <p:nvCxnSpPr>
          <p:cNvPr id="10" name="Straight Arrow Connector 9">
            <a:extLst>
              <a:ext uri="{FF2B5EF4-FFF2-40B4-BE49-F238E27FC236}">
                <a16:creationId xmlns:a16="http://schemas.microsoft.com/office/drawing/2014/main" id="{C32577D4-ACC7-8126-8716-863C0790D95C}"/>
              </a:ext>
            </a:extLst>
          </p:cNvPr>
          <p:cNvCxnSpPr>
            <a:cxnSpLocks/>
          </p:cNvCxnSpPr>
          <p:nvPr/>
        </p:nvCxnSpPr>
        <p:spPr>
          <a:xfrm>
            <a:off x="8403771" y="4452260"/>
            <a:ext cx="0" cy="5878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42132A48-4E3E-8334-7C03-17702317B716}"/>
              </a:ext>
            </a:extLst>
          </p:cNvPr>
          <p:cNvSpPr txBox="1"/>
          <p:nvPr/>
        </p:nvSpPr>
        <p:spPr>
          <a:xfrm>
            <a:off x="7990109" y="4114806"/>
            <a:ext cx="957941" cy="369332"/>
          </a:xfrm>
          <a:prstGeom prst="rect">
            <a:avLst/>
          </a:prstGeom>
          <a:noFill/>
        </p:spPr>
        <p:txBody>
          <a:bodyPr wrap="square" rtlCol="0">
            <a:spAutoFit/>
          </a:bodyPr>
          <a:lstStyle/>
          <a:p>
            <a:r>
              <a:rPr lang="en-US" dirty="0"/>
              <a:t>P&lt;2e-6</a:t>
            </a:r>
          </a:p>
        </p:txBody>
      </p:sp>
    </p:spTree>
    <p:extLst>
      <p:ext uri="{BB962C8B-B14F-4D97-AF65-F5344CB8AC3E}">
        <p14:creationId xmlns:p14="http://schemas.microsoft.com/office/powerpoint/2010/main" val="40803205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C1396-78B8-9948-90DE-774420F3641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800964-9EAE-4475-46F1-2AAE983C6529}"/>
              </a:ext>
            </a:extLst>
          </p:cNvPr>
          <p:cNvSpPr>
            <a:spLocks noGrp="1"/>
          </p:cNvSpPr>
          <p:nvPr>
            <p:ph idx="1"/>
          </p:nvPr>
        </p:nvSpPr>
        <p:spPr>
          <a:xfrm>
            <a:off x="480002" y="1296000"/>
            <a:ext cx="11102398" cy="4445149"/>
          </a:xfrm>
        </p:spPr>
        <p:txBody>
          <a:bodyPr/>
          <a:lstStyle/>
          <a:p>
            <a:r>
              <a:rPr lang="en-US" sz="3200" dirty="0"/>
              <a:t>Hypothesis testing is critical part of statistics.</a:t>
            </a:r>
          </a:p>
          <a:p>
            <a:r>
              <a:rPr lang="en-US" sz="3200" dirty="0"/>
              <a:t>Hypothesis testing depends on defining a null and alternative hypothesis </a:t>
            </a:r>
          </a:p>
          <a:p>
            <a:r>
              <a:rPr lang="en-US" sz="3200" dirty="0"/>
              <a:t>P-values are a regularly used quantity for decision making.</a:t>
            </a:r>
          </a:p>
          <a:p>
            <a:r>
              <a:rPr lang="en-US" sz="3200" dirty="0"/>
              <a:t>There are many caveats to significance testing using p-values.</a:t>
            </a:r>
          </a:p>
          <a:p>
            <a:endParaRPr lang="en-US" sz="3200" dirty="0"/>
          </a:p>
          <a:p>
            <a:r>
              <a:rPr lang="en-US" sz="4400" b="1" dirty="0"/>
              <a:t>Statistics is mostly a process of remembering which assumptions you may be breaking.</a:t>
            </a:r>
          </a:p>
        </p:txBody>
      </p:sp>
      <p:sp>
        <p:nvSpPr>
          <p:cNvPr id="2" name="Title 1">
            <a:extLst>
              <a:ext uri="{FF2B5EF4-FFF2-40B4-BE49-F238E27FC236}">
                <a16:creationId xmlns:a16="http://schemas.microsoft.com/office/drawing/2014/main" id="{F9E6F5E2-C287-8BFE-FB7B-446766D76D2F}"/>
              </a:ext>
            </a:extLst>
          </p:cNvPr>
          <p:cNvSpPr>
            <a:spLocks noGrp="1"/>
          </p:cNvSpPr>
          <p:nvPr>
            <p:ph type="title"/>
          </p:nvPr>
        </p:nvSpPr>
        <p:spPr/>
        <p:txBody>
          <a:bodyPr>
            <a:normAutofit/>
          </a:bodyPr>
          <a:lstStyle/>
          <a:p>
            <a:r>
              <a:rPr lang="en-US" dirty="0"/>
              <a:t>Statistical Significance</a:t>
            </a:r>
          </a:p>
        </p:txBody>
      </p:sp>
    </p:spTree>
    <p:extLst>
      <p:ext uri="{BB962C8B-B14F-4D97-AF65-F5344CB8AC3E}">
        <p14:creationId xmlns:p14="http://schemas.microsoft.com/office/powerpoint/2010/main" val="900271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D1D9A-5997-64CB-623C-6DDF1A8735F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E1A2D0-C3AE-1A19-3B97-31A989836156}"/>
              </a:ext>
            </a:extLst>
          </p:cNvPr>
          <p:cNvSpPr>
            <a:spLocks noGrp="1"/>
          </p:cNvSpPr>
          <p:nvPr>
            <p:ph idx="1"/>
          </p:nvPr>
        </p:nvSpPr>
        <p:spPr>
          <a:xfrm>
            <a:off x="480002" y="1296000"/>
            <a:ext cx="11102398" cy="4445149"/>
          </a:xfrm>
        </p:spPr>
        <p:txBody>
          <a:bodyPr/>
          <a:lstStyle/>
          <a:p>
            <a:r>
              <a:rPr lang="en-US" sz="4400" dirty="0"/>
              <a:t>“A statistician’s job is to break results” – unknown statistician.</a:t>
            </a:r>
          </a:p>
        </p:txBody>
      </p:sp>
      <p:sp>
        <p:nvSpPr>
          <p:cNvPr id="2" name="Title 1">
            <a:extLst>
              <a:ext uri="{FF2B5EF4-FFF2-40B4-BE49-F238E27FC236}">
                <a16:creationId xmlns:a16="http://schemas.microsoft.com/office/drawing/2014/main" id="{016B6480-F5A2-6D8D-9E68-9312AA392CD2}"/>
              </a:ext>
            </a:extLst>
          </p:cNvPr>
          <p:cNvSpPr>
            <a:spLocks noGrp="1"/>
          </p:cNvSpPr>
          <p:nvPr>
            <p:ph type="title"/>
          </p:nvPr>
        </p:nvSpPr>
        <p:spPr/>
        <p:txBody>
          <a:bodyPr>
            <a:normAutofit/>
          </a:bodyPr>
          <a:lstStyle/>
          <a:p>
            <a:r>
              <a:rPr lang="en-US" dirty="0"/>
              <a:t>Probability and Statistics</a:t>
            </a:r>
          </a:p>
        </p:txBody>
      </p:sp>
    </p:spTree>
    <p:extLst>
      <p:ext uri="{BB962C8B-B14F-4D97-AF65-F5344CB8AC3E}">
        <p14:creationId xmlns:p14="http://schemas.microsoft.com/office/powerpoint/2010/main" val="28588488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Maastricht University">
  <a:themeElements>
    <a:clrScheme name="UM">
      <a:dk1>
        <a:srgbClr val="001C3D"/>
      </a:dk1>
      <a:lt1>
        <a:srgbClr val="FFFFFF"/>
      </a:lt1>
      <a:dk2>
        <a:srgbClr val="00A2DB"/>
      </a:dk2>
      <a:lt2>
        <a:srgbClr val="FFFFFF"/>
      </a:lt2>
      <a:accent1>
        <a:srgbClr val="E84E10"/>
      </a:accent1>
      <a:accent2>
        <a:srgbClr val="00A2DB"/>
      </a:accent2>
      <a:accent3>
        <a:srgbClr val="001C3D"/>
      </a:accent3>
      <a:accent4>
        <a:srgbClr val="F3A687"/>
      </a:accent4>
      <a:accent5>
        <a:srgbClr val="7FD0ED"/>
      </a:accent5>
      <a:accent6>
        <a:srgbClr val="7F8D9E"/>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12992</TotalTime>
  <Words>4854</Words>
  <Application>Microsoft Macintosh PowerPoint</Application>
  <PresentationFormat>Widescreen</PresentationFormat>
  <Paragraphs>535</Paragraphs>
  <Slides>63</Slides>
  <Notes>30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63</vt:i4>
      </vt:variant>
    </vt:vector>
  </HeadingPairs>
  <TitlesOfParts>
    <vt:vector size="72" baseType="lpstr">
      <vt:lpstr>Aptos</vt:lpstr>
      <vt:lpstr>Aptos Display</vt:lpstr>
      <vt:lpstr>Arial</vt:lpstr>
      <vt:lpstr>Calibri</vt:lpstr>
      <vt:lpstr>Cambria Math</vt:lpstr>
      <vt:lpstr>Lucida Grande</vt:lpstr>
      <vt:lpstr>Times New Roman</vt:lpstr>
      <vt:lpstr>Office Theme</vt:lpstr>
      <vt:lpstr>1_Maastricht University</vt:lpstr>
      <vt:lpstr>BCS1520: Statistics</vt:lpstr>
      <vt:lpstr>Recap</vt:lpstr>
      <vt:lpstr>Are more boys born than girls?</vt:lpstr>
      <vt:lpstr>Are more boys born than girls?</vt:lpstr>
      <vt:lpstr>Are more boys born than girls?</vt:lpstr>
      <vt:lpstr>John Arbuthnot’s Interpretation</vt:lpstr>
      <vt:lpstr>Applying the Central Limit Theorem</vt:lpstr>
      <vt:lpstr>Answering questions with probability</vt:lpstr>
      <vt:lpstr>Answering questions with probability</vt:lpstr>
      <vt:lpstr>How it all comes together for Hypothesis Testing</vt:lpstr>
      <vt:lpstr>A Brief History of Hypothesis Testing</vt:lpstr>
      <vt:lpstr>Answering questions with probability</vt:lpstr>
      <vt:lpstr>Answering questions with probability</vt:lpstr>
      <vt:lpstr>Why can’t we prove the null?</vt:lpstr>
      <vt:lpstr>Significance Testing</vt:lpstr>
      <vt:lpstr>Steps of Hypothesis Testing</vt:lpstr>
      <vt:lpstr>Statistical Significance and Hypothesis Testing</vt:lpstr>
      <vt:lpstr>Hypothesis testing</vt:lpstr>
      <vt:lpstr>Hypothesis testing</vt:lpstr>
      <vt:lpstr>One-tailed vs two-tailed hypothesis testing</vt:lpstr>
      <vt:lpstr>What is a P-value?</vt:lpstr>
      <vt:lpstr>P-values for a Proportion: Example</vt:lpstr>
      <vt:lpstr>P-values for a Proportion</vt:lpstr>
      <vt:lpstr>P-values for a Proportion (two-tailed)</vt:lpstr>
      <vt:lpstr>P-values for a Proportion (two-tailed)</vt:lpstr>
      <vt:lpstr>Two-tailed hypothesis testing: Conclusion</vt:lpstr>
      <vt:lpstr>The CONDOMS checklist for Hypothesis Testing</vt:lpstr>
      <vt:lpstr>C – Clarify the research question</vt:lpstr>
      <vt:lpstr>O – what is the Outcome variable?</vt:lpstr>
      <vt:lpstr>N – Null and alternative hypotheses. </vt:lpstr>
      <vt:lpstr>D – Design: Independent, paired, repeated, randomized? </vt:lpstr>
      <vt:lpstr>O – Observe the data before testing. </vt:lpstr>
      <vt:lpstr>M – Match the test to the variable types and assumptions.  </vt:lpstr>
      <vt:lpstr>S – State the result accurately.  </vt:lpstr>
      <vt:lpstr>M – Match the test</vt:lpstr>
      <vt:lpstr>M- Match the test</vt:lpstr>
      <vt:lpstr>Fill out the following for your experiment:</vt:lpstr>
      <vt:lpstr>Potential limitations</vt:lpstr>
      <vt:lpstr>P-values for the mean (treat as reaction time)</vt:lpstr>
      <vt:lpstr>P-values for the mean</vt:lpstr>
      <vt:lpstr>P-values for the mean (SD unknown, &lt;30 samples)</vt:lpstr>
      <vt:lpstr>P-values for the mean</vt:lpstr>
      <vt:lpstr>Example 1: Numeric Outcome, two groups</vt:lpstr>
      <vt:lpstr>Example 1: Numeric Outcome, two groups</vt:lpstr>
      <vt:lpstr>Example 2: Numeric (ordinal) outcome, 3+ groups</vt:lpstr>
      <vt:lpstr>Example 3: Numeric outcome, 3+ groups</vt:lpstr>
      <vt:lpstr>Example 3: Categorical outcomes </vt:lpstr>
      <vt:lpstr>Example 4: Two numeric variables</vt:lpstr>
      <vt:lpstr>The dead fish’s brain is active!</vt:lpstr>
      <vt:lpstr>P-values: Multiple Testing</vt:lpstr>
      <vt:lpstr>Other potential limitations</vt:lpstr>
      <vt:lpstr>Other potential limitations</vt:lpstr>
      <vt:lpstr>Other potential limitations</vt:lpstr>
      <vt:lpstr>Reporting Checklist: Before submitting your report check this.</vt:lpstr>
      <vt:lpstr>Could Harold Shipman have been caught earlier?</vt:lpstr>
      <vt:lpstr>Could Harold Shipman have been caught earlier?</vt:lpstr>
      <vt:lpstr>Could Harold Shipman have been caught earlier?</vt:lpstr>
      <vt:lpstr>Hypothesis testing</vt:lpstr>
      <vt:lpstr>Could Harold Shipman have been caught earlier?</vt:lpstr>
      <vt:lpstr>Could Harold Shipman have been caught earlier?</vt:lpstr>
      <vt:lpstr>Could Harold Shipman have been caught earlier?</vt:lpstr>
      <vt:lpstr>Statistical Significance</vt:lpstr>
      <vt:lpstr>Probability and Statistics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Wodeyar, Anirudh (DACS)</dc:creator>
  <cp:lastModifiedBy>Wodeyar, Anirudh (DACS)</cp:lastModifiedBy>
  <cp:revision>139</cp:revision>
  <cp:lastPrinted>2025-02-06T12:23:33Z</cp:lastPrinted>
  <dcterms:created xsi:type="dcterms:W3CDTF">2024-11-21T12:57:02Z</dcterms:created>
  <dcterms:modified xsi:type="dcterms:W3CDTF">2026-05-06T08:48:38Z</dcterms:modified>
</cp:coreProperties>
</file>